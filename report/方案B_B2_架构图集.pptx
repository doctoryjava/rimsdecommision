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架构图 · 数据加密设计 · 元数据库 ER 图 · 全部以 PPT 原生形状绘制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2962656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044952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04495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3035808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28269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3639312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3721608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372160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6192" y="3712464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36192" y="39593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4315968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4398264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4398264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4389120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36192" y="463600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" y="4992624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69264" y="5074920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" y="507492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Microsoft YaHei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36192" y="5065776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36192" y="531266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四层加密模型 · aes_encrypt + UC 列掩码 · 信封加密 / Crypto-Shredding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1248" y="5669280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69264" y="5751576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" y="575157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75569"/>
                </a:solidFill>
                <a:latin typeface="Consolas"/>
                <a:ea typeface="Microsoft Ya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192" y="574243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图（35 表 / 11 模块 · 上下两页）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36192" y="59893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上篇：平台 / 权限 / 数据源配置　下篇：同步归档 / 动态查询 / 保留销毁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1248" y="6382512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647395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docs/数据库ER图与全量表结构.md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Serverless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8" name="Oval 7"/>
          <p:cNvSpPr/>
          <p:nvPr/>
        </p:nvSpPr>
        <p:spPr>
          <a:xfrm>
            <a:off x="53826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697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4086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829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2" name="Oval 11"/>
          <p:cNvSpPr/>
          <p:nvPr/>
        </p:nvSpPr>
        <p:spPr>
          <a:xfrm>
            <a:off x="251336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9208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6" name="Oval 15"/>
          <p:cNvSpPr/>
          <p:nvPr/>
        </p:nvSpPr>
        <p:spPr>
          <a:xfrm>
            <a:off x="448846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6718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46336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7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1700784"/>
            <a:ext cx="268833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1700784"/>
            <a:ext cx="263347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57016" y="1700784"/>
            <a:ext cx="52852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1700784"/>
            <a:ext cx="517550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108960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345168" y="1700784"/>
            <a:ext cx="241401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1700784"/>
            <a:ext cx="23591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97112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8357616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Serverless：ETL · Compaction · DROP PARTITION + VACUUM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65760" y="5084064"/>
            <a:ext cx="356616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5084064"/>
            <a:ext cx="351129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4223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89520" y="5084064"/>
            <a:ext cx="4169663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16952" y="5084064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65760" y="5705856"/>
            <a:ext cx="733348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064" y="5705856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900416" y="5705856"/>
            <a:ext cx="3858768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65008" y="5705856"/>
            <a:ext cx="35295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Databricks SQL Serverless 完全托管 · 空闲缩 0；代价是引擎绑定 + 需 Premium 层（NCC / PE）</a:t>
            </a:r>
          </a:p>
        </p:txBody>
      </p:sp>
      <p:sp>
        <p:nvSpPr>
          <p:cNvPr id="96" name="Oval 95"/>
          <p:cNvSpPr/>
          <p:nvPr/>
        </p:nvSpPr>
        <p:spPr>
          <a:xfrm>
            <a:off x="36576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377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8" name="Oval 97"/>
          <p:cNvSpPr/>
          <p:nvPr/>
        </p:nvSpPr>
        <p:spPr>
          <a:xfrm>
            <a:off x="194035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6837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0" name="Oval 99"/>
          <p:cNvSpPr/>
          <p:nvPr/>
        </p:nvSpPr>
        <p:spPr>
          <a:xfrm>
            <a:off x="314004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6806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433974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6775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4" name="Oval 103"/>
          <p:cNvSpPr/>
          <p:nvPr/>
        </p:nvSpPr>
        <p:spPr>
          <a:xfrm>
            <a:off x="561441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4243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Databricks SQL Serverless 直查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657600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85032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84064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111496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10528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37960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483864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910328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6336792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ETL ≈¥0.4–0.8 万/月 · 读侧查询 ≈¥0.5–0.9 万/月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Databricks SQL Serverless · 零集群运维 · UC 授权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39319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566928"/>
            <a:ext cx="36758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四层加密模型 + 密钥管理（L1 → L5）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91440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9184" y="103327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03327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78D4"/>
                </a:solidFill>
                <a:latin typeface="Consolas"/>
                <a:ea typeface="Microsoft YaHe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99669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存储层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防磁盘 / 桶泄露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17043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账户级 SSE（AES-256）+ Key Vault CMK；数据 / 元数据 / 附件一套密钥策略，可选基础设施双重加密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" y="173736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" y="185623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85623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9669"/>
                </a:solidFill>
                <a:latin typeface="Consolas"/>
                <a:ea typeface="Microsoft Ya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181965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传输层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防链路窃听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99339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全链路 TLS 1.2+：HTTPS 443 入口 · 私有端点私网 · JDBC / ODBC；流量不出 Azure 骨干网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256032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1F2"/>
          </a:solidFill>
          <a:ln w="2032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" y="267919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67919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E11D48"/>
                </a:solidFill>
                <a:latin typeface="Consolas"/>
                <a:ea typeface="Microsoft YaHe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264261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E11D48"/>
                </a:solidFill>
                <a:latin typeface="Segoe UI"/>
                <a:ea typeface="Microsoft YaHei"/>
              </a:rPr>
              <a:t>字段层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 DBA / 运维内鬼 ★ 合规核心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81635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aes_encrypt() 落盘即密文 + UC 列掩码查询遮蔽——两者必须组合；GCM 每次随机 IV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3383279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9184" y="350215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350215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C3AED"/>
                </a:solidFill>
                <a:latin typeface="Consolas"/>
                <a:ea typeface="Microsoft YaHei"/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46557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展示层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防越权查看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63931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UC COLUMN MASK / ROW FILTER 绑定基表，任何访问路径强制生效；B2 原生，Trino 读完全不可用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1168" y="420624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BEB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9184" y="4325112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4325112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D97706"/>
                </a:solidFill>
                <a:latin typeface="Consolas"/>
                <a:ea typeface="Microsoft YaHei"/>
              </a:rPr>
              <a:t>L5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28853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密钥层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防泄露无法止损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46227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Key Vault CMK 自动轮转；信封加密——轮主密钥只重包装 KEK、零数据重写；密文自带 key_version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1104" y="566928"/>
            <a:ext cx="41148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566928"/>
            <a:ext cx="385876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字段级加密 · 推荐路线：aes_encrypt + UC 列掩码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1104" y="89611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70832" y="103327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0832" y="103327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96926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密钥入 Secret Scope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115214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Key Vault 撑腰 · 托管标识免密拉取，密钥不进代码 / 日志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09360" y="1453895"/>
            <a:ext cx="0" cy="73153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39" name="Rounded Rectangle 38"/>
          <p:cNvSpPr/>
          <p:nvPr/>
        </p:nvSpPr>
        <p:spPr>
          <a:xfrm>
            <a:off x="4261104" y="153619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370832" y="167335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0832" y="16733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160934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ETL 写侧加密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179222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aes_encrypt(col, secret(...))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默认 GCM 随机 IV，绝不能用 ECB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309360" y="209397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4261104" y="217627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70832" y="231343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3134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224942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定义掩码函数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80" y="243230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is_account_group_member()</a:t>
            </a:r>
            <a:r>
              <a:rPr sz="590" b="0" i="0">
                <a:solidFill>
                  <a:srgbClr val="64748B"/>
                </a:solidFill>
                <a:latin typeface="Consolas"/>
                <a:ea typeface="Microsoft YaHei"/>
              </a:rPr>
              <a:t> ? try_aes_decrypt : ***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309360" y="273405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51" name="Rounded Rectangle 50"/>
          <p:cNvSpPr/>
          <p:nvPr/>
        </p:nvSpPr>
        <p:spPr>
          <a:xfrm>
            <a:off x="4261104" y="281635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370832" y="295351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70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288950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挂载到列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307238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ALTER TABLE … SET MASK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（必须打在基表，不支持视图）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61104" y="3474720"/>
            <a:ext cx="4114800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52544" y="34747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同一条 SQL：授权者见明文 · 其他人见 *** · 直读 Parquet 只见密文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1104" y="3895344"/>
            <a:ext cx="4114800" cy="256032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70832" y="3895344"/>
            <a:ext cx="391363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F172A"/>
                </a:solidFill>
                <a:latin typeface="Segoe UI"/>
                <a:ea typeface="Microsoft YaHei"/>
              </a:rPr>
              <a:t>为何安全：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掩码函数以定义者权限取密钥，分析师自己写 aes_decrypt 也拿不到 key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61104" y="4224528"/>
            <a:ext cx="4114800" cy="731520"/>
          </a:xfrm>
          <a:prstGeom prst="roundRect">
            <a:avLst>
              <a:gd name="adj" fmla="val 7500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70832" y="4279392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45309"/>
                </a:solidFill>
                <a:latin typeface="Segoe UI"/>
                <a:ea typeface="Microsoft YaHei"/>
              </a:rPr>
              <a:t>三个必守约束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0832" y="4443984"/>
            <a:ext cx="391363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❶ 绝不能改成 ECB（暴露频率分布）　❷ 业务用户对 Secret Scope 必须无 READ 权限，否则防线归零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❸ 掩码不支持视图须挂基表；卸载顺序：先 DROP MASK 再 DROP FUNCTION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522208" y="566928"/>
            <a:ext cx="34747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50224" y="566928"/>
            <a:ext cx="32186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密钥体系 · 合规与销毁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522208" y="896112"/>
            <a:ext cx="347472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650224" y="987552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77656" y="9875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E40AF"/>
                </a:solidFill>
                <a:latin typeface="Segoe UI"/>
                <a:ea typeface="Microsoft YaHei"/>
              </a:rPr>
              <a:t>Key Vault · CMK / KEK 主密钥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0259568" y="1307592"/>
            <a:ext cx="0" cy="109728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351008" y="1298448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0078D4"/>
                </a:solidFill>
                <a:latin typeface="Segoe UI"/>
                <a:ea typeface="Microsoft YaHei"/>
              </a:rPr>
              <a:t>包装 / 解包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650224" y="1426464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77656" y="142646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D28D9"/>
                </a:solidFill>
                <a:latin typeface="Segoe UI"/>
                <a:ea typeface="Microsoft YaHei"/>
              </a:rPr>
              <a:t>DEK 数据密钥（带 key_version）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0259568" y="1746504"/>
            <a:ext cx="0" cy="109727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10351008" y="1737360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7C3AED"/>
                </a:solidFill>
                <a:latin typeface="Segoe UI"/>
                <a:ea typeface="Microsoft YaHei"/>
              </a:rPr>
              <a:t>加密 / 解密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1865376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77656" y="186537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47857"/>
                </a:solidFill>
                <a:latin typeface="Segoe UI"/>
                <a:ea typeface="Microsoft YaHei"/>
              </a:rPr>
              <a:t>Iceberg 密文 + UC 列掩码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13648" y="22311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078D4"/>
                </a:solidFill>
                <a:latin typeface="Segoe UI"/>
                <a:ea typeface="Microsoft YaHei"/>
              </a:rPr>
              <a:t>信封加密：轮转主密钥只重新包装 DEK，数据文件一个字节不动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22208" y="2560320"/>
            <a:ext cx="3474720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50224" y="262432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E11D48"/>
                </a:solidFill>
                <a:latin typeface="Segoe UI"/>
                <a:ea typeface="Microsoft YaHei"/>
              </a:rPr>
              <a:t>Crypto-Shredding · 被遗忘权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50224" y="2798064"/>
            <a:ext cx="323697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按数据主体分配独立 DEK——「删除」= 销毁该 DEK，密文永久不可读，无需重写 PB 级文件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E11D48"/>
                </a:solidFill>
                <a:latin typeface="Segoe UI"/>
                <a:ea typeface="Microsoft YaHei"/>
              </a:rPr>
              <a:t>归档场景性价比最高的合规设计，建议第一版纳入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22208" y="3511296"/>
            <a:ext cx="3474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50224" y="3575304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合规映射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50224" y="3767328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77656" y="37673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47857"/>
                </a:solidFill>
                <a:latin typeface="Segoe UI"/>
                <a:ea typeface="Microsoft YaHei"/>
              </a:rPr>
              <a:t>等保 2.0 三级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10928" y="375818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存储 / 传输保密达标；策略在引擎内、审计落表，举证材料天然齐备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50224" y="4169664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77656" y="416966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B45309"/>
                </a:solidFill>
                <a:latin typeface="Segoe UI"/>
                <a:ea typeface="Microsoft YaHei"/>
              </a:rPr>
              <a:t>个保法第 51 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10928" y="41605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SSE ≠ 去标识化——必须 L3 字段级加密 + L4 强制脱敏，只做 L1 不满足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650224" y="4572000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1F2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77656" y="45720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E11D48"/>
                </a:solidFill>
                <a:latin typeface="Segoe UI"/>
                <a:ea typeface="Microsoft YaHei"/>
              </a:rPr>
              <a:t>GDPR 被遗忘权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10928" y="4562856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Crypto-Shredding：销毁主体 DEK 即永久不可读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01168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① 授权强制力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掩码 / 行过滤绑定引擎元数据，任何客户端绕不过；应用层脱敏绕过 API 即失效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7880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2511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② 轮转成本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2511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信封加密只重包装 KEK、零数据重写；应用层方案轮转需重刷数十 TB 存量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15644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02751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C3AED"/>
                </a:solidFill>
                <a:latin typeface="Segoe UI"/>
                <a:ea typeface="Microsoft YaHei"/>
              </a:rPr>
              <a:t>③ 实施成本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02751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约 2~3 人天（应用层方案 8~12 人天）· 加密字段仍可检索 · 审计平台原生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01168" y="6108192"/>
            <a:ext cx="11795760" cy="475488"/>
          </a:xfrm>
          <a:prstGeom prst="roundRect">
            <a:avLst>
              <a:gd name="adj" fmla="val 13461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5760" y="6108192"/>
            <a:ext cx="1146657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28D9"/>
                </a:solidFill>
                <a:latin typeface="Segoe UI"/>
                <a:ea typeface="Microsoft YaHei"/>
              </a:rPr>
              <a:t>★ 若列级脱敏是硬需求：</a:t>
            </a:r>
            <a:r>
              <a:rPr sz="720" b="0" i="0">
                <a:solidFill>
                  <a:srgbClr val="4C1D95"/>
                </a:solidFill>
                <a:latin typeface="Segoe UI"/>
                <a:ea typeface="Microsoft YaHei"/>
              </a:rPr>
              <a:t>B（Trino 读）的 UC 列掩码完全不可用（Iceberg REST Catalog 不支持），B2 原生生效、任何路径强制遮蔽——这一条基本决定必须选 B2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图（上）· 平台 / 权限 / 数据源配置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18 表 · 仅关键字段 · 通用列已省略 · 源码：report/元数据库ER图.mmd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566928"/>
            <a:ext cx="10241280" cy="237744"/>
          </a:xfrm>
          <a:prstGeom prst="roundRect">
            <a:avLst>
              <a:gd name="adj" fmla="val 23076"/>
            </a:avLst>
          </a:prstGeom>
          <a:solidFill>
            <a:srgbClr val="FFF2CC"/>
          </a:solidFill>
          <a:ln w="12700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566928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① 权限与访问控制（RBAC）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2066543"/>
            <a:ext cx="4160520" cy="237744"/>
          </a:xfrm>
          <a:prstGeom prst="roundRect">
            <a:avLst>
              <a:gd name="adj" fmla="val 23076"/>
            </a:avLst>
          </a:prstGeom>
          <a:solidFill>
            <a:srgbClr val="D5E8D4"/>
          </a:solidFill>
          <a:ln w="12700">
            <a:solidFill>
              <a:srgbClr val="9BCB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59" y="2066543"/>
            <a:ext cx="397763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③ 源数据配置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066543"/>
            <a:ext cx="1783080" cy="237744"/>
          </a:xfrm>
          <a:prstGeom prst="roundRect">
            <a:avLst>
              <a:gd name="adj" fmla="val 23076"/>
            </a:avLst>
          </a:prstGeom>
          <a:solidFill>
            <a:srgbClr val="E1D5E7"/>
          </a:solidFill>
          <a:ln w="12700">
            <a:solidFill>
              <a:srgbClr val="B5A0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0" y="206654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④ 目标存储 · 归档 Schema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3383280"/>
            <a:ext cx="2651760" cy="237744"/>
          </a:xfrm>
          <a:prstGeom prst="roundRect">
            <a:avLst>
              <a:gd name="adj" fmla="val 23076"/>
            </a:avLst>
          </a:prstGeom>
          <a:solidFill>
            <a:srgbClr val="D9E8FC"/>
          </a:solidFill>
          <a:ln w="12700">
            <a:solidFill>
              <a:srgbClr val="A9C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3383280"/>
            <a:ext cx="246887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② 退役系统管理（核心）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4974336"/>
            <a:ext cx="6172200" cy="237744"/>
          </a:xfrm>
          <a:prstGeom prst="roundRect">
            <a:avLst>
              <a:gd name="adj" fmla="val 23076"/>
            </a:avLst>
          </a:prstGeom>
          <a:solidFill>
            <a:srgbClr val="F5F5F5"/>
          </a:solidFill>
          <a:ln w="1270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59" y="4974336"/>
            <a:ext cx="59893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⑩ 通知 · ⑪ 审计与监控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914400"/>
            <a:ext cx="1920240" cy="1115568"/>
          </a:xfrm>
          <a:prstGeom prst="roundRect">
            <a:avLst>
              <a:gd name="adj" fmla="val 2868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5292" y="925372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" y="946403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user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5292" y="1152144"/>
            <a:ext cx="1898294" cy="859536"/>
          </a:xfrm>
          <a:prstGeom prst="roundRect">
            <a:avLst>
              <a:gd name="adj" fmla="val 212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175004"/>
            <a:ext cx="1773936" cy="8412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username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password_hash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real_name·email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last_login_at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(datetime)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23160" y="1188720"/>
            <a:ext cx="1691640" cy="566928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34132" y="1199692"/>
            <a:ext cx="16696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9736" y="1220724"/>
            <a:ext cx="16184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user_role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4132" y="1426464"/>
            <a:ext cx="1669694" cy="310896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14600" y="1449324"/>
            <a:ext cx="1545336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user_id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914400"/>
            <a:ext cx="192024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54372" y="925372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9976" y="946403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role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4372" y="1152144"/>
            <a:ext cx="189829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1175004"/>
            <a:ext cx="177393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is_builtin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1188720"/>
            <a:ext cx="1783080" cy="566928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3212" y="1199692"/>
            <a:ext cx="176113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1220724"/>
            <a:ext cx="170992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role_permission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03212" y="1426464"/>
            <a:ext cx="1761134" cy="310896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79" y="1449324"/>
            <a:ext cx="1636776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permission_id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03920" y="914400"/>
            <a:ext cx="201168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14892" y="925372"/>
            <a:ext cx="198973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946403"/>
            <a:ext cx="193852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permission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4892" y="1152144"/>
            <a:ext cx="198973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0" y="1175004"/>
            <a:ext cx="186537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permission_code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module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resource_type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2286000"/>
            <a:ext cx="192024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5292" y="2296972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318004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page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5292" y="2523744"/>
            <a:ext cx="189829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2546604"/>
            <a:ext cx="177393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page_code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path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enabled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23160" y="2432304"/>
            <a:ext cx="1691640" cy="566928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434132" y="2443276"/>
            <a:ext cx="16696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59736" y="2464308"/>
            <a:ext cx="16184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role_page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34132" y="2670048"/>
            <a:ext cx="1669694" cy="310896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14600" y="2692908"/>
            <a:ext cx="1545336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page_id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51760" y="3675887"/>
            <a:ext cx="2651760" cy="1115568"/>
          </a:xfrm>
          <a:prstGeom prst="roundRect">
            <a:avLst>
              <a:gd name="adj" fmla="val 2868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662732" y="3686860"/>
            <a:ext cx="26298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88336" y="3707891"/>
            <a:ext cx="257860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decommission_system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62732" y="3913631"/>
            <a:ext cx="2629814" cy="859536"/>
          </a:xfrm>
          <a:prstGeom prst="roundRect">
            <a:avLst>
              <a:gd name="adj" fmla="val 212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43200" y="3936491"/>
            <a:ext cx="2505456" cy="8412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retention_years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sync_completed_date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destroy_after_date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926080" y="5029200"/>
            <a:ext cx="1645920" cy="566928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937052" y="5040172"/>
            <a:ext cx="162397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62656" y="5061204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system_user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937052" y="5266944"/>
            <a:ext cx="1623974" cy="310896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017520" y="5289804"/>
            <a:ext cx="1499616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user_id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760720" y="2359152"/>
            <a:ext cx="1965960" cy="978408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771692" y="2370124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97296" y="2391156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source_database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771692" y="2596896"/>
            <a:ext cx="1944014" cy="722376"/>
          </a:xfrm>
          <a:prstGeom prst="roundRect">
            <a:avLst>
              <a:gd name="adj" fmla="val 25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52159" y="2619756"/>
            <a:ext cx="1819656" cy="704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db_type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host:port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credential_ref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55279" y="2359152"/>
            <a:ext cx="1965960" cy="978408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966252" y="2370124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91855" y="2391156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source_table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66252" y="2596896"/>
            <a:ext cx="1944014" cy="722376"/>
          </a:xfrm>
          <a:prstGeom prst="roundRect">
            <a:avLst>
              <a:gd name="adj" fmla="val 25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19" y="2619756"/>
            <a:ext cx="1819656" cy="704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source_database_id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table_name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primary_key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is_attachment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760720" y="3584448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771692" y="3595420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797296" y="3616452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unstructured_source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771692" y="3822191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852159" y="3845052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source_type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location_uri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955279" y="3584448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966252" y="3595420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91855" y="3616452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unstructured_item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966252" y="3822191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46719" y="3845052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unstructured_source_id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original_path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hash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149840" y="2359152"/>
            <a:ext cx="178308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B5A0C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160812" y="2370124"/>
            <a:ext cx="1761134" cy="214884"/>
          </a:xfrm>
          <a:prstGeom prst="roundRect">
            <a:avLst>
              <a:gd name="adj" fmla="val 12765"/>
            </a:avLst>
          </a:prstGeom>
          <a:solidFill>
            <a:srgbClr val="E1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86415" y="2391156"/>
            <a:ext cx="170992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schema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160812" y="2596896"/>
            <a:ext cx="176113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241280" y="2619756"/>
            <a:ext cx="163677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catalog_name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schema_name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149840" y="3584448"/>
            <a:ext cx="178308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B5A0C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10160812" y="3595420"/>
            <a:ext cx="1761134" cy="214884"/>
          </a:xfrm>
          <a:prstGeom prst="roundRect">
            <a:avLst>
              <a:gd name="adj" fmla="val 12765"/>
            </a:avLst>
          </a:prstGeom>
          <a:solidFill>
            <a:srgbClr val="E1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186415" y="3616452"/>
            <a:ext cx="170992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storage_config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160812" y="3822191"/>
            <a:ext cx="176113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41280" y="3845052"/>
            <a:ext cx="163677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storage_type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container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760720" y="5230368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771692" y="5241340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97296" y="5262372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audit_log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771692" y="5468112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852159" y="5490972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user_id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action·module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ip·status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955279" y="5230368"/>
            <a:ext cx="1965960" cy="70408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7966252" y="5241340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91855" y="5262372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sync_activity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966252" y="5468112"/>
            <a:ext cx="1944014" cy="448056"/>
          </a:xfrm>
          <a:prstGeom prst="roundRect">
            <a:avLst>
              <a:gd name="adj" fmla="val 408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046719" y="5490972"/>
            <a:ext cx="1819656" cy="4297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activity_date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成功/失败/运行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49840" y="5230368"/>
            <a:ext cx="1783080" cy="70408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0160812" y="5241340"/>
            <a:ext cx="1761134" cy="214884"/>
          </a:xfrm>
          <a:prstGeom prst="roundRect">
            <a:avLst>
              <a:gd name="adj" fmla="val 1276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86415" y="5262372"/>
            <a:ext cx="170992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notification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0160812" y="5468112"/>
            <a:ext cx="1761134" cy="448056"/>
          </a:xfrm>
          <a:prstGeom prst="roundRect">
            <a:avLst>
              <a:gd name="adj" fmla="val 408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241280" y="5490972"/>
            <a:ext cx="1636776" cy="4297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recipient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channel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2194560" y="141732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06" name="TextBox 105"/>
          <p:cNvSpPr txBox="1"/>
          <p:nvPr/>
        </p:nvSpPr>
        <p:spPr>
          <a:xfrm>
            <a:off x="2276856" y="147675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31136" y="12390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114800" y="141732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09" name="TextBox 108"/>
          <p:cNvSpPr txBox="1"/>
          <p:nvPr/>
        </p:nvSpPr>
        <p:spPr>
          <a:xfrm>
            <a:off x="4151376" y="12390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197096" y="147675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6263640" y="141732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2" name="TextBox 111"/>
          <p:cNvSpPr txBox="1"/>
          <p:nvPr/>
        </p:nvSpPr>
        <p:spPr>
          <a:xfrm>
            <a:off x="6345936" y="147675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00216" y="12390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8275320" y="141732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5" name="TextBox 114"/>
          <p:cNvSpPr txBox="1"/>
          <p:nvPr/>
        </p:nvSpPr>
        <p:spPr>
          <a:xfrm>
            <a:off x="8311896" y="12390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57616" y="147675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2194560" y="274320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2276856" y="280263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231136" y="256489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4754880" y="1755648"/>
            <a:ext cx="0" cy="347472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H="1">
            <a:off x="3264408" y="2103120"/>
            <a:ext cx="1490472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>
            <a:off x="3264408" y="2103120"/>
            <a:ext cx="0" cy="329184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23" name="TextBox 122"/>
          <p:cNvSpPr txBox="1"/>
          <p:nvPr/>
        </p:nvSpPr>
        <p:spPr>
          <a:xfrm>
            <a:off x="4581144" y="183337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328415" y="2235708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2194560" y="1645920"/>
            <a:ext cx="13716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2331720" y="1645920"/>
            <a:ext cx="0" cy="3666744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2331720" y="5312664"/>
            <a:ext cx="59436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76856" y="170535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34056" y="5134355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3977639" y="4791456"/>
            <a:ext cx="0" cy="237744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3803904" y="486918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041648" y="483260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303520" y="3931920"/>
            <a:ext cx="228600" cy="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5532120" y="2852928"/>
            <a:ext cx="0" cy="1078992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5532120" y="2852928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5385816" y="3991355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68696" y="267462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5303520" y="4005072"/>
            <a:ext cx="4572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39" name="TextBox 138"/>
          <p:cNvSpPr txBox="1"/>
          <p:nvPr/>
        </p:nvSpPr>
        <p:spPr>
          <a:xfrm>
            <a:off x="5385816" y="4064507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68696" y="382676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7726679" y="2852928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42" name="TextBox 141"/>
          <p:cNvSpPr txBox="1"/>
          <p:nvPr/>
        </p:nvSpPr>
        <p:spPr>
          <a:xfrm>
            <a:off x="7808975" y="291236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763255" y="267462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7726679" y="4005072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45" name="TextBox 144"/>
          <p:cNvSpPr txBox="1"/>
          <p:nvPr/>
        </p:nvSpPr>
        <p:spPr>
          <a:xfrm>
            <a:off x="7808975" y="4064507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763255" y="382676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5303520" y="3785615"/>
            <a:ext cx="320040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5623560" y="3456432"/>
            <a:ext cx="0" cy="329183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5623560" y="3456432"/>
            <a:ext cx="4416552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10040112" y="2999232"/>
            <a:ext cx="0" cy="45720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10040112" y="2999232"/>
            <a:ext cx="109728" cy="0"/>
          </a:xfrm>
          <a:prstGeom prst="line">
            <a:avLst/>
          </a:prstGeom>
          <a:ln w="17780">
            <a:solidFill>
              <a:srgbClr val="9673A6"/>
            </a:solidFill>
            <a:tailEnd type="triangle" w="med" len="med"/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5385816" y="3845051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957815" y="28209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5303520" y="4480560"/>
            <a:ext cx="137160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5440680" y="4480560"/>
            <a:ext cx="0" cy="164592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>
            <a:off x="5440680" y="4645152"/>
            <a:ext cx="4599432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10040112" y="4005072"/>
            <a:ext cx="0" cy="64008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>
            <a:off x="10040112" y="4005072"/>
            <a:ext cx="109728" cy="0"/>
          </a:xfrm>
          <a:prstGeom prst="line">
            <a:avLst/>
          </a:prstGeom>
          <a:ln w="17780">
            <a:solidFill>
              <a:srgbClr val="9673A6"/>
            </a:solidFill>
            <a:tailEnd type="triangle" w="med" len="med"/>
          </a:ln>
          <a:effectLst/>
        </p:spPr>
      </p:cxnSp>
      <p:sp>
        <p:nvSpPr>
          <p:cNvPr id="159" name="TextBox 158"/>
          <p:cNvSpPr txBox="1"/>
          <p:nvPr/>
        </p:nvSpPr>
        <p:spPr>
          <a:xfrm>
            <a:off x="5385816" y="453999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957815" y="382676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5623560" y="5614416"/>
            <a:ext cx="137160" cy="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2" name="Connector 161"/>
          <p:cNvCxnSpPr/>
          <p:nvPr/>
        </p:nvCxnSpPr>
        <p:spPr>
          <a:xfrm>
            <a:off x="5623560" y="5614416"/>
            <a:ext cx="0" cy="832104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3" name="Connector 162"/>
          <p:cNvCxnSpPr/>
          <p:nvPr/>
        </p:nvCxnSpPr>
        <p:spPr>
          <a:xfrm flipH="1">
            <a:off x="164592" y="6446520"/>
            <a:ext cx="5458968" cy="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164592" y="1645920"/>
            <a:ext cx="0" cy="480060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164592" y="1645920"/>
            <a:ext cx="109728" cy="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sp>
        <p:nvSpPr>
          <p:cNvPr id="166" name="TextBox 165"/>
          <p:cNvSpPr txBox="1"/>
          <p:nvPr/>
        </p:nvSpPr>
        <p:spPr>
          <a:xfrm>
            <a:off x="5568696" y="5436107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2296" y="14676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286000" y="6291072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64748B"/>
                </a:solidFill>
                <a:latin typeface="Segoe UI"/>
                <a:ea typeface="Microsoft YaHei"/>
              </a:rPr>
              <a:t>弱关联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434840" y="2697480"/>
            <a:ext cx="107899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B6AE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462272" y="2697480"/>
            <a:ext cx="1024127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64748B"/>
                </a:solidFill>
                <a:latin typeface="Segoe UI"/>
                <a:ea typeface="Microsoft YaHei"/>
              </a:rPr>
              <a:t>sync_job / query_config
子域见下页 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图（下）· 同步归档 / 动态查询 / 保留销毁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17 表 + 1 跨页引用（虚线†见上页）
记号：[PK]/[FK]/[UK] · 连线 1—N 为一对多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566928"/>
            <a:ext cx="9326880" cy="237744"/>
          </a:xfrm>
          <a:prstGeom prst="roundRect">
            <a:avLst>
              <a:gd name="adj" fmla="val 23076"/>
            </a:avLst>
          </a:prstGeom>
          <a:solidFill>
            <a:srgbClr val="D9E8FC"/>
          </a:solidFill>
          <a:ln w="12700">
            <a:solidFill>
              <a:srgbClr val="A9C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566928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⑤ 同步与归档（含 ⑥ 附件索引）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566928"/>
            <a:ext cx="1920240" cy="237744"/>
          </a:xfrm>
          <a:prstGeom prst="roundRect">
            <a:avLst>
              <a:gd name="adj" fmla="val 23076"/>
            </a:avLst>
          </a:prstGeom>
          <a:solidFill>
            <a:srgbClr val="F8CECC"/>
          </a:solidFill>
          <a:ln w="12700">
            <a:solidFill>
              <a:srgbClr val="D79B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38360" y="566928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⑧ 生命周期与保留 · ⑨ 销毁审批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846320"/>
            <a:ext cx="9326880" cy="237744"/>
          </a:xfrm>
          <a:prstGeom prst="roundRect">
            <a:avLst>
              <a:gd name="adj" fmla="val 23076"/>
            </a:avLst>
          </a:prstGeom>
          <a:solidFill>
            <a:srgbClr val="FFF2CC"/>
          </a:solidFill>
          <a:ln w="12700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⑦ 动态查询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896112"/>
            <a:ext cx="2103120" cy="566928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15240">
            <a:solidFill>
              <a:srgbClr val="A9C4E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5292" y="907084"/>
            <a:ext cx="2081174" cy="214884"/>
          </a:xfrm>
          <a:prstGeom prst="roundRect">
            <a:avLst>
              <a:gd name="adj" fmla="val 1276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" y="928115"/>
            <a:ext cx="20299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A7A7A"/>
                </a:solidFill>
                <a:latin typeface="Segoe UI"/>
                <a:ea typeface="Microsoft YaHei"/>
              </a:rPr>
              <a:t>decommission_system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5292" y="1133856"/>
            <a:ext cx="2081174" cy="310896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156716"/>
            <a:ext cx="195681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17520" y="896112"/>
            <a:ext cx="2194560" cy="978408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28492" y="907084"/>
            <a:ext cx="21726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928115"/>
            <a:ext cx="212140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sync_job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28492" y="1133856"/>
            <a:ext cx="2172614" cy="722376"/>
          </a:xfrm>
          <a:prstGeom prst="roundRect">
            <a:avLst>
              <a:gd name="adj" fmla="val 25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156716"/>
            <a:ext cx="2048255" cy="704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assignment_id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job_type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896112"/>
            <a:ext cx="1874519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88812" y="907084"/>
            <a:ext cx="185257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14416" y="928115"/>
            <a:ext cx="18013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sync_job_config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88812" y="1133856"/>
            <a:ext cx="185257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79" y="1156716"/>
            <a:ext cx="172821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cron_expr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enabled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896112"/>
            <a:ext cx="192024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57892" y="907084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83496" y="928115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retention_policy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57892" y="1133856"/>
            <a:ext cx="189829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38360" y="1156716"/>
            <a:ext cx="177393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policy_code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policy_name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period_days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2331720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85292" y="234269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36372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sync_table_config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5292" y="2569463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92324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source_table_id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enabled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retain_years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14600" y="2331720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25572" y="234269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51176" y="236372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sync_table_stat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25572" y="2569463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06040" y="2592324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sync_job_id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source_table_id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row_count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4880" y="2331720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65852" y="234269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91456" y="236372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archive_batch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765852" y="2569463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46320" y="2592324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sync_job_id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batch_year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rows_out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95160" y="2331720"/>
            <a:ext cx="2103120" cy="978408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006132" y="2342692"/>
            <a:ext cx="208117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31736" y="2363724"/>
            <a:ext cx="20299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attachment_index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06132" y="2569463"/>
            <a:ext cx="2081174" cy="722376"/>
          </a:xfrm>
          <a:prstGeom prst="roundRect">
            <a:avLst>
              <a:gd name="adj" fmla="val 25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86600" y="2592324"/>
            <a:ext cx="1956815" cy="704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table·business_key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object_key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sha256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46920" y="2331720"/>
            <a:ext cx="1920240" cy="978408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1524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657892" y="2342692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83496" y="2363724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retention_assignment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57892" y="2569463"/>
            <a:ext cx="1898294" cy="722376"/>
          </a:xfrm>
          <a:prstGeom prst="roundRect">
            <a:avLst>
              <a:gd name="adj" fmla="val 25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38360" y="2592324"/>
            <a:ext cx="1773936" cy="704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policy_id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object_type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start·due_date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017520" y="3703320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028492" y="371429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54096" y="373532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archive_file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028492" y="3941063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0" y="3963924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archive_batch_id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blob_url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checksum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257800" y="3703320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268772" y="371429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94376" y="373532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archive_set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68772" y="3941063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49240" y="3963924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archive_batch_id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set_name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items·bytes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79" y="3703320"/>
            <a:ext cx="210312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509052" y="3714292"/>
            <a:ext cx="208117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534655" y="3735324"/>
            <a:ext cx="20299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archive_set_item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509052" y="3941063"/>
            <a:ext cx="208117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589519" y="3963924"/>
            <a:ext cx="19568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archive_set_id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original_name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blob_url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875520" y="3703320"/>
            <a:ext cx="169164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886492" y="3714292"/>
            <a:ext cx="1669694" cy="214884"/>
          </a:xfrm>
          <a:prstGeom prst="roundRect">
            <a:avLst>
              <a:gd name="adj" fmla="val 12765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912096" y="3735324"/>
            <a:ext cx="16184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legal_hold_event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886492" y="3941063"/>
            <a:ext cx="166969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966960" y="3963924"/>
            <a:ext cx="154533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assignment_id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action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reason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74320" y="5138928"/>
            <a:ext cx="2194560" cy="978408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285292" y="5149900"/>
            <a:ext cx="217261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5170932"/>
            <a:ext cx="212140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query_config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85292" y="5376672"/>
            <a:ext cx="2172614" cy="722376"/>
          </a:xfrm>
          <a:prstGeom prst="roundRect">
            <a:avLst>
              <a:gd name="adj" fmla="val 25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5399532"/>
            <a:ext cx="2048255" cy="704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base_table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017520" y="5212080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028492" y="522305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54096" y="524408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query_field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028492" y="5449824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08960" y="5472684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query_config_id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column_name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is_pii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257800" y="5212080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5268772" y="522305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294376" y="524408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query_join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268772" y="5449824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349240" y="5472684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query_config_id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join_type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left→right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498079" y="5212080"/>
            <a:ext cx="210312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7509052" y="5223052"/>
            <a:ext cx="208117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34655" y="5244084"/>
            <a:ext cx="20299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drill_config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509052" y="5449824"/>
            <a:ext cx="208117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589519" y="5472684"/>
            <a:ext cx="19568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query_config_id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schema_id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parent→child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9646920" y="5138928"/>
            <a:ext cx="192024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9657892" y="5149900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683496" y="5170932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destroy_approval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657892" y="5376672"/>
            <a:ext cx="189829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38360" y="5399532"/>
            <a:ext cx="177393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sync_job_id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approver_id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decision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377440" y="1179576"/>
            <a:ext cx="64008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2459736" y="12390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25496" y="1001268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1325880" y="1463040"/>
            <a:ext cx="0" cy="86868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152143" y="154076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89888" y="21351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2377440" y="1097280"/>
            <a:ext cx="274320" cy="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>
            <a:off x="2651760" y="1097280"/>
            <a:ext cx="0" cy="1024128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2651760" y="2121408"/>
            <a:ext cx="5394960" cy="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>
            <a:off x="8046720" y="2121408"/>
            <a:ext cx="0" cy="210312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11" name="TextBox 110"/>
          <p:cNvSpPr txBox="1"/>
          <p:nvPr/>
        </p:nvSpPr>
        <p:spPr>
          <a:xfrm>
            <a:off x="2459736" y="115671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110728" y="21351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3" name="Connector 112"/>
          <p:cNvCxnSpPr/>
          <p:nvPr/>
        </p:nvCxnSpPr>
        <p:spPr>
          <a:xfrm flipH="1">
            <a:off x="164592" y="1188720"/>
            <a:ext cx="109728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>
            <a:off x="164592" y="1188720"/>
            <a:ext cx="0" cy="443484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164592" y="5623560"/>
            <a:ext cx="109728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82296" y="10104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296" y="54452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3749039" y="1874519"/>
            <a:ext cx="0" cy="173737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 flipH="1">
            <a:off x="3493008" y="2048256"/>
            <a:ext cx="256031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>
            <a:off x="3493008" y="2048256"/>
            <a:ext cx="0" cy="283464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21" name="TextBox 120"/>
          <p:cNvSpPr txBox="1"/>
          <p:nvPr/>
        </p:nvSpPr>
        <p:spPr>
          <a:xfrm>
            <a:off x="3575303" y="195224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557015" y="21351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4114800" y="1874519"/>
            <a:ext cx="0" cy="320041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>
            <a:off x="4114800" y="2194560"/>
            <a:ext cx="1618488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5733288" y="2194560"/>
            <a:ext cx="0" cy="13716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3941064" y="195224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797296" y="21351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8" name="Connector 127"/>
          <p:cNvCxnSpPr/>
          <p:nvPr/>
        </p:nvCxnSpPr>
        <p:spPr>
          <a:xfrm flipH="1">
            <a:off x="9418320" y="2834640"/>
            <a:ext cx="22860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9418320" y="2249424"/>
            <a:ext cx="0" cy="585216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H="1">
            <a:off x="4846320" y="2249424"/>
            <a:ext cx="457200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 flipV="1">
            <a:off x="4846320" y="1874519"/>
            <a:ext cx="0" cy="374905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454896" y="265633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72584" y="195224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212080" y="1042415"/>
            <a:ext cx="18288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5394960" y="841248"/>
            <a:ext cx="0" cy="201167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>
            <a:off x="5394960" y="841248"/>
            <a:ext cx="649224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11887200" y="841248"/>
            <a:ext cx="0" cy="4782312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H="1">
            <a:off x="11567160" y="5623560"/>
            <a:ext cx="320040" cy="0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39" name="TextBox 138"/>
          <p:cNvSpPr txBox="1"/>
          <p:nvPr/>
        </p:nvSpPr>
        <p:spPr>
          <a:xfrm>
            <a:off x="5294376" y="11018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649456" y="568299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5120640" y="3172968"/>
            <a:ext cx="0" cy="32004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H="1">
            <a:off x="3995928" y="3493008"/>
            <a:ext cx="1124712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995928" y="3493008"/>
            <a:ext cx="0" cy="210312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44" name="TextBox 143"/>
          <p:cNvSpPr txBox="1"/>
          <p:nvPr/>
        </p:nvSpPr>
        <p:spPr>
          <a:xfrm>
            <a:off x="4946904" y="325069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59936" y="35067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6720840" y="2834640"/>
            <a:ext cx="13716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6858000" y="2834640"/>
            <a:ext cx="0" cy="137160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6858000" y="4206240"/>
            <a:ext cx="36576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49" name="TextBox 148"/>
          <p:cNvSpPr txBox="1"/>
          <p:nvPr/>
        </p:nvSpPr>
        <p:spPr>
          <a:xfrm>
            <a:off x="6803136" y="289407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031736" y="4027931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7223760" y="4407408"/>
            <a:ext cx="274319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7306056" y="446684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306055" y="422910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10607040" y="1737360"/>
            <a:ext cx="0" cy="594360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55" name="TextBox 154"/>
          <p:cNvSpPr txBox="1"/>
          <p:nvPr/>
        </p:nvSpPr>
        <p:spPr>
          <a:xfrm>
            <a:off x="10433303" y="18150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671048" y="21351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10716768" y="3310128"/>
            <a:ext cx="0" cy="393192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58" name="TextBox 157"/>
          <p:cNvSpPr txBox="1"/>
          <p:nvPr/>
        </p:nvSpPr>
        <p:spPr>
          <a:xfrm>
            <a:off x="10543032" y="33878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780776" y="35067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2468880" y="5623560"/>
            <a:ext cx="54864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61" name="TextBox 160"/>
          <p:cNvSpPr txBox="1"/>
          <p:nvPr/>
        </p:nvSpPr>
        <p:spPr>
          <a:xfrm>
            <a:off x="2551176" y="568299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825496" y="54452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252728" y="6117336"/>
            <a:ext cx="0" cy="192024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>
            <a:off x="1252728" y="6309360"/>
            <a:ext cx="4983480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 flipV="1">
            <a:off x="6236208" y="6053328"/>
            <a:ext cx="0" cy="256032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66" name="TextBox 165"/>
          <p:cNvSpPr txBox="1"/>
          <p:nvPr/>
        </p:nvSpPr>
        <p:spPr>
          <a:xfrm>
            <a:off x="1078992" y="619506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62472" y="61310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2011680" y="6117336"/>
            <a:ext cx="0" cy="374904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2011680" y="6492240"/>
            <a:ext cx="6537960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8549640" y="6053328"/>
            <a:ext cx="0" cy="438912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71" name="TextBox 170"/>
          <p:cNvSpPr txBox="1"/>
          <p:nvPr/>
        </p:nvSpPr>
        <p:spPr>
          <a:xfrm>
            <a:off x="1837944" y="619506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375903" y="61310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445752" y="2304288"/>
            <a:ext cx="164592" cy="512064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到期触发销毁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