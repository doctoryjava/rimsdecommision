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12191695" cy="3200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1732"/>
            <a:ext cx="12191695" cy="320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086600" y="1188720"/>
            <a:ext cx="5102352" cy="5394960"/>
          </a:xfrm>
          <a:prstGeom prst="roundRect">
            <a:avLst>
              <a:gd name="adj" fmla="val 448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0" y="1691640"/>
            <a:ext cx="4343400" cy="4343400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936992" y="2212848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36992" y="2212848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Microsoft YaHei"/>
              </a:rPr>
              <a:t>访问入口 · 查询 / 审计 / 运维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765792" y="2688336"/>
            <a:ext cx="0" cy="320040"/>
          </a:xfrm>
          <a:prstGeom prst="line">
            <a:avLst/>
          </a:prstGeom>
          <a:ln w="2032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0" name="Rounded Rectangle 9"/>
          <p:cNvSpPr/>
          <p:nvPr/>
        </p:nvSpPr>
        <p:spPr>
          <a:xfrm>
            <a:off x="7936992" y="3008376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36992" y="3008376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7490"/>
                </a:solidFill>
                <a:latin typeface="Segoe UI"/>
                <a:ea typeface="Microsoft YaHei"/>
              </a:rPr>
              <a:t>自研应用层 · AKS（React + .NET）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732520" y="3483864"/>
            <a:ext cx="0" cy="29260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10799064" y="3483864"/>
            <a:ext cx="0" cy="292608"/>
          </a:xfrm>
          <a:prstGeom prst="line">
            <a:avLst/>
          </a:prstGeom>
          <a:ln w="1778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14" name="Rounded Rectangle 13"/>
          <p:cNvSpPr/>
          <p:nvPr/>
        </p:nvSpPr>
        <p:spPr>
          <a:xfrm>
            <a:off x="7936992" y="3776472"/>
            <a:ext cx="1783080" cy="475488"/>
          </a:xfrm>
          <a:prstGeom prst="roundRect">
            <a:avLst>
              <a:gd name="adj" fmla="val 15384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36992" y="3776472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D28D9"/>
                </a:solidFill>
                <a:latin typeface="Segoe UI"/>
                <a:ea typeface="Microsoft YaHei"/>
              </a:rPr>
              <a:t>写侧 · Databricks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11512" y="3776472"/>
            <a:ext cx="1783080" cy="475488"/>
          </a:xfrm>
          <a:prstGeom prst="roundRect">
            <a:avLst>
              <a:gd name="adj" fmla="val 15384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11512" y="3776472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D28D9"/>
                </a:solidFill>
                <a:latin typeface="Segoe UI"/>
                <a:ea typeface="Microsoft YaHei"/>
              </a:rPr>
              <a:t>读侧 · Serverless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765792" y="4251960"/>
            <a:ext cx="0" cy="310896"/>
          </a:xfrm>
          <a:prstGeom prst="line">
            <a:avLst/>
          </a:prstGeom>
          <a:ln w="17780">
            <a:solidFill>
              <a:srgbClr val="64748B"/>
            </a:solidFill>
            <a:tailEnd type="triangle" w="med" len="med"/>
          </a:ln>
          <a:effectLst/>
        </p:spPr>
      </p:cxnSp>
      <p:sp>
        <p:nvSpPr>
          <p:cNvPr id="19" name="Rounded Rectangle 18"/>
          <p:cNvSpPr/>
          <p:nvPr/>
        </p:nvSpPr>
        <p:spPr>
          <a:xfrm>
            <a:off x="7936992" y="4562856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36992" y="4562856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E40AF"/>
                </a:solidFill>
                <a:latin typeface="Segoe UI"/>
                <a:ea typeface="Microsoft YaHei"/>
              </a:rPr>
              <a:t>ADLS Gen2 · Iceberg 湖仓 + Blob 附件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36992" y="52303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4A3B8"/>
                </a:solidFill>
                <a:latin typeface="Segoe UI"/>
                <a:ea typeface="Microsoft YaHei"/>
              </a:rPr>
              <a:t>存算分离 · 私有端点 · 合规销毁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141732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300">
                <a:solidFill>
                  <a:srgbClr val="64748B"/>
                </a:solidFill>
                <a:latin typeface="Segoe UI"/>
                <a:ea typeface="Microsoft YaHei"/>
              </a:rPr>
              <a:t>RIMS 退役归档平台 · 方案 B2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1755648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F172A"/>
                </a:solidFill>
                <a:latin typeface="Segoe UI"/>
                <a:ea typeface="Microsoft YaHei"/>
              </a:rPr>
              <a:t>湖仓一体架构图集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" y="2615184"/>
            <a:ext cx="566928" cy="4114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2761488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48B"/>
                </a:solidFill>
                <a:latin typeface="Segoe UI"/>
                <a:ea typeface="Microsoft YaHei"/>
              </a:rPr>
              <a:t>架构图 · 数据加密设计 · 元数据库 ER 图 · 全部以 PPT 原生形状绘制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2962656"/>
            <a:ext cx="5806440" cy="60350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9264" y="3044952"/>
            <a:ext cx="438912" cy="438912"/>
          </a:xfrm>
          <a:prstGeom prst="roundRect">
            <a:avLst>
              <a:gd name="adj" fmla="val 16666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9264" y="3044952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Consolas"/>
                <a:ea typeface="Microsoft YaHei"/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36192" y="3035808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F172A"/>
                </a:solidFill>
                <a:latin typeface="Segoe UI"/>
                <a:ea typeface="Microsoft YaHei"/>
              </a:rPr>
              <a:t>Azure 基础设施部署架构 · 方案 B2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36192" y="3282696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64748B"/>
                </a:solidFill>
                <a:latin typeface="Segoe UI"/>
                <a:ea typeface="Microsoft YaHei"/>
              </a:rPr>
              <a:t>VNet · AKS · Databricks Serverless · NCC 私有端点 · 六大 PaaS 服务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1248" y="3639312"/>
            <a:ext cx="5806440" cy="60350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69264" y="3721608"/>
            <a:ext cx="438912" cy="438912"/>
          </a:xfrm>
          <a:prstGeom prst="roundRect">
            <a:avLst>
              <a:gd name="adj" fmla="val 16666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9264" y="3721608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59669"/>
                </a:solidFill>
                <a:latin typeface="Consolas"/>
                <a:ea typeface="Microsoft YaHei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36192" y="3712464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F172A"/>
                </a:solidFill>
                <a:latin typeface="Segoe UI"/>
                <a:ea typeface="Microsoft YaHei"/>
              </a:rPr>
              <a:t>应用架构图 · 方案 B2（湖仓一体 · Databricks SQL Serverless 读）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36192" y="3959352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64748B"/>
                </a:solidFill>
                <a:latin typeface="Segoe UI"/>
                <a:ea typeface="Microsoft YaHei"/>
              </a:rPr>
              <a:t>访问入口 → 自研应用层（AKS）→ 写 / 读 / 附件三条链路 → 数据底座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" y="4315968"/>
            <a:ext cx="5806440" cy="60350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69264" y="4398264"/>
            <a:ext cx="438912" cy="438912"/>
          </a:xfrm>
          <a:prstGeom prst="roundRect">
            <a:avLst>
              <a:gd name="adj" fmla="val 16666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9264" y="4398264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7C3AED"/>
                </a:solidFill>
                <a:latin typeface="Consolas"/>
                <a:ea typeface="Microsoft YaHei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36192" y="4389120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F172A"/>
                </a:solidFill>
                <a:latin typeface="Segoe UI"/>
                <a:ea typeface="Microsoft YaHei"/>
              </a:rPr>
              <a:t>方案 B2 · 湖仓一体 · 存算分离架构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36192" y="4636008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64748B"/>
                </a:solidFill>
                <a:latin typeface="Segoe UI"/>
                <a:ea typeface="Microsoft YaHei"/>
              </a:rPr>
              <a:t>源系统 → 接入配置 → 抽取 → Iceberg 冷湖 → Databricks 读写一体计算层 → 消费入口 + 销毁回路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41248" y="4992624"/>
            <a:ext cx="5806440" cy="60350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69264" y="5074920"/>
            <a:ext cx="438912" cy="438912"/>
          </a:xfrm>
          <a:prstGeom prst="roundRect">
            <a:avLst>
              <a:gd name="adj" fmla="val 16666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9264" y="5074920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Consolas"/>
                <a:ea typeface="Microsoft YaHei"/>
              </a:rPr>
              <a:t>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36192" y="5065776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F172A"/>
                </a:solidFill>
                <a:latin typeface="Segoe UI"/>
                <a:ea typeface="Microsoft YaHei"/>
              </a:rPr>
              <a:t>方案 B2 · 数据加密设计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536192" y="5312664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64748B"/>
                </a:solidFill>
                <a:latin typeface="Segoe UI"/>
                <a:ea typeface="Microsoft YaHei"/>
              </a:rPr>
              <a:t>四层加密模型 · aes_encrypt + UC 列掩码 · 信封加密 / Crypto-Shredding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41248" y="5669280"/>
            <a:ext cx="5806440" cy="60350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69264" y="5751576"/>
            <a:ext cx="438912" cy="438912"/>
          </a:xfrm>
          <a:prstGeom prst="roundRect">
            <a:avLst>
              <a:gd name="adj" fmla="val 16666"/>
            </a:avLst>
          </a:prstGeom>
          <a:solidFill>
            <a:srgbClr val="F6F8FA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9264" y="5751576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475569"/>
                </a:solidFill>
                <a:latin typeface="Consolas"/>
                <a:ea typeface="Microsoft YaHei"/>
              </a:rPr>
              <a:t>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36192" y="5742432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F172A"/>
                </a:solidFill>
                <a:latin typeface="Segoe UI"/>
                <a:ea typeface="Microsoft YaHei"/>
              </a:rPr>
              <a:t>元数据库 ER 图（35 表 / 11 模块）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536192" y="5989320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64748B"/>
                </a:solidFill>
                <a:latin typeface="Segoe UI"/>
                <a:ea typeface="Microsoft YaHei"/>
              </a:rPr>
              <a:t>RBAC · 退役系统 · 源/目标配置 · 同步归档 · 动态查询 · 保留销毁 · 审计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41248" y="6382512"/>
            <a:ext cx="5806440" cy="3200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1248" y="6473952"/>
            <a:ext cx="58521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4A3B8"/>
                </a:solidFill>
                <a:latin typeface="Segoe UI"/>
                <a:ea typeface="Microsoft YaHei"/>
              </a:rPr>
              <a:t>整理自 report/Architecture.html · docs/数据库ER图与全量表结构.md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Azure 基础设施部署架构 · 方案 B2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1168" y="603504"/>
            <a:ext cx="1847088" cy="1773936"/>
          </a:xfrm>
          <a:prstGeom prst="roundRect">
            <a:avLst>
              <a:gd name="adj" fmla="val 360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9184" y="694944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F172A"/>
                </a:solidFill>
                <a:latin typeface="Segoe UI"/>
                <a:ea typeface="Microsoft YaHei"/>
              </a:rPr>
              <a:t>技术栈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" y="905256"/>
            <a:ext cx="274320" cy="2286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" y="100584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1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前端 · 配置化查询平台 React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" y="1173175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2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后端 · .NET 10（AKS 容器化）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134051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3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抽取 · Apache SeaTunnel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1507845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4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编排 · Azure Data Factory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" y="167518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5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表格式 · Apache Iceberg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" y="1842516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6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引擎 · Databricks Serverless（读写）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" y="2009851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7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治理 · Unity Catalog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" y="2177186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D97706"/>
                </a:solidFill>
                <a:latin typeface="Segoe UI"/>
                <a:ea typeface="Microsoft YaHei"/>
              </a:rPr>
              <a:t>8  </a:t>
            </a:r>
            <a:r>
              <a:rPr sz="680" b="1" i="0">
                <a:solidFill>
                  <a:srgbClr val="92400E"/>
                </a:solidFill>
                <a:latin typeface="Segoe UI"/>
                <a:ea typeface="Microsoft YaHei"/>
              </a:rPr>
              <a:t>附件迁移 · Azure Storage Mover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1168" y="2487168"/>
            <a:ext cx="1847088" cy="1810512"/>
          </a:xfrm>
          <a:prstGeom prst="roundRect">
            <a:avLst>
              <a:gd name="adj" fmla="val 3535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184" y="2560320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47857"/>
                </a:solidFill>
                <a:latin typeface="Segoe UI"/>
                <a:ea typeface="Microsoft YaHei"/>
              </a:rPr>
              <a:t>终端用户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0896" y="27980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8328" y="27980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业务查询员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查本系统归档数据</a:t>
            </a:r>
          </a:p>
        </p:txBody>
      </p:sp>
      <p:sp>
        <p:nvSpPr>
          <p:cNvPr id="19" name="Oval 18"/>
          <p:cNvSpPr/>
          <p:nvPr/>
        </p:nvSpPr>
        <p:spPr>
          <a:xfrm>
            <a:off x="448330" y="29201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28167" y="29835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10896" y="32552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8328" y="32552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审计 / 合规岗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跨系统检索与举证</a:t>
            </a:r>
          </a:p>
        </p:txBody>
      </p:sp>
      <p:sp>
        <p:nvSpPr>
          <p:cNvPr id="23" name="Oval 22"/>
          <p:cNvSpPr/>
          <p:nvPr/>
        </p:nvSpPr>
        <p:spPr>
          <a:xfrm>
            <a:off x="448330" y="33773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28167" y="34407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10896" y="37124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8328" y="37124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平台运维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监控 · 销毁作业值守</a:t>
            </a:r>
          </a:p>
        </p:txBody>
      </p:sp>
      <p:sp>
        <p:nvSpPr>
          <p:cNvPr id="27" name="Oval 26"/>
          <p:cNvSpPr/>
          <p:nvPr/>
        </p:nvSpPr>
        <p:spPr>
          <a:xfrm>
            <a:off x="448330" y="38345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28167" y="38979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4114800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59669"/>
                </a:solidFill>
                <a:latin typeface="Segoe UI"/>
                <a:ea typeface="Microsoft YaHei"/>
              </a:rPr>
              <a:t>浏览器 HTTPS 443 · Entra ID 单点登录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76272" y="603504"/>
            <a:ext cx="568756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22576" y="676656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75569"/>
                </a:solidFill>
                <a:latin typeface="Segoe UI"/>
                <a:ea typeface="Microsoft YaHei"/>
              </a:rPr>
              <a:t>源系统 · 15 套待退役业务系统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0640" y="694944"/>
            <a:ext cx="261518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94A3B8"/>
                </a:solidFill>
                <a:latin typeface="Segoe UI"/>
                <a:ea typeface="Microsoft YaHei"/>
              </a:rPr>
              <a:t>退役窗口内只读 · 数据只出不进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3225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500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Oracle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1521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855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4855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4855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1513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788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MySQL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3306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143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3143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3143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9801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076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DB2 / 其他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50000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431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1431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1431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2322576" y="1481328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350008" y="1481328"/>
            <a:ext cx="2596896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结构化抽取 · </a:t>
            </a:r>
            <a:r>
              <a:rPr sz="740" b="1" i="0">
                <a:solidFill>
                  <a:srgbClr val="EA580C"/>
                </a:solidFill>
                <a:latin typeface="Segoe UI"/>
                <a:ea typeface="Microsoft YaHei"/>
              </a:rPr>
              <a:t>Apache 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仅读权限 · 按勾选的表抽取（10 选 5）· ADF 编排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84064" y="1481328"/>
            <a:ext cx="2596896" cy="457200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1778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11496" y="1481328"/>
            <a:ext cx="2542032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92400E"/>
                </a:solidFill>
                <a:latin typeface="Segoe UI"/>
                <a:ea typeface="Microsoft YaHei"/>
              </a:rPr>
              <a:t>附件迁移 · </a:t>
            </a:r>
            <a:r>
              <a:rPr sz="740" b="1" i="0">
                <a:solidFill>
                  <a:srgbClr val="D97706"/>
                </a:solidFill>
                <a:latin typeface="Segoe UI"/>
                <a:ea typeface="Microsoft YaHei"/>
              </a:rPr>
              <a:t>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读 NFS / S3 / Blob 附件源 · 服务免费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322576" y="1920240"/>
            <a:ext cx="53949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97706"/>
                </a:solidFill>
                <a:latin typeface="Segoe UI"/>
                <a:ea typeface="Microsoft YaHei"/>
              </a:rPr>
              <a:t>跨机房链路：ExpressRoute / 站点到站点 VPN · 源库防火墙放行 NAT 固定出口 IP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991856" y="603504"/>
            <a:ext cx="1591056" cy="1463040"/>
          </a:xfrm>
          <a:prstGeom prst="roundRect">
            <a:avLst>
              <a:gd name="adj" fmla="val 4375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01583" y="676656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475569"/>
                </a:solidFill>
                <a:latin typeface="Segoe UI"/>
                <a:ea typeface="Microsoft YaHei"/>
              </a:rPr>
              <a:t>网络连通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01583" y="896112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ExpressRoute / S2S VPN 专线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01583" y="1161288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NAT 固定出口 IP 白名单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01583" y="1426464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PaaS 全私有端点 · 禁公网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01583" y="1691639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WAF + App Gateway 收敛入口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692640" y="603504"/>
            <a:ext cx="2304288" cy="3694176"/>
          </a:xfrm>
          <a:prstGeom prst="roundRect">
            <a:avLst>
              <a:gd name="adj" fmla="val 3174"/>
            </a:avLst>
          </a:prstGeom>
          <a:solidFill>
            <a:srgbClr val="FAF9FF"/>
          </a:solidFill>
          <a:ln w="17780">
            <a:solidFill>
              <a:srgbClr val="7C3AE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20656" y="694944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C3AED"/>
                </a:solidFill>
                <a:latin typeface="Segoe UI"/>
                <a:ea typeface="Microsoft YaHei"/>
              </a:rPr>
              <a:t>Databricks 托管平面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0656" y="886968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C2626"/>
                </a:solidFill>
                <a:latin typeface="Segoe UI"/>
                <a:ea typeface="Microsoft YaHei"/>
              </a:rPr>
              <a:t>★ 不在你的 VNet 内 · 运行于 Databricks 账户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820656" y="1078992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FFF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9949586" y="1186434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9933813" y="1200149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9988677" y="1194663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875520" y="1133856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控制平面 Control Plane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75520" y="133502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Web UI · 作业调度 · 无状态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875520" y="149504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Unity Catalog 元数据服务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820656" y="1819656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5F3FF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9949586" y="1927098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9933813" y="1940814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9988677" y="1935327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875520" y="1874519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Databricks SQL Serverless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75520" y="207568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读侧查询 · X-Small 6 DBU/h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875520" y="223570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64748B"/>
                </a:solidFill>
                <a:latin typeface="Segoe UI"/>
                <a:ea typeface="Microsoft YaHei"/>
              </a:rPr>
              <a:t>空闲自动缩到 0 · 零运维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820656" y="2560320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FFF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949586" y="2667762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933813" y="2681478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988677" y="2675991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875520" y="261518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Databricks Serverless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875520" y="2816352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写侧 ETL：RAW→CURATED→LAKE→SERVE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875520" y="2976372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Compaction · VACUUM · 到期销毁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820656" y="3300984"/>
            <a:ext cx="2048256" cy="548640"/>
          </a:xfrm>
          <a:prstGeom prst="roundRect">
            <a:avLst>
              <a:gd name="adj" fmla="val 8333"/>
            </a:avLst>
          </a:prstGeom>
          <a:solidFill>
            <a:srgbClr val="ECFDF5"/>
          </a:solidFill>
          <a:ln w="1651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9949586" y="3408426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9933813" y="3422142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988677" y="3416655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875520" y="335584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47857"/>
                </a:solidFill>
                <a:latin typeface="Segoe UI"/>
                <a:ea typeface="Microsoft YaHei"/>
              </a:rPr>
              <a:t>NCC 网络连接 + 托管私有端点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875520" y="3557015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59669"/>
                </a:solidFill>
                <a:latin typeface="Segoe UI"/>
                <a:ea typeface="Microsoft YaHei"/>
              </a:rPr>
              <a:t>Serverless 私有访问 ADLS 的唯一通道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820656" y="3968496"/>
            <a:ext cx="2048256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7C3AED"/>
                </a:solidFill>
                <a:latin typeface="Segoe UI"/>
                <a:ea typeface="Microsoft YaHei"/>
              </a:rPr>
              <a:t>Premium 层特性 · NCC 需 Account Admin 配置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176272" y="2212848"/>
            <a:ext cx="7406640" cy="2084831"/>
          </a:xfrm>
          <a:prstGeom prst="roundRect">
            <a:avLst>
              <a:gd name="adj" fmla="val 3508"/>
            </a:avLst>
          </a:prstGeom>
          <a:solidFill>
            <a:srgbClr val="F0F7FC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322576" y="2286000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78D4"/>
                </a:solidFill>
                <a:latin typeface="Segoe UI"/>
                <a:ea typeface="Microsoft YaHei"/>
              </a:rPr>
              <a:t>Azure VNet · 10.0.0.0/16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760720" y="2322576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Hub-Spoke · NSG 管控 · PaaS 全部关闭公网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322576" y="2505456"/>
            <a:ext cx="87782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350008" y="2505456"/>
            <a:ext cx="822959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WAF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OWASP 防护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3346704" y="2505456"/>
            <a:ext cx="133502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374136" y="2505456"/>
            <a:ext cx="128016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Application Gateway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TLS 终止 · 七层路由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828032" y="2505456"/>
            <a:ext cx="96926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855464" y="2505456"/>
            <a:ext cx="91440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NAT Gateway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出站固定 IP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3200400" y="271576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100" name="Connector 99"/>
          <p:cNvCxnSpPr/>
          <p:nvPr/>
        </p:nvCxnSpPr>
        <p:spPr>
          <a:xfrm>
            <a:off x="4681728" y="271576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101" name="Connector 100"/>
          <p:cNvCxnSpPr/>
          <p:nvPr/>
        </p:nvCxnSpPr>
        <p:spPr>
          <a:xfrm>
            <a:off x="4014215" y="2926080"/>
            <a:ext cx="0" cy="109728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6172200" y="2560320"/>
            <a:ext cx="324612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475569"/>
                </a:solidFill>
                <a:latin typeface="Segoe UI"/>
                <a:ea typeface="Microsoft YaHei"/>
              </a:rPr>
              <a:t>私有 DNS：</a:t>
            </a: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privatelink.* 区域集中解析，AKS / Databricks 经内网域名访问 PaaS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2322576" y="3054096"/>
            <a:ext cx="4206240" cy="1133856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432304" y="3127248"/>
            <a:ext cx="237744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8D4"/>
                </a:solidFill>
                <a:latin typeface="Segoe UI"/>
                <a:ea typeface="Microsoft YaHei"/>
              </a:rPr>
              <a:t>AKS 子网 · 10.0.1.0/24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06240" y="314553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跨 AZ 节点池 · HPA · 托管标识免密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2432304" y="3310128"/>
            <a:ext cx="3986784" cy="512064"/>
          </a:xfrm>
          <a:prstGeom prst="roundRect">
            <a:avLst>
              <a:gd name="adj" fmla="val 8928"/>
            </a:avLst>
          </a:prstGeom>
          <a:noFill/>
          <a:ln w="12700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505456" y="3337560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475569"/>
                </a:solidFill>
                <a:latin typeface="Segoe UI"/>
                <a:ea typeface="Microsoft YaHei"/>
              </a:rPr>
              <a:t>Node · 跨可用区冗余 · 托管节点池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523744" y="3456432"/>
            <a:ext cx="1920240" cy="329184"/>
          </a:xfrm>
          <a:prstGeom prst="roundRect">
            <a:avLst>
              <a:gd name="adj" fmla="val 13888"/>
            </a:avLst>
          </a:prstGeom>
          <a:solidFill>
            <a:srgbClr val="EFF6FF"/>
          </a:solidFill>
          <a:ln w="1778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551175" y="3456432"/>
            <a:ext cx="1865376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E40AF"/>
                </a:solidFill>
                <a:latin typeface="Segoe UI"/>
                <a:ea typeface="Microsoft YaHei"/>
              </a:rPr>
              <a:t>前端 Pod · React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配置化查询界面 · JSON Schema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4517136" y="3456432"/>
            <a:ext cx="1828800" cy="329184"/>
          </a:xfrm>
          <a:prstGeom prst="roundRect">
            <a:avLst>
              <a:gd name="adj" fmla="val 13888"/>
            </a:avLst>
          </a:prstGeom>
          <a:solidFill>
            <a:srgbClr val="F0F9FF"/>
          </a:solidFill>
          <a:ln w="1778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544568" y="3456432"/>
            <a:ext cx="1773936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E7490"/>
                </a:solidFill>
                <a:latin typeface="Segoe UI"/>
                <a:ea typeface="Microsoft YaHei"/>
              </a:rPr>
              <a:t>后端 Pod · .NET 单体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元数据 · 权限 · 查询代理 · 审计 · 销毁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2432304" y="3895344"/>
            <a:ext cx="3986784" cy="219456"/>
          </a:xfrm>
          <a:prstGeom prst="roundRect">
            <a:avLst>
              <a:gd name="adj" fmla="val 16666"/>
            </a:avLst>
          </a:prstGeom>
          <a:solidFill>
            <a:srgbClr val="F0F9FF"/>
          </a:solidFill>
          <a:ln w="12700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2487168" y="3895344"/>
            <a:ext cx="387705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C4A6E"/>
                </a:solidFill>
                <a:latin typeface="Segoe UI"/>
                <a:ea typeface="Microsoft YaHei"/>
              </a:rPr>
              <a:t>元数据服务：系统台账 · 表清单勾选 · 保留期与销毁策略 · 任务记录 · 操作审计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675120" y="3054096"/>
            <a:ext cx="2798064" cy="1133856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784848" y="3127248"/>
            <a:ext cx="265176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8D4"/>
                </a:solidFill>
                <a:latin typeface="Segoe UI"/>
                <a:ea typeface="Microsoft YaHei"/>
              </a:rPr>
              <a:t>私有端点子网 · 10.0.2.0/24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784848" y="332841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812280" y="332841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ADLS 私有端点（blob + dfs）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8119871" y="332841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147303" y="332841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SQL Database 私有端点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6784848" y="369417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812280" y="369417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Key Vault 私有端点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8119871" y="369417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47303" y="369417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Databricks 工作区端点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784848" y="4041648"/>
            <a:ext cx="257860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子网内为私有端点 NIC · PaaS 本体在 Azure 平台侧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6528816" y="358444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126" name="TextBox 125"/>
          <p:cNvSpPr txBox="1"/>
          <p:nvPr/>
        </p:nvSpPr>
        <p:spPr>
          <a:xfrm>
            <a:off x="6419088" y="338328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078D4"/>
                </a:solidFill>
                <a:latin typeface="Segoe UI"/>
                <a:ea typeface="Microsoft YaHei"/>
              </a:rPr>
              <a:t>内网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419088" y="365760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078D4"/>
                </a:solidFill>
                <a:latin typeface="Segoe UI"/>
                <a:ea typeface="Microsoft YaHei"/>
              </a:rPr>
              <a:t>调用</a:t>
            </a:r>
          </a:p>
        </p:txBody>
      </p:sp>
      <p:cxnSp>
        <p:nvCxnSpPr>
          <p:cNvPr id="128" name="Connector 127"/>
          <p:cNvCxnSpPr/>
          <p:nvPr/>
        </p:nvCxnSpPr>
        <p:spPr>
          <a:xfrm>
            <a:off x="2048256" y="2715768"/>
            <a:ext cx="256032" cy="0"/>
          </a:xfrm>
          <a:prstGeom prst="line">
            <a:avLst/>
          </a:prstGeom>
          <a:ln w="2032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29" name="TextBox 128"/>
          <p:cNvSpPr txBox="1"/>
          <p:nvPr/>
        </p:nvSpPr>
        <p:spPr>
          <a:xfrm>
            <a:off x="1188720" y="2542032"/>
            <a:ext cx="9144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59669"/>
                </a:solidFill>
                <a:latin typeface="Segoe UI"/>
                <a:ea typeface="Microsoft YaHei"/>
              </a:rPr>
              <a:t>HTTPS 443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6035040" y="2066543"/>
            <a:ext cx="0" cy="969265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31" name="TextBox 130"/>
          <p:cNvSpPr txBox="1"/>
          <p:nvPr/>
        </p:nvSpPr>
        <p:spPr>
          <a:xfrm>
            <a:off x="6163056" y="2871216"/>
            <a:ext cx="210312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97706"/>
                </a:solidFill>
                <a:latin typeface="Segoe UI"/>
                <a:ea typeface="Microsoft YaHei"/>
              </a:rPr>
              <a:t>SeaTunnel 抽取 · NAT 固定 IP</a:t>
            </a:r>
          </a:p>
        </p:txBody>
      </p:sp>
      <p:cxnSp>
        <p:nvCxnSpPr>
          <p:cNvPr id="132" name="Connector 131"/>
          <p:cNvCxnSpPr/>
          <p:nvPr/>
        </p:nvCxnSpPr>
        <p:spPr>
          <a:xfrm flipV="1">
            <a:off x="5312664" y="2103120"/>
            <a:ext cx="0" cy="384048"/>
          </a:xfrm>
          <a:prstGeom prst="line">
            <a:avLst/>
          </a:prstGeom>
          <a:ln w="1397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33" name="TextBox 132"/>
          <p:cNvSpPr txBox="1"/>
          <p:nvPr/>
        </p:nvSpPr>
        <p:spPr>
          <a:xfrm>
            <a:off x="4023360" y="2084831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出站固定 IP ↑</a:t>
            </a:r>
          </a:p>
        </p:txBody>
      </p:sp>
      <p:cxnSp>
        <p:nvCxnSpPr>
          <p:cNvPr id="134" name="Connector 133"/>
          <p:cNvCxnSpPr/>
          <p:nvPr/>
        </p:nvCxnSpPr>
        <p:spPr>
          <a:xfrm flipV="1">
            <a:off x="9326880" y="2212848"/>
            <a:ext cx="0" cy="841248"/>
          </a:xfrm>
          <a:prstGeom prst="line">
            <a:avLst/>
          </a:prstGeom>
          <a:ln w="17780">
            <a:solidFill>
              <a:srgbClr val="7C3AED"/>
            </a:solidFill>
            <a:prstDash val="dash"/>
          </a:ln>
          <a:effectLst/>
        </p:spPr>
      </p:cxnSp>
      <p:cxnSp>
        <p:nvCxnSpPr>
          <p:cNvPr id="135" name="Connector 134"/>
          <p:cNvCxnSpPr/>
          <p:nvPr/>
        </p:nvCxnSpPr>
        <p:spPr>
          <a:xfrm>
            <a:off x="9326880" y="2212848"/>
            <a:ext cx="347472" cy="0"/>
          </a:xfrm>
          <a:prstGeom prst="line">
            <a:avLst/>
          </a:prstGeom>
          <a:ln w="17780">
            <a:solidFill>
              <a:srgbClr val="7C3AED"/>
            </a:solidFill>
            <a:prstDash val="dash"/>
            <a:tailEnd type="triangle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7726679" y="2048256"/>
            <a:ext cx="18288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7C3AED"/>
                </a:solidFill>
                <a:latin typeface="Segoe UI"/>
                <a:ea typeface="Microsoft YaHei"/>
              </a:rPr>
              <a:t>Private Link · JDBC / ODBC 443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201168" y="4425696"/>
            <a:ext cx="11795760" cy="1316736"/>
          </a:xfrm>
          <a:prstGeom prst="roundRect">
            <a:avLst>
              <a:gd name="adj" fmla="val 5555"/>
            </a:avLst>
          </a:prstGeom>
          <a:solidFill>
            <a:srgbClr val="F0FAF6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347472" y="4498848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59669"/>
                </a:solidFill>
                <a:latin typeface="Segoe UI"/>
                <a:ea typeface="Microsoft YaHei"/>
              </a:rPr>
              <a:t>Azure PaaS 数据与治理服务 · 全部私有端点接入 · 公网访问已禁用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310896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329184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420624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Microsoft Entra ID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84048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身份与单点登录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84048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SAML / OIDC · 托管标识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21792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F1F5F9"/>
          </a:solidFill>
          <a:ln w="1143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49224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475569"/>
                </a:solidFill>
                <a:latin typeface="Segoe UI"/>
                <a:ea typeface="Microsoft YaHei"/>
              </a:rPr>
              <a:t>全局服务 · 443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10896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64748B"/>
                </a:solidFill>
                <a:latin typeface="Segoe UI"/>
                <a:ea typeface="Microsoft YaHei"/>
              </a:rPr>
              <a:t>认证走 443 · 无私有端点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2212848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2231136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322576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Application Insights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286000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审计留痕与链路追踪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286000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操作日志 · 告警规则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523744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2551175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212848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4114800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4133087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4224528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Monitor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187952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资源指标与告警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187952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仪表板 · 自动化响应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4425696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4453128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114800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6016752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6035040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6126480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Key Vault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089904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密钥与凭据托管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089904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CMK · 源库连接串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6327648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355080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016752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7918704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ounded Rectangle 171"/>
          <p:cNvSpPr/>
          <p:nvPr/>
        </p:nvSpPr>
        <p:spPr>
          <a:xfrm>
            <a:off x="7936992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8028431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SQL Database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991856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元数据库 Standard S2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91856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主备自动故障转移 · PITR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8229600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8257031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7918704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9820656" y="4736592"/>
            <a:ext cx="188366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ounded Rectangle 179"/>
          <p:cNvSpPr/>
          <p:nvPr/>
        </p:nvSpPr>
        <p:spPr>
          <a:xfrm>
            <a:off x="9838944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9875520" y="4782312"/>
            <a:ext cx="179222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两个独立存储账户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9875520" y="4928616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078D4"/>
                </a:solidFill>
                <a:latin typeface="Segoe UI"/>
                <a:ea typeface="Microsoft YaHei"/>
              </a:rPr>
              <a:t>① ADLS Gen2（HNS）· Iceberg 湖表 · ZRS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② Blob（FNS）· 附件 · Cool→Cold · 可 WORM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10168128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10195559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 ×2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820656" y="5440680"/>
            <a:ext cx="1883664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cxnSp>
        <p:nvCxnSpPr>
          <p:cNvPr id="186" name="Connector 185"/>
          <p:cNvCxnSpPr/>
          <p:nvPr/>
        </p:nvCxnSpPr>
        <p:spPr>
          <a:xfrm>
            <a:off x="6922008" y="4187952"/>
            <a:ext cx="0" cy="530352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cxnSp>
        <p:nvCxnSpPr>
          <p:cNvPr id="187" name="Connector 186"/>
          <p:cNvCxnSpPr/>
          <p:nvPr/>
        </p:nvCxnSpPr>
        <p:spPr>
          <a:xfrm>
            <a:off x="8823960" y="4187952"/>
            <a:ext cx="0" cy="530352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cxnSp>
        <p:nvCxnSpPr>
          <p:cNvPr id="188" name="Connector 187"/>
          <p:cNvCxnSpPr/>
          <p:nvPr/>
        </p:nvCxnSpPr>
        <p:spPr>
          <a:xfrm>
            <a:off x="9235440" y="4187952"/>
            <a:ext cx="0" cy="292608"/>
          </a:xfrm>
          <a:prstGeom prst="line">
            <a:avLst/>
          </a:prstGeom>
          <a:ln w="15240">
            <a:solidFill>
              <a:srgbClr val="0078D4"/>
            </a:solidFill>
            <a:prstDash val="dash"/>
          </a:ln>
          <a:effectLst/>
        </p:spPr>
      </p:cxnSp>
      <p:cxnSp>
        <p:nvCxnSpPr>
          <p:cNvPr id="189" name="Connector 188"/>
          <p:cNvCxnSpPr/>
          <p:nvPr/>
        </p:nvCxnSpPr>
        <p:spPr>
          <a:xfrm>
            <a:off x="9235440" y="4480560"/>
            <a:ext cx="1325880" cy="0"/>
          </a:xfrm>
          <a:prstGeom prst="line">
            <a:avLst/>
          </a:prstGeom>
          <a:ln w="15240">
            <a:solidFill>
              <a:srgbClr val="0078D4"/>
            </a:solidFill>
            <a:prstDash val="dash"/>
          </a:ln>
          <a:effectLst/>
        </p:spPr>
      </p:cxnSp>
      <p:cxnSp>
        <p:nvCxnSpPr>
          <p:cNvPr id="190" name="Connector 189"/>
          <p:cNvCxnSpPr/>
          <p:nvPr/>
        </p:nvCxnSpPr>
        <p:spPr>
          <a:xfrm>
            <a:off x="10561320" y="4480560"/>
            <a:ext cx="0" cy="237744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sp>
        <p:nvSpPr>
          <p:cNvPr id="191" name="TextBox 190"/>
          <p:cNvSpPr txBox="1"/>
          <p:nvPr/>
        </p:nvSpPr>
        <p:spPr>
          <a:xfrm>
            <a:off x="7333488" y="4462272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078D4"/>
                </a:solidFill>
                <a:latin typeface="Segoe UI"/>
                <a:ea typeface="Microsoft YaHei"/>
              </a:rPr>
              <a:t>Private Link 私网流量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333488" y="4581144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与上方端点一一对应</a:t>
            </a:r>
          </a:p>
        </p:txBody>
      </p:sp>
      <p:cxnSp>
        <p:nvCxnSpPr>
          <p:cNvPr id="193" name="Connector 192"/>
          <p:cNvCxnSpPr/>
          <p:nvPr/>
        </p:nvCxnSpPr>
        <p:spPr>
          <a:xfrm>
            <a:off x="11338560" y="4297680"/>
            <a:ext cx="0" cy="420624"/>
          </a:xfrm>
          <a:prstGeom prst="line">
            <a:avLst/>
          </a:prstGeom>
          <a:ln w="2540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94" name="TextBox 193"/>
          <p:cNvSpPr txBox="1"/>
          <p:nvPr/>
        </p:nvSpPr>
        <p:spPr>
          <a:xfrm>
            <a:off x="11411712" y="4389120"/>
            <a:ext cx="65836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★ NCC 托管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私有端点通道</a:t>
            </a:r>
          </a:p>
        </p:txBody>
      </p:sp>
      <p:sp>
        <p:nvSpPr>
          <p:cNvPr id="195" name="Rounded Rectangle 194"/>
          <p:cNvSpPr/>
          <p:nvPr/>
        </p:nvSpPr>
        <p:spPr>
          <a:xfrm>
            <a:off x="201168" y="5852160"/>
            <a:ext cx="8686800" cy="859536"/>
          </a:xfrm>
          <a:prstGeom prst="roundRect">
            <a:avLst>
              <a:gd name="adj" fmla="val 6382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329184" y="5907024"/>
            <a:ext cx="27432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关键设计要点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329184" y="6080760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①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除 Entra ID（全局认证）外，PaaS 全部私有端点接入，流量不出骨干网；入口 WAF + AppGW 收敛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329184" y="6222492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②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Serverless 不支持 VNet 对等 / VPN —— 私有访问 ADLS 唯一方式：NCC + 托管私有端点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329184" y="6364224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③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源库抽取走 NAT 固定出口 IP 白名单；跨机房走 ExpressRoute / 站点到站点 VPN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4626864" y="6080760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④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元数据与销毁策略存 SQL DB S2 · 审计进 App Insights · 密钥由 Key Vault 托管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4626864" y="6222492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⑤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相比方案 B：省去 Trino 集群与双子网注入，查询层完全托管、零集群运维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4626864" y="6364224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⑥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需 Databricks Premium 层（PE / NCC 均为 Premium 特性）；NCC 需 Account Admin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8997696" y="5852160"/>
            <a:ext cx="2999232" cy="859536"/>
          </a:xfrm>
          <a:prstGeom prst="roundRect">
            <a:avLst>
              <a:gd name="adj" fmla="val 6382"/>
            </a:avLst>
          </a:prstGeom>
          <a:solidFill>
            <a:srgbClr val="FFF1F2"/>
          </a:solidFill>
          <a:ln w="12700">
            <a:solidFill>
              <a:srgbClr val="F8717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9125712" y="5907024"/>
            <a:ext cx="27432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B91C1C"/>
                </a:solidFill>
                <a:latin typeface="Segoe UI"/>
                <a:ea typeface="Microsoft YaHei"/>
              </a:rPr>
              <a:t>高可用 &amp; 容灾（HA / DR）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9125712" y="6080760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AKS 跨 AZ · SQL 主备自动转移 · 存储 ZRS 冗余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125712" y="6222492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平台托管无单点 · Serverless 空闲归零自动重建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9125712" y="6364224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SQL 自动备份 + PITR · ADLS 生命周期分层 / GRS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9125712" y="6505956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RPO ≤ 15 min · RTO ≤ 2 h · 审计独立备份不销毁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应用架构图 · 方案 B2（湖仓一体 · Databricks SQL Serverless 读）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1168" y="566928"/>
            <a:ext cx="11795760" cy="749808"/>
          </a:xfrm>
          <a:prstGeom prst="roundRect">
            <a:avLst>
              <a:gd name="adj" fmla="val 9756"/>
            </a:avLst>
          </a:prstGeom>
          <a:solidFill>
            <a:srgbClr val="ECFDF5"/>
          </a:solidFill>
          <a:ln w="1524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30936"/>
            <a:ext cx="18288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Microsoft YaHei"/>
              </a:rPr>
              <a:t>01 访问入口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3192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业务查询员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查本系统归档数据</a:t>
            </a:r>
          </a:p>
        </p:txBody>
      </p:sp>
      <p:sp>
        <p:nvSpPr>
          <p:cNvPr id="8" name="Oval 7"/>
          <p:cNvSpPr/>
          <p:nvPr/>
        </p:nvSpPr>
        <p:spPr>
          <a:xfrm>
            <a:off x="538261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6978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340864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68296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审计 / 合规岗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跨系统检索与举证</a:t>
            </a:r>
          </a:p>
        </p:txBody>
      </p:sp>
      <p:sp>
        <p:nvSpPr>
          <p:cNvPr id="12" name="Oval 11"/>
          <p:cNvSpPr/>
          <p:nvPr/>
        </p:nvSpPr>
        <p:spPr>
          <a:xfrm>
            <a:off x="2513365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492082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15968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平台运维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监控作业与销毁</a:t>
            </a:r>
          </a:p>
        </p:txBody>
      </p:sp>
      <p:sp>
        <p:nvSpPr>
          <p:cNvPr id="16" name="Oval 15"/>
          <p:cNvSpPr/>
          <p:nvPr/>
        </p:nvSpPr>
        <p:spPr>
          <a:xfrm>
            <a:off x="4488469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67186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546336" y="822960"/>
            <a:ext cx="2212848" cy="420624"/>
          </a:xfrm>
          <a:prstGeom prst="roundRect">
            <a:avLst>
              <a:gd name="adj" fmla="val 10869"/>
            </a:avLst>
          </a:prstGeom>
          <a:solidFill>
            <a:srgbClr val="EFF6FF"/>
          </a:solidFill>
          <a:ln w="15240">
            <a:solidFill>
              <a:srgbClr val="93C5F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73767" y="822960"/>
            <a:ext cx="2157984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D4ED8"/>
                </a:solidFill>
                <a:latin typeface="Segoe UI"/>
                <a:ea typeface="Microsoft YaHei"/>
              </a:rPr>
              <a:t>Microsoft Entra ID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1E40AF"/>
                </a:solidFill>
                <a:latin typeface="Segoe UI"/>
                <a:ea typeface="Microsoft YaHei"/>
              </a:rPr>
              <a:t>SSO / OIDC / 托管标识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932688"/>
            <a:ext cx="192024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64748B"/>
                </a:solidFill>
                <a:latin typeface="Segoe UI"/>
                <a:ea typeface="Microsoft YaHei"/>
              </a:rPr>
              <a:t>统一身份 · 单点登录 →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977639" y="1316736"/>
            <a:ext cx="0" cy="109728"/>
          </a:xfrm>
          <a:prstGeom prst="line">
            <a:avLst/>
          </a:prstGeom>
          <a:ln w="2540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22" name="TextBox 21"/>
          <p:cNvSpPr txBox="1"/>
          <p:nvPr/>
        </p:nvSpPr>
        <p:spPr>
          <a:xfrm>
            <a:off x="4087368" y="1321308"/>
            <a:ext cx="109728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891B2"/>
                </a:solidFill>
                <a:latin typeface="Segoe UI"/>
                <a:ea typeface="Microsoft YaHei"/>
              </a:rPr>
              <a:t>HTTPS 443 · SSO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1168" y="1426464"/>
            <a:ext cx="11795760" cy="950976"/>
          </a:xfrm>
          <a:prstGeom prst="roundRect">
            <a:avLst>
              <a:gd name="adj" fmla="val 7692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1490472"/>
            <a:ext cx="27432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7490"/>
                </a:solidFill>
                <a:latin typeface="Segoe UI"/>
                <a:ea typeface="Microsoft YaHei"/>
              </a:rPr>
              <a:t>02 自研应用层（AKS）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1700784"/>
            <a:ext cx="2688336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3192" y="1700784"/>
            <a:ext cx="263347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0F172A"/>
                </a:solidFill>
                <a:latin typeface="Segoe UI"/>
                <a:ea typeface="Microsoft YaHei"/>
              </a:rPr>
              <a:t>React 配置化查询平台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JSON Schema 渲染查询表单 · 表格 / 明细 / 附件预览 / 导出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57016" y="1700784"/>
            <a:ext cx="52852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11880" y="1700784"/>
            <a:ext cx="5175504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.NET 10 后端服务组</a:t>
            </a:r>
          </a:p>
          <a:p>
            <a:pPr algn="ctr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</a:pPr>
            <a:r>
              <a:rPr sz="660" b="0" i="0">
                <a:solidFill>
                  <a:srgbClr val="64748B"/>
                </a:solidFill>
                <a:latin typeface="Segoe UI"/>
                <a:ea typeface="Microsoft YaHei"/>
              </a:rPr>
              <a:t>元数据 · 查询代理 · 权限校验 · 附件代理 · 审计上报 · 销毁调度</a:t>
            </a:r>
          </a:p>
          <a:p>
            <a:pPr algn="ctr">
              <a:lnSpc>
                <a:spcPct val="112000"/>
              </a:lnSpc>
              <a:spcBef>
                <a:spcPts val="100"/>
              </a:spcBef>
              <a:spcAft>
                <a:spcPts val="0"/>
              </a:spcAft>
            </a:pPr>
            <a:r>
              <a:rPr sz="660" b="0" i="0">
                <a:solidFill>
                  <a:srgbClr val="94A3B8"/>
                </a:solidFill>
                <a:latin typeface="Segoe UI"/>
                <a:ea typeface="Microsoft YaHei"/>
              </a:rPr>
              <a:t>后端二次鉴权 · 参数化 SQL · 私有端点访问下游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108960" y="1984248"/>
            <a:ext cx="393192" cy="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0" name="Rounded Rectangle 29"/>
          <p:cNvSpPr/>
          <p:nvPr/>
        </p:nvSpPr>
        <p:spPr>
          <a:xfrm>
            <a:off x="9345168" y="1700784"/>
            <a:ext cx="2414016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72600" y="1700784"/>
            <a:ext cx="23591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0F172A"/>
                </a:solidFill>
                <a:latin typeface="Segoe UI"/>
                <a:ea typeface="Microsoft YaHei"/>
              </a:rPr>
              <a:t>Azure SQL 元数据库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系统台账 / 表清单 / 保留期 / 销毁策略 / 审计索引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897112" y="1984248"/>
            <a:ext cx="393192" cy="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3" name="TextBox 32"/>
          <p:cNvSpPr txBox="1"/>
          <p:nvPr/>
        </p:nvSpPr>
        <p:spPr>
          <a:xfrm>
            <a:off x="8357616" y="182880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891B2"/>
                </a:solidFill>
                <a:latin typeface="Segoe UI"/>
                <a:ea typeface="Microsoft YaHei"/>
              </a:rPr>
              <a:t>读写配置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01168" y="2505456"/>
            <a:ext cx="11795760" cy="2212848"/>
          </a:xfrm>
          <a:prstGeom prst="roundRect">
            <a:avLst>
              <a:gd name="adj" fmla="val 3305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2569464"/>
            <a:ext cx="310896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4155"/>
                </a:solidFill>
                <a:latin typeface="Segoe UI"/>
                <a:ea typeface="Microsoft YaHei"/>
              </a:rPr>
              <a:t>03 核心链路（写入 / 查询 / 附件）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5760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0FDF4"/>
          </a:solidFill>
          <a:ln w="1524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2064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047857"/>
                </a:solidFill>
                <a:latin typeface="Segoe UI"/>
                <a:ea typeface="Microsoft YaHei"/>
              </a:rPr>
              <a:t>WRITE PATH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064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归档写入 / 到期销毁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3776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DBA7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1208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Azure Data Factory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编排调度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359152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DBA7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86584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结构化抽取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2103120" y="3506724"/>
            <a:ext cx="219456" cy="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44" name="Rounded Rectangle 43"/>
          <p:cNvSpPr/>
          <p:nvPr/>
        </p:nvSpPr>
        <p:spPr>
          <a:xfrm>
            <a:off x="512064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DCFCE7"/>
          </a:solidFill>
          <a:ln w="1397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66928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47857"/>
                </a:solidFill>
                <a:latin typeface="Segoe UI"/>
                <a:ea typeface="Microsoft YaHei"/>
              </a:rPr>
              <a:t>Databricks Serverless：ETL · Compaction · DROP PARTITION + VACUUM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24528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5F3FF"/>
          </a:solidFill>
          <a:ln w="1524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70832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6D28D9"/>
                </a:solidFill>
                <a:latin typeface="Segoe UI"/>
                <a:ea typeface="Microsoft YaHei"/>
              </a:rPr>
              <a:t>READ PATH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70832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在线查询 / 跨系统检索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352544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C4B5F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79976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查询代理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限流 / 超时 / 审计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217920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A78B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45352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Databricks SQL Serverless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读侧查询 · 空闲缩 0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961888" y="3506724"/>
            <a:ext cx="219456" cy="0"/>
          </a:xfrm>
          <a:prstGeom prst="line">
            <a:avLst/>
          </a:prstGeom>
          <a:ln w="2540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54" name="Rounded Rectangle 53"/>
          <p:cNvSpPr/>
          <p:nvPr/>
        </p:nvSpPr>
        <p:spPr>
          <a:xfrm>
            <a:off x="4370832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EDE9FE"/>
          </a:solidFill>
          <a:ln w="1397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25696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6D28D9"/>
                </a:solidFill>
                <a:latin typeface="Segoe UI"/>
                <a:ea typeface="Microsoft YaHei"/>
              </a:rPr>
              <a:t>Unity Catalog 表级授权 · SERVE 层首屏 2–5 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083296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FFBEB"/>
          </a:solidFill>
          <a:ln w="1524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29600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B45309"/>
                </a:solidFill>
                <a:latin typeface="Segoe UI"/>
                <a:ea typeface="Microsoft YaHei"/>
              </a:rPr>
              <a:t>ATTACHMENT PATH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0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非结构化附件 / 预览下载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211312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CD34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38744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迁移附件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076688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CD34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104120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附件代理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鉴权 / 流式回吐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9820656" y="3506724"/>
            <a:ext cx="219456" cy="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64" name="Rounded Rectangle 63"/>
          <p:cNvSpPr/>
          <p:nvPr/>
        </p:nvSpPr>
        <p:spPr>
          <a:xfrm>
            <a:off x="8229600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FEF3C7"/>
          </a:solidFill>
          <a:ln w="1397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84464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92400E"/>
                </a:solidFill>
                <a:latin typeface="Segoe UI"/>
                <a:ea typeface="Microsoft YaHei"/>
              </a:rPr>
              <a:t>SHA-256 台账 · 附件索引表 · 后端审计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3840480" y="2267712"/>
            <a:ext cx="0" cy="384048"/>
          </a:xfrm>
          <a:prstGeom prst="line">
            <a:avLst/>
          </a:prstGeom>
          <a:ln w="27940">
            <a:solidFill>
              <a:srgbClr val="059669"/>
            </a:solidFill>
          </a:ln>
          <a:effectLst/>
        </p:spPr>
      </p:cxnSp>
      <p:cxnSp>
        <p:nvCxnSpPr>
          <p:cNvPr id="67" name="Connector 66"/>
          <p:cNvCxnSpPr/>
          <p:nvPr/>
        </p:nvCxnSpPr>
        <p:spPr>
          <a:xfrm flipH="1">
            <a:off x="2203704" y="2651760"/>
            <a:ext cx="1636776" cy="0"/>
          </a:xfrm>
          <a:prstGeom prst="line">
            <a:avLst/>
          </a:prstGeom>
          <a:ln w="27940">
            <a:solidFill>
              <a:srgbClr val="059669"/>
            </a:solidFill>
          </a:ln>
          <a:effectLst/>
        </p:spPr>
      </p:cxnSp>
      <p:cxnSp>
        <p:nvCxnSpPr>
          <p:cNvPr id="68" name="Connector 67"/>
          <p:cNvCxnSpPr/>
          <p:nvPr/>
        </p:nvCxnSpPr>
        <p:spPr>
          <a:xfrm>
            <a:off x="2203704" y="2651760"/>
            <a:ext cx="0" cy="91440"/>
          </a:xfrm>
          <a:prstGeom prst="line">
            <a:avLst/>
          </a:prstGeom>
          <a:ln w="2794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2395728" y="2496312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59669"/>
                </a:solidFill>
                <a:latin typeface="Segoe UI"/>
                <a:ea typeface="Microsoft YaHei"/>
              </a:rPr>
              <a:t>接入配置 / 销毁调度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6062472" y="2267712"/>
            <a:ext cx="0" cy="475488"/>
          </a:xfrm>
          <a:prstGeom prst="line">
            <a:avLst/>
          </a:prstGeom>
          <a:ln w="2794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71" name="TextBox 70"/>
          <p:cNvSpPr txBox="1"/>
          <p:nvPr/>
        </p:nvSpPr>
        <p:spPr>
          <a:xfrm>
            <a:off x="6163056" y="2432304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查询请求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223760" y="2267712"/>
            <a:ext cx="0" cy="384048"/>
          </a:xfrm>
          <a:prstGeom prst="line">
            <a:avLst/>
          </a:prstGeom>
          <a:ln w="25400">
            <a:solidFill>
              <a:srgbClr val="D97706"/>
            </a:solidFill>
          </a:ln>
          <a:effectLst/>
        </p:spPr>
      </p:cxnSp>
      <p:cxnSp>
        <p:nvCxnSpPr>
          <p:cNvPr id="73" name="Connector 72"/>
          <p:cNvCxnSpPr/>
          <p:nvPr/>
        </p:nvCxnSpPr>
        <p:spPr>
          <a:xfrm>
            <a:off x="7223760" y="2651760"/>
            <a:ext cx="2697480" cy="0"/>
          </a:xfrm>
          <a:prstGeom prst="line">
            <a:avLst/>
          </a:prstGeom>
          <a:ln w="25400">
            <a:solidFill>
              <a:srgbClr val="D97706"/>
            </a:solidFill>
          </a:ln>
          <a:effectLst/>
        </p:spPr>
      </p:cxnSp>
      <p:cxnSp>
        <p:nvCxnSpPr>
          <p:cNvPr id="74" name="Connector 73"/>
          <p:cNvCxnSpPr/>
          <p:nvPr/>
        </p:nvCxnSpPr>
        <p:spPr>
          <a:xfrm>
            <a:off x="9921240" y="2651760"/>
            <a:ext cx="0" cy="9144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8138160" y="2496312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97706"/>
                </a:solidFill>
                <a:latin typeface="Segoe UI"/>
                <a:ea typeface="Microsoft YaHei"/>
              </a:rPr>
              <a:t>附件预览 / 下载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01168" y="4828032"/>
            <a:ext cx="11795760" cy="749808"/>
          </a:xfrm>
          <a:prstGeom prst="roundRect">
            <a:avLst>
              <a:gd name="adj" fmla="val 9756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65760" y="4892040"/>
            <a:ext cx="36576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D4ED8"/>
                </a:solidFill>
                <a:latin typeface="Segoe UI"/>
                <a:ea typeface="Microsoft YaHei"/>
              </a:rPr>
              <a:t>04 数据底座与统一治理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365760" y="5084064"/>
            <a:ext cx="356616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60A5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93192" y="5084064"/>
            <a:ext cx="351129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ADLS Gen2 · Iceberg 湖表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RAW / CURATED / LAKE / SERVE · 1:1 原样归档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114800" y="5084064"/>
            <a:ext cx="329184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60A5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142232" y="5084064"/>
            <a:ext cx="323697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Unity Catalog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表级权限 / 血缘 / 快照回溯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589520" y="5084064"/>
            <a:ext cx="4169663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F59E0B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616952" y="5084064"/>
            <a:ext cx="411480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Azure Blob · 附件账户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Cool / Cold 分层 · WORM 可选 · 与业务表分账户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2203704" y="4535424"/>
            <a:ext cx="0" cy="530352"/>
          </a:xfrm>
          <a:prstGeom prst="line">
            <a:avLst/>
          </a:prstGeom>
          <a:ln w="2794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85" name="TextBox 84"/>
          <p:cNvSpPr txBox="1"/>
          <p:nvPr/>
        </p:nvSpPr>
        <p:spPr>
          <a:xfrm>
            <a:off x="2304288" y="4732020"/>
            <a:ext cx="128016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59669"/>
                </a:solidFill>
                <a:latin typeface="Segoe UI"/>
                <a:ea typeface="Microsoft YaHei"/>
              </a:rPr>
              <a:t>写入 Iceberg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6062472" y="4535424"/>
            <a:ext cx="0" cy="237744"/>
          </a:xfrm>
          <a:prstGeom prst="line">
            <a:avLst/>
          </a:prstGeom>
          <a:ln w="27940">
            <a:solidFill>
              <a:srgbClr val="7C3AED"/>
            </a:solidFill>
          </a:ln>
          <a:effectLst/>
        </p:spPr>
      </p:cxnSp>
      <p:cxnSp>
        <p:nvCxnSpPr>
          <p:cNvPr id="87" name="Connector 86"/>
          <p:cNvCxnSpPr/>
          <p:nvPr/>
        </p:nvCxnSpPr>
        <p:spPr>
          <a:xfrm flipH="1">
            <a:off x="3291840" y="4773168"/>
            <a:ext cx="2770632" cy="0"/>
          </a:xfrm>
          <a:prstGeom prst="line">
            <a:avLst/>
          </a:prstGeom>
          <a:ln w="27940">
            <a:solidFill>
              <a:srgbClr val="7C3AED"/>
            </a:solidFill>
          </a:ln>
          <a:effectLst/>
        </p:spPr>
      </p:cxnSp>
      <p:cxnSp>
        <p:nvCxnSpPr>
          <p:cNvPr id="88" name="Connector 87"/>
          <p:cNvCxnSpPr/>
          <p:nvPr/>
        </p:nvCxnSpPr>
        <p:spPr>
          <a:xfrm>
            <a:off x="3291840" y="4773168"/>
            <a:ext cx="0" cy="292608"/>
          </a:xfrm>
          <a:prstGeom prst="line">
            <a:avLst/>
          </a:prstGeom>
          <a:ln w="2794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89" name="TextBox 88"/>
          <p:cNvSpPr txBox="1"/>
          <p:nvPr/>
        </p:nvSpPr>
        <p:spPr>
          <a:xfrm>
            <a:off x="4224528" y="4572000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读 Iceberg / ABFS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9921240" y="4535424"/>
            <a:ext cx="0" cy="530352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91" name="TextBox 90"/>
          <p:cNvSpPr txBox="1"/>
          <p:nvPr/>
        </p:nvSpPr>
        <p:spPr>
          <a:xfrm>
            <a:off x="10021824" y="4732020"/>
            <a:ext cx="118872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97706"/>
                </a:solidFill>
                <a:latin typeface="Segoe UI"/>
                <a:ea typeface="Microsoft YaHei"/>
              </a:rPr>
              <a:t>附件取流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65760" y="5705856"/>
            <a:ext cx="733348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12064" y="5705856"/>
            <a:ext cx="704088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334155"/>
                </a:solidFill>
                <a:latin typeface="Segoe UI"/>
                <a:ea typeface="Microsoft YaHei"/>
              </a:rPr>
              <a:t>安全底座：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Key Vault · App Insights · Azure Monitor · Databricks Query History · 全部 PaaS 私有端点 · 入口 WAF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7900416" y="5705856"/>
            <a:ext cx="3858768" cy="365760"/>
          </a:xfrm>
          <a:prstGeom prst="roundRect">
            <a:avLst>
              <a:gd name="adj" fmla="val 15000"/>
            </a:avLst>
          </a:prstGeom>
          <a:solidFill>
            <a:srgbClr val="FFF7ED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065008" y="5705856"/>
            <a:ext cx="3529584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B45309"/>
                </a:solidFill>
                <a:latin typeface="Segoe UI"/>
                <a:ea typeface="Microsoft YaHei"/>
              </a:rPr>
              <a:t>B2 读侧：</a:t>
            </a:r>
            <a:r>
              <a:rPr sz="680" b="0" i="0">
                <a:solidFill>
                  <a:srgbClr val="92400E"/>
                </a:solidFill>
                <a:latin typeface="Segoe UI"/>
                <a:ea typeface="Microsoft YaHei"/>
              </a:rPr>
              <a:t>Databricks SQL Serverless 完全托管 · 空闲缩 0；代价是引擎绑定 + 需 Premium 层（NCC / PE）</a:t>
            </a:r>
          </a:p>
        </p:txBody>
      </p:sp>
      <p:sp>
        <p:nvSpPr>
          <p:cNvPr id="96" name="Oval 95"/>
          <p:cNvSpPr/>
          <p:nvPr/>
        </p:nvSpPr>
        <p:spPr>
          <a:xfrm>
            <a:off x="365760" y="6245352"/>
            <a:ext cx="82296" cy="82296"/>
          </a:xfrm>
          <a:prstGeom prst="ellipse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93776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自研应用组件（AKS）</a:t>
            </a:r>
          </a:p>
        </p:txBody>
      </p:sp>
      <p:sp>
        <p:nvSpPr>
          <p:cNvPr id="98" name="Oval 97"/>
          <p:cNvSpPr/>
          <p:nvPr/>
        </p:nvSpPr>
        <p:spPr>
          <a:xfrm>
            <a:off x="1940356" y="6245352"/>
            <a:ext cx="82296" cy="8229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068372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写侧数据链路</a:t>
            </a:r>
          </a:p>
        </p:txBody>
      </p:sp>
      <p:sp>
        <p:nvSpPr>
          <p:cNvPr id="100" name="Oval 99"/>
          <p:cNvSpPr/>
          <p:nvPr/>
        </p:nvSpPr>
        <p:spPr>
          <a:xfrm>
            <a:off x="3140049" y="6245352"/>
            <a:ext cx="82296" cy="822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268065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读侧查询链路</a:t>
            </a:r>
          </a:p>
        </p:txBody>
      </p:sp>
      <p:sp>
        <p:nvSpPr>
          <p:cNvPr id="102" name="Oval 101"/>
          <p:cNvSpPr/>
          <p:nvPr/>
        </p:nvSpPr>
        <p:spPr>
          <a:xfrm>
            <a:off x="4339742" y="6245352"/>
            <a:ext cx="82296" cy="8229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467758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编排 / 抽取</a:t>
            </a:r>
          </a:p>
        </p:txBody>
      </p:sp>
      <p:sp>
        <p:nvSpPr>
          <p:cNvPr id="104" name="Oval 103"/>
          <p:cNvSpPr/>
          <p:nvPr/>
        </p:nvSpPr>
        <p:spPr>
          <a:xfrm>
            <a:off x="5614416" y="6245352"/>
            <a:ext cx="82296" cy="82296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742432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Azure PaaS 数据服务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方案 B2 · 湖仓一体 · 存算分离架构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676656"/>
            <a:ext cx="0" cy="5632704"/>
          </a:xfrm>
          <a:prstGeom prst="line">
            <a:avLst/>
          </a:prstGeom>
          <a:ln w="31750">
            <a:solidFill>
              <a:srgbClr val="E2E8F0"/>
            </a:solidFill>
          </a:ln>
          <a:effectLst/>
        </p:spPr>
      </p:cxnSp>
      <p:sp>
        <p:nvSpPr>
          <p:cNvPr id="5" name="Rounded Rectangle 4"/>
          <p:cNvSpPr/>
          <p:nvPr/>
        </p:nvSpPr>
        <p:spPr>
          <a:xfrm>
            <a:off x="713232" y="566928"/>
            <a:ext cx="7104888" cy="621792"/>
          </a:xfrm>
          <a:prstGeom prst="roundRect">
            <a:avLst>
              <a:gd name="adj" fmla="val 11764"/>
            </a:avLst>
          </a:prstGeom>
          <a:solidFill>
            <a:srgbClr val="F6F8FA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47472" y="722375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722375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475569"/>
                </a:solidFill>
                <a:latin typeface="Consolas"/>
                <a:ea typeface="Microsoft Ya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1792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源系统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795528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475569"/>
                </a:solidFill>
                <a:latin typeface="Consolas"/>
                <a:ea typeface="Microsoft YaHei"/>
              </a:rPr>
              <a:t>SOURCE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932688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退役 · 只读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05156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15 套待归档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31136" y="640080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651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58568" y="640080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结构化数据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Oracle · MySQL · DB2 / 其他 · JDBC 读取 · 约 100 张表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38344" y="640080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BEB"/>
          </a:solidFill>
          <a:ln w="1651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65776" y="640080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92400E"/>
                </a:solidFill>
                <a:latin typeface="Segoe UI"/>
                <a:ea typeface="Microsoft YaHei"/>
              </a:rPr>
              <a:t>非结构化附件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NFS · S3 · Azure Blob · PDF / 图片 / 影像件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983480" y="1188720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17" name="Rounded Rectangle 16"/>
          <p:cNvSpPr/>
          <p:nvPr/>
        </p:nvSpPr>
        <p:spPr>
          <a:xfrm>
            <a:off x="713232" y="1298448"/>
            <a:ext cx="7104888" cy="841248"/>
          </a:xfrm>
          <a:prstGeom prst="roundRect">
            <a:avLst>
              <a:gd name="adj" fmla="val 8695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47472" y="1563624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" y="15636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891B2"/>
                </a:solidFill>
                <a:latin typeface="Consolas"/>
                <a:ea typeface="Microsoft YaHei"/>
              </a:rPr>
              <a:t>B-00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1353312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接入配置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1527048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891B2"/>
                </a:solidFill>
                <a:latin typeface="Consolas"/>
                <a:ea typeface="Microsoft YaHei"/>
              </a:rPr>
              <a:t>CONFIGURE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1664207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页面操作 · 零代码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1783079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配置存元数据库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1901951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891B2"/>
                </a:solidFill>
                <a:latin typeface="Segoe UI"/>
                <a:ea typeface="Microsoft YaHei"/>
              </a:rPr>
              <a:t>新系统接入复用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31136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22576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① 录入连接信息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2576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主机 / 端口 / 账号 · 凭据存 Key Vault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22576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「测试连接」校验连通与权限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33087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24527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② 自动读取表清单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24527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扫描 information_schema · 表名 / 行数 / 大小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24527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共发现 10 张表（含类型与主键）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35040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6479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③ 勾选待迁移表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79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☑ 订单主表 · 明细 · 客户 · 商品 · 支付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6479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☐ 临时 / 日志 / 中间 / 缓存 / 备份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931920" y="1645920"/>
            <a:ext cx="182880" cy="0"/>
          </a:xfrm>
          <a:prstGeom prst="line">
            <a:avLst/>
          </a:prstGeom>
          <a:ln w="19050">
            <a:solidFill>
              <a:srgbClr val="0891B2"/>
            </a:solidFill>
            <a:tailEnd type="triangle" w="med" len="med"/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5833872" y="1645920"/>
            <a:ext cx="182880" cy="0"/>
          </a:xfrm>
          <a:prstGeom prst="line">
            <a:avLst/>
          </a:prstGeom>
          <a:ln w="1905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9" name="TextBox 38"/>
          <p:cNvSpPr txBox="1"/>
          <p:nvPr/>
        </p:nvSpPr>
        <p:spPr>
          <a:xfrm>
            <a:off x="2231136" y="1965960"/>
            <a:ext cx="54955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891B2"/>
                </a:solidFill>
                <a:latin typeface="Segoe UI"/>
                <a:ea typeface="Microsoft YaHei"/>
              </a:rPr>
              <a:t>按配置生成 SeaTunnel 任务 · 仅入湖勾选的 5 张表（10 选 5）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983480" y="213969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41" name="Rounded Rectangle 40"/>
          <p:cNvSpPr/>
          <p:nvPr/>
        </p:nvSpPr>
        <p:spPr>
          <a:xfrm>
            <a:off x="713232" y="2249424"/>
            <a:ext cx="7104888" cy="621792"/>
          </a:xfrm>
          <a:prstGeom prst="roundRect">
            <a:avLst>
              <a:gd name="adj" fmla="val 11764"/>
            </a:avLst>
          </a:prstGeom>
          <a:solidFill>
            <a:srgbClr val="FFF7ED"/>
          </a:solidFill>
          <a:ln w="1524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47472" y="2404872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47472" y="240487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EA580C"/>
                </a:solidFill>
                <a:latin typeface="Consolas"/>
                <a:ea typeface="Microsoft YaHei"/>
              </a:rPr>
              <a:t>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2304288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数据抽取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" y="247802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EA580C"/>
                </a:solidFill>
                <a:latin typeface="Consolas"/>
                <a:ea typeface="Microsoft YaHei"/>
              </a:rPr>
              <a:t>INGEST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2615184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批量 · 全量 + 增量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" y="2734056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ADF 编排调度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231136" y="2322576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651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58568" y="2322576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结构化 · 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200+ 连接器 · JDBC · 类型映射 · 对账 → Iceberg 表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38344" y="2322576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65776" y="2322576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92400E"/>
                </a:solidFill>
                <a:latin typeface="Segoe UI"/>
                <a:ea typeface="Microsoft YaHei"/>
              </a:rPr>
              <a:t>附件 · 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PDF / 图片 / Office 影像 · 服务免费 → ADLS 附件容器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983480" y="287121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53" name="Rounded Rectangle 52"/>
          <p:cNvSpPr/>
          <p:nvPr/>
        </p:nvSpPr>
        <p:spPr>
          <a:xfrm>
            <a:off x="713232" y="2980944"/>
            <a:ext cx="7104888" cy="1133856"/>
          </a:xfrm>
          <a:prstGeom prst="roundRect">
            <a:avLst>
              <a:gd name="adj" fmla="val 6451"/>
            </a:avLst>
          </a:prstGeom>
          <a:solidFill>
            <a:srgbClr val="FAF9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47472" y="3392424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47472" y="33924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7C3AED"/>
                </a:solidFill>
                <a:latin typeface="Consolas"/>
                <a:ea typeface="Microsoft YaHei"/>
              </a:rPr>
              <a:t>B-03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2960" y="3035808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Iceberg 冷湖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960" y="320954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7C3AED"/>
                </a:solidFill>
                <a:latin typeface="Consolas"/>
                <a:ea typeface="Microsoft YaHei"/>
              </a:rPr>
              <a:t>COLD LAKE · STORAGE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" y="3346703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ADLS Gen2 · Parquet + ZSTD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2960" y="3465575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7C3AED"/>
                </a:solidFill>
                <a:latin typeface="Segoe UI"/>
                <a:ea typeface="Microsoft YaHei"/>
              </a:rPr>
              <a:t>≈¥90–150/TB·月 · PB 级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60" y="3584447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100 张表 · 1:1 原样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2960" y="370332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Hot / Cool 分层 · ZRS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231136" y="3035808"/>
            <a:ext cx="5495544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Iceberg 表 · 四层分层（RAW → SERVE 逐层升温，越往下越热）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231136" y="3200400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EEF2FF"/>
          </a:solidFill>
          <a:ln w="12700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2249424" y="3223260"/>
            <a:ext cx="32004" cy="160020"/>
          </a:xfrm>
          <a:prstGeom prst="roundRect">
            <a:avLst>
              <a:gd name="adj" fmla="val 48571"/>
            </a:avLst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359152" y="3200400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4338CA"/>
                </a:solidFill>
                <a:latin typeface="Segoe UI"/>
                <a:ea typeface="Microsoft YaHei"/>
              </a:rPr>
              <a:t>RAW · 原始落地（最冷）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SeaTunnel 全量 1:1 保真 · 分区 sys_id / ingest_date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231136" y="3424428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EDE9FE"/>
          </a:solidFill>
          <a:ln w="1270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2249424" y="3447288"/>
            <a:ext cx="32004" cy="160020"/>
          </a:xfrm>
          <a:prstGeom prst="roundRect">
            <a:avLst>
              <a:gd name="adj" fmla="val 48571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359152" y="3424428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6D28D9"/>
                </a:solidFill>
                <a:latin typeface="Segoe UI"/>
                <a:ea typeface="Microsoft YaHei"/>
              </a:rPr>
              <a:t>CURATED · 清洗规整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类型统一 · 缺失值处理 · SHA-256 台账 · 分区归约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231136" y="3648456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F5F3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2249424" y="3671316"/>
            <a:ext cx="32004" cy="160020"/>
          </a:xfrm>
          <a:prstGeom prst="roundRect">
            <a:avLst>
              <a:gd name="adj" fmla="val 48571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359152" y="3648456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5B21B6"/>
                </a:solidFill>
                <a:latin typeface="Segoe UI"/>
                <a:ea typeface="Microsoft YaHei"/>
              </a:rPr>
              <a:t>LAKE · 建模归档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业务维度建模 · 生命周期分区（销毁友好）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231136" y="3872484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FEF3C7"/>
          </a:solidFill>
          <a:ln w="12700">
            <a:solidFill>
              <a:srgbClr val="FCD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2249424" y="3895344"/>
            <a:ext cx="32004" cy="160020"/>
          </a:xfrm>
          <a:prstGeom prst="roundRect">
            <a:avLst>
              <a:gd name="adj" fmla="val 48571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359152" y="3872484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B45309"/>
                </a:solidFill>
                <a:latin typeface="Segoe UI"/>
                <a:ea typeface="Microsoft YaHei"/>
              </a:rPr>
              <a:t>SERVE · 加速服务（最热）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热表物化 · Z-Order · 供 Databricks SQL Serverless 直查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713232" y="4251960"/>
            <a:ext cx="7104888" cy="0"/>
          </a:xfrm>
          <a:prstGeom prst="line">
            <a:avLst/>
          </a:prstGeom>
          <a:ln w="20320">
            <a:solidFill>
              <a:srgbClr val="94A3B8"/>
            </a:solidFill>
            <a:prstDash val="dash"/>
          </a:ln>
          <a:effectLst/>
        </p:spPr>
      </p:cxnSp>
      <p:sp>
        <p:nvSpPr>
          <p:cNvPr id="76" name="Rounded Rectangle 75"/>
          <p:cNvSpPr/>
          <p:nvPr/>
        </p:nvSpPr>
        <p:spPr>
          <a:xfrm>
            <a:off x="4224528" y="4160520"/>
            <a:ext cx="1609344" cy="1828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224528" y="4160520"/>
            <a:ext cx="1609344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475569"/>
                </a:solidFill>
                <a:latin typeface="Segoe UI"/>
                <a:ea typeface="Microsoft YaHei"/>
              </a:rPr>
              <a:t>━━ 存算分离边界 ━━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3108960" y="4114800"/>
            <a:ext cx="0" cy="274320"/>
          </a:xfrm>
          <a:prstGeom prst="line">
            <a:avLst/>
          </a:prstGeom>
          <a:ln w="2286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3218688" y="4123944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C3AED"/>
                </a:solidFill>
                <a:latin typeface="Segoe UI"/>
                <a:ea typeface="Microsoft YaHei"/>
              </a:rPr>
              <a:t>Serverless 直查</a:t>
            </a:r>
          </a:p>
        </p:txBody>
      </p:sp>
      <p:cxnSp>
        <p:nvCxnSpPr>
          <p:cNvPr id="80" name="Connector 79"/>
          <p:cNvCxnSpPr/>
          <p:nvPr/>
        </p:nvCxnSpPr>
        <p:spPr>
          <a:xfrm flipV="1">
            <a:off x="7132320" y="4114800"/>
            <a:ext cx="0" cy="274320"/>
          </a:xfrm>
          <a:prstGeom prst="line">
            <a:avLst/>
          </a:prstGeom>
          <a:ln w="2286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81" name="TextBox 80"/>
          <p:cNvSpPr txBox="1"/>
          <p:nvPr/>
        </p:nvSpPr>
        <p:spPr>
          <a:xfrm>
            <a:off x="5897880" y="4270248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59669"/>
                </a:solidFill>
                <a:latin typeface="Segoe UI"/>
                <a:ea typeface="Microsoft YaHei"/>
              </a:rPr>
              <a:t>ETL 写入 · Databricks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13232" y="4389120"/>
            <a:ext cx="7104888" cy="768096"/>
          </a:xfrm>
          <a:prstGeom prst="roundRect">
            <a:avLst>
              <a:gd name="adj" fmla="val 9523"/>
            </a:avLst>
          </a:prstGeom>
          <a:solidFill>
            <a:srgbClr val="F0FDF4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347472" y="4617720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47472" y="46177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59669"/>
                </a:solidFill>
                <a:latin typeface="Consolas"/>
                <a:ea typeface="Microsoft YaHei"/>
              </a:rPr>
              <a:t>B-04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2960" y="4443983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统一计算层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2960" y="4617720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59669"/>
                </a:solidFill>
                <a:latin typeface="Consolas"/>
                <a:ea typeface="Microsoft YaHei"/>
              </a:rPr>
              <a:t>COMPUTE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2960" y="475488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Databricks 读写一体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22960" y="4873752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弹性 · 按量计费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231136" y="4443984"/>
            <a:ext cx="2688336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322576" y="4498848"/>
            <a:ext cx="25237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Databricks · 写侧 ETL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304288" y="46451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RAW → CURATED → LAKE → SERVE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304288" y="47594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Spark 批处理 · Iceberg 写入 · Z-Order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304288" y="48737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Compaction · VACUUM · 到期销毁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304288" y="49880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按 DBU 计费 · 按需拉起 ≈¥0.4–0.8 万/月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038344" y="4443984"/>
            <a:ext cx="2688336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129783" y="4498848"/>
            <a:ext cx="25237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Databricks SQL Serverless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111496" y="46451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读侧查询 · 零运维 · 故障自动重建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111496" y="47594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Iceberg 直查 · SERVE 加速 · 首屏 2–5 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111496" y="48737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UC 表 / 行 / 列级授权 + 审计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111496" y="49880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X-Small 6 DBU/h · 空闲缩 0 ≈¥0.5–0.9 万/月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4983480" y="515721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102" name="Rounded Rectangle 101"/>
          <p:cNvSpPr/>
          <p:nvPr/>
        </p:nvSpPr>
        <p:spPr>
          <a:xfrm>
            <a:off x="713232" y="5266944"/>
            <a:ext cx="7104888" cy="658368"/>
          </a:xfrm>
          <a:prstGeom prst="roundRect">
            <a:avLst>
              <a:gd name="adj" fmla="val 11111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347472" y="5440680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47472" y="54406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891B2"/>
                </a:solidFill>
                <a:latin typeface="Consolas"/>
                <a:ea typeface="Microsoft YaHei"/>
              </a:rPr>
              <a:t>B-05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22960" y="5321807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消费入口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22960" y="549554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891B2"/>
                </a:solidFill>
                <a:latin typeface="Consolas"/>
                <a:ea typeface="Microsoft YaHei"/>
              </a:rPr>
              <a:t>CONSUME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2960" y="5632704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元数据驱动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22960" y="5751576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零代码接入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2231136" y="5321808"/>
            <a:ext cx="5495544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340864" y="5376672"/>
            <a:ext cx="527608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元数据驱动 · 动态配置化查询平台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JSON 配置定义查询 / 筛选 / 列 / 权限 · 前端动态渲染 · 一次研发处处复用</a:t>
            </a:r>
          </a:p>
          <a:p>
            <a:pPr algn="ctr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</a:pPr>
            <a:r>
              <a:rPr sz="600" b="1" i="0">
                <a:solidFill>
                  <a:srgbClr val="0891B2"/>
                </a:solidFill>
                <a:latin typeface="Segoe UI"/>
                <a:ea typeface="Microsoft YaHei"/>
              </a:rPr>
              <a:t>新系统接入零代码 · 边际 +3~6 人天 / 系统 · 首期 60 人天 · ≥15 系统适用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713232" y="6016752"/>
            <a:ext cx="7104888" cy="658368"/>
          </a:xfrm>
          <a:prstGeom prst="roundRect">
            <a:avLst>
              <a:gd name="adj" fmla="val 11111"/>
            </a:avLst>
          </a:prstGeom>
          <a:solidFill>
            <a:srgbClr val="FFF1F2"/>
          </a:solidFill>
          <a:ln w="15240">
            <a:solidFill>
              <a:srgbClr val="E11D4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347472" y="6190488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47472" y="619048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11D48"/>
                </a:solidFill>
                <a:latin typeface="Segoe UI"/>
                <a:ea typeface="Microsoft YaHei"/>
              </a:rPr>
              <a:t>↺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22960" y="6089904"/>
            <a:ext cx="133502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E11D48"/>
                </a:solidFill>
                <a:latin typeface="Segoe UI"/>
                <a:ea typeface="Microsoft YaHei"/>
              </a:rPr>
              <a:t>Retention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22960" y="6254496"/>
            <a:ext cx="1335024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E11D48"/>
                </a:solidFill>
                <a:latin typeface="Consolas"/>
                <a:ea typeface="Microsoft YaHei"/>
              </a:rPr>
              <a:t>RETENTION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2960" y="6391656"/>
            <a:ext cx="1353312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作用于 B-03 分区
回写台账 · 附件同步删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231136" y="6108192"/>
            <a:ext cx="1225296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258568" y="6108192"/>
            <a:ext cx="1170432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① 到期扫描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扫描 Iceberg meta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3657600" y="6108192"/>
            <a:ext cx="1225296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685032" y="6108192"/>
            <a:ext cx="1170432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② DROP PARTITION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秒级 · Iceberg 原生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084064" y="6108192"/>
            <a:ext cx="1225296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111496" y="6108192"/>
            <a:ext cx="1170432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③ VACUUM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物理清除快照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510528" y="6108192"/>
            <a:ext cx="1225296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537960" y="6108192"/>
            <a:ext cx="1170432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④ 附件 + 审计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同步删除 · 留痕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3483864" y="6300216"/>
            <a:ext cx="146304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cxnSp>
        <p:nvCxnSpPr>
          <p:cNvPr id="126" name="Connector 125"/>
          <p:cNvCxnSpPr/>
          <p:nvPr/>
        </p:nvCxnSpPr>
        <p:spPr>
          <a:xfrm>
            <a:off x="4910328" y="6300216"/>
            <a:ext cx="146304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cxnSp>
        <p:nvCxnSpPr>
          <p:cNvPr id="127" name="Connector 126"/>
          <p:cNvCxnSpPr/>
          <p:nvPr/>
        </p:nvCxnSpPr>
        <p:spPr>
          <a:xfrm>
            <a:off x="6336792" y="6300216"/>
            <a:ext cx="146304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sp>
        <p:nvSpPr>
          <p:cNvPr id="128" name="TextBox 127"/>
          <p:cNvSpPr txBox="1"/>
          <p:nvPr/>
        </p:nvSpPr>
        <p:spPr>
          <a:xfrm>
            <a:off x="2231136" y="6528816"/>
            <a:ext cx="54955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9F1239"/>
                </a:solidFill>
                <a:latin typeface="Segoe UI"/>
                <a:ea typeface="Microsoft YaHei"/>
              </a:rPr>
              <a:t>审计与元数据独立备份 · 不随业务数据销毁 · 纳入年度销毁演练</a:t>
            </a:r>
          </a:p>
        </p:txBody>
      </p:sp>
      <p:cxnSp>
        <p:nvCxnSpPr>
          <p:cNvPr id="129" name="Connector 128"/>
          <p:cNvCxnSpPr/>
          <p:nvPr/>
        </p:nvCxnSpPr>
        <p:spPr>
          <a:xfrm flipH="1">
            <a:off x="274320" y="6510528"/>
            <a:ext cx="438912" cy="0"/>
          </a:xfrm>
          <a:prstGeom prst="line">
            <a:avLst/>
          </a:prstGeom>
          <a:ln w="15240">
            <a:solidFill>
              <a:srgbClr val="E11D48"/>
            </a:solidFill>
            <a:prstDash val="dash"/>
          </a:ln>
          <a:effectLst/>
        </p:spPr>
      </p:cxnSp>
      <p:cxnSp>
        <p:nvCxnSpPr>
          <p:cNvPr id="130" name="Connector 129"/>
          <p:cNvCxnSpPr/>
          <p:nvPr/>
        </p:nvCxnSpPr>
        <p:spPr>
          <a:xfrm flipV="1">
            <a:off x="274320" y="3840480"/>
            <a:ext cx="0" cy="2670048"/>
          </a:xfrm>
          <a:prstGeom prst="line">
            <a:avLst/>
          </a:prstGeom>
          <a:ln w="15240">
            <a:solidFill>
              <a:srgbClr val="E11D48"/>
            </a:solidFill>
            <a:prstDash val="dash"/>
          </a:ln>
          <a:effectLst/>
        </p:spPr>
      </p:cxnSp>
      <p:cxnSp>
        <p:nvCxnSpPr>
          <p:cNvPr id="131" name="Connector 130"/>
          <p:cNvCxnSpPr/>
          <p:nvPr/>
        </p:nvCxnSpPr>
        <p:spPr>
          <a:xfrm>
            <a:off x="274320" y="3840480"/>
            <a:ext cx="420624" cy="0"/>
          </a:xfrm>
          <a:prstGeom prst="line">
            <a:avLst/>
          </a:prstGeom>
          <a:ln w="15240">
            <a:solidFill>
              <a:srgbClr val="E11D48"/>
            </a:solidFill>
            <a:prstDash val="dash"/>
            <a:tailEnd type="triangle" w="med" len="med"/>
          </a:ln>
          <a:effectLst/>
        </p:spPr>
      </p:cxnSp>
      <p:sp>
        <p:nvSpPr>
          <p:cNvPr id="132" name="TextBox 131"/>
          <p:cNvSpPr txBox="1"/>
          <p:nvPr/>
        </p:nvSpPr>
        <p:spPr>
          <a:xfrm>
            <a:off x="91440" y="4434840"/>
            <a:ext cx="182880" cy="1188720"/>
          </a:xfrm>
          <a:prstGeom prst="rect">
            <a:avLst/>
          </a:prstGeom>
          <a:noFill/>
        </p:spPr>
        <p:txBody>
          <a:bodyPr wrap="square" lIns="0" rIns="0" tIns="0" bIns="0" anchor="ctr" vert="eaVer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E11D48"/>
                </a:solidFill>
                <a:latin typeface="Segoe UI"/>
                <a:ea typeface="Microsoft YaHei"/>
              </a:rPr>
              <a:t>作用于冷湖分区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8001000" y="566928"/>
            <a:ext cx="3986784" cy="1444752"/>
          </a:xfrm>
          <a:prstGeom prst="roundRect">
            <a:avLst>
              <a:gd name="adj" fmla="val 4430"/>
            </a:avLst>
          </a:prstGeom>
          <a:solidFill>
            <a:srgbClr val="FFFBEB"/>
          </a:solidFill>
          <a:ln w="13970">
            <a:solidFill>
              <a:srgbClr val="D9770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129016" y="640080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D97706"/>
                </a:solidFill>
                <a:latin typeface="Segoe UI"/>
                <a:ea typeface="Microsoft YaHei"/>
              </a:rPr>
              <a:t>附件对象存储 · </a:t>
            </a:r>
            <a:r>
              <a:rPr sz="819" b="1" i="0">
                <a:solidFill>
                  <a:srgbClr val="92400E"/>
                </a:solidFill>
                <a:latin typeface="Segoe UI"/>
                <a:ea typeface="Microsoft YaHei"/>
              </a:rPr>
              <a:t>独立存储账户（与湖分开）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129016" y="804672"/>
            <a:ext cx="3749039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A16207"/>
                </a:solidFill>
                <a:latin typeface="Segoe UI"/>
                <a:ea typeface="Microsoft YaHei"/>
              </a:rPr>
              <a:t>贯穿 02 抽取 → B-03 存储 · 供 B-05 直接消费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8110727" y="9692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138159" y="9692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FNS 平面命名空间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非 HNS · 按次计费（不按 4MB 切块）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10049255" y="9692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076687" y="9692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Cool → Cold 分层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生命周期自动降档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8110727" y="14264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38159" y="14264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SHA-256 台账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前缀 sysXX/yyyy-mm/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10049255" y="14264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0076687" y="14264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后端签 SAS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前端直连下载</a:t>
            </a:r>
          </a:p>
        </p:txBody>
      </p:sp>
      <p:cxnSp>
        <p:nvCxnSpPr>
          <p:cNvPr id="144" name="Connector 143"/>
          <p:cNvCxnSpPr/>
          <p:nvPr/>
        </p:nvCxnSpPr>
        <p:spPr>
          <a:xfrm flipH="1">
            <a:off x="7836408" y="2560320"/>
            <a:ext cx="164592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cxnSp>
        <p:nvCxnSpPr>
          <p:cNvPr id="145" name="Connector 144"/>
          <p:cNvCxnSpPr/>
          <p:nvPr/>
        </p:nvCxnSpPr>
        <p:spPr>
          <a:xfrm flipH="1">
            <a:off x="7836408" y="3547872"/>
            <a:ext cx="164592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cxnSp>
        <p:nvCxnSpPr>
          <p:cNvPr id="146" name="Connector 145"/>
          <p:cNvCxnSpPr/>
          <p:nvPr/>
        </p:nvCxnSpPr>
        <p:spPr>
          <a:xfrm>
            <a:off x="9994392" y="2011680"/>
            <a:ext cx="0" cy="128016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47" name="Connector 146"/>
          <p:cNvCxnSpPr/>
          <p:nvPr/>
        </p:nvCxnSpPr>
        <p:spPr>
          <a:xfrm flipH="1">
            <a:off x="7918704" y="2139696"/>
            <a:ext cx="2075688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48" name="Connector 147"/>
          <p:cNvCxnSpPr/>
          <p:nvPr/>
        </p:nvCxnSpPr>
        <p:spPr>
          <a:xfrm>
            <a:off x="7918704" y="2139696"/>
            <a:ext cx="0" cy="3456432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49" name="Connector 148"/>
          <p:cNvCxnSpPr/>
          <p:nvPr/>
        </p:nvCxnSpPr>
        <p:spPr>
          <a:xfrm flipH="1">
            <a:off x="7836408" y="5596128"/>
            <a:ext cx="82296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50" name="TextBox 149"/>
          <p:cNvSpPr txBox="1"/>
          <p:nvPr/>
        </p:nvSpPr>
        <p:spPr>
          <a:xfrm>
            <a:off x="8065008" y="2176272"/>
            <a:ext cx="192024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附件 URL 直连消费（SAS）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8001000" y="2340864"/>
            <a:ext cx="3986784" cy="1225296"/>
          </a:xfrm>
          <a:prstGeom prst="roundRect">
            <a:avLst>
              <a:gd name="adj" fmla="val 5223"/>
            </a:avLst>
          </a:prstGeom>
          <a:solidFill>
            <a:srgbClr val="FFFF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129016" y="2414016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6D28D9"/>
                </a:solidFill>
                <a:latin typeface="Segoe UI"/>
                <a:ea typeface="Microsoft YaHei"/>
              </a:rPr>
              <a:t>存算分离 · 成本结构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8129016" y="2633472"/>
            <a:ext cx="1298448" cy="310896"/>
          </a:xfrm>
          <a:prstGeom prst="roundRect">
            <a:avLst>
              <a:gd name="adj" fmla="val 14705"/>
            </a:avLst>
          </a:prstGeom>
          <a:solidFill>
            <a:srgbClr val="F5F3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156448" y="2633472"/>
            <a:ext cx="124358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6D28D9"/>
                </a:solidFill>
                <a:latin typeface="Segoe UI"/>
                <a:ea typeface="Microsoft YaHei"/>
              </a:rPr>
              <a:t>存储侧 · 常驻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518904" y="2633472"/>
            <a:ext cx="2395728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ADLS Hot/Cool ≈¥90–150/TB·月 · PB 级从容 · ZRS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8129016" y="3017520"/>
            <a:ext cx="1298448" cy="310896"/>
          </a:xfrm>
          <a:prstGeom prst="roundRect">
            <a:avLst>
              <a:gd name="adj" fmla="val 14705"/>
            </a:avLst>
          </a:prstGeom>
          <a:solidFill>
            <a:srgbClr val="F0FDF4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156448" y="3017520"/>
            <a:ext cx="124358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47857"/>
                </a:solidFill>
                <a:latin typeface="Segoe UI"/>
                <a:ea typeface="Microsoft YaHei"/>
              </a:rPr>
              <a:t>计算侧 · 按需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18904" y="3017520"/>
            <a:ext cx="2395728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写侧 ETL ≈¥0.4–0.8 万/月 · 读侧查询 ≈¥0.5–0.9 万/月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129016" y="3401568"/>
            <a:ext cx="3749039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7C3AED"/>
                </a:solidFill>
                <a:latin typeface="Segoe UI"/>
                <a:ea typeface="Microsoft YaHei"/>
              </a:rPr>
              <a:t>存储与计算独立扩缩 · 空闲缩到 0 · 只为使用的算力付费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8001000" y="3675887"/>
            <a:ext cx="3986784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8129016" y="3749039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方案 B2 要点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8129016" y="3950208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7C3AED"/>
                </a:solidFill>
                <a:latin typeface="Segoe UI"/>
                <a:ea typeface="Microsoft YaHei"/>
              </a:rPr>
              <a:t>· 存算分离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冷湖常驻，Serverless 读写按需拉起 · 空闲缩 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8129016" y="4192524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E11D48"/>
                </a:solidFill>
                <a:latin typeface="Segoe UI"/>
                <a:ea typeface="Microsoft YaHei"/>
              </a:rPr>
              <a:t>· 到期即毁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DROP PARTITION + VACUUM 物理清除，附件与审计同步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8129016" y="4434840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0891B2"/>
                </a:solidFill>
                <a:latin typeface="Segoe UI"/>
                <a:ea typeface="Microsoft YaHei"/>
              </a:rPr>
              <a:t>· 零代码接入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元数据驱动前端 · 边际 +3~6 人天 / 系统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8129016" y="4677155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059669"/>
                </a:solidFill>
                <a:latin typeface="Segoe UI"/>
                <a:ea typeface="Microsoft YaHei"/>
              </a:rPr>
              <a:t>· 读侧托管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Databricks SQL Serverless · 零集群运维 · UC 授权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129016" y="4919471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475569"/>
                </a:solidFill>
                <a:latin typeface="Segoe UI"/>
                <a:ea typeface="Microsoft YaHei"/>
              </a:rPr>
              <a:t>· 适用规模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≥15 套系统或 &gt;20 TB 长期保留 · PB 级从容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8001000" y="5358384"/>
            <a:ext cx="3986784" cy="786384"/>
          </a:xfrm>
          <a:prstGeom prst="roundRect">
            <a:avLst>
              <a:gd name="adj" fmla="val 8139"/>
            </a:avLst>
          </a:prstGeom>
          <a:solidFill>
            <a:srgbClr val="FFF7ED"/>
          </a:solidFill>
          <a:ln w="1397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129016" y="5431536"/>
            <a:ext cx="3749039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45309"/>
                </a:solidFill>
                <a:latin typeface="Segoe UI"/>
                <a:ea typeface="Microsoft YaHei"/>
              </a:rPr>
              <a:t>B2 的取舍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8129016" y="5596128"/>
            <a:ext cx="3767328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92400E"/>
                </a:solidFill>
                <a:latin typeface="Segoe UI"/>
                <a:ea typeface="Microsoft YaHei"/>
              </a:rPr>
              <a:t>读侧完全托管、UC 治理原生；代价是计算引擎绑定 Databricks（数据仍为开放 Iceberg，随时可换引擎），且 Serverless / NCC 需 Premium 层。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方案 B2 · 数据加密设计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1168" y="566928"/>
            <a:ext cx="393192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9184" y="566928"/>
            <a:ext cx="3675887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四层加密模型 + 密钥管理（L1 → L5）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" y="914400"/>
            <a:ext cx="3931920" cy="749808"/>
          </a:xfrm>
          <a:prstGeom prst="roundRect">
            <a:avLst>
              <a:gd name="adj" fmla="val 7317"/>
            </a:avLst>
          </a:prstGeom>
          <a:solidFill>
            <a:srgbClr val="EFF6FF"/>
          </a:solidFill>
          <a:ln w="1397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29184" y="1033271"/>
            <a:ext cx="47548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397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" y="1033271"/>
            <a:ext cx="47548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078D4"/>
                </a:solidFill>
                <a:latin typeface="Consolas"/>
                <a:ea typeface="Microsoft YaHei"/>
              </a:rPr>
              <a:t>L1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996696"/>
            <a:ext cx="31089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1" i="0">
                <a:solidFill>
                  <a:srgbClr val="0F172A"/>
                </a:solidFill>
                <a:latin typeface="Segoe UI"/>
                <a:ea typeface="Microsoft YaHei"/>
              </a:rPr>
              <a:t>存储层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 · 防磁盘 / 桶泄露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170432"/>
            <a:ext cx="3090672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ADLS 账户级 SSE（AES-256）+ Key Vault CMK；数据 / 元数据 / 附件一套密钥策略，可选基础设施双重加密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1168" y="1737360"/>
            <a:ext cx="3931920" cy="749808"/>
          </a:xfrm>
          <a:prstGeom prst="roundRect">
            <a:avLst>
              <a:gd name="adj" fmla="val 7317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9184" y="1856231"/>
            <a:ext cx="47548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" y="1856231"/>
            <a:ext cx="47548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59669"/>
                </a:solidFill>
                <a:latin typeface="Consolas"/>
                <a:ea typeface="Microsoft YaHei"/>
              </a:rPr>
              <a:t>L2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1819656"/>
            <a:ext cx="31089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1" i="0">
                <a:solidFill>
                  <a:srgbClr val="0F172A"/>
                </a:solidFill>
                <a:latin typeface="Segoe UI"/>
                <a:ea typeface="Microsoft YaHei"/>
              </a:rPr>
              <a:t>传输层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 · 防链路窃听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1993391"/>
            <a:ext cx="3090672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全链路 TLS 1.2+：HTTPS 443 入口 · 私有端点私网 · JDBC / ODBC；流量不出 Azure 骨干网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168" y="2560320"/>
            <a:ext cx="3931920" cy="749808"/>
          </a:xfrm>
          <a:prstGeom prst="roundRect">
            <a:avLst>
              <a:gd name="adj" fmla="val 7317"/>
            </a:avLst>
          </a:prstGeom>
          <a:solidFill>
            <a:srgbClr val="FFF1F2"/>
          </a:solidFill>
          <a:ln w="20320">
            <a:solidFill>
              <a:srgbClr val="FE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29184" y="2679191"/>
            <a:ext cx="47548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3970">
            <a:solidFill>
              <a:srgbClr val="FE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" y="2679191"/>
            <a:ext cx="47548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E11D48"/>
                </a:solidFill>
                <a:latin typeface="Consolas"/>
                <a:ea typeface="Microsoft YaHei"/>
              </a:rPr>
              <a:t>L3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2642615"/>
            <a:ext cx="31089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1" i="0">
                <a:solidFill>
                  <a:srgbClr val="E11D48"/>
                </a:solidFill>
                <a:latin typeface="Segoe UI"/>
                <a:ea typeface="Microsoft YaHei"/>
              </a:rPr>
              <a:t>字段层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 · 防 DBA / 运维内鬼 ★ 合规核心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2816352"/>
            <a:ext cx="3090672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aes_encrypt() 落盘即密文 + UC 列掩码查询遮蔽——两者必须组合；GCM 每次随机 IV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1168" y="3383279"/>
            <a:ext cx="3931920" cy="749808"/>
          </a:xfrm>
          <a:prstGeom prst="roundRect">
            <a:avLst>
              <a:gd name="adj" fmla="val 7317"/>
            </a:avLst>
          </a:prstGeom>
          <a:solidFill>
            <a:srgbClr val="F5F3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29184" y="3502151"/>
            <a:ext cx="47548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" y="3502151"/>
            <a:ext cx="47548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7C3AED"/>
                </a:solidFill>
                <a:latin typeface="Consolas"/>
                <a:ea typeface="Microsoft YaHei"/>
              </a:rPr>
              <a:t>L4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" y="3465575"/>
            <a:ext cx="31089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1" i="0">
                <a:solidFill>
                  <a:srgbClr val="0F172A"/>
                </a:solidFill>
                <a:latin typeface="Segoe UI"/>
                <a:ea typeface="Microsoft YaHei"/>
              </a:rPr>
              <a:t>展示层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 · 防越权查看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3639311"/>
            <a:ext cx="3090672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UC COLUMN MASK / ROW FILTER 绑定基表，任何访问路径强制生效；B2 原生，Trino 读完全不可用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01168" y="4206240"/>
            <a:ext cx="3931920" cy="749808"/>
          </a:xfrm>
          <a:prstGeom prst="roundRect">
            <a:avLst>
              <a:gd name="adj" fmla="val 7317"/>
            </a:avLst>
          </a:prstGeom>
          <a:solidFill>
            <a:srgbClr val="FFFBEB"/>
          </a:solidFill>
          <a:ln w="1397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29184" y="4325112"/>
            <a:ext cx="47548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397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9184" y="4325112"/>
            <a:ext cx="47548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D97706"/>
                </a:solidFill>
                <a:latin typeface="Consolas"/>
                <a:ea typeface="Microsoft YaHei"/>
              </a:rPr>
              <a:t>L5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4288536"/>
            <a:ext cx="31089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1" i="0">
                <a:solidFill>
                  <a:srgbClr val="0F172A"/>
                </a:solidFill>
                <a:latin typeface="Segoe UI"/>
                <a:ea typeface="Microsoft YaHei"/>
              </a:rPr>
              <a:t>密钥层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 · 防泄露无法止损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4462272"/>
            <a:ext cx="3090672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Key Vault CMK 自动轮转；信封加密——轮主密钥只重包装 KEK、零数据重写；密文自带 key_version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61104" y="566928"/>
            <a:ext cx="411480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0" y="566928"/>
            <a:ext cx="3858768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字段级加密 · 推荐路线：aes_encrypt + UC 列掩码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61104" y="896112"/>
            <a:ext cx="41148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370832" y="1033271"/>
            <a:ext cx="274320" cy="27432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70832" y="103327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47857"/>
                </a:solidFill>
                <a:latin typeface="Consolas"/>
                <a:ea typeface="Microsoft YaHei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0" y="969264"/>
            <a:ext cx="352958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密钥入 Secret Scope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54880" y="1152144"/>
            <a:ext cx="352958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Key Vault 撑腰 · 托管标识免密拉取，密钥不进代码 / 日志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309360" y="1453895"/>
            <a:ext cx="0" cy="73153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39" name="Rounded Rectangle 38"/>
          <p:cNvSpPr/>
          <p:nvPr/>
        </p:nvSpPr>
        <p:spPr>
          <a:xfrm>
            <a:off x="4261104" y="1536192"/>
            <a:ext cx="41148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370832" y="1673351"/>
            <a:ext cx="274320" cy="27432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70832" y="16733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47857"/>
                </a:solidFill>
                <a:latin typeface="Consolas"/>
                <a:ea typeface="Microsoft YaHei"/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54880" y="1609344"/>
            <a:ext cx="352958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ETL 写侧加密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80" y="1792224"/>
            <a:ext cx="352958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0E7490"/>
                </a:solidFill>
                <a:latin typeface="Consolas"/>
                <a:ea typeface="Microsoft YaHei"/>
              </a:rPr>
              <a:t>aes_encrypt(col, secret(...))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 · 默认 GCM 随机 IV，绝不能用 ECB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309360" y="2093976"/>
            <a:ext cx="0" cy="73152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45" name="Rounded Rectangle 44"/>
          <p:cNvSpPr/>
          <p:nvPr/>
        </p:nvSpPr>
        <p:spPr>
          <a:xfrm>
            <a:off x="4261104" y="2176272"/>
            <a:ext cx="41148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370832" y="2313432"/>
            <a:ext cx="274320" cy="27432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70832" y="23134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47857"/>
                </a:solidFill>
                <a:latin typeface="Consolas"/>
                <a:ea typeface="Microsoft YaHei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54880" y="2249424"/>
            <a:ext cx="352958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定义掩码函数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54880" y="2432304"/>
            <a:ext cx="352958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0E7490"/>
                </a:solidFill>
                <a:latin typeface="Consolas"/>
                <a:ea typeface="Microsoft YaHei"/>
              </a:rPr>
              <a:t>is_account_group_member()</a:t>
            </a:r>
            <a:r>
              <a:rPr sz="590" b="0" i="0">
                <a:solidFill>
                  <a:srgbClr val="64748B"/>
                </a:solidFill>
                <a:latin typeface="Consolas"/>
                <a:ea typeface="Microsoft YaHei"/>
              </a:rPr>
              <a:t> ? try_aes_decrypt : ***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309360" y="2734056"/>
            <a:ext cx="0" cy="73152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51" name="Rounded Rectangle 50"/>
          <p:cNvSpPr/>
          <p:nvPr/>
        </p:nvSpPr>
        <p:spPr>
          <a:xfrm>
            <a:off x="4261104" y="2816352"/>
            <a:ext cx="41148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370832" y="2953512"/>
            <a:ext cx="274320" cy="27432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370832" y="29535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47857"/>
                </a:solidFill>
                <a:latin typeface="Consolas"/>
                <a:ea typeface="Microsoft YaHei"/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54880" y="2889504"/>
            <a:ext cx="352958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挂载到列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54880" y="3072384"/>
            <a:ext cx="352958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0E7490"/>
                </a:solidFill>
                <a:latin typeface="Consolas"/>
                <a:ea typeface="Microsoft YaHei"/>
              </a:rPr>
              <a:t>ALTER TABLE … SET MASK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（必须打在基表，不支持视图）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261104" y="3474720"/>
            <a:ext cx="4114800" cy="365760"/>
          </a:xfrm>
          <a:prstGeom prst="roundRect">
            <a:avLst>
              <a:gd name="adj" fmla="val 15000"/>
            </a:avLst>
          </a:prstGeom>
          <a:solidFill>
            <a:srgbClr val="DCFCE7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52544" y="347472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47857"/>
                </a:solidFill>
                <a:latin typeface="Segoe UI"/>
                <a:ea typeface="Microsoft YaHei"/>
              </a:rPr>
              <a:t>同一条 SQL：授权者见明文 · 其他人见 *** · 直读 Parquet 只见密文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61104" y="3895344"/>
            <a:ext cx="4114800" cy="256032"/>
          </a:xfrm>
          <a:prstGeom prst="roundRect">
            <a:avLst>
              <a:gd name="adj" fmla="val 17857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370832" y="3895344"/>
            <a:ext cx="3913632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F172A"/>
                </a:solidFill>
                <a:latin typeface="Segoe UI"/>
                <a:ea typeface="Microsoft YaHei"/>
              </a:rPr>
              <a:t>为何安全：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掩码函数以定义者权限取密钥，分析师自己写 aes_decrypt 也拿不到 key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261104" y="4224528"/>
            <a:ext cx="4114800" cy="731520"/>
          </a:xfrm>
          <a:prstGeom prst="roundRect">
            <a:avLst>
              <a:gd name="adj" fmla="val 7500"/>
            </a:avLst>
          </a:prstGeom>
          <a:solidFill>
            <a:srgbClr val="FFF7ED"/>
          </a:solidFill>
          <a:ln w="1397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370832" y="4279392"/>
            <a:ext cx="39319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B45309"/>
                </a:solidFill>
                <a:latin typeface="Segoe UI"/>
                <a:ea typeface="Microsoft YaHei"/>
              </a:rPr>
              <a:t>三个必守约束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70832" y="4443984"/>
            <a:ext cx="3913632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92400E"/>
                </a:solidFill>
                <a:latin typeface="Segoe UI"/>
                <a:ea typeface="Microsoft YaHei"/>
              </a:rPr>
              <a:t>❶ 绝不能改成 ECB（暴露频率分布）　❷ 业务用户对 Secret Scope 必须无 READ 权限，否则防线归零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92400E"/>
                </a:solidFill>
                <a:latin typeface="Segoe UI"/>
                <a:ea typeface="Microsoft YaHei"/>
              </a:rPr>
              <a:t>❸ 掩码不支持视图须挂基表；卸载顺序：先 DROP MASK 再 DROP FUNCTION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522208" y="566928"/>
            <a:ext cx="347472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650224" y="566928"/>
            <a:ext cx="3218687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密钥体系 · 合规与销毁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522208" y="896112"/>
            <a:ext cx="347472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8650224" y="987552"/>
            <a:ext cx="3218688" cy="310896"/>
          </a:xfrm>
          <a:prstGeom prst="roundRect">
            <a:avLst>
              <a:gd name="adj" fmla="val 14705"/>
            </a:avLst>
          </a:prstGeom>
          <a:solidFill>
            <a:srgbClr val="EFF6FF"/>
          </a:solidFill>
          <a:ln w="13970">
            <a:solidFill>
              <a:srgbClr val="BFDB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677656" y="98755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1E40AF"/>
                </a:solidFill>
                <a:latin typeface="Segoe UI"/>
                <a:ea typeface="Microsoft YaHei"/>
              </a:rPr>
              <a:t>Key Vault · CMK / KEK 主密钥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10259568" y="1307592"/>
            <a:ext cx="0" cy="109728"/>
          </a:xfrm>
          <a:prstGeom prst="line">
            <a:avLst/>
          </a:prstGeom>
          <a:ln w="1651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10351008" y="1298448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1" i="0">
                <a:solidFill>
                  <a:srgbClr val="0078D4"/>
                </a:solidFill>
                <a:latin typeface="Segoe UI"/>
                <a:ea typeface="Microsoft YaHei"/>
              </a:rPr>
              <a:t>包装 / 解包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650224" y="1426464"/>
            <a:ext cx="3218688" cy="310896"/>
          </a:xfrm>
          <a:prstGeom prst="roundRect">
            <a:avLst>
              <a:gd name="adj" fmla="val 14705"/>
            </a:avLst>
          </a:prstGeom>
          <a:solidFill>
            <a:srgbClr val="F5F3FF"/>
          </a:solidFill>
          <a:ln w="13970">
            <a:solidFill>
              <a:srgbClr val="DDD6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677656" y="142646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6D28D9"/>
                </a:solidFill>
                <a:latin typeface="Segoe UI"/>
                <a:ea typeface="Microsoft YaHei"/>
              </a:rPr>
              <a:t>DEK 数据密钥（带 key_version）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10259568" y="1746504"/>
            <a:ext cx="0" cy="109727"/>
          </a:xfrm>
          <a:prstGeom prst="line">
            <a:avLst/>
          </a:prstGeom>
          <a:ln w="1651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73" name="TextBox 72"/>
          <p:cNvSpPr txBox="1"/>
          <p:nvPr/>
        </p:nvSpPr>
        <p:spPr>
          <a:xfrm>
            <a:off x="10351008" y="1737360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1" i="0">
                <a:solidFill>
                  <a:srgbClr val="7C3AED"/>
                </a:solidFill>
                <a:latin typeface="Segoe UI"/>
                <a:ea typeface="Microsoft YaHei"/>
              </a:rPr>
              <a:t>加密 / 解密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650224" y="1865376"/>
            <a:ext cx="3218688" cy="310896"/>
          </a:xfrm>
          <a:prstGeom prst="roundRect">
            <a:avLst>
              <a:gd name="adj" fmla="val 14705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677656" y="186537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47857"/>
                </a:solidFill>
                <a:latin typeface="Segoe UI"/>
                <a:ea typeface="Microsoft YaHei"/>
              </a:rPr>
              <a:t>Iceberg 密文 + UC 列掩码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613648" y="223113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078D4"/>
                </a:solidFill>
                <a:latin typeface="Segoe UI"/>
                <a:ea typeface="Microsoft YaHei"/>
              </a:rPr>
              <a:t>信封加密：轮转主密钥只重新包装 DEK，数据文件一个字节不动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522208" y="2560320"/>
            <a:ext cx="3474720" cy="859536"/>
          </a:xfrm>
          <a:prstGeom prst="roundRect">
            <a:avLst>
              <a:gd name="adj" fmla="val 6382"/>
            </a:avLst>
          </a:prstGeom>
          <a:solidFill>
            <a:srgbClr val="FFF1F2"/>
          </a:solidFill>
          <a:ln w="15240">
            <a:solidFill>
              <a:srgbClr val="E11D4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650224" y="262432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E11D48"/>
                </a:solidFill>
                <a:latin typeface="Segoe UI"/>
                <a:ea typeface="Microsoft YaHei"/>
              </a:rPr>
              <a:t>Crypto-Shredding · 被遗忘权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650224" y="2798064"/>
            <a:ext cx="3236976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按数据主体分配独立 DEK——「删除」= 销毁该 DEK，密文永久不可读，无需重写 PB 级文件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E11D48"/>
                </a:solidFill>
                <a:latin typeface="Segoe UI"/>
                <a:ea typeface="Microsoft YaHei"/>
              </a:rPr>
              <a:t>归档场景性价比最高的合规设计，建议第一版纳入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522208" y="3511296"/>
            <a:ext cx="3474720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650224" y="3575304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合规映射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650224" y="3767328"/>
            <a:ext cx="969264" cy="219456"/>
          </a:xfrm>
          <a:prstGeom prst="roundRect">
            <a:avLst>
              <a:gd name="adj" fmla="val 16666"/>
            </a:avLst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677656" y="376732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047857"/>
                </a:solidFill>
                <a:latin typeface="Segoe UI"/>
                <a:ea typeface="Microsoft YaHei"/>
              </a:rPr>
              <a:t>等保 2.0 三级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710928" y="375818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存储 / 传输保密达标；策略在引擎内、审计落表，举证材料天然齐备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8650224" y="4169664"/>
            <a:ext cx="969264" cy="219456"/>
          </a:xfrm>
          <a:prstGeom prst="roundRect">
            <a:avLst>
              <a:gd name="adj" fmla="val 16666"/>
            </a:avLst>
          </a:prstGeom>
          <a:solidFill>
            <a:srgbClr val="FFFBEB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677656" y="416966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B45309"/>
                </a:solidFill>
                <a:latin typeface="Segoe UI"/>
                <a:ea typeface="Microsoft YaHei"/>
              </a:rPr>
              <a:t>个保法第 51 条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710928" y="416052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SSE ≠ 去标识化——必须 L3 字段级加密 + L4 强制脱敏，只做 L1 不满足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8650224" y="4572000"/>
            <a:ext cx="969264" cy="219456"/>
          </a:xfrm>
          <a:prstGeom prst="roundRect">
            <a:avLst>
              <a:gd name="adj" fmla="val 16666"/>
            </a:avLst>
          </a:prstGeom>
          <a:solidFill>
            <a:srgbClr val="FFF1F2"/>
          </a:solidFill>
          <a:ln w="12700">
            <a:solidFill>
              <a:srgbClr val="FE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677656" y="45720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E11D48"/>
                </a:solidFill>
                <a:latin typeface="Segoe UI"/>
                <a:ea typeface="Microsoft YaHei"/>
              </a:rPr>
              <a:t>GDPR 被遗忘权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710928" y="4562856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Crypto-Shredding：销毁主体 DEK 即永久不可读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01168" y="5084064"/>
            <a:ext cx="3840480" cy="896112"/>
          </a:xfrm>
          <a:prstGeom prst="roundRect">
            <a:avLst>
              <a:gd name="adj" fmla="val 6122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47472" y="5193792"/>
            <a:ext cx="35661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59669"/>
                </a:solidFill>
                <a:latin typeface="Segoe UI"/>
                <a:ea typeface="Microsoft YaHei"/>
              </a:rPr>
              <a:t>① 授权强制力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47472" y="5394960"/>
            <a:ext cx="3584448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掩码 / 行过滤绑定引擎元数据，任何客户端绕不过；应用层脱敏绕过 API 即失效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178807" y="5084064"/>
            <a:ext cx="3840480" cy="896112"/>
          </a:xfrm>
          <a:prstGeom prst="roundRect">
            <a:avLst>
              <a:gd name="adj" fmla="val 6122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325112" y="5193792"/>
            <a:ext cx="35661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59669"/>
                </a:solidFill>
                <a:latin typeface="Segoe UI"/>
                <a:ea typeface="Microsoft YaHei"/>
              </a:rPr>
              <a:t>② 轮转成本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325112" y="5394960"/>
            <a:ext cx="3584448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信封加密只重包装 KEK、零数据重写；应用层方案轮转需重刷数十 TB 存量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8156447" y="5084064"/>
            <a:ext cx="3840480" cy="896112"/>
          </a:xfrm>
          <a:prstGeom prst="roundRect">
            <a:avLst>
              <a:gd name="adj" fmla="val 6122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302751" y="5193792"/>
            <a:ext cx="35661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7C3AED"/>
                </a:solidFill>
                <a:latin typeface="Segoe UI"/>
                <a:ea typeface="Microsoft YaHei"/>
              </a:rPr>
              <a:t>③ 实施成本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02751" y="5394960"/>
            <a:ext cx="3584448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约 2~3 人天（应用层方案 8~12 人天）· 加密字段仍可检索 · 审计平台原生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201168" y="6108192"/>
            <a:ext cx="11795760" cy="475488"/>
          </a:xfrm>
          <a:prstGeom prst="roundRect">
            <a:avLst>
              <a:gd name="adj" fmla="val 13461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65760" y="6108192"/>
            <a:ext cx="1146657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6D28D9"/>
                </a:solidFill>
                <a:latin typeface="Segoe UI"/>
                <a:ea typeface="Microsoft YaHei"/>
              </a:rPr>
              <a:t>★ 若列级脱敏是硬需求：</a:t>
            </a:r>
            <a:r>
              <a:rPr sz="720" b="0" i="0">
                <a:solidFill>
                  <a:srgbClr val="4C1D95"/>
                </a:solidFill>
                <a:latin typeface="Segoe UI"/>
                <a:ea typeface="Microsoft YaHei"/>
              </a:rPr>
              <a:t>B（Trino 读）的 UC 列掩码完全不可用（Iceberg REST Catalog 不支持），B2 原生生效、任何路径强制遮蔽——这一条基本决定必须选 B2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元数据库 ER 图 · 35 张表 / 11 模块（Mermaid 风格）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0" y="128016"/>
            <a:ext cx="438912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每表仅列关键字段 · 通用列（id / deleted / created_at / updated_at）已省略
源码：report/元数据库ER图.mmd（Mermaid erDiagram，可直接贴 kroki）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804672"/>
            <a:ext cx="1481328" cy="841248"/>
          </a:xfrm>
          <a:prstGeom prst="roundRect">
            <a:avLst>
              <a:gd name="adj" fmla="val 3804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338328" y="1001268"/>
            <a:ext cx="1353312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7" name="TextBox 6"/>
          <p:cNvSpPr txBox="1"/>
          <p:nvPr/>
        </p:nvSpPr>
        <p:spPr>
          <a:xfrm>
            <a:off x="310896" y="836676"/>
            <a:ext cx="1408176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D3A6B"/>
                </a:solidFill>
                <a:latin typeface="Segoe UI"/>
                <a:ea typeface="Microsoft YaHei"/>
              </a:rPr>
              <a:t>user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028700"/>
            <a:ext cx="1335024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509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username</a:t>
            </a:r>
            <a:r>
              <a:rPr sz="509" b="1" i="0">
                <a:solidFill>
                  <a:srgbClr val="1E8E5A"/>
                </a:solidFill>
                <a:latin typeface="Segoe UI"/>
                <a:ea typeface="Microsoft YaHei"/>
              </a:rPr>
              <a:t>  UK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real_name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tinyint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status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38528" y="950976"/>
            <a:ext cx="1188720" cy="548640"/>
          </a:xfrm>
          <a:prstGeom prst="roundRect">
            <a:avLst>
              <a:gd name="adj" fmla="val 5833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2002536" y="1147572"/>
            <a:ext cx="1060704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11" name="TextBox 10"/>
          <p:cNvSpPr txBox="1"/>
          <p:nvPr/>
        </p:nvSpPr>
        <p:spPr>
          <a:xfrm>
            <a:off x="1975104" y="982980"/>
            <a:ext cx="1115568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D3A6B"/>
                </a:solidFill>
                <a:latin typeface="Segoe UI"/>
                <a:ea typeface="Microsoft YaHei"/>
              </a:rPr>
              <a:t>user_role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29968" y="1175004"/>
            <a:ext cx="1042416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user_id</a:t>
            </a:r>
            <a:r>
              <a:rPr sz="509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role_id</a:t>
            </a:r>
            <a:r>
              <a:rPr sz="509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0128" y="804672"/>
            <a:ext cx="1417320" cy="841248"/>
          </a:xfrm>
          <a:prstGeom prst="roundRect">
            <a:avLst>
              <a:gd name="adj" fmla="val 3804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3374136" y="1001268"/>
            <a:ext cx="1289304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15" name="TextBox 14"/>
          <p:cNvSpPr txBox="1"/>
          <p:nvPr/>
        </p:nvSpPr>
        <p:spPr>
          <a:xfrm>
            <a:off x="3346704" y="836676"/>
            <a:ext cx="1344168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D3A6B"/>
                </a:solidFill>
                <a:latin typeface="Segoe UI"/>
                <a:ea typeface="Microsoft YaHei"/>
              </a:rPr>
              <a:t>role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1568" y="1028700"/>
            <a:ext cx="1271016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509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role_code</a:t>
            </a:r>
            <a:r>
              <a:rPr sz="509" b="1" i="0">
                <a:solidFill>
                  <a:srgbClr val="1E8E5A"/>
                </a:solidFill>
                <a:latin typeface="Segoe UI"/>
                <a:ea typeface="Microsoft YaHei"/>
              </a:rPr>
              <a:t>  UK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role_name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10328" y="950976"/>
            <a:ext cx="1298448" cy="548640"/>
          </a:xfrm>
          <a:prstGeom prst="roundRect">
            <a:avLst>
              <a:gd name="adj" fmla="val 5833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4974336" y="1147572"/>
            <a:ext cx="1170432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19" name="TextBox 18"/>
          <p:cNvSpPr txBox="1"/>
          <p:nvPr/>
        </p:nvSpPr>
        <p:spPr>
          <a:xfrm>
            <a:off x="4946904" y="982980"/>
            <a:ext cx="1225295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D3A6B"/>
                </a:solidFill>
                <a:latin typeface="Segoe UI"/>
                <a:ea typeface="Microsoft YaHei"/>
              </a:rPr>
              <a:t>role_permission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01768" y="1175004"/>
            <a:ext cx="1152144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role_id</a:t>
            </a:r>
            <a:r>
              <a:rPr sz="509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permission_id</a:t>
            </a:r>
            <a:r>
              <a:rPr sz="509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91656" y="804672"/>
            <a:ext cx="1481328" cy="841248"/>
          </a:xfrm>
          <a:prstGeom prst="roundRect">
            <a:avLst>
              <a:gd name="adj" fmla="val 3804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6455664" y="1001268"/>
            <a:ext cx="1353311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23" name="TextBox 22"/>
          <p:cNvSpPr txBox="1"/>
          <p:nvPr/>
        </p:nvSpPr>
        <p:spPr>
          <a:xfrm>
            <a:off x="6428232" y="836676"/>
            <a:ext cx="1408176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D3A6B"/>
                </a:solidFill>
                <a:latin typeface="Segoe UI"/>
                <a:ea typeface="Microsoft YaHei"/>
              </a:rPr>
              <a:t>permission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83096" y="1028700"/>
            <a:ext cx="1335024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509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permission_code</a:t>
            </a:r>
            <a:r>
              <a:rPr sz="509" b="1" i="0">
                <a:solidFill>
                  <a:srgbClr val="1E8E5A"/>
                </a:solidFill>
                <a:latin typeface="Segoe UI"/>
                <a:ea typeface="Microsoft YaHei"/>
              </a:rPr>
              <a:t>  UK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module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55864" y="950976"/>
            <a:ext cx="1188720" cy="548640"/>
          </a:xfrm>
          <a:prstGeom prst="roundRect">
            <a:avLst>
              <a:gd name="adj" fmla="val 5833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8119872" y="1147572"/>
            <a:ext cx="1060704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27" name="TextBox 26"/>
          <p:cNvSpPr txBox="1"/>
          <p:nvPr/>
        </p:nvSpPr>
        <p:spPr>
          <a:xfrm>
            <a:off x="8092440" y="982980"/>
            <a:ext cx="1115568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D3A6B"/>
                </a:solidFill>
                <a:latin typeface="Segoe UI"/>
                <a:ea typeface="Microsoft YaHei"/>
              </a:rPr>
              <a:t>role_page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47304" y="1175004"/>
            <a:ext cx="1042416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role_id</a:t>
            </a:r>
            <a:r>
              <a:rPr sz="509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page_id</a:t>
            </a:r>
            <a:r>
              <a:rPr sz="509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427464" y="804672"/>
            <a:ext cx="1417320" cy="841248"/>
          </a:xfrm>
          <a:prstGeom prst="roundRect">
            <a:avLst>
              <a:gd name="adj" fmla="val 3804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9491472" y="1001268"/>
            <a:ext cx="1289304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31" name="TextBox 30"/>
          <p:cNvSpPr txBox="1"/>
          <p:nvPr/>
        </p:nvSpPr>
        <p:spPr>
          <a:xfrm>
            <a:off x="9464040" y="836676"/>
            <a:ext cx="1344168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D3A6B"/>
                </a:solidFill>
                <a:latin typeface="Segoe UI"/>
                <a:ea typeface="Microsoft YaHei"/>
              </a:rPr>
              <a:t>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18904" y="1028700"/>
            <a:ext cx="1271016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509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page_code</a:t>
            </a:r>
            <a:r>
              <a:rPr sz="509" b="1" i="0">
                <a:solidFill>
                  <a:srgbClr val="1E8E5A"/>
                </a:solidFill>
                <a:latin typeface="Segoe UI"/>
                <a:ea typeface="Microsoft YaHei"/>
              </a:rPr>
              <a:t>  UK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path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4320" y="1956816"/>
            <a:ext cx="1188720" cy="548640"/>
          </a:xfrm>
          <a:prstGeom prst="roundRect">
            <a:avLst>
              <a:gd name="adj" fmla="val 5833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338328" y="2153412"/>
            <a:ext cx="1060704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35" name="TextBox 34"/>
          <p:cNvSpPr txBox="1"/>
          <p:nvPr/>
        </p:nvSpPr>
        <p:spPr>
          <a:xfrm>
            <a:off x="310896" y="1988820"/>
            <a:ext cx="1115568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D3A6B"/>
                </a:solidFill>
                <a:latin typeface="Segoe UI"/>
                <a:ea typeface="Microsoft YaHei"/>
              </a:rPr>
              <a:t>system_user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2180844"/>
            <a:ext cx="1042416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system_id</a:t>
            </a:r>
            <a:r>
              <a:rPr sz="509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user_id</a:t>
            </a:r>
            <a:r>
              <a:rPr sz="509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645920" y="1810512"/>
            <a:ext cx="1517904" cy="841248"/>
          </a:xfrm>
          <a:prstGeom prst="roundRect">
            <a:avLst>
              <a:gd name="adj" fmla="val 3804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1709928" y="2007107"/>
            <a:ext cx="1389888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39" name="TextBox 38"/>
          <p:cNvSpPr txBox="1"/>
          <p:nvPr/>
        </p:nvSpPr>
        <p:spPr>
          <a:xfrm>
            <a:off x="1682496" y="1842516"/>
            <a:ext cx="1444751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D3A6B"/>
                </a:solidFill>
                <a:latin typeface="Segoe UI"/>
                <a:ea typeface="Microsoft YaHei"/>
              </a:rPr>
              <a:t>source_database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37360" y="2034540"/>
            <a:ext cx="1371600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509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system_id</a:t>
            </a:r>
            <a:r>
              <a:rPr sz="509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db_type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host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346704" y="1810512"/>
            <a:ext cx="1517904" cy="841248"/>
          </a:xfrm>
          <a:prstGeom prst="roundRect">
            <a:avLst>
              <a:gd name="adj" fmla="val 3804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3410712" y="2007107"/>
            <a:ext cx="1389888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43" name="TextBox 42"/>
          <p:cNvSpPr txBox="1"/>
          <p:nvPr/>
        </p:nvSpPr>
        <p:spPr>
          <a:xfrm>
            <a:off x="3383280" y="1842516"/>
            <a:ext cx="1444751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D3A6B"/>
                </a:solidFill>
                <a:latin typeface="Segoe UI"/>
                <a:ea typeface="Microsoft YaHei"/>
              </a:rPr>
              <a:t>source_table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38144" y="2034540"/>
            <a:ext cx="1371600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509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source_database_id</a:t>
            </a:r>
            <a:r>
              <a:rPr sz="509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table_name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tinyint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is_attachment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47488" y="1737360"/>
            <a:ext cx="2560320" cy="932688"/>
          </a:xfrm>
          <a:prstGeom prst="roundRect">
            <a:avLst>
              <a:gd name="adj" fmla="val 3431"/>
            </a:avLst>
          </a:prstGeom>
          <a:solidFill>
            <a:srgbClr val="ECECFF"/>
          </a:solidFill>
          <a:ln w="20320">
            <a:solidFill>
              <a:srgbClr val="9370DB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5111496" y="1933955"/>
            <a:ext cx="2432304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47" name="TextBox 46"/>
          <p:cNvSpPr txBox="1"/>
          <p:nvPr/>
        </p:nvSpPr>
        <p:spPr>
          <a:xfrm>
            <a:off x="5084064" y="1769363"/>
            <a:ext cx="2487168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D3A6B"/>
                </a:solidFill>
                <a:latin typeface="Segoe UI"/>
                <a:ea typeface="Microsoft YaHei"/>
              </a:rPr>
              <a:t>decommission_system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38927" y="1961388"/>
            <a:ext cx="2414015" cy="6949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509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system_code</a:t>
            </a:r>
            <a:r>
              <a:rPr sz="509" b="1" i="0">
                <a:solidFill>
                  <a:srgbClr val="1E8E5A"/>
                </a:solidFill>
                <a:latin typeface="Segoe UI"/>
                <a:ea typeface="Microsoft YaHei"/>
              </a:rPr>
              <a:t>  UK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status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retention_years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date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destroy_after_date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790688" y="1810512"/>
            <a:ext cx="1371600" cy="841248"/>
          </a:xfrm>
          <a:prstGeom prst="roundRect">
            <a:avLst>
              <a:gd name="adj" fmla="val 3804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7854696" y="2007107"/>
            <a:ext cx="1243584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51" name="TextBox 50"/>
          <p:cNvSpPr txBox="1"/>
          <p:nvPr/>
        </p:nvSpPr>
        <p:spPr>
          <a:xfrm>
            <a:off x="7827263" y="1842516"/>
            <a:ext cx="1298448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D3A6B"/>
                </a:solidFill>
                <a:latin typeface="Segoe UI"/>
                <a:ea typeface="Microsoft YaHei"/>
              </a:rPr>
              <a:t>schema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82127" y="2034540"/>
            <a:ext cx="1225296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509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system_id</a:t>
            </a:r>
            <a:r>
              <a:rPr sz="509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catalog_name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schema_name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345168" y="1810512"/>
            <a:ext cx="1517904" cy="841248"/>
          </a:xfrm>
          <a:prstGeom prst="roundRect">
            <a:avLst>
              <a:gd name="adj" fmla="val 3804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9409176" y="2007107"/>
            <a:ext cx="1389888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55" name="TextBox 54"/>
          <p:cNvSpPr txBox="1"/>
          <p:nvPr/>
        </p:nvSpPr>
        <p:spPr>
          <a:xfrm>
            <a:off x="9381744" y="1842516"/>
            <a:ext cx="1444751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D3A6B"/>
                </a:solidFill>
                <a:latin typeface="Segoe UI"/>
                <a:ea typeface="Microsoft YaHei"/>
              </a:rPr>
              <a:t>storage_config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436608" y="2034540"/>
            <a:ext cx="1371600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509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system_id</a:t>
            </a:r>
            <a:r>
              <a:rPr sz="509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storage_type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container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74320" y="2834640"/>
            <a:ext cx="1517904" cy="841248"/>
          </a:xfrm>
          <a:prstGeom prst="roundRect">
            <a:avLst>
              <a:gd name="adj" fmla="val 3804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338328" y="3031236"/>
            <a:ext cx="1389888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59" name="TextBox 58"/>
          <p:cNvSpPr txBox="1"/>
          <p:nvPr/>
        </p:nvSpPr>
        <p:spPr>
          <a:xfrm>
            <a:off x="310896" y="2866644"/>
            <a:ext cx="1444751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D3A6B"/>
                </a:solidFill>
                <a:latin typeface="Segoe UI"/>
                <a:ea typeface="Microsoft YaHei"/>
              </a:rPr>
              <a:t>unstructured_source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5760" y="3058668"/>
            <a:ext cx="1371600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509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system_id</a:t>
            </a:r>
            <a:r>
              <a:rPr sz="509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source_type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location_uri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975104" y="2834640"/>
            <a:ext cx="1481328" cy="841248"/>
          </a:xfrm>
          <a:prstGeom prst="roundRect">
            <a:avLst>
              <a:gd name="adj" fmla="val 3804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2039112" y="3031236"/>
            <a:ext cx="1353312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63" name="TextBox 62"/>
          <p:cNvSpPr txBox="1"/>
          <p:nvPr/>
        </p:nvSpPr>
        <p:spPr>
          <a:xfrm>
            <a:off x="2011680" y="2866644"/>
            <a:ext cx="1408176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D3A6B"/>
                </a:solidFill>
                <a:latin typeface="Segoe UI"/>
                <a:ea typeface="Microsoft YaHei"/>
              </a:rPr>
              <a:t>unstructured_item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66544" y="3058668"/>
            <a:ext cx="1335024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509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unstructured_source_id</a:t>
            </a:r>
            <a:r>
              <a:rPr sz="509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hash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size_bytes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639312" y="2834640"/>
            <a:ext cx="2103120" cy="932688"/>
          </a:xfrm>
          <a:prstGeom prst="roundRect">
            <a:avLst>
              <a:gd name="adj" fmla="val 3431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3703320" y="3031236"/>
            <a:ext cx="1975103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67" name="TextBox 66"/>
          <p:cNvSpPr txBox="1"/>
          <p:nvPr/>
        </p:nvSpPr>
        <p:spPr>
          <a:xfrm>
            <a:off x="3675887" y="2866644"/>
            <a:ext cx="2029967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D3A6B"/>
                </a:solidFill>
                <a:latin typeface="Segoe UI"/>
                <a:ea typeface="Microsoft YaHei"/>
              </a:rPr>
              <a:t>sync_job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730752" y="3058668"/>
            <a:ext cx="1956815" cy="6949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509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system_id</a:t>
            </a:r>
            <a:r>
              <a:rPr sz="509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job_type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status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925312" y="2834640"/>
            <a:ext cx="1463040" cy="841248"/>
          </a:xfrm>
          <a:prstGeom prst="roundRect">
            <a:avLst>
              <a:gd name="adj" fmla="val 3804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5989320" y="3031236"/>
            <a:ext cx="1335024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71" name="TextBox 70"/>
          <p:cNvSpPr txBox="1"/>
          <p:nvPr/>
        </p:nvSpPr>
        <p:spPr>
          <a:xfrm>
            <a:off x="5961888" y="2866644"/>
            <a:ext cx="1389888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D3A6B"/>
                </a:solidFill>
                <a:latin typeface="Segoe UI"/>
                <a:ea typeface="Microsoft YaHei"/>
              </a:rPr>
              <a:t>sync_job_config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016752" y="3058668"/>
            <a:ext cx="1316736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509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system_id</a:t>
            </a:r>
            <a:r>
              <a:rPr sz="509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cron_expr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571231" y="2834640"/>
            <a:ext cx="1517904" cy="841248"/>
          </a:xfrm>
          <a:prstGeom prst="roundRect">
            <a:avLst>
              <a:gd name="adj" fmla="val 3804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7635240" y="3031236"/>
            <a:ext cx="1389888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7607807" y="2866644"/>
            <a:ext cx="1444751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D3A6B"/>
                </a:solidFill>
                <a:latin typeface="Segoe UI"/>
                <a:ea typeface="Microsoft YaHei"/>
              </a:rPr>
              <a:t>sync_table_config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662671" y="3058668"/>
            <a:ext cx="1371600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509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source_table_id</a:t>
            </a:r>
            <a:r>
              <a:rPr sz="509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retain_years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272016" y="2834640"/>
            <a:ext cx="1463040" cy="841248"/>
          </a:xfrm>
          <a:prstGeom prst="roundRect">
            <a:avLst>
              <a:gd name="adj" fmla="val 3804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9336024" y="3031236"/>
            <a:ext cx="1335024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9308592" y="2866644"/>
            <a:ext cx="1389888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D3A6B"/>
                </a:solidFill>
                <a:latin typeface="Segoe UI"/>
                <a:ea typeface="Microsoft YaHei"/>
              </a:rPr>
              <a:t>sync_table_stat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363456" y="3058668"/>
            <a:ext cx="1316736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509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sync_job_id</a:t>
            </a:r>
            <a:r>
              <a:rPr sz="509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row_count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74320" y="3877056"/>
            <a:ext cx="1463040" cy="841248"/>
          </a:xfrm>
          <a:prstGeom prst="roundRect">
            <a:avLst>
              <a:gd name="adj" fmla="val 3804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338328" y="4073652"/>
            <a:ext cx="1335024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83" name="TextBox 82"/>
          <p:cNvSpPr txBox="1"/>
          <p:nvPr/>
        </p:nvSpPr>
        <p:spPr>
          <a:xfrm>
            <a:off x="310896" y="3909060"/>
            <a:ext cx="1389888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D3A6B"/>
                </a:solidFill>
                <a:latin typeface="Segoe UI"/>
                <a:ea typeface="Microsoft YaHei"/>
              </a:rPr>
              <a:t>archive_batch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5760" y="4101084"/>
            <a:ext cx="1316736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509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sync_job_id</a:t>
            </a:r>
            <a:r>
              <a:rPr sz="509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batch_year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920240" y="3877056"/>
            <a:ext cx="1417320" cy="841248"/>
          </a:xfrm>
          <a:prstGeom prst="roundRect">
            <a:avLst>
              <a:gd name="adj" fmla="val 3804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984248" y="4073652"/>
            <a:ext cx="1289304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87" name="TextBox 86"/>
          <p:cNvSpPr txBox="1"/>
          <p:nvPr/>
        </p:nvSpPr>
        <p:spPr>
          <a:xfrm>
            <a:off x="1956816" y="3909060"/>
            <a:ext cx="1344168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D3A6B"/>
                </a:solidFill>
                <a:latin typeface="Segoe UI"/>
                <a:ea typeface="Microsoft YaHei"/>
              </a:rPr>
              <a:t>archive_set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011680" y="4101084"/>
            <a:ext cx="1271016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509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archive_batch_id</a:t>
            </a:r>
            <a:r>
              <a:rPr sz="509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set_name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520440" y="3877056"/>
            <a:ext cx="1517904" cy="841248"/>
          </a:xfrm>
          <a:prstGeom prst="roundRect">
            <a:avLst>
              <a:gd name="adj" fmla="val 3804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3584448" y="4073652"/>
            <a:ext cx="1389888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91" name="TextBox 90"/>
          <p:cNvSpPr txBox="1"/>
          <p:nvPr/>
        </p:nvSpPr>
        <p:spPr>
          <a:xfrm>
            <a:off x="3557016" y="3909060"/>
            <a:ext cx="1444751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D3A6B"/>
                </a:solidFill>
                <a:latin typeface="Segoe UI"/>
                <a:ea typeface="Microsoft YaHei"/>
              </a:rPr>
              <a:t>archive_set_item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611880" y="4101084"/>
            <a:ext cx="1371600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509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archive_set_id</a:t>
            </a:r>
            <a:r>
              <a:rPr sz="509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blob_url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221224" y="3877056"/>
            <a:ext cx="1463040" cy="841248"/>
          </a:xfrm>
          <a:prstGeom prst="roundRect">
            <a:avLst>
              <a:gd name="adj" fmla="val 3804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5285232" y="4073652"/>
            <a:ext cx="1335024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95" name="TextBox 94"/>
          <p:cNvSpPr txBox="1"/>
          <p:nvPr/>
        </p:nvSpPr>
        <p:spPr>
          <a:xfrm>
            <a:off x="5257800" y="3909060"/>
            <a:ext cx="1389888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D3A6B"/>
                </a:solidFill>
                <a:latin typeface="Segoe UI"/>
                <a:ea typeface="Microsoft YaHei"/>
              </a:rPr>
              <a:t>archive_file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312664" y="4101084"/>
            <a:ext cx="1316736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509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archive_batch_id</a:t>
            </a:r>
            <a:r>
              <a:rPr sz="509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blob_url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867144" y="3877056"/>
            <a:ext cx="1481328" cy="841248"/>
          </a:xfrm>
          <a:prstGeom prst="roundRect">
            <a:avLst>
              <a:gd name="adj" fmla="val 3804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6931152" y="4073652"/>
            <a:ext cx="1353311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99" name="TextBox 98"/>
          <p:cNvSpPr txBox="1"/>
          <p:nvPr/>
        </p:nvSpPr>
        <p:spPr>
          <a:xfrm>
            <a:off x="6903720" y="3909060"/>
            <a:ext cx="1408176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D3A6B"/>
                </a:solidFill>
                <a:latin typeface="Segoe UI"/>
                <a:ea typeface="Microsoft YaHei"/>
              </a:rPr>
              <a:t>query_config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58583" y="4101084"/>
            <a:ext cx="1335024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509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system_id</a:t>
            </a:r>
            <a:r>
              <a:rPr sz="509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name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base_table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8531352" y="3877056"/>
            <a:ext cx="1554480" cy="841248"/>
          </a:xfrm>
          <a:prstGeom prst="roundRect">
            <a:avLst>
              <a:gd name="adj" fmla="val 3804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8595360" y="4073652"/>
            <a:ext cx="1426464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103" name="TextBox 102"/>
          <p:cNvSpPr txBox="1"/>
          <p:nvPr/>
        </p:nvSpPr>
        <p:spPr>
          <a:xfrm>
            <a:off x="8567928" y="3909060"/>
            <a:ext cx="1481328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D3A6B"/>
                </a:solidFill>
                <a:latin typeface="Segoe UI"/>
                <a:ea typeface="Microsoft YaHei"/>
              </a:rPr>
              <a:t>attachment_index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622792" y="4101084"/>
            <a:ext cx="1408176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509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system_id</a:t>
            </a:r>
            <a:r>
              <a:rPr sz="509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business_key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sha256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274320" y="4901184"/>
            <a:ext cx="1463040" cy="841248"/>
          </a:xfrm>
          <a:prstGeom prst="roundRect">
            <a:avLst>
              <a:gd name="adj" fmla="val 3804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338328" y="5097780"/>
            <a:ext cx="1335024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107" name="TextBox 106"/>
          <p:cNvSpPr txBox="1"/>
          <p:nvPr/>
        </p:nvSpPr>
        <p:spPr>
          <a:xfrm>
            <a:off x="310896" y="4933188"/>
            <a:ext cx="1389888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D3A6B"/>
                </a:solidFill>
                <a:latin typeface="Segoe UI"/>
                <a:ea typeface="Microsoft YaHei"/>
              </a:rPr>
              <a:t>retention_policy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65760" y="5125212"/>
            <a:ext cx="1316736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509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policy_code</a:t>
            </a:r>
            <a:r>
              <a:rPr sz="509" b="1" i="0">
                <a:solidFill>
                  <a:srgbClr val="1E8E5A"/>
                </a:solidFill>
                <a:latin typeface="Segoe UI"/>
                <a:ea typeface="Microsoft YaHei"/>
              </a:rPr>
              <a:t>  UK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period_days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1883664" y="4901184"/>
            <a:ext cx="1572768" cy="841248"/>
          </a:xfrm>
          <a:prstGeom prst="roundRect">
            <a:avLst>
              <a:gd name="adj" fmla="val 3804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>
            <a:off x="1947672" y="5097780"/>
            <a:ext cx="1444752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111" name="TextBox 110"/>
          <p:cNvSpPr txBox="1"/>
          <p:nvPr/>
        </p:nvSpPr>
        <p:spPr>
          <a:xfrm>
            <a:off x="1920240" y="4933188"/>
            <a:ext cx="1499616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D3A6B"/>
                </a:solidFill>
                <a:latin typeface="Segoe UI"/>
                <a:ea typeface="Microsoft YaHei"/>
              </a:rPr>
              <a:t>retention_assignment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975104" y="5125212"/>
            <a:ext cx="1426464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509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policy_id</a:t>
            </a:r>
            <a:r>
              <a:rPr sz="509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object_type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date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due_date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3639312" y="4901184"/>
            <a:ext cx="1517904" cy="841248"/>
          </a:xfrm>
          <a:prstGeom prst="roundRect">
            <a:avLst>
              <a:gd name="adj" fmla="val 3804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" name="Connector 113"/>
          <p:cNvCxnSpPr/>
          <p:nvPr/>
        </p:nvCxnSpPr>
        <p:spPr>
          <a:xfrm>
            <a:off x="3703320" y="5097780"/>
            <a:ext cx="1389887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115" name="TextBox 114"/>
          <p:cNvSpPr txBox="1"/>
          <p:nvPr/>
        </p:nvSpPr>
        <p:spPr>
          <a:xfrm>
            <a:off x="3675887" y="4933188"/>
            <a:ext cx="1444751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D3A6B"/>
                </a:solidFill>
                <a:latin typeface="Segoe UI"/>
                <a:ea typeface="Microsoft YaHei"/>
              </a:rPr>
              <a:t>legal_hold_event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730752" y="5125212"/>
            <a:ext cx="1371600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509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assignment_id</a:t>
            </a:r>
            <a:r>
              <a:rPr sz="509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action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5340096" y="4901184"/>
            <a:ext cx="1481328" cy="841248"/>
          </a:xfrm>
          <a:prstGeom prst="roundRect">
            <a:avLst>
              <a:gd name="adj" fmla="val 3804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>
            <a:off x="5404104" y="5097780"/>
            <a:ext cx="1353312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119" name="TextBox 118"/>
          <p:cNvSpPr txBox="1"/>
          <p:nvPr/>
        </p:nvSpPr>
        <p:spPr>
          <a:xfrm>
            <a:off x="5376672" y="4933188"/>
            <a:ext cx="1408176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D3A6B"/>
                </a:solidFill>
                <a:latin typeface="Segoe UI"/>
                <a:ea typeface="Microsoft YaHei"/>
              </a:rPr>
              <a:t>query_field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431536" y="5125212"/>
            <a:ext cx="1335024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509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query_config_id</a:t>
            </a:r>
            <a:r>
              <a:rPr sz="509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tinyint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is_pii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6967728" y="4901184"/>
            <a:ext cx="1417320" cy="841248"/>
          </a:xfrm>
          <a:prstGeom prst="roundRect">
            <a:avLst>
              <a:gd name="adj" fmla="val 3804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2" name="Connector 121"/>
          <p:cNvCxnSpPr/>
          <p:nvPr/>
        </p:nvCxnSpPr>
        <p:spPr>
          <a:xfrm>
            <a:off x="7031736" y="5097780"/>
            <a:ext cx="1289304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123" name="TextBox 122"/>
          <p:cNvSpPr txBox="1"/>
          <p:nvPr/>
        </p:nvSpPr>
        <p:spPr>
          <a:xfrm>
            <a:off x="7004304" y="4933188"/>
            <a:ext cx="1344168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D3A6B"/>
                </a:solidFill>
                <a:latin typeface="Segoe UI"/>
                <a:ea typeface="Microsoft YaHei"/>
              </a:rPr>
              <a:t>query_join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059168" y="5125212"/>
            <a:ext cx="1271016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509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query_config_id</a:t>
            </a:r>
            <a:r>
              <a:rPr sz="509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join_type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8531352" y="4901184"/>
            <a:ext cx="1463040" cy="841248"/>
          </a:xfrm>
          <a:prstGeom prst="roundRect">
            <a:avLst>
              <a:gd name="adj" fmla="val 3804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6" name="Connector 125"/>
          <p:cNvCxnSpPr/>
          <p:nvPr/>
        </p:nvCxnSpPr>
        <p:spPr>
          <a:xfrm>
            <a:off x="8595360" y="5097780"/>
            <a:ext cx="1335024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127" name="TextBox 126"/>
          <p:cNvSpPr txBox="1"/>
          <p:nvPr/>
        </p:nvSpPr>
        <p:spPr>
          <a:xfrm>
            <a:off x="8567928" y="4933188"/>
            <a:ext cx="1389888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D3A6B"/>
                </a:solidFill>
                <a:latin typeface="Segoe UI"/>
                <a:ea typeface="Microsoft YaHei"/>
              </a:rPr>
              <a:t>drill_config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22792" y="5125212"/>
            <a:ext cx="1316736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509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query_config_id</a:t>
            </a:r>
            <a:r>
              <a:rPr sz="509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schema_id</a:t>
            </a:r>
            <a:r>
              <a:rPr sz="509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274320" y="5907024"/>
            <a:ext cx="1481328" cy="731520"/>
          </a:xfrm>
          <a:prstGeom prst="roundRect">
            <a:avLst>
              <a:gd name="adj" fmla="val 4375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>
            <a:off x="338328" y="6103620"/>
            <a:ext cx="1353312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131" name="TextBox 130"/>
          <p:cNvSpPr txBox="1"/>
          <p:nvPr/>
        </p:nvSpPr>
        <p:spPr>
          <a:xfrm>
            <a:off x="310896" y="5939028"/>
            <a:ext cx="1408176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D3A6B"/>
                </a:solidFill>
                <a:latin typeface="Segoe UI"/>
                <a:ea typeface="Microsoft YaHei"/>
              </a:rPr>
              <a:t>destroy_approval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5760" y="6131052"/>
            <a:ext cx="1335024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509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sync_job_id</a:t>
            </a:r>
            <a:r>
              <a:rPr sz="509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approver_id</a:t>
            </a:r>
            <a:r>
              <a:rPr sz="509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1938528" y="5907024"/>
            <a:ext cx="1371600" cy="731520"/>
          </a:xfrm>
          <a:prstGeom prst="roundRect">
            <a:avLst>
              <a:gd name="adj" fmla="val 4375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4" name="Connector 133"/>
          <p:cNvCxnSpPr/>
          <p:nvPr/>
        </p:nvCxnSpPr>
        <p:spPr>
          <a:xfrm>
            <a:off x="2002536" y="6103620"/>
            <a:ext cx="1243584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135" name="TextBox 134"/>
          <p:cNvSpPr txBox="1"/>
          <p:nvPr/>
        </p:nvSpPr>
        <p:spPr>
          <a:xfrm>
            <a:off x="1975104" y="5939028"/>
            <a:ext cx="1298448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D3A6B"/>
                </a:solidFill>
                <a:latin typeface="Segoe UI"/>
                <a:ea typeface="Microsoft YaHei"/>
              </a:rPr>
              <a:t>notification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029968" y="6131052"/>
            <a:ext cx="122529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509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recipient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channel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3493008" y="5907024"/>
            <a:ext cx="1417320" cy="731520"/>
          </a:xfrm>
          <a:prstGeom prst="roundRect">
            <a:avLst>
              <a:gd name="adj" fmla="val 4375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8" name="Connector 137"/>
          <p:cNvCxnSpPr/>
          <p:nvPr/>
        </p:nvCxnSpPr>
        <p:spPr>
          <a:xfrm>
            <a:off x="3557015" y="6103620"/>
            <a:ext cx="1289305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139" name="TextBox 138"/>
          <p:cNvSpPr txBox="1"/>
          <p:nvPr/>
        </p:nvSpPr>
        <p:spPr>
          <a:xfrm>
            <a:off x="3529584" y="5939028"/>
            <a:ext cx="1344168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D3A6B"/>
                </a:solidFill>
                <a:latin typeface="Segoe UI"/>
                <a:ea typeface="Microsoft YaHei"/>
              </a:rPr>
              <a:t>audit_log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584448" y="6131052"/>
            <a:ext cx="127101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509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user_id</a:t>
            </a:r>
            <a:r>
              <a:rPr sz="509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action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5093208" y="5907024"/>
            <a:ext cx="1463040" cy="731520"/>
          </a:xfrm>
          <a:prstGeom prst="roundRect">
            <a:avLst>
              <a:gd name="adj" fmla="val 4375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>
            <a:off x="5157216" y="6103620"/>
            <a:ext cx="1335024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143" name="TextBox 142"/>
          <p:cNvSpPr txBox="1"/>
          <p:nvPr/>
        </p:nvSpPr>
        <p:spPr>
          <a:xfrm>
            <a:off x="5129784" y="5939028"/>
            <a:ext cx="1389888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D3A6B"/>
                </a:solidFill>
                <a:latin typeface="Segoe UI"/>
                <a:ea typeface="Microsoft YaHei"/>
              </a:rPr>
              <a:t>sync_activity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5184648" y="6131052"/>
            <a:ext cx="131673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509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date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activity_date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E6A94"/>
                </a:solidFill>
                <a:latin typeface="Segoe UI"/>
                <a:ea typeface="Microsoft YaHei"/>
              </a:rPr>
              <a:t>int </a:t>
            </a:r>
            <a:r>
              <a:rPr sz="550" b="0" i="0">
                <a:solidFill>
                  <a:srgbClr val="2F2C54"/>
                </a:solidFill>
                <a:latin typeface="Segoe UI"/>
                <a:ea typeface="Microsoft YaHei"/>
              </a:rPr>
              <a:t>success_count</a:t>
            </a:r>
          </a:p>
        </p:txBody>
      </p:sp>
      <p:cxnSp>
        <p:nvCxnSpPr>
          <p:cNvPr id="145" name="Connector 144"/>
          <p:cNvCxnSpPr/>
          <p:nvPr/>
        </p:nvCxnSpPr>
        <p:spPr>
          <a:xfrm>
            <a:off x="1755648" y="1225296"/>
            <a:ext cx="182880" cy="0"/>
          </a:xfrm>
          <a:prstGeom prst="line">
            <a:avLst/>
          </a:prstGeom>
          <a:ln w="13970">
            <a:solidFill>
              <a:srgbClr val="8785A8"/>
            </a:solidFill>
            <a:tailEnd type="triangle" w="med" len="med"/>
          </a:ln>
          <a:effectLst/>
        </p:spPr>
      </p:cxnSp>
      <p:cxnSp>
        <p:nvCxnSpPr>
          <p:cNvPr id="146" name="Connector 145"/>
          <p:cNvCxnSpPr/>
          <p:nvPr/>
        </p:nvCxnSpPr>
        <p:spPr>
          <a:xfrm>
            <a:off x="1810512" y="1179576"/>
            <a:ext cx="0" cy="9144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147" name="Connector 146"/>
          <p:cNvCxnSpPr/>
          <p:nvPr/>
        </p:nvCxnSpPr>
        <p:spPr>
          <a:xfrm>
            <a:off x="1856231" y="1179576"/>
            <a:ext cx="0" cy="9144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148" name="Connector 147"/>
          <p:cNvCxnSpPr/>
          <p:nvPr/>
        </p:nvCxnSpPr>
        <p:spPr>
          <a:xfrm>
            <a:off x="1837944" y="1225296"/>
            <a:ext cx="100584" cy="50292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149" name="Connector 148"/>
          <p:cNvCxnSpPr/>
          <p:nvPr/>
        </p:nvCxnSpPr>
        <p:spPr>
          <a:xfrm flipV="1">
            <a:off x="1837944" y="1175004"/>
            <a:ext cx="100584" cy="50292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sp>
        <p:nvSpPr>
          <p:cNvPr id="150" name="Oval 149"/>
          <p:cNvSpPr/>
          <p:nvPr/>
        </p:nvSpPr>
        <p:spPr>
          <a:xfrm>
            <a:off x="1754733" y="1201521"/>
            <a:ext cx="47548" cy="47548"/>
          </a:xfrm>
          <a:prstGeom prst="ellipse">
            <a:avLst/>
          </a:prstGeom>
          <a:noFill/>
          <a:ln w="12700">
            <a:solidFill>
              <a:srgbClr val="87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1" name="Connector 150"/>
          <p:cNvCxnSpPr/>
          <p:nvPr/>
        </p:nvCxnSpPr>
        <p:spPr>
          <a:xfrm flipH="1">
            <a:off x="3127248" y="1225296"/>
            <a:ext cx="182880" cy="0"/>
          </a:xfrm>
          <a:prstGeom prst="line">
            <a:avLst/>
          </a:prstGeom>
          <a:ln w="13970">
            <a:solidFill>
              <a:srgbClr val="8785A8"/>
            </a:solidFill>
            <a:tailEnd type="triangle" w="med" len="med"/>
          </a:ln>
          <a:effectLst/>
        </p:spPr>
      </p:cxnSp>
      <p:cxnSp>
        <p:nvCxnSpPr>
          <p:cNvPr id="152" name="Connector 151"/>
          <p:cNvCxnSpPr/>
          <p:nvPr/>
        </p:nvCxnSpPr>
        <p:spPr>
          <a:xfrm flipV="1">
            <a:off x="3255264" y="1179576"/>
            <a:ext cx="0" cy="9144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153" name="Connector 152"/>
          <p:cNvCxnSpPr/>
          <p:nvPr/>
        </p:nvCxnSpPr>
        <p:spPr>
          <a:xfrm flipV="1">
            <a:off x="3209544" y="1179576"/>
            <a:ext cx="0" cy="9144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154" name="Connector 153"/>
          <p:cNvCxnSpPr/>
          <p:nvPr/>
        </p:nvCxnSpPr>
        <p:spPr>
          <a:xfrm flipH="1" flipV="1">
            <a:off x="3127248" y="1175004"/>
            <a:ext cx="100584" cy="50292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155" name="Connector 154"/>
          <p:cNvCxnSpPr/>
          <p:nvPr/>
        </p:nvCxnSpPr>
        <p:spPr>
          <a:xfrm flipH="1">
            <a:off x="3127248" y="1225296"/>
            <a:ext cx="100584" cy="50292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sp>
        <p:nvSpPr>
          <p:cNvPr id="156" name="Oval 155"/>
          <p:cNvSpPr/>
          <p:nvPr/>
        </p:nvSpPr>
        <p:spPr>
          <a:xfrm>
            <a:off x="3263493" y="1201521"/>
            <a:ext cx="47548" cy="47548"/>
          </a:xfrm>
          <a:prstGeom prst="ellipse">
            <a:avLst/>
          </a:prstGeom>
          <a:noFill/>
          <a:ln w="12700">
            <a:solidFill>
              <a:srgbClr val="87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7" name="Connector 156"/>
          <p:cNvCxnSpPr/>
          <p:nvPr/>
        </p:nvCxnSpPr>
        <p:spPr>
          <a:xfrm>
            <a:off x="4727448" y="1225296"/>
            <a:ext cx="182880" cy="0"/>
          </a:xfrm>
          <a:prstGeom prst="line">
            <a:avLst/>
          </a:prstGeom>
          <a:ln w="13970">
            <a:solidFill>
              <a:srgbClr val="8785A8"/>
            </a:solidFill>
            <a:tailEnd type="triangle" w="med" len="med"/>
          </a:ln>
          <a:effectLst/>
        </p:spPr>
      </p:cxnSp>
      <p:cxnSp>
        <p:nvCxnSpPr>
          <p:cNvPr id="158" name="Connector 157"/>
          <p:cNvCxnSpPr/>
          <p:nvPr/>
        </p:nvCxnSpPr>
        <p:spPr>
          <a:xfrm>
            <a:off x="4782312" y="1179576"/>
            <a:ext cx="0" cy="9144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159" name="Connector 158"/>
          <p:cNvCxnSpPr/>
          <p:nvPr/>
        </p:nvCxnSpPr>
        <p:spPr>
          <a:xfrm>
            <a:off x="4828032" y="1179576"/>
            <a:ext cx="0" cy="9144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160" name="Connector 159"/>
          <p:cNvCxnSpPr/>
          <p:nvPr/>
        </p:nvCxnSpPr>
        <p:spPr>
          <a:xfrm>
            <a:off x="4809744" y="1225296"/>
            <a:ext cx="100584" cy="50292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161" name="Connector 160"/>
          <p:cNvCxnSpPr/>
          <p:nvPr/>
        </p:nvCxnSpPr>
        <p:spPr>
          <a:xfrm flipV="1">
            <a:off x="4809744" y="1175004"/>
            <a:ext cx="100584" cy="50292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sp>
        <p:nvSpPr>
          <p:cNvPr id="162" name="Oval 161"/>
          <p:cNvSpPr/>
          <p:nvPr/>
        </p:nvSpPr>
        <p:spPr>
          <a:xfrm>
            <a:off x="4726533" y="1201521"/>
            <a:ext cx="47548" cy="47548"/>
          </a:xfrm>
          <a:prstGeom prst="ellipse">
            <a:avLst/>
          </a:prstGeom>
          <a:noFill/>
          <a:ln w="12700">
            <a:solidFill>
              <a:srgbClr val="87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3" name="Connector 162"/>
          <p:cNvCxnSpPr/>
          <p:nvPr/>
        </p:nvCxnSpPr>
        <p:spPr>
          <a:xfrm flipH="1">
            <a:off x="6208776" y="1225296"/>
            <a:ext cx="182880" cy="0"/>
          </a:xfrm>
          <a:prstGeom prst="line">
            <a:avLst/>
          </a:prstGeom>
          <a:ln w="13970">
            <a:solidFill>
              <a:srgbClr val="8785A8"/>
            </a:solidFill>
            <a:tailEnd type="triangle" w="med" len="med"/>
          </a:ln>
          <a:effectLst/>
        </p:spPr>
      </p:cxnSp>
      <p:cxnSp>
        <p:nvCxnSpPr>
          <p:cNvPr id="164" name="Connector 163"/>
          <p:cNvCxnSpPr/>
          <p:nvPr/>
        </p:nvCxnSpPr>
        <p:spPr>
          <a:xfrm flipV="1">
            <a:off x="6336792" y="1179576"/>
            <a:ext cx="0" cy="9144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165" name="Connector 164"/>
          <p:cNvCxnSpPr/>
          <p:nvPr/>
        </p:nvCxnSpPr>
        <p:spPr>
          <a:xfrm flipV="1">
            <a:off x="6291072" y="1179576"/>
            <a:ext cx="0" cy="9144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166" name="Connector 165"/>
          <p:cNvCxnSpPr/>
          <p:nvPr/>
        </p:nvCxnSpPr>
        <p:spPr>
          <a:xfrm flipH="1" flipV="1">
            <a:off x="6208776" y="1175004"/>
            <a:ext cx="100584" cy="50292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167" name="Connector 166"/>
          <p:cNvCxnSpPr/>
          <p:nvPr/>
        </p:nvCxnSpPr>
        <p:spPr>
          <a:xfrm flipH="1">
            <a:off x="6208776" y="1225296"/>
            <a:ext cx="100584" cy="50292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sp>
        <p:nvSpPr>
          <p:cNvPr id="168" name="Oval 167"/>
          <p:cNvSpPr/>
          <p:nvPr/>
        </p:nvSpPr>
        <p:spPr>
          <a:xfrm>
            <a:off x="6345021" y="1201521"/>
            <a:ext cx="47548" cy="47548"/>
          </a:xfrm>
          <a:prstGeom prst="ellipse">
            <a:avLst/>
          </a:prstGeom>
          <a:noFill/>
          <a:ln w="12700">
            <a:solidFill>
              <a:srgbClr val="87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9" name="Connector 168"/>
          <p:cNvCxnSpPr/>
          <p:nvPr/>
        </p:nvCxnSpPr>
        <p:spPr>
          <a:xfrm>
            <a:off x="7872983" y="1225296"/>
            <a:ext cx="182881" cy="0"/>
          </a:xfrm>
          <a:prstGeom prst="line">
            <a:avLst/>
          </a:prstGeom>
          <a:ln w="13970">
            <a:solidFill>
              <a:srgbClr val="8785A8"/>
            </a:solidFill>
            <a:tailEnd type="triangle" w="med" len="med"/>
          </a:ln>
          <a:effectLst/>
        </p:spPr>
      </p:cxnSp>
      <p:cxnSp>
        <p:nvCxnSpPr>
          <p:cNvPr id="170" name="Connector 169"/>
          <p:cNvCxnSpPr/>
          <p:nvPr/>
        </p:nvCxnSpPr>
        <p:spPr>
          <a:xfrm>
            <a:off x="7927848" y="1179576"/>
            <a:ext cx="0" cy="9144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171" name="Connector 170"/>
          <p:cNvCxnSpPr/>
          <p:nvPr/>
        </p:nvCxnSpPr>
        <p:spPr>
          <a:xfrm>
            <a:off x="7973567" y="1179576"/>
            <a:ext cx="0" cy="9144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172" name="Connector 171"/>
          <p:cNvCxnSpPr/>
          <p:nvPr/>
        </p:nvCxnSpPr>
        <p:spPr>
          <a:xfrm>
            <a:off x="7955280" y="1225296"/>
            <a:ext cx="100584" cy="50292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173" name="Connector 172"/>
          <p:cNvCxnSpPr/>
          <p:nvPr/>
        </p:nvCxnSpPr>
        <p:spPr>
          <a:xfrm flipV="1">
            <a:off x="7955280" y="1175004"/>
            <a:ext cx="100584" cy="50292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sp>
        <p:nvSpPr>
          <p:cNvPr id="174" name="Oval 173"/>
          <p:cNvSpPr/>
          <p:nvPr/>
        </p:nvSpPr>
        <p:spPr>
          <a:xfrm>
            <a:off x="7872069" y="1201521"/>
            <a:ext cx="47548" cy="47548"/>
          </a:xfrm>
          <a:prstGeom prst="ellipse">
            <a:avLst/>
          </a:prstGeom>
          <a:noFill/>
          <a:ln w="12700">
            <a:solidFill>
              <a:srgbClr val="87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5" name="Connector 174"/>
          <p:cNvCxnSpPr/>
          <p:nvPr/>
        </p:nvCxnSpPr>
        <p:spPr>
          <a:xfrm flipH="1">
            <a:off x="9244584" y="1225296"/>
            <a:ext cx="182880" cy="0"/>
          </a:xfrm>
          <a:prstGeom prst="line">
            <a:avLst/>
          </a:prstGeom>
          <a:ln w="13970">
            <a:solidFill>
              <a:srgbClr val="8785A8"/>
            </a:solidFill>
            <a:tailEnd type="triangle" w="med" len="med"/>
          </a:ln>
          <a:effectLst/>
        </p:spPr>
      </p:cxnSp>
      <p:cxnSp>
        <p:nvCxnSpPr>
          <p:cNvPr id="176" name="Connector 175"/>
          <p:cNvCxnSpPr/>
          <p:nvPr/>
        </p:nvCxnSpPr>
        <p:spPr>
          <a:xfrm flipV="1">
            <a:off x="9372600" y="1179576"/>
            <a:ext cx="0" cy="9144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177" name="Connector 176"/>
          <p:cNvCxnSpPr/>
          <p:nvPr/>
        </p:nvCxnSpPr>
        <p:spPr>
          <a:xfrm flipV="1">
            <a:off x="9326880" y="1179576"/>
            <a:ext cx="0" cy="9144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178" name="Connector 177"/>
          <p:cNvCxnSpPr/>
          <p:nvPr/>
        </p:nvCxnSpPr>
        <p:spPr>
          <a:xfrm flipH="1" flipV="1">
            <a:off x="9244584" y="1175004"/>
            <a:ext cx="100583" cy="50292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179" name="Connector 178"/>
          <p:cNvCxnSpPr/>
          <p:nvPr/>
        </p:nvCxnSpPr>
        <p:spPr>
          <a:xfrm flipH="1">
            <a:off x="9244584" y="1225296"/>
            <a:ext cx="100583" cy="50292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sp>
        <p:nvSpPr>
          <p:cNvPr id="180" name="Oval 179"/>
          <p:cNvSpPr/>
          <p:nvPr/>
        </p:nvSpPr>
        <p:spPr>
          <a:xfrm>
            <a:off x="9380829" y="1201521"/>
            <a:ext cx="47548" cy="47548"/>
          </a:xfrm>
          <a:prstGeom prst="ellipse">
            <a:avLst/>
          </a:prstGeom>
          <a:noFill/>
          <a:ln w="12700">
            <a:solidFill>
              <a:srgbClr val="87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1" name="Connector 180"/>
          <p:cNvCxnSpPr/>
          <p:nvPr/>
        </p:nvCxnSpPr>
        <p:spPr>
          <a:xfrm>
            <a:off x="1014984" y="1645920"/>
            <a:ext cx="0" cy="310896"/>
          </a:xfrm>
          <a:prstGeom prst="line">
            <a:avLst/>
          </a:prstGeom>
          <a:ln w="13970">
            <a:solidFill>
              <a:srgbClr val="8785A8"/>
            </a:solidFill>
            <a:tailEnd type="triangle" w="med" len="med"/>
          </a:ln>
          <a:effectLst/>
        </p:spPr>
      </p:cxnSp>
      <p:cxnSp>
        <p:nvCxnSpPr>
          <p:cNvPr id="182" name="Connector 181"/>
          <p:cNvCxnSpPr/>
          <p:nvPr/>
        </p:nvCxnSpPr>
        <p:spPr>
          <a:xfrm flipH="1">
            <a:off x="969264" y="1700784"/>
            <a:ext cx="91440" cy="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183" name="Connector 182"/>
          <p:cNvCxnSpPr/>
          <p:nvPr/>
        </p:nvCxnSpPr>
        <p:spPr>
          <a:xfrm flipH="1">
            <a:off x="969264" y="1746504"/>
            <a:ext cx="91440" cy="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184" name="Connector 183"/>
          <p:cNvCxnSpPr/>
          <p:nvPr/>
        </p:nvCxnSpPr>
        <p:spPr>
          <a:xfrm flipH="1">
            <a:off x="964692" y="1856232"/>
            <a:ext cx="50292" cy="100584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185" name="Connector 184"/>
          <p:cNvCxnSpPr/>
          <p:nvPr/>
        </p:nvCxnSpPr>
        <p:spPr>
          <a:xfrm>
            <a:off x="1014984" y="1856232"/>
            <a:ext cx="50292" cy="100584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sp>
        <p:nvSpPr>
          <p:cNvPr id="186" name="Oval 185"/>
          <p:cNvSpPr/>
          <p:nvPr/>
        </p:nvSpPr>
        <p:spPr>
          <a:xfrm>
            <a:off x="991209" y="1773021"/>
            <a:ext cx="47548" cy="47548"/>
          </a:xfrm>
          <a:prstGeom prst="ellipse">
            <a:avLst/>
          </a:prstGeom>
          <a:noFill/>
          <a:ln w="12700">
            <a:solidFill>
              <a:srgbClr val="87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7" name="Connector 186"/>
          <p:cNvCxnSpPr/>
          <p:nvPr/>
        </p:nvCxnSpPr>
        <p:spPr>
          <a:xfrm>
            <a:off x="868680" y="2505456"/>
            <a:ext cx="0" cy="246888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188" name="Connector 187"/>
          <p:cNvCxnSpPr/>
          <p:nvPr/>
        </p:nvCxnSpPr>
        <p:spPr>
          <a:xfrm>
            <a:off x="868680" y="2752344"/>
            <a:ext cx="4087368" cy="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189" name="Connector 188"/>
          <p:cNvCxnSpPr/>
          <p:nvPr/>
        </p:nvCxnSpPr>
        <p:spPr>
          <a:xfrm flipV="1">
            <a:off x="4956048" y="2487168"/>
            <a:ext cx="0" cy="265176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190" name="Connector 189"/>
          <p:cNvCxnSpPr/>
          <p:nvPr/>
        </p:nvCxnSpPr>
        <p:spPr>
          <a:xfrm>
            <a:off x="4956048" y="2487168"/>
            <a:ext cx="91440" cy="0"/>
          </a:xfrm>
          <a:prstGeom prst="line">
            <a:avLst/>
          </a:prstGeom>
          <a:ln w="13970">
            <a:solidFill>
              <a:srgbClr val="8785A8"/>
            </a:solidFill>
            <a:tailEnd type="triangle" w="med" len="med"/>
          </a:ln>
          <a:effectLst/>
        </p:spPr>
      </p:cxnSp>
      <p:cxnSp>
        <p:nvCxnSpPr>
          <p:cNvPr id="191" name="Connector 190"/>
          <p:cNvCxnSpPr/>
          <p:nvPr/>
        </p:nvCxnSpPr>
        <p:spPr>
          <a:xfrm flipH="1">
            <a:off x="822959" y="2560320"/>
            <a:ext cx="91441" cy="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192" name="Connector 191"/>
          <p:cNvCxnSpPr/>
          <p:nvPr/>
        </p:nvCxnSpPr>
        <p:spPr>
          <a:xfrm flipH="1">
            <a:off x="822959" y="2606040"/>
            <a:ext cx="91441" cy="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193" name="Connector 192"/>
          <p:cNvCxnSpPr/>
          <p:nvPr/>
        </p:nvCxnSpPr>
        <p:spPr>
          <a:xfrm>
            <a:off x="4946903" y="2487168"/>
            <a:ext cx="100585" cy="50292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194" name="Connector 193"/>
          <p:cNvCxnSpPr/>
          <p:nvPr/>
        </p:nvCxnSpPr>
        <p:spPr>
          <a:xfrm flipV="1">
            <a:off x="4946903" y="2436876"/>
            <a:ext cx="100585" cy="50292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sp>
        <p:nvSpPr>
          <p:cNvPr id="195" name="Oval 194"/>
          <p:cNvSpPr/>
          <p:nvPr/>
        </p:nvSpPr>
        <p:spPr>
          <a:xfrm>
            <a:off x="4863693" y="2463393"/>
            <a:ext cx="47548" cy="47548"/>
          </a:xfrm>
          <a:prstGeom prst="ellipse">
            <a:avLst/>
          </a:prstGeom>
          <a:noFill/>
          <a:ln w="12700">
            <a:solidFill>
              <a:srgbClr val="87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6" name="Connector 195"/>
          <p:cNvCxnSpPr/>
          <p:nvPr/>
        </p:nvCxnSpPr>
        <p:spPr>
          <a:xfrm>
            <a:off x="3163824" y="2231136"/>
            <a:ext cx="182880" cy="0"/>
          </a:xfrm>
          <a:prstGeom prst="line">
            <a:avLst/>
          </a:prstGeom>
          <a:ln w="13970">
            <a:solidFill>
              <a:srgbClr val="8785A8"/>
            </a:solidFill>
            <a:tailEnd type="triangle" w="med" len="med"/>
          </a:ln>
          <a:effectLst/>
        </p:spPr>
      </p:cxnSp>
      <p:cxnSp>
        <p:nvCxnSpPr>
          <p:cNvPr id="197" name="Connector 196"/>
          <p:cNvCxnSpPr/>
          <p:nvPr/>
        </p:nvCxnSpPr>
        <p:spPr>
          <a:xfrm>
            <a:off x="3218688" y="2185416"/>
            <a:ext cx="0" cy="9144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198" name="Connector 197"/>
          <p:cNvCxnSpPr/>
          <p:nvPr/>
        </p:nvCxnSpPr>
        <p:spPr>
          <a:xfrm>
            <a:off x="3264408" y="2185416"/>
            <a:ext cx="0" cy="9144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199" name="Connector 198"/>
          <p:cNvCxnSpPr/>
          <p:nvPr/>
        </p:nvCxnSpPr>
        <p:spPr>
          <a:xfrm>
            <a:off x="3246120" y="2231136"/>
            <a:ext cx="100584" cy="50292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00" name="Connector 199"/>
          <p:cNvCxnSpPr/>
          <p:nvPr/>
        </p:nvCxnSpPr>
        <p:spPr>
          <a:xfrm flipV="1">
            <a:off x="3246120" y="2180844"/>
            <a:ext cx="100584" cy="50292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sp>
        <p:nvSpPr>
          <p:cNvPr id="201" name="Oval 200"/>
          <p:cNvSpPr/>
          <p:nvPr/>
        </p:nvSpPr>
        <p:spPr>
          <a:xfrm>
            <a:off x="3162909" y="2207361"/>
            <a:ext cx="47548" cy="47548"/>
          </a:xfrm>
          <a:prstGeom prst="ellipse">
            <a:avLst/>
          </a:prstGeom>
          <a:noFill/>
          <a:ln w="12700">
            <a:solidFill>
              <a:srgbClr val="87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2" name="Connector 201"/>
          <p:cNvCxnSpPr/>
          <p:nvPr/>
        </p:nvCxnSpPr>
        <p:spPr>
          <a:xfrm>
            <a:off x="7607808" y="2194560"/>
            <a:ext cx="182880" cy="0"/>
          </a:xfrm>
          <a:prstGeom prst="line">
            <a:avLst/>
          </a:prstGeom>
          <a:ln w="13970">
            <a:solidFill>
              <a:srgbClr val="8785A8"/>
            </a:solidFill>
            <a:tailEnd type="triangle" w="med" len="med"/>
          </a:ln>
          <a:effectLst/>
        </p:spPr>
      </p:cxnSp>
      <p:cxnSp>
        <p:nvCxnSpPr>
          <p:cNvPr id="203" name="Connector 202"/>
          <p:cNvCxnSpPr/>
          <p:nvPr/>
        </p:nvCxnSpPr>
        <p:spPr>
          <a:xfrm>
            <a:off x="7662672" y="2148840"/>
            <a:ext cx="0" cy="91439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04" name="Connector 203"/>
          <p:cNvCxnSpPr/>
          <p:nvPr/>
        </p:nvCxnSpPr>
        <p:spPr>
          <a:xfrm>
            <a:off x="7708392" y="2148840"/>
            <a:ext cx="0" cy="91439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05" name="Connector 204"/>
          <p:cNvCxnSpPr/>
          <p:nvPr/>
        </p:nvCxnSpPr>
        <p:spPr>
          <a:xfrm>
            <a:off x="7690104" y="2194560"/>
            <a:ext cx="100584" cy="50292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06" name="Connector 205"/>
          <p:cNvCxnSpPr/>
          <p:nvPr/>
        </p:nvCxnSpPr>
        <p:spPr>
          <a:xfrm flipV="1">
            <a:off x="7690104" y="2144268"/>
            <a:ext cx="100584" cy="50292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sp>
        <p:nvSpPr>
          <p:cNvPr id="207" name="Oval 206"/>
          <p:cNvSpPr/>
          <p:nvPr/>
        </p:nvSpPr>
        <p:spPr>
          <a:xfrm>
            <a:off x="7606893" y="2170785"/>
            <a:ext cx="47548" cy="47548"/>
          </a:xfrm>
          <a:prstGeom prst="ellipse">
            <a:avLst/>
          </a:prstGeom>
          <a:noFill/>
          <a:ln w="12700">
            <a:solidFill>
              <a:srgbClr val="87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8" name="Connector 207"/>
          <p:cNvCxnSpPr/>
          <p:nvPr/>
        </p:nvCxnSpPr>
        <p:spPr>
          <a:xfrm>
            <a:off x="5120640" y="2670048"/>
            <a:ext cx="0" cy="164592"/>
          </a:xfrm>
          <a:prstGeom prst="line">
            <a:avLst/>
          </a:prstGeom>
          <a:ln w="13970">
            <a:solidFill>
              <a:srgbClr val="8785A8"/>
            </a:solidFill>
            <a:tailEnd type="triangle" w="med" len="med"/>
          </a:ln>
          <a:effectLst/>
        </p:spPr>
      </p:cxnSp>
      <p:cxnSp>
        <p:nvCxnSpPr>
          <p:cNvPr id="209" name="Connector 208"/>
          <p:cNvCxnSpPr/>
          <p:nvPr/>
        </p:nvCxnSpPr>
        <p:spPr>
          <a:xfrm flipH="1">
            <a:off x="5074920" y="2724912"/>
            <a:ext cx="91439" cy="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10" name="Connector 209"/>
          <p:cNvCxnSpPr/>
          <p:nvPr/>
        </p:nvCxnSpPr>
        <p:spPr>
          <a:xfrm flipH="1">
            <a:off x="5074920" y="2770632"/>
            <a:ext cx="91439" cy="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11" name="Connector 210"/>
          <p:cNvCxnSpPr/>
          <p:nvPr/>
        </p:nvCxnSpPr>
        <p:spPr>
          <a:xfrm flipH="1">
            <a:off x="5070348" y="2734056"/>
            <a:ext cx="50292" cy="100584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12" name="Connector 211"/>
          <p:cNvCxnSpPr/>
          <p:nvPr/>
        </p:nvCxnSpPr>
        <p:spPr>
          <a:xfrm>
            <a:off x="5120640" y="2734056"/>
            <a:ext cx="50291" cy="100584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sp>
        <p:nvSpPr>
          <p:cNvPr id="213" name="Oval 212"/>
          <p:cNvSpPr/>
          <p:nvPr/>
        </p:nvSpPr>
        <p:spPr>
          <a:xfrm>
            <a:off x="5096865" y="2650845"/>
            <a:ext cx="47548" cy="47548"/>
          </a:xfrm>
          <a:prstGeom prst="ellipse">
            <a:avLst/>
          </a:prstGeom>
          <a:noFill/>
          <a:ln w="12700">
            <a:solidFill>
              <a:srgbClr val="87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4" name="Connector 213"/>
          <p:cNvCxnSpPr/>
          <p:nvPr/>
        </p:nvCxnSpPr>
        <p:spPr>
          <a:xfrm>
            <a:off x="7607808" y="2432304"/>
            <a:ext cx="91440" cy="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15" name="Connector 214"/>
          <p:cNvCxnSpPr/>
          <p:nvPr/>
        </p:nvCxnSpPr>
        <p:spPr>
          <a:xfrm>
            <a:off x="7699248" y="2432304"/>
            <a:ext cx="0" cy="32004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16" name="Connector 215"/>
          <p:cNvCxnSpPr/>
          <p:nvPr/>
        </p:nvCxnSpPr>
        <p:spPr>
          <a:xfrm>
            <a:off x="7699248" y="2752344"/>
            <a:ext cx="2404872" cy="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17" name="Connector 216"/>
          <p:cNvCxnSpPr/>
          <p:nvPr/>
        </p:nvCxnSpPr>
        <p:spPr>
          <a:xfrm flipV="1">
            <a:off x="10104120" y="2670048"/>
            <a:ext cx="0" cy="82296"/>
          </a:xfrm>
          <a:prstGeom prst="line">
            <a:avLst/>
          </a:prstGeom>
          <a:ln w="13970">
            <a:solidFill>
              <a:srgbClr val="8785A8"/>
            </a:solidFill>
            <a:tailEnd type="triangle" w="med" len="med"/>
          </a:ln>
          <a:effectLst/>
        </p:spPr>
      </p:cxnSp>
      <p:cxnSp>
        <p:nvCxnSpPr>
          <p:cNvPr id="218" name="Connector 217"/>
          <p:cNvCxnSpPr/>
          <p:nvPr/>
        </p:nvCxnSpPr>
        <p:spPr>
          <a:xfrm>
            <a:off x="7662672" y="2386584"/>
            <a:ext cx="0" cy="9144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19" name="Connector 218"/>
          <p:cNvCxnSpPr/>
          <p:nvPr/>
        </p:nvCxnSpPr>
        <p:spPr>
          <a:xfrm>
            <a:off x="7708392" y="2386584"/>
            <a:ext cx="0" cy="9144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20" name="Connector 219"/>
          <p:cNvCxnSpPr/>
          <p:nvPr/>
        </p:nvCxnSpPr>
        <p:spPr>
          <a:xfrm flipV="1">
            <a:off x="10104120" y="2670048"/>
            <a:ext cx="50292" cy="100584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21" name="Connector 220"/>
          <p:cNvCxnSpPr/>
          <p:nvPr/>
        </p:nvCxnSpPr>
        <p:spPr>
          <a:xfrm flipH="1" flipV="1">
            <a:off x="10053828" y="2670048"/>
            <a:ext cx="50292" cy="100584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sp>
        <p:nvSpPr>
          <p:cNvPr id="222" name="Oval 221"/>
          <p:cNvSpPr/>
          <p:nvPr/>
        </p:nvSpPr>
        <p:spPr>
          <a:xfrm>
            <a:off x="10080345" y="2806293"/>
            <a:ext cx="47548" cy="47548"/>
          </a:xfrm>
          <a:prstGeom prst="ellipse">
            <a:avLst/>
          </a:prstGeom>
          <a:noFill/>
          <a:ln w="12700">
            <a:solidFill>
              <a:srgbClr val="87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3" name="Connector 222"/>
          <p:cNvCxnSpPr/>
          <p:nvPr/>
        </p:nvCxnSpPr>
        <p:spPr>
          <a:xfrm>
            <a:off x="4105656" y="2651760"/>
            <a:ext cx="0" cy="13716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24" name="Connector 223"/>
          <p:cNvCxnSpPr/>
          <p:nvPr/>
        </p:nvCxnSpPr>
        <p:spPr>
          <a:xfrm>
            <a:off x="4105656" y="2788920"/>
            <a:ext cx="4224527" cy="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25" name="Connector 224"/>
          <p:cNvCxnSpPr/>
          <p:nvPr/>
        </p:nvCxnSpPr>
        <p:spPr>
          <a:xfrm>
            <a:off x="8330183" y="2788920"/>
            <a:ext cx="0" cy="45720"/>
          </a:xfrm>
          <a:prstGeom prst="line">
            <a:avLst/>
          </a:prstGeom>
          <a:ln w="13970">
            <a:solidFill>
              <a:srgbClr val="8785A8"/>
            </a:solidFill>
            <a:tailEnd type="triangle" w="med" len="med"/>
          </a:ln>
          <a:effectLst/>
        </p:spPr>
      </p:cxnSp>
      <p:cxnSp>
        <p:nvCxnSpPr>
          <p:cNvPr id="226" name="Connector 225"/>
          <p:cNvCxnSpPr/>
          <p:nvPr/>
        </p:nvCxnSpPr>
        <p:spPr>
          <a:xfrm flipH="1">
            <a:off x="4059936" y="2706624"/>
            <a:ext cx="91440" cy="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27" name="Connector 226"/>
          <p:cNvCxnSpPr/>
          <p:nvPr/>
        </p:nvCxnSpPr>
        <p:spPr>
          <a:xfrm flipH="1">
            <a:off x="4059936" y="2752344"/>
            <a:ext cx="91440" cy="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28" name="Connector 227"/>
          <p:cNvCxnSpPr/>
          <p:nvPr/>
        </p:nvCxnSpPr>
        <p:spPr>
          <a:xfrm flipH="1">
            <a:off x="8279892" y="2734056"/>
            <a:ext cx="50291" cy="100584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29" name="Connector 228"/>
          <p:cNvCxnSpPr/>
          <p:nvPr/>
        </p:nvCxnSpPr>
        <p:spPr>
          <a:xfrm>
            <a:off x="8330183" y="2734056"/>
            <a:ext cx="50292" cy="100584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sp>
        <p:nvSpPr>
          <p:cNvPr id="230" name="Oval 229"/>
          <p:cNvSpPr/>
          <p:nvPr/>
        </p:nvSpPr>
        <p:spPr>
          <a:xfrm>
            <a:off x="8306409" y="2650845"/>
            <a:ext cx="47548" cy="47548"/>
          </a:xfrm>
          <a:prstGeom prst="ellipse">
            <a:avLst/>
          </a:prstGeom>
          <a:noFill/>
          <a:ln w="12700">
            <a:solidFill>
              <a:srgbClr val="87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1" name="Connector 230"/>
          <p:cNvCxnSpPr/>
          <p:nvPr/>
        </p:nvCxnSpPr>
        <p:spPr>
          <a:xfrm>
            <a:off x="3931920" y="3767328"/>
            <a:ext cx="0" cy="54863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32" name="Connector 231"/>
          <p:cNvCxnSpPr/>
          <p:nvPr/>
        </p:nvCxnSpPr>
        <p:spPr>
          <a:xfrm flipH="1">
            <a:off x="1005840" y="3822191"/>
            <a:ext cx="2926080" cy="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33" name="Connector 232"/>
          <p:cNvCxnSpPr/>
          <p:nvPr/>
        </p:nvCxnSpPr>
        <p:spPr>
          <a:xfrm>
            <a:off x="1005840" y="3822191"/>
            <a:ext cx="0" cy="54865"/>
          </a:xfrm>
          <a:prstGeom prst="line">
            <a:avLst/>
          </a:prstGeom>
          <a:ln w="13970">
            <a:solidFill>
              <a:srgbClr val="8785A8"/>
            </a:solidFill>
            <a:tailEnd type="triangle" w="med" len="med"/>
          </a:ln>
          <a:effectLst/>
        </p:spPr>
      </p:cxnSp>
      <p:cxnSp>
        <p:nvCxnSpPr>
          <p:cNvPr id="234" name="Connector 233"/>
          <p:cNvCxnSpPr/>
          <p:nvPr/>
        </p:nvCxnSpPr>
        <p:spPr>
          <a:xfrm flipH="1">
            <a:off x="3886200" y="3822191"/>
            <a:ext cx="91439" cy="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35" name="Connector 234"/>
          <p:cNvCxnSpPr/>
          <p:nvPr/>
        </p:nvCxnSpPr>
        <p:spPr>
          <a:xfrm flipH="1">
            <a:off x="3886200" y="3867912"/>
            <a:ext cx="91439" cy="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36" name="Connector 235"/>
          <p:cNvCxnSpPr/>
          <p:nvPr/>
        </p:nvCxnSpPr>
        <p:spPr>
          <a:xfrm flipH="1">
            <a:off x="955548" y="3776472"/>
            <a:ext cx="50292" cy="100584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37" name="Connector 236"/>
          <p:cNvCxnSpPr/>
          <p:nvPr/>
        </p:nvCxnSpPr>
        <p:spPr>
          <a:xfrm>
            <a:off x="1005840" y="3776472"/>
            <a:ext cx="50292" cy="100584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sp>
        <p:nvSpPr>
          <p:cNvPr id="238" name="Oval 237"/>
          <p:cNvSpPr/>
          <p:nvPr/>
        </p:nvSpPr>
        <p:spPr>
          <a:xfrm>
            <a:off x="982065" y="3693261"/>
            <a:ext cx="47548" cy="47548"/>
          </a:xfrm>
          <a:prstGeom prst="ellipse">
            <a:avLst/>
          </a:prstGeom>
          <a:noFill/>
          <a:ln w="12700">
            <a:solidFill>
              <a:srgbClr val="87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9" name="Connector 238"/>
          <p:cNvCxnSpPr/>
          <p:nvPr/>
        </p:nvCxnSpPr>
        <p:spPr>
          <a:xfrm>
            <a:off x="1737360" y="4297680"/>
            <a:ext cx="182880" cy="0"/>
          </a:xfrm>
          <a:prstGeom prst="line">
            <a:avLst/>
          </a:prstGeom>
          <a:ln w="13970">
            <a:solidFill>
              <a:srgbClr val="8785A8"/>
            </a:solidFill>
            <a:tailEnd type="triangle" w="med" len="med"/>
          </a:ln>
          <a:effectLst/>
        </p:spPr>
      </p:cxnSp>
      <p:cxnSp>
        <p:nvCxnSpPr>
          <p:cNvPr id="240" name="Connector 239"/>
          <p:cNvCxnSpPr/>
          <p:nvPr/>
        </p:nvCxnSpPr>
        <p:spPr>
          <a:xfrm>
            <a:off x="1792224" y="4251960"/>
            <a:ext cx="0" cy="9144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41" name="Connector 240"/>
          <p:cNvCxnSpPr/>
          <p:nvPr/>
        </p:nvCxnSpPr>
        <p:spPr>
          <a:xfrm>
            <a:off x="1837943" y="4251960"/>
            <a:ext cx="0" cy="9144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42" name="Connector 241"/>
          <p:cNvCxnSpPr/>
          <p:nvPr/>
        </p:nvCxnSpPr>
        <p:spPr>
          <a:xfrm>
            <a:off x="1819656" y="4297680"/>
            <a:ext cx="100584" cy="50292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43" name="Connector 242"/>
          <p:cNvCxnSpPr/>
          <p:nvPr/>
        </p:nvCxnSpPr>
        <p:spPr>
          <a:xfrm flipV="1">
            <a:off x="1819656" y="4247388"/>
            <a:ext cx="100584" cy="50292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sp>
        <p:nvSpPr>
          <p:cNvPr id="244" name="Oval 243"/>
          <p:cNvSpPr/>
          <p:nvPr/>
        </p:nvSpPr>
        <p:spPr>
          <a:xfrm>
            <a:off x="1736445" y="4273905"/>
            <a:ext cx="47548" cy="47548"/>
          </a:xfrm>
          <a:prstGeom prst="ellipse">
            <a:avLst/>
          </a:prstGeom>
          <a:noFill/>
          <a:ln w="12700">
            <a:solidFill>
              <a:srgbClr val="87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5" name="Connector 244"/>
          <p:cNvCxnSpPr/>
          <p:nvPr/>
        </p:nvCxnSpPr>
        <p:spPr>
          <a:xfrm>
            <a:off x="3337560" y="4297680"/>
            <a:ext cx="182880" cy="0"/>
          </a:xfrm>
          <a:prstGeom prst="line">
            <a:avLst/>
          </a:prstGeom>
          <a:ln w="13970">
            <a:solidFill>
              <a:srgbClr val="8785A8"/>
            </a:solidFill>
            <a:tailEnd type="triangle" w="med" len="med"/>
          </a:ln>
          <a:effectLst/>
        </p:spPr>
      </p:cxnSp>
      <p:cxnSp>
        <p:nvCxnSpPr>
          <p:cNvPr id="246" name="Connector 245"/>
          <p:cNvCxnSpPr/>
          <p:nvPr/>
        </p:nvCxnSpPr>
        <p:spPr>
          <a:xfrm>
            <a:off x="3392424" y="4251960"/>
            <a:ext cx="0" cy="9144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47" name="Connector 246"/>
          <p:cNvCxnSpPr/>
          <p:nvPr/>
        </p:nvCxnSpPr>
        <p:spPr>
          <a:xfrm>
            <a:off x="3438144" y="4251960"/>
            <a:ext cx="0" cy="9144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48" name="Connector 247"/>
          <p:cNvCxnSpPr/>
          <p:nvPr/>
        </p:nvCxnSpPr>
        <p:spPr>
          <a:xfrm>
            <a:off x="3419856" y="4297680"/>
            <a:ext cx="100584" cy="50292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49" name="Connector 248"/>
          <p:cNvCxnSpPr/>
          <p:nvPr/>
        </p:nvCxnSpPr>
        <p:spPr>
          <a:xfrm flipV="1">
            <a:off x="3419856" y="4247388"/>
            <a:ext cx="100584" cy="50292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sp>
        <p:nvSpPr>
          <p:cNvPr id="250" name="Oval 249"/>
          <p:cNvSpPr/>
          <p:nvPr/>
        </p:nvSpPr>
        <p:spPr>
          <a:xfrm>
            <a:off x="3336645" y="4273905"/>
            <a:ext cx="47548" cy="47548"/>
          </a:xfrm>
          <a:prstGeom prst="ellipse">
            <a:avLst/>
          </a:prstGeom>
          <a:noFill/>
          <a:ln w="12700">
            <a:solidFill>
              <a:srgbClr val="87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1" name="Connector 250"/>
          <p:cNvCxnSpPr/>
          <p:nvPr/>
        </p:nvCxnSpPr>
        <p:spPr>
          <a:xfrm flipV="1">
            <a:off x="640080" y="3794760"/>
            <a:ext cx="0" cy="82296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52" name="Connector 251"/>
          <p:cNvCxnSpPr/>
          <p:nvPr/>
        </p:nvCxnSpPr>
        <p:spPr>
          <a:xfrm>
            <a:off x="640080" y="3794760"/>
            <a:ext cx="5312664" cy="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53" name="Connector 252"/>
          <p:cNvCxnSpPr/>
          <p:nvPr/>
        </p:nvCxnSpPr>
        <p:spPr>
          <a:xfrm>
            <a:off x="5952744" y="3794760"/>
            <a:ext cx="0" cy="82296"/>
          </a:xfrm>
          <a:prstGeom prst="line">
            <a:avLst/>
          </a:prstGeom>
          <a:ln w="13970">
            <a:solidFill>
              <a:srgbClr val="8785A8"/>
            </a:solidFill>
            <a:tailEnd type="triangle" w="med" len="med"/>
          </a:ln>
          <a:effectLst/>
        </p:spPr>
      </p:cxnSp>
      <p:cxnSp>
        <p:nvCxnSpPr>
          <p:cNvPr id="254" name="Connector 253"/>
          <p:cNvCxnSpPr/>
          <p:nvPr/>
        </p:nvCxnSpPr>
        <p:spPr>
          <a:xfrm>
            <a:off x="594359" y="3822192"/>
            <a:ext cx="91441" cy="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55" name="Connector 254"/>
          <p:cNvCxnSpPr/>
          <p:nvPr/>
        </p:nvCxnSpPr>
        <p:spPr>
          <a:xfrm>
            <a:off x="594359" y="3776472"/>
            <a:ext cx="91441" cy="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56" name="Connector 255"/>
          <p:cNvCxnSpPr/>
          <p:nvPr/>
        </p:nvCxnSpPr>
        <p:spPr>
          <a:xfrm flipH="1">
            <a:off x="5902452" y="3776472"/>
            <a:ext cx="50292" cy="100584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57" name="Connector 256"/>
          <p:cNvCxnSpPr/>
          <p:nvPr/>
        </p:nvCxnSpPr>
        <p:spPr>
          <a:xfrm>
            <a:off x="5952744" y="3776472"/>
            <a:ext cx="50292" cy="100584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sp>
        <p:nvSpPr>
          <p:cNvPr id="258" name="Oval 257"/>
          <p:cNvSpPr/>
          <p:nvPr/>
        </p:nvSpPr>
        <p:spPr>
          <a:xfrm>
            <a:off x="5928969" y="3693261"/>
            <a:ext cx="47548" cy="47548"/>
          </a:xfrm>
          <a:prstGeom prst="ellipse">
            <a:avLst/>
          </a:prstGeom>
          <a:noFill/>
          <a:ln w="12700">
            <a:solidFill>
              <a:srgbClr val="87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9" name="Connector 258"/>
          <p:cNvCxnSpPr/>
          <p:nvPr/>
        </p:nvCxnSpPr>
        <p:spPr>
          <a:xfrm>
            <a:off x="1792224" y="3255264"/>
            <a:ext cx="182880" cy="0"/>
          </a:xfrm>
          <a:prstGeom prst="line">
            <a:avLst/>
          </a:prstGeom>
          <a:ln w="13970">
            <a:solidFill>
              <a:srgbClr val="8785A8"/>
            </a:solidFill>
            <a:tailEnd type="triangle" w="med" len="med"/>
          </a:ln>
          <a:effectLst/>
        </p:spPr>
      </p:cxnSp>
      <p:cxnSp>
        <p:nvCxnSpPr>
          <p:cNvPr id="260" name="Connector 259"/>
          <p:cNvCxnSpPr/>
          <p:nvPr/>
        </p:nvCxnSpPr>
        <p:spPr>
          <a:xfrm>
            <a:off x="1847088" y="3209544"/>
            <a:ext cx="0" cy="9144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61" name="Connector 260"/>
          <p:cNvCxnSpPr/>
          <p:nvPr/>
        </p:nvCxnSpPr>
        <p:spPr>
          <a:xfrm>
            <a:off x="1892807" y="3209544"/>
            <a:ext cx="0" cy="9144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62" name="Connector 261"/>
          <p:cNvCxnSpPr/>
          <p:nvPr/>
        </p:nvCxnSpPr>
        <p:spPr>
          <a:xfrm>
            <a:off x="1874520" y="3255264"/>
            <a:ext cx="100584" cy="50292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63" name="Connector 262"/>
          <p:cNvCxnSpPr/>
          <p:nvPr/>
        </p:nvCxnSpPr>
        <p:spPr>
          <a:xfrm flipV="1">
            <a:off x="1874520" y="3204972"/>
            <a:ext cx="100584" cy="50292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sp>
        <p:nvSpPr>
          <p:cNvPr id="264" name="Oval 263"/>
          <p:cNvSpPr/>
          <p:nvPr/>
        </p:nvSpPr>
        <p:spPr>
          <a:xfrm>
            <a:off x="1791309" y="3231489"/>
            <a:ext cx="47548" cy="47548"/>
          </a:xfrm>
          <a:prstGeom prst="ellipse">
            <a:avLst/>
          </a:prstGeom>
          <a:noFill/>
          <a:ln w="12700">
            <a:solidFill>
              <a:srgbClr val="87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5" name="Connector 264"/>
          <p:cNvCxnSpPr/>
          <p:nvPr/>
        </p:nvCxnSpPr>
        <p:spPr>
          <a:xfrm flipV="1">
            <a:off x="6309360" y="1728216"/>
            <a:ext cx="0" cy="9144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66" name="Connector 265"/>
          <p:cNvCxnSpPr/>
          <p:nvPr/>
        </p:nvCxnSpPr>
        <p:spPr>
          <a:xfrm>
            <a:off x="6309360" y="1728216"/>
            <a:ext cx="5577840" cy="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67" name="Connector 266"/>
          <p:cNvCxnSpPr/>
          <p:nvPr/>
        </p:nvCxnSpPr>
        <p:spPr>
          <a:xfrm>
            <a:off x="11887200" y="1728216"/>
            <a:ext cx="0" cy="2569464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68" name="Connector 267"/>
          <p:cNvCxnSpPr/>
          <p:nvPr/>
        </p:nvCxnSpPr>
        <p:spPr>
          <a:xfrm flipH="1">
            <a:off x="10085832" y="4297680"/>
            <a:ext cx="1801368" cy="0"/>
          </a:xfrm>
          <a:prstGeom prst="line">
            <a:avLst/>
          </a:prstGeom>
          <a:ln w="13970">
            <a:solidFill>
              <a:srgbClr val="8785A8"/>
            </a:solidFill>
            <a:tailEnd type="triangle" w="med" len="med"/>
          </a:ln>
          <a:effectLst/>
        </p:spPr>
      </p:cxnSp>
      <p:cxnSp>
        <p:nvCxnSpPr>
          <p:cNvPr id="269" name="Connector 268"/>
          <p:cNvCxnSpPr/>
          <p:nvPr/>
        </p:nvCxnSpPr>
        <p:spPr>
          <a:xfrm>
            <a:off x="6263640" y="1682495"/>
            <a:ext cx="91440" cy="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70" name="Connector 269"/>
          <p:cNvCxnSpPr/>
          <p:nvPr/>
        </p:nvCxnSpPr>
        <p:spPr>
          <a:xfrm>
            <a:off x="6263640" y="1636775"/>
            <a:ext cx="91440" cy="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71" name="Connector 270"/>
          <p:cNvCxnSpPr/>
          <p:nvPr/>
        </p:nvCxnSpPr>
        <p:spPr>
          <a:xfrm flipH="1" flipV="1">
            <a:off x="10085832" y="4247388"/>
            <a:ext cx="100583" cy="50292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72" name="Connector 271"/>
          <p:cNvCxnSpPr/>
          <p:nvPr/>
        </p:nvCxnSpPr>
        <p:spPr>
          <a:xfrm flipH="1">
            <a:off x="10085832" y="4297680"/>
            <a:ext cx="100583" cy="50292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sp>
        <p:nvSpPr>
          <p:cNvPr id="273" name="Oval 272"/>
          <p:cNvSpPr/>
          <p:nvPr/>
        </p:nvSpPr>
        <p:spPr>
          <a:xfrm>
            <a:off x="10222077" y="4273905"/>
            <a:ext cx="47548" cy="47548"/>
          </a:xfrm>
          <a:prstGeom prst="ellipse">
            <a:avLst/>
          </a:prstGeom>
          <a:noFill/>
          <a:ln w="12700">
            <a:solidFill>
              <a:srgbClr val="87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4" name="Connector 273"/>
          <p:cNvCxnSpPr/>
          <p:nvPr/>
        </p:nvCxnSpPr>
        <p:spPr>
          <a:xfrm>
            <a:off x="7607808" y="1938528"/>
            <a:ext cx="91440" cy="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75" name="Connector 274"/>
          <p:cNvCxnSpPr/>
          <p:nvPr/>
        </p:nvCxnSpPr>
        <p:spPr>
          <a:xfrm flipV="1">
            <a:off x="7699248" y="1673352"/>
            <a:ext cx="0" cy="265176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76" name="Connector 275"/>
          <p:cNvCxnSpPr/>
          <p:nvPr/>
        </p:nvCxnSpPr>
        <p:spPr>
          <a:xfrm>
            <a:off x="7699248" y="1673352"/>
            <a:ext cx="3639312" cy="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77" name="Connector 276"/>
          <p:cNvCxnSpPr/>
          <p:nvPr/>
        </p:nvCxnSpPr>
        <p:spPr>
          <a:xfrm>
            <a:off x="11338560" y="1673352"/>
            <a:ext cx="0" cy="2148839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78" name="Connector 277"/>
          <p:cNvCxnSpPr/>
          <p:nvPr/>
        </p:nvCxnSpPr>
        <p:spPr>
          <a:xfrm flipH="1">
            <a:off x="7607808" y="3822191"/>
            <a:ext cx="3730752" cy="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79" name="Connector 278"/>
          <p:cNvCxnSpPr/>
          <p:nvPr/>
        </p:nvCxnSpPr>
        <p:spPr>
          <a:xfrm>
            <a:off x="7607808" y="3822191"/>
            <a:ext cx="0" cy="54865"/>
          </a:xfrm>
          <a:prstGeom prst="line">
            <a:avLst/>
          </a:prstGeom>
          <a:ln w="13970">
            <a:solidFill>
              <a:srgbClr val="8785A8"/>
            </a:solidFill>
            <a:tailEnd type="triangle" w="med" len="med"/>
          </a:ln>
          <a:effectLst/>
        </p:spPr>
      </p:cxnSp>
      <p:cxnSp>
        <p:nvCxnSpPr>
          <p:cNvPr id="280" name="Connector 279"/>
          <p:cNvCxnSpPr/>
          <p:nvPr/>
        </p:nvCxnSpPr>
        <p:spPr>
          <a:xfrm>
            <a:off x="7662672" y="1892808"/>
            <a:ext cx="0" cy="9144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81" name="Connector 280"/>
          <p:cNvCxnSpPr/>
          <p:nvPr/>
        </p:nvCxnSpPr>
        <p:spPr>
          <a:xfrm>
            <a:off x="7708392" y="1892808"/>
            <a:ext cx="0" cy="9144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82" name="Connector 281"/>
          <p:cNvCxnSpPr/>
          <p:nvPr/>
        </p:nvCxnSpPr>
        <p:spPr>
          <a:xfrm flipH="1">
            <a:off x="7557516" y="3776472"/>
            <a:ext cx="50292" cy="100584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83" name="Connector 282"/>
          <p:cNvCxnSpPr/>
          <p:nvPr/>
        </p:nvCxnSpPr>
        <p:spPr>
          <a:xfrm>
            <a:off x="7607808" y="3776472"/>
            <a:ext cx="50292" cy="100584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sp>
        <p:nvSpPr>
          <p:cNvPr id="284" name="Oval 283"/>
          <p:cNvSpPr/>
          <p:nvPr/>
        </p:nvSpPr>
        <p:spPr>
          <a:xfrm>
            <a:off x="7584033" y="3693261"/>
            <a:ext cx="47548" cy="47548"/>
          </a:xfrm>
          <a:prstGeom prst="ellipse">
            <a:avLst/>
          </a:prstGeom>
          <a:noFill/>
          <a:ln w="12700">
            <a:solidFill>
              <a:srgbClr val="87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5" name="Connector 284"/>
          <p:cNvCxnSpPr/>
          <p:nvPr/>
        </p:nvCxnSpPr>
        <p:spPr>
          <a:xfrm>
            <a:off x="7132320" y="4718304"/>
            <a:ext cx="0" cy="9144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86" name="Connector 285"/>
          <p:cNvCxnSpPr/>
          <p:nvPr/>
        </p:nvCxnSpPr>
        <p:spPr>
          <a:xfrm flipH="1">
            <a:off x="6080760" y="4809744"/>
            <a:ext cx="1051560" cy="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87" name="Connector 286"/>
          <p:cNvCxnSpPr/>
          <p:nvPr/>
        </p:nvCxnSpPr>
        <p:spPr>
          <a:xfrm>
            <a:off x="6080760" y="4809744"/>
            <a:ext cx="0" cy="91440"/>
          </a:xfrm>
          <a:prstGeom prst="line">
            <a:avLst/>
          </a:prstGeom>
          <a:ln w="13970">
            <a:solidFill>
              <a:srgbClr val="8785A8"/>
            </a:solidFill>
            <a:tailEnd type="triangle" w="med" len="med"/>
          </a:ln>
          <a:effectLst/>
        </p:spPr>
      </p:cxnSp>
      <p:cxnSp>
        <p:nvCxnSpPr>
          <p:cNvPr id="288" name="Connector 287"/>
          <p:cNvCxnSpPr/>
          <p:nvPr/>
        </p:nvCxnSpPr>
        <p:spPr>
          <a:xfrm flipH="1">
            <a:off x="7086600" y="4773168"/>
            <a:ext cx="91440" cy="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89" name="Connector 288"/>
          <p:cNvCxnSpPr/>
          <p:nvPr/>
        </p:nvCxnSpPr>
        <p:spPr>
          <a:xfrm flipH="1">
            <a:off x="7086600" y="4818888"/>
            <a:ext cx="91440" cy="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90" name="Connector 289"/>
          <p:cNvCxnSpPr/>
          <p:nvPr/>
        </p:nvCxnSpPr>
        <p:spPr>
          <a:xfrm flipH="1">
            <a:off x="6030468" y="4800600"/>
            <a:ext cx="50292" cy="100584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91" name="Connector 290"/>
          <p:cNvCxnSpPr/>
          <p:nvPr/>
        </p:nvCxnSpPr>
        <p:spPr>
          <a:xfrm>
            <a:off x="6080760" y="4800600"/>
            <a:ext cx="50292" cy="100584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sp>
        <p:nvSpPr>
          <p:cNvPr id="292" name="Oval 291"/>
          <p:cNvSpPr/>
          <p:nvPr/>
        </p:nvSpPr>
        <p:spPr>
          <a:xfrm>
            <a:off x="6056985" y="4717389"/>
            <a:ext cx="47548" cy="47548"/>
          </a:xfrm>
          <a:prstGeom prst="ellipse">
            <a:avLst/>
          </a:prstGeom>
          <a:noFill/>
          <a:ln w="12700">
            <a:solidFill>
              <a:srgbClr val="87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3" name="Connector 292"/>
          <p:cNvCxnSpPr/>
          <p:nvPr/>
        </p:nvCxnSpPr>
        <p:spPr>
          <a:xfrm>
            <a:off x="7863840" y="4718304"/>
            <a:ext cx="0" cy="9144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94" name="Connector 293"/>
          <p:cNvCxnSpPr/>
          <p:nvPr/>
        </p:nvCxnSpPr>
        <p:spPr>
          <a:xfrm flipH="1">
            <a:off x="7680960" y="4809744"/>
            <a:ext cx="182880" cy="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95" name="Connector 294"/>
          <p:cNvCxnSpPr/>
          <p:nvPr/>
        </p:nvCxnSpPr>
        <p:spPr>
          <a:xfrm>
            <a:off x="7680960" y="4809744"/>
            <a:ext cx="0" cy="91440"/>
          </a:xfrm>
          <a:prstGeom prst="line">
            <a:avLst/>
          </a:prstGeom>
          <a:ln w="13970">
            <a:solidFill>
              <a:srgbClr val="8785A8"/>
            </a:solidFill>
            <a:tailEnd type="triangle" w="med" len="med"/>
          </a:ln>
          <a:effectLst/>
        </p:spPr>
      </p:cxnSp>
      <p:cxnSp>
        <p:nvCxnSpPr>
          <p:cNvPr id="296" name="Connector 295"/>
          <p:cNvCxnSpPr/>
          <p:nvPr/>
        </p:nvCxnSpPr>
        <p:spPr>
          <a:xfrm flipH="1">
            <a:off x="7818119" y="4773168"/>
            <a:ext cx="91441" cy="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97" name="Connector 296"/>
          <p:cNvCxnSpPr/>
          <p:nvPr/>
        </p:nvCxnSpPr>
        <p:spPr>
          <a:xfrm flipH="1">
            <a:off x="7818119" y="4818888"/>
            <a:ext cx="91441" cy="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98" name="Connector 297"/>
          <p:cNvCxnSpPr/>
          <p:nvPr/>
        </p:nvCxnSpPr>
        <p:spPr>
          <a:xfrm flipH="1">
            <a:off x="7630668" y="4800600"/>
            <a:ext cx="50292" cy="100584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299" name="Connector 298"/>
          <p:cNvCxnSpPr/>
          <p:nvPr/>
        </p:nvCxnSpPr>
        <p:spPr>
          <a:xfrm>
            <a:off x="7680960" y="4800600"/>
            <a:ext cx="50292" cy="100584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sp>
        <p:nvSpPr>
          <p:cNvPr id="300" name="Oval 299"/>
          <p:cNvSpPr/>
          <p:nvPr/>
        </p:nvSpPr>
        <p:spPr>
          <a:xfrm>
            <a:off x="7657185" y="4717389"/>
            <a:ext cx="47548" cy="47548"/>
          </a:xfrm>
          <a:prstGeom prst="ellipse">
            <a:avLst/>
          </a:prstGeom>
          <a:noFill/>
          <a:ln w="12700">
            <a:solidFill>
              <a:srgbClr val="87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1" name="Connector 300"/>
          <p:cNvCxnSpPr/>
          <p:nvPr/>
        </p:nvCxnSpPr>
        <p:spPr>
          <a:xfrm>
            <a:off x="8138160" y="4718304"/>
            <a:ext cx="0" cy="128016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302" name="Connector 301"/>
          <p:cNvCxnSpPr/>
          <p:nvPr/>
        </p:nvCxnSpPr>
        <p:spPr>
          <a:xfrm>
            <a:off x="8138160" y="4846320"/>
            <a:ext cx="1124712" cy="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303" name="Connector 302"/>
          <p:cNvCxnSpPr/>
          <p:nvPr/>
        </p:nvCxnSpPr>
        <p:spPr>
          <a:xfrm>
            <a:off x="9262872" y="4846320"/>
            <a:ext cx="0" cy="54864"/>
          </a:xfrm>
          <a:prstGeom prst="line">
            <a:avLst/>
          </a:prstGeom>
          <a:ln w="13970">
            <a:solidFill>
              <a:srgbClr val="8785A8"/>
            </a:solidFill>
            <a:tailEnd type="triangle" w="med" len="med"/>
          </a:ln>
          <a:effectLst/>
        </p:spPr>
      </p:cxnSp>
      <p:cxnSp>
        <p:nvCxnSpPr>
          <p:cNvPr id="304" name="Connector 303"/>
          <p:cNvCxnSpPr/>
          <p:nvPr/>
        </p:nvCxnSpPr>
        <p:spPr>
          <a:xfrm flipH="1">
            <a:off x="8092440" y="4773168"/>
            <a:ext cx="91440" cy="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305" name="Connector 304"/>
          <p:cNvCxnSpPr/>
          <p:nvPr/>
        </p:nvCxnSpPr>
        <p:spPr>
          <a:xfrm flipH="1">
            <a:off x="8092440" y="4818888"/>
            <a:ext cx="91440" cy="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306" name="Connector 305"/>
          <p:cNvCxnSpPr/>
          <p:nvPr/>
        </p:nvCxnSpPr>
        <p:spPr>
          <a:xfrm flipH="1">
            <a:off x="9212580" y="4800600"/>
            <a:ext cx="50292" cy="100584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307" name="Connector 306"/>
          <p:cNvCxnSpPr/>
          <p:nvPr/>
        </p:nvCxnSpPr>
        <p:spPr>
          <a:xfrm>
            <a:off x="9262872" y="4800600"/>
            <a:ext cx="50292" cy="100584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sp>
        <p:nvSpPr>
          <p:cNvPr id="308" name="Oval 307"/>
          <p:cNvSpPr/>
          <p:nvPr/>
        </p:nvSpPr>
        <p:spPr>
          <a:xfrm>
            <a:off x="9239097" y="4717389"/>
            <a:ext cx="47548" cy="47548"/>
          </a:xfrm>
          <a:prstGeom prst="ellipse">
            <a:avLst/>
          </a:prstGeom>
          <a:noFill/>
          <a:ln w="12700">
            <a:solidFill>
              <a:srgbClr val="87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9" name="Connector 308"/>
          <p:cNvCxnSpPr/>
          <p:nvPr/>
        </p:nvCxnSpPr>
        <p:spPr>
          <a:xfrm>
            <a:off x="1737360" y="5321808"/>
            <a:ext cx="146304" cy="0"/>
          </a:xfrm>
          <a:prstGeom prst="line">
            <a:avLst/>
          </a:prstGeom>
          <a:ln w="13970">
            <a:solidFill>
              <a:srgbClr val="8785A8"/>
            </a:solidFill>
            <a:tailEnd type="triangle" w="med" len="med"/>
          </a:ln>
          <a:effectLst/>
        </p:spPr>
      </p:cxnSp>
      <p:cxnSp>
        <p:nvCxnSpPr>
          <p:cNvPr id="310" name="Connector 309"/>
          <p:cNvCxnSpPr/>
          <p:nvPr/>
        </p:nvCxnSpPr>
        <p:spPr>
          <a:xfrm>
            <a:off x="1792224" y="5276088"/>
            <a:ext cx="0" cy="9144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311" name="Connector 310"/>
          <p:cNvCxnSpPr/>
          <p:nvPr/>
        </p:nvCxnSpPr>
        <p:spPr>
          <a:xfrm>
            <a:off x="1837943" y="5276088"/>
            <a:ext cx="0" cy="9144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312" name="Connector 311"/>
          <p:cNvCxnSpPr/>
          <p:nvPr/>
        </p:nvCxnSpPr>
        <p:spPr>
          <a:xfrm>
            <a:off x="1783080" y="5321808"/>
            <a:ext cx="100584" cy="50292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313" name="Connector 312"/>
          <p:cNvCxnSpPr/>
          <p:nvPr/>
        </p:nvCxnSpPr>
        <p:spPr>
          <a:xfrm flipV="1">
            <a:off x="1783080" y="5271516"/>
            <a:ext cx="100584" cy="50292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sp>
        <p:nvSpPr>
          <p:cNvPr id="314" name="Oval 313"/>
          <p:cNvSpPr/>
          <p:nvPr/>
        </p:nvSpPr>
        <p:spPr>
          <a:xfrm>
            <a:off x="1699869" y="5298033"/>
            <a:ext cx="47548" cy="47548"/>
          </a:xfrm>
          <a:prstGeom prst="ellipse">
            <a:avLst/>
          </a:prstGeom>
          <a:noFill/>
          <a:ln w="12700">
            <a:solidFill>
              <a:srgbClr val="87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5" name="Connector 314"/>
          <p:cNvCxnSpPr/>
          <p:nvPr/>
        </p:nvCxnSpPr>
        <p:spPr>
          <a:xfrm>
            <a:off x="3456432" y="5321808"/>
            <a:ext cx="182880" cy="0"/>
          </a:xfrm>
          <a:prstGeom prst="line">
            <a:avLst/>
          </a:prstGeom>
          <a:ln w="13970">
            <a:solidFill>
              <a:srgbClr val="8785A8"/>
            </a:solidFill>
            <a:tailEnd type="triangle" w="med" len="med"/>
          </a:ln>
          <a:effectLst/>
        </p:spPr>
      </p:cxnSp>
      <p:cxnSp>
        <p:nvCxnSpPr>
          <p:cNvPr id="316" name="Connector 315"/>
          <p:cNvCxnSpPr/>
          <p:nvPr/>
        </p:nvCxnSpPr>
        <p:spPr>
          <a:xfrm>
            <a:off x="3511296" y="5276088"/>
            <a:ext cx="0" cy="9144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317" name="Connector 316"/>
          <p:cNvCxnSpPr/>
          <p:nvPr/>
        </p:nvCxnSpPr>
        <p:spPr>
          <a:xfrm>
            <a:off x="3557015" y="5276088"/>
            <a:ext cx="0" cy="9144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318" name="Connector 317"/>
          <p:cNvCxnSpPr/>
          <p:nvPr/>
        </p:nvCxnSpPr>
        <p:spPr>
          <a:xfrm>
            <a:off x="3538728" y="5321808"/>
            <a:ext cx="100584" cy="50292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319" name="Connector 318"/>
          <p:cNvCxnSpPr/>
          <p:nvPr/>
        </p:nvCxnSpPr>
        <p:spPr>
          <a:xfrm flipV="1">
            <a:off x="3538728" y="5271516"/>
            <a:ext cx="100584" cy="50292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sp>
        <p:nvSpPr>
          <p:cNvPr id="320" name="Oval 319"/>
          <p:cNvSpPr/>
          <p:nvPr/>
        </p:nvSpPr>
        <p:spPr>
          <a:xfrm>
            <a:off x="3455517" y="5298033"/>
            <a:ext cx="47548" cy="47548"/>
          </a:xfrm>
          <a:prstGeom prst="ellipse">
            <a:avLst/>
          </a:prstGeom>
          <a:noFill/>
          <a:ln w="12700">
            <a:solidFill>
              <a:srgbClr val="87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1" name="Connector 320"/>
          <p:cNvCxnSpPr/>
          <p:nvPr/>
        </p:nvCxnSpPr>
        <p:spPr>
          <a:xfrm flipV="1">
            <a:off x="2670048" y="4809744"/>
            <a:ext cx="0" cy="9144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322" name="Connector 321"/>
          <p:cNvCxnSpPr/>
          <p:nvPr/>
        </p:nvCxnSpPr>
        <p:spPr>
          <a:xfrm>
            <a:off x="2670048" y="4809744"/>
            <a:ext cx="758952" cy="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323" name="Connector 322"/>
          <p:cNvCxnSpPr/>
          <p:nvPr/>
        </p:nvCxnSpPr>
        <p:spPr>
          <a:xfrm flipV="1">
            <a:off x="3429000" y="3858768"/>
            <a:ext cx="0" cy="950976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324" name="Connector 323"/>
          <p:cNvCxnSpPr/>
          <p:nvPr/>
        </p:nvCxnSpPr>
        <p:spPr>
          <a:xfrm>
            <a:off x="3429000" y="3858768"/>
            <a:ext cx="502920" cy="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325" name="Connector 324"/>
          <p:cNvCxnSpPr/>
          <p:nvPr/>
        </p:nvCxnSpPr>
        <p:spPr>
          <a:xfrm flipV="1">
            <a:off x="3931920" y="3767328"/>
            <a:ext cx="0" cy="91440"/>
          </a:xfrm>
          <a:prstGeom prst="line">
            <a:avLst/>
          </a:prstGeom>
          <a:ln w="13970">
            <a:solidFill>
              <a:srgbClr val="8785A8"/>
            </a:solidFill>
            <a:tailEnd type="triangle" w="med" len="med"/>
          </a:ln>
          <a:effectLst/>
        </p:spPr>
      </p:cxnSp>
      <p:cxnSp>
        <p:nvCxnSpPr>
          <p:cNvPr id="326" name="Connector 325"/>
          <p:cNvCxnSpPr/>
          <p:nvPr/>
        </p:nvCxnSpPr>
        <p:spPr>
          <a:xfrm>
            <a:off x="2624328" y="4846320"/>
            <a:ext cx="91440" cy="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327" name="Connector 326"/>
          <p:cNvCxnSpPr/>
          <p:nvPr/>
        </p:nvCxnSpPr>
        <p:spPr>
          <a:xfrm>
            <a:off x="2624328" y="4800600"/>
            <a:ext cx="91440" cy="0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328" name="Connector 327"/>
          <p:cNvCxnSpPr/>
          <p:nvPr/>
        </p:nvCxnSpPr>
        <p:spPr>
          <a:xfrm flipV="1">
            <a:off x="3931920" y="3767328"/>
            <a:ext cx="50291" cy="100584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cxnSp>
        <p:nvCxnSpPr>
          <p:cNvPr id="329" name="Connector 328"/>
          <p:cNvCxnSpPr/>
          <p:nvPr/>
        </p:nvCxnSpPr>
        <p:spPr>
          <a:xfrm flipH="1" flipV="1">
            <a:off x="3881628" y="3767328"/>
            <a:ext cx="50292" cy="100584"/>
          </a:xfrm>
          <a:prstGeom prst="line">
            <a:avLst/>
          </a:prstGeom>
          <a:ln w="13970">
            <a:solidFill>
              <a:srgbClr val="8785A8"/>
            </a:solidFill>
          </a:ln>
          <a:effectLst/>
        </p:spPr>
      </p:cxnSp>
      <p:sp>
        <p:nvSpPr>
          <p:cNvPr id="330" name="Oval 329"/>
          <p:cNvSpPr/>
          <p:nvPr/>
        </p:nvSpPr>
        <p:spPr>
          <a:xfrm>
            <a:off x="3908145" y="3903573"/>
            <a:ext cx="47548" cy="47548"/>
          </a:xfrm>
          <a:prstGeom prst="ellipse">
            <a:avLst/>
          </a:prstGeom>
          <a:noFill/>
          <a:ln w="12700">
            <a:solidFill>
              <a:srgbClr val="87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TextBox 330"/>
          <p:cNvSpPr txBox="1"/>
          <p:nvPr/>
        </p:nvSpPr>
        <p:spPr>
          <a:xfrm>
            <a:off x="2761488" y="4828032"/>
            <a:ext cx="82296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00" b="1" i="0">
                <a:solidFill>
                  <a:srgbClr val="64748B"/>
                </a:solidFill>
                <a:latin typeface="Segoe UI"/>
                <a:ea typeface="Microsoft YaHei"/>
              </a:rPr>
              <a:t>到期触发</a:t>
            </a:r>
          </a:p>
        </p:txBody>
      </p:sp>
      <p:sp>
        <p:nvSpPr>
          <p:cNvPr id="332" name="Rounded Rectangle 331"/>
          <p:cNvSpPr/>
          <p:nvPr/>
        </p:nvSpPr>
        <p:spPr>
          <a:xfrm>
            <a:off x="6949440" y="5961888"/>
            <a:ext cx="4846320" cy="566928"/>
          </a:xfrm>
          <a:prstGeom prst="roundRect">
            <a:avLst>
              <a:gd name="adj" fmla="val 8064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7095744" y="6035040"/>
            <a:ext cx="4572000" cy="4206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F172A"/>
                </a:solidFill>
                <a:latin typeface="Segoe UI"/>
                <a:ea typeface="Microsoft YaHei"/>
              </a:rPr>
              <a:t>记号：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[PK] 主键 · [UK] 唯一键 · [FK] 外键　｜　连线：∥ 一端 · 鸦爪+○ 多端（一对多）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销毁回路：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retention_assignment 到期触发 sync_job(DESTROY)，审批留痕 destroy_approval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方案 B2 架构图集</dc:title>
  <dc:subject/>
  <dc:creator>RIMS 退役归档平台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