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"/>
            <a:ext cx="12191695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0" y="1188720"/>
            <a:ext cx="5102352" cy="5394960"/>
          </a:xfrm>
          <a:prstGeom prst="roundRect">
            <a:avLst>
              <a:gd name="adj" fmla="val 44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0" y="1691640"/>
            <a:ext cx="4343400" cy="4343400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36992" y="2212848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2212848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访问入口 · 查询 / 审计 / 运维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65792" y="2688336"/>
            <a:ext cx="0" cy="32004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936992" y="300837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300837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自研应用层 · AKS（React + .NET）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32520" y="3483864"/>
            <a:ext cx="0" cy="29260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0799064" y="3483864"/>
            <a:ext cx="0" cy="292608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793699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写侧 · Databricks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151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读侧 · Serverless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65792" y="4251960"/>
            <a:ext cx="0" cy="310896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936992" y="456285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56285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E40AF"/>
                </a:solidFill>
                <a:latin typeface="Segoe UI"/>
                <a:ea typeface="Microsoft YaHei"/>
              </a:rPr>
              <a:t>ADLS Gen2 · Iceberg 湖仓 + Blob 附件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6992" y="52303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4A3B8"/>
                </a:solidFill>
                <a:latin typeface="Segoe UI"/>
                <a:ea typeface="Microsoft YaHei"/>
              </a:rPr>
              <a:t>存算分离 · 私有端点 · 合规销毁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4173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64748B"/>
                </a:solidFill>
                <a:latin typeface="Segoe UI"/>
                <a:ea typeface="Microsoft YaHei"/>
              </a:rPr>
              <a:t>RIMS 退役归档平台 · 方案 B2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755648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Segoe UI"/>
                <a:ea typeface="Microsoft YaHei"/>
              </a:rPr>
              <a:t>湖仓一体架构图集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615184"/>
            <a:ext cx="566928" cy="41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276148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  <a:ea typeface="Microsoft YaHei"/>
              </a:rPr>
              <a:t>三张核心架构图 · 全部以 PPT 原生形状绘制，文字 / 颜色 / 位置均可直接编辑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310128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" y="343814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43814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78D4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429000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72768" y="36941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VNet · AKS · Databricks Serverless · NCC 私有端点 · 六大 PaaS 服务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" y="4169664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" y="4297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42976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59669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72768" y="4288536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553712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访问入口 → 自研应用层（AKS）→ 写 / 读 / 附件三条链路 → 数据底座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" y="5029200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9264" y="515721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515721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3AED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72768" y="5148072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413248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源系统 → 接入配置 → 抽取 → Iceberg 冷湖 → Databricks 读写一体计算层 → 消费入口 + 销毁回路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" y="6053328"/>
            <a:ext cx="5806440" cy="3200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6163056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4A3B8"/>
                </a:solidFill>
                <a:latin typeface="Segoe UI"/>
                <a:ea typeface="Microsoft YaHei"/>
              </a:rPr>
              <a:t>整理自 report/Architecture.html · 2026-08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603504"/>
            <a:ext cx="1847088" cy="1773936"/>
          </a:xfrm>
          <a:prstGeom prst="roundRect">
            <a:avLst>
              <a:gd name="adj" fmla="val 360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69494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Segoe UI"/>
                <a:ea typeface="Microsoft YaHei"/>
              </a:rPr>
              <a:t>技术栈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905256"/>
            <a:ext cx="274320" cy="228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00584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1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前端 · 配置化查询平台 React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17317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2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后端 · .NET 10（AKS 容器化）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134051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3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抽取 · Apache SeaTunnel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50784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4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编排 · Azure Data Factory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167518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5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表格式 · Apache Iceberg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184251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6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引擎 · Databricks Serverless（读写）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2009851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7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治理 · Unity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217718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D97706"/>
                </a:solidFill>
                <a:latin typeface="Segoe UI"/>
                <a:ea typeface="Microsoft YaHei"/>
              </a:rPr>
              <a:t>8  </a:t>
            </a: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附件迁移 · Azure Storage Mover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" y="2487168"/>
            <a:ext cx="1847088" cy="1810512"/>
          </a:xfrm>
          <a:prstGeom prst="roundRect">
            <a:avLst>
              <a:gd name="adj" fmla="val 353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" y="25603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47857"/>
                </a:solidFill>
                <a:latin typeface="Segoe UI"/>
                <a:ea typeface="Microsoft YaHei"/>
              </a:rPr>
              <a:t>终端用户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" y="27980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" y="27980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19" name="Oval 18"/>
          <p:cNvSpPr/>
          <p:nvPr/>
        </p:nvSpPr>
        <p:spPr>
          <a:xfrm>
            <a:off x="448330" y="29201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8167" y="29835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10896" y="32552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32552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23" name="Oval 22"/>
          <p:cNvSpPr/>
          <p:nvPr/>
        </p:nvSpPr>
        <p:spPr>
          <a:xfrm>
            <a:off x="448330" y="33773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8167" y="34407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10896" y="37124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" y="37124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监控 · 销毁作业值守</a:t>
            </a:r>
          </a:p>
        </p:txBody>
      </p:sp>
      <p:sp>
        <p:nvSpPr>
          <p:cNvPr id="27" name="Oval 26"/>
          <p:cNvSpPr/>
          <p:nvPr/>
        </p:nvSpPr>
        <p:spPr>
          <a:xfrm>
            <a:off x="448330" y="38345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8167" y="38979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11480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浏览器 HTTPS 443 · Entra ID 单点登录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76272" y="603504"/>
            <a:ext cx="568756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67665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75569"/>
                </a:solidFill>
                <a:latin typeface="Segoe UI"/>
                <a:ea typeface="Microsoft YaHei"/>
              </a:rPr>
              <a:t>源系统 · 15 套待退役业务系统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694944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Microsoft YaHei"/>
              </a:rPr>
              <a:t>退役窗口内只读 · 数据只出不进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225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500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Oracle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1521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855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4855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4855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1513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788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MySQL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3306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143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3143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3143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9801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076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DB2 / 其他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50000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431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1431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1431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322576" y="1481328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50008" y="148132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结构化抽取 · </a:t>
            </a:r>
            <a:r>
              <a:rPr sz="740" b="1" i="0">
                <a:solidFill>
                  <a:srgbClr val="EA580C"/>
                </a:solidFill>
                <a:latin typeface="Segoe UI"/>
                <a:ea typeface="Microsoft YaHei"/>
              </a:rPr>
              <a:t>Apache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仅读权限 · 按勾选的表抽取（10 选 5）· ADF 编排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84064" y="148132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11496" y="1481328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附件迁移 · </a:t>
            </a:r>
            <a:r>
              <a:rPr sz="740" b="1" i="0">
                <a:solidFill>
                  <a:srgbClr val="D97706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读 NFS / S3 / Blob 附件源 · 服务免费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22576" y="1920240"/>
            <a:ext cx="53949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跨机房链路：ExpressRoute / 站点到站点 VPN · 源库防火墙放行 NAT 固定出口 IP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91856" y="603504"/>
            <a:ext cx="1591056" cy="1463040"/>
          </a:xfrm>
          <a:prstGeom prst="roundRect">
            <a:avLst>
              <a:gd name="adj" fmla="val 4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01583" y="676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Microsoft YaHei"/>
              </a:rPr>
              <a:t>网络连通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01583" y="896112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ExpressRoute / S2S VPN 专线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01583" y="1161288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NAT 固定出口 IP 白名单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01583" y="1426464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PaaS 全私有端点 · 禁公网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01583" y="1691639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WAF + App Gateway 收敛入口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692640" y="603504"/>
            <a:ext cx="2304288" cy="3694176"/>
          </a:xfrm>
          <a:prstGeom prst="roundRect">
            <a:avLst>
              <a:gd name="adj" fmla="val 3174"/>
            </a:avLst>
          </a:prstGeom>
          <a:solidFill>
            <a:srgbClr val="FAF9FF"/>
          </a:solidFill>
          <a:ln w="17780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20656" y="69494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Segoe UI"/>
                <a:ea typeface="Microsoft YaHei"/>
              </a:rPr>
              <a:t>Databricks 托管平面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0656" y="88696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C2626"/>
                </a:solidFill>
                <a:latin typeface="Segoe UI"/>
                <a:ea typeface="Microsoft YaHei"/>
              </a:rPr>
              <a:t>★ 不在你的 VNet 内 · 运行于 Databricks 账户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20656" y="1078992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949586" y="1186434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933813" y="1200149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88677" y="1194663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75520" y="1133856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控制平面 Control Plane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0" y="133502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Web UI · 作业调度 · 无状态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75520" y="149504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Unity Catalog 元数据服务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820656" y="1819656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5F3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949586" y="1927098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9933813" y="1940814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988677" y="1935327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75520" y="1874519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75520" y="207568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读侧查询 · X-Small 6 DBU/h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75520" y="223570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64748B"/>
                </a:solidFill>
                <a:latin typeface="Segoe UI"/>
                <a:ea typeface="Microsoft YaHei"/>
              </a:rPr>
              <a:t>空闲自动缩到 0 · 零运维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820656" y="2560320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949586" y="2667762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933813" y="2681478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88677" y="2675991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875520" y="261518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Serverless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75520" y="281635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写侧 ETL：RAW→CURATED→LAKE→SERVE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875520" y="297637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820656" y="3300984"/>
            <a:ext cx="2048256" cy="54864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1651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949586" y="3408426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933813" y="3422142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988677" y="3416655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875520" y="335584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47857"/>
                </a:solidFill>
                <a:latin typeface="Segoe UI"/>
                <a:ea typeface="Microsoft YaHei"/>
              </a:rPr>
              <a:t>NCC 网络连接 + 托管私有端点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875520" y="3557015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Serverless 私有访问 ADLS 的唯一通道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20656" y="3968496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Premium 层特性 · NCC 需 Account Admin 配置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176272" y="2212848"/>
            <a:ext cx="7406640" cy="2084831"/>
          </a:xfrm>
          <a:prstGeom prst="roundRect">
            <a:avLst>
              <a:gd name="adj" fmla="val 3508"/>
            </a:avLst>
          </a:prstGeom>
          <a:solidFill>
            <a:srgbClr val="F0F7FC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322576" y="228600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  <a:ea typeface="Microsoft YaHei"/>
              </a:rPr>
              <a:t>Azure VNet · 10.0.0.0/16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760720" y="2322576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Hub-Spoke · NSG 管控 · PaaS 全部关闭公网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322576" y="2505456"/>
            <a:ext cx="8778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350008" y="2505456"/>
            <a:ext cx="82295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WAF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OWASP 防护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346704" y="2505456"/>
            <a:ext cx="13350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374136" y="2505456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Application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TLS 终止 · 七层路由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828032" y="2505456"/>
            <a:ext cx="96926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855464" y="2505456"/>
            <a:ext cx="9144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NAT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出站固定 IP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3200400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0" name="Connector 99"/>
          <p:cNvCxnSpPr/>
          <p:nvPr/>
        </p:nvCxnSpPr>
        <p:spPr>
          <a:xfrm>
            <a:off x="4681728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4014215" y="2926080"/>
            <a:ext cx="0" cy="109728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6172200" y="2560320"/>
            <a:ext cx="32461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475569"/>
                </a:solidFill>
                <a:latin typeface="Segoe UI"/>
                <a:ea typeface="Microsoft YaHei"/>
              </a:rPr>
              <a:t>私有 DNS：</a:t>
            </a: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privatelink.* 区域集中解析，AKS / Databricks 经内网域名访问 PaaS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322576" y="3054096"/>
            <a:ext cx="4206240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432304" y="3127248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AKS 子网 · 10.0.1.0/24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06240" y="31455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跨 AZ 节点池 · HPA · 托管标识免密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432304" y="3310128"/>
            <a:ext cx="3986784" cy="512064"/>
          </a:xfrm>
          <a:prstGeom prst="roundRect">
            <a:avLst>
              <a:gd name="adj" fmla="val 8928"/>
            </a:avLst>
          </a:prstGeom>
          <a:noFill/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505456" y="333756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Node · 跨可用区冗余 · 托管节点池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523744" y="3456432"/>
            <a:ext cx="1920240" cy="329184"/>
          </a:xfrm>
          <a:prstGeom prst="roundRect">
            <a:avLst>
              <a:gd name="adj" fmla="val 13888"/>
            </a:avLst>
          </a:prstGeom>
          <a:solidFill>
            <a:srgbClr val="EFF6FF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551175" y="3456432"/>
            <a:ext cx="186537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E40AF"/>
                </a:solidFill>
                <a:latin typeface="Segoe UI"/>
                <a:ea typeface="Microsoft YaHei"/>
              </a:rPr>
              <a:t>前端 Pod · React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配置化查询界面 · JSON Schema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517136" y="3456432"/>
            <a:ext cx="1828800" cy="329184"/>
          </a:xfrm>
          <a:prstGeom prst="roundRect">
            <a:avLst>
              <a:gd name="adj" fmla="val 13888"/>
            </a:avLst>
          </a:prstGeom>
          <a:solidFill>
            <a:srgbClr val="F0F9FF"/>
          </a:solidFill>
          <a:ln w="1778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44568" y="3456432"/>
            <a:ext cx="177393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E7490"/>
                </a:solidFill>
                <a:latin typeface="Segoe UI"/>
                <a:ea typeface="Microsoft YaHei"/>
              </a:rPr>
              <a:t>后端 Pod · .NET 单体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 · 权限 · 查询代理 · 审计 · 销毁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432304" y="3895344"/>
            <a:ext cx="3986784" cy="219456"/>
          </a:xfrm>
          <a:prstGeom prst="roundRect">
            <a:avLst>
              <a:gd name="adj" fmla="val 16666"/>
            </a:avLst>
          </a:prstGeom>
          <a:solidFill>
            <a:srgbClr val="F0F9FF"/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487168" y="3895344"/>
            <a:ext cx="38770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C4A6E"/>
                </a:solidFill>
                <a:latin typeface="Segoe UI"/>
                <a:ea typeface="Microsoft YaHei"/>
              </a:rPr>
              <a:t>元数据服务：系统台账 · 表清单勾选 · 保留期与销毁策略 · 任务记录 · 操作审计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675120" y="3054096"/>
            <a:ext cx="2798064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784848" y="3127248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私有端点子网 · 10.0.2.0/24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784848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812280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ADLS 私有端点（blob + dfs）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119871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147303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SQL Database 私有端点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784848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812280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Key Vault 私有端点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119871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47303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Databricks 工作区端点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784848" y="4041648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子网内为私有端点 NIC · PaaS 本体在 Azure 平台侧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6528816" y="358444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26" name="TextBox 125"/>
          <p:cNvSpPr txBox="1"/>
          <p:nvPr/>
        </p:nvSpPr>
        <p:spPr>
          <a:xfrm>
            <a:off x="6419088" y="33832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内网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19088" y="365760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调用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2048256" y="2715768"/>
            <a:ext cx="256032" cy="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29" name="TextBox 128"/>
          <p:cNvSpPr txBox="1"/>
          <p:nvPr/>
        </p:nvSpPr>
        <p:spPr>
          <a:xfrm>
            <a:off x="1188720" y="2542032"/>
            <a:ext cx="9144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HTTPS 443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6035040" y="2066543"/>
            <a:ext cx="0" cy="969265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6163056" y="2871216"/>
            <a:ext cx="210312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Microsoft YaHei"/>
              </a:rPr>
              <a:t>SeaTunnel 抽取 · NAT 固定 IP</a:t>
            </a:r>
          </a:p>
        </p:txBody>
      </p:sp>
      <p:cxnSp>
        <p:nvCxnSpPr>
          <p:cNvPr id="132" name="Connector 131"/>
          <p:cNvCxnSpPr/>
          <p:nvPr/>
        </p:nvCxnSpPr>
        <p:spPr>
          <a:xfrm flipV="1">
            <a:off x="5312664" y="2103120"/>
            <a:ext cx="0" cy="384048"/>
          </a:xfrm>
          <a:prstGeom prst="line">
            <a:avLst/>
          </a:prstGeom>
          <a:ln w="1397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3" name="TextBox 132"/>
          <p:cNvSpPr txBox="1"/>
          <p:nvPr/>
        </p:nvSpPr>
        <p:spPr>
          <a:xfrm>
            <a:off x="4023360" y="2084831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出站固定 IP ↑</a:t>
            </a:r>
          </a:p>
        </p:txBody>
      </p:sp>
      <p:cxnSp>
        <p:nvCxnSpPr>
          <p:cNvPr id="134" name="Connector 133"/>
          <p:cNvCxnSpPr/>
          <p:nvPr/>
        </p:nvCxnSpPr>
        <p:spPr>
          <a:xfrm flipV="1">
            <a:off x="9326880" y="2212848"/>
            <a:ext cx="0" cy="841248"/>
          </a:xfrm>
          <a:prstGeom prst="line">
            <a:avLst/>
          </a:prstGeom>
          <a:ln w="17780">
            <a:solidFill>
              <a:srgbClr val="7C3AED"/>
            </a:solidFill>
            <a:prstDash val="dash"/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9326880" y="2212848"/>
            <a:ext cx="347472" cy="0"/>
          </a:xfrm>
          <a:prstGeom prst="line">
            <a:avLst/>
          </a:prstGeom>
          <a:ln w="17780">
            <a:solidFill>
              <a:srgbClr val="7C3AED"/>
            </a:solidFill>
            <a:prstDash val="dash"/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7726679" y="2048256"/>
            <a:ext cx="18288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Private Link · JDBC / ODBC 443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01168" y="4425696"/>
            <a:ext cx="11795760" cy="1316736"/>
          </a:xfrm>
          <a:prstGeom prst="roundRect">
            <a:avLst>
              <a:gd name="adj" fmla="val 5555"/>
            </a:avLst>
          </a:prstGeom>
          <a:solidFill>
            <a:srgbClr val="F0FAF6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47472" y="449884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59669"/>
                </a:solidFill>
                <a:latin typeface="Segoe UI"/>
                <a:ea typeface="Microsoft YaHei"/>
              </a:rPr>
              <a:t>Azure PaaS 数据与治理服务 · 全部私有端点接入 · 公网访问已禁用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10896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32918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20624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Microsoft Entra ID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身份与单点登录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84048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SAML / OIDC · 托管标识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21792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F1F5F9"/>
          </a:solidFill>
          <a:ln w="1143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475569"/>
                </a:solidFill>
                <a:latin typeface="Segoe UI"/>
                <a:ea typeface="Microsoft YaHei"/>
              </a:rPr>
              <a:t>全局服务 · 443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10896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64748B"/>
                </a:solidFill>
                <a:latin typeface="Segoe UI"/>
                <a:ea typeface="Microsoft YaHei"/>
              </a:rPr>
              <a:t>认证走 443 · 无私有端点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212848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2231136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322576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Application Insights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286000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审计留痕与链路追踪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86000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操作日志 · 告警规则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523744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551175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212848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114800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4133087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4224528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Monitor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187952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资源指标与告警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187952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仪表板 · 自动化响应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425696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453128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114800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6016752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6035040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126480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Key Vault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089904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密钥与凭据托管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089904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CMK · 源库连接串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32764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355080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016752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7918704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7936992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8028431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SQL Database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991856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元数据库 Standard S2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91856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主备自动故障转移 · PITR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8229600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8257031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7918704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9820656" y="4736592"/>
            <a:ext cx="18836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983894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9875520" y="4782312"/>
            <a:ext cx="179222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两个独立存储账户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875520" y="4928616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078D4"/>
                </a:solidFill>
                <a:latin typeface="Segoe UI"/>
                <a:ea typeface="Microsoft YaHei"/>
              </a:rPr>
              <a:t>① ADLS Gen2（HNS）· Iceberg 湖表 · ZRS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② Blob（FNS）· 附件 · Cool→Cold · 可 WORM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016812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10195559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 ×2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820656" y="5440680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cxnSp>
        <p:nvCxnSpPr>
          <p:cNvPr id="186" name="Connector 185"/>
          <p:cNvCxnSpPr/>
          <p:nvPr/>
        </p:nvCxnSpPr>
        <p:spPr>
          <a:xfrm>
            <a:off x="6922008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8823960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8" name="Connector 187"/>
          <p:cNvCxnSpPr/>
          <p:nvPr/>
        </p:nvCxnSpPr>
        <p:spPr>
          <a:xfrm>
            <a:off x="9235440" y="4187952"/>
            <a:ext cx="0" cy="292608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9235440" y="4480560"/>
            <a:ext cx="1325880" cy="0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0" name="Connector 189"/>
          <p:cNvCxnSpPr/>
          <p:nvPr/>
        </p:nvCxnSpPr>
        <p:spPr>
          <a:xfrm>
            <a:off x="10561320" y="4480560"/>
            <a:ext cx="0" cy="237744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sp>
        <p:nvSpPr>
          <p:cNvPr id="191" name="TextBox 190"/>
          <p:cNvSpPr txBox="1"/>
          <p:nvPr/>
        </p:nvSpPr>
        <p:spPr>
          <a:xfrm>
            <a:off x="7333488" y="4462272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078D4"/>
                </a:solidFill>
                <a:latin typeface="Segoe UI"/>
                <a:ea typeface="Microsoft YaHei"/>
              </a:rPr>
              <a:t>Private Link 私网流量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333488" y="4581144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与上方端点一一对应</a:t>
            </a:r>
          </a:p>
        </p:txBody>
      </p:sp>
      <p:cxnSp>
        <p:nvCxnSpPr>
          <p:cNvPr id="193" name="Connector 192"/>
          <p:cNvCxnSpPr/>
          <p:nvPr/>
        </p:nvCxnSpPr>
        <p:spPr>
          <a:xfrm>
            <a:off x="11338560" y="4297680"/>
            <a:ext cx="0" cy="420624"/>
          </a:xfrm>
          <a:prstGeom prst="line">
            <a:avLst/>
          </a:prstGeom>
          <a:ln w="2540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11411712" y="4389120"/>
            <a:ext cx="6583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★ NCC 托管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私有端点通道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201168" y="5852160"/>
            <a:ext cx="8686800" cy="859536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329184" y="5907024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关键设计要点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2918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①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除 Entra ID（全局认证）外，PaaS 全部私有端点接入，流量不出骨干网；入口 WAF + AppGW 收敛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2918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②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Serverless 不支持 VNet 对等 / VPN —— 私有访问 ADLS 唯一方式：NCC + 托管私有端点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2918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③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源库抽取走 NAT 固定出口 IP 白名单；跨机房走 ExpressRoute / 站点到站点 VPN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62686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④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元数据与销毁策略存 SQL DB S2 · 审计进 App Insights · 密钥由 Key Vault 托管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62686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⑤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相比方案 B：省去 Trino 集群与双子网注入，查询层完全托管、零集群运维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62686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⑥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需 Databricks Premium 层（PE / NCC 均为 Premium 特性）；NCC 需 Account Admin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8997696" y="5852160"/>
            <a:ext cx="2999232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270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9125712" y="5907024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91C1C"/>
                </a:solidFill>
                <a:latin typeface="Segoe UI"/>
                <a:ea typeface="Microsoft YaHei"/>
              </a:rPr>
              <a:t>高可用 &amp; 容灾（HA / DR）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9125712" y="6080760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AKS 跨 AZ · SQL 主备自动转移 · 存储 ZRS 冗余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125712" y="6222492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平台托管无单点 · Serverless 空闲归零自动重建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9125712" y="6364224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SQL 自动备份 + PITR · ADLS 生命周期分层 / GRS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9125712" y="6505956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RPO ≤ 15 min · RTO ≤ 2 h · 审计独立备份不销毁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566928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CFDF5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30936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访问入口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8" name="Oval 7"/>
          <p:cNvSpPr/>
          <p:nvPr/>
        </p:nvSpPr>
        <p:spPr>
          <a:xfrm>
            <a:off x="538261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6978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40864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68296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12" name="Oval 11"/>
          <p:cNvSpPr/>
          <p:nvPr/>
        </p:nvSpPr>
        <p:spPr>
          <a:xfrm>
            <a:off x="2513365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92082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15968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监控作业与销毁</a:t>
            </a:r>
          </a:p>
        </p:txBody>
      </p:sp>
      <p:sp>
        <p:nvSpPr>
          <p:cNvPr id="16" name="Oval 15"/>
          <p:cNvSpPr/>
          <p:nvPr/>
        </p:nvSpPr>
        <p:spPr>
          <a:xfrm>
            <a:off x="4488469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67186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546336" y="822960"/>
            <a:ext cx="2212848" cy="420624"/>
          </a:xfrm>
          <a:prstGeom prst="roundRect">
            <a:avLst>
              <a:gd name="adj" fmla="val 10869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73767" y="822960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Microsoft Entra ID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1E40AF"/>
                </a:solidFill>
                <a:latin typeface="Segoe UI"/>
                <a:ea typeface="Microsoft YaHei"/>
              </a:rPr>
              <a:t>SSO / OIDC / 托管标识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93268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Microsoft YaHei"/>
              </a:rPr>
              <a:t>统一身份 · 单点登录 →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77639" y="1316736"/>
            <a:ext cx="0" cy="109728"/>
          </a:xfrm>
          <a:prstGeom prst="line">
            <a:avLst/>
          </a:prstGeom>
          <a:ln w="2540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4087368" y="1321308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891B2"/>
                </a:solidFill>
                <a:latin typeface="Segoe UI"/>
                <a:ea typeface="Microsoft YaHei"/>
              </a:rPr>
              <a:t>HTTPS 443 · SSO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1426464"/>
            <a:ext cx="11795760" cy="95097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1490472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02 自研应用层（AKS）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1700784"/>
            <a:ext cx="268833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1700784"/>
            <a:ext cx="263347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React 配置化查询平台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JSON Schema 渲染查询表单 · 表格 / 明细 / 附件预览 / 导出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57016" y="1700784"/>
            <a:ext cx="52852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1880" y="1700784"/>
            <a:ext cx="517550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.NET 10 后端服务组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60" b="0" i="0">
                <a:solidFill>
                  <a:srgbClr val="64748B"/>
                </a:solidFill>
                <a:latin typeface="Segoe UI"/>
                <a:ea typeface="Microsoft YaHei"/>
              </a:rPr>
              <a:t>元数据 · 查询代理 · 权限校验 · 附件代理 · 审计上报 · 销毁调度</a:t>
            </a:r>
          </a:p>
          <a:p>
            <a:pPr algn="ctr">
              <a:lnSpc>
                <a:spcPct val="112000"/>
              </a:lnSpc>
              <a:spcBef>
                <a:spcPts val="100"/>
              </a:spcBef>
              <a:spcAft>
                <a:spcPts val="0"/>
              </a:spcAft>
            </a:pPr>
            <a:r>
              <a:rPr sz="660" b="0" i="0">
                <a:solidFill>
                  <a:srgbClr val="94A3B8"/>
                </a:solidFill>
                <a:latin typeface="Segoe UI"/>
                <a:ea typeface="Microsoft YaHei"/>
              </a:rPr>
              <a:t>后端二次鉴权 · 参数化 SQL · 私有端点访问下游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108960" y="1984248"/>
            <a:ext cx="39319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0" name="Rounded Rectangle 29"/>
          <p:cNvSpPr/>
          <p:nvPr/>
        </p:nvSpPr>
        <p:spPr>
          <a:xfrm>
            <a:off x="9345168" y="1700784"/>
            <a:ext cx="241401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1700784"/>
            <a:ext cx="23591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Azure SQL 元数据库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系统台账 / 表清单 / 保留期 / 销毁策略 / 审计索引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897112" y="1984248"/>
            <a:ext cx="39319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8357616" y="182880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891B2"/>
                </a:solidFill>
                <a:latin typeface="Segoe UI"/>
                <a:ea typeface="Microsoft YaHei"/>
              </a:rPr>
              <a:t>读写配置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1168" y="2505456"/>
            <a:ext cx="11795760" cy="2212848"/>
          </a:xfrm>
          <a:prstGeom prst="roundRect">
            <a:avLst>
              <a:gd name="adj" fmla="val 330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2569464"/>
            <a:ext cx="31089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03 核心链路（写入 / 查询 / 附件）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0FDF4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047857"/>
                </a:solidFill>
                <a:latin typeface="Segoe UI"/>
                <a:ea typeface="Microsoft YaHei"/>
              </a:rPr>
              <a:t>WRITE PATH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归档写入 / 到期销毁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Azure Data Factory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编排调度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35915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8658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结构化抽取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103120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44" name="Rounded Rectangle 43"/>
          <p:cNvSpPr/>
          <p:nvPr/>
        </p:nvSpPr>
        <p:spPr>
          <a:xfrm>
            <a:off x="512064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397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Databricks Serverless：ETL · Compaction · DROP PARTITION + VACUUM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24528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5F3FF"/>
          </a:solidFill>
          <a:ln w="1524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0832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6D28D9"/>
                </a:solidFill>
                <a:latin typeface="Segoe UI"/>
                <a:ea typeface="Microsoft YaHei"/>
              </a:rPr>
              <a:t>READ PATH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70832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在线查询 / 跨系统检索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52544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C4B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79976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查询代理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限流 / 超时 / 审计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A78B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45352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读侧查询 · 空闲缩 0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961888" y="3506724"/>
            <a:ext cx="219456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54" name="Rounded Rectangle 53"/>
          <p:cNvSpPr/>
          <p:nvPr/>
        </p:nvSpPr>
        <p:spPr>
          <a:xfrm>
            <a:off x="4370832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EDE9FE"/>
          </a:solidFill>
          <a:ln w="1397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25696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D28D9"/>
                </a:solidFill>
                <a:latin typeface="Segoe UI"/>
                <a:ea typeface="Microsoft YaHei"/>
              </a:rPr>
              <a:t>Unity Catalog 表级授权 · SERVE 层首屏 2–5 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83296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0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B45309"/>
                </a:solidFill>
                <a:latin typeface="Segoe UI"/>
                <a:ea typeface="Microsoft YaHei"/>
              </a:rPr>
              <a:t>ATTACHMENT PATH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非结构化附件 / 预览下载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1131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3874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迁移附件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076688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104120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附件代理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鉴权 / 流式回吐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9820656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64" name="Rounded Rectangle 63"/>
          <p:cNvSpPr/>
          <p:nvPr/>
        </p:nvSpPr>
        <p:spPr>
          <a:xfrm>
            <a:off x="8229600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84464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SHA-256 台账 · 附件索引表 · 后端审计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840480" y="2267712"/>
            <a:ext cx="0" cy="384048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H="1">
            <a:off x="2203704" y="2651760"/>
            <a:ext cx="1636776" cy="0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>
            <a:off x="2203704" y="2651760"/>
            <a:ext cx="0" cy="91440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2395728" y="24963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接入配置 / 销毁调度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062472" y="2267712"/>
            <a:ext cx="0" cy="47548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6163056" y="24323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查询请求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223760" y="2267712"/>
            <a:ext cx="0" cy="384048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7223760" y="2651760"/>
            <a:ext cx="2697480" cy="0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9921240" y="2651760"/>
            <a:ext cx="0" cy="9144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8138160" y="24963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附件预览 / 下载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01168" y="4828032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5760" y="4892040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D4ED8"/>
                </a:solidFill>
                <a:latin typeface="Segoe UI"/>
                <a:ea typeface="Microsoft YaHei"/>
              </a:rPr>
              <a:t>04 数据底座与统一治理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65760" y="5084064"/>
            <a:ext cx="356616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93192" y="5084064"/>
            <a:ext cx="351129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ADLS Gen2 · Iceberg 湖表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RAW / CURATED / LAKE / SERVE · 1:1 原样归档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114800" y="5084064"/>
            <a:ext cx="329184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42232" y="5084064"/>
            <a:ext cx="323697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Unity Catalog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表级权限 / 血缘 / 快照回溯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589520" y="5084064"/>
            <a:ext cx="4169663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F59E0B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616952" y="5084064"/>
            <a:ext cx="41148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Azure Blob · 附件账户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Cool / Cold 分层 · WORM 可选 · 与业务表分账户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2203704" y="4535424"/>
            <a:ext cx="0" cy="530352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5" name="TextBox 84"/>
          <p:cNvSpPr txBox="1"/>
          <p:nvPr/>
        </p:nvSpPr>
        <p:spPr>
          <a:xfrm>
            <a:off x="2304288" y="4732020"/>
            <a:ext cx="12801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写入 Iceberg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6062472" y="4535424"/>
            <a:ext cx="0" cy="237744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 flipH="1">
            <a:off x="3291840" y="4773168"/>
            <a:ext cx="2770632" cy="0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>
            <a:off x="3291840" y="4773168"/>
            <a:ext cx="0" cy="29260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9" name="TextBox 88"/>
          <p:cNvSpPr txBox="1"/>
          <p:nvPr/>
        </p:nvSpPr>
        <p:spPr>
          <a:xfrm>
            <a:off x="4224528" y="457200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读 Iceberg / ABFS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9921240" y="4535424"/>
            <a:ext cx="0" cy="530352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0021824" y="4732020"/>
            <a:ext cx="118872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附件取流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65760" y="5705856"/>
            <a:ext cx="733348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12064" y="5705856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4155"/>
                </a:solidFill>
                <a:latin typeface="Segoe UI"/>
                <a:ea typeface="Microsoft YaHei"/>
              </a:rPr>
              <a:t>安全底座：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Key Vault · App Insights · Azure Monitor · Databricks Query History · 全部 PaaS 私有端点 · 入口 WAF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900416" y="5705856"/>
            <a:ext cx="3858768" cy="36576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065008" y="5705856"/>
            <a:ext cx="35295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Microsoft YaHei"/>
              </a:rPr>
              <a:t>B2 读侧：</a:t>
            </a:r>
            <a:r>
              <a:rPr sz="680" b="0" i="0">
                <a:solidFill>
                  <a:srgbClr val="92400E"/>
                </a:solidFill>
                <a:latin typeface="Segoe UI"/>
                <a:ea typeface="Microsoft YaHei"/>
              </a:rPr>
              <a:t>Databricks SQL Serverless 完全托管 · 空闲缩 0；代价是引擎绑定 + 需 Premium 层（NCC / PE）</a:t>
            </a:r>
          </a:p>
        </p:txBody>
      </p:sp>
      <p:sp>
        <p:nvSpPr>
          <p:cNvPr id="96" name="Oval 95"/>
          <p:cNvSpPr/>
          <p:nvPr/>
        </p:nvSpPr>
        <p:spPr>
          <a:xfrm>
            <a:off x="365760" y="6245352"/>
            <a:ext cx="82296" cy="82296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93776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自研应用组件（AKS）</a:t>
            </a:r>
          </a:p>
        </p:txBody>
      </p:sp>
      <p:sp>
        <p:nvSpPr>
          <p:cNvPr id="98" name="Oval 97"/>
          <p:cNvSpPr/>
          <p:nvPr/>
        </p:nvSpPr>
        <p:spPr>
          <a:xfrm>
            <a:off x="1940356" y="6245352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06837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写侧数据链路</a:t>
            </a:r>
          </a:p>
        </p:txBody>
      </p:sp>
      <p:sp>
        <p:nvSpPr>
          <p:cNvPr id="100" name="Oval 99"/>
          <p:cNvSpPr/>
          <p:nvPr/>
        </p:nvSpPr>
        <p:spPr>
          <a:xfrm>
            <a:off x="3140049" y="6245352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268065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读侧查询链路</a:t>
            </a:r>
          </a:p>
        </p:txBody>
      </p:sp>
      <p:sp>
        <p:nvSpPr>
          <p:cNvPr id="102" name="Oval 101"/>
          <p:cNvSpPr/>
          <p:nvPr/>
        </p:nvSpPr>
        <p:spPr>
          <a:xfrm>
            <a:off x="4339742" y="6245352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467758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编排 / 抽取</a:t>
            </a:r>
          </a:p>
        </p:txBody>
      </p:sp>
      <p:sp>
        <p:nvSpPr>
          <p:cNvPr id="104" name="Oval 103"/>
          <p:cNvSpPr/>
          <p:nvPr/>
        </p:nvSpPr>
        <p:spPr>
          <a:xfrm>
            <a:off x="5614416" y="6245352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74243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Azure PaaS 数据服务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76656"/>
            <a:ext cx="0" cy="5632704"/>
          </a:xfrm>
          <a:prstGeom prst="line">
            <a:avLst/>
          </a:prstGeom>
          <a:ln w="31750">
            <a:solidFill>
              <a:srgbClr val="E2E8F0"/>
            </a:solidFill>
          </a:ln>
          <a:effectLst/>
        </p:spPr>
      </p:cxnSp>
      <p:sp>
        <p:nvSpPr>
          <p:cNvPr id="5" name="Rounded Rectangle 4"/>
          <p:cNvSpPr/>
          <p:nvPr/>
        </p:nvSpPr>
        <p:spPr>
          <a:xfrm>
            <a:off x="713232" y="566928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7472" y="722375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2237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475569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179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源系统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79552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475569"/>
                </a:solidFill>
                <a:latin typeface="Consolas"/>
                <a:ea typeface="Microsoft YaHei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932688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退役 · 只读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05156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15 套待归档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31136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58568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结构化数据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Oracle · MySQL · DB2 / 其他 · JDBC 读取 · 约 100 张表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8344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65776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非结构化附件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NFS · S3 · Azure Blob · PDF / 图片 / 影像件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83480" y="1188720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7" name="Rounded Rectangle 16"/>
          <p:cNvSpPr/>
          <p:nvPr/>
        </p:nvSpPr>
        <p:spPr>
          <a:xfrm>
            <a:off x="713232" y="1298448"/>
            <a:ext cx="7104888" cy="841248"/>
          </a:xfrm>
          <a:prstGeom prst="roundRect">
            <a:avLst>
              <a:gd name="adj" fmla="val 869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7472" y="15636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1563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135331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接入配置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152704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CONFIGURE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66420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页面操作 · 零代码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783079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配置存元数据库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901951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891B2"/>
                </a:solidFill>
                <a:latin typeface="Segoe UI"/>
                <a:ea typeface="Microsoft YaHei"/>
              </a:rPr>
              <a:t>新系统接入复用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31136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22576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① 录入连接信息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2576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主机 / 端口 / 账号 · 凭据存 Key Vault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2576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「测试连接」校验连通与权限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33087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7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② 自动读取表清单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24527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扫描 information_schema · 表名 / 行数 / 大小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4527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共发现 10 张表（含类型与主键）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35040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79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③ 勾选待迁移表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79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☑ 订单主表 · 明细 · 客户 · 商品 · 支付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79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☐ 临时 / 日志 / 中间 / 缓存 / 备份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931920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5833872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2231136" y="1965960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891B2"/>
                </a:solidFill>
                <a:latin typeface="Segoe UI"/>
                <a:ea typeface="Microsoft YaHei"/>
              </a:rPr>
              <a:t>按配置生成 SeaTunnel 任务 · 仅入湖勾选的 5 张表（10 选 5）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983480" y="213969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41" name="Rounded Rectangle 40"/>
          <p:cNvSpPr/>
          <p:nvPr/>
        </p:nvSpPr>
        <p:spPr>
          <a:xfrm>
            <a:off x="713232" y="2249424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47472" y="24048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" y="24048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EA580C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230428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数据抽取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247802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A580C"/>
                </a:solidFill>
                <a:latin typeface="Consolas"/>
                <a:ea typeface="Microsoft YaHei"/>
              </a:rPr>
              <a:t>INGEST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261518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批量 · 全量 + 增量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273405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ADF 编排调度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31136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58568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 ·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200+ 连接器 · JDBC · 类型映射 · 对账 → Iceberg 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38344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5776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附件 · 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PDF / 图片 / Office 影像 · 服务免费 → ADLS 附件容器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983480" y="2871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53" name="Rounded Rectangle 52"/>
          <p:cNvSpPr/>
          <p:nvPr/>
        </p:nvSpPr>
        <p:spPr>
          <a:xfrm>
            <a:off x="713232" y="2980944"/>
            <a:ext cx="7104888" cy="1133856"/>
          </a:xfrm>
          <a:prstGeom prst="roundRect">
            <a:avLst>
              <a:gd name="adj" fmla="val 6451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47472" y="33924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7472" y="33924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7C3AED"/>
                </a:solidFill>
                <a:latin typeface="Consolas"/>
                <a:ea typeface="Microsoft YaHei"/>
              </a:rPr>
              <a:t>B-03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" y="303580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Iceberg 冷湖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" y="3209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7C3AED"/>
                </a:solidFill>
                <a:latin typeface="Consolas"/>
                <a:ea typeface="Microsoft YaHei"/>
              </a:rPr>
              <a:t>COLD LAKE · STORAGE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3346703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ADLS Gen2 · Parquet + ZSTD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3465575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≈¥90–150/TB·月 · PB 级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358444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100 张表 · 1:1 原样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370332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Hot / Cool 分层 · ZRS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31136" y="3035808"/>
            <a:ext cx="549554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Iceberg 表 · 四层分层（RAW → SERVE 逐层升温，越往下越热）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231136" y="3200400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2249424" y="3223260"/>
            <a:ext cx="32004" cy="160020"/>
          </a:xfrm>
          <a:prstGeom prst="roundRect">
            <a:avLst>
              <a:gd name="adj" fmla="val 48571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59152" y="3200400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338CA"/>
                </a:solidFill>
                <a:latin typeface="Segoe UI"/>
                <a:ea typeface="Microsoft YaHei"/>
              </a:rPr>
              <a:t>RAW · 原始落地（最冷）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SeaTunnel 全量 1:1 保真 · 分区 sys_id / ingest_date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231136" y="3424428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DE9FE"/>
          </a:solidFill>
          <a:ln w="1270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9424" y="3447288"/>
            <a:ext cx="32004" cy="160020"/>
          </a:xfrm>
          <a:prstGeom prst="roundRect">
            <a:avLst>
              <a:gd name="adj" fmla="val 48571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359152" y="3424428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CURATED · 清洗规整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类型统一 · 缺失值处理 · SHA-256 台账 · 分区归约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231136" y="3648456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5F3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249424" y="3671316"/>
            <a:ext cx="32004" cy="160020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359152" y="3648456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5B21B6"/>
                </a:solidFill>
                <a:latin typeface="Segoe UI"/>
                <a:ea typeface="Microsoft YaHei"/>
              </a:rPr>
              <a:t>LAKE · 建模归档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业务维度建模 · 生命周期分区（销毁友好）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231136" y="3872484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2249424" y="3895344"/>
            <a:ext cx="32004" cy="160020"/>
          </a:xfrm>
          <a:prstGeom prst="roundRect">
            <a:avLst>
              <a:gd name="adj" fmla="val 48571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359152" y="3872484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45309"/>
                </a:solidFill>
                <a:latin typeface="Segoe UI"/>
                <a:ea typeface="Microsoft YaHei"/>
              </a:rPr>
              <a:t>SERVE · 加速服务（最热）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热表物化 · Z-Order · 供 Databricks SQL Serverless 直查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13232" y="4251960"/>
            <a:ext cx="7104888" cy="0"/>
          </a:xfrm>
          <a:prstGeom prst="line">
            <a:avLst/>
          </a:prstGeom>
          <a:ln w="20320">
            <a:solidFill>
              <a:srgbClr val="94A3B8"/>
            </a:solidFill>
            <a:prstDash val="dash"/>
          </a:ln>
          <a:effectLst/>
        </p:spPr>
      </p:cxnSp>
      <p:sp>
        <p:nvSpPr>
          <p:cNvPr id="76" name="Rounded Rectangle 75"/>
          <p:cNvSpPr/>
          <p:nvPr/>
        </p:nvSpPr>
        <p:spPr>
          <a:xfrm>
            <a:off x="4224528" y="4160520"/>
            <a:ext cx="1609344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24528" y="4160520"/>
            <a:ext cx="160934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475569"/>
                </a:solidFill>
                <a:latin typeface="Segoe UI"/>
                <a:ea typeface="Microsoft YaHei"/>
              </a:rPr>
              <a:t>━━ 存算分离边界 ━━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3108960" y="4114800"/>
            <a:ext cx="0" cy="274320"/>
          </a:xfrm>
          <a:prstGeom prst="line">
            <a:avLst/>
          </a:prstGeom>
          <a:ln w="2286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3218688" y="412394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Segoe UI"/>
                <a:ea typeface="Microsoft YaHei"/>
              </a:rPr>
              <a:t>Serverless 直查</a:t>
            </a:r>
          </a:p>
        </p:txBody>
      </p:sp>
      <p:cxnSp>
        <p:nvCxnSpPr>
          <p:cNvPr id="80" name="Connector 79"/>
          <p:cNvCxnSpPr/>
          <p:nvPr/>
        </p:nvCxnSpPr>
        <p:spPr>
          <a:xfrm flipV="1">
            <a:off x="7132320" y="4114800"/>
            <a:ext cx="0" cy="27432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1" name="TextBox 80"/>
          <p:cNvSpPr txBox="1"/>
          <p:nvPr/>
        </p:nvSpPr>
        <p:spPr>
          <a:xfrm>
            <a:off x="5897880" y="4270248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ETL 写入 · Databricks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13232" y="4389120"/>
            <a:ext cx="7104888" cy="768096"/>
          </a:xfrm>
          <a:prstGeom prst="roundRect">
            <a:avLst>
              <a:gd name="adj" fmla="val 9523"/>
            </a:avLst>
          </a:prstGeom>
          <a:solidFill>
            <a:srgbClr val="F0FDF4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47472" y="461772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7472" y="46177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Consolas"/>
                <a:ea typeface="Microsoft YaHei"/>
              </a:rPr>
              <a:t>B-04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" y="4443983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统一计算层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4617720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59669"/>
                </a:solidFill>
                <a:latin typeface="Consolas"/>
                <a:ea typeface="Microsoft YaHei"/>
              </a:rPr>
              <a:t>COMPUTE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475488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Databricks 读写一体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2960" y="4873752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弹性 · 按量计费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231136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322576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· 写侧 ETL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04288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RAW → CURATED → LAKE → SERVE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04288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Spark 批处理 · Iceberg 写入 · Z-Order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4288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304288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按 DBU 计费 · 按需拉起 ≈¥0.4–0.8 万/月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38344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129783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111496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读侧查询 · 零运维 · 故障自动重建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11496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Iceberg 直查 · SERVE 加速 · 首屏 2–5 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11496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UC 表 / 行 / 列级授权 + 审计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11496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X-Small 6 DBU/h · 空闲缩 0 ≈¥0.5–0.9 万/月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4983480" y="5157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02" name="Rounded Rectangle 101"/>
          <p:cNvSpPr/>
          <p:nvPr/>
        </p:nvSpPr>
        <p:spPr>
          <a:xfrm>
            <a:off x="713232" y="5266944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47472" y="544068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7472" y="54406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22960" y="5321807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消费入口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2960" y="5495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CONSUME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" y="563270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元数据驱动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2960" y="575157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零代码接入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231136" y="5321808"/>
            <a:ext cx="549554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340864" y="5376672"/>
            <a:ext cx="52760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元数据驱动 · 动态配置化查询平台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JSON 配置定义查询 / 筛选 / 列 / 权限 · 前端动态渲染 · 一次研发处处复用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1" i="0">
                <a:solidFill>
                  <a:srgbClr val="0891B2"/>
                </a:solidFill>
                <a:latin typeface="Segoe UI"/>
                <a:ea typeface="Microsoft YaHei"/>
              </a:rPr>
              <a:t>新系统接入零代码 · 边际 +3~6 人天 / 系统 · 首期 60 人天 · ≥15 系统适用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13232" y="6016752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47472" y="6190488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7472" y="619048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1D48"/>
                </a:solidFill>
                <a:latin typeface="Segoe UI"/>
                <a:ea typeface="Microsoft YaHei"/>
              </a:rPr>
              <a:t>↺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2960" y="6089904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E11D48"/>
                </a:solidFill>
                <a:latin typeface="Segoe UI"/>
                <a:ea typeface="Microsoft YaHei"/>
              </a:rPr>
              <a:t>Retention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22960" y="6254496"/>
            <a:ext cx="133502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11D48"/>
                </a:solidFill>
                <a:latin typeface="Consolas"/>
                <a:ea typeface="Microsoft YaHei"/>
              </a:rPr>
              <a:t>RETENTION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2960" y="6391656"/>
            <a:ext cx="135331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作用于 B-03 分区
回写台账 · 附件同步删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231136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258568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① 到期扫描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扫描 Iceberg meta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3657600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685032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② DROP PARTITION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秒级 · Iceberg 原生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84064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111496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③ VACUUM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物理清除快照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510528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537960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④ 附件 + 审计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同步删除 · 留痕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3483864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4910328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6336792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sp>
        <p:nvSpPr>
          <p:cNvPr id="128" name="TextBox 127"/>
          <p:cNvSpPr txBox="1"/>
          <p:nvPr/>
        </p:nvSpPr>
        <p:spPr>
          <a:xfrm>
            <a:off x="2231136" y="6528816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9F1239"/>
                </a:solidFill>
                <a:latin typeface="Segoe UI"/>
                <a:ea typeface="Microsoft YaHei"/>
              </a:rPr>
              <a:t>审计与元数据独立备份 · 不随业务数据销毁 · 纳入年度销毁演练</a:t>
            </a:r>
          </a:p>
        </p:txBody>
      </p:sp>
      <p:cxnSp>
        <p:nvCxnSpPr>
          <p:cNvPr id="129" name="Connector 128"/>
          <p:cNvCxnSpPr/>
          <p:nvPr/>
        </p:nvCxnSpPr>
        <p:spPr>
          <a:xfrm flipH="1">
            <a:off x="274320" y="6510528"/>
            <a:ext cx="438912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274320" y="3840480"/>
            <a:ext cx="0" cy="2670048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274320" y="3840480"/>
            <a:ext cx="420624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  <a:tailEnd type="triangle" w="med" len="med"/>
          </a:ln>
          <a:effectLst/>
        </p:spPr>
      </p:cxnSp>
      <p:sp>
        <p:nvSpPr>
          <p:cNvPr id="132" name="TextBox 131"/>
          <p:cNvSpPr txBox="1"/>
          <p:nvPr/>
        </p:nvSpPr>
        <p:spPr>
          <a:xfrm>
            <a:off x="91440" y="4434840"/>
            <a:ext cx="182880" cy="118872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E11D48"/>
                </a:solidFill>
                <a:latin typeface="Segoe UI"/>
                <a:ea typeface="Microsoft YaHei"/>
              </a:rPr>
              <a:t>作用于冷湖分区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001000" y="566928"/>
            <a:ext cx="3986784" cy="1444752"/>
          </a:xfrm>
          <a:prstGeom prst="roundRect">
            <a:avLst>
              <a:gd name="adj" fmla="val 4430"/>
            </a:avLst>
          </a:prstGeom>
          <a:solidFill>
            <a:srgbClr val="FFFBEB"/>
          </a:solidFill>
          <a:ln w="1397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129016" y="6400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D97706"/>
                </a:solidFill>
                <a:latin typeface="Segoe UI"/>
                <a:ea typeface="Microsoft YaHei"/>
              </a:rPr>
              <a:t>附件对象存储 · </a:t>
            </a:r>
            <a:r>
              <a:rPr sz="819" b="1" i="0">
                <a:solidFill>
                  <a:srgbClr val="92400E"/>
                </a:solidFill>
                <a:latin typeface="Segoe UI"/>
                <a:ea typeface="Microsoft YaHei"/>
              </a:rPr>
              <a:t>独立存储账户（与湖分开）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129016" y="804672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A16207"/>
                </a:solidFill>
                <a:latin typeface="Segoe UI"/>
                <a:ea typeface="Microsoft YaHei"/>
              </a:rPr>
              <a:t>贯穿 02 抽取 → B-03 存储 · 供 B-05 直接消费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110727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138159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FNS 平面命名空间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非 HNS · 按次计费（不按 4MB 切块）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0049255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076687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Cool → Cold 分层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生命周期自动降档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110727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38159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SHA-256 台账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前缀 sysXX/yyyy-mm/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0049255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076687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后端签 SAS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前端直连下载</a:t>
            </a:r>
          </a:p>
        </p:txBody>
      </p:sp>
      <p:cxnSp>
        <p:nvCxnSpPr>
          <p:cNvPr id="144" name="Connector 143"/>
          <p:cNvCxnSpPr/>
          <p:nvPr/>
        </p:nvCxnSpPr>
        <p:spPr>
          <a:xfrm flipH="1">
            <a:off x="7836408" y="2560320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5" name="Connector 144"/>
          <p:cNvCxnSpPr/>
          <p:nvPr/>
        </p:nvCxnSpPr>
        <p:spPr>
          <a:xfrm flipH="1">
            <a:off x="7836408" y="3547872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6" name="Connector 145"/>
          <p:cNvCxnSpPr/>
          <p:nvPr/>
        </p:nvCxnSpPr>
        <p:spPr>
          <a:xfrm>
            <a:off x="9994392" y="2011680"/>
            <a:ext cx="0" cy="128016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7" name="Connector 146"/>
          <p:cNvCxnSpPr/>
          <p:nvPr/>
        </p:nvCxnSpPr>
        <p:spPr>
          <a:xfrm flipH="1">
            <a:off x="7918704" y="2139696"/>
            <a:ext cx="2075688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7918704" y="2139696"/>
            <a:ext cx="0" cy="3456432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9" name="Connector 148"/>
          <p:cNvCxnSpPr/>
          <p:nvPr/>
        </p:nvCxnSpPr>
        <p:spPr>
          <a:xfrm flipH="1">
            <a:off x="7836408" y="5596128"/>
            <a:ext cx="82296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50" name="TextBox 149"/>
          <p:cNvSpPr txBox="1"/>
          <p:nvPr/>
        </p:nvSpPr>
        <p:spPr>
          <a:xfrm>
            <a:off x="8065008" y="2176272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附件 URL 直连消费（SAS）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8001000" y="2340864"/>
            <a:ext cx="3986784" cy="1225296"/>
          </a:xfrm>
          <a:prstGeom prst="roundRect">
            <a:avLst>
              <a:gd name="adj" fmla="val 5223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129016" y="2414016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6D28D9"/>
                </a:solidFill>
                <a:latin typeface="Segoe UI"/>
                <a:ea typeface="Microsoft YaHei"/>
              </a:rPr>
              <a:t>存算分离 · 成本结构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129016" y="2633472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156448" y="2633472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D28D9"/>
                </a:solidFill>
                <a:latin typeface="Segoe UI"/>
                <a:ea typeface="Microsoft YaHei"/>
              </a:rPr>
              <a:t>存储侧 · 常驻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518904" y="2633472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Hot/Cool ≈¥90–150/TB·月 · PB 级从容 · ZRS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129016" y="3017520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0FDF4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156448" y="3017520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47857"/>
                </a:solidFill>
                <a:latin typeface="Segoe UI"/>
                <a:ea typeface="Microsoft YaHei"/>
              </a:rPr>
              <a:t>计算侧 · 按需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18904" y="3017520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写侧 ETL ≈¥0.4–0.8 万/月 · 读侧查询 ≈¥0.5–0.9 万/月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129016" y="3401568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存储与计算独立扩缩 · 空闲缩到 0 · 只为使用的算力付费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001000" y="3675887"/>
            <a:ext cx="3986784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129016" y="3749039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方案 B2 要点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129016" y="3950208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7C3AED"/>
                </a:solidFill>
                <a:latin typeface="Segoe UI"/>
                <a:ea typeface="Microsoft YaHei"/>
              </a:rPr>
              <a:t>· 存算分离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冷湖常驻，Serverless 读写按需拉起 · 空闲缩 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129016" y="4192524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E11D48"/>
                </a:solidFill>
                <a:latin typeface="Segoe UI"/>
                <a:ea typeface="Microsoft YaHei"/>
              </a:rPr>
              <a:t>· 到期即毁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DROP PARTITION + VACUUM 物理清除，附件与审计同步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129016" y="4434840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891B2"/>
                </a:solidFill>
                <a:latin typeface="Segoe UI"/>
                <a:ea typeface="Microsoft YaHei"/>
              </a:rPr>
              <a:t>· 零代码接入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元数据驱动前端 · 边际 +3~6 人天 / 系统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129016" y="4677155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59669"/>
                </a:solidFill>
                <a:latin typeface="Segoe UI"/>
                <a:ea typeface="Microsoft YaHei"/>
              </a:rPr>
              <a:t>· 读侧托管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Databricks SQL Serverless · 零集群运维 · UC 授权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129016" y="4919471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475569"/>
                </a:solidFill>
                <a:latin typeface="Segoe UI"/>
                <a:ea typeface="Microsoft YaHei"/>
              </a:rPr>
              <a:t>· 适用规模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≥15 套系统或 &gt;20 TB 长期保留 · PB 级从容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8001000" y="5358384"/>
            <a:ext cx="3986784" cy="786384"/>
          </a:xfrm>
          <a:prstGeom prst="roundRect">
            <a:avLst>
              <a:gd name="adj" fmla="val 8139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129016" y="5431536"/>
            <a:ext cx="3749039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45309"/>
                </a:solidFill>
                <a:latin typeface="Segoe UI"/>
                <a:ea typeface="Microsoft YaHei"/>
              </a:rPr>
              <a:t>B2 的取舍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129016" y="5596128"/>
            <a:ext cx="376732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92400E"/>
                </a:solidFill>
                <a:latin typeface="Segoe UI"/>
                <a:ea typeface="Microsoft YaHei"/>
              </a:rPr>
              <a:t>读侧完全托管、UC 治理原生；代价是计算引擎绑定 Databricks（数据仍为开放 Iceberg，随时可换引擎），且 Serverless / NCC 需 Premium 层。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B2 架构图集</dc:title>
  <dc:subject/>
  <dc:creator>RIMS 退役归档平台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