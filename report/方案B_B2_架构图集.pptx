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20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"/>
            <a:ext cx="12191695" cy="320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86600" y="1188720"/>
            <a:ext cx="5102352" cy="5394960"/>
          </a:xfrm>
          <a:prstGeom prst="roundRect">
            <a:avLst>
              <a:gd name="adj" fmla="val 44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0" y="1691640"/>
            <a:ext cx="4343400" cy="4343400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36992" y="2212848"/>
            <a:ext cx="3657600" cy="475488"/>
          </a:xfrm>
          <a:prstGeom prst="roundRect">
            <a:avLst>
              <a:gd name="adj" fmla="val 15384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36992" y="221284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47857"/>
                </a:solidFill>
                <a:latin typeface="Segoe UI"/>
                <a:ea typeface="Microsoft YaHei"/>
              </a:rPr>
              <a:t>访问入口 · 查询 / 审计 / 运维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65792" y="2688336"/>
            <a:ext cx="0" cy="320040"/>
          </a:xfrm>
          <a:prstGeom prst="line">
            <a:avLst/>
          </a:prstGeom>
          <a:ln w="2032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10" name="Rounded Rectangle 9"/>
          <p:cNvSpPr/>
          <p:nvPr/>
        </p:nvSpPr>
        <p:spPr>
          <a:xfrm>
            <a:off x="7936992" y="3008376"/>
            <a:ext cx="3657600" cy="475488"/>
          </a:xfrm>
          <a:prstGeom prst="roundRect">
            <a:avLst>
              <a:gd name="adj" fmla="val 15384"/>
            </a:avLst>
          </a:prstGeom>
          <a:solidFill>
            <a:srgbClr val="ECFEFF"/>
          </a:solidFill>
          <a:ln w="15240">
            <a:solidFill>
              <a:srgbClr val="A5F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3008376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E7490"/>
                </a:solidFill>
                <a:latin typeface="Segoe UI"/>
                <a:ea typeface="Microsoft YaHei"/>
              </a:rPr>
              <a:t>自研应用层 · AKS（React + .NET）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32520" y="3483864"/>
            <a:ext cx="0" cy="292608"/>
          </a:xfrm>
          <a:prstGeom prst="line">
            <a:avLst/>
          </a:prstGeom>
          <a:ln w="17780">
            <a:solidFill>
              <a:srgbClr val="059669"/>
            </a:solidFill>
            <a:tailEnd type="triangle" w="med" len="med"/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799064" y="3483864"/>
            <a:ext cx="0" cy="292608"/>
          </a:xfrm>
          <a:prstGeom prst="line">
            <a:avLst/>
          </a:prstGeom>
          <a:ln w="1778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14" name="Rounded Rectangle 13"/>
          <p:cNvSpPr/>
          <p:nvPr/>
        </p:nvSpPr>
        <p:spPr>
          <a:xfrm>
            <a:off x="7936992" y="3776472"/>
            <a:ext cx="1783080" cy="475488"/>
          </a:xfrm>
          <a:prstGeom prst="roundRect">
            <a:avLst>
              <a:gd name="adj" fmla="val 15384"/>
            </a:avLst>
          </a:prstGeom>
          <a:solidFill>
            <a:srgbClr val="F5F3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3776472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D28D9"/>
                </a:solidFill>
                <a:latin typeface="Segoe UI"/>
                <a:ea typeface="Microsoft YaHei"/>
              </a:rPr>
              <a:t>写侧 · Databricks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11512" y="3776472"/>
            <a:ext cx="1783080" cy="475488"/>
          </a:xfrm>
          <a:prstGeom prst="roundRect">
            <a:avLst>
              <a:gd name="adj" fmla="val 15384"/>
            </a:avLst>
          </a:prstGeom>
          <a:solidFill>
            <a:srgbClr val="F5F3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1512" y="3776472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D28D9"/>
                </a:solidFill>
                <a:latin typeface="Segoe UI"/>
                <a:ea typeface="Microsoft YaHei"/>
              </a:rPr>
              <a:t>读侧 · Serverless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65792" y="4251960"/>
            <a:ext cx="0" cy="310896"/>
          </a:xfrm>
          <a:prstGeom prst="line">
            <a:avLst/>
          </a:prstGeom>
          <a:ln w="17780">
            <a:solidFill>
              <a:srgbClr val="64748B"/>
            </a:solidFill>
            <a:tailEnd type="triangle" w="med" len="med"/>
          </a:ln>
          <a:effectLst/>
        </p:spPr>
      </p:cxnSp>
      <p:sp>
        <p:nvSpPr>
          <p:cNvPr id="19" name="Rounded Rectangle 18"/>
          <p:cNvSpPr/>
          <p:nvPr/>
        </p:nvSpPr>
        <p:spPr>
          <a:xfrm>
            <a:off x="7936992" y="4562856"/>
            <a:ext cx="3657600" cy="475488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4562856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40AF"/>
                </a:solidFill>
                <a:latin typeface="Segoe UI"/>
                <a:ea typeface="Microsoft YaHei"/>
              </a:rPr>
              <a:t>ADLS Gen2 · Iceberg 湖仓 + Blob 附件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6992" y="52303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Segoe UI"/>
                <a:ea typeface="Microsoft YaHei"/>
              </a:rPr>
              <a:t>存算分离 · 私有端点 · 合规销毁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141732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300">
                <a:solidFill>
                  <a:srgbClr val="64748B"/>
                </a:solidFill>
                <a:latin typeface="Segoe UI"/>
                <a:ea typeface="Microsoft YaHei"/>
              </a:rPr>
              <a:t>RIMS 退役归档平台 · 方案 B2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1755648"/>
            <a:ext cx="63093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F172A"/>
                </a:solidFill>
                <a:latin typeface="Segoe UI"/>
                <a:ea typeface="Microsoft YaHei"/>
              </a:rPr>
              <a:t>湖仓一体架构图集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2615184"/>
            <a:ext cx="566928" cy="4114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276148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  <a:ea typeface="Microsoft YaHei"/>
              </a:rPr>
              <a:t>架构图 · 数据加密设计 · ETL 引擎对比 · 元数据库 ER 图 · 全部以 PPT 原生形状绘制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2880360"/>
            <a:ext cx="5806440" cy="521207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64" y="2948940"/>
            <a:ext cx="384048" cy="384048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29489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8D4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2926079"/>
            <a:ext cx="5029200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  <a:ea typeface="Microsoft YaHei"/>
              </a:rPr>
              <a:t>Azure 基础设施部署架构 · 方案 B2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154679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4748B"/>
                </a:solidFill>
                <a:latin typeface="Segoe UI"/>
                <a:ea typeface="Microsoft YaHei"/>
              </a:rPr>
              <a:t>VNet · AKS · Databricks Serverless · NCC 私有端点 · 六大 PaaS 服务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" y="3447288"/>
            <a:ext cx="5806440" cy="521207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9264" y="3515868"/>
            <a:ext cx="384048" cy="384048"/>
          </a:xfrm>
          <a:prstGeom prst="roundRect">
            <a:avLst>
              <a:gd name="adj" fmla="val 19047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35158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59669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6192" y="3493008"/>
            <a:ext cx="5029200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  <a:ea typeface="Microsoft YaHei"/>
              </a:rPr>
              <a:t>应用架构图 · 方案 B2（湖仓一体 · Databricks SQL Serverless 读）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6192" y="37216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4748B"/>
                </a:solidFill>
                <a:latin typeface="Segoe UI"/>
                <a:ea typeface="Microsoft YaHei"/>
              </a:rPr>
              <a:t>访问入口 → 自研应用层（AKS）→ 写 / 读 / 附件三条链路 → 数据底座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4014215"/>
            <a:ext cx="5806440" cy="521207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9264" y="4082796"/>
            <a:ext cx="384048" cy="384048"/>
          </a:xfrm>
          <a:prstGeom prst="roundRect">
            <a:avLst>
              <a:gd name="adj" fmla="val 19047"/>
            </a:avLst>
          </a:prstGeom>
          <a:solidFill>
            <a:srgbClr val="F5F3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40827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3AED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059935"/>
            <a:ext cx="5029200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  <a:ea typeface="Microsoft YaHei"/>
              </a:rPr>
              <a:t>方案 B2 · 湖仓一体 · 存算分离架构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36192" y="4288536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4748B"/>
                </a:solidFill>
                <a:latin typeface="Segoe UI"/>
                <a:ea typeface="Microsoft YaHei"/>
              </a:rPr>
              <a:t>源系统 → 接入配置 → 抽取 → Iceberg 冷湖 → Databricks 读写一体计算层 → 消费入口 + 销毁回路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" y="4581144"/>
            <a:ext cx="5806440" cy="521207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69264" y="4649724"/>
            <a:ext cx="384048" cy="384048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" y="46497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8D4"/>
                </a:solidFill>
                <a:latin typeface="Consolas"/>
                <a:ea typeface="Microsoft YaHei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36192" y="4626864"/>
            <a:ext cx="5029200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  <a:ea typeface="Microsoft YaHei"/>
              </a:rPr>
              <a:t>方案 B2 · 数据加密设计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36192" y="4855464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4748B"/>
                </a:solidFill>
                <a:latin typeface="Segoe UI"/>
                <a:ea typeface="Microsoft YaHei"/>
              </a:rPr>
              <a:t>四层加密模型 · aes_encrypt + UC 列掩码 · 信封加密 / Crypto-Shredding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8" y="5148072"/>
            <a:ext cx="5806440" cy="521207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69264" y="5216652"/>
            <a:ext cx="384048" cy="384048"/>
          </a:xfrm>
          <a:prstGeom prst="roundRect">
            <a:avLst>
              <a:gd name="adj" fmla="val 19047"/>
            </a:avLst>
          </a:prstGeom>
          <a:solidFill>
            <a:srgbClr val="FFF7ED"/>
          </a:solidFill>
          <a:ln w="1524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52166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A580C"/>
                </a:solidFill>
                <a:latin typeface="Consolas"/>
                <a:ea typeface="Microsoft YaHe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36192" y="5193792"/>
            <a:ext cx="5029200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  <a:ea typeface="Microsoft YaHei"/>
              </a:rPr>
              <a:t>ETL 引擎对比 · SeaTunnel vs Databricks Serverless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36192" y="542239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4748B"/>
                </a:solidFill>
                <a:latin typeface="Segoe UI"/>
                <a:ea typeface="Microsoft YaHei"/>
              </a:rPr>
              <a:t>抽取入湖分工 + SeaTunnel 约 200 原生连接器生态 · 敏感数据走 Databricks 写侧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1248" y="5715000"/>
            <a:ext cx="5806440" cy="521207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69264" y="5783580"/>
            <a:ext cx="384048" cy="384048"/>
          </a:xfrm>
          <a:prstGeom prst="roundRect">
            <a:avLst>
              <a:gd name="adj" fmla="val 19047"/>
            </a:avLst>
          </a:prstGeom>
          <a:solidFill>
            <a:srgbClr val="F6F8FA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" y="57835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75569"/>
                </a:solidFill>
                <a:latin typeface="Consolas"/>
                <a:ea typeface="Microsoft YaHei"/>
              </a:rPr>
              <a:t>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36192" y="5760720"/>
            <a:ext cx="5029200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  <a:ea typeface="Microsoft YaHei"/>
              </a:rPr>
              <a:t>元数据库 ER 图（35 表 / 11 模块 · 上下两页）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36192" y="598932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4748B"/>
                </a:solidFill>
                <a:latin typeface="Segoe UI"/>
                <a:ea typeface="Microsoft YaHei"/>
              </a:rPr>
              <a:t>上篇：平台 / 权限 / 数据源配置　下篇：同步归档 / 动态查询 / 保留销毁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" y="6382512"/>
            <a:ext cx="5806440" cy="3200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" y="647395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  <a:ea typeface="Microsoft YaHei"/>
              </a:rPr>
              <a:t>整理自 report/Architecture.html · docs/数据库ER图与全量表结构.md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Azure 基础设施部署架构 · 方案 B2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" y="603504"/>
            <a:ext cx="1847088" cy="1773936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" y="69494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72A"/>
                </a:solidFill>
                <a:latin typeface="Segoe UI"/>
                <a:ea typeface="Microsoft YaHei"/>
              </a:rPr>
              <a:t>技术栈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905256"/>
            <a:ext cx="274320" cy="228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005840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78D4"/>
                </a:solidFill>
                <a:latin typeface="Segoe UI"/>
                <a:ea typeface="Microsoft YaHei"/>
              </a:rPr>
              <a:t>1  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前端 · 配置化查询平台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173175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78D4"/>
                </a:solidFill>
                <a:latin typeface="Segoe UI"/>
                <a:ea typeface="Microsoft YaHei"/>
              </a:rPr>
              <a:t>2  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后端 · .NET 10（AKS 容器化）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340510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78D4"/>
                </a:solidFill>
                <a:latin typeface="Segoe UI"/>
                <a:ea typeface="Microsoft YaHei"/>
              </a:rPr>
              <a:t>3  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抽取 · Apache SeaTunnel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1507845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78D4"/>
                </a:solidFill>
                <a:latin typeface="Segoe UI"/>
                <a:ea typeface="Microsoft YaHei"/>
              </a:rPr>
              <a:t>4  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编排 · Azure Data Factory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1675180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78D4"/>
                </a:solidFill>
                <a:latin typeface="Segoe UI"/>
                <a:ea typeface="Microsoft YaHei"/>
              </a:rPr>
              <a:t>5  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表格式 · Apache Iceberg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" y="1842516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78D4"/>
                </a:solidFill>
                <a:latin typeface="Segoe UI"/>
                <a:ea typeface="Microsoft YaHei"/>
              </a:rPr>
              <a:t>6  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引擎 · Databricks Serverless（读写）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" y="2009851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78D4"/>
                </a:solidFill>
                <a:latin typeface="Segoe UI"/>
                <a:ea typeface="Microsoft YaHei"/>
              </a:rPr>
              <a:t>7  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治理 · Unity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2177186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D97706"/>
                </a:solidFill>
                <a:latin typeface="Segoe UI"/>
                <a:ea typeface="Microsoft YaHei"/>
              </a:rPr>
              <a:t>8  </a:t>
            </a:r>
            <a:r>
              <a:rPr sz="680" b="1" i="0">
                <a:solidFill>
                  <a:srgbClr val="92400E"/>
                </a:solidFill>
                <a:latin typeface="Segoe UI"/>
                <a:ea typeface="Microsoft YaHei"/>
              </a:rPr>
              <a:t>附件迁移 · Azure Storage Mover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" y="2487168"/>
            <a:ext cx="1847088" cy="1810512"/>
          </a:xfrm>
          <a:prstGeom prst="roundRect">
            <a:avLst>
              <a:gd name="adj" fmla="val 3535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25603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47857"/>
                </a:solidFill>
                <a:latin typeface="Segoe UI"/>
                <a:ea typeface="Microsoft YaHei"/>
              </a:rPr>
              <a:t>终端用户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" y="2798064"/>
            <a:ext cx="1627632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2798064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F172A"/>
                </a:solidFill>
                <a:latin typeface="Segoe UI"/>
                <a:ea typeface="Microsoft YaHei"/>
              </a:rPr>
              <a:t>业务查询员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查本系统归档数据</a:t>
            </a:r>
          </a:p>
        </p:txBody>
      </p:sp>
      <p:sp>
        <p:nvSpPr>
          <p:cNvPr id="19" name="Oval 18"/>
          <p:cNvSpPr/>
          <p:nvPr/>
        </p:nvSpPr>
        <p:spPr>
          <a:xfrm>
            <a:off x="448330" y="2920136"/>
            <a:ext cx="54315" cy="54315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8167" y="2983504"/>
            <a:ext cx="94640" cy="61722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0896" y="3255264"/>
            <a:ext cx="1627632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3255264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F172A"/>
                </a:solidFill>
                <a:latin typeface="Segoe UI"/>
                <a:ea typeface="Microsoft YaHei"/>
              </a:rPr>
              <a:t>审计 / 合规岗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跨系统检索与举证</a:t>
            </a:r>
          </a:p>
        </p:txBody>
      </p:sp>
      <p:sp>
        <p:nvSpPr>
          <p:cNvPr id="23" name="Oval 22"/>
          <p:cNvSpPr/>
          <p:nvPr/>
        </p:nvSpPr>
        <p:spPr>
          <a:xfrm>
            <a:off x="448330" y="3377336"/>
            <a:ext cx="54315" cy="54315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8167" y="3440704"/>
            <a:ext cx="94640" cy="61722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0896" y="3712464"/>
            <a:ext cx="1627632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3712464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F172A"/>
                </a:solidFill>
                <a:latin typeface="Segoe UI"/>
                <a:ea typeface="Microsoft YaHei"/>
              </a:rPr>
              <a:t>平台运维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监控 · 销毁作业值守</a:t>
            </a:r>
          </a:p>
        </p:txBody>
      </p:sp>
      <p:sp>
        <p:nvSpPr>
          <p:cNvPr id="27" name="Oval 26"/>
          <p:cNvSpPr/>
          <p:nvPr/>
        </p:nvSpPr>
        <p:spPr>
          <a:xfrm>
            <a:off x="448330" y="3834536"/>
            <a:ext cx="54315" cy="54315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8167" y="3897904"/>
            <a:ext cx="94640" cy="61722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114800"/>
            <a:ext cx="170078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59669"/>
                </a:solidFill>
                <a:latin typeface="Segoe UI"/>
                <a:ea typeface="Microsoft YaHei"/>
              </a:rPr>
              <a:t>浏览器 HTTPS 443 · Entra ID 单点登录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76272" y="603504"/>
            <a:ext cx="568756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2576" y="676656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75569"/>
                </a:solidFill>
                <a:latin typeface="Segoe UI"/>
                <a:ea typeface="Microsoft YaHei"/>
              </a:rPr>
              <a:t>源系统 · 15 套待退役业务系统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694944"/>
            <a:ext cx="261518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94A3B8"/>
                </a:solidFill>
                <a:latin typeface="Segoe UI"/>
                <a:ea typeface="Microsoft YaHei"/>
              </a:rPr>
              <a:t>退役窗口内只读 · 数据只出不进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22576" y="914400"/>
            <a:ext cx="170078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9144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Oracle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TCP 1521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85567" y="1109990"/>
            <a:ext cx="112928" cy="5385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485567" y="1091747"/>
            <a:ext cx="112928" cy="24323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485567" y="1163848"/>
            <a:ext cx="112928" cy="24323"/>
          </a:xfrm>
          <a:prstGeom prst="ellipse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151376" y="914400"/>
            <a:ext cx="170078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78808" y="9144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MySQL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TCP 3306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4367" y="1109990"/>
            <a:ext cx="112928" cy="5385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314367" y="1091747"/>
            <a:ext cx="112928" cy="24323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314367" y="1163848"/>
            <a:ext cx="112928" cy="24323"/>
          </a:xfrm>
          <a:prstGeom prst="ellipse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980176" y="914400"/>
            <a:ext cx="170078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07608" y="9144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DB2 / 其他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TCP 50000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43167" y="1109990"/>
            <a:ext cx="112928" cy="5385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3167" y="1091747"/>
            <a:ext cx="112928" cy="24323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43167" y="1163848"/>
            <a:ext cx="112928" cy="24323"/>
          </a:xfrm>
          <a:prstGeom prst="ellipse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322576" y="1481328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50008" y="1481328"/>
            <a:ext cx="259689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F172A"/>
                </a:solidFill>
                <a:latin typeface="Segoe UI"/>
                <a:ea typeface="Microsoft YaHei"/>
              </a:rPr>
              <a:t>结构化抽取 · </a:t>
            </a:r>
            <a:r>
              <a:rPr sz="740" b="1" i="0">
                <a:solidFill>
                  <a:srgbClr val="EA580C"/>
                </a:solidFill>
                <a:latin typeface="Segoe UI"/>
                <a:ea typeface="Microsoft YaHei"/>
              </a:rPr>
              <a:t>Apache SeaTunnel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仅读权限 · 按勾选的表抽取（10 选 5）· ADF 编排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84064" y="1481328"/>
            <a:ext cx="2596896" cy="4572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11496" y="1481328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92400E"/>
                </a:solidFill>
                <a:latin typeface="Segoe UI"/>
                <a:ea typeface="Microsoft YaHei"/>
              </a:rPr>
              <a:t>附件迁移 · </a:t>
            </a:r>
            <a:r>
              <a:rPr sz="740" b="1" i="0">
                <a:solidFill>
                  <a:srgbClr val="D97706"/>
                </a:solidFill>
                <a:latin typeface="Segoe UI"/>
                <a:ea typeface="Microsoft YaHei"/>
              </a:rPr>
              <a:t>Storage Mover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8350F"/>
                </a:solidFill>
                <a:latin typeface="Segoe UI"/>
                <a:ea typeface="Microsoft YaHei"/>
              </a:rPr>
              <a:t>读 NFS / S3 / Blob 附件源 · 服务免费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22576" y="1920240"/>
            <a:ext cx="53949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97706"/>
                </a:solidFill>
                <a:latin typeface="Segoe UI"/>
                <a:ea typeface="Microsoft YaHei"/>
              </a:rPr>
              <a:t>跨机房链路：ExpressRoute / 站点到站点 VPN · 源库防火墙放行 NAT 固定出口 IP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91856" y="603504"/>
            <a:ext cx="1591056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01583" y="676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Segoe UI"/>
                <a:ea typeface="Microsoft YaHei"/>
              </a:rPr>
              <a:t>网络连通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01583" y="8961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78D4"/>
                </a:solidFill>
                <a:latin typeface="Segoe UI"/>
                <a:ea typeface="Microsoft YaHei"/>
              </a:rPr>
              <a:t>· </a:t>
            </a:r>
            <a:r>
              <a:rPr sz="640" b="0" i="0">
                <a:solidFill>
                  <a:srgbClr val="475569"/>
                </a:solidFill>
                <a:latin typeface="Segoe UI"/>
                <a:ea typeface="Microsoft YaHei"/>
              </a:rPr>
              <a:t>ExpressRoute / S2S VPN 专线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01583" y="1161288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78D4"/>
                </a:solidFill>
                <a:latin typeface="Segoe UI"/>
                <a:ea typeface="Microsoft YaHei"/>
              </a:rPr>
              <a:t>· </a:t>
            </a:r>
            <a:r>
              <a:rPr sz="640" b="0" i="0">
                <a:solidFill>
                  <a:srgbClr val="475569"/>
                </a:solidFill>
                <a:latin typeface="Segoe UI"/>
                <a:ea typeface="Microsoft YaHei"/>
              </a:rPr>
              <a:t>NAT 固定出口 IP 白名单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01583" y="1426464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78D4"/>
                </a:solidFill>
                <a:latin typeface="Segoe UI"/>
                <a:ea typeface="Microsoft YaHei"/>
              </a:rPr>
              <a:t>· </a:t>
            </a:r>
            <a:r>
              <a:rPr sz="640" b="0" i="0">
                <a:solidFill>
                  <a:srgbClr val="475569"/>
                </a:solidFill>
                <a:latin typeface="Segoe UI"/>
                <a:ea typeface="Microsoft YaHei"/>
              </a:rPr>
              <a:t>PaaS 全私有端点 · 禁公网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1583" y="1691639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78D4"/>
                </a:solidFill>
                <a:latin typeface="Segoe UI"/>
                <a:ea typeface="Microsoft YaHei"/>
              </a:rPr>
              <a:t>· </a:t>
            </a:r>
            <a:r>
              <a:rPr sz="640" b="0" i="0">
                <a:solidFill>
                  <a:srgbClr val="475569"/>
                </a:solidFill>
                <a:latin typeface="Segoe UI"/>
                <a:ea typeface="Microsoft YaHei"/>
              </a:rPr>
              <a:t>WAF + App Gateway 收敛入口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92640" y="603504"/>
            <a:ext cx="2304288" cy="3694176"/>
          </a:xfrm>
          <a:prstGeom prst="roundRect">
            <a:avLst>
              <a:gd name="adj" fmla="val 3174"/>
            </a:avLst>
          </a:prstGeom>
          <a:solidFill>
            <a:srgbClr val="FAF9FF"/>
          </a:solidFill>
          <a:ln w="17780">
            <a:solidFill>
              <a:srgbClr val="7C3AE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20656" y="694944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3AED"/>
                </a:solidFill>
                <a:latin typeface="Segoe UI"/>
                <a:ea typeface="Microsoft YaHei"/>
              </a:rPr>
              <a:t>Databricks 托管平面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0656" y="886968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C2626"/>
                </a:solidFill>
                <a:latin typeface="Segoe UI"/>
                <a:ea typeface="Microsoft YaHei"/>
              </a:rPr>
              <a:t>★ 不在你的 VNet 内 · 运行于 Databricks 账户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820656" y="1078992"/>
            <a:ext cx="2048256" cy="676656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949586" y="1186434"/>
            <a:ext cx="71323" cy="5143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933813" y="1200149"/>
            <a:ext cx="48006" cy="35661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988677" y="1194663"/>
            <a:ext cx="45262" cy="39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75520" y="1133856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D28D9"/>
                </a:solidFill>
                <a:latin typeface="Segoe UI"/>
                <a:ea typeface="Microsoft YaHei"/>
              </a:rPr>
              <a:t>控制平面 Control Plane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5520" y="1335024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Web UI · 作业调度 · 无状态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75520" y="1495044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Unity Catalog 元数据服务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820656" y="1819656"/>
            <a:ext cx="2048256" cy="676656"/>
          </a:xfrm>
          <a:prstGeom prst="roundRect">
            <a:avLst>
              <a:gd name="adj" fmla="val 6756"/>
            </a:avLst>
          </a:prstGeom>
          <a:solidFill>
            <a:srgbClr val="F5F3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949586" y="1927098"/>
            <a:ext cx="71323" cy="5143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933813" y="1940814"/>
            <a:ext cx="48006" cy="35661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988677" y="1935327"/>
            <a:ext cx="45262" cy="39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75520" y="1874519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D28D9"/>
                </a:solidFill>
                <a:latin typeface="Segoe UI"/>
                <a:ea typeface="Microsoft YaHei"/>
              </a:rPr>
              <a:t>Databricks SQL Serverless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75520" y="2075688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读侧查询 · X-Small 6 DBU/h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75520" y="2235708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64748B"/>
                </a:solidFill>
                <a:latin typeface="Segoe UI"/>
                <a:ea typeface="Microsoft YaHei"/>
              </a:rPr>
              <a:t>空闲自动缩到 0 · 零运维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820656" y="2560320"/>
            <a:ext cx="2048256" cy="676656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949586" y="2667762"/>
            <a:ext cx="71323" cy="5143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33813" y="2681478"/>
            <a:ext cx="48006" cy="35661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88677" y="2675991"/>
            <a:ext cx="45262" cy="39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75520" y="2615184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D28D9"/>
                </a:solidFill>
                <a:latin typeface="Segoe UI"/>
                <a:ea typeface="Microsoft YaHei"/>
              </a:rPr>
              <a:t>Databricks Serverless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75520" y="2816352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写侧 ETL：RAW→CURATED→LAKE→SERVE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75520" y="2976372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Compaction · VACUUM · 到期销毁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820656" y="3300984"/>
            <a:ext cx="2048256" cy="548640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651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949586" y="3408426"/>
            <a:ext cx="71323" cy="5143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933813" y="3422142"/>
            <a:ext cx="48006" cy="35661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988677" y="3416655"/>
            <a:ext cx="45262" cy="39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875520" y="3355848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47857"/>
                </a:solidFill>
                <a:latin typeface="Segoe UI"/>
                <a:ea typeface="Microsoft YaHei"/>
              </a:rPr>
              <a:t>NCC 网络连接 + 托管私有端点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75520" y="3557015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59669"/>
                </a:solidFill>
                <a:latin typeface="Segoe UI"/>
                <a:ea typeface="Microsoft YaHei"/>
              </a:rPr>
              <a:t>Serverless 私有访问 ADLS 的唯一通道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820656" y="3968496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7C3AED"/>
                </a:solidFill>
                <a:latin typeface="Segoe UI"/>
                <a:ea typeface="Microsoft YaHei"/>
              </a:rPr>
              <a:t>Premium 档（新建唯一档）· NCC 需 Account Admin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176272" y="2212848"/>
            <a:ext cx="7406640" cy="2084831"/>
          </a:xfrm>
          <a:prstGeom prst="roundRect">
            <a:avLst>
              <a:gd name="adj" fmla="val 3508"/>
            </a:avLst>
          </a:prstGeom>
          <a:solidFill>
            <a:srgbClr val="F0F7FC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322576" y="228600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8D4"/>
                </a:solidFill>
                <a:latin typeface="Segoe UI"/>
                <a:ea typeface="Microsoft YaHei"/>
              </a:rPr>
              <a:t>Azure VNet · 10.0.0.0/16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60720" y="2322576"/>
            <a:ext cx="329184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Hub-Spoke · NSG 管控 · PaaS 全部关闭公网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322576" y="2505456"/>
            <a:ext cx="87782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350008" y="2505456"/>
            <a:ext cx="822959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WAF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OWASP 防护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346704" y="2505456"/>
            <a:ext cx="133502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74136" y="2505456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Segoe UI"/>
                <a:ea typeface="Microsoft YaHei"/>
              </a:rPr>
              <a:t>Application Gateway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TLS 终止 · 七层路由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828032" y="2505456"/>
            <a:ext cx="96926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855464" y="2505456"/>
            <a:ext cx="9144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Segoe UI"/>
                <a:ea typeface="Microsoft YaHei"/>
              </a:rPr>
              <a:t>NAT Gateway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出站固定 IP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200400" y="2715768"/>
            <a:ext cx="128016" cy="0"/>
          </a:xfrm>
          <a:prstGeom prst="line">
            <a:avLst/>
          </a:prstGeom>
          <a:ln w="17780">
            <a:solidFill>
              <a:srgbClr val="0078D4"/>
            </a:solidFill>
            <a:tailEnd type="triangle" w="med" len="med"/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4681728" y="2715768"/>
            <a:ext cx="128016" cy="0"/>
          </a:xfrm>
          <a:prstGeom prst="line">
            <a:avLst/>
          </a:prstGeom>
          <a:ln w="17780">
            <a:solidFill>
              <a:srgbClr val="0078D4"/>
            </a:solidFill>
            <a:tailEnd type="triangle" w="med" len="med"/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4014215" y="2926080"/>
            <a:ext cx="0" cy="109728"/>
          </a:xfrm>
          <a:prstGeom prst="line">
            <a:avLst/>
          </a:prstGeom>
          <a:ln w="17780">
            <a:solidFill>
              <a:srgbClr val="0078D4"/>
            </a:solidFill>
            <a:tailEnd type="triangle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6172200" y="2560320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475569"/>
                </a:solidFill>
                <a:latin typeface="Segoe UI"/>
                <a:ea typeface="Microsoft YaHei"/>
              </a:rPr>
              <a:t>私有 DNS：</a:t>
            </a: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privatelink.* 区域集中解析，AKS / Databricks 经内网域名访问 PaaS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322576" y="3054096"/>
            <a:ext cx="4206240" cy="1133856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432304" y="3127248"/>
            <a:ext cx="237744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78D4"/>
                </a:solidFill>
                <a:latin typeface="Segoe UI"/>
                <a:ea typeface="Microsoft YaHei"/>
              </a:rPr>
              <a:t>AKS 子网 · 10.0.1.0/24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06240" y="3145536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94A3B8"/>
                </a:solidFill>
                <a:latin typeface="Segoe UI"/>
                <a:ea typeface="Microsoft YaHei"/>
              </a:rPr>
              <a:t>跨 AZ 节点池 · HPA · 托管标识免密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432304" y="3310128"/>
            <a:ext cx="3986784" cy="512064"/>
          </a:xfrm>
          <a:prstGeom prst="roundRect">
            <a:avLst>
              <a:gd name="adj" fmla="val 8928"/>
            </a:avLst>
          </a:prstGeom>
          <a:noFill/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505456" y="3337560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475569"/>
                </a:solidFill>
                <a:latin typeface="Segoe UI"/>
                <a:ea typeface="Microsoft YaHei"/>
              </a:rPr>
              <a:t>Node · 跨可用区冗余 · 托管节点池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523744" y="3456432"/>
            <a:ext cx="1920240" cy="329184"/>
          </a:xfrm>
          <a:prstGeom prst="roundRect">
            <a:avLst>
              <a:gd name="adj" fmla="val 13888"/>
            </a:avLst>
          </a:prstGeom>
          <a:solidFill>
            <a:srgbClr val="EFF6FF"/>
          </a:solidFill>
          <a:ln w="1778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551175" y="3456432"/>
            <a:ext cx="186537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E40AF"/>
                </a:solidFill>
                <a:latin typeface="Segoe UI"/>
                <a:ea typeface="Microsoft YaHei"/>
              </a:rPr>
              <a:t>前端 Pod · React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配置化查询界面 · JSON Schema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517136" y="3456432"/>
            <a:ext cx="1828800" cy="329184"/>
          </a:xfrm>
          <a:prstGeom prst="roundRect">
            <a:avLst>
              <a:gd name="adj" fmla="val 13888"/>
            </a:avLst>
          </a:prstGeom>
          <a:solidFill>
            <a:srgbClr val="F0F9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544568" y="3456432"/>
            <a:ext cx="177393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0E7490"/>
                </a:solidFill>
                <a:latin typeface="Segoe UI"/>
                <a:ea typeface="Microsoft YaHei"/>
              </a:rPr>
              <a:t>后端 Pod · .NET 单体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元数据 · 权限 · 查询代理 · 审计 · 销毁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432304" y="3895344"/>
            <a:ext cx="3986784" cy="219456"/>
          </a:xfrm>
          <a:prstGeom prst="roundRect">
            <a:avLst>
              <a:gd name="adj" fmla="val 16666"/>
            </a:avLst>
          </a:prstGeom>
          <a:solidFill>
            <a:srgbClr val="F0F9FF"/>
          </a:solidFill>
          <a:ln w="1270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487168" y="3895344"/>
            <a:ext cx="387705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C4A6E"/>
                </a:solidFill>
                <a:latin typeface="Segoe UI"/>
                <a:ea typeface="Microsoft YaHei"/>
              </a:rPr>
              <a:t>元数据服务：系统台账 · 表清单勾选 · 保留期与销毁策略 · 任务记录 · 操作审计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675120" y="3054096"/>
            <a:ext cx="2798064" cy="1133856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784848" y="3127248"/>
            <a:ext cx="265176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78D4"/>
                </a:solidFill>
                <a:latin typeface="Segoe UI"/>
                <a:ea typeface="Microsoft YaHei"/>
              </a:rPr>
              <a:t>私有端点子网 · 10.0.2.0/24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84848" y="3328416"/>
            <a:ext cx="1280160" cy="310896"/>
          </a:xfrm>
          <a:prstGeom prst="roundRect">
            <a:avLst>
              <a:gd name="adj" fmla="val 11764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812280" y="3328416"/>
            <a:ext cx="1225295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1E40AF"/>
                </a:solidFill>
                <a:latin typeface="Segoe UI"/>
                <a:ea typeface="Microsoft YaHei"/>
              </a:rPr>
              <a:t>ADLS 私有端点（blob + dfs）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119871" y="3328416"/>
            <a:ext cx="1280160" cy="310896"/>
          </a:xfrm>
          <a:prstGeom prst="roundRect">
            <a:avLst>
              <a:gd name="adj" fmla="val 11764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147303" y="3328416"/>
            <a:ext cx="1225295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1E40AF"/>
                </a:solidFill>
                <a:latin typeface="Segoe UI"/>
                <a:ea typeface="Microsoft YaHei"/>
              </a:rPr>
              <a:t>SQL Database 私有端点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784848" y="3694176"/>
            <a:ext cx="1280160" cy="310896"/>
          </a:xfrm>
          <a:prstGeom prst="roundRect">
            <a:avLst>
              <a:gd name="adj" fmla="val 11764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812280" y="3694176"/>
            <a:ext cx="1225295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1E40AF"/>
                </a:solidFill>
                <a:latin typeface="Segoe UI"/>
                <a:ea typeface="Microsoft YaHei"/>
              </a:rPr>
              <a:t>Key Vault 私有端点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119871" y="3694176"/>
            <a:ext cx="1280160" cy="310896"/>
          </a:xfrm>
          <a:prstGeom prst="roundRect">
            <a:avLst>
              <a:gd name="adj" fmla="val 11764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147303" y="3694176"/>
            <a:ext cx="1225295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1E40AF"/>
                </a:solidFill>
                <a:latin typeface="Segoe UI"/>
                <a:ea typeface="Microsoft YaHei"/>
              </a:rPr>
              <a:t>Databricks 工作区端点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784848" y="4041648"/>
            <a:ext cx="2578608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94A3B8"/>
                </a:solidFill>
                <a:latin typeface="Segoe UI"/>
                <a:ea typeface="Microsoft YaHei"/>
              </a:rPr>
              <a:t>子网内为私有端点 NIC · PaaS 本体在 Azure 平台侧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6528816" y="3584448"/>
            <a:ext cx="128016" cy="0"/>
          </a:xfrm>
          <a:prstGeom prst="line">
            <a:avLst/>
          </a:prstGeom>
          <a:ln w="17780">
            <a:solidFill>
              <a:srgbClr val="0078D4"/>
            </a:solidFill>
            <a:tailEnd type="triangle" w="med" len="med"/>
          </a:ln>
          <a:effectLst/>
        </p:spPr>
      </p:cxnSp>
      <p:sp>
        <p:nvSpPr>
          <p:cNvPr id="126" name="TextBox 125"/>
          <p:cNvSpPr txBox="1"/>
          <p:nvPr/>
        </p:nvSpPr>
        <p:spPr>
          <a:xfrm>
            <a:off x="6419088" y="3383280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078D4"/>
                </a:solidFill>
                <a:latin typeface="Segoe UI"/>
                <a:ea typeface="Microsoft YaHei"/>
              </a:rPr>
              <a:t>内网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419088" y="3657600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078D4"/>
                </a:solidFill>
                <a:latin typeface="Segoe UI"/>
                <a:ea typeface="Microsoft YaHei"/>
              </a:rPr>
              <a:t>调用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2048256" y="2715768"/>
            <a:ext cx="256032" cy="0"/>
          </a:xfrm>
          <a:prstGeom prst="line">
            <a:avLst/>
          </a:prstGeom>
          <a:ln w="2032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129" name="TextBox 128"/>
          <p:cNvSpPr txBox="1"/>
          <p:nvPr/>
        </p:nvSpPr>
        <p:spPr>
          <a:xfrm>
            <a:off x="1188720" y="2542032"/>
            <a:ext cx="9144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059669"/>
                </a:solidFill>
                <a:latin typeface="Segoe UI"/>
                <a:ea typeface="Microsoft YaHei"/>
              </a:rPr>
              <a:t>HTTPS 443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6035040" y="2066543"/>
            <a:ext cx="0" cy="969265"/>
          </a:xfrm>
          <a:prstGeom prst="line">
            <a:avLst/>
          </a:prstGeom>
          <a:ln w="16510">
            <a:solidFill>
              <a:srgbClr val="D97706"/>
            </a:solidFill>
            <a:prstDash val="dash"/>
            <a:tailEnd type="triangle" w="med" len="med"/>
          </a:ln>
          <a:effectLst/>
        </p:spPr>
      </p:cxnSp>
      <p:sp>
        <p:nvSpPr>
          <p:cNvPr id="131" name="TextBox 130"/>
          <p:cNvSpPr txBox="1"/>
          <p:nvPr/>
        </p:nvSpPr>
        <p:spPr>
          <a:xfrm>
            <a:off x="6163056" y="2871216"/>
            <a:ext cx="210312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D97706"/>
                </a:solidFill>
                <a:latin typeface="Segoe UI"/>
                <a:ea typeface="Microsoft YaHei"/>
              </a:rPr>
              <a:t>SeaTunnel 抽取 · NAT 固定 IP</a:t>
            </a:r>
          </a:p>
        </p:txBody>
      </p:sp>
      <p:cxnSp>
        <p:nvCxnSpPr>
          <p:cNvPr id="132" name="Connector 131"/>
          <p:cNvCxnSpPr/>
          <p:nvPr/>
        </p:nvCxnSpPr>
        <p:spPr>
          <a:xfrm flipV="1">
            <a:off x="5312664" y="2103120"/>
            <a:ext cx="0" cy="384048"/>
          </a:xfrm>
          <a:prstGeom prst="line">
            <a:avLst/>
          </a:prstGeom>
          <a:ln w="13970">
            <a:solidFill>
              <a:srgbClr val="D97706"/>
            </a:solidFill>
            <a:prstDash val="dash"/>
            <a:tailEnd type="triangle" w="med" len="med"/>
          </a:ln>
          <a:effectLst/>
        </p:spPr>
      </p:cxnSp>
      <p:sp>
        <p:nvSpPr>
          <p:cNvPr id="133" name="TextBox 132"/>
          <p:cNvSpPr txBox="1"/>
          <p:nvPr/>
        </p:nvSpPr>
        <p:spPr>
          <a:xfrm>
            <a:off x="4023360" y="2084831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D97706"/>
                </a:solidFill>
                <a:latin typeface="Segoe UI"/>
                <a:ea typeface="Microsoft YaHei"/>
              </a:rPr>
              <a:t>出站固定 IP ↑</a:t>
            </a:r>
          </a:p>
        </p:txBody>
      </p:sp>
      <p:cxnSp>
        <p:nvCxnSpPr>
          <p:cNvPr id="134" name="Connector 133"/>
          <p:cNvCxnSpPr/>
          <p:nvPr/>
        </p:nvCxnSpPr>
        <p:spPr>
          <a:xfrm flipV="1">
            <a:off x="9326880" y="2212848"/>
            <a:ext cx="0" cy="841248"/>
          </a:xfrm>
          <a:prstGeom prst="line">
            <a:avLst/>
          </a:prstGeom>
          <a:ln w="17780">
            <a:solidFill>
              <a:srgbClr val="7C3AED"/>
            </a:solidFill>
            <a:prstDash val="dash"/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9326880" y="2212848"/>
            <a:ext cx="347472" cy="0"/>
          </a:xfrm>
          <a:prstGeom prst="line">
            <a:avLst/>
          </a:prstGeom>
          <a:ln w="17780">
            <a:solidFill>
              <a:srgbClr val="7C3AED"/>
            </a:solidFill>
            <a:prstDash val="dash"/>
            <a:tailEnd type="triangle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7726679" y="2048256"/>
            <a:ext cx="18288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7C3AED"/>
                </a:solidFill>
                <a:latin typeface="Segoe UI"/>
                <a:ea typeface="Microsoft YaHei"/>
              </a:rPr>
              <a:t>Private Link · JDBC / ODBC 443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01168" y="4425696"/>
            <a:ext cx="11795760" cy="1316736"/>
          </a:xfrm>
          <a:prstGeom prst="roundRect">
            <a:avLst>
              <a:gd name="adj" fmla="val 5555"/>
            </a:avLst>
          </a:prstGeom>
          <a:solidFill>
            <a:srgbClr val="F0FAF6"/>
          </a:solidFill>
          <a:ln w="1651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47472" y="44988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  <a:ea typeface="Microsoft YaHei"/>
              </a:rPr>
              <a:t>Azure PaaS 数据与治理服务 · 全部私有端点接入 · 公网访问已禁用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10896" y="4736592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329184" y="4791456"/>
            <a:ext cx="32004" cy="804672"/>
          </a:xfrm>
          <a:prstGeom prst="roundRect">
            <a:avLst>
              <a:gd name="adj" fmla="val 48571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20624" y="4791456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F172A"/>
                </a:solidFill>
                <a:latin typeface="Segoe UI"/>
                <a:ea typeface="Microsoft YaHei"/>
              </a:rPr>
              <a:t>Microsoft Entra ID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84048" y="4956048"/>
            <a:ext cx="1682496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0078D4"/>
                </a:solidFill>
                <a:latin typeface="Segoe UI"/>
                <a:ea typeface="Microsoft YaHei"/>
              </a:rPr>
              <a:t>身份与单点登录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84048" y="5093208"/>
            <a:ext cx="1682496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SAML / OIDC · 托管标识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21792" y="5239512"/>
            <a:ext cx="1188720" cy="155448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49224" y="5239512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475569"/>
                </a:solidFill>
                <a:latin typeface="Segoe UI"/>
                <a:ea typeface="Microsoft YaHei"/>
              </a:rPr>
              <a:t>全局服务 · 443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10896" y="5440680"/>
            <a:ext cx="1810512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64748B"/>
                </a:solidFill>
                <a:latin typeface="Segoe UI"/>
                <a:ea typeface="Microsoft YaHei"/>
              </a:rPr>
              <a:t>认证走 443 · 无私有端点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212848" y="4736592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2231136" y="4791456"/>
            <a:ext cx="32004" cy="804672"/>
          </a:xfrm>
          <a:prstGeom prst="roundRect">
            <a:avLst>
              <a:gd name="adj" fmla="val 48571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322576" y="4791456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F172A"/>
                </a:solidFill>
                <a:latin typeface="Segoe UI"/>
                <a:ea typeface="Microsoft YaHei"/>
              </a:rPr>
              <a:t>Application Insights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286000" y="4956048"/>
            <a:ext cx="1682496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0078D4"/>
                </a:solidFill>
                <a:latin typeface="Segoe UI"/>
                <a:ea typeface="Microsoft YaHei"/>
              </a:rPr>
              <a:t>审计留痕与链路追踪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286000" y="5093208"/>
            <a:ext cx="1682496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操作日志 · 告警规则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523744" y="5239512"/>
            <a:ext cx="1188720" cy="155448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551175" y="5239512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1E40AF"/>
                </a:solidFill>
                <a:latin typeface="Segoe UI"/>
                <a:ea typeface="Microsoft YaHei"/>
              </a:rPr>
              <a:t>Private Endpoint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212848" y="5440680"/>
            <a:ext cx="1810512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DC2626"/>
                </a:solidFill>
                <a:latin typeface="Segoe UI"/>
                <a:ea typeface="Microsoft YaHei"/>
              </a:rPr>
              <a:t>公网访问：已禁用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114800" y="4736592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4133087" y="4791456"/>
            <a:ext cx="32004" cy="804672"/>
          </a:xfrm>
          <a:prstGeom prst="roundRect">
            <a:avLst>
              <a:gd name="adj" fmla="val 48571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224528" y="4791456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F172A"/>
                </a:solidFill>
                <a:latin typeface="Segoe UI"/>
                <a:ea typeface="Microsoft YaHei"/>
              </a:rPr>
              <a:t>Azure Monitor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187952" y="4956048"/>
            <a:ext cx="1682496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0078D4"/>
                </a:solidFill>
                <a:latin typeface="Segoe UI"/>
                <a:ea typeface="Microsoft YaHei"/>
              </a:rPr>
              <a:t>资源指标与告警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187952" y="5093208"/>
            <a:ext cx="1682496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仪表板 · 自动化响应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425696" y="5239512"/>
            <a:ext cx="1188720" cy="155448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453128" y="5239512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1E40AF"/>
                </a:solidFill>
                <a:latin typeface="Segoe UI"/>
                <a:ea typeface="Microsoft YaHei"/>
              </a:rPr>
              <a:t>Private Endpoint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114800" y="5440680"/>
            <a:ext cx="1810512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DC2626"/>
                </a:solidFill>
                <a:latin typeface="Segoe UI"/>
                <a:ea typeface="Microsoft YaHei"/>
              </a:rPr>
              <a:t>公网访问：已禁用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016752" y="4736592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6035040" y="4791456"/>
            <a:ext cx="32004" cy="804672"/>
          </a:xfrm>
          <a:prstGeom prst="roundRect">
            <a:avLst>
              <a:gd name="adj" fmla="val 48571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126480" y="4791456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F172A"/>
                </a:solidFill>
                <a:latin typeface="Segoe UI"/>
                <a:ea typeface="Microsoft YaHei"/>
              </a:rPr>
              <a:t>Azure Key Vault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089904" y="4956048"/>
            <a:ext cx="1682496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0078D4"/>
                </a:solidFill>
                <a:latin typeface="Segoe UI"/>
                <a:ea typeface="Microsoft YaHei"/>
              </a:rPr>
              <a:t>密钥与凭据托管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089904" y="5093208"/>
            <a:ext cx="1682496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CMK · 源库连接串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327648" y="5239512"/>
            <a:ext cx="1188720" cy="155448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355080" y="5239512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1E40AF"/>
                </a:solidFill>
                <a:latin typeface="Segoe UI"/>
                <a:ea typeface="Microsoft YaHei"/>
              </a:rPr>
              <a:t>Private Endpoint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016752" y="5440680"/>
            <a:ext cx="1810512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DC2626"/>
                </a:solidFill>
                <a:latin typeface="Segoe UI"/>
                <a:ea typeface="Microsoft YaHei"/>
              </a:rPr>
              <a:t>公网访问：已禁用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918704" y="4736592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7936992" y="4791456"/>
            <a:ext cx="32004" cy="804672"/>
          </a:xfrm>
          <a:prstGeom prst="roundRect">
            <a:avLst>
              <a:gd name="adj" fmla="val 48571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028431" y="4791456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F172A"/>
                </a:solidFill>
                <a:latin typeface="Segoe UI"/>
                <a:ea typeface="Microsoft YaHei"/>
              </a:rPr>
              <a:t>Azure SQL Database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991856" y="4956048"/>
            <a:ext cx="1682496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0078D4"/>
                </a:solidFill>
                <a:latin typeface="Segoe UI"/>
                <a:ea typeface="Microsoft YaHei"/>
              </a:rPr>
              <a:t>元数据库 Standard S2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991856" y="5093208"/>
            <a:ext cx="1682496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主备自动故障转移 · PITR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8229600" y="5239512"/>
            <a:ext cx="1188720" cy="155448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8257031" y="5239512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1E40AF"/>
                </a:solidFill>
                <a:latin typeface="Segoe UI"/>
                <a:ea typeface="Microsoft YaHei"/>
              </a:rPr>
              <a:t>Private Endpoint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918704" y="5440680"/>
            <a:ext cx="1810512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DC2626"/>
                </a:solidFill>
                <a:latin typeface="Segoe UI"/>
                <a:ea typeface="Microsoft YaHei"/>
              </a:rPr>
              <a:t>公网访问：已禁用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9820656" y="4736592"/>
            <a:ext cx="188366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9838944" y="4791456"/>
            <a:ext cx="32004" cy="804672"/>
          </a:xfrm>
          <a:prstGeom prst="roundRect">
            <a:avLst>
              <a:gd name="adj" fmla="val 48571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9875520" y="4782312"/>
            <a:ext cx="179222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F172A"/>
                </a:solidFill>
                <a:latin typeface="Segoe UI"/>
                <a:ea typeface="Microsoft YaHei"/>
              </a:rPr>
              <a:t>两个独立存储账户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875520" y="4928616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078D4"/>
                </a:solidFill>
                <a:latin typeface="Segoe UI"/>
                <a:ea typeface="Microsoft YaHei"/>
              </a:rPr>
              <a:t>① ADLS Gen2（HNS）· Iceberg 湖表 · ZRS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D97706"/>
                </a:solidFill>
                <a:latin typeface="Segoe UI"/>
                <a:ea typeface="Microsoft YaHei"/>
              </a:rPr>
              <a:t>② Blob（FNS）· 附件 · Cool→Cold · 可 WORM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0168128" y="5239512"/>
            <a:ext cx="1188720" cy="155448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195559" y="5239512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1E40AF"/>
                </a:solidFill>
                <a:latin typeface="Segoe UI"/>
                <a:ea typeface="Microsoft YaHei"/>
              </a:rPr>
              <a:t>Private Endpoint ×2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820656" y="5440680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DC2626"/>
                </a:solidFill>
                <a:latin typeface="Segoe UI"/>
                <a:ea typeface="Microsoft YaHei"/>
              </a:rPr>
              <a:t>公网访问：已禁用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6922008" y="4187952"/>
            <a:ext cx="0" cy="530352"/>
          </a:xfrm>
          <a:prstGeom prst="line">
            <a:avLst/>
          </a:prstGeom>
          <a:ln w="15240">
            <a:solidFill>
              <a:srgbClr val="0078D4"/>
            </a:solidFill>
            <a:prstDash val="dash"/>
            <a:tailEnd type="triangle" w="med" len="med"/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8823960" y="4187952"/>
            <a:ext cx="0" cy="530352"/>
          </a:xfrm>
          <a:prstGeom prst="line">
            <a:avLst/>
          </a:prstGeom>
          <a:ln w="15240">
            <a:solidFill>
              <a:srgbClr val="0078D4"/>
            </a:solidFill>
            <a:prstDash val="dash"/>
            <a:tailEnd type="triangle" w="med" len="med"/>
          </a:ln>
          <a:effectLst/>
        </p:spPr>
      </p:cxnSp>
      <p:cxnSp>
        <p:nvCxnSpPr>
          <p:cNvPr id="188" name="Connector 187"/>
          <p:cNvCxnSpPr/>
          <p:nvPr/>
        </p:nvCxnSpPr>
        <p:spPr>
          <a:xfrm>
            <a:off x="9235440" y="4187952"/>
            <a:ext cx="0" cy="292608"/>
          </a:xfrm>
          <a:prstGeom prst="line">
            <a:avLst/>
          </a:prstGeom>
          <a:ln w="15240">
            <a:solidFill>
              <a:srgbClr val="0078D4"/>
            </a:solidFill>
            <a:prstDash val="dash"/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9235440" y="4480560"/>
            <a:ext cx="1325880" cy="0"/>
          </a:xfrm>
          <a:prstGeom prst="line">
            <a:avLst/>
          </a:prstGeom>
          <a:ln w="15240">
            <a:solidFill>
              <a:srgbClr val="0078D4"/>
            </a:solidFill>
            <a:prstDash val="dash"/>
          </a:ln>
          <a:effectLst/>
        </p:spPr>
      </p:cxnSp>
      <p:cxnSp>
        <p:nvCxnSpPr>
          <p:cNvPr id="190" name="Connector 189"/>
          <p:cNvCxnSpPr/>
          <p:nvPr/>
        </p:nvCxnSpPr>
        <p:spPr>
          <a:xfrm>
            <a:off x="10561320" y="4480560"/>
            <a:ext cx="0" cy="237744"/>
          </a:xfrm>
          <a:prstGeom prst="line">
            <a:avLst/>
          </a:prstGeom>
          <a:ln w="15240">
            <a:solidFill>
              <a:srgbClr val="0078D4"/>
            </a:solidFill>
            <a:prstDash val="dash"/>
            <a:tailEnd type="triangle" w="med" len="med"/>
          </a:ln>
          <a:effectLst/>
        </p:spPr>
      </p:cxnSp>
      <p:sp>
        <p:nvSpPr>
          <p:cNvPr id="191" name="TextBox 190"/>
          <p:cNvSpPr txBox="1"/>
          <p:nvPr/>
        </p:nvSpPr>
        <p:spPr>
          <a:xfrm>
            <a:off x="7333488" y="4462272"/>
            <a:ext cx="13716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0078D4"/>
                </a:solidFill>
                <a:latin typeface="Segoe UI"/>
                <a:ea typeface="Microsoft YaHei"/>
              </a:rPr>
              <a:t>Private Link 私网流量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333488" y="4581144"/>
            <a:ext cx="13716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与上方端点一一对应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11338560" y="4297680"/>
            <a:ext cx="0" cy="420624"/>
          </a:xfrm>
          <a:prstGeom prst="line">
            <a:avLst/>
          </a:prstGeom>
          <a:ln w="2540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11411712" y="4389120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59669"/>
                </a:solidFill>
                <a:latin typeface="Segoe UI"/>
                <a:ea typeface="Microsoft YaHei"/>
              </a:rPr>
              <a:t>★ NCC 托管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59669"/>
                </a:solidFill>
                <a:latin typeface="Segoe UI"/>
                <a:ea typeface="Microsoft YaHei"/>
              </a:rPr>
              <a:t>私有端点通道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201168" y="5852160"/>
            <a:ext cx="8686800" cy="859536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329184" y="5907024"/>
            <a:ext cx="274320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172A"/>
                </a:solidFill>
                <a:latin typeface="Segoe UI"/>
                <a:ea typeface="Microsoft YaHei"/>
              </a:rPr>
              <a:t>关键设计要点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29184" y="6080760"/>
            <a:ext cx="416052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78D4"/>
                </a:solidFill>
                <a:latin typeface="Segoe UI"/>
                <a:ea typeface="Microsoft YaHei"/>
              </a:rPr>
              <a:t>① </a:t>
            </a: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除 Entra ID（全局认证）外，PaaS 全部私有端点接入，流量不出骨干网；入口 WAF + AppGW 收敛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29184" y="6222492"/>
            <a:ext cx="416052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78D4"/>
                </a:solidFill>
                <a:latin typeface="Segoe UI"/>
                <a:ea typeface="Microsoft YaHei"/>
              </a:rPr>
              <a:t>② </a:t>
            </a: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Serverless 不支持 VNet 对等 / VPN —— 私有访问 ADLS 唯一方式：NCC + 托管私有端点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29184" y="6364224"/>
            <a:ext cx="416052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78D4"/>
                </a:solidFill>
                <a:latin typeface="Segoe UI"/>
                <a:ea typeface="Microsoft YaHei"/>
              </a:rPr>
              <a:t>③ </a:t>
            </a: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源库抽取走 NAT 固定出口 IP 白名单；跨机房走 ExpressRoute / 站点到站点 VPN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626864" y="6080760"/>
            <a:ext cx="416052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78D4"/>
                </a:solidFill>
                <a:latin typeface="Segoe UI"/>
                <a:ea typeface="Microsoft YaHei"/>
              </a:rPr>
              <a:t>④ </a:t>
            </a: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元数据与销毁策略存 SQL DB S2 · 审计进 App Insights · 密钥由 Key Vault 托管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626864" y="6222492"/>
            <a:ext cx="416052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78D4"/>
                </a:solidFill>
                <a:latin typeface="Segoe UI"/>
                <a:ea typeface="Microsoft YaHei"/>
              </a:rPr>
              <a:t>⑤ </a:t>
            </a: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相比方案 B：省去 Trino 集群与双子网注入，查询层完全托管、零集群运维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626864" y="6364224"/>
            <a:ext cx="416052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78D4"/>
                </a:solidFill>
                <a:latin typeface="Segoe UI"/>
                <a:ea typeface="Microsoft YaHei"/>
              </a:rPr>
              <a:t>⑥ </a:t>
            </a: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新建工作区仅 Premium 档可选（Azure 现行政策），UC / PE / NCC 默认可用；NCC 需 Account Admin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8997696" y="5852160"/>
            <a:ext cx="2999232" cy="859536"/>
          </a:xfrm>
          <a:prstGeom prst="roundRect">
            <a:avLst>
              <a:gd name="adj" fmla="val 6382"/>
            </a:avLst>
          </a:prstGeom>
          <a:solidFill>
            <a:srgbClr val="FFF1F2"/>
          </a:solidFill>
          <a:ln w="12700">
            <a:solidFill>
              <a:srgbClr val="F8717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9125712" y="5907024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91C1C"/>
                </a:solidFill>
                <a:latin typeface="Segoe UI"/>
                <a:ea typeface="Microsoft YaHei"/>
              </a:rPr>
              <a:t>高可用 &amp; 容灾（HA / DR）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9125712" y="6080760"/>
            <a:ext cx="276148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E11D48"/>
                </a:solidFill>
                <a:latin typeface="Segoe UI"/>
                <a:ea typeface="Microsoft YaHei"/>
              </a:rPr>
              <a:t>· </a:t>
            </a: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AKS 跨 AZ · SQL 主备自动转移 · 存储 ZRS 冗余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125712" y="6222492"/>
            <a:ext cx="276148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E11D48"/>
                </a:solidFill>
                <a:latin typeface="Segoe UI"/>
                <a:ea typeface="Microsoft YaHei"/>
              </a:rPr>
              <a:t>· </a:t>
            </a: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平台托管无单点 · Serverless 空闲归零自动重建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125712" y="6364224"/>
            <a:ext cx="276148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E11D48"/>
                </a:solidFill>
                <a:latin typeface="Segoe UI"/>
                <a:ea typeface="Microsoft YaHei"/>
              </a:rPr>
              <a:t>· </a:t>
            </a: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SQL 自动备份 + PITR · ADLS 生命周期分层 / GRS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125712" y="6505956"/>
            <a:ext cx="276148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E11D48"/>
                </a:solidFill>
                <a:latin typeface="Segoe UI"/>
                <a:ea typeface="Microsoft YaHei"/>
              </a:rPr>
              <a:t>· </a:t>
            </a: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RPO ≤ 15 min · RTO ≤ 2 h · 审计独立备份不销毁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应用架构图 · 方案 B2（湖仓一体 · Databricks SQL Serverless 读）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" y="566928"/>
            <a:ext cx="11795760" cy="749808"/>
          </a:xfrm>
          <a:prstGeom prst="roundRect">
            <a:avLst>
              <a:gd name="adj" fmla="val 9756"/>
            </a:avLst>
          </a:prstGeom>
          <a:solidFill>
            <a:srgbClr val="ECFDF5"/>
          </a:solidFill>
          <a:ln w="1524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30936"/>
            <a:ext cx="182880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47857"/>
                </a:solidFill>
                <a:latin typeface="Segoe UI"/>
                <a:ea typeface="Microsoft YaHei"/>
              </a:rPr>
              <a:t>01 访问入口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41248"/>
            <a:ext cx="1828800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BBF7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841248"/>
            <a:ext cx="17739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F172A"/>
                </a:solidFill>
                <a:latin typeface="Segoe UI"/>
                <a:ea typeface="Microsoft YaHei"/>
              </a:rPr>
              <a:t>业务查询员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查本系统归档数据</a:t>
            </a:r>
          </a:p>
        </p:txBody>
      </p:sp>
      <p:sp>
        <p:nvSpPr>
          <p:cNvPr id="8" name="Oval 7"/>
          <p:cNvSpPr/>
          <p:nvPr/>
        </p:nvSpPr>
        <p:spPr>
          <a:xfrm>
            <a:off x="538261" y="959434"/>
            <a:ext cx="57332" cy="5733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6978" y="1026322"/>
            <a:ext cx="99898" cy="65150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40864" y="841248"/>
            <a:ext cx="1828800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BBF7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8296" y="841248"/>
            <a:ext cx="17739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F172A"/>
                </a:solidFill>
                <a:latin typeface="Segoe UI"/>
                <a:ea typeface="Microsoft YaHei"/>
              </a:rPr>
              <a:t>审计 / 合规岗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跨系统检索与举证</a:t>
            </a:r>
          </a:p>
        </p:txBody>
      </p:sp>
      <p:sp>
        <p:nvSpPr>
          <p:cNvPr id="12" name="Oval 11"/>
          <p:cNvSpPr/>
          <p:nvPr/>
        </p:nvSpPr>
        <p:spPr>
          <a:xfrm>
            <a:off x="2513365" y="959434"/>
            <a:ext cx="57332" cy="5733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92082" y="1026322"/>
            <a:ext cx="99898" cy="65150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15968" y="841248"/>
            <a:ext cx="1828800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BBF7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841248"/>
            <a:ext cx="17739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F172A"/>
                </a:solidFill>
                <a:latin typeface="Segoe UI"/>
                <a:ea typeface="Microsoft YaHei"/>
              </a:rPr>
              <a:t>平台运维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监控作业与销毁</a:t>
            </a:r>
          </a:p>
        </p:txBody>
      </p:sp>
      <p:sp>
        <p:nvSpPr>
          <p:cNvPr id="16" name="Oval 15"/>
          <p:cNvSpPr/>
          <p:nvPr/>
        </p:nvSpPr>
        <p:spPr>
          <a:xfrm>
            <a:off x="4488469" y="959434"/>
            <a:ext cx="57332" cy="5733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67186" y="1026322"/>
            <a:ext cx="99898" cy="65150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46336" y="822960"/>
            <a:ext cx="2212848" cy="420624"/>
          </a:xfrm>
          <a:prstGeom prst="roundRect">
            <a:avLst>
              <a:gd name="adj" fmla="val 10869"/>
            </a:avLst>
          </a:prstGeom>
          <a:solidFill>
            <a:srgbClr val="EFF6FF"/>
          </a:solidFill>
          <a:ln w="15240">
            <a:solidFill>
              <a:srgbClr val="93C5FD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7" y="822960"/>
            <a:ext cx="215798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D4ED8"/>
                </a:solidFill>
                <a:latin typeface="Segoe UI"/>
                <a:ea typeface="Microsoft YaHei"/>
              </a:rPr>
              <a:t>Microsoft Entra ID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1E40AF"/>
                </a:solidFill>
                <a:latin typeface="Segoe UI"/>
                <a:ea typeface="Microsoft YaHei"/>
              </a:rPr>
              <a:t>SSO / OIDC / 托管标识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93268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4748B"/>
                </a:solidFill>
                <a:latin typeface="Segoe UI"/>
                <a:ea typeface="Microsoft YaHei"/>
              </a:rPr>
              <a:t>统一身份 · 单点登录 →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77639" y="1316736"/>
            <a:ext cx="0" cy="109728"/>
          </a:xfrm>
          <a:prstGeom prst="line">
            <a:avLst/>
          </a:prstGeom>
          <a:ln w="2540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4087368" y="1321308"/>
            <a:ext cx="1097280" cy="100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91B2"/>
                </a:solidFill>
                <a:latin typeface="Segoe UI"/>
                <a:ea typeface="Microsoft YaHei"/>
              </a:rPr>
              <a:t>HTTPS 443 · SSO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" y="1426464"/>
            <a:ext cx="11795760" cy="950976"/>
          </a:xfrm>
          <a:prstGeom prst="roundRect">
            <a:avLst>
              <a:gd name="adj" fmla="val 7692"/>
            </a:avLst>
          </a:prstGeom>
          <a:solidFill>
            <a:srgbClr val="ECFEFF"/>
          </a:solidFill>
          <a:ln w="15240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490472"/>
            <a:ext cx="274320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E7490"/>
                </a:solidFill>
                <a:latin typeface="Segoe UI"/>
                <a:ea typeface="Microsoft YaHei"/>
              </a:rPr>
              <a:t>02 自研应用层（AKS）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1700784"/>
            <a:ext cx="268833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7780">
            <a:solidFill>
              <a:srgbClr val="0891B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1700784"/>
            <a:ext cx="2633472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F172A"/>
                </a:solidFill>
                <a:latin typeface="Segoe UI"/>
                <a:ea typeface="Microsoft YaHei"/>
              </a:rPr>
              <a:t>React 配置化查询平台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JSON Schema 渲染查询表单 · 表格 / 明细 / 附件预览 / 导出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57016" y="1700784"/>
            <a:ext cx="52852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7780">
            <a:solidFill>
              <a:srgbClr val="0891B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700784"/>
            <a:ext cx="5175504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172A"/>
                </a:solidFill>
                <a:latin typeface="Segoe UI"/>
                <a:ea typeface="Microsoft YaHei"/>
              </a:rPr>
              <a:t>.NET 10 后端服务组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660" b="0" i="0">
                <a:solidFill>
                  <a:srgbClr val="64748B"/>
                </a:solidFill>
                <a:latin typeface="Segoe UI"/>
                <a:ea typeface="Microsoft YaHei"/>
              </a:rPr>
              <a:t>元数据 · 查询代理 · 权限校验 · 附件代理 · 审计上报 · 销毁调度</a:t>
            </a:r>
          </a:p>
          <a:p>
            <a:pPr algn="ctr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 i="0">
                <a:solidFill>
                  <a:srgbClr val="94A3B8"/>
                </a:solidFill>
                <a:latin typeface="Segoe UI"/>
                <a:ea typeface="Microsoft YaHei"/>
              </a:rPr>
              <a:t>后端二次鉴权 · 参数化 SQL · 私有端点访问下游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08960" y="1984248"/>
            <a:ext cx="393192" cy="0"/>
          </a:xfrm>
          <a:prstGeom prst="line">
            <a:avLst/>
          </a:prstGeom>
          <a:ln w="2286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30" name="Rounded Rectangle 29"/>
          <p:cNvSpPr/>
          <p:nvPr/>
        </p:nvSpPr>
        <p:spPr>
          <a:xfrm>
            <a:off x="9345168" y="1700784"/>
            <a:ext cx="241401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7780">
            <a:solidFill>
              <a:srgbClr val="0891B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1700784"/>
            <a:ext cx="2359152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F172A"/>
                </a:solidFill>
                <a:latin typeface="Segoe UI"/>
                <a:ea typeface="Microsoft YaHei"/>
              </a:rPr>
              <a:t>Azure SQL 元数据库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系统台账 / 表清单 / 保留期 / 销毁策略 / 审计索引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97112" y="1984248"/>
            <a:ext cx="393192" cy="0"/>
          </a:xfrm>
          <a:prstGeom prst="line">
            <a:avLst/>
          </a:prstGeom>
          <a:ln w="2286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8357616" y="1828800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891B2"/>
                </a:solidFill>
                <a:latin typeface="Segoe UI"/>
                <a:ea typeface="Microsoft YaHei"/>
              </a:rPr>
              <a:t>读写配置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1168" y="2505456"/>
            <a:ext cx="11795760" cy="2212848"/>
          </a:xfrm>
          <a:prstGeom prst="roundRect">
            <a:avLst>
              <a:gd name="adj" fmla="val 3305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569464"/>
            <a:ext cx="310896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4155"/>
                </a:solidFill>
                <a:latin typeface="Segoe UI"/>
                <a:ea typeface="Microsoft YaHei"/>
              </a:rPr>
              <a:t>03 核心链路（写入 / 查询 / 附件）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2761488"/>
            <a:ext cx="3675887" cy="1773936"/>
          </a:xfrm>
          <a:prstGeom prst="roundRect">
            <a:avLst>
              <a:gd name="adj" fmla="val 4123"/>
            </a:avLst>
          </a:prstGeom>
          <a:solidFill>
            <a:srgbClr val="F0FDF4"/>
          </a:solidFill>
          <a:ln w="1524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2834640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 spc="140">
                <a:solidFill>
                  <a:srgbClr val="047857"/>
                </a:solidFill>
                <a:latin typeface="Segoe UI"/>
                <a:ea typeface="Microsoft YaHei"/>
              </a:rPr>
              <a:t>WRITE PATH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2980944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归档写入 / 到期销毁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" y="3255264"/>
            <a:ext cx="1572768" cy="50292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FDBA7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" y="3255264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Azure Data Factory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编排调度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59152" y="3255264"/>
            <a:ext cx="1572768" cy="50292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FDBA7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86584" y="3255264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SeaTunnel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结构化抽取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103120" y="3506724"/>
            <a:ext cx="219456" cy="0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  <a:effectLst/>
        </p:spPr>
      </p:cxnSp>
      <p:sp>
        <p:nvSpPr>
          <p:cNvPr id="44" name="Rounded Rectangle 43"/>
          <p:cNvSpPr/>
          <p:nvPr/>
        </p:nvSpPr>
        <p:spPr>
          <a:xfrm>
            <a:off x="512064" y="391363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397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3913632"/>
            <a:ext cx="32735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47857"/>
                </a:solidFill>
                <a:latin typeface="Segoe UI"/>
                <a:ea typeface="Microsoft YaHei"/>
              </a:rPr>
              <a:t>Databricks Serverless：ETL · Compaction · DROP PARTITION + VACUUM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24528" y="2761488"/>
            <a:ext cx="3675887" cy="1773936"/>
          </a:xfrm>
          <a:prstGeom prst="roundRect">
            <a:avLst>
              <a:gd name="adj" fmla="val 4123"/>
            </a:avLst>
          </a:prstGeom>
          <a:solidFill>
            <a:srgbClr val="F5F3FF"/>
          </a:solidFill>
          <a:ln w="1524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70832" y="2834640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 spc="140">
                <a:solidFill>
                  <a:srgbClr val="6D28D9"/>
                </a:solidFill>
                <a:latin typeface="Segoe UI"/>
                <a:ea typeface="Microsoft YaHei"/>
              </a:rPr>
              <a:t>READ PATH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0832" y="2980944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在线查询 / 跨系统检索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52544" y="3255264"/>
            <a:ext cx="1572768" cy="50292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C4B5FD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79976" y="3255264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查询代理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限流 / 超时 / 审计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3255264"/>
            <a:ext cx="1572768" cy="50292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A78BFA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45352" y="3255264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Databricks SQL Serverless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读侧查询 · 空闲缩 0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961888" y="3506724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54" name="Rounded Rectangle 53"/>
          <p:cNvSpPr/>
          <p:nvPr/>
        </p:nvSpPr>
        <p:spPr>
          <a:xfrm>
            <a:off x="4370832" y="391363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EDE9FE"/>
          </a:solidFill>
          <a:ln w="1397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25696" y="3913632"/>
            <a:ext cx="32735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D28D9"/>
                </a:solidFill>
                <a:latin typeface="Segoe UI"/>
                <a:ea typeface="Microsoft YaHei"/>
              </a:rPr>
              <a:t>Unity Catalog 表级授权 · SERVE 层首屏 2–5 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83296" y="2761488"/>
            <a:ext cx="3675887" cy="1773936"/>
          </a:xfrm>
          <a:prstGeom prst="roundRect">
            <a:avLst>
              <a:gd name="adj" fmla="val 4123"/>
            </a:avLst>
          </a:prstGeom>
          <a:solidFill>
            <a:srgbClr val="FFFBEB"/>
          </a:solidFill>
          <a:ln w="1524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2834640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 spc="140">
                <a:solidFill>
                  <a:srgbClr val="B45309"/>
                </a:solidFill>
                <a:latin typeface="Segoe UI"/>
                <a:ea typeface="Microsoft YaHei"/>
              </a:rPr>
              <a:t>ATTACHMENT PATH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2980944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非结构化附件 / 预览下载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11312" y="3255264"/>
            <a:ext cx="1572768" cy="50292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FCD34D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38744" y="3255264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Storage Mover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迁移附件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76688" y="3255264"/>
            <a:ext cx="1572768" cy="50292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FCD34D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04120" y="3255264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附件代理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鉴权 / 流式回吐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820656" y="3506724"/>
            <a:ext cx="219456" cy="0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  <a:effectLst/>
        </p:spPr>
      </p:cxnSp>
      <p:sp>
        <p:nvSpPr>
          <p:cNvPr id="64" name="Rounded Rectangle 63"/>
          <p:cNvSpPr/>
          <p:nvPr/>
        </p:nvSpPr>
        <p:spPr>
          <a:xfrm>
            <a:off x="8229600" y="391363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397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84464" y="3913632"/>
            <a:ext cx="32735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92400E"/>
                </a:solidFill>
                <a:latin typeface="Segoe UI"/>
                <a:ea typeface="Microsoft YaHei"/>
              </a:rPr>
              <a:t>SHA-256 台账 · 附件索引表 · 后端审计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840480" y="2267712"/>
            <a:ext cx="0" cy="384048"/>
          </a:xfrm>
          <a:prstGeom prst="line">
            <a:avLst/>
          </a:prstGeom>
          <a:ln w="27940">
            <a:solidFill>
              <a:srgbClr val="059669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H="1">
            <a:off x="2203704" y="2651760"/>
            <a:ext cx="1636776" cy="0"/>
          </a:xfrm>
          <a:prstGeom prst="line">
            <a:avLst/>
          </a:prstGeom>
          <a:ln w="27940">
            <a:solidFill>
              <a:srgbClr val="059669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>
            <a:off x="2203704" y="2651760"/>
            <a:ext cx="0" cy="91440"/>
          </a:xfrm>
          <a:prstGeom prst="line">
            <a:avLst/>
          </a:prstGeom>
          <a:ln w="2794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2395728" y="2496312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59669"/>
                </a:solidFill>
                <a:latin typeface="Segoe UI"/>
                <a:ea typeface="Microsoft YaHei"/>
              </a:rPr>
              <a:t>接入配置 / 销毁调度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062472" y="2267712"/>
            <a:ext cx="0" cy="475488"/>
          </a:xfrm>
          <a:prstGeom prst="line">
            <a:avLst/>
          </a:prstGeom>
          <a:ln w="2794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71" name="TextBox 70"/>
          <p:cNvSpPr txBox="1"/>
          <p:nvPr/>
        </p:nvSpPr>
        <p:spPr>
          <a:xfrm>
            <a:off x="6163056" y="243230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7C3AED"/>
                </a:solidFill>
                <a:latin typeface="Segoe UI"/>
                <a:ea typeface="Microsoft YaHei"/>
              </a:rPr>
              <a:t>查询请求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23760" y="2267712"/>
            <a:ext cx="0" cy="384048"/>
          </a:xfrm>
          <a:prstGeom prst="line">
            <a:avLst/>
          </a:prstGeom>
          <a:ln w="25400">
            <a:solidFill>
              <a:srgbClr val="D97706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7223760" y="2651760"/>
            <a:ext cx="2697480" cy="0"/>
          </a:xfrm>
          <a:prstGeom prst="line">
            <a:avLst/>
          </a:prstGeom>
          <a:ln w="25400">
            <a:solidFill>
              <a:srgbClr val="D97706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9921240" y="2651760"/>
            <a:ext cx="0" cy="91440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  <a:effectLst/>
        </p:spPr>
      </p:cxnSp>
      <p:sp>
        <p:nvSpPr>
          <p:cNvPr id="75" name="TextBox 74"/>
          <p:cNvSpPr txBox="1"/>
          <p:nvPr/>
        </p:nvSpPr>
        <p:spPr>
          <a:xfrm>
            <a:off x="8138160" y="2496312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97706"/>
                </a:solidFill>
                <a:latin typeface="Segoe UI"/>
                <a:ea typeface="Microsoft YaHei"/>
              </a:rPr>
              <a:t>附件预览 / 下载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01168" y="4828032"/>
            <a:ext cx="1179576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" y="4892040"/>
            <a:ext cx="365760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D4ED8"/>
                </a:solidFill>
                <a:latin typeface="Segoe UI"/>
                <a:ea typeface="Microsoft YaHei"/>
              </a:rPr>
              <a:t>04 数据底座与统一治理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65760" y="5084064"/>
            <a:ext cx="3566160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rgbClr val="60A5FA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3192" y="5084064"/>
            <a:ext cx="351129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F172A"/>
                </a:solidFill>
                <a:latin typeface="Segoe UI"/>
                <a:ea typeface="Microsoft YaHei"/>
              </a:rPr>
              <a:t>ADLS Gen2 · Iceberg 湖表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RAW / CURATED / LAKE / SERVE · 1:1 原样归档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114800" y="5084064"/>
            <a:ext cx="3291840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rgbClr val="60A5FA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42232" y="5084064"/>
            <a:ext cx="323697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F172A"/>
                </a:solidFill>
                <a:latin typeface="Segoe UI"/>
                <a:ea typeface="Microsoft YaHei"/>
              </a:rPr>
              <a:t>Unity Catalog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表级权限 / 血缘 / 快照回溯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89520" y="5084064"/>
            <a:ext cx="4169663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rgbClr val="F59E0B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616952" y="5084064"/>
            <a:ext cx="41148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F172A"/>
                </a:solidFill>
                <a:latin typeface="Segoe UI"/>
                <a:ea typeface="Microsoft YaHei"/>
              </a:rPr>
              <a:t>Azure Blob · 附件账户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Cool / Cold 分层 · WORM 可选 · 与业务表分账户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203704" y="4535424"/>
            <a:ext cx="0" cy="530352"/>
          </a:xfrm>
          <a:prstGeom prst="line">
            <a:avLst/>
          </a:prstGeom>
          <a:ln w="2794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85" name="TextBox 84"/>
          <p:cNvSpPr txBox="1"/>
          <p:nvPr/>
        </p:nvSpPr>
        <p:spPr>
          <a:xfrm>
            <a:off x="2304288" y="4732020"/>
            <a:ext cx="1280160" cy="100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59669"/>
                </a:solidFill>
                <a:latin typeface="Segoe UI"/>
                <a:ea typeface="Microsoft YaHei"/>
              </a:rPr>
              <a:t>写入 Iceberg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062472" y="4535424"/>
            <a:ext cx="0" cy="237744"/>
          </a:xfrm>
          <a:prstGeom prst="line">
            <a:avLst/>
          </a:prstGeom>
          <a:ln w="27940">
            <a:solidFill>
              <a:srgbClr val="7C3AED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 flipH="1">
            <a:off x="3291840" y="4773168"/>
            <a:ext cx="2770632" cy="0"/>
          </a:xfrm>
          <a:prstGeom prst="line">
            <a:avLst/>
          </a:prstGeom>
          <a:ln w="27940">
            <a:solidFill>
              <a:srgbClr val="7C3AED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>
            <a:off x="3291840" y="4773168"/>
            <a:ext cx="0" cy="292608"/>
          </a:xfrm>
          <a:prstGeom prst="line">
            <a:avLst/>
          </a:prstGeom>
          <a:ln w="2794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89" name="TextBox 88"/>
          <p:cNvSpPr txBox="1"/>
          <p:nvPr/>
        </p:nvSpPr>
        <p:spPr>
          <a:xfrm>
            <a:off x="4224528" y="4572000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7C3AED"/>
                </a:solidFill>
                <a:latin typeface="Segoe UI"/>
                <a:ea typeface="Microsoft YaHei"/>
              </a:rPr>
              <a:t>读 Iceberg / ABFS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921240" y="4535424"/>
            <a:ext cx="0" cy="530352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  <a:effectLst/>
        </p:spPr>
      </p:cxnSp>
      <p:sp>
        <p:nvSpPr>
          <p:cNvPr id="91" name="TextBox 90"/>
          <p:cNvSpPr txBox="1"/>
          <p:nvPr/>
        </p:nvSpPr>
        <p:spPr>
          <a:xfrm>
            <a:off x="10021824" y="4732020"/>
            <a:ext cx="1188720" cy="100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97706"/>
                </a:solidFill>
                <a:latin typeface="Segoe UI"/>
                <a:ea typeface="Microsoft YaHei"/>
              </a:rPr>
              <a:t>附件取流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65760" y="5705856"/>
            <a:ext cx="733348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12064" y="5705856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334155"/>
                </a:solidFill>
                <a:latin typeface="Segoe UI"/>
                <a:ea typeface="Microsoft YaHei"/>
              </a:rPr>
              <a:t>安全底座：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Key Vault · App Insights · Azure Monitor · Databricks Query History · 全部 PaaS 私有端点 · 入口 WAF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900416" y="5705856"/>
            <a:ext cx="3858768" cy="365760"/>
          </a:xfrm>
          <a:prstGeom prst="roundRect">
            <a:avLst>
              <a:gd name="adj" fmla="val 15000"/>
            </a:avLst>
          </a:prstGeom>
          <a:solidFill>
            <a:srgbClr val="FFF7ED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065008" y="5705856"/>
            <a:ext cx="3529584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B45309"/>
                </a:solidFill>
                <a:latin typeface="Segoe UI"/>
                <a:ea typeface="Microsoft YaHei"/>
              </a:rPr>
              <a:t>B2 读侧：</a:t>
            </a:r>
            <a:r>
              <a:rPr sz="680" b="0" i="0">
                <a:solidFill>
                  <a:srgbClr val="92400E"/>
                </a:solidFill>
                <a:latin typeface="Segoe UI"/>
                <a:ea typeface="Microsoft YaHei"/>
              </a:rPr>
              <a:t>Databricks SQL Serverless 完全托管 · 空闲缩 0；代价是引擎绑定（数据仍为开放 Iceberg 可迁移）</a:t>
            </a:r>
          </a:p>
        </p:txBody>
      </p:sp>
      <p:sp>
        <p:nvSpPr>
          <p:cNvPr id="96" name="Oval 95"/>
          <p:cNvSpPr/>
          <p:nvPr/>
        </p:nvSpPr>
        <p:spPr>
          <a:xfrm>
            <a:off x="365760" y="6245352"/>
            <a:ext cx="82296" cy="82296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93776" y="619963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自研应用组件（AKS）</a:t>
            </a:r>
          </a:p>
        </p:txBody>
      </p:sp>
      <p:sp>
        <p:nvSpPr>
          <p:cNvPr id="98" name="Oval 97"/>
          <p:cNvSpPr/>
          <p:nvPr/>
        </p:nvSpPr>
        <p:spPr>
          <a:xfrm>
            <a:off x="1940356" y="6245352"/>
            <a:ext cx="82296" cy="822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68372" y="619963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写侧数据链路</a:t>
            </a:r>
          </a:p>
        </p:txBody>
      </p:sp>
      <p:sp>
        <p:nvSpPr>
          <p:cNvPr id="100" name="Oval 99"/>
          <p:cNvSpPr/>
          <p:nvPr/>
        </p:nvSpPr>
        <p:spPr>
          <a:xfrm>
            <a:off x="3140049" y="6245352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68065" y="619963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读侧查询链路</a:t>
            </a:r>
          </a:p>
        </p:txBody>
      </p:sp>
      <p:sp>
        <p:nvSpPr>
          <p:cNvPr id="102" name="Oval 101"/>
          <p:cNvSpPr/>
          <p:nvPr/>
        </p:nvSpPr>
        <p:spPr>
          <a:xfrm>
            <a:off x="4339742" y="6245352"/>
            <a:ext cx="82296" cy="8229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467758" y="619963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编排 / 抽取</a:t>
            </a:r>
          </a:p>
        </p:txBody>
      </p:sp>
      <p:sp>
        <p:nvSpPr>
          <p:cNvPr id="104" name="Oval 103"/>
          <p:cNvSpPr/>
          <p:nvPr/>
        </p:nvSpPr>
        <p:spPr>
          <a:xfrm>
            <a:off x="5614416" y="6245352"/>
            <a:ext cx="82296" cy="8229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742432" y="619963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Azure PaaS 数据服务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方案 B2 · 湖仓一体 · 存算分离架构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76656"/>
            <a:ext cx="0" cy="5632704"/>
          </a:xfrm>
          <a:prstGeom prst="line">
            <a:avLst/>
          </a:prstGeom>
          <a:ln w="31750">
            <a:solidFill>
              <a:srgbClr val="E2E8F0"/>
            </a:solidFill>
          </a:ln>
          <a:effectLst/>
        </p:spPr>
      </p:cxnSp>
      <p:sp>
        <p:nvSpPr>
          <p:cNvPr id="5" name="Rounded Rectangle 4"/>
          <p:cNvSpPr/>
          <p:nvPr/>
        </p:nvSpPr>
        <p:spPr>
          <a:xfrm>
            <a:off x="713232" y="566928"/>
            <a:ext cx="7104888" cy="621792"/>
          </a:xfrm>
          <a:prstGeom prst="roundRect">
            <a:avLst>
              <a:gd name="adj" fmla="val 11764"/>
            </a:avLst>
          </a:prstGeom>
          <a:solidFill>
            <a:srgbClr val="F6F8FA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7472" y="722375"/>
            <a:ext cx="310896" cy="310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722375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475569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源系统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795528"/>
            <a:ext cx="1335024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 i="0" spc="110">
                <a:solidFill>
                  <a:srgbClr val="475569"/>
                </a:solidFill>
                <a:latin typeface="Consolas"/>
                <a:ea typeface="Microsoft YaHei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32688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退役 · 只读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051560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15 套待归档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31136" y="640080"/>
            <a:ext cx="2688336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651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8568" y="640080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Segoe UI"/>
                <a:ea typeface="Microsoft YaHei"/>
              </a:rPr>
              <a:t>结构化数据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Oracle · MySQL · DB2 / 其他 · JDBC 读取 · 约 100 张表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640080"/>
            <a:ext cx="2688336" cy="475488"/>
          </a:xfrm>
          <a:prstGeom prst="roundRect">
            <a:avLst>
              <a:gd name="adj" fmla="val 9615"/>
            </a:avLst>
          </a:prstGeom>
          <a:solidFill>
            <a:srgbClr val="FFFBEB"/>
          </a:solidFill>
          <a:ln w="1651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640080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92400E"/>
                </a:solidFill>
                <a:latin typeface="Segoe UI"/>
                <a:ea typeface="Microsoft YaHei"/>
              </a:rPr>
              <a:t>非结构化附件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8350F"/>
                </a:solidFill>
                <a:latin typeface="Segoe UI"/>
                <a:ea typeface="Microsoft YaHei"/>
              </a:rPr>
              <a:t>NFS · S3 · Azure Blob · PDF / 图片 / 影像件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83480" y="1188720"/>
            <a:ext cx="0" cy="100584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  <a:effectLst/>
        </p:spPr>
      </p:cxnSp>
      <p:sp>
        <p:nvSpPr>
          <p:cNvPr id="17" name="Rounded Rectangle 16"/>
          <p:cNvSpPr/>
          <p:nvPr/>
        </p:nvSpPr>
        <p:spPr>
          <a:xfrm>
            <a:off x="713232" y="1298448"/>
            <a:ext cx="7104888" cy="841248"/>
          </a:xfrm>
          <a:prstGeom prst="roundRect">
            <a:avLst>
              <a:gd name="adj" fmla="val 8695"/>
            </a:avLst>
          </a:prstGeom>
          <a:solidFill>
            <a:srgbClr val="ECFEFF"/>
          </a:solidFill>
          <a:ln w="15240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7472" y="1563624"/>
            <a:ext cx="310896" cy="310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15636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891B2"/>
                </a:solidFill>
                <a:latin typeface="Consolas"/>
                <a:ea typeface="Microsoft YaHei"/>
              </a:rPr>
              <a:t>B-00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1353312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接入配置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1527048"/>
            <a:ext cx="1335024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 i="0" spc="110">
                <a:solidFill>
                  <a:srgbClr val="0891B2"/>
                </a:solidFill>
                <a:latin typeface="Consolas"/>
                <a:ea typeface="Microsoft YaHei"/>
              </a:rPr>
              <a:t>CONFIGURE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1664207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页面操作 · 零代码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1783079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配置存元数据库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1901951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891B2"/>
                </a:solidFill>
                <a:latin typeface="Segoe UI"/>
                <a:ea typeface="Microsoft YaHei"/>
              </a:rPr>
              <a:t>新系统接入复用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31136" y="1353312"/>
            <a:ext cx="1691640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651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22576" y="1408176"/>
            <a:ext cx="153619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① 录入连接信息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2576" y="1554480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主机 / 端口 / 账号 · 凭据存 Key Vault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2576" y="1746504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「测试连接」校验连通与权限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33087" y="1353312"/>
            <a:ext cx="1691640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651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24527" y="1408176"/>
            <a:ext cx="153619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② 自动读取表清单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7" y="1554480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扫描 information_schema · 表名 / 行数 / 大小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7" y="1746504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共发现 10 张表（含类型与主键）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1353312"/>
            <a:ext cx="1691640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651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79" y="1408176"/>
            <a:ext cx="153619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③ 勾选待迁移表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79" y="1554480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☑ 订单主表 · 明细 · 客户 · 商品 · 支付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79" y="1746504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☐ 临时 / 日志 / 中间 / 缓存 / 备份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931920" y="1645920"/>
            <a:ext cx="182880" cy="0"/>
          </a:xfrm>
          <a:prstGeom prst="line">
            <a:avLst/>
          </a:prstGeom>
          <a:ln w="19050">
            <a:solidFill>
              <a:srgbClr val="0891B2"/>
            </a:solidFill>
            <a:tailEnd type="triangle" w="med" len="med"/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5833872" y="1645920"/>
            <a:ext cx="182880" cy="0"/>
          </a:xfrm>
          <a:prstGeom prst="line">
            <a:avLst/>
          </a:prstGeom>
          <a:ln w="1905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2231136" y="1965960"/>
            <a:ext cx="5495544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891B2"/>
                </a:solidFill>
                <a:latin typeface="Segoe UI"/>
                <a:ea typeface="Microsoft YaHei"/>
              </a:rPr>
              <a:t>按配置生成 SeaTunnel 任务 · 仅入湖勾选的 5 张表（10 选 5）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83480" y="2139696"/>
            <a:ext cx="0" cy="100584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  <a:effectLst/>
        </p:spPr>
      </p:cxnSp>
      <p:sp>
        <p:nvSpPr>
          <p:cNvPr id="41" name="Rounded Rectangle 40"/>
          <p:cNvSpPr/>
          <p:nvPr/>
        </p:nvSpPr>
        <p:spPr>
          <a:xfrm>
            <a:off x="713232" y="2249424"/>
            <a:ext cx="7104888" cy="621792"/>
          </a:xfrm>
          <a:prstGeom prst="roundRect">
            <a:avLst>
              <a:gd name="adj" fmla="val 11764"/>
            </a:avLst>
          </a:prstGeom>
          <a:solidFill>
            <a:srgbClr val="FFF7ED"/>
          </a:solidFill>
          <a:ln w="1524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7472" y="2404872"/>
            <a:ext cx="310896" cy="310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240487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EA580C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2304288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数据抽取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2478024"/>
            <a:ext cx="1335024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 i="0" spc="110">
                <a:solidFill>
                  <a:srgbClr val="EA580C"/>
                </a:solidFill>
                <a:latin typeface="Consolas"/>
                <a:ea typeface="Microsoft YaHei"/>
              </a:rPr>
              <a:t>INGEST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2615184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批量 · 全量 + 增量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2734056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ADF 编排调度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31136" y="2322576"/>
            <a:ext cx="2688336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651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58568" y="2322576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Segoe UI"/>
                <a:ea typeface="Microsoft YaHei"/>
              </a:rPr>
              <a:t>结构化 · SeaTunnel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200+ 连接器 · JDBC · 类型映射 · 对账 → Iceberg 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38344" y="2322576"/>
            <a:ext cx="2688336" cy="475488"/>
          </a:xfrm>
          <a:prstGeom prst="roundRect">
            <a:avLst>
              <a:gd name="adj" fmla="val 9615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65776" y="2322576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92400E"/>
                </a:solidFill>
                <a:latin typeface="Segoe UI"/>
                <a:ea typeface="Microsoft YaHei"/>
              </a:rPr>
              <a:t>附件 · Storage Mover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8350F"/>
                </a:solidFill>
                <a:latin typeface="Segoe UI"/>
                <a:ea typeface="Microsoft YaHei"/>
              </a:rPr>
              <a:t>PDF / 图片 / Office 影像 · 服务免费 → ADLS 附件容器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983480" y="2871216"/>
            <a:ext cx="0" cy="100584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  <a:effectLst/>
        </p:spPr>
      </p:cxnSp>
      <p:sp>
        <p:nvSpPr>
          <p:cNvPr id="53" name="Rounded Rectangle 52"/>
          <p:cNvSpPr/>
          <p:nvPr/>
        </p:nvSpPr>
        <p:spPr>
          <a:xfrm>
            <a:off x="713232" y="2980944"/>
            <a:ext cx="7104888" cy="1133856"/>
          </a:xfrm>
          <a:prstGeom prst="roundRect">
            <a:avLst>
              <a:gd name="adj" fmla="val 6451"/>
            </a:avLst>
          </a:prstGeom>
          <a:solidFill>
            <a:srgbClr val="FAF9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47472" y="3392424"/>
            <a:ext cx="310896" cy="310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" y="33924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7C3AED"/>
                </a:solidFill>
                <a:latin typeface="Consolas"/>
                <a:ea typeface="Microsoft YaHei"/>
              </a:rPr>
              <a:t>B-03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3035808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Iceberg 冷湖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3209544"/>
            <a:ext cx="1335024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 i="0" spc="110">
                <a:solidFill>
                  <a:srgbClr val="7C3AED"/>
                </a:solidFill>
                <a:latin typeface="Consolas"/>
                <a:ea typeface="Microsoft YaHei"/>
              </a:rPr>
              <a:t>COLD LAKE · STORAGE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3346703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ADLS Gen2 · Parquet + ZSTD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3465575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7C3AED"/>
                </a:solidFill>
                <a:latin typeface="Segoe UI"/>
                <a:ea typeface="Microsoft YaHei"/>
              </a:rPr>
              <a:t>≈¥90–150/TB·月 · PB 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3584447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100 张表 · 1:1 原样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3703320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Hot / Cool 分层 · ZRS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31136" y="3035808"/>
            <a:ext cx="5495544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7C3AED"/>
                </a:solidFill>
                <a:latin typeface="Segoe UI"/>
                <a:ea typeface="Microsoft YaHei"/>
              </a:rPr>
              <a:t>Iceberg 表 · 四层分层（RAW → SERVE 逐层升温，越往下越热）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231136" y="3200400"/>
            <a:ext cx="5495544" cy="205740"/>
          </a:xfrm>
          <a:prstGeom prst="roundRect">
            <a:avLst>
              <a:gd name="adj" fmla="val 17777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2249424" y="3223260"/>
            <a:ext cx="32004" cy="160020"/>
          </a:xfrm>
          <a:prstGeom prst="roundRect">
            <a:avLst>
              <a:gd name="adj" fmla="val 48571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59152" y="3200400"/>
            <a:ext cx="5303520" cy="2057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338CA"/>
                </a:solidFill>
                <a:latin typeface="Segoe UI"/>
                <a:ea typeface="Microsoft YaHei"/>
              </a:rPr>
              <a:t>RAW · 原始落地（最冷）</a:t>
            </a: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　SeaTunnel 全量 1:1 保真 · 分区 sys_id / ingest_date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231136" y="3424428"/>
            <a:ext cx="5495544" cy="205740"/>
          </a:xfrm>
          <a:prstGeom prst="roundRect">
            <a:avLst>
              <a:gd name="adj" fmla="val 17777"/>
            </a:avLst>
          </a:prstGeom>
          <a:solidFill>
            <a:srgbClr val="EDE9FE"/>
          </a:solidFill>
          <a:ln w="1270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49424" y="3447288"/>
            <a:ext cx="32004" cy="160020"/>
          </a:xfrm>
          <a:prstGeom prst="roundRect">
            <a:avLst>
              <a:gd name="adj" fmla="val 48571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59152" y="3424428"/>
            <a:ext cx="5303520" cy="2057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D28D9"/>
                </a:solidFill>
                <a:latin typeface="Segoe UI"/>
                <a:ea typeface="Microsoft YaHei"/>
              </a:rPr>
              <a:t>CURATED · 清洗规整</a:t>
            </a: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　类型统一 · 缺失值处理 · SHA-256 台账 · 分区归约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231136" y="3648456"/>
            <a:ext cx="5495544" cy="205740"/>
          </a:xfrm>
          <a:prstGeom prst="roundRect">
            <a:avLst>
              <a:gd name="adj" fmla="val 17777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2249424" y="3671316"/>
            <a:ext cx="32004" cy="160020"/>
          </a:xfrm>
          <a:prstGeom prst="roundRect">
            <a:avLst>
              <a:gd name="adj" fmla="val 48571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359152" y="3648456"/>
            <a:ext cx="5303520" cy="2057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5B21B6"/>
                </a:solidFill>
                <a:latin typeface="Segoe UI"/>
                <a:ea typeface="Microsoft YaHei"/>
              </a:rPr>
              <a:t>LAKE · 建模归档</a:t>
            </a: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　业务维度建模 · 生命周期分区（销毁友好）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231136" y="3872484"/>
            <a:ext cx="5495544" cy="205740"/>
          </a:xfrm>
          <a:prstGeom prst="roundRect">
            <a:avLst>
              <a:gd name="adj" fmla="val 17777"/>
            </a:avLst>
          </a:prstGeom>
          <a:solidFill>
            <a:srgbClr val="FEF3C7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2249424" y="3895344"/>
            <a:ext cx="32004" cy="160020"/>
          </a:xfrm>
          <a:prstGeom prst="roundRect">
            <a:avLst>
              <a:gd name="adj" fmla="val 48571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359152" y="3872484"/>
            <a:ext cx="5303520" cy="2057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B45309"/>
                </a:solidFill>
                <a:latin typeface="Segoe UI"/>
                <a:ea typeface="Microsoft YaHei"/>
              </a:rPr>
              <a:t>SERVE · 加速服务（最热）</a:t>
            </a: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　热表物化 · Z-Order · 供 Databricks SQL Serverless 直查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13232" y="4251960"/>
            <a:ext cx="7104888" cy="0"/>
          </a:xfrm>
          <a:prstGeom prst="line">
            <a:avLst/>
          </a:prstGeom>
          <a:ln w="20320">
            <a:solidFill>
              <a:srgbClr val="94A3B8"/>
            </a:solidFill>
            <a:prstDash val="dash"/>
          </a:ln>
          <a:effectLst/>
        </p:spPr>
      </p:cxnSp>
      <p:sp>
        <p:nvSpPr>
          <p:cNvPr id="76" name="Rounded Rectangle 75"/>
          <p:cNvSpPr/>
          <p:nvPr/>
        </p:nvSpPr>
        <p:spPr>
          <a:xfrm>
            <a:off x="4224528" y="4160520"/>
            <a:ext cx="1609344" cy="182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24528" y="4160520"/>
            <a:ext cx="1609344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475569"/>
                </a:solidFill>
                <a:latin typeface="Segoe UI"/>
                <a:ea typeface="Microsoft YaHei"/>
              </a:rPr>
              <a:t>━━ 存算分离边界 ━━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108960" y="4114800"/>
            <a:ext cx="0" cy="274320"/>
          </a:xfrm>
          <a:prstGeom prst="line">
            <a:avLst/>
          </a:prstGeom>
          <a:ln w="2286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3218688" y="4123944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C3AED"/>
                </a:solidFill>
                <a:latin typeface="Segoe UI"/>
                <a:ea typeface="Microsoft YaHei"/>
              </a:rPr>
              <a:t>Serverless 直查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7132320" y="4114800"/>
            <a:ext cx="0" cy="274320"/>
          </a:xfrm>
          <a:prstGeom prst="line">
            <a:avLst/>
          </a:prstGeom>
          <a:ln w="2286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81" name="TextBox 80"/>
          <p:cNvSpPr txBox="1"/>
          <p:nvPr/>
        </p:nvSpPr>
        <p:spPr>
          <a:xfrm>
            <a:off x="5897880" y="4270248"/>
            <a:ext cx="1170432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59669"/>
                </a:solidFill>
                <a:latin typeface="Segoe UI"/>
                <a:ea typeface="Microsoft YaHei"/>
              </a:rPr>
              <a:t>ETL 写入 · Databricks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13232" y="4389120"/>
            <a:ext cx="7104888" cy="768096"/>
          </a:xfrm>
          <a:prstGeom prst="roundRect">
            <a:avLst>
              <a:gd name="adj" fmla="val 9523"/>
            </a:avLst>
          </a:prstGeom>
          <a:solidFill>
            <a:srgbClr val="F0FDF4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47472" y="4617720"/>
            <a:ext cx="310896" cy="310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7472" y="46177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59669"/>
                </a:solidFill>
                <a:latin typeface="Consolas"/>
                <a:ea typeface="Microsoft YaHei"/>
              </a:rPr>
              <a:t>B-04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" y="4443983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统一计算层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" y="4617720"/>
            <a:ext cx="1335024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 i="0" spc="110">
                <a:solidFill>
                  <a:srgbClr val="059669"/>
                </a:solidFill>
                <a:latin typeface="Consolas"/>
                <a:ea typeface="Microsoft YaHei"/>
              </a:rPr>
              <a:t>COMPUTE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4754880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Databricks 读写一体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" y="4873752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弹性 · 按量计费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231136" y="4443984"/>
            <a:ext cx="268833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651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322576" y="4498848"/>
            <a:ext cx="2523744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F172A"/>
                </a:solidFill>
                <a:latin typeface="Segoe UI"/>
                <a:ea typeface="Microsoft YaHei"/>
              </a:rPr>
              <a:t>Databricks · 写侧 ETL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04288" y="46451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RAW → CURATED → LAKE → SERVE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04288" y="47594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Spark 批处理 · Iceberg 写入 · Z-Order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04288" y="48737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Compaction · VACUUM · 到期销毁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04288" y="49880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59669"/>
                </a:solidFill>
                <a:latin typeface="Segoe UI"/>
                <a:ea typeface="Microsoft YaHei"/>
              </a:rPr>
              <a:t>按 DBU 计费 · 按需拉起 ≈¥0.4–0.8 万/月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038344" y="4443984"/>
            <a:ext cx="268833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651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129783" y="4498848"/>
            <a:ext cx="2523744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F172A"/>
                </a:solidFill>
                <a:latin typeface="Segoe UI"/>
                <a:ea typeface="Microsoft YaHei"/>
              </a:rPr>
              <a:t>Databricks SQL Serverless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11496" y="46451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读侧查询 · 零运维 · 故障自动重建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11496" y="47594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Iceberg 直查 · SERVE 加速 · 首屏 2–5 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11496" y="48737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UC 表 / 行 / 列级授权 + 审计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11496" y="49880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59669"/>
                </a:solidFill>
                <a:latin typeface="Segoe UI"/>
                <a:ea typeface="Microsoft YaHei"/>
              </a:rPr>
              <a:t>X-Small 6 DBU/h · 空闲缩 0 ≈¥0.5–0.9 万/月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4983480" y="5157216"/>
            <a:ext cx="0" cy="100584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  <a:effectLst/>
        </p:spPr>
      </p:cxnSp>
      <p:sp>
        <p:nvSpPr>
          <p:cNvPr id="102" name="Rounded Rectangle 101"/>
          <p:cNvSpPr/>
          <p:nvPr/>
        </p:nvSpPr>
        <p:spPr>
          <a:xfrm>
            <a:off x="713232" y="5266944"/>
            <a:ext cx="7104888" cy="658368"/>
          </a:xfrm>
          <a:prstGeom prst="roundRect">
            <a:avLst>
              <a:gd name="adj" fmla="val 11111"/>
            </a:avLst>
          </a:prstGeom>
          <a:solidFill>
            <a:srgbClr val="ECFEFF"/>
          </a:solidFill>
          <a:ln w="15240">
            <a:solidFill>
              <a:srgbClr val="A5F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47472" y="5440680"/>
            <a:ext cx="310896" cy="310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47472" y="54406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891B2"/>
                </a:solidFill>
                <a:latin typeface="Consolas"/>
                <a:ea typeface="Microsoft YaHei"/>
              </a:rPr>
              <a:t>B-05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960" y="5321807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消费入口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2960" y="5495544"/>
            <a:ext cx="1335024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 i="0" spc="110">
                <a:solidFill>
                  <a:srgbClr val="0891B2"/>
                </a:solidFill>
                <a:latin typeface="Consolas"/>
                <a:ea typeface="Microsoft YaHei"/>
              </a:rPr>
              <a:t>CONSUME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2960" y="5632704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元数据驱动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5751576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零代码接入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231136" y="5321808"/>
            <a:ext cx="54955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7780">
            <a:solidFill>
              <a:srgbClr val="0891B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340864" y="5376672"/>
            <a:ext cx="527608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元数据驱动 · 动态配置化查询平台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JSON 配置定义查询 / 筛选 / 列 / 权限 · 前端动态渲染 · 一次研发处处复用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600" b="1" i="0">
                <a:solidFill>
                  <a:srgbClr val="0891B2"/>
                </a:solidFill>
                <a:latin typeface="Segoe UI"/>
                <a:ea typeface="Microsoft YaHei"/>
              </a:rPr>
              <a:t>新系统接入零代码 · 边际 +3~6 人天 / 系统 · 首期 60 人天 · ≥15 系统适用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3232" y="6016752"/>
            <a:ext cx="7104888" cy="658368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 w="15240">
            <a:solidFill>
              <a:srgbClr val="E11D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47472" y="6190488"/>
            <a:ext cx="310896" cy="310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47472" y="619048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11D48"/>
                </a:solidFill>
                <a:latin typeface="Segoe UI"/>
                <a:ea typeface="Microsoft YaHei"/>
              </a:rPr>
              <a:t>↺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2960" y="6089904"/>
            <a:ext cx="133502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E11D48"/>
                </a:solidFill>
                <a:latin typeface="Segoe UI"/>
                <a:ea typeface="Microsoft YaHei"/>
              </a:rPr>
              <a:t>Retention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22960" y="6254496"/>
            <a:ext cx="1335024" cy="100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 i="0" spc="110">
                <a:solidFill>
                  <a:srgbClr val="E11D48"/>
                </a:solidFill>
                <a:latin typeface="Consolas"/>
                <a:ea typeface="Microsoft YaHei"/>
              </a:rPr>
              <a:t>RETENTION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2960" y="6391656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64748B"/>
                </a:solidFill>
                <a:latin typeface="Segoe UI"/>
                <a:ea typeface="Microsoft YaHei"/>
              </a:rPr>
              <a:t>作用于 B-03 分区
回写台账 · 附件同步删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231136" y="6108192"/>
            <a:ext cx="1225296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524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258568" y="6108192"/>
            <a:ext cx="11704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0F172A"/>
                </a:solidFill>
                <a:latin typeface="Segoe UI"/>
                <a:ea typeface="Microsoft YaHei"/>
              </a:rPr>
              <a:t>① 到期扫描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扫描 Iceberg meta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657600" y="6108192"/>
            <a:ext cx="1225296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524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685032" y="6108192"/>
            <a:ext cx="11704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0F172A"/>
                </a:solidFill>
                <a:latin typeface="Segoe UI"/>
                <a:ea typeface="Microsoft YaHei"/>
              </a:rPr>
              <a:t>② DROP PARTITION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秒级 · Iceberg 原生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084064" y="6108192"/>
            <a:ext cx="1225296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524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111496" y="6108192"/>
            <a:ext cx="11704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0F172A"/>
                </a:solidFill>
                <a:latin typeface="Segoe UI"/>
                <a:ea typeface="Microsoft YaHei"/>
              </a:rPr>
              <a:t>③ VACUUM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物理清除快照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510528" y="6108192"/>
            <a:ext cx="1225296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524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37960" y="6108192"/>
            <a:ext cx="11704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0F172A"/>
                </a:solidFill>
                <a:latin typeface="Segoe UI"/>
                <a:ea typeface="Microsoft YaHei"/>
              </a:rPr>
              <a:t>④ 附件 + 审计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同步删除 · 留痕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3483864" y="6300216"/>
            <a:ext cx="146304" cy="0"/>
          </a:xfrm>
          <a:prstGeom prst="line">
            <a:avLst/>
          </a:prstGeom>
          <a:ln w="19050">
            <a:solidFill>
              <a:srgbClr val="E11D48"/>
            </a:solidFill>
            <a:tailEnd type="triangle" w="med" len="med"/>
          </a:ln>
          <a:effectLst/>
        </p:spPr>
      </p:cxnSp>
      <p:cxnSp>
        <p:nvCxnSpPr>
          <p:cNvPr id="126" name="Connector 125"/>
          <p:cNvCxnSpPr/>
          <p:nvPr/>
        </p:nvCxnSpPr>
        <p:spPr>
          <a:xfrm>
            <a:off x="4910328" y="6300216"/>
            <a:ext cx="146304" cy="0"/>
          </a:xfrm>
          <a:prstGeom prst="line">
            <a:avLst/>
          </a:prstGeom>
          <a:ln w="19050">
            <a:solidFill>
              <a:srgbClr val="E11D48"/>
            </a:solidFill>
            <a:tailEnd type="triangle" w="med" len="med"/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6336792" y="6300216"/>
            <a:ext cx="146304" cy="0"/>
          </a:xfrm>
          <a:prstGeom prst="line">
            <a:avLst/>
          </a:prstGeom>
          <a:ln w="19050">
            <a:solidFill>
              <a:srgbClr val="E11D48"/>
            </a:solidFill>
            <a:tailEnd type="triangle" w="med" len="med"/>
          </a:ln>
          <a:effectLst/>
        </p:spPr>
      </p:cxnSp>
      <p:sp>
        <p:nvSpPr>
          <p:cNvPr id="128" name="TextBox 127"/>
          <p:cNvSpPr txBox="1"/>
          <p:nvPr/>
        </p:nvSpPr>
        <p:spPr>
          <a:xfrm>
            <a:off x="2231136" y="6528816"/>
            <a:ext cx="5495544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9F1239"/>
                </a:solidFill>
                <a:latin typeface="Segoe UI"/>
                <a:ea typeface="Microsoft YaHei"/>
              </a:rPr>
              <a:t>审计与元数据独立备份 · 不随业务数据销毁 · 纳入年度销毁演练</a:t>
            </a:r>
          </a:p>
        </p:txBody>
      </p:sp>
      <p:cxnSp>
        <p:nvCxnSpPr>
          <p:cNvPr id="129" name="Connector 128"/>
          <p:cNvCxnSpPr/>
          <p:nvPr/>
        </p:nvCxnSpPr>
        <p:spPr>
          <a:xfrm flipH="1">
            <a:off x="274320" y="6510528"/>
            <a:ext cx="438912" cy="0"/>
          </a:xfrm>
          <a:prstGeom prst="line">
            <a:avLst/>
          </a:prstGeom>
          <a:ln w="15240">
            <a:solidFill>
              <a:srgbClr val="E11D48"/>
            </a:solidFill>
            <a:prstDash val="dash"/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274320" y="3840480"/>
            <a:ext cx="0" cy="2670048"/>
          </a:xfrm>
          <a:prstGeom prst="line">
            <a:avLst/>
          </a:prstGeom>
          <a:ln w="15240">
            <a:solidFill>
              <a:srgbClr val="E11D48"/>
            </a:solidFill>
            <a:prstDash val="dash"/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274320" y="3840480"/>
            <a:ext cx="420624" cy="0"/>
          </a:xfrm>
          <a:prstGeom prst="line">
            <a:avLst/>
          </a:prstGeom>
          <a:ln w="15240">
            <a:solidFill>
              <a:srgbClr val="E11D48"/>
            </a:solidFill>
            <a:prstDash val="dash"/>
            <a:tailEnd type="triangle" w="med" len="med"/>
          </a:ln>
          <a:effectLst/>
        </p:spPr>
      </p:cxnSp>
      <p:sp>
        <p:nvSpPr>
          <p:cNvPr id="132" name="TextBox 131"/>
          <p:cNvSpPr txBox="1"/>
          <p:nvPr/>
        </p:nvSpPr>
        <p:spPr>
          <a:xfrm>
            <a:off x="91440" y="4434840"/>
            <a:ext cx="182880" cy="1188720"/>
          </a:xfrm>
          <a:prstGeom prst="rect">
            <a:avLst/>
          </a:prstGeom>
          <a:noFill/>
        </p:spPr>
        <p:txBody>
          <a:bodyPr wrap="square" lIns="0" rIns="0" tIns="0" bIns="0" anchor="ctr" vert="eaVer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E11D48"/>
                </a:solidFill>
                <a:latin typeface="Segoe UI"/>
                <a:ea typeface="Microsoft YaHei"/>
              </a:rPr>
              <a:t>作用于冷湖分区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001000" y="566928"/>
            <a:ext cx="3986784" cy="1444752"/>
          </a:xfrm>
          <a:prstGeom prst="roundRect">
            <a:avLst>
              <a:gd name="adj" fmla="val 4430"/>
            </a:avLst>
          </a:prstGeom>
          <a:solidFill>
            <a:srgbClr val="FFFBEB"/>
          </a:solidFill>
          <a:ln w="13970">
            <a:solidFill>
              <a:srgbClr val="D9770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129016" y="640080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D97706"/>
                </a:solidFill>
                <a:latin typeface="Segoe UI"/>
                <a:ea typeface="Microsoft YaHei"/>
              </a:rPr>
              <a:t>附件对象存储 · </a:t>
            </a:r>
            <a:r>
              <a:rPr sz="819" b="1" i="0">
                <a:solidFill>
                  <a:srgbClr val="92400E"/>
                </a:solidFill>
                <a:latin typeface="Segoe UI"/>
                <a:ea typeface="Microsoft YaHei"/>
              </a:rPr>
              <a:t>独立存储账户（与湖分开）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129016" y="804672"/>
            <a:ext cx="3749039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A16207"/>
                </a:solidFill>
                <a:latin typeface="Segoe UI"/>
                <a:ea typeface="Microsoft YaHei"/>
              </a:rPr>
              <a:t>贯穿 02 抽取 → B-03 存储 · 供 B-05 直接消费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110727" y="969264"/>
            <a:ext cx="1874519" cy="402336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138159" y="969264"/>
            <a:ext cx="18196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F172A"/>
                </a:solidFill>
                <a:latin typeface="Segoe UI"/>
                <a:ea typeface="Microsoft YaHei"/>
              </a:rPr>
              <a:t>FNS 平面命名空间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A16207"/>
                </a:solidFill>
                <a:latin typeface="Segoe UI"/>
                <a:ea typeface="Microsoft YaHei"/>
              </a:rPr>
              <a:t>非 HNS · 按次计费（不按 4MB 切块）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049255" y="969264"/>
            <a:ext cx="1874519" cy="402336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076687" y="969264"/>
            <a:ext cx="18196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F172A"/>
                </a:solidFill>
                <a:latin typeface="Segoe UI"/>
                <a:ea typeface="Microsoft YaHei"/>
              </a:rPr>
              <a:t>Cool → Cold 分层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A16207"/>
                </a:solidFill>
                <a:latin typeface="Segoe UI"/>
                <a:ea typeface="Microsoft YaHei"/>
              </a:rPr>
              <a:t>生命周期自动降档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110727" y="1426464"/>
            <a:ext cx="1874519" cy="402336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138159" y="1426464"/>
            <a:ext cx="18196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F172A"/>
                </a:solidFill>
                <a:latin typeface="Segoe UI"/>
                <a:ea typeface="Microsoft YaHei"/>
              </a:rPr>
              <a:t>SHA-256 台账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A16207"/>
                </a:solidFill>
                <a:latin typeface="Segoe UI"/>
                <a:ea typeface="Microsoft YaHei"/>
              </a:rPr>
              <a:t>前缀 sysXX/yyyy-mm/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0049255" y="1426464"/>
            <a:ext cx="1874519" cy="402336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076687" y="1426464"/>
            <a:ext cx="18196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F172A"/>
                </a:solidFill>
                <a:latin typeface="Segoe UI"/>
                <a:ea typeface="Microsoft YaHei"/>
              </a:rPr>
              <a:t>后端签 SAS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A16207"/>
                </a:solidFill>
                <a:latin typeface="Segoe UI"/>
                <a:ea typeface="Microsoft YaHei"/>
              </a:rPr>
              <a:t>前端直连下载</a:t>
            </a:r>
          </a:p>
        </p:txBody>
      </p:sp>
      <p:cxnSp>
        <p:nvCxnSpPr>
          <p:cNvPr id="144" name="Connector 143"/>
          <p:cNvCxnSpPr/>
          <p:nvPr/>
        </p:nvCxnSpPr>
        <p:spPr>
          <a:xfrm flipH="1">
            <a:off x="7836408" y="2560320"/>
            <a:ext cx="164592" cy="0"/>
          </a:xfrm>
          <a:prstGeom prst="line">
            <a:avLst/>
          </a:prstGeom>
          <a:ln w="16510">
            <a:solidFill>
              <a:srgbClr val="D97706"/>
            </a:solidFill>
            <a:prstDash val="dash"/>
            <a:tailEnd type="triangle" w="med" len="med"/>
          </a:ln>
          <a:effectLst/>
        </p:spPr>
      </p:cxnSp>
      <p:cxnSp>
        <p:nvCxnSpPr>
          <p:cNvPr id="145" name="Connector 144"/>
          <p:cNvCxnSpPr/>
          <p:nvPr/>
        </p:nvCxnSpPr>
        <p:spPr>
          <a:xfrm flipH="1">
            <a:off x="7836408" y="3547872"/>
            <a:ext cx="164592" cy="0"/>
          </a:xfrm>
          <a:prstGeom prst="line">
            <a:avLst/>
          </a:prstGeom>
          <a:ln w="16510">
            <a:solidFill>
              <a:srgbClr val="D97706"/>
            </a:solidFill>
            <a:prstDash val="dash"/>
            <a:tailEnd type="triangle" w="med" len="med"/>
          </a:ln>
          <a:effectLst/>
        </p:spPr>
      </p:cxnSp>
      <p:cxnSp>
        <p:nvCxnSpPr>
          <p:cNvPr id="146" name="Connector 145"/>
          <p:cNvCxnSpPr/>
          <p:nvPr/>
        </p:nvCxnSpPr>
        <p:spPr>
          <a:xfrm>
            <a:off x="9994392" y="2011680"/>
            <a:ext cx="0" cy="128016"/>
          </a:xfrm>
          <a:prstGeom prst="line">
            <a:avLst/>
          </a:prstGeom>
          <a:ln w="16510">
            <a:solidFill>
              <a:srgbClr val="D97706"/>
            </a:solidFill>
            <a:prstDash val="dash"/>
          </a:ln>
          <a:effectLst/>
        </p:spPr>
      </p:cxnSp>
      <p:cxnSp>
        <p:nvCxnSpPr>
          <p:cNvPr id="147" name="Connector 146"/>
          <p:cNvCxnSpPr/>
          <p:nvPr/>
        </p:nvCxnSpPr>
        <p:spPr>
          <a:xfrm flipH="1">
            <a:off x="7918704" y="2139696"/>
            <a:ext cx="2075688" cy="0"/>
          </a:xfrm>
          <a:prstGeom prst="line">
            <a:avLst/>
          </a:prstGeom>
          <a:ln w="16510">
            <a:solidFill>
              <a:srgbClr val="D97706"/>
            </a:solidFill>
            <a:prstDash val="dash"/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7918704" y="2139696"/>
            <a:ext cx="0" cy="3456432"/>
          </a:xfrm>
          <a:prstGeom prst="line">
            <a:avLst/>
          </a:prstGeom>
          <a:ln w="16510">
            <a:solidFill>
              <a:srgbClr val="D97706"/>
            </a:solidFill>
            <a:prstDash val="dash"/>
          </a:ln>
          <a:effectLst/>
        </p:spPr>
      </p:cxnSp>
      <p:cxnSp>
        <p:nvCxnSpPr>
          <p:cNvPr id="149" name="Connector 148"/>
          <p:cNvCxnSpPr/>
          <p:nvPr/>
        </p:nvCxnSpPr>
        <p:spPr>
          <a:xfrm flipH="1">
            <a:off x="7836408" y="5596128"/>
            <a:ext cx="82296" cy="0"/>
          </a:xfrm>
          <a:prstGeom prst="line">
            <a:avLst/>
          </a:prstGeom>
          <a:ln w="16510">
            <a:solidFill>
              <a:srgbClr val="D97706"/>
            </a:solidFill>
            <a:prstDash val="dash"/>
            <a:tailEnd type="triangle" w="med" len="med"/>
          </a:ln>
          <a:effectLst/>
        </p:spPr>
      </p:cxnSp>
      <p:sp>
        <p:nvSpPr>
          <p:cNvPr id="150" name="TextBox 149"/>
          <p:cNvSpPr txBox="1"/>
          <p:nvPr/>
        </p:nvSpPr>
        <p:spPr>
          <a:xfrm>
            <a:off x="8065008" y="2176272"/>
            <a:ext cx="192024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D97706"/>
                </a:solidFill>
                <a:latin typeface="Segoe UI"/>
                <a:ea typeface="Microsoft YaHei"/>
              </a:rPr>
              <a:t>附件 URL 直连消费（SAS）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001000" y="2340864"/>
            <a:ext cx="3986784" cy="1225296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129016" y="2414016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D28D9"/>
                </a:solidFill>
                <a:latin typeface="Segoe UI"/>
                <a:ea typeface="Microsoft YaHei"/>
              </a:rPr>
              <a:t>存算分离 · 成本结构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129016" y="2633472"/>
            <a:ext cx="1298448" cy="310896"/>
          </a:xfrm>
          <a:prstGeom prst="roundRect">
            <a:avLst>
              <a:gd name="adj" fmla="val 14705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156448" y="2633472"/>
            <a:ext cx="124358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6D28D9"/>
                </a:solidFill>
                <a:latin typeface="Segoe UI"/>
                <a:ea typeface="Microsoft YaHei"/>
              </a:rPr>
              <a:t>存储侧 · 常驻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518904" y="2633472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ADLS Hot/Cool ≈¥90–150/TB·月 · PB 级从容 · ZRS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129016" y="3017520"/>
            <a:ext cx="1298448" cy="310896"/>
          </a:xfrm>
          <a:prstGeom prst="roundRect">
            <a:avLst>
              <a:gd name="adj" fmla="val 14705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156448" y="3017520"/>
            <a:ext cx="124358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047857"/>
                </a:solidFill>
                <a:latin typeface="Segoe UI"/>
                <a:ea typeface="Microsoft YaHei"/>
              </a:rPr>
              <a:t>计算侧 · 按需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18904" y="301752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写侧 ETL ≈¥0.4–0.8 万/月 · 读侧查询 ≈¥0.5–0.9 万/月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129016" y="3401568"/>
            <a:ext cx="3749039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7C3AED"/>
                </a:solidFill>
                <a:latin typeface="Segoe UI"/>
                <a:ea typeface="Microsoft YaHei"/>
              </a:rPr>
              <a:t>存储与计算独立扩缩 · 空闲缩到 0 · 只为使用的算力付费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001000" y="3675887"/>
            <a:ext cx="3986784" cy="1572768"/>
          </a:xfrm>
          <a:prstGeom prst="roundRect">
            <a:avLst>
              <a:gd name="adj" fmla="val 4069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129016" y="3749039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172A"/>
                </a:solidFill>
                <a:latin typeface="Segoe UI"/>
                <a:ea typeface="Microsoft YaHei"/>
              </a:rPr>
              <a:t>方案 B2 要点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129016" y="3950208"/>
            <a:ext cx="37673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 i="0">
                <a:solidFill>
                  <a:srgbClr val="7C3AED"/>
                </a:solidFill>
                <a:latin typeface="Segoe UI"/>
                <a:ea typeface="Microsoft YaHei"/>
              </a:rPr>
              <a:t>· 存算分离 — </a:t>
            </a:r>
            <a:r>
              <a:rPr sz="610" b="0" i="0">
                <a:solidFill>
                  <a:srgbClr val="475569"/>
                </a:solidFill>
                <a:latin typeface="Segoe UI"/>
                <a:ea typeface="Microsoft YaHei"/>
              </a:rPr>
              <a:t>冷湖常驻，Serverless 读写按需拉起 · 空闲缩 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129016" y="4192524"/>
            <a:ext cx="37673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 i="0">
                <a:solidFill>
                  <a:srgbClr val="E11D48"/>
                </a:solidFill>
                <a:latin typeface="Segoe UI"/>
                <a:ea typeface="Microsoft YaHei"/>
              </a:rPr>
              <a:t>· 到期即毁 — </a:t>
            </a:r>
            <a:r>
              <a:rPr sz="610" b="0" i="0">
                <a:solidFill>
                  <a:srgbClr val="475569"/>
                </a:solidFill>
                <a:latin typeface="Segoe UI"/>
                <a:ea typeface="Microsoft YaHei"/>
              </a:rPr>
              <a:t>DROP PARTITION + VACUUM 物理清除，附件与审计同步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129016" y="4434840"/>
            <a:ext cx="37673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 i="0">
                <a:solidFill>
                  <a:srgbClr val="0891B2"/>
                </a:solidFill>
                <a:latin typeface="Segoe UI"/>
                <a:ea typeface="Microsoft YaHei"/>
              </a:rPr>
              <a:t>· 零代码接入 — </a:t>
            </a:r>
            <a:r>
              <a:rPr sz="610" b="0" i="0">
                <a:solidFill>
                  <a:srgbClr val="475569"/>
                </a:solidFill>
                <a:latin typeface="Segoe UI"/>
                <a:ea typeface="Microsoft YaHei"/>
              </a:rPr>
              <a:t>元数据驱动前端 · 边际 +3~6 人天 / 系统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129016" y="4677155"/>
            <a:ext cx="37673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 i="0">
                <a:solidFill>
                  <a:srgbClr val="059669"/>
                </a:solidFill>
                <a:latin typeface="Segoe UI"/>
                <a:ea typeface="Microsoft YaHei"/>
              </a:rPr>
              <a:t>· 读侧托管 — </a:t>
            </a:r>
            <a:r>
              <a:rPr sz="610" b="0" i="0">
                <a:solidFill>
                  <a:srgbClr val="475569"/>
                </a:solidFill>
                <a:latin typeface="Segoe UI"/>
                <a:ea typeface="Microsoft YaHei"/>
              </a:rPr>
              <a:t>Databricks SQL Serverless · 零集群运维 · UC 授权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129016" y="4919471"/>
            <a:ext cx="37673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 i="0">
                <a:solidFill>
                  <a:srgbClr val="475569"/>
                </a:solidFill>
                <a:latin typeface="Segoe UI"/>
                <a:ea typeface="Microsoft YaHei"/>
              </a:rPr>
              <a:t>· 适用规模 — </a:t>
            </a:r>
            <a:r>
              <a:rPr sz="610" b="0" i="0">
                <a:solidFill>
                  <a:srgbClr val="475569"/>
                </a:solidFill>
                <a:latin typeface="Segoe UI"/>
                <a:ea typeface="Microsoft YaHei"/>
              </a:rPr>
              <a:t>≥15 套系统或 &gt;20 TB 长期保留 · PB 级从容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8001000" y="5358384"/>
            <a:ext cx="3986784" cy="786384"/>
          </a:xfrm>
          <a:prstGeom prst="roundRect">
            <a:avLst>
              <a:gd name="adj" fmla="val 8139"/>
            </a:avLst>
          </a:prstGeom>
          <a:solidFill>
            <a:srgbClr val="FFF7ED"/>
          </a:solidFill>
          <a:ln w="1397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129016" y="5431536"/>
            <a:ext cx="3749039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45309"/>
                </a:solidFill>
                <a:latin typeface="Segoe UI"/>
                <a:ea typeface="Microsoft YaHei"/>
              </a:rPr>
              <a:t>B2 的取舍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129016" y="5596128"/>
            <a:ext cx="3767328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92400E"/>
                </a:solidFill>
                <a:latin typeface="Segoe UI"/>
                <a:ea typeface="Microsoft YaHei"/>
              </a:rPr>
              <a:t>读侧完全托管、UC 治理原生；代价是计算引擎绑定 Databricks（数据仍为开放 Iceberg，随时可换引擎）。Premium 为新建工作区唯一档（Azure 现行政策）。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方案 B2 · 数据加密设计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" y="566928"/>
            <a:ext cx="39319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" y="566928"/>
            <a:ext cx="3675887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172A"/>
                </a:solidFill>
                <a:latin typeface="Segoe UI"/>
                <a:ea typeface="Microsoft YaHei"/>
              </a:rPr>
              <a:t>四层加密模型 + 密钥管理（L1 → L5）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91440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EFF6FF"/>
          </a:solidFill>
          <a:ln w="1397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" y="1033271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397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033271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78D4"/>
                </a:solidFill>
                <a:latin typeface="Consolas"/>
                <a:ea typeface="Microsoft YaHei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996696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0F172A"/>
                </a:solidFill>
                <a:latin typeface="Segoe UI"/>
                <a:ea typeface="Microsoft YaHei"/>
              </a:rPr>
              <a:t>存储层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 · 防磁盘 / 桶泄露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170432"/>
            <a:ext cx="309067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ADLS 账户级 SSE（AES-256）+ Key Vault CMK；数据 / 元数据 / 附件一套密钥策略，可选基础设施双重加密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" y="173736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ECFDF5"/>
          </a:solidFill>
          <a:ln w="1397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" y="1856231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397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856231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59669"/>
                </a:solidFill>
                <a:latin typeface="Consolas"/>
                <a:ea typeface="Microsoft YaHei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1819656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0F172A"/>
                </a:solidFill>
                <a:latin typeface="Segoe UI"/>
                <a:ea typeface="Microsoft YaHei"/>
              </a:rPr>
              <a:t>传输层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 · 防链路窃听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993391"/>
            <a:ext cx="309067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全链路 TLS 1.2+：HTTPS 443 入口 · 私有端点私网 · JDBC / ODBC；流量不出 Azure 骨干网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" y="256032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FF1F2"/>
          </a:solidFill>
          <a:ln w="20320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4" y="2679191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3970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2679191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11D48"/>
                </a:solidFill>
                <a:latin typeface="Consolas"/>
                <a:ea typeface="Microsoft YaHei"/>
              </a:rPr>
              <a:t>L3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42615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E11D48"/>
                </a:solidFill>
                <a:latin typeface="Segoe UI"/>
                <a:ea typeface="Microsoft YaHei"/>
              </a:rPr>
              <a:t>字段层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 · 防 DBA / 运维内鬼 ★ 合规核心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816352"/>
            <a:ext cx="309067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aes_encrypt() 落盘即密文 + UC 列掩码查询遮蔽——两者必须组合；GCM 每次随机 IV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" y="3383279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5F3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9184" y="3502151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3502151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7C3AED"/>
                </a:solidFill>
                <a:latin typeface="Consolas"/>
                <a:ea typeface="Microsoft YaHei"/>
              </a:rPr>
              <a:t>L4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465575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0F172A"/>
                </a:solidFill>
                <a:latin typeface="Segoe UI"/>
                <a:ea typeface="Microsoft YaHei"/>
              </a:rPr>
              <a:t>展示层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 · 防越权查看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39311"/>
            <a:ext cx="309067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UC COLUMN MASK / ROW FILTER 绑定基表，任何访问路径强制生效；B2 原生，Trino 读完全不可用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" y="420624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FFBEB"/>
          </a:solidFill>
          <a:ln w="1397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9184" y="4325112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397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" y="4325112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97706"/>
                </a:solidFill>
                <a:latin typeface="Consolas"/>
                <a:ea typeface="Microsoft YaHei"/>
              </a:rPr>
              <a:t>L5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288536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0F172A"/>
                </a:solidFill>
                <a:latin typeface="Segoe UI"/>
                <a:ea typeface="Microsoft YaHei"/>
              </a:rPr>
              <a:t>密钥层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 · 防泄露无法止损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462272"/>
            <a:ext cx="309067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Key Vault CMK 自动轮转；信封加密——轮主密钥只重包装 KEK、零数据重写；密文自带 key_version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61104" y="566928"/>
            <a:ext cx="41148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"/>
            <a:ext cx="385876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172A"/>
                </a:solidFill>
                <a:latin typeface="Segoe UI"/>
                <a:ea typeface="Microsoft YaHei"/>
              </a:rPr>
              <a:t>字段级加密 · 推荐路线：aes_encrypt + UC 列掩码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61104" y="896112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A7F3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370832" y="1033271"/>
            <a:ext cx="274320" cy="27432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103327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47857"/>
                </a:solidFill>
                <a:latin typeface="Consolas"/>
                <a:ea typeface="Microsoft YaHe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969264"/>
            <a:ext cx="352958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密钥入 Secret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1152144"/>
            <a:ext cx="35295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Key Vault 撑腰 · 托管标识免密拉取，密钥不进代码 / 日志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09360" y="1453895"/>
            <a:ext cx="0" cy="73153"/>
          </a:xfrm>
          <a:prstGeom prst="line">
            <a:avLst/>
          </a:prstGeom>
          <a:ln w="1778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39" name="Rounded Rectangle 38"/>
          <p:cNvSpPr/>
          <p:nvPr/>
        </p:nvSpPr>
        <p:spPr>
          <a:xfrm>
            <a:off x="4261104" y="1536192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A7F3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70832" y="1673351"/>
            <a:ext cx="274320" cy="27432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2" y="167335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47857"/>
                </a:solidFill>
                <a:latin typeface="Consolas"/>
                <a:ea typeface="Microsoft YaHe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1609344"/>
            <a:ext cx="352958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ETL 写侧加密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1792224"/>
            <a:ext cx="35295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0E7490"/>
                </a:solidFill>
                <a:latin typeface="Consolas"/>
                <a:ea typeface="Microsoft YaHei"/>
              </a:rPr>
              <a:t>aes_encrypt(col, secret(...))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 · 默认 GCM 随机 IV，绝不能用 ECB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309360" y="2093976"/>
            <a:ext cx="0" cy="73152"/>
          </a:xfrm>
          <a:prstGeom prst="line">
            <a:avLst/>
          </a:prstGeom>
          <a:ln w="1778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45" name="Rounded Rectangle 44"/>
          <p:cNvSpPr/>
          <p:nvPr/>
        </p:nvSpPr>
        <p:spPr>
          <a:xfrm>
            <a:off x="4261104" y="2176272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A7F3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70832" y="2313432"/>
            <a:ext cx="274320" cy="27432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70832" y="23134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47857"/>
                </a:solidFill>
                <a:latin typeface="Consolas"/>
                <a:ea typeface="Microsoft YaHe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2249424"/>
            <a:ext cx="352958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定义掩码函数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2432304"/>
            <a:ext cx="35295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0E7490"/>
                </a:solidFill>
                <a:latin typeface="Consolas"/>
                <a:ea typeface="Microsoft YaHei"/>
              </a:rPr>
              <a:t>is_account_group_member()</a:t>
            </a:r>
            <a:r>
              <a:rPr sz="590" b="0" i="0">
                <a:solidFill>
                  <a:srgbClr val="64748B"/>
                </a:solidFill>
                <a:latin typeface="Consolas"/>
                <a:ea typeface="Microsoft YaHei"/>
              </a:rPr>
              <a:t> ? try_aes_decrypt : ***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309360" y="2734056"/>
            <a:ext cx="0" cy="73152"/>
          </a:xfrm>
          <a:prstGeom prst="line">
            <a:avLst/>
          </a:prstGeom>
          <a:ln w="1778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51" name="Rounded Rectangle 50"/>
          <p:cNvSpPr/>
          <p:nvPr/>
        </p:nvSpPr>
        <p:spPr>
          <a:xfrm>
            <a:off x="4261104" y="2816352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A7F3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370832" y="2953512"/>
            <a:ext cx="274320" cy="27432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70832" y="29535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47857"/>
                </a:solidFill>
                <a:latin typeface="Consolas"/>
                <a:ea typeface="Microsoft YaHe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2889504"/>
            <a:ext cx="352958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挂载到列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3072384"/>
            <a:ext cx="35295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0E7490"/>
                </a:solidFill>
                <a:latin typeface="Consolas"/>
                <a:ea typeface="Microsoft YaHei"/>
              </a:rPr>
              <a:t>ALTER TABLE … SET MASK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（必须打在基表，不支持视图）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61104" y="347472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397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52544" y="34747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47857"/>
                </a:solidFill>
                <a:latin typeface="Segoe UI"/>
                <a:ea typeface="Microsoft YaHei"/>
              </a:rPr>
              <a:t>同一条 SQL：授权者见明文 · 其他人见 *** · 直读 Parquet 只见密文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61104" y="3895344"/>
            <a:ext cx="4114800" cy="256032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70832" y="3895344"/>
            <a:ext cx="39136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F172A"/>
                </a:solidFill>
                <a:latin typeface="Segoe UI"/>
                <a:ea typeface="Microsoft YaHei"/>
              </a:rPr>
              <a:t>为何安全：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掩码函数以定义者权限取密钥，分析师自己写 aes_decrypt 也拿不到 key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61104" y="4224528"/>
            <a:ext cx="4114800" cy="73152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1397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70832" y="4279392"/>
            <a:ext cx="39319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B45309"/>
                </a:solidFill>
                <a:latin typeface="Segoe UI"/>
                <a:ea typeface="Microsoft YaHei"/>
              </a:rPr>
              <a:t>三个必守约束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0832" y="4443984"/>
            <a:ext cx="391363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92400E"/>
                </a:solidFill>
                <a:latin typeface="Segoe UI"/>
                <a:ea typeface="Microsoft YaHei"/>
              </a:rPr>
              <a:t>❶ 绝不能改成 ECB（暴露频率分布）　❷ 业务用户对 Secret Scope 必须无 READ 权限，否则防线归零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92400E"/>
                </a:solidFill>
                <a:latin typeface="Segoe UI"/>
                <a:ea typeface="Microsoft YaHei"/>
              </a:rPr>
              <a:t>❸ 掩码不支持视图须挂基表；卸载顺序：先 DROP MASK 再 DROP FUNCTION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22208" y="566928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50224" y="566928"/>
            <a:ext cx="3218687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172A"/>
                </a:solidFill>
                <a:latin typeface="Segoe UI"/>
                <a:ea typeface="Microsoft YaHei"/>
              </a:rPr>
              <a:t>密钥体系 · 合规与销毁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22208" y="896112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24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650224" y="987552"/>
            <a:ext cx="3218688" cy="310896"/>
          </a:xfrm>
          <a:prstGeom prst="roundRect">
            <a:avLst>
              <a:gd name="adj" fmla="val 14705"/>
            </a:avLst>
          </a:prstGeom>
          <a:solidFill>
            <a:srgbClr val="EFF6FF"/>
          </a:solidFill>
          <a:ln w="13970">
            <a:solidFill>
              <a:srgbClr val="BFDBFE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77656" y="987552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1E40AF"/>
                </a:solidFill>
                <a:latin typeface="Segoe UI"/>
                <a:ea typeface="Microsoft YaHei"/>
              </a:rPr>
              <a:t>Key Vault · CMK / KEK 主密钥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0259568" y="1307592"/>
            <a:ext cx="0" cy="109728"/>
          </a:xfrm>
          <a:prstGeom prst="line">
            <a:avLst/>
          </a:prstGeom>
          <a:ln w="16510">
            <a:solidFill>
              <a:srgbClr val="0078D4"/>
            </a:solidFill>
            <a:tailEnd type="triangl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10351008" y="1298448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 i="0">
                <a:solidFill>
                  <a:srgbClr val="0078D4"/>
                </a:solidFill>
                <a:latin typeface="Segoe UI"/>
                <a:ea typeface="Microsoft YaHei"/>
              </a:rPr>
              <a:t>包装 / 解包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50224" y="1426464"/>
            <a:ext cx="3218688" cy="310896"/>
          </a:xfrm>
          <a:prstGeom prst="roundRect">
            <a:avLst>
              <a:gd name="adj" fmla="val 14705"/>
            </a:avLst>
          </a:prstGeom>
          <a:solidFill>
            <a:srgbClr val="F5F3FF"/>
          </a:solidFill>
          <a:ln w="13970">
            <a:solidFill>
              <a:srgbClr val="DDD6FE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77656" y="1426464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D28D9"/>
                </a:solidFill>
                <a:latin typeface="Segoe UI"/>
                <a:ea typeface="Microsoft YaHei"/>
              </a:rPr>
              <a:t>DEK 数据密钥（带 key_version）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0259568" y="1746504"/>
            <a:ext cx="0" cy="109727"/>
          </a:xfrm>
          <a:prstGeom prst="line">
            <a:avLst/>
          </a:prstGeom>
          <a:ln w="1651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73" name="TextBox 72"/>
          <p:cNvSpPr txBox="1"/>
          <p:nvPr/>
        </p:nvSpPr>
        <p:spPr>
          <a:xfrm>
            <a:off x="10351008" y="17373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 i="0">
                <a:solidFill>
                  <a:srgbClr val="7C3AED"/>
                </a:solidFill>
                <a:latin typeface="Segoe UI"/>
                <a:ea typeface="Microsoft YaHei"/>
              </a:rPr>
              <a:t>加密 / 解密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50224" y="1865376"/>
            <a:ext cx="3218688" cy="310896"/>
          </a:xfrm>
          <a:prstGeom prst="roundRect">
            <a:avLst>
              <a:gd name="adj" fmla="val 14705"/>
            </a:avLst>
          </a:prstGeom>
          <a:solidFill>
            <a:srgbClr val="ECFDF5"/>
          </a:solidFill>
          <a:ln w="13970">
            <a:solidFill>
              <a:srgbClr val="A7F3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77656" y="1865376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47857"/>
                </a:solidFill>
                <a:latin typeface="Segoe UI"/>
                <a:ea typeface="Microsoft YaHei"/>
              </a:rPr>
              <a:t>Iceberg 密文 + UC 列掩码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13648" y="223113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078D4"/>
                </a:solidFill>
                <a:latin typeface="Segoe UI"/>
                <a:ea typeface="Microsoft YaHei"/>
              </a:rPr>
              <a:t>信封加密：轮转主密钥只重新包装 DEK，数据文件一个字节不动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522208" y="2560320"/>
            <a:ext cx="3474720" cy="859536"/>
          </a:xfrm>
          <a:prstGeom prst="roundRect">
            <a:avLst>
              <a:gd name="adj" fmla="val 6382"/>
            </a:avLst>
          </a:prstGeom>
          <a:solidFill>
            <a:srgbClr val="FFF1F2"/>
          </a:solidFill>
          <a:ln w="15240">
            <a:solidFill>
              <a:srgbClr val="E11D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50224" y="262432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E11D48"/>
                </a:solidFill>
                <a:latin typeface="Segoe UI"/>
                <a:ea typeface="Microsoft YaHei"/>
              </a:rPr>
              <a:t>Crypto-Shredding · 被遗忘权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50224" y="2798064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按数据主体分配独立 DEK——「删除」= 销毁该 DEK，密文永久不可读，无需重写 PB 级文件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E11D48"/>
                </a:solidFill>
                <a:latin typeface="Segoe UI"/>
                <a:ea typeface="Microsoft YaHei"/>
              </a:rPr>
              <a:t>归档场景性价比最高的合规设计，建议第一版纳入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22208" y="3511296"/>
            <a:ext cx="34747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50224" y="3575304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合规映射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650224" y="3767328"/>
            <a:ext cx="969264" cy="219456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77656" y="376732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047857"/>
                </a:solidFill>
                <a:latin typeface="Segoe UI"/>
                <a:ea typeface="Microsoft YaHei"/>
              </a:rPr>
              <a:t>等保 2.0 三级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10928" y="375818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存储 / 传输保密达标；策略在引擎内、审计落表，举证材料天然齐备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650224" y="4169664"/>
            <a:ext cx="969264" cy="219456"/>
          </a:xfrm>
          <a:prstGeom prst="roundRect">
            <a:avLst>
              <a:gd name="adj" fmla="val 16666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77656" y="416966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B45309"/>
                </a:solidFill>
                <a:latin typeface="Segoe UI"/>
                <a:ea typeface="Microsoft YaHei"/>
              </a:rPr>
              <a:t>个保法第 51 条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10928" y="4160520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SSE ≠ 去标识化——必须 L3 字段级加密 + L4 强制脱敏，只做 L1 不满足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650224" y="4572000"/>
            <a:ext cx="969264" cy="219456"/>
          </a:xfrm>
          <a:prstGeom prst="roundRect">
            <a:avLst>
              <a:gd name="adj" fmla="val 16666"/>
            </a:avLst>
          </a:prstGeom>
          <a:solidFill>
            <a:srgbClr val="FFF1F2"/>
          </a:solidFill>
          <a:ln w="12700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677656" y="45720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E11D48"/>
                </a:solidFill>
                <a:latin typeface="Segoe UI"/>
                <a:ea typeface="Microsoft YaHei"/>
              </a:rPr>
              <a:t>GDPR 被遗忘权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710928" y="4562856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Crypto-Shredding：销毁主体 DEK 即永久不可读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01168" y="5084064"/>
            <a:ext cx="3840480" cy="896112"/>
          </a:xfrm>
          <a:prstGeom prst="roundRect">
            <a:avLst>
              <a:gd name="adj" fmla="val 6122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47472" y="5193792"/>
            <a:ext cx="35661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59669"/>
                </a:solidFill>
                <a:latin typeface="Segoe UI"/>
                <a:ea typeface="Microsoft YaHei"/>
              </a:rPr>
              <a:t>① 授权强制力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394960"/>
            <a:ext cx="3584448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掩码 / 行过滤绑定引擎元数据，任何客户端绕不过；应用层脱敏绕过 API 即失效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178807" y="5084064"/>
            <a:ext cx="3840480" cy="896112"/>
          </a:xfrm>
          <a:prstGeom prst="roundRect">
            <a:avLst>
              <a:gd name="adj" fmla="val 6122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325112" y="5193792"/>
            <a:ext cx="35661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59669"/>
                </a:solidFill>
                <a:latin typeface="Segoe UI"/>
                <a:ea typeface="Microsoft YaHei"/>
              </a:rPr>
              <a:t>② 轮转成本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25112" y="5394960"/>
            <a:ext cx="3584448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信封加密只重包装 KEK、零数据重写；应用层方案轮转需重刷数十 TB 存量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156447" y="5084064"/>
            <a:ext cx="3840480" cy="896112"/>
          </a:xfrm>
          <a:prstGeom prst="roundRect">
            <a:avLst>
              <a:gd name="adj" fmla="val 6122"/>
            </a:avLst>
          </a:prstGeom>
          <a:solidFill>
            <a:srgbClr val="F5F3FF"/>
          </a:solidFill>
          <a:ln w="15240">
            <a:solidFill>
              <a:srgbClr val="DDD6FE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02751" y="5193792"/>
            <a:ext cx="35661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7C3AED"/>
                </a:solidFill>
                <a:latin typeface="Segoe UI"/>
                <a:ea typeface="Microsoft YaHei"/>
              </a:rPr>
              <a:t>③ 实施成本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02751" y="5394960"/>
            <a:ext cx="3584448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约 2~3 人天（应用层方案 8~12 人天）· 加密字段仍可检索 · 审计平台原生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01168" y="6108192"/>
            <a:ext cx="11795760" cy="475488"/>
          </a:xfrm>
          <a:prstGeom prst="roundRect">
            <a:avLst>
              <a:gd name="adj" fmla="val 13461"/>
            </a:avLst>
          </a:prstGeom>
          <a:solidFill>
            <a:srgbClr val="F5F3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65760" y="6108192"/>
            <a:ext cx="114665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D28D9"/>
                </a:solidFill>
                <a:latin typeface="Segoe UI"/>
                <a:ea typeface="Microsoft YaHei"/>
              </a:rPr>
              <a:t>★ 若列级脱敏是硬需求：</a:t>
            </a:r>
            <a:r>
              <a:rPr sz="720" b="0" i="0">
                <a:solidFill>
                  <a:srgbClr val="4C1D95"/>
                </a:solidFill>
                <a:latin typeface="Segoe UI"/>
                <a:ea typeface="Microsoft YaHei"/>
              </a:rPr>
              <a:t>B（Trino 读）的 UC 列掩码完全不可用（Iceberg REST Catalog 不支持），B2 原生生效、任何路径强制遮蔽——这一条基本决定必须选 B2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元数据库 ER 图（上）· 平台 / 权限 / 数据源配置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54864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48B"/>
                </a:solidFill>
                <a:latin typeface="Segoe UI"/>
                <a:ea typeface="Microsoft YaHei"/>
              </a:rPr>
              <a:t>18 表 · 仅关键字段 · 通用列已省略 · 源码：report/元数据库ER图.mmd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40080"/>
            <a:ext cx="10241280" cy="347472"/>
          </a:xfrm>
          <a:prstGeom prst="roundRect">
            <a:avLst>
              <a:gd name="adj" fmla="val 15789"/>
            </a:avLst>
          </a:prstGeom>
          <a:solidFill>
            <a:srgbClr val="FFF2CC"/>
          </a:solidFill>
          <a:ln w="12700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0021824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3333"/>
                </a:solidFill>
                <a:latin typeface="Segoe UI"/>
                <a:ea typeface="Microsoft YaHei"/>
              </a:rPr>
              <a:t>① 权限与访问控制（RBAC）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920240"/>
            <a:ext cx="4160520" cy="347472"/>
          </a:xfrm>
          <a:prstGeom prst="roundRect">
            <a:avLst>
              <a:gd name="adj" fmla="val 15789"/>
            </a:avLst>
          </a:prstGeom>
          <a:solidFill>
            <a:srgbClr val="D5E8D4"/>
          </a:solidFill>
          <a:ln w="12700">
            <a:solidFill>
              <a:srgbClr val="9BC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0448" y="1920240"/>
            <a:ext cx="3941063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3333"/>
                </a:solidFill>
                <a:latin typeface="Segoe UI"/>
                <a:ea typeface="Microsoft YaHei"/>
              </a:rPr>
              <a:t>③ 源数据配置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192024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1D5E7"/>
          </a:solidFill>
          <a:ln w="12700">
            <a:solidFill>
              <a:srgbClr val="B5A0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59567" y="1920240"/>
            <a:ext cx="1563624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3333"/>
                </a:solidFill>
                <a:latin typeface="Segoe UI"/>
                <a:ea typeface="Microsoft YaHei"/>
              </a:rPr>
              <a:t>④ 目标存储 · 归档 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182112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D9E8FC"/>
          </a:solidFill>
          <a:ln w="12700">
            <a:solidFill>
              <a:srgbClr val="A9C4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3182112"/>
            <a:ext cx="2432304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3333"/>
                </a:solidFill>
                <a:latin typeface="Segoe UI"/>
                <a:ea typeface="Microsoft YaHei"/>
              </a:rPr>
              <a:t>② 退役系统管理（核心）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5321808"/>
            <a:ext cx="11658600" cy="347472"/>
          </a:xfrm>
          <a:prstGeom prst="roundRect">
            <a:avLst>
              <a:gd name="adj" fmla="val 15789"/>
            </a:avLst>
          </a:prstGeom>
          <a:solidFill>
            <a:srgbClr val="F5F5F5"/>
          </a:solidFill>
          <a:ln w="1270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5321808"/>
            <a:ext cx="11439144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3333"/>
                </a:solidFill>
                <a:latin typeface="Segoe UI"/>
                <a:ea typeface="Microsoft YaHei"/>
              </a:rPr>
              <a:t>⑩ 通知 · ⑪ 审计与监控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1005840"/>
            <a:ext cx="192024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778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7121" y="1018641"/>
            <a:ext cx="1894636" cy="237744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0469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user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7121" y="1266444"/>
            <a:ext cx="1894636" cy="822959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1289304"/>
            <a:ext cx="1737360" cy="7863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B26A00"/>
                </a:solidFill>
                <a:latin typeface="Segoe UI"/>
                <a:ea typeface="Microsoft YaHei"/>
              </a:rPr>
              <a:t>UK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username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password_hash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real_name·email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status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(tinyint)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last_login_at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(datetime)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1188720"/>
            <a:ext cx="169164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778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35961" y="1201521"/>
            <a:ext cx="1666036" cy="237744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79" y="122986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user_role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5961" y="1449324"/>
            <a:ext cx="1666036" cy="365759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32888" y="1472184"/>
            <a:ext cx="1508760" cy="32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user_id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role_id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1005840"/>
            <a:ext cx="19202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6201" y="1018641"/>
            <a:ext cx="1894636" cy="237744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10469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role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56201" y="1266444"/>
            <a:ext cx="1894636" cy="54864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1289304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B26A00"/>
                </a:solidFill>
                <a:latin typeface="Segoe UI"/>
                <a:ea typeface="Microsoft YaHei"/>
              </a:rPr>
              <a:t>UK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role_code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role_name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is_builtin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(tinyint)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1188720"/>
            <a:ext cx="178308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778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05041" y="1201521"/>
            <a:ext cx="1757476" cy="237744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59" y="1229868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role_permission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05041" y="1449324"/>
            <a:ext cx="1757476" cy="365759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1472184"/>
            <a:ext cx="1600200" cy="32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role_id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permission_id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1005840"/>
            <a:ext cx="201168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516721" y="1018641"/>
            <a:ext cx="1986076" cy="237744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1046988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permission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16721" y="1266444"/>
            <a:ext cx="1986076" cy="54864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13648" y="1289304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B26A00"/>
                </a:solidFill>
                <a:latin typeface="Segoe UI"/>
                <a:ea typeface="Microsoft YaHei"/>
              </a:rPr>
              <a:t>UK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permission_code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module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resource_type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2176272"/>
            <a:ext cx="19202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7121" y="2189073"/>
            <a:ext cx="1894636" cy="237744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21742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page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7121" y="2436876"/>
            <a:ext cx="1894636" cy="54864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2459736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B26A00"/>
                </a:solidFill>
                <a:latin typeface="Segoe UI"/>
                <a:ea typeface="Microsoft YaHei"/>
              </a:rPr>
              <a:t>UK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page_code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path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enabled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(tinyint)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23160" y="2322576"/>
            <a:ext cx="169164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778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435961" y="2335377"/>
            <a:ext cx="1666036" cy="237744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68879" y="2363724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role_page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35961" y="2583180"/>
            <a:ext cx="1666036" cy="365759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32888" y="2606040"/>
            <a:ext cx="1508760" cy="32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role_id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page_id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51760" y="3474720"/>
            <a:ext cx="2651760" cy="123444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664561" y="3487521"/>
            <a:ext cx="2626156" cy="237744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97479" y="35158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decommission_system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64561" y="3735324"/>
            <a:ext cx="2626156" cy="960120"/>
          </a:xfrm>
          <a:prstGeom prst="roundRect">
            <a:avLst>
              <a:gd name="adj" fmla="val 1904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61488" y="3758183"/>
            <a:ext cx="2468879" cy="9235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B26A00"/>
                </a:solidFill>
                <a:latin typeface="Segoe UI"/>
                <a:ea typeface="Microsoft YaHei"/>
              </a:rPr>
              <a:t>UK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system_code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status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retention_years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sync_completed_date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(date)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destroy_after_date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(date)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926080" y="4828032"/>
            <a:ext cx="164592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938881" y="4840833"/>
            <a:ext cx="1620316" cy="237744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71800" y="486918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system_user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38881" y="5088636"/>
            <a:ext cx="1620316" cy="365759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35808" y="5111496"/>
            <a:ext cx="1463040" cy="32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user_id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760720" y="2212848"/>
            <a:ext cx="19659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7780">
            <a:solidFill>
              <a:srgbClr val="9BCB9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773521" y="2225649"/>
            <a:ext cx="1940356" cy="237744"/>
          </a:xfrm>
          <a:prstGeom prst="roundRect">
            <a:avLst>
              <a:gd name="adj" fmla="val 11538"/>
            </a:avLst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06440" y="2253996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source_database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773521" y="2473452"/>
            <a:ext cx="1940356" cy="777239"/>
          </a:xfrm>
          <a:prstGeom prst="roundRect">
            <a:avLst>
              <a:gd name="adj" fmla="val 235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70448" y="2496312"/>
            <a:ext cx="1783080" cy="7406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db_type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host:port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credential_ref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55279" y="2212848"/>
            <a:ext cx="19659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7780">
            <a:solidFill>
              <a:srgbClr val="9BCB9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968081" y="2225649"/>
            <a:ext cx="1940356" cy="237744"/>
          </a:xfrm>
          <a:prstGeom prst="roundRect">
            <a:avLst>
              <a:gd name="adj" fmla="val 11538"/>
            </a:avLst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1000" y="2253996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source_table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68081" y="2473452"/>
            <a:ext cx="1940356" cy="777239"/>
          </a:xfrm>
          <a:prstGeom prst="roundRect">
            <a:avLst>
              <a:gd name="adj" fmla="val 235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65007" y="2496312"/>
            <a:ext cx="1783080" cy="7406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source_database_id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table_name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primary_key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is_attachment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(tinyint)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760720" y="3438144"/>
            <a:ext cx="19659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9BCB9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773521" y="3450945"/>
            <a:ext cx="1940356" cy="237744"/>
          </a:xfrm>
          <a:prstGeom prst="roundRect">
            <a:avLst>
              <a:gd name="adj" fmla="val 11538"/>
            </a:avLst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06440" y="3479291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unstructured_source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773521" y="3698748"/>
            <a:ext cx="194035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70448" y="3721607"/>
            <a:ext cx="178308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source_type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location_uri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955279" y="3438144"/>
            <a:ext cx="19659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9BCB9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968081" y="3450945"/>
            <a:ext cx="1940356" cy="237744"/>
          </a:xfrm>
          <a:prstGeom prst="roundRect">
            <a:avLst>
              <a:gd name="adj" fmla="val 11538"/>
            </a:avLst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01000" y="3479291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unstructured_item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968081" y="3698748"/>
            <a:ext cx="194035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65007" y="3721607"/>
            <a:ext cx="178308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unstructured_source_id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original_path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hash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149840" y="2212848"/>
            <a:ext cx="17830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B5A0C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0162641" y="2225649"/>
            <a:ext cx="1757476" cy="237744"/>
          </a:xfrm>
          <a:prstGeom prst="roundRect">
            <a:avLst>
              <a:gd name="adj" fmla="val 11538"/>
            </a:avLst>
          </a:prstGeom>
          <a:solidFill>
            <a:srgbClr val="E1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95560" y="2253996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schema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162641" y="2473452"/>
            <a:ext cx="175747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259567" y="2496312"/>
            <a:ext cx="160020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catalog_name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schema_name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149840" y="3438144"/>
            <a:ext cx="17830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B5A0C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162641" y="3450945"/>
            <a:ext cx="1757476" cy="237744"/>
          </a:xfrm>
          <a:prstGeom prst="roundRect">
            <a:avLst>
              <a:gd name="adj" fmla="val 11538"/>
            </a:avLst>
          </a:prstGeom>
          <a:solidFill>
            <a:srgbClr val="E1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195560" y="3479291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storage_config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162641" y="3698748"/>
            <a:ext cx="175747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59567" y="3721607"/>
            <a:ext cx="160020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storage_type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container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74320" y="5669280"/>
            <a:ext cx="23774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7780">
            <a:solidFill>
              <a:srgbClr val="A8A8A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287121" y="5682081"/>
            <a:ext cx="2351836" cy="237744"/>
          </a:xfrm>
          <a:prstGeom prst="roundRect">
            <a:avLst>
              <a:gd name="adj" fmla="val 1153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0040" y="571042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audit_log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87121" y="5929884"/>
            <a:ext cx="2351836" cy="438912"/>
          </a:xfrm>
          <a:prstGeom prst="roundRect">
            <a:avLst>
              <a:gd name="adj" fmla="val 4166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84048" y="595274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user_id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action·module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ip·status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798064" y="5669280"/>
            <a:ext cx="2615184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7780">
            <a:solidFill>
              <a:srgbClr val="A8A8A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2810865" y="5682081"/>
            <a:ext cx="2589580" cy="237744"/>
          </a:xfrm>
          <a:prstGeom prst="roundRect">
            <a:avLst>
              <a:gd name="adj" fmla="val 1153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843784" y="5710428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sync_activity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810865" y="5929884"/>
            <a:ext cx="2589580" cy="438912"/>
          </a:xfrm>
          <a:prstGeom prst="roundRect">
            <a:avLst>
              <a:gd name="adj" fmla="val 4166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907792" y="5952744"/>
            <a:ext cx="2432303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activity_date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(date)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成功/失败/运行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sync_job 按天预聚合·派生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559552" y="5669280"/>
            <a:ext cx="2377440" cy="566928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780">
            <a:solidFill>
              <a:srgbClr val="A8A8A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5572353" y="5682081"/>
            <a:ext cx="2351836" cy="237744"/>
          </a:xfrm>
          <a:prstGeom prst="roundRect">
            <a:avLst>
              <a:gd name="adj" fmla="val 1153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605272" y="571042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notification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572353" y="5929884"/>
            <a:ext cx="2351836" cy="292608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669280" y="5952744"/>
            <a:ext cx="2194560" cy="2560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recipient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channel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2194560" y="1463040"/>
            <a:ext cx="228600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06" name="TextBox 105"/>
          <p:cNvSpPr txBox="1"/>
          <p:nvPr/>
        </p:nvSpPr>
        <p:spPr>
          <a:xfrm>
            <a:off x="2276856" y="152247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31136" y="128473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08" name="Connector 107"/>
          <p:cNvCxnSpPr/>
          <p:nvPr/>
        </p:nvCxnSpPr>
        <p:spPr>
          <a:xfrm flipH="1">
            <a:off x="4114800" y="1463040"/>
            <a:ext cx="228600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09" name="TextBox 108"/>
          <p:cNvSpPr txBox="1"/>
          <p:nvPr/>
        </p:nvSpPr>
        <p:spPr>
          <a:xfrm>
            <a:off x="4151376" y="128473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97096" y="152247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6263640" y="1463040"/>
            <a:ext cx="228600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12" name="TextBox 111"/>
          <p:cNvSpPr txBox="1"/>
          <p:nvPr/>
        </p:nvSpPr>
        <p:spPr>
          <a:xfrm>
            <a:off x="6345936" y="152247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00216" y="128473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14" name="Connector 113"/>
          <p:cNvCxnSpPr/>
          <p:nvPr/>
        </p:nvCxnSpPr>
        <p:spPr>
          <a:xfrm flipH="1">
            <a:off x="8275320" y="1463040"/>
            <a:ext cx="228600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15" name="TextBox 114"/>
          <p:cNvSpPr txBox="1"/>
          <p:nvPr/>
        </p:nvSpPr>
        <p:spPr>
          <a:xfrm>
            <a:off x="8311896" y="128473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57616" y="152247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2194560" y="2852928"/>
            <a:ext cx="228600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18" name="TextBox 117"/>
          <p:cNvSpPr txBox="1"/>
          <p:nvPr/>
        </p:nvSpPr>
        <p:spPr>
          <a:xfrm>
            <a:off x="2276856" y="291236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231136" y="2674620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4754880" y="1792224"/>
            <a:ext cx="0" cy="384048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H="1">
            <a:off x="3264408" y="2176272"/>
            <a:ext cx="1490472" cy="0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>
            <a:off x="3264408" y="2176272"/>
            <a:ext cx="0" cy="256032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23" name="TextBox 122"/>
          <p:cNvSpPr txBox="1"/>
          <p:nvPr/>
        </p:nvSpPr>
        <p:spPr>
          <a:xfrm>
            <a:off x="4581144" y="1869948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28415" y="2235708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2194560" y="1719072"/>
            <a:ext cx="137160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>
            <a:off x="2331720" y="1719072"/>
            <a:ext cx="0" cy="3447288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2331720" y="5166360"/>
            <a:ext cx="594360" cy="0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28" name="TextBox 127"/>
          <p:cNvSpPr txBox="1"/>
          <p:nvPr/>
        </p:nvSpPr>
        <p:spPr>
          <a:xfrm>
            <a:off x="2276856" y="1778507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734056" y="498805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3977639" y="4937760"/>
            <a:ext cx="0" cy="146304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31" name="TextBox 130"/>
          <p:cNvSpPr txBox="1"/>
          <p:nvPr/>
        </p:nvSpPr>
        <p:spPr>
          <a:xfrm>
            <a:off x="3803904" y="501548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041648" y="4887467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5303520" y="4078224"/>
            <a:ext cx="228600" cy="0"/>
          </a:xfrm>
          <a:prstGeom prst="line">
            <a:avLst/>
          </a:prstGeom>
          <a:ln w="17780">
            <a:solidFill>
              <a:srgbClr val="82B366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5532120" y="2852928"/>
            <a:ext cx="0" cy="1225296"/>
          </a:xfrm>
          <a:prstGeom prst="line">
            <a:avLst/>
          </a:prstGeom>
          <a:ln w="17780">
            <a:solidFill>
              <a:srgbClr val="82B366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5532120" y="2852928"/>
            <a:ext cx="228600" cy="0"/>
          </a:xfrm>
          <a:prstGeom prst="line">
            <a:avLst/>
          </a:prstGeom>
          <a:ln w="17780">
            <a:solidFill>
              <a:srgbClr val="82B366"/>
            </a:solidFill>
            <a:tailEnd type="triangle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5385816" y="4137659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68696" y="2674620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5303520" y="4151376"/>
            <a:ext cx="457200" cy="0"/>
          </a:xfrm>
          <a:prstGeom prst="line">
            <a:avLst/>
          </a:prstGeom>
          <a:ln w="17780">
            <a:solidFill>
              <a:srgbClr val="82B366"/>
            </a:solidFill>
            <a:tailEnd type="triangle" w="med" len="med"/>
          </a:ln>
          <a:effectLst/>
        </p:spPr>
      </p:cxnSp>
      <p:sp>
        <p:nvSpPr>
          <p:cNvPr id="139" name="TextBox 138"/>
          <p:cNvSpPr txBox="1"/>
          <p:nvPr/>
        </p:nvSpPr>
        <p:spPr>
          <a:xfrm>
            <a:off x="5385816" y="421081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68696" y="3973068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7726679" y="2852928"/>
            <a:ext cx="228600" cy="0"/>
          </a:xfrm>
          <a:prstGeom prst="line">
            <a:avLst/>
          </a:prstGeom>
          <a:ln w="17780">
            <a:solidFill>
              <a:srgbClr val="82B366"/>
            </a:solidFill>
            <a:tailEnd type="triangle" w="med" len="med"/>
          </a:ln>
          <a:effectLst/>
        </p:spPr>
      </p:cxnSp>
      <p:sp>
        <p:nvSpPr>
          <p:cNvPr id="142" name="TextBox 141"/>
          <p:cNvSpPr txBox="1"/>
          <p:nvPr/>
        </p:nvSpPr>
        <p:spPr>
          <a:xfrm>
            <a:off x="7808975" y="291236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763255" y="2674620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7726679" y="4151376"/>
            <a:ext cx="228600" cy="0"/>
          </a:xfrm>
          <a:prstGeom prst="line">
            <a:avLst/>
          </a:prstGeom>
          <a:ln w="17780">
            <a:solidFill>
              <a:srgbClr val="82B366"/>
            </a:solidFill>
            <a:tailEnd type="triangle" w="med" len="med"/>
          </a:ln>
          <a:effectLst/>
        </p:spPr>
      </p:cxnSp>
      <p:sp>
        <p:nvSpPr>
          <p:cNvPr id="145" name="TextBox 144"/>
          <p:cNvSpPr txBox="1"/>
          <p:nvPr/>
        </p:nvSpPr>
        <p:spPr>
          <a:xfrm>
            <a:off x="7808975" y="421081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763255" y="3973068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5303520" y="3895344"/>
            <a:ext cx="320040" cy="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5623560" y="3456432"/>
            <a:ext cx="0" cy="438912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5623560" y="3456432"/>
            <a:ext cx="4416552" cy="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10040112" y="2999232"/>
            <a:ext cx="0" cy="45720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10040112" y="2999232"/>
            <a:ext cx="109728" cy="0"/>
          </a:xfrm>
          <a:prstGeom prst="line">
            <a:avLst/>
          </a:prstGeom>
          <a:ln w="17780">
            <a:solidFill>
              <a:srgbClr val="9673A6"/>
            </a:solidFill>
            <a:tailEnd type="triangle" w="med" len="med"/>
          </a:ln>
          <a:effectLst/>
        </p:spPr>
      </p:cxnSp>
      <p:sp>
        <p:nvSpPr>
          <p:cNvPr id="152" name="TextBox 151"/>
          <p:cNvSpPr txBox="1"/>
          <p:nvPr/>
        </p:nvSpPr>
        <p:spPr>
          <a:xfrm>
            <a:off x="5385816" y="3954779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957815" y="282092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5303520" y="4590288"/>
            <a:ext cx="137160" cy="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5440680" y="4590288"/>
            <a:ext cx="0" cy="146304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>
            <a:off x="5440680" y="4736592"/>
            <a:ext cx="4599432" cy="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10040112" y="4151376"/>
            <a:ext cx="0" cy="585216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>
            <a:off x="10040112" y="4151376"/>
            <a:ext cx="109728" cy="0"/>
          </a:xfrm>
          <a:prstGeom prst="line">
            <a:avLst/>
          </a:prstGeom>
          <a:ln w="17780">
            <a:solidFill>
              <a:srgbClr val="9673A6"/>
            </a:solidFill>
            <a:tailEnd type="triangle" w="med" len="med"/>
          </a:ln>
          <a:effectLst/>
        </p:spPr>
      </p:cxnSp>
      <p:sp>
        <p:nvSpPr>
          <p:cNvPr id="159" name="TextBox 158"/>
          <p:cNvSpPr txBox="1"/>
          <p:nvPr/>
        </p:nvSpPr>
        <p:spPr>
          <a:xfrm>
            <a:off x="5385816" y="4649723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957815" y="3973068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61" name="Connector 160"/>
          <p:cNvCxnSpPr/>
          <p:nvPr/>
        </p:nvCxnSpPr>
        <p:spPr>
          <a:xfrm flipH="1">
            <a:off x="164592" y="6400800"/>
            <a:ext cx="109728" cy="0"/>
          </a:xfrm>
          <a:prstGeom prst="line">
            <a:avLst/>
          </a:prstGeom>
          <a:ln w="15240">
            <a:solidFill>
              <a:srgbClr val="666666"/>
            </a:solidFill>
            <a:prstDash val="dash"/>
            <a:tailEnd type="triangle" w="med" len="med"/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164592" y="1719072"/>
            <a:ext cx="0" cy="4681728"/>
          </a:xfrm>
          <a:prstGeom prst="line">
            <a:avLst/>
          </a:prstGeom>
          <a:ln w="15240">
            <a:solidFill>
              <a:srgbClr val="666666"/>
            </a:solidFill>
            <a:prstDash val="dash"/>
            <a:tailEnd type="triangle" w="med" len="med"/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164592" y="1719072"/>
            <a:ext cx="109728" cy="0"/>
          </a:xfrm>
          <a:prstGeom prst="line">
            <a:avLst/>
          </a:prstGeom>
          <a:ln w="15240">
            <a:solidFill>
              <a:srgbClr val="666666"/>
            </a:solidFill>
            <a:prstDash val="dash"/>
            <a:tailEnd type="triangle" w="med" len="med"/>
          </a:ln>
          <a:effectLst/>
        </p:spPr>
      </p:cxnSp>
      <p:sp>
        <p:nvSpPr>
          <p:cNvPr id="164" name="TextBox 163"/>
          <p:cNvSpPr txBox="1"/>
          <p:nvPr/>
        </p:nvSpPr>
        <p:spPr>
          <a:xfrm>
            <a:off x="82296" y="622249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2296" y="154076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083296" y="5724144"/>
            <a:ext cx="3849624" cy="530352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A8A8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211312" y="5779007"/>
            <a:ext cx="3593591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475569"/>
                </a:solidFill>
                <a:latin typeface="Segoe UI"/>
                <a:ea typeface="Microsoft YaHei"/>
              </a:rPr>
              <a:t>跨页关联（详见卡内 FK）：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64748B"/>
                </a:solidFill>
                <a:latin typeface="Segoe UI"/>
                <a:ea typeface="Microsoft YaHei"/>
              </a:rPr>
              <a:t>source_table → sync_table_config / sync_table_stat / archive_file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64748B"/>
                </a:solidFill>
                <a:latin typeface="Segoe UI"/>
                <a:ea typeface="Microsoft YaHei"/>
              </a:rPr>
              <a:t>sync_job ⇢ sync_activity（按天预聚合，派生表无 FK）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432" y="3246120"/>
            <a:ext cx="146304" cy="566928"/>
          </a:xfrm>
          <a:prstGeom prst="rect">
            <a:avLst/>
          </a:prstGeom>
          <a:noFill/>
        </p:spPr>
        <p:txBody>
          <a:bodyPr wrap="square" lIns="0" rIns="0" tIns="0" bIns="0" anchor="ctr" vert="eaVer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64748B"/>
                </a:solidFill>
                <a:latin typeface="Segoe UI"/>
                <a:ea typeface="Microsoft YaHei"/>
              </a:rPr>
              <a:t>弱关联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4434840" y="2560320"/>
            <a:ext cx="10789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B6AE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462272" y="2560320"/>
            <a:ext cx="1024127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64748B"/>
                </a:solidFill>
                <a:latin typeface="Segoe UI"/>
                <a:ea typeface="Microsoft YaHei"/>
              </a:rPr>
              <a:t>sync_job / query_config
子域见下页 →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201168" y="6565392"/>
            <a:ext cx="1179576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74320" y="656539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172A"/>
                </a:solidFill>
                <a:latin typeface="Segoe UI"/>
                <a:ea typeface="Microsoft YaHei"/>
              </a:rPr>
              <a:t>图例</a:t>
            </a:r>
          </a:p>
        </p:txBody>
      </p:sp>
      <p:sp>
        <p:nvSpPr>
          <p:cNvPr id="173" name="Oval 172"/>
          <p:cNvSpPr/>
          <p:nvPr/>
        </p:nvSpPr>
        <p:spPr>
          <a:xfrm>
            <a:off x="731520" y="6647688"/>
            <a:ext cx="128016" cy="128016"/>
          </a:xfrm>
          <a:prstGeom prst="ellipse">
            <a:avLst/>
          </a:prstGeom>
          <a:solidFill>
            <a:srgbClr val="D6A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14400" y="6565392"/>
            <a:ext cx="286755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① 权限与访问控制（RBAC）</a:t>
            </a:r>
          </a:p>
        </p:txBody>
      </p:sp>
      <p:sp>
        <p:nvSpPr>
          <p:cNvPr id="175" name="Oval 174"/>
          <p:cNvSpPr/>
          <p:nvPr/>
        </p:nvSpPr>
        <p:spPr>
          <a:xfrm>
            <a:off x="3763670" y="6647688"/>
            <a:ext cx="128016" cy="128016"/>
          </a:xfrm>
          <a:prstGeom prst="ellipse">
            <a:avLst/>
          </a:prstGeom>
          <a:solidFill>
            <a:srgbClr val="82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946550" y="6565392"/>
            <a:ext cx="1164945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③ 源数据配置</a:t>
            </a:r>
          </a:p>
        </p:txBody>
      </p:sp>
      <p:sp>
        <p:nvSpPr>
          <p:cNvPr id="177" name="Oval 176"/>
          <p:cNvSpPr/>
          <p:nvPr/>
        </p:nvSpPr>
        <p:spPr>
          <a:xfrm>
            <a:off x="5093208" y="6647688"/>
            <a:ext cx="128016" cy="128016"/>
          </a:xfrm>
          <a:prstGeom prst="ellipse">
            <a:avLst/>
          </a:prstGeom>
          <a:solidFill>
            <a:srgbClr val="96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276088" y="6565392"/>
            <a:ext cx="499262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④ 目标存储 · 归档 Schema</a:t>
            </a:r>
          </a:p>
        </p:txBody>
      </p:sp>
      <p:sp>
        <p:nvSpPr>
          <p:cNvPr id="179" name="Oval 178"/>
          <p:cNvSpPr/>
          <p:nvPr/>
        </p:nvSpPr>
        <p:spPr>
          <a:xfrm>
            <a:off x="5757062" y="6647688"/>
            <a:ext cx="128016" cy="128016"/>
          </a:xfrm>
          <a:prstGeom prst="ellipse">
            <a:avLst/>
          </a:prstGeom>
          <a:solidFill>
            <a:srgbClr val="5B82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5939942" y="6565392"/>
            <a:ext cx="742492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② 退役系统管理（核心）</a:t>
            </a:r>
          </a:p>
        </p:txBody>
      </p:sp>
      <p:sp>
        <p:nvSpPr>
          <p:cNvPr id="181" name="Oval 180"/>
          <p:cNvSpPr/>
          <p:nvPr/>
        </p:nvSpPr>
        <p:spPr>
          <a:xfrm>
            <a:off x="6664147" y="6647688"/>
            <a:ext cx="128016" cy="128016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847027" y="6565392"/>
            <a:ext cx="32644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⑩ 通知 · ⑪ 审计与监控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9189720" y="656539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1—N 连线：母端 1 / 子端 N　</a:t>
            </a:r>
          </a:p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94A3B8"/>
                </a:solidFill>
                <a:latin typeface="Segoe UI"/>
                <a:ea typeface="Microsoft YaHei"/>
              </a:rPr>
              <a:t>（虚线卡=跨页引用）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元数据库 ER 图（下）· 同步归档 / 动态查询 / 保留销毁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54864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48B"/>
                </a:solidFill>
                <a:latin typeface="Segoe UI"/>
                <a:ea typeface="Microsoft YaHei"/>
              </a:rPr>
              <a:t>17 表 + 1 跨页引用（虚线†见上页）
记号：[PK]/[FK]/[UK] · 连线 1—N 为一对多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30352"/>
            <a:ext cx="9326880" cy="347472"/>
          </a:xfrm>
          <a:prstGeom prst="roundRect">
            <a:avLst>
              <a:gd name="adj" fmla="val 15789"/>
            </a:avLst>
          </a:prstGeom>
          <a:solidFill>
            <a:srgbClr val="D9E8FC"/>
          </a:solidFill>
          <a:ln w="12700">
            <a:solidFill>
              <a:srgbClr val="A9C4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530352"/>
            <a:ext cx="9107424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3333"/>
                </a:solidFill>
                <a:latin typeface="Segoe UI"/>
                <a:ea typeface="Microsoft YaHei"/>
              </a:rPr>
              <a:t>⑤ 同步与归档（含 ⑥ 附件索引）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530352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F8CECC"/>
          </a:solidFill>
          <a:ln w="12700">
            <a:solidFill>
              <a:srgbClr val="D79B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6648" y="530352"/>
            <a:ext cx="1700784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3333"/>
                </a:solidFill>
                <a:latin typeface="Segoe UI"/>
                <a:ea typeface="Microsoft YaHei"/>
              </a:rPr>
              <a:t>⑧ 生命周期与保留 · ⑨ 销毁审批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663440"/>
            <a:ext cx="9326880" cy="347472"/>
          </a:xfrm>
          <a:prstGeom prst="roundRect">
            <a:avLst>
              <a:gd name="adj" fmla="val 15789"/>
            </a:avLst>
          </a:prstGeom>
          <a:solidFill>
            <a:srgbClr val="FFF2CC"/>
          </a:solidFill>
          <a:ln w="12700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4663440"/>
            <a:ext cx="9107424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3333"/>
                </a:solidFill>
                <a:latin typeface="Segoe UI"/>
                <a:ea typeface="Microsoft YaHei"/>
              </a:rPr>
              <a:t>⑦ 动态查询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877824"/>
            <a:ext cx="210312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7780">
            <a:solidFill>
              <a:srgbClr val="A9C4E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7121" y="890625"/>
            <a:ext cx="2077516" cy="237744"/>
          </a:xfrm>
          <a:prstGeom prst="roundRect">
            <a:avLst>
              <a:gd name="adj" fmla="val 1153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918971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A7A"/>
                </a:solidFill>
                <a:latin typeface="Segoe UI"/>
                <a:ea typeface="Microsoft YaHei"/>
              </a:rPr>
              <a:t>decommission_system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121" y="1138428"/>
            <a:ext cx="2077516" cy="365759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161288"/>
            <a:ext cx="1920239" cy="32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B26A00"/>
                </a:solidFill>
                <a:latin typeface="Segoe UI"/>
                <a:ea typeface="Microsoft YaHei"/>
              </a:rPr>
              <a:t>UK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system_code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877824"/>
            <a:ext cx="21945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30321" y="890625"/>
            <a:ext cx="2168956" cy="237744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39" y="918971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sync_job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30321" y="1138428"/>
            <a:ext cx="2168956" cy="777239"/>
          </a:xfrm>
          <a:prstGeom prst="roundRect">
            <a:avLst>
              <a:gd name="adj" fmla="val 235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27248" y="1161288"/>
            <a:ext cx="2011679" cy="7406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assignment_id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job_type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status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877824"/>
            <a:ext cx="1874519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90641" y="890625"/>
            <a:ext cx="1848916" cy="237744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59" y="918971"/>
            <a:ext cx="178307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sync_job_config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90641" y="1138428"/>
            <a:ext cx="184891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87568" y="1161288"/>
            <a:ext cx="1691639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cron_expr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enabled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(tinyint)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877824"/>
            <a:ext cx="19202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79B9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59721" y="890625"/>
            <a:ext cx="1894636" cy="237744"/>
          </a:xfrm>
          <a:prstGeom prst="roundRect">
            <a:avLst>
              <a:gd name="adj" fmla="val 11538"/>
            </a:avLst>
          </a:prstGeom>
          <a:solidFill>
            <a:srgbClr val="F8C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918971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retention_policy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59721" y="1138428"/>
            <a:ext cx="189463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161288"/>
            <a:ext cx="173736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B26A00"/>
                </a:solidFill>
                <a:latin typeface="Segoe UI"/>
                <a:ea typeface="Microsoft YaHei"/>
              </a:rPr>
              <a:t>UK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policy_code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policy_name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period_days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(int)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2148840"/>
            <a:ext cx="19659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87121" y="2161641"/>
            <a:ext cx="1940356" cy="237744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189988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sync_table_config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7121" y="2409444"/>
            <a:ext cx="194035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2432304"/>
            <a:ext cx="178308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source_table_id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enabled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(tinyint)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retain_years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(int)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14600" y="2148840"/>
            <a:ext cx="210312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7780">
            <a:solidFill>
              <a:srgbClr val="9BCB9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527401" y="2161641"/>
            <a:ext cx="2077516" cy="237744"/>
          </a:xfrm>
          <a:prstGeom prst="roundRect">
            <a:avLst>
              <a:gd name="adj" fmla="val 11538"/>
            </a:avLst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0" y="2189988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attachment_index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27401" y="2409444"/>
            <a:ext cx="2077516" cy="777239"/>
          </a:xfrm>
          <a:prstGeom prst="roundRect">
            <a:avLst>
              <a:gd name="adj" fmla="val 235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24328" y="2432304"/>
            <a:ext cx="1920239" cy="7406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table·business_key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object_key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sha256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0" y="2148840"/>
            <a:ext cx="19659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67681" y="2161641"/>
            <a:ext cx="1940356" cy="237744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2189988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sync_table_stat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67681" y="2409444"/>
            <a:ext cx="194035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64608" y="2432304"/>
            <a:ext cx="178308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sync_job_id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source_table_id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row_count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95160" y="2148840"/>
            <a:ext cx="19659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007961" y="2161641"/>
            <a:ext cx="1940356" cy="237744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2189988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archive_batch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07961" y="2409444"/>
            <a:ext cx="194035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04888" y="2432304"/>
            <a:ext cx="178308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sync_job_id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batch_year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rows_out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46920" y="2148840"/>
            <a:ext cx="192024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7780">
            <a:solidFill>
              <a:srgbClr val="D79B9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659721" y="2161641"/>
            <a:ext cx="1894636" cy="237744"/>
          </a:xfrm>
          <a:prstGeom prst="roundRect">
            <a:avLst>
              <a:gd name="adj" fmla="val 11538"/>
            </a:avLst>
          </a:prstGeom>
          <a:solidFill>
            <a:srgbClr val="F8C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21899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retention_assignment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59721" y="2409444"/>
            <a:ext cx="1894636" cy="777239"/>
          </a:xfrm>
          <a:prstGeom prst="roundRect">
            <a:avLst>
              <a:gd name="adj" fmla="val 235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56648" y="2432304"/>
            <a:ext cx="1737360" cy="7406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policy_id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object_type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start·due_date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(date)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status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514600" y="3520440"/>
            <a:ext cx="21031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527401" y="3533241"/>
            <a:ext cx="2077516" cy="237744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60320" y="3561588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archive_set_item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527401" y="3781044"/>
            <a:ext cx="207751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24328" y="3803904"/>
            <a:ext cx="1920239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archive_set_id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original_name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blob_url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0" y="3520440"/>
            <a:ext cx="19659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767681" y="3533241"/>
            <a:ext cx="1940356" cy="237744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00600" y="3561588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archive_set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67681" y="3781044"/>
            <a:ext cx="194035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64608" y="3803904"/>
            <a:ext cx="178308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archive_batch_id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set_name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items·bytes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(int)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995160" y="3520440"/>
            <a:ext cx="19659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007961" y="3533241"/>
            <a:ext cx="1940356" cy="237744"/>
          </a:xfrm>
          <a:prstGeom prst="roundRect">
            <a:avLst>
              <a:gd name="adj" fmla="val 11538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40880" y="3561588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archive_file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007961" y="3781044"/>
            <a:ext cx="194035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04888" y="3803904"/>
            <a:ext cx="178308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archive_batch_id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blob_url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checksum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46920" y="3520440"/>
            <a:ext cx="19202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79B9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659721" y="3533241"/>
            <a:ext cx="1894636" cy="237744"/>
          </a:xfrm>
          <a:prstGeom prst="roundRect">
            <a:avLst>
              <a:gd name="adj" fmla="val 11538"/>
            </a:avLst>
          </a:prstGeom>
          <a:solidFill>
            <a:srgbClr val="F8C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92640" y="35615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legal_hold_event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659721" y="3781044"/>
            <a:ext cx="189463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56648" y="3803904"/>
            <a:ext cx="173736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assignment_id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action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reason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74320" y="4992624"/>
            <a:ext cx="21945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778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287121" y="5005425"/>
            <a:ext cx="2168956" cy="237744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" y="503377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query_config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87121" y="5253228"/>
            <a:ext cx="2168956" cy="777239"/>
          </a:xfrm>
          <a:prstGeom prst="roundRect">
            <a:avLst>
              <a:gd name="adj" fmla="val 235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4048" y="5276088"/>
            <a:ext cx="2011679" cy="7406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name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base_table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status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17520" y="5065776"/>
            <a:ext cx="19659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030321" y="5078577"/>
            <a:ext cx="1940356" cy="237744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63239" y="5106924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query_field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030321" y="5326380"/>
            <a:ext cx="194035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27248" y="5349240"/>
            <a:ext cx="178308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query_config_id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column_name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is_pii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(tinyint)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257800" y="5065776"/>
            <a:ext cx="19659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5270601" y="5078577"/>
            <a:ext cx="1940356" cy="237744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03520" y="5106924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query_join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270601" y="5326380"/>
            <a:ext cx="194035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67528" y="5349240"/>
            <a:ext cx="178308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query_config_id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join_type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left→right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498079" y="5065776"/>
            <a:ext cx="21031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7510881" y="5078577"/>
            <a:ext cx="2077516" cy="237744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43800" y="5106924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drill_config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10881" y="5326380"/>
            <a:ext cx="207751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07807" y="5349240"/>
            <a:ext cx="1920239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query_config_id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schema_id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parent→child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646920" y="4992624"/>
            <a:ext cx="19202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79B9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9659721" y="5005425"/>
            <a:ext cx="1894636" cy="237744"/>
          </a:xfrm>
          <a:prstGeom prst="roundRect">
            <a:avLst>
              <a:gd name="adj" fmla="val 11538"/>
            </a:avLst>
          </a:prstGeom>
          <a:solidFill>
            <a:srgbClr val="F8C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0" y="503377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222"/>
                </a:solidFill>
                <a:latin typeface="Segoe UI"/>
                <a:ea typeface="Microsoft YaHei"/>
              </a:rPr>
              <a:t>destroy_approval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659721" y="5253228"/>
            <a:ext cx="1894636" cy="64008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56648" y="5276088"/>
            <a:ext cx="173736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sync_job_id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approver_id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50" b="0" i="0">
                <a:solidFill>
                  <a:srgbClr val="222222"/>
                </a:solidFill>
                <a:latin typeface="Segoe UI"/>
                <a:ea typeface="Microsoft YaHei"/>
              </a:rPr>
              <a:t>decision</a:t>
            </a:r>
            <a:r>
              <a:rPr sz="60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2377440" y="1234440"/>
            <a:ext cx="640080" cy="0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2459736" y="129387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25496" y="105613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325880" y="1517904"/>
            <a:ext cx="0" cy="630936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05" name="TextBox 104"/>
          <p:cNvSpPr txBox="1"/>
          <p:nvPr/>
        </p:nvSpPr>
        <p:spPr>
          <a:xfrm>
            <a:off x="1152143" y="1595628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389888" y="195224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2377440" y="1463040"/>
            <a:ext cx="274320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>
            <a:off x="2651760" y="1463040"/>
            <a:ext cx="0" cy="384048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2651760" y="1847088"/>
            <a:ext cx="3383280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6035040" y="1591056"/>
            <a:ext cx="0" cy="256032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11" name="TextBox 110"/>
          <p:cNvSpPr txBox="1"/>
          <p:nvPr/>
        </p:nvSpPr>
        <p:spPr>
          <a:xfrm>
            <a:off x="2459736" y="152247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861304" y="1668780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2377440" y="1335024"/>
            <a:ext cx="64008" cy="0"/>
          </a:xfrm>
          <a:prstGeom prst="line">
            <a:avLst/>
          </a:prstGeom>
          <a:ln w="17780">
            <a:solidFill>
              <a:srgbClr val="82B366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>
            <a:off x="2441448" y="1335024"/>
            <a:ext cx="0" cy="1316736"/>
          </a:xfrm>
          <a:prstGeom prst="line">
            <a:avLst/>
          </a:prstGeom>
          <a:ln w="17780">
            <a:solidFill>
              <a:srgbClr val="82B366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2441448" y="2651760"/>
            <a:ext cx="73152" cy="0"/>
          </a:xfrm>
          <a:prstGeom prst="line">
            <a:avLst/>
          </a:prstGeom>
          <a:ln w="17780">
            <a:solidFill>
              <a:srgbClr val="82B366"/>
            </a:solidFill>
            <a:tailEnd type="triangle" w="med" len="med"/>
          </a:ln>
          <a:effectLst/>
        </p:spPr>
      </p:cxnSp>
      <p:sp>
        <p:nvSpPr>
          <p:cNvPr id="116" name="TextBox 115"/>
          <p:cNvSpPr txBox="1"/>
          <p:nvPr/>
        </p:nvSpPr>
        <p:spPr>
          <a:xfrm>
            <a:off x="2459736" y="1394460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322576" y="247345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18" name="Connector 117"/>
          <p:cNvCxnSpPr/>
          <p:nvPr/>
        </p:nvCxnSpPr>
        <p:spPr>
          <a:xfrm flipH="1">
            <a:off x="164592" y="1188720"/>
            <a:ext cx="109728" cy="0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164592" y="1188720"/>
            <a:ext cx="0" cy="4315968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>
            <a:off x="164592" y="5504688"/>
            <a:ext cx="109728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21" name="TextBox 120"/>
          <p:cNvSpPr txBox="1"/>
          <p:nvPr/>
        </p:nvSpPr>
        <p:spPr>
          <a:xfrm>
            <a:off x="82296" y="101041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2296" y="5326379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4983480" y="1938528"/>
            <a:ext cx="0" cy="210312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24" name="TextBox 123"/>
          <p:cNvSpPr txBox="1"/>
          <p:nvPr/>
        </p:nvSpPr>
        <p:spPr>
          <a:xfrm>
            <a:off x="4809744" y="201625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47488" y="195224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5212080" y="1591056"/>
            <a:ext cx="182880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5394960" y="1591056"/>
            <a:ext cx="0" cy="347472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5394960" y="1938528"/>
            <a:ext cx="2578608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7973568" y="1938528"/>
            <a:ext cx="0" cy="210312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30" name="TextBox 129"/>
          <p:cNvSpPr txBox="1"/>
          <p:nvPr/>
        </p:nvSpPr>
        <p:spPr>
          <a:xfrm>
            <a:off x="5294376" y="165049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037576" y="195224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32" name="Connector 131"/>
          <p:cNvCxnSpPr/>
          <p:nvPr/>
        </p:nvCxnSpPr>
        <p:spPr>
          <a:xfrm flipH="1">
            <a:off x="9418320" y="2944368"/>
            <a:ext cx="228600" cy="0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 flipV="1">
            <a:off x="9418320" y="2066543"/>
            <a:ext cx="0" cy="877825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H="1">
            <a:off x="5166360" y="2066543"/>
            <a:ext cx="4251960" cy="0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5166360" y="1938528"/>
            <a:ext cx="0" cy="128015"/>
          </a:xfrm>
          <a:prstGeom prst="line">
            <a:avLst/>
          </a:prstGeom>
          <a:ln w="17780">
            <a:solidFill>
              <a:srgbClr val="B85450"/>
            </a:solidFill>
            <a:tailEnd type="triangle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9454896" y="2766060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992624" y="201625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5212080" y="1115568"/>
            <a:ext cx="182880" cy="0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5394960" y="877824"/>
            <a:ext cx="0" cy="237744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5394960" y="877824"/>
            <a:ext cx="6492240" cy="0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11887200" y="877824"/>
            <a:ext cx="0" cy="4626864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H="1">
            <a:off x="11567160" y="5504688"/>
            <a:ext cx="320040" cy="0"/>
          </a:xfrm>
          <a:prstGeom prst="line">
            <a:avLst/>
          </a:prstGeom>
          <a:ln w="17780">
            <a:solidFill>
              <a:srgbClr val="B85450"/>
            </a:solidFill>
            <a:tailEnd type="triangle" w="med" len="med"/>
          </a:ln>
          <a:effectLst/>
        </p:spPr>
      </p:cxnSp>
      <p:sp>
        <p:nvSpPr>
          <p:cNvPr id="143" name="TextBox 142"/>
          <p:cNvSpPr txBox="1"/>
          <p:nvPr/>
        </p:nvSpPr>
        <p:spPr>
          <a:xfrm>
            <a:off x="5294376" y="117500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649456" y="5564123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7973568" y="3172968"/>
            <a:ext cx="0" cy="347472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46" name="TextBox 145"/>
          <p:cNvSpPr txBox="1"/>
          <p:nvPr/>
        </p:nvSpPr>
        <p:spPr>
          <a:xfrm>
            <a:off x="7799831" y="325069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037576" y="332384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7132320" y="3172968"/>
            <a:ext cx="0" cy="210312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 flipH="1">
            <a:off x="5733288" y="3383280"/>
            <a:ext cx="1399032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>
            <a:off x="5733288" y="3383280"/>
            <a:ext cx="0" cy="137160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51" name="TextBox 150"/>
          <p:cNvSpPr txBox="1"/>
          <p:nvPr/>
        </p:nvSpPr>
        <p:spPr>
          <a:xfrm>
            <a:off x="6958584" y="325069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797296" y="332384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53" name="Connector 152"/>
          <p:cNvCxnSpPr/>
          <p:nvPr/>
        </p:nvCxnSpPr>
        <p:spPr>
          <a:xfrm flipH="1">
            <a:off x="4617720" y="4005072"/>
            <a:ext cx="137160" cy="0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54" name="TextBox 153"/>
          <p:cNvSpPr txBox="1"/>
          <p:nvPr/>
        </p:nvSpPr>
        <p:spPr>
          <a:xfrm>
            <a:off x="4562856" y="3826763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700016" y="4064507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10607040" y="1591056"/>
            <a:ext cx="0" cy="557784"/>
          </a:xfrm>
          <a:prstGeom prst="line">
            <a:avLst/>
          </a:prstGeom>
          <a:ln w="17780">
            <a:solidFill>
              <a:srgbClr val="B85450"/>
            </a:solidFill>
            <a:tailEnd type="triangle" w="med" len="med"/>
          </a:ln>
          <a:effectLst/>
        </p:spPr>
      </p:cxnSp>
      <p:sp>
        <p:nvSpPr>
          <p:cNvPr id="157" name="TextBox 156"/>
          <p:cNvSpPr txBox="1"/>
          <p:nvPr/>
        </p:nvSpPr>
        <p:spPr>
          <a:xfrm>
            <a:off x="10433303" y="1668780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671048" y="195224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10607040" y="3172968"/>
            <a:ext cx="0" cy="347472"/>
          </a:xfrm>
          <a:prstGeom prst="line">
            <a:avLst/>
          </a:prstGeom>
          <a:ln w="17780">
            <a:solidFill>
              <a:srgbClr val="B85450"/>
            </a:solidFill>
            <a:tailEnd type="triangle" w="med" len="med"/>
          </a:ln>
          <a:effectLst/>
        </p:spPr>
      </p:cxnSp>
      <p:sp>
        <p:nvSpPr>
          <p:cNvPr id="160" name="TextBox 159"/>
          <p:cNvSpPr txBox="1"/>
          <p:nvPr/>
        </p:nvSpPr>
        <p:spPr>
          <a:xfrm>
            <a:off x="10433303" y="325069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671048" y="332384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2468880" y="5623560"/>
            <a:ext cx="548640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63" name="TextBox 162"/>
          <p:cNvSpPr txBox="1"/>
          <p:nvPr/>
        </p:nvSpPr>
        <p:spPr>
          <a:xfrm>
            <a:off x="2551176" y="568299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825496" y="544525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1252728" y="6016752"/>
            <a:ext cx="0" cy="201168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>
            <a:off x="1252728" y="6217920"/>
            <a:ext cx="4983480" cy="0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6236208" y="5943600"/>
            <a:ext cx="0" cy="27432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68" name="TextBox 167"/>
          <p:cNvSpPr txBox="1"/>
          <p:nvPr/>
        </p:nvSpPr>
        <p:spPr>
          <a:xfrm>
            <a:off x="1078992" y="609447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062472" y="602132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2011680" y="6016752"/>
            <a:ext cx="0" cy="365760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2011680" y="6382512"/>
            <a:ext cx="6537960" cy="0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8549640" y="5943600"/>
            <a:ext cx="0" cy="438912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73" name="TextBox 172"/>
          <p:cNvSpPr txBox="1"/>
          <p:nvPr/>
        </p:nvSpPr>
        <p:spPr>
          <a:xfrm>
            <a:off x="1837944" y="609447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375903" y="602132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445752" y="2121408"/>
            <a:ext cx="164592" cy="512064"/>
          </a:xfrm>
          <a:prstGeom prst="rect">
            <a:avLst/>
          </a:prstGeom>
          <a:noFill/>
        </p:spPr>
        <p:txBody>
          <a:bodyPr wrap="square" lIns="0" rIns="0" tIns="0" bIns="0" anchor="ctr" vert="eaVer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E11D48"/>
                </a:solidFill>
                <a:latin typeface="Segoe UI"/>
                <a:ea typeface="Microsoft YaHei"/>
              </a:rPr>
              <a:t>到期触发销毁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201168" y="6565392"/>
            <a:ext cx="1179576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74320" y="656539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172A"/>
                </a:solidFill>
                <a:latin typeface="Segoe UI"/>
                <a:ea typeface="Microsoft YaHei"/>
              </a:rPr>
              <a:t>图例</a:t>
            </a:r>
          </a:p>
        </p:txBody>
      </p:sp>
      <p:sp>
        <p:nvSpPr>
          <p:cNvPr id="178" name="Oval 177"/>
          <p:cNvSpPr/>
          <p:nvPr/>
        </p:nvSpPr>
        <p:spPr>
          <a:xfrm>
            <a:off x="731520" y="6647688"/>
            <a:ext cx="128016" cy="128016"/>
          </a:xfrm>
          <a:prstGeom prst="ellipse">
            <a:avLst/>
          </a:prstGeom>
          <a:solidFill>
            <a:srgbClr val="5B82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914400" y="6565392"/>
            <a:ext cx="261152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⑤ 同步与归档（含 ⑥ 附件索引）</a:t>
            </a:r>
          </a:p>
        </p:txBody>
      </p:sp>
      <p:sp>
        <p:nvSpPr>
          <p:cNvPr id="180" name="Oval 179"/>
          <p:cNvSpPr/>
          <p:nvPr/>
        </p:nvSpPr>
        <p:spPr>
          <a:xfrm>
            <a:off x="3507638" y="6647688"/>
            <a:ext cx="128016" cy="128016"/>
          </a:xfrm>
          <a:prstGeom prst="ellipse">
            <a:avLst/>
          </a:prstGeom>
          <a:solidFill>
            <a:srgbClr val="B8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3690518" y="6565392"/>
            <a:ext cx="537667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⑧ 生命周期与保留 · ⑨ 销毁审批</a:t>
            </a:r>
          </a:p>
        </p:txBody>
      </p:sp>
      <p:sp>
        <p:nvSpPr>
          <p:cNvPr id="182" name="Oval 181"/>
          <p:cNvSpPr/>
          <p:nvPr/>
        </p:nvSpPr>
        <p:spPr>
          <a:xfrm>
            <a:off x="4209897" y="6647688"/>
            <a:ext cx="128016" cy="128016"/>
          </a:xfrm>
          <a:prstGeom prst="ellipse">
            <a:avLst/>
          </a:prstGeom>
          <a:solidFill>
            <a:srgbClr val="D6A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392777" y="6565392"/>
            <a:ext cx="261152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⑦ 动态查询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189720" y="656539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1—N 连线：母端 1 / 子端 N　</a:t>
            </a:r>
          </a:p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94A3B8"/>
                </a:solidFill>
                <a:latin typeface="Segoe UI"/>
                <a:ea typeface="Microsoft YaHei"/>
              </a:rPr>
              <a:t>（虚线卡=跨页引用）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ETL 引擎对比 · Apache SeaTunnel vs Databricks Serverless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54864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48B"/>
                </a:solidFill>
                <a:latin typeface="Segoe UI"/>
                <a:ea typeface="Microsoft YaHei"/>
              </a:rPr>
              <a:t>写侧抽取与入湖的分工与选型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566928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566928"/>
            <a:ext cx="1426464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75569"/>
                </a:solidFill>
                <a:latin typeface="Segoe UI"/>
                <a:ea typeface="Microsoft YaHei"/>
              </a:rPr>
              <a:t>对比维度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566928"/>
            <a:ext cx="4800600" cy="566928"/>
          </a:xfrm>
          <a:prstGeom prst="roundRect">
            <a:avLst>
              <a:gd name="adj" fmla="val 9677"/>
            </a:avLst>
          </a:prstGeom>
          <a:solidFill>
            <a:srgbClr val="FFF7ED"/>
          </a:solidFill>
          <a:ln w="1778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603504"/>
            <a:ext cx="4800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A580C"/>
                </a:solidFill>
                <a:latin typeface="Segoe UI"/>
                <a:ea typeface="Microsoft YaHei"/>
              </a:rPr>
              <a:t>Apache SeaTunnel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841248"/>
            <a:ext cx="4800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4748B"/>
                </a:solidFill>
                <a:latin typeface="Segoe UI"/>
                <a:ea typeface="Microsoft YaHei"/>
              </a:rPr>
              <a:t>开源数据集成引擎 · 结构化抽取入湖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566928"/>
            <a:ext cx="5358384" cy="566928"/>
          </a:xfrm>
          <a:prstGeom prst="roundRect">
            <a:avLst>
              <a:gd name="adj" fmla="val 9677"/>
            </a:avLst>
          </a:prstGeom>
          <a:solidFill>
            <a:srgbClr val="F5F3FF"/>
          </a:solidFill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603504"/>
            <a:ext cx="535838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3AED"/>
                </a:solidFill>
                <a:latin typeface="Segoe UI"/>
                <a:ea typeface="Microsoft YaHei"/>
              </a:rPr>
              <a:t>Databricks Serverless ·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841248"/>
            <a:ext cx="535838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4748B"/>
                </a:solidFill>
                <a:latin typeface="Segoe UI"/>
                <a:ea typeface="Microsoft YaHei"/>
              </a:rPr>
              <a:t>托管湖仓计算 · 分层加工与治理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" y="1243584"/>
            <a:ext cx="1426464" cy="438912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243584"/>
            <a:ext cx="1426464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定位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1243584"/>
            <a:ext cx="4800600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37360" y="1243584"/>
            <a:ext cx="32004" cy="438912"/>
          </a:xfrm>
          <a:prstGeom prst="roundRect">
            <a:avLst>
              <a:gd name="adj" fmla="val 48571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47088" y="1280160"/>
            <a:ext cx="458114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475569"/>
                </a:solidFill>
                <a:latin typeface="Segoe UI"/>
                <a:ea typeface="Microsoft YaHei"/>
              </a:rPr>
              <a:t>开源数据集成引擎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1444752"/>
            <a:ext cx="45811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Apache 开源 · 免费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1243584"/>
            <a:ext cx="5358384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1243584"/>
            <a:ext cx="32004" cy="438912"/>
          </a:xfrm>
          <a:prstGeom prst="roundRect">
            <a:avLst>
              <a:gd name="adj" fmla="val 48571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1280160"/>
            <a:ext cx="513892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475569"/>
                </a:solidFill>
                <a:latin typeface="Segoe UI"/>
                <a:ea typeface="Microsoft YaHei"/>
              </a:rPr>
              <a:t>托管湖仓计算引擎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1444752"/>
            <a:ext cx="5138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商业化 · 按 DBU 计费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" y="1732788"/>
            <a:ext cx="1426464" cy="438912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" y="1732788"/>
            <a:ext cx="1426464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连接与能力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37360" y="1732788"/>
            <a:ext cx="4800600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737360" y="1732788"/>
            <a:ext cx="32004" cy="438912"/>
          </a:xfrm>
          <a:prstGeom prst="roundRect">
            <a:avLst>
              <a:gd name="adj" fmla="val 48571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47088" y="1769364"/>
            <a:ext cx="458114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475569"/>
                </a:solidFill>
                <a:latin typeface="Segoe UI"/>
                <a:ea typeface="Microsoft YaHei"/>
              </a:rPr>
              <a:t>200+ 连接器 · JDBC → Iceberg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7088" y="1933956"/>
            <a:ext cx="45811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类型映射 · 对账 · 仅读权限抽取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1732788"/>
            <a:ext cx="5358384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29400" y="1732788"/>
            <a:ext cx="32004" cy="438912"/>
          </a:xfrm>
          <a:prstGeom prst="roundRect">
            <a:avLst>
              <a:gd name="adj" fmla="val 48571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39128" y="1769364"/>
            <a:ext cx="513892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475569"/>
                </a:solidFill>
                <a:latin typeface="Segoe UI"/>
                <a:ea typeface="Microsoft YaHei"/>
              </a:rPr>
              <a:t>Spark 批处理 · JDBC → Iceberg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9128" y="1933956"/>
            <a:ext cx="5138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Z-Order · Compaction · VACUUM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1168" y="2221992"/>
            <a:ext cx="1426464" cy="438912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8" y="2221992"/>
            <a:ext cx="1426464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ETL 职责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37360" y="2221992"/>
            <a:ext cx="4800600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737360" y="2221992"/>
            <a:ext cx="32004" cy="438912"/>
          </a:xfrm>
          <a:prstGeom prst="roundRect">
            <a:avLst>
              <a:gd name="adj" fmla="val 48571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47088" y="2258568"/>
            <a:ext cx="458114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475569"/>
                </a:solidFill>
                <a:latin typeface="Segoe UI"/>
                <a:ea typeface="Microsoft YaHei"/>
              </a:rPr>
              <a:t>结构化数据 1:1 原样入湖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47088" y="2423160"/>
            <a:ext cx="45811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RAW 原始落地 · sys_id / ingest_date 分区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2221992"/>
            <a:ext cx="5358384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29400" y="2221992"/>
            <a:ext cx="32004" cy="438912"/>
          </a:xfrm>
          <a:prstGeom prst="roundRect">
            <a:avLst>
              <a:gd name="adj" fmla="val 48571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39128" y="2258568"/>
            <a:ext cx="513892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475569"/>
                </a:solidFill>
                <a:latin typeface="Segoe UI"/>
                <a:ea typeface="Microsoft YaHei"/>
              </a:rPr>
              <a:t>RAW→CURATED→LAKE→SERVE 分层加工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39128" y="2423160"/>
            <a:ext cx="5138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到期销毁 · DROP PARTITION + VACUUM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1168" y="2711196"/>
            <a:ext cx="1426464" cy="438912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1168" y="2711196"/>
            <a:ext cx="1426464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数据分级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37360" y="2711196"/>
            <a:ext cx="4800600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737360" y="2711196"/>
            <a:ext cx="32004" cy="438912"/>
          </a:xfrm>
          <a:prstGeom prst="roundRect">
            <a:avLst>
              <a:gd name="adj" fmla="val 48571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47088" y="2747772"/>
            <a:ext cx="458114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475569"/>
                </a:solidFill>
                <a:latin typeface="Segoe UI"/>
                <a:ea typeface="Microsoft YaHei"/>
              </a:rPr>
              <a:t>普通 / 非敏感数据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47088" y="2912364"/>
            <a:ext cx="45811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轻量链路 · 本地或 ADLS 落盘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29400" y="2711196"/>
            <a:ext cx="5358384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629400" y="2711196"/>
            <a:ext cx="32004" cy="438912"/>
          </a:xfrm>
          <a:prstGeom prst="roundRect">
            <a:avLst>
              <a:gd name="adj" fmla="val 48571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39128" y="2747772"/>
            <a:ext cx="513892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7C3AED"/>
                </a:solidFill>
                <a:latin typeface="Segoe UI"/>
                <a:ea typeface="Microsoft YaHei"/>
              </a:rPr>
              <a:t>敏感 / 加密数据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39128" y="2912364"/>
            <a:ext cx="5138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7C3AED"/>
                </a:solidFill>
                <a:latin typeface="Segoe UI"/>
                <a:ea typeface="Microsoft YaHei"/>
              </a:rPr>
              <a:t>合规要求高 · 需全程加密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1168" y="3200400"/>
            <a:ext cx="1426464" cy="438912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1168" y="3200400"/>
            <a:ext cx="1426464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加密与合规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737360" y="3200400"/>
            <a:ext cx="4800600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737360" y="3200400"/>
            <a:ext cx="32004" cy="438912"/>
          </a:xfrm>
          <a:prstGeom prst="roundRect">
            <a:avLst>
              <a:gd name="adj" fmla="val 48571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47088" y="3236976"/>
            <a:ext cx="458114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475569"/>
                </a:solidFill>
                <a:latin typeface="Segoe UI"/>
                <a:ea typeface="Microsoft YaHei"/>
              </a:rPr>
              <a:t>凭据自管 · 无原生加密治理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47088" y="3401568"/>
            <a:ext cx="45811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连接串需自行脱敏 / 加密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629400" y="3200400"/>
            <a:ext cx="5358384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629400" y="3200400"/>
            <a:ext cx="32004" cy="438912"/>
          </a:xfrm>
          <a:prstGeom prst="roundRect">
            <a:avLst>
              <a:gd name="adj" fmla="val 48571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39128" y="3236976"/>
            <a:ext cx="513892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7C3AED"/>
                </a:solidFill>
                <a:latin typeface="Segoe UI"/>
                <a:ea typeface="Microsoft YaHei"/>
              </a:rPr>
              <a:t>Secret Scope + Key Vault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39128" y="3401568"/>
            <a:ext cx="5138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7C3AED"/>
                </a:solidFill>
                <a:latin typeface="Segoe UI"/>
                <a:ea typeface="Microsoft YaHei"/>
              </a:rPr>
              <a:t>全程加密 · UC 列掩码 · 零明文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01168" y="3689604"/>
            <a:ext cx="1426464" cy="438912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1168" y="3689604"/>
            <a:ext cx="1426464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治理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737360" y="3689604"/>
            <a:ext cx="4800600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737360" y="3689604"/>
            <a:ext cx="32004" cy="438912"/>
          </a:xfrm>
          <a:prstGeom prst="roundRect">
            <a:avLst>
              <a:gd name="adj" fmla="val 48571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847088" y="3726180"/>
            <a:ext cx="458114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475569"/>
                </a:solidFill>
                <a:latin typeface="Segoe UI"/>
                <a:ea typeface="Microsoft YaHei"/>
              </a:rPr>
              <a:t>元数据自建台账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47088" y="3890772"/>
            <a:ext cx="45811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无内置表格式治理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629400" y="3689604"/>
            <a:ext cx="5358384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629400" y="3689604"/>
            <a:ext cx="32004" cy="438912"/>
          </a:xfrm>
          <a:prstGeom prst="roundRect">
            <a:avLst>
              <a:gd name="adj" fmla="val 48571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39128" y="3726180"/>
            <a:ext cx="513892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475569"/>
                </a:solidFill>
                <a:latin typeface="Segoe UI"/>
                <a:ea typeface="Microsoft YaHei"/>
              </a:rPr>
              <a:t>Unity Catalog 原生治理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39128" y="3890772"/>
            <a:ext cx="5138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表 / 行 / 列级授权 + 审计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01168" y="4178808"/>
            <a:ext cx="1426464" cy="438912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1168" y="4178808"/>
            <a:ext cx="1426464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运维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737360" y="4178808"/>
            <a:ext cx="4800600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737360" y="4178808"/>
            <a:ext cx="32004" cy="438912"/>
          </a:xfrm>
          <a:prstGeom prst="roundRect">
            <a:avLst>
              <a:gd name="adj" fmla="val 48571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47088" y="4215384"/>
            <a:ext cx="458114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475569"/>
                </a:solidFill>
                <a:latin typeface="Segoe UI"/>
                <a:ea typeface="Microsoft YaHei"/>
              </a:rPr>
              <a:t>自部署 · ADF 编排调度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47088" y="4379976"/>
            <a:ext cx="45811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需自行运维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629400" y="4178808"/>
            <a:ext cx="5358384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629400" y="4178808"/>
            <a:ext cx="32004" cy="438912"/>
          </a:xfrm>
          <a:prstGeom prst="roundRect">
            <a:avLst>
              <a:gd name="adj" fmla="val 48571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39128" y="4215384"/>
            <a:ext cx="513892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475569"/>
                </a:solidFill>
                <a:latin typeface="Segoe UI"/>
                <a:ea typeface="Microsoft YaHei"/>
              </a:rPr>
              <a:t>Serverless 零运维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39128" y="4379976"/>
            <a:ext cx="5138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空闲缩 0 · 故障自动重建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01168" y="4668012"/>
            <a:ext cx="1426464" cy="438912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1168" y="4668012"/>
            <a:ext cx="1426464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成本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737360" y="4668012"/>
            <a:ext cx="4800600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737360" y="4668012"/>
            <a:ext cx="32004" cy="438912"/>
          </a:xfrm>
          <a:prstGeom prst="roundRect">
            <a:avLst>
              <a:gd name="adj" fmla="val 48571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847088" y="4704588"/>
            <a:ext cx="458114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475569"/>
                </a:solidFill>
                <a:latin typeface="Segoe UI"/>
                <a:ea typeface="Microsoft YaHei"/>
              </a:rPr>
              <a:t>开源免费 · 仅算力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47088" y="4869180"/>
            <a:ext cx="45811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≈¥0 许可费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629400" y="4668012"/>
            <a:ext cx="5358384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629400" y="4668012"/>
            <a:ext cx="32004" cy="438912"/>
          </a:xfrm>
          <a:prstGeom prst="roundRect">
            <a:avLst>
              <a:gd name="adj" fmla="val 48571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739128" y="4704588"/>
            <a:ext cx="513892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7C3AED"/>
                </a:solidFill>
                <a:latin typeface="Segoe UI"/>
                <a:ea typeface="Microsoft YaHei"/>
              </a:rPr>
              <a:t>写侧 ≈¥0.4–0.8 万/月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39128" y="4869180"/>
            <a:ext cx="5138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7C3AED"/>
                </a:solidFill>
                <a:latin typeface="Segoe UI"/>
                <a:ea typeface="Microsoft YaHei"/>
              </a:rPr>
              <a:t>按需拉起 · 只为使用付费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01168" y="5468112"/>
            <a:ext cx="11786616" cy="1024128"/>
          </a:xfrm>
          <a:prstGeom prst="roundRect">
            <a:avLst>
              <a:gd name="adj" fmla="val 7142"/>
            </a:avLst>
          </a:prstGeom>
          <a:solidFill>
            <a:srgbClr val="ECFDF5"/>
          </a:solidFill>
          <a:ln w="1778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7472" y="55412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47857"/>
                </a:solidFill>
                <a:latin typeface="Segoe UI"/>
                <a:ea typeface="Microsoft YaHei"/>
              </a:rPr>
              <a:t>选型结论 · 分流策略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38160" y="5541264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47857"/>
                </a:solidFill>
                <a:latin typeface="Segoe UI"/>
                <a:ea typeface="Microsoft YaHei"/>
              </a:rPr>
              <a:t>按数据敏感度自动分流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47472" y="5779008"/>
            <a:ext cx="3703320" cy="585216"/>
          </a:xfrm>
          <a:prstGeom prst="roundRect">
            <a:avLst>
              <a:gd name="adj" fmla="val 9375"/>
            </a:avLst>
          </a:prstGeom>
          <a:solidFill>
            <a:srgbClr val="FFF7ED"/>
          </a:solidFill>
          <a:ln w="1524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5824728"/>
            <a:ext cx="347472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F172A"/>
                </a:solidFill>
                <a:latin typeface="Segoe UI"/>
                <a:ea typeface="Microsoft YaHei"/>
              </a:rPr>
              <a:t>普通 / 非敏感数据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60076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EA580C"/>
                </a:solidFill>
                <a:latin typeface="Segoe UI"/>
                <a:ea typeface="Microsoft YaHei"/>
              </a:rPr>
              <a:t>→ SeaTunnel 抽取入湖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197096" y="5779008"/>
            <a:ext cx="3703320" cy="585216"/>
          </a:xfrm>
          <a:prstGeom prst="roundRect">
            <a:avLst>
              <a:gd name="adj" fmla="val 9375"/>
            </a:avLst>
          </a:prstGeom>
          <a:solidFill>
            <a:srgbClr val="F5F3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306824" y="5824728"/>
            <a:ext cx="347472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F172A"/>
                </a:solidFill>
                <a:latin typeface="Segoe UI"/>
                <a:ea typeface="Microsoft YaHei"/>
              </a:rPr>
              <a:t>敏感 / 加密数据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06824" y="60076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C3AED"/>
                </a:solidFill>
                <a:latin typeface="Segoe UI"/>
                <a:ea typeface="Microsoft YaHei"/>
              </a:rPr>
              <a:t>→ Databricks 写侧 ETL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046720" y="5779008"/>
            <a:ext cx="3703320" cy="585216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156448" y="5824728"/>
            <a:ext cx="347472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F172A"/>
                </a:solidFill>
                <a:latin typeface="Segoe UI"/>
                <a:ea typeface="Microsoft YaHei"/>
              </a:rPr>
              <a:t>统一底座 · 读侧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156448" y="60076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59669"/>
                </a:solidFill>
                <a:latin typeface="Segoe UI"/>
                <a:ea typeface="Microsoft YaHei"/>
              </a:rPr>
              <a:t>→ Iceberg 冷湖 · SQL Serverless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Apache SeaTunnel · 约 200 个原生连接器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54864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48B"/>
                </a:solidFill>
                <a:latin typeface="Segoe UI"/>
                <a:ea typeface="Microsoft YaHei"/>
              </a:rPr>
              <a:t>数据集成引擎 · 来源 seatunnel.apache.org/zh-CN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530352"/>
            <a:ext cx="11786616" cy="384048"/>
          </a:xfrm>
          <a:prstGeom prst="roundRect">
            <a:avLst>
              <a:gd name="adj" fmla="val 14285"/>
            </a:avLst>
          </a:prstGeom>
          <a:solidFill>
            <a:srgbClr val="FFF7ED"/>
          </a:solidFill>
          <a:ln w="1524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530352"/>
            <a:ext cx="1178661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C2410C"/>
                </a:solidFill>
                <a:latin typeface="Segoe UI"/>
                <a:ea typeface="Microsoft YaHei"/>
              </a:rPr>
              <a:t>只要你的数据在那里，SeaTunnel 就能连接 —— 覆盖数据库 · 消息系统 · 湖仓 · 搜索系统 · 对象存储等主流数据系统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05840"/>
            <a:ext cx="5760720" cy="1572768"/>
          </a:xfrm>
          <a:prstGeom prst="roundRect">
            <a:avLst>
              <a:gd name="adj" fmla="val 4069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" y="1005840"/>
            <a:ext cx="36576" cy="157276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097280"/>
            <a:ext cx="54681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F172A"/>
                </a:solidFill>
                <a:latin typeface="Segoe UI"/>
                <a:ea typeface="Microsoft YaHei"/>
              </a:rPr>
              <a:t>OLTP 数据库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325880"/>
            <a:ext cx="5468112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78D4"/>
                </a:solidFill>
                <a:latin typeface="Segoe UI"/>
                <a:ea typeface="Microsoft YaHei"/>
              </a:rPr>
              <a:t>关系型 · +25 via JDBC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1527048"/>
            <a:ext cx="1761743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527048"/>
            <a:ext cx="176174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MySQL / CDC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00655" y="1527048"/>
            <a:ext cx="1761743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00655" y="1527048"/>
            <a:ext cx="176174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PostgreSQL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53839" y="1527048"/>
            <a:ext cx="1761743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53839" y="1527048"/>
            <a:ext cx="176174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Oracle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" y="2057400"/>
            <a:ext cx="1761743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057400"/>
            <a:ext cx="176174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SQL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00655" y="2057400"/>
            <a:ext cx="1761743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00655" y="2057400"/>
            <a:ext cx="176174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TiDB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53839" y="2057400"/>
            <a:ext cx="1761743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3839" y="2057400"/>
            <a:ext cx="176174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MariaDB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35624" y="1005840"/>
            <a:ext cx="5852160" cy="1572768"/>
          </a:xfrm>
          <a:prstGeom prst="roundRect">
            <a:avLst>
              <a:gd name="adj" fmla="val 4069"/>
            </a:avLst>
          </a:prstGeom>
          <a:solidFill>
            <a:srgbClr val="FFFBEB"/>
          </a:solidFill>
          <a:ln w="1524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35624" y="1005840"/>
            <a:ext cx="36576" cy="157276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1097280"/>
            <a:ext cx="555955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F172A"/>
                </a:solidFill>
                <a:latin typeface="Segoe UI"/>
                <a:ea typeface="Microsoft YaHei"/>
              </a:rPr>
              <a:t>流式与消息系统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1325880"/>
            <a:ext cx="5559552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97706"/>
                </a:solidFill>
                <a:latin typeface="Segoe UI"/>
                <a:ea typeface="Microsoft YaHei"/>
              </a:rPr>
              <a:t>消息发布 / 订阅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1527048"/>
            <a:ext cx="179222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1527048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Apache Kafka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65592" y="1527048"/>
            <a:ext cx="179222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65592" y="1527048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Apache Pulsar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49256" y="1527048"/>
            <a:ext cx="179222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1527048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RabbitMQ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1928" y="2057400"/>
            <a:ext cx="179222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1928" y="2057400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RocketMQ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65592" y="2057400"/>
            <a:ext cx="179222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65592" y="2057400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AWS SQS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49256" y="2057400"/>
            <a:ext cx="179222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49256" y="2057400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ActiveMQ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1168" y="2706624"/>
            <a:ext cx="5760720" cy="1572768"/>
          </a:xfrm>
          <a:prstGeom prst="roundRect">
            <a:avLst>
              <a:gd name="adj" fmla="val 4069"/>
            </a:avLst>
          </a:prstGeom>
          <a:solidFill>
            <a:srgbClr val="F5F3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01168" y="2706624"/>
            <a:ext cx="36576" cy="15727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2798064"/>
            <a:ext cx="54681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F172A"/>
                </a:solidFill>
                <a:latin typeface="Segoe UI"/>
                <a:ea typeface="Microsoft YaHei"/>
              </a:rPr>
              <a:t>OLAP 与分析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" y="3026664"/>
            <a:ext cx="5468112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7C3AED"/>
                </a:solidFill>
                <a:latin typeface="Segoe UI"/>
                <a:ea typeface="Microsoft YaHei"/>
              </a:rPr>
              <a:t>分析型 OLAP 引擎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7472" y="3227832"/>
            <a:ext cx="1761743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3227832"/>
            <a:ext cx="176174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ClickHouse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00655" y="3227832"/>
            <a:ext cx="1761743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00655" y="3227832"/>
            <a:ext cx="176174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Apache Doris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53839" y="3227832"/>
            <a:ext cx="1761743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3839" y="3227832"/>
            <a:ext cx="176174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StarRocks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7472" y="3758183"/>
            <a:ext cx="1761743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3758183"/>
            <a:ext cx="176174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Snowflake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00655" y="3758183"/>
            <a:ext cx="1761743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0655" y="3758183"/>
            <a:ext cx="176174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Amazon Redshift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53839" y="3758183"/>
            <a:ext cx="1761743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53839" y="3758183"/>
            <a:ext cx="176174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Cloudberry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35624" y="2706624"/>
            <a:ext cx="5852160" cy="1572768"/>
          </a:xfrm>
          <a:prstGeom prst="roundRect">
            <a:avLst>
              <a:gd name="adj" fmla="val 4069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35624" y="2706624"/>
            <a:ext cx="36576" cy="15727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81928" y="2798064"/>
            <a:ext cx="555955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F172A"/>
                </a:solidFill>
                <a:latin typeface="Segoe UI"/>
                <a:ea typeface="Microsoft YaHei"/>
              </a:rPr>
              <a:t>数据湖与存储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81928" y="3026664"/>
            <a:ext cx="5559552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59669"/>
                </a:solidFill>
                <a:latin typeface="Segoe UI"/>
                <a:ea typeface="Microsoft YaHei"/>
              </a:rPr>
              <a:t>Open Table · 对象存储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81928" y="3227832"/>
            <a:ext cx="179222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81928" y="3227832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Amazon S3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65592" y="3227832"/>
            <a:ext cx="179222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65592" y="3227832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Alibaba OSS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049256" y="3227832"/>
            <a:ext cx="179222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49256" y="3227832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HDFS / LocalFile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81928" y="3758183"/>
            <a:ext cx="1792224" cy="420624"/>
          </a:xfrm>
          <a:prstGeom prst="roundRect">
            <a:avLst>
              <a:gd name="adj" fmla="val 10869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1928" y="3758183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47857"/>
                </a:solidFill>
                <a:latin typeface="Segoe UI"/>
                <a:ea typeface="Microsoft YaHei"/>
              </a:rPr>
              <a:t>Apache Iceberg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65592" y="3758183"/>
            <a:ext cx="179222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65592" y="3758183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Delta Lake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049256" y="3758183"/>
            <a:ext cx="179222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49256" y="3758183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Apache Paimon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01168" y="4425696"/>
            <a:ext cx="11786616" cy="1847088"/>
          </a:xfrm>
          <a:prstGeom prst="roundRect">
            <a:avLst>
              <a:gd name="adj" fmla="val 3465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7472" y="451713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172A"/>
                </a:solidFill>
                <a:latin typeface="Segoe UI"/>
                <a:ea typeface="Microsoft YaHei"/>
              </a:rPr>
              <a:t>其余连接器 · 全量约 200 个（节选）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7472" y="4791456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数据库：MySQL · PostgreSQL · Oracle · SQL Server · TiDB · MariaDB · MongoDB · DynamoDB · Cassandra · HBase · Neo4j · DB2 · Greenplum · OceanBase · Redis · Aerospike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7472" y="5212080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消息 / 检索 / 向量：Kafka · Pulsar · RabbitMQ · RocketMQ · ActiveMQ · SQS · Elasticsearch · Druid · Typesense · Milvus · Qdrant · Lance · HugeGraph · InfluxDB · IoTDB · TDengine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7472" y="5632704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文件 / 协作 / 其他：FTP · SFTP · HTTP · GraphQL · Google Sheets · Firestore · Slack · DingTalk · Feishu · Email · MaxCompute · Prometheus · SLS · Sentry · Web3j 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7472" y="6089904"/>
            <a:ext cx="114300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59669"/>
                </a:solidFill>
                <a:latin typeface="Segoe UI"/>
                <a:ea typeface="Microsoft YaHei"/>
              </a:rPr>
              <a:t>★ </a:t>
            </a:r>
            <a:r>
              <a:rPr sz="640" b="1" i="0">
                <a:solidFill>
                  <a:srgbClr val="047857"/>
                </a:solidFill>
                <a:latin typeface="Segoe UI"/>
                <a:ea typeface="Microsoft YaHei"/>
              </a:rPr>
              <a:t>Apache Iceberg</a:t>
            </a: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 为本项目归档落地格式 · SeaTunnel 可将其作为 Sink 直接写湖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方案 B2 架构图集</dc:title>
  <dc:subject/>
  <dc:creator>RIMS 退役归档平台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