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"/>
            <a:ext cx="12191695" cy="3200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1732"/>
            <a:ext cx="12191695" cy="320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086600" y="1188720"/>
            <a:ext cx="5102352" cy="5394960"/>
          </a:xfrm>
          <a:prstGeom prst="roundRect">
            <a:avLst>
              <a:gd name="adj" fmla="val 448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589520" y="1691640"/>
            <a:ext cx="4343400" cy="4343400"/>
          </a:xfrm>
          <a:prstGeom prst="roundRect">
            <a:avLst>
              <a:gd name="adj" fmla="val 4631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936992" y="2212848"/>
            <a:ext cx="3657600" cy="475488"/>
          </a:xfrm>
          <a:prstGeom prst="roundRect">
            <a:avLst>
              <a:gd name="adj" fmla="val 15384"/>
            </a:avLst>
          </a:prstGeom>
          <a:solidFill>
            <a:srgbClr val="ECFDF5"/>
          </a:solidFill>
          <a:ln w="1524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36992" y="2212848"/>
            <a:ext cx="365760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47857"/>
                </a:solidFill>
                <a:latin typeface="Segoe UI"/>
                <a:ea typeface="Microsoft YaHei"/>
              </a:rPr>
              <a:t>访问入口 · 查询 / 审计 / 运维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9765792" y="2688336"/>
            <a:ext cx="0" cy="320040"/>
          </a:xfrm>
          <a:prstGeom prst="line">
            <a:avLst/>
          </a:prstGeom>
          <a:ln w="2032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10" name="Rounded Rectangle 9"/>
          <p:cNvSpPr/>
          <p:nvPr/>
        </p:nvSpPr>
        <p:spPr>
          <a:xfrm>
            <a:off x="7936992" y="3008376"/>
            <a:ext cx="3657600" cy="475488"/>
          </a:xfrm>
          <a:prstGeom prst="roundRect">
            <a:avLst>
              <a:gd name="adj" fmla="val 15384"/>
            </a:avLst>
          </a:prstGeom>
          <a:solidFill>
            <a:srgbClr val="ECFEFF"/>
          </a:solidFill>
          <a:ln w="15240">
            <a:solidFill>
              <a:srgbClr val="A5F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36992" y="3008376"/>
            <a:ext cx="365760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E7490"/>
                </a:solidFill>
                <a:latin typeface="Segoe UI"/>
                <a:ea typeface="Microsoft YaHei"/>
              </a:rPr>
              <a:t>自研应用层 · AKS（React + .NET）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732520" y="3483864"/>
            <a:ext cx="0" cy="292608"/>
          </a:xfrm>
          <a:prstGeom prst="line">
            <a:avLst/>
          </a:prstGeom>
          <a:ln w="17780">
            <a:solidFill>
              <a:srgbClr val="059669"/>
            </a:solidFill>
            <a:tailEnd type="triangle" w="med" len="med"/>
          </a:ln>
          <a:effectLst/>
        </p:spPr>
      </p:cxnSp>
      <p:cxnSp>
        <p:nvCxnSpPr>
          <p:cNvPr id="13" name="Connector 12"/>
          <p:cNvCxnSpPr/>
          <p:nvPr/>
        </p:nvCxnSpPr>
        <p:spPr>
          <a:xfrm>
            <a:off x="10799064" y="3483864"/>
            <a:ext cx="0" cy="292608"/>
          </a:xfrm>
          <a:prstGeom prst="line">
            <a:avLst/>
          </a:prstGeom>
          <a:ln w="1778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14" name="Rounded Rectangle 13"/>
          <p:cNvSpPr/>
          <p:nvPr/>
        </p:nvSpPr>
        <p:spPr>
          <a:xfrm>
            <a:off x="7936992" y="3776472"/>
            <a:ext cx="1783080" cy="475488"/>
          </a:xfrm>
          <a:prstGeom prst="roundRect">
            <a:avLst>
              <a:gd name="adj" fmla="val 15384"/>
            </a:avLst>
          </a:prstGeom>
          <a:solidFill>
            <a:srgbClr val="F5F3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36992" y="3776472"/>
            <a:ext cx="178308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D28D9"/>
                </a:solidFill>
                <a:latin typeface="Segoe UI"/>
                <a:ea typeface="Microsoft YaHei"/>
              </a:rPr>
              <a:t>写侧 · Databricks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811512" y="3776472"/>
            <a:ext cx="1783080" cy="475488"/>
          </a:xfrm>
          <a:prstGeom prst="roundRect">
            <a:avLst>
              <a:gd name="adj" fmla="val 15384"/>
            </a:avLst>
          </a:prstGeom>
          <a:solidFill>
            <a:srgbClr val="F5F3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11512" y="3776472"/>
            <a:ext cx="178308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D28D9"/>
                </a:solidFill>
                <a:latin typeface="Segoe UI"/>
                <a:ea typeface="Microsoft YaHei"/>
              </a:rPr>
              <a:t>读侧 · Serverless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765792" y="4251960"/>
            <a:ext cx="0" cy="310896"/>
          </a:xfrm>
          <a:prstGeom prst="line">
            <a:avLst/>
          </a:prstGeom>
          <a:ln w="17780">
            <a:solidFill>
              <a:srgbClr val="64748B"/>
            </a:solidFill>
            <a:tailEnd type="triangle" w="med" len="med"/>
          </a:ln>
          <a:effectLst/>
        </p:spPr>
      </p:cxnSp>
      <p:sp>
        <p:nvSpPr>
          <p:cNvPr id="19" name="Rounded Rectangle 18"/>
          <p:cNvSpPr/>
          <p:nvPr/>
        </p:nvSpPr>
        <p:spPr>
          <a:xfrm>
            <a:off x="7936992" y="4562856"/>
            <a:ext cx="3657600" cy="475488"/>
          </a:xfrm>
          <a:prstGeom prst="roundRect">
            <a:avLst>
              <a:gd name="adj" fmla="val 15384"/>
            </a:avLst>
          </a:prstGeom>
          <a:solidFill>
            <a:srgbClr val="EFF6FF"/>
          </a:solidFill>
          <a:ln w="1524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36992" y="4562856"/>
            <a:ext cx="365760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E40AF"/>
                </a:solidFill>
                <a:latin typeface="Segoe UI"/>
                <a:ea typeface="Microsoft YaHei"/>
              </a:rPr>
              <a:t>ADLS Gen2 · Iceberg 湖仓 + Blob 附件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36992" y="523036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94A3B8"/>
                </a:solidFill>
                <a:latin typeface="Segoe UI"/>
                <a:ea typeface="Microsoft YaHei"/>
              </a:rPr>
              <a:t>存算分离 · 私有端点 · 合规销毁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1417320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300">
                <a:solidFill>
                  <a:srgbClr val="64748B"/>
                </a:solidFill>
                <a:latin typeface="Segoe UI"/>
                <a:ea typeface="Microsoft YaHei"/>
              </a:rPr>
              <a:t>RIMS 退役归档平台 · 方案 B2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" y="1755648"/>
            <a:ext cx="630936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0F172A"/>
                </a:solidFill>
                <a:latin typeface="Segoe UI"/>
                <a:ea typeface="Microsoft YaHei"/>
              </a:rPr>
              <a:t>湖仓一体架构图集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41248" y="2615184"/>
            <a:ext cx="566928" cy="4114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8" y="2761488"/>
            <a:ext cx="58521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4748B"/>
                </a:solidFill>
                <a:latin typeface="Segoe UI"/>
                <a:ea typeface="Microsoft YaHei"/>
              </a:rPr>
              <a:t>三张核心架构图 · 全部以 PPT 原生形状绘制，文字 / 颜色 / 位置均可直接编辑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1248" y="3310128"/>
            <a:ext cx="580644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69264" y="343814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FF6FF"/>
          </a:solidFill>
          <a:ln w="1524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9264" y="3438144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078D4"/>
                </a:solidFill>
                <a:latin typeface="Consolas"/>
                <a:ea typeface="Microsoft YaHei"/>
              </a:rPr>
              <a:t>01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72768" y="3429000"/>
            <a:ext cx="493776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F172A"/>
                </a:solidFill>
                <a:latin typeface="Segoe UI"/>
                <a:ea typeface="Microsoft YaHei"/>
              </a:rPr>
              <a:t>Azure 基础设施部署架构 · 方案 B2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72768" y="3694176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4748B"/>
                </a:solidFill>
                <a:latin typeface="Segoe UI"/>
                <a:ea typeface="Microsoft YaHei"/>
              </a:rPr>
              <a:t>VNet · AKS · Databricks Serverless · NCC 私有端点 · 六大 PaaS 服务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41248" y="4169664"/>
            <a:ext cx="580644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69264" y="42976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CFDF5"/>
          </a:solidFill>
          <a:ln w="1524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9264" y="42976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59669"/>
                </a:solidFill>
                <a:latin typeface="Consolas"/>
                <a:ea typeface="Microsoft YaHei"/>
              </a:rPr>
              <a:t>02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72768" y="4288536"/>
            <a:ext cx="493776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F172A"/>
                </a:solidFill>
                <a:latin typeface="Segoe UI"/>
                <a:ea typeface="Microsoft YaHei"/>
              </a:rPr>
              <a:t>应用架构图 · 方案 B2（湖仓一体 · Databricks SQL Serverless 读）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72768" y="4553712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4748B"/>
                </a:solidFill>
                <a:latin typeface="Segoe UI"/>
                <a:ea typeface="Microsoft YaHei"/>
              </a:rPr>
              <a:t>访问入口 → 自研应用层（AKS）→ 写 / 读 / 附件三条链路 → 数据底座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41248" y="5029200"/>
            <a:ext cx="580644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969264" y="515721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5F3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9264" y="5157216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C3AED"/>
                </a:solidFill>
                <a:latin typeface="Consolas"/>
                <a:ea typeface="Microsoft YaHei"/>
              </a:rPr>
              <a:t>03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572768" y="5148072"/>
            <a:ext cx="493776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F172A"/>
                </a:solidFill>
                <a:latin typeface="Segoe UI"/>
                <a:ea typeface="Microsoft YaHei"/>
              </a:rPr>
              <a:t>方案 B2 · 湖仓一体 · 存算分离架构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72768" y="5413248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4748B"/>
                </a:solidFill>
                <a:latin typeface="Segoe UI"/>
                <a:ea typeface="Microsoft YaHei"/>
              </a:rPr>
              <a:t>源系统 → 接入配置 → 抽取 → Iceberg 冷湖 → Databricks 读写一体计算层 → 消费入口 + 销毁回路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41248" y="6053328"/>
            <a:ext cx="5806440" cy="3200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41248" y="6163056"/>
            <a:ext cx="585216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94A3B8"/>
                </a:solidFill>
                <a:latin typeface="Segoe UI"/>
                <a:ea typeface="Microsoft YaHei"/>
              </a:rPr>
              <a:t>整理自 report/Architecture.html · 2026-08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1168" y="155448"/>
            <a:ext cx="50292" cy="365760"/>
          </a:xfrm>
          <a:prstGeom prst="roundRect">
            <a:avLst>
              <a:gd name="adj" fmla="val 4909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18872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0F172A"/>
                </a:solidFill>
                <a:latin typeface="Segoe UI"/>
                <a:ea typeface="Microsoft YaHei"/>
              </a:rPr>
              <a:t>Azure 基础设施部署架构 · 方案 B2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01168" y="603504"/>
            <a:ext cx="1847088" cy="1773936"/>
          </a:xfrm>
          <a:prstGeom prst="roundRect">
            <a:avLst>
              <a:gd name="adj" fmla="val 3608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9184" y="694944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F172A"/>
                </a:solidFill>
                <a:latin typeface="Segoe UI"/>
                <a:ea typeface="Microsoft YaHei"/>
              </a:rPr>
              <a:t>技术栈</a:t>
            </a:r>
          </a:p>
        </p:txBody>
      </p:sp>
      <p:sp>
        <p:nvSpPr>
          <p:cNvPr id="6" name="Rectangle 5"/>
          <p:cNvSpPr/>
          <p:nvPr/>
        </p:nvSpPr>
        <p:spPr>
          <a:xfrm>
            <a:off x="329184" y="905256"/>
            <a:ext cx="274320" cy="2286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9184" y="1005840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1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前端 · 配置化查询平台 React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" y="1173175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2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后端 · .NET 10（AKS 容器化）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" y="1340510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3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抽取 · Apache SeaTunnel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" y="1507845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4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编排 · Azure Data Factory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" y="1675180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5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表格式 · Apache Iceberg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" y="1842516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6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引擎 · Databricks Serverless（读写）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" y="2009851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7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治理 · Unity Catalog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" y="2177186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D97706"/>
                </a:solidFill>
                <a:latin typeface="Segoe UI"/>
                <a:ea typeface="Microsoft YaHei"/>
              </a:rPr>
              <a:t>8  </a:t>
            </a:r>
            <a:r>
              <a:rPr sz="680" b="1" i="0">
                <a:solidFill>
                  <a:srgbClr val="92400E"/>
                </a:solidFill>
                <a:latin typeface="Segoe UI"/>
                <a:ea typeface="Microsoft YaHei"/>
              </a:rPr>
              <a:t>附件迁移 · Azure Storage Mover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01168" y="2487168"/>
            <a:ext cx="1847088" cy="1810512"/>
          </a:xfrm>
          <a:prstGeom prst="roundRect">
            <a:avLst>
              <a:gd name="adj" fmla="val 3535"/>
            </a:avLst>
          </a:prstGeom>
          <a:solidFill>
            <a:srgbClr val="ECFDF5"/>
          </a:solidFill>
          <a:ln w="1524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9184" y="2560320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47857"/>
                </a:solidFill>
                <a:latin typeface="Segoe UI"/>
                <a:ea typeface="Microsoft YaHei"/>
              </a:rPr>
              <a:t>终端用户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10896" y="2798064"/>
            <a:ext cx="1627632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8328" y="2798064"/>
            <a:ext cx="1572768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0F172A"/>
                </a:solidFill>
                <a:latin typeface="Segoe UI"/>
                <a:ea typeface="Microsoft YaHei"/>
              </a:rPr>
              <a:t>业务查询员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查本系统归档数据</a:t>
            </a:r>
          </a:p>
        </p:txBody>
      </p:sp>
      <p:sp>
        <p:nvSpPr>
          <p:cNvPr id="19" name="Oval 18"/>
          <p:cNvSpPr/>
          <p:nvPr/>
        </p:nvSpPr>
        <p:spPr>
          <a:xfrm>
            <a:off x="448330" y="2920136"/>
            <a:ext cx="54315" cy="54315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28167" y="2983504"/>
            <a:ext cx="94640" cy="61722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10896" y="3255264"/>
            <a:ext cx="1627632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8328" y="3255264"/>
            <a:ext cx="1572768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0F172A"/>
                </a:solidFill>
                <a:latin typeface="Segoe UI"/>
                <a:ea typeface="Microsoft YaHei"/>
              </a:rPr>
              <a:t>审计 / 合规岗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跨系统检索与举证</a:t>
            </a:r>
          </a:p>
        </p:txBody>
      </p:sp>
      <p:sp>
        <p:nvSpPr>
          <p:cNvPr id="23" name="Oval 22"/>
          <p:cNvSpPr/>
          <p:nvPr/>
        </p:nvSpPr>
        <p:spPr>
          <a:xfrm>
            <a:off x="448330" y="3377336"/>
            <a:ext cx="54315" cy="54315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28167" y="3440704"/>
            <a:ext cx="94640" cy="61722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10896" y="3712464"/>
            <a:ext cx="1627632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38328" y="3712464"/>
            <a:ext cx="1572768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0F172A"/>
                </a:solidFill>
                <a:latin typeface="Segoe UI"/>
                <a:ea typeface="Microsoft YaHei"/>
              </a:rPr>
              <a:t>平台运维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监控 · 销毁作业值守</a:t>
            </a:r>
          </a:p>
        </p:txBody>
      </p:sp>
      <p:sp>
        <p:nvSpPr>
          <p:cNvPr id="27" name="Oval 26"/>
          <p:cNvSpPr/>
          <p:nvPr/>
        </p:nvSpPr>
        <p:spPr>
          <a:xfrm>
            <a:off x="448330" y="3834536"/>
            <a:ext cx="54315" cy="54315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28167" y="3897904"/>
            <a:ext cx="94640" cy="61722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74320" y="4114800"/>
            <a:ext cx="1700784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59669"/>
                </a:solidFill>
                <a:latin typeface="Segoe UI"/>
                <a:ea typeface="Microsoft YaHei"/>
              </a:rPr>
              <a:t>浏览器 HTTPS 443 · Entra ID 单点登录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176272" y="603504"/>
            <a:ext cx="5687568" cy="146304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1524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322576" y="676656"/>
            <a:ext cx="402336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475569"/>
                </a:solidFill>
                <a:latin typeface="Segoe UI"/>
                <a:ea typeface="Microsoft YaHei"/>
              </a:rPr>
              <a:t>源系统 · 15 套待退役业务系统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20640" y="694944"/>
            <a:ext cx="2615184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94A3B8"/>
                </a:solidFill>
                <a:latin typeface="Segoe UI"/>
                <a:ea typeface="Microsoft YaHei"/>
              </a:rPr>
              <a:t>退役窗口内只读 · 数据只出不进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322576" y="914400"/>
            <a:ext cx="1700784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350008" y="91440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Oracle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TCP 1521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485567" y="1109990"/>
            <a:ext cx="112928" cy="53858"/>
          </a:xfrm>
          <a:prstGeom prst="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2485567" y="1091747"/>
            <a:ext cx="112928" cy="24323"/>
          </a:xfrm>
          <a:prstGeom prst="ellips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2485567" y="1163848"/>
            <a:ext cx="112928" cy="24323"/>
          </a:xfrm>
          <a:prstGeom prst="ellipse">
            <a:avLst/>
          </a:prstGeom>
          <a:solidFill>
            <a:srgbClr val="FFFFFF"/>
          </a:solidFill>
          <a:ln w="9525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4151376" y="914400"/>
            <a:ext cx="1700784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178808" y="91440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MySQL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TCP 3306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14367" y="1109990"/>
            <a:ext cx="112928" cy="53858"/>
          </a:xfrm>
          <a:prstGeom prst="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4314367" y="1091747"/>
            <a:ext cx="112928" cy="24323"/>
          </a:xfrm>
          <a:prstGeom prst="ellips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4314367" y="1163848"/>
            <a:ext cx="112928" cy="24323"/>
          </a:xfrm>
          <a:prstGeom prst="ellipse">
            <a:avLst/>
          </a:prstGeom>
          <a:solidFill>
            <a:srgbClr val="FFFFFF"/>
          </a:solidFill>
          <a:ln w="9525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5980176" y="914400"/>
            <a:ext cx="1700784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007608" y="91440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DB2 / 其他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TCP 50000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143167" y="1109990"/>
            <a:ext cx="112928" cy="53858"/>
          </a:xfrm>
          <a:prstGeom prst="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6143167" y="1091747"/>
            <a:ext cx="112928" cy="24323"/>
          </a:xfrm>
          <a:prstGeom prst="ellips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6143167" y="1163848"/>
            <a:ext cx="112928" cy="24323"/>
          </a:xfrm>
          <a:prstGeom prst="ellipse">
            <a:avLst/>
          </a:prstGeom>
          <a:solidFill>
            <a:srgbClr val="FFFFFF"/>
          </a:solidFill>
          <a:ln w="9525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2322576" y="1481328"/>
            <a:ext cx="26517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651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350008" y="1481328"/>
            <a:ext cx="2596896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结构化抽取 · </a:t>
            </a:r>
            <a:r>
              <a:rPr sz="740" b="1" i="0">
                <a:solidFill>
                  <a:srgbClr val="EA580C"/>
                </a:solidFill>
                <a:latin typeface="Segoe UI"/>
                <a:ea typeface="Microsoft YaHei"/>
              </a:rPr>
              <a:t>Apache SeaTunnel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仅读权限 · 按勾选的表抽取（10 选 5）· ADF 编排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084064" y="1481328"/>
            <a:ext cx="2596896" cy="457200"/>
          </a:xfrm>
          <a:prstGeom prst="roundRect">
            <a:avLst>
              <a:gd name="adj" fmla="val 10000"/>
            </a:avLst>
          </a:prstGeom>
          <a:solidFill>
            <a:srgbClr val="FFFBEB"/>
          </a:solidFill>
          <a:ln w="1778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111496" y="1481328"/>
            <a:ext cx="2542032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92400E"/>
                </a:solidFill>
                <a:latin typeface="Segoe UI"/>
                <a:ea typeface="Microsoft YaHei"/>
              </a:rPr>
              <a:t>附件迁移 · </a:t>
            </a:r>
            <a:r>
              <a:rPr sz="740" b="1" i="0">
                <a:solidFill>
                  <a:srgbClr val="D97706"/>
                </a:solidFill>
                <a:latin typeface="Segoe UI"/>
                <a:ea typeface="Microsoft YaHei"/>
              </a:rPr>
              <a:t>Storage Mover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78350F"/>
                </a:solidFill>
                <a:latin typeface="Segoe UI"/>
                <a:ea typeface="Microsoft YaHei"/>
              </a:rPr>
              <a:t>读 NFS / S3 / Blob 附件源 · 服务免费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322576" y="1920240"/>
            <a:ext cx="53949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97706"/>
                </a:solidFill>
                <a:latin typeface="Segoe UI"/>
                <a:ea typeface="Microsoft YaHei"/>
              </a:rPr>
              <a:t>跨机房链路：ExpressRoute / 站点到站点 VPN · 源库防火墙放行 NAT 固定出口 IP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991856" y="603504"/>
            <a:ext cx="1591056" cy="1463040"/>
          </a:xfrm>
          <a:prstGeom prst="roundRect">
            <a:avLst>
              <a:gd name="adj" fmla="val 4375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101583" y="676656"/>
            <a:ext cx="1371600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475569"/>
                </a:solidFill>
                <a:latin typeface="Segoe UI"/>
                <a:ea typeface="Microsoft YaHei"/>
              </a:rPr>
              <a:t>网络连通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101583" y="896112"/>
            <a:ext cx="1389888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78D4"/>
                </a:solidFill>
                <a:latin typeface="Segoe UI"/>
                <a:ea typeface="Microsoft YaHei"/>
              </a:rPr>
              <a:t>· </a:t>
            </a:r>
            <a:r>
              <a:rPr sz="640" b="0" i="0">
                <a:solidFill>
                  <a:srgbClr val="475569"/>
                </a:solidFill>
                <a:latin typeface="Segoe UI"/>
                <a:ea typeface="Microsoft YaHei"/>
              </a:rPr>
              <a:t>ExpressRoute / S2S VPN 专线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101583" y="1161288"/>
            <a:ext cx="1389888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78D4"/>
                </a:solidFill>
                <a:latin typeface="Segoe UI"/>
                <a:ea typeface="Microsoft YaHei"/>
              </a:rPr>
              <a:t>· </a:t>
            </a:r>
            <a:r>
              <a:rPr sz="640" b="0" i="0">
                <a:solidFill>
                  <a:srgbClr val="475569"/>
                </a:solidFill>
                <a:latin typeface="Segoe UI"/>
                <a:ea typeface="Microsoft YaHei"/>
              </a:rPr>
              <a:t>NAT 固定出口 IP 白名单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101583" y="1426464"/>
            <a:ext cx="1389888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78D4"/>
                </a:solidFill>
                <a:latin typeface="Segoe UI"/>
                <a:ea typeface="Microsoft YaHei"/>
              </a:rPr>
              <a:t>· </a:t>
            </a:r>
            <a:r>
              <a:rPr sz="640" b="0" i="0">
                <a:solidFill>
                  <a:srgbClr val="475569"/>
                </a:solidFill>
                <a:latin typeface="Segoe UI"/>
                <a:ea typeface="Microsoft YaHei"/>
              </a:rPr>
              <a:t>PaaS 全私有端点 · 禁公网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101583" y="1691639"/>
            <a:ext cx="1389888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78D4"/>
                </a:solidFill>
                <a:latin typeface="Segoe UI"/>
                <a:ea typeface="Microsoft YaHei"/>
              </a:rPr>
              <a:t>· </a:t>
            </a:r>
            <a:r>
              <a:rPr sz="640" b="0" i="0">
                <a:solidFill>
                  <a:srgbClr val="475569"/>
                </a:solidFill>
                <a:latin typeface="Segoe UI"/>
                <a:ea typeface="Microsoft YaHei"/>
              </a:rPr>
              <a:t>WAF + App Gateway 收敛入口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692640" y="603504"/>
            <a:ext cx="2304288" cy="3694176"/>
          </a:xfrm>
          <a:prstGeom prst="roundRect">
            <a:avLst>
              <a:gd name="adj" fmla="val 3174"/>
            </a:avLst>
          </a:prstGeom>
          <a:solidFill>
            <a:srgbClr val="FAF9FF"/>
          </a:solidFill>
          <a:ln w="17780">
            <a:solidFill>
              <a:srgbClr val="7C3AE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20656" y="694944"/>
            <a:ext cx="210312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C3AED"/>
                </a:solidFill>
                <a:latin typeface="Segoe UI"/>
                <a:ea typeface="Microsoft YaHei"/>
              </a:rPr>
              <a:t>Databricks 托管平面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0656" y="886968"/>
            <a:ext cx="21031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C2626"/>
                </a:solidFill>
                <a:latin typeface="Segoe UI"/>
                <a:ea typeface="Microsoft YaHei"/>
              </a:rPr>
              <a:t>★ 不在你的 VNet 内 · 运行于 Databricks 账户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9820656" y="1078992"/>
            <a:ext cx="2048256" cy="676656"/>
          </a:xfrm>
          <a:prstGeom prst="roundRect">
            <a:avLst>
              <a:gd name="adj" fmla="val 6756"/>
            </a:avLst>
          </a:prstGeom>
          <a:solidFill>
            <a:srgbClr val="FFFFFF"/>
          </a:solidFill>
          <a:ln w="1270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9949586" y="1186434"/>
            <a:ext cx="71323" cy="5143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9933813" y="1200149"/>
            <a:ext cx="48006" cy="35661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9988677" y="1194663"/>
            <a:ext cx="45262" cy="39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875520" y="1133856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D28D9"/>
                </a:solidFill>
                <a:latin typeface="Segoe UI"/>
                <a:ea typeface="Microsoft YaHei"/>
              </a:rPr>
              <a:t>控制平面 Control Plane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875520" y="1335024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Web UI · 作业调度 · 无状态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875520" y="1495044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Unity Catalog 元数据服务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9820656" y="1819656"/>
            <a:ext cx="2048256" cy="676656"/>
          </a:xfrm>
          <a:prstGeom prst="roundRect">
            <a:avLst>
              <a:gd name="adj" fmla="val 6756"/>
            </a:avLst>
          </a:prstGeom>
          <a:solidFill>
            <a:srgbClr val="F5F3FF"/>
          </a:solidFill>
          <a:ln w="1905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9949586" y="1927098"/>
            <a:ext cx="71323" cy="5143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9933813" y="1940814"/>
            <a:ext cx="48006" cy="35661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9988677" y="1935327"/>
            <a:ext cx="45262" cy="39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875520" y="1874519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D28D9"/>
                </a:solidFill>
                <a:latin typeface="Segoe UI"/>
                <a:ea typeface="Microsoft YaHei"/>
              </a:rPr>
              <a:t>Databricks SQL Serverless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875520" y="2075688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读侧查询 · X-Small 6 DBU/h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875520" y="2235708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64748B"/>
                </a:solidFill>
                <a:latin typeface="Segoe UI"/>
                <a:ea typeface="Microsoft YaHei"/>
              </a:rPr>
              <a:t>空闲自动缩到 0 · 零运维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9820656" y="2560320"/>
            <a:ext cx="2048256" cy="676656"/>
          </a:xfrm>
          <a:prstGeom prst="roundRect">
            <a:avLst>
              <a:gd name="adj" fmla="val 6756"/>
            </a:avLst>
          </a:prstGeom>
          <a:solidFill>
            <a:srgbClr val="FFFFFF"/>
          </a:solidFill>
          <a:ln w="1270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9949586" y="2667762"/>
            <a:ext cx="71323" cy="5143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9933813" y="2681478"/>
            <a:ext cx="48006" cy="35661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9988677" y="2675991"/>
            <a:ext cx="45262" cy="39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9875520" y="2615184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D28D9"/>
                </a:solidFill>
                <a:latin typeface="Segoe UI"/>
                <a:ea typeface="Microsoft YaHei"/>
              </a:rPr>
              <a:t>Databricks Serverless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875520" y="2816352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写侧 ETL：RAW→CURATED→LAKE→SERVE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875520" y="2976372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Compaction · VACUUM · 到期销毁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9820656" y="3300984"/>
            <a:ext cx="2048256" cy="548640"/>
          </a:xfrm>
          <a:prstGeom prst="roundRect">
            <a:avLst>
              <a:gd name="adj" fmla="val 8333"/>
            </a:avLst>
          </a:prstGeom>
          <a:solidFill>
            <a:srgbClr val="ECFDF5"/>
          </a:solidFill>
          <a:ln w="16510">
            <a:solidFill>
              <a:srgbClr val="6EE7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9949586" y="3408426"/>
            <a:ext cx="71323" cy="5143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9933813" y="3422142"/>
            <a:ext cx="48006" cy="35661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9988677" y="3416655"/>
            <a:ext cx="45262" cy="39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9875520" y="3355848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47857"/>
                </a:solidFill>
                <a:latin typeface="Segoe UI"/>
                <a:ea typeface="Microsoft YaHei"/>
              </a:rPr>
              <a:t>NCC 网络连接 + 托管私有端点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875520" y="3557015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59669"/>
                </a:solidFill>
                <a:latin typeface="Segoe UI"/>
                <a:ea typeface="Microsoft YaHei"/>
              </a:rPr>
              <a:t>Serverless 私有访问 ADLS 的唯一通道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820656" y="3968496"/>
            <a:ext cx="2048256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7C3AED"/>
                </a:solidFill>
                <a:latin typeface="Segoe UI"/>
                <a:ea typeface="Microsoft YaHei"/>
              </a:rPr>
              <a:t>Premium 层特性 · NCC 需 Account Admin 配置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2176272" y="2212848"/>
            <a:ext cx="7406640" cy="2084831"/>
          </a:xfrm>
          <a:prstGeom prst="roundRect">
            <a:avLst>
              <a:gd name="adj" fmla="val 3508"/>
            </a:avLst>
          </a:prstGeom>
          <a:solidFill>
            <a:srgbClr val="F0F7FC"/>
          </a:solidFill>
          <a:ln w="1905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2322576" y="2286000"/>
            <a:ext cx="310896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078D4"/>
                </a:solidFill>
                <a:latin typeface="Segoe UI"/>
                <a:ea typeface="Microsoft YaHei"/>
              </a:rPr>
              <a:t>Azure VNet · 10.0.0.0/16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760720" y="2322576"/>
            <a:ext cx="329184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Hub-Spoke · NSG 管控 · PaaS 全部关闭公网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2322576" y="2505456"/>
            <a:ext cx="877824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2350008" y="2505456"/>
            <a:ext cx="822959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WAF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OWASP 防护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3346704" y="2505456"/>
            <a:ext cx="1335024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3374136" y="2505456"/>
            <a:ext cx="1280160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0F172A"/>
                </a:solidFill>
                <a:latin typeface="Segoe UI"/>
                <a:ea typeface="Microsoft YaHei"/>
              </a:rPr>
              <a:t>Application Gateway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TLS 终止 · 七层路由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4828032" y="2505456"/>
            <a:ext cx="969264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4855464" y="2505456"/>
            <a:ext cx="914400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0F172A"/>
                </a:solidFill>
                <a:latin typeface="Segoe UI"/>
                <a:ea typeface="Microsoft YaHei"/>
              </a:rPr>
              <a:t>NAT Gateway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出站固定 IP</a:t>
            </a:r>
          </a:p>
        </p:txBody>
      </p:sp>
      <p:cxnSp>
        <p:nvCxnSpPr>
          <p:cNvPr id="99" name="Connector 98"/>
          <p:cNvCxnSpPr/>
          <p:nvPr/>
        </p:nvCxnSpPr>
        <p:spPr>
          <a:xfrm>
            <a:off x="3200400" y="2715768"/>
            <a:ext cx="128016" cy="0"/>
          </a:xfrm>
          <a:prstGeom prst="line">
            <a:avLst/>
          </a:prstGeom>
          <a:ln w="17780">
            <a:solidFill>
              <a:srgbClr val="0078D4"/>
            </a:solidFill>
            <a:tailEnd type="triangle" w="med" len="med"/>
          </a:ln>
          <a:effectLst/>
        </p:spPr>
      </p:cxnSp>
      <p:cxnSp>
        <p:nvCxnSpPr>
          <p:cNvPr id="100" name="Connector 99"/>
          <p:cNvCxnSpPr/>
          <p:nvPr/>
        </p:nvCxnSpPr>
        <p:spPr>
          <a:xfrm>
            <a:off x="4681728" y="2715768"/>
            <a:ext cx="128016" cy="0"/>
          </a:xfrm>
          <a:prstGeom prst="line">
            <a:avLst/>
          </a:prstGeom>
          <a:ln w="17780">
            <a:solidFill>
              <a:srgbClr val="0078D4"/>
            </a:solidFill>
            <a:tailEnd type="triangle" w="med" len="med"/>
          </a:ln>
          <a:effectLst/>
        </p:spPr>
      </p:cxnSp>
      <p:cxnSp>
        <p:nvCxnSpPr>
          <p:cNvPr id="101" name="Connector 100"/>
          <p:cNvCxnSpPr/>
          <p:nvPr/>
        </p:nvCxnSpPr>
        <p:spPr>
          <a:xfrm>
            <a:off x="4014215" y="2926080"/>
            <a:ext cx="0" cy="109728"/>
          </a:xfrm>
          <a:prstGeom prst="line">
            <a:avLst/>
          </a:prstGeom>
          <a:ln w="17780">
            <a:solidFill>
              <a:srgbClr val="0078D4"/>
            </a:solidFill>
            <a:tailEnd type="triangle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6172200" y="2560320"/>
            <a:ext cx="324612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475569"/>
                </a:solidFill>
                <a:latin typeface="Segoe UI"/>
                <a:ea typeface="Microsoft YaHei"/>
              </a:rPr>
              <a:t>私有 DNS：</a:t>
            </a: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privatelink.* 区域集中解析，AKS / Databricks 经内网域名访问 PaaS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2322576" y="3054096"/>
            <a:ext cx="4206240" cy="1133856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2432304" y="3127248"/>
            <a:ext cx="237744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0078D4"/>
                </a:solidFill>
                <a:latin typeface="Segoe UI"/>
                <a:ea typeface="Microsoft YaHei"/>
              </a:rPr>
              <a:t>AKS 子网 · 10.0.1.0/24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206240" y="3145536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94A3B8"/>
                </a:solidFill>
                <a:latin typeface="Segoe UI"/>
                <a:ea typeface="Microsoft YaHei"/>
              </a:rPr>
              <a:t>跨 AZ 节点池 · HPA · 托管标识免密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2432304" y="3310128"/>
            <a:ext cx="3986784" cy="512064"/>
          </a:xfrm>
          <a:prstGeom prst="roundRect">
            <a:avLst>
              <a:gd name="adj" fmla="val 8928"/>
            </a:avLst>
          </a:prstGeom>
          <a:noFill/>
          <a:ln w="12700">
            <a:solidFill>
              <a:srgbClr val="CBD5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2505456" y="3337560"/>
            <a:ext cx="201168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475569"/>
                </a:solidFill>
                <a:latin typeface="Segoe UI"/>
                <a:ea typeface="Microsoft YaHei"/>
              </a:rPr>
              <a:t>Node · 跨可用区冗余 · 托管节点池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2523744" y="3456432"/>
            <a:ext cx="1920240" cy="329184"/>
          </a:xfrm>
          <a:prstGeom prst="roundRect">
            <a:avLst>
              <a:gd name="adj" fmla="val 13888"/>
            </a:avLst>
          </a:prstGeom>
          <a:solidFill>
            <a:srgbClr val="EFF6FF"/>
          </a:solidFill>
          <a:ln w="1778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2551175" y="3456432"/>
            <a:ext cx="1865376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1E40AF"/>
                </a:solidFill>
                <a:latin typeface="Segoe UI"/>
                <a:ea typeface="Microsoft YaHei"/>
              </a:rPr>
              <a:t>前端 Pod · React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配置化查询界面 · JSON Schema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4517136" y="3456432"/>
            <a:ext cx="1828800" cy="329184"/>
          </a:xfrm>
          <a:prstGeom prst="roundRect">
            <a:avLst>
              <a:gd name="adj" fmla="val 13888"/>
            </a:avLst>
          </a:prstGeom>
          <a:solidFill>
            <a:srgbClr val="F0F9FF"/>
          </a:solidFill>
          <a:ln w="1778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4544568" y="3456432"/>
            <a:ext cx="1773936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0E7490"/>
                </a:solidFill>
                <a:latin typeface="Segoe UI"/>
                <a:ea typeface="Microsoft YaHei"/>
              </a:rPr>
              <a:t>后端 Pod · .NET 单体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元数据 · 权限 · 查询代理 · 审计 · 销毁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2432304" y="3895344"/>
            <a:ext cx="3986784" cy="219456"/>
          </a:xfrm>
          <a:prstGeom prst="roundRect">
            <a:avLst>
              <a:gd name="adj" fmla="val 16666"/>
            </a:avLst>
          </a:prstGeom>
          <a:solidFill>
            <a:srgbClr val="F0F9FF"/>
          </a:solidFill>
          <a:ln w="12700">
            <a:solidFill>
              <a:srgbClr val="7DD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2487168" y="3895344"/>
            <a:ext cx="3877056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C4A6E"/>
                </a:solidFill>
                <a:latin typeface="Segoe UI"/>
                <a:ea typeface="Microsoft YaHei"/>
              </a:rPr>
              <a:t>元数据服务：系统台账 · 表清单勾选 · 保留期与销毁策略 · 任务记录 · 操作审计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6675120" y="3054096"/>
            <a:ext cx="2798064" cy="1133856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6784848" y="3127248"/>
            <a:ext cx="265176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0078D4"/>
                </a:solidFill>
                <a:latin typeface="Segoe UI"/>
                <a:ea typeface="Microsoft YaHei"/>
              </a:rPr>
              <a:t>私有端点子网 · 10.0.2.0/24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6784848" y="3328416"/>
            <a:ext cx="1280160" cy="310896"/>
          </a:xfrm>
          <a:prstGeom prst="roundRect">
            <a:avLst>
              <a:gd name="adj" fmla="val 11764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6812280" y="3328416"/>
            <a:ext cx="1225295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10" b="0" i="0">
                <a:solidFill>
                  <a:srgbClr val="1E40AF"/>
                </a:solidFill>
                <a:latin typeface="Segoe UI"/>
                <a:ea typeface="Microsoft YaHei"/>
              </a:rPr>
              <a:t>ADLS 私有端点（blob + dfs）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8119871" y="3328416"/>
            <a:ext cx="1280160" cy="310896"/>
          </a:xfrm>
          <a:prstGeom prst="roundRect">
            <a:avLst>
              <a:gd name="adj" fmla="val 11764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8147303" y="3328416"/>
            <a:ext cx="1225295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10" b="0" i="0">
                <a:solidFill>
                  <a:srgbClr val="1E40AF"/>
                </a:solidFill>
                <a:latin typeface="Segoe UI"/>
                <a:ea typeface="Microsoft YaHei"/>
              </a:rPr>
              <a:t>SQL Database 私有端点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6784848" y="3694176"/>
            <a:ext cx="1280160" cy="310896"/>
          </a:xfrm>
          <a:prstGeom prst="roundRect">
            <a:avLst>
              <a:gd name="adj" fmla="val 11764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812280" y="3694176"/>
            <a:ext cx="1225295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10" b="0" i="0">
                <a:solidFill>
                  <a:srgbClr val="1E40AF"/>
                </a:solidFill>
                <a:latin typeface="Segoe UI"/>
                <a:ea typeface="Microsoft YaHei"/>
              </a:rPr>
              <a:t>Key Vault 私有端点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8119871" y="3694176"/>
            <a:ext cx="1280160" cy="310896"/>
          </a:xfrm>
          <a:prstGeom prst="roundRect">
            <a:avLst>
              <a:gd name="adj" fmla="val 11764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147303" y="3694176"/>
            <a:ext cx="1225295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10" b="0" i="0">
                <a:solidFill>
                  <a:srgbClr val="1E40AF"/>
                </a:solidFill>
                <a:latin typeface="Segoe UI"/>
                <a:ea typeface="Microsoft YaHei"/>
              </a:rPr>
              <a:t>Databricks 工作区端点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784848" y="4041648"/>
            <a:ext cx="2578608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94A3B8"/>
                </a:solidFill>
                <a:latin typeface="Segoe UI"/>
                <a:ea typeface="Microsoft YaHei"/>
              </a:rPr>
              <a:t>子网内为私有端点 NIC · PaaS 本体在 Azure 平台侧</a:t>
            </a:r>
          </a:p>
        </p:txBody>
      </p:sp>
      <p:cxnSp>
        <p:nvCxnSpPr>
          <p:cNvPr id="125" name="Connector 124"/>
          <p:cNvCxnSpPr/>
          <p:nvPr/>
        </p:nvCxnSpPr>
        <p:spPr>
          <a:xfrm>
            <a:off x="6528816" y="3584448"/>
            <a:ext cx="128016" cy="0"/>
          </a:xfrm>
          <a:prstGeom prst="line">
            <a:avLst/>
          </a:prstGeom>
          <a:ln w="17780">
            <a:solidFill>
              <a:srgbClr val="0078D4"/>
            </a:solidFill>
            <a:tailEnd type="triangle" w="med" len="med"/>
          </a:ln>
          <a:effectLst/>
        </p:spPr>
      </p:cxnSp>
      <p:sp>
        <p:nvSpPr>
          <p:cNvPr id="126" name="TextBox 125"/>
          <p:cNvSpPr txBox="1"/>
          <p:nvPr/>
        </p:nvSpPr>
        <p:spPr>
          <a:xfrm>
            <a:off x="6419088" y="3383280"/>
            <a:ext cx="36576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0078D4"/>
                </a:solidFill>
                <a:latin typeface="Segoe UI"/>
                <a:ea typeface="Microsoft YaHei"/>
              </a:rPr>
              <a:t>内网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419088" y="3657600"/>
            <a:ext cx="36576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0078D4"/>
                </a:solidFill>
                <a:latin typeface="Segoe UI"/>
                <a:ea typeface="Microsoft YaHei"/>
              </a:rPr>
              <a:t>调用</a:t>
            </a:r>
          </a:p>
        </p:txBody>
      </p:sp>
      <p:cxnSp>
        <p:nvCxnSpPr>
          <p:cNvPr id="128" name="Connector 127"/>
          <p:cNvCxnSpPr/>
          <p:nvPr/>
        </p:nvCxnSpPr>
        <p:spPr>
          <a:xfrm>
            <a:off x="2048256" y="2715768"/>
            <a:ext cx="256032" cy="0"/>
          </a:xfrm>
          <a:prstGeom prst="line">
            <a:avLst/>
          </a:prstGeom>
          <a:ln w="2032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129" name="TextBox 128"/>
          <p:cNvSpPr txBox="1"/>
          <p:nvPr/>
        </p:nvSpPr>
        <p:spPr>
          <a:xfrm>
            <a:off x="1188720" y="2542032"/>
            <a:ext cx="91440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059669"/>
                </a:solidFill>
                <a:latin typeface="Segoe UI"/>
                <a:ea typeface="Microsoft YaHei"/>
              </a:rPr>
              <a:t>HTTPS 443</a:t>
            </a:r>
          </a:p>
        </p:txBody>
      </p:sp>
      <p:cxnSp>
        <p:nvCxnSpPr>
          <p:cNvPr id="130" name="Connector 129"/>
          <p:cNvCxnSpPr/>
          <p:nvPr/>
        </p:nvCxnSpPr>
        <p:spPr>
          <a:xfrm>
            <a:off x="6035040" y="2066543"/>
            <a:ext cx="0" cy="969265"/>
          </a:xfrm>
          <a:prstGeom prst="line">
            <a:avLst/>
          </a:prstGeom>
          <a:ln w="16510">
            <a:solidFill>
              <a:srgbClr val="D97706"/>
            </a:solidFill>
            <a:prstDash val="dash"/>
            <a:tailEnd type="triangle" w="med" len="med"/>
          </a:ln>
          <a:effectLst/>
        </p:spPr>
      </p:cxnSp>
      <p:sp>
        <p:nvSpPr>
          <p:cNvPr id="131" name="TextBox 130"/>
          <p:cNvSpPr txBox="1"/>
          <p:nvPr/>
        </p:nvSpPr>
        <p:spPr>
          <a:xfrm>
            <a:off x="6163056" y="2871216"/>
            <a:ext cx="210312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97706"/>
                </a:solidFill>
                <a:latin typeface="Segoe UI"/>
                <a:ea typeface="Microsoft YaHei"/>
              </a:rPr>
              <a:t>SeaTunnel 抽取 · NAT 固定 IP</a:t>
            </a:r>
          </a:p>
        </p:txBody>
      </p:sp>
      <p:cxnSp>
        <p:nvCxnSpPr>
          <p:cNvPr id="132" name="Connector 131"/>
          <p:cNvCxnSpPr/>
          <p:nvPr/>
        </p:nvCxnSpPr>
        <p:spPr>
          <a:xfrm flipV="1">
            <a:off x="5312664" y="2103120"/>
            <a:ext cx="0" cy="384048"/>
          </a:xfrm>
          <a:prstGeom prst="line">
            <a:avLst/>
          </a:prstGeom>
          <a:ln w="13970">
            <a:solidFill>
              <a:srgbClr val="D97706"/>
            </a:solidFill>
            <a:prstDash val="dash"/>
            <a:tailEnd type="triangle" w="med" len="med"/>
          </a:ln>
          <a:effectLst/>
        </p:spPr>
      </p:cxnSp>
      <p:sp>
        <p:nvSpPr>
          <p:cNvPr id="133" name="TextBox 132"/>
          <p:cNvSpPr txBox="1"/>
          <p:nvPr/>
        </p:nvSpPr>
        <p:spPr>
          <a:xfrm>
            <a:off x="4023360" y="2084831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D97706"/>
                </a:solidFill>
                <a:latin typeface="Segoe UI"/>
                <a:ea typeface="Microsoft YaHei"/>
              </a:rPr>
              <a:t>出站固定 IP ↑</a:t>
            </a:r>
          </a:p>
        </p:txBody>
      </p:sp>
      <p:cxnSp>
        <p:nvCxnSpPr>
          <p:cNvPr id="134" name="Connector 133"/>
          <p:cNvCxnSpPr/>
          <p:nvPr/>
        </p:nvCxnSpPr>
        <p:spPr>
          <a:xfrm flipV="1">
            <a:off x="9326880" y="2212848"/>
            <a:ext cx="0" cy="841248"/>
          </a:xfrm>
          <a:prstGeom prst="line">
            <a:avLst/>
          </a:prstGeom>
          <a:ln w="17780">
            <a:solidFill>
              <a:srgbClr val="7C3AED"/>
            </a:solidFill>
            <a:prstDash val="dash"/>
          </a:ln>
          <a:effectLst/>
        </p:spPr>
      </p:cxnSp>
      <p:cxnSp>
        <p:nvCxnSpPr>
          <p:cNvPr id="135" name="Connector 134"/>
          <p:cNvCxnSpPr/>
          <p:nvPr/>
        </p:nvCxnSpPr>
        <p:spPr>
          <a:xfrm>
            <a:off x="9326880" y="2212848"/>
            <a:ext cx="347472" cy="0"/>
          </a:xfrm>
          <a:prstGeom prst="line">
            <a:avLst/>
          </a:prstGeom>
          <a:ln w="17780">
            <a:solidFill>
              <a:srgbClr val="7C3AED"/>
            </a:solidFill>
            <a:prstDash val="dash"/>
            <a:tailEnd type="triangle" w="med" len="med"/>
          </a:ln>
          <a:effectLst/>
        </p:spPr>
      </p:cxnSp>
      <p:sp>
        <p:nvSpPr>
          <p:cNvPr id="136" name="TextBox 135"/>
          <p:cNvSpPr txBox="1"/>
          <p:nvPr/>
        </p:nvSpPr>
        <p:spPr>
          <a:xfrm>
            <a:off x="7726679" y="2048256"/>
            <a:ext cx="182880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7C3AED"/>
                </a:solidFill>
                <a:latin typeface="Segoe UI"/>
                <a:ea typeface="Microsoft YaHei"/>
              </a:rPr>
              <a:t>Private Link · JDBC / ODBC 443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201168" y="4425696"/>
            <a:ext cx="11795760" cy="1316736"/>
          </a:xfrm>
          <a:prstGeom prst="roundRect">
            <a:avLst>
              <a:gd name="adj" fmla="val 5555"/>
            </a:avLst>
          </a:prstGeom>
          <a:solidFill>
            <a:srgbClr val="F0FAF6"/>
          </a:solidFill>
          <a:ln w="1651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347472" y="4498848"/>
            <a:ext cx="731520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59669"/>
                </a:solidFill>
                <a:latin typeface="Segoe UI"/>
                <a:ea typeface="Microsoft YaHei"/>
              </a:rPr>
              <a:t>Azure PaaS 数据与治理服务 · 全部私有端点接入 · 公网访问已禁用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310896" y="4736592"/>
            <a:ext cx="181051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ounded Rectangle 139"/>
          <p:cNvSpPr/>
          <p:nvPr/>
        </p:nvSpPr>
        <p:spPr>
          <a:xfrm>
            <a:off x="329184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420624" y="4791456"/>
            <a:ext cx="164592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Microsoft Entra ID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384048" y="4956048"/>
            <a:ext cx="168249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0078D4"/>
                </a:solidFill>
                <a:latin typeface="Segoe UI"/>
                <a:ea typeface="Microsoft YaHei"/>
              </a:rPr>
              <a:t>身份与单点登录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384048" y="5093208"/>
            <a:ext cx="1682496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SAML / OIDC · 托管标识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621792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F1F5F9"/>
          </a:solidFill>
          <a:ln w="1143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649224" y="5239512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475569"/>
                </a:solidFill>
                <a:latin typeface="Segoe UI"/>
                <a:ea typeface="Microsoft YaHei"/>
              </a:rPr>
              <a:t>全局服务 · 443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10896" y="5440680"/>
            <a:ext cx="181051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64748B"/>
                </a:solidFill>
                <a:latin typeface="Segoe UI"/>
                <a:ea typeface="Microsoft YaHei"/>
              </a:rPr>
              <a:t>认证走 443 · 无私有端点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2212848" y="4736592"/>
            <a:ext cx="181051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ounded Rectangle 147"/>
          <p:cNvSpPr/>
          <p:nvPr/>
        </p:nvSpPr>
        <p:spPr>
          <a:xfrm>
            <a:off x="2231136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2322576" y="4791456"/>
            <a:ext cx="164592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Application Insights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2286000" y="4956048"/>
            <a:ext cx="168249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0078D4"/>
                </a:solidFill>
                <a:latin typeface="Segoe UI"/>
                <a:ea typeface="Microsoft YaHei"/>
              </a:rPr>
              <a:t>审计留痕与链路追踪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286000" y="5093208"/>
            <a:ext cx="1682496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操作日志 · 告警规则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2523744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EFF6FF"/>
          </a:solidFill>
          <a:ln w="1143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2551175" y="5239512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1E40AF"/>
                </a:solidFill>
                <a:latin typeface="Segoe UI"/>
                <a:ea typeface="Microsoft YaHei"/>
              </a:rPr>
              <a:t>Private Endpoint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2212848" y="5440680"/>
            <a:ext cx="181051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C2626"/>
                </a:solidFill>
                <a:latin typeface="Segoe UI"/>
                <a:ea typeface="Microsoft YaHei"/>
              </a:rPr>
              <a:t>公网访问：已禁用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4114800" y="4736592"/>
            <a:ext cx="181051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ounded Rectangle 155"/>
          <p:cNvSpPr/>
          <p:nvPr/>
        </p:nvSpPr>
        <p:spPr>
          <a:xfrm>
            <a:off x="4133087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4224528" y="4791456"/>
            <a:ext cx="164592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Azure Monitor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4187952" y="4956048"/>
            <a:ext cx="168249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0078D4"/>
                </a:solidFill>
                <a:latin typeface="Segoe UI"/>
                <a:ea typeface="Microsoft YaHei"/>
              </a:rPr>
              <a:t>资源指标与告警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187952" y="5093208"/>
            <a:ext cx="1682496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仪表板 · 自动化响应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4425696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EFF6FF"/>
          </a:solidFill>
          <a:ln w="1143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4453128" y="5239512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1E40AF"/>
                </a:solidFill>
                <a:latin typeface="Segoe UI"/>
                <a:ea typeface="Microsoft YaHei"/>
              </a:rPr>
              <a:t>Private Endpoint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4114800" y="5440680"/>
            <a:ext cx="181051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C2626"/>
                </a:solidFill>
                <a:latin typeface="Segoe UI"/>
                <a:ea typeface="Microsoft YaHei"/>
              </a:rPr>
              <a:t>公网访问：已禁用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6016752" y="4736592"/>
            <a:ext cx="181051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ounded Rectangle 163"/>
          <p:cNvSpPr/>
          <p:nvPr/>
        </p:nvSpPr>
        <p:spPr>
          <a:xfrm>
            <a:off x="6035040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6126480" y="4791456"/>
            <a:ext cx="164592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Azure Key Vault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089904" y="4956048"/>
            <a:ext cx="168249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0078D4"/>
                </a:solidFill>
                <a:latin typeface="Segoe UI"/>
                <a:ea typeface="Microsoft YaHei"/>
              </a:rPr>
              <a:t>密钥与凭据托管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089904" y="5093208"/>
            <a:ext cx="1682496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CMK · 源库连接串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6327648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EFF6FF"/>
          </a:solidFill>
          <a:ln w="1143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6355080" y="5239512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1E40AF"/>
                </a:solidFill>
                <a:latin typeface="Segoe UI"/>
                <a:ea typeface="Microsoft YaHei"/>
              </a:rPr>
              <a:t>Private Endpoint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016752" y="5440680"/>
            <a:ext cx="181051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C2626"/>
                </a:solidFill>
                <a:latin typeface="Segoe UI"/>
                <a:ea typeface="Microsoft YaHei"/>
              </a:rPr>
              <a:t>公网访问：已禁用</a:t>
            </a:r>
          </a:p>
        </p:txBody>
      </p:sp>
      <p:sp>
        <p:nvSpPr>
          <p:cNvPr id="171" name="Rounded Rectangle 170"/>
          <p:cNvSpPr/>
          <p:nvPr/>
        </p:nvSpPr>
        <p:spPr>
          <a:xfrm>
            <a:off x="7918704" y="4736592"/>
            <a:ext cx="181051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ounded Rectangle 171"/>
          <p:cNvSpPr/>
          <p:nvPr/>
        </p:nvSpPr>
        <p:spPr>
          <a:xfrm>
            <a:off x="7936992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8028431" y="4791456"/>
            <a:ext cx="164592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Azure SQL Database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991856" y="4956048"/>
            <a:ext cx="168249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0078D4"/>
                </a:solidFill>
                <a:latin typeface="Segoe UI"/>
                <a:ea typeface="Microsoft YaHei"/>
              </a:rPr>
              <a:t>元数据库 Standard S2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91856" y="5093208"/>
            <a:ext cx="1682496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主备自动故障转移 · PITR</a:t>
            </a:r>
          </a:p>
        </p:txBody>
      </p:sp>
      <p:sp>
        <p:nvSpPr>
          <p:cNvPr id="176" name="Rounded Rectangle 175"/>
          <p:cNvSpPr/>
          <p:nvPr/>
        </p:nvSpPr>
        <p:spPr>
          <a:xfrm>
            <a:off x="8229600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EFF6FF"/>
          </a:solidFill>
          <a:ln w="1143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8257031" y="5239512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1E40AF"/>
                </a:solidFill>
                <a:latin typeface="Segoe UI"/>
                <a:ea typeface="Microsoft YaHei"/>
              </a:rPr>
              <a:t>Private Endpoint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7918704" y="5440680"/>
            <a:ext cx="181051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C2626"/>
                </a:solidFill>
                <a:latin typeface="Segoe UI"/>
                <a:ea typeface="Microsoft YaHei"/>
              </a:rPr>
              <a:t>公网访问：已禁用</a:t>
            </a:r>
          </a:p>
        </p:txBody>
      </p:sp>
      <p:sp>
        <p:nvSpPr>
          <p:cNvPr id="179" name="Rounded Rectangle 178"/>
          <p:cNvSpPr/>
          <p:nvPr/>
        </p:nvSpPr>
        <p:spPr>
          <a:xfrm>
            <a:off x="9820656" y="4736592"/>
            <a:ext cx="1883664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ounded Rectangle 179"/>
          <p:cNvSpPr/>
          <p:nvPr/>
        </p:nvSpPr>
        <p:spPr>
          <a:xfrm>
            <a:off x="9838944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9875520" y="4782312"/>
            <a:ext cx="1792224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两个独立存储账户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9875520" y="4928616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078D4"/>
                </a:solidFill>
                <a:latin typeface="Segoe UI"/>
                <a:ea typeface="Microsoft YaHei"/>
              </a:rPr>
              <a:t>① ADLS Gen2（HNS）· Iceberg 湖表 · ZRS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D97706"/>
                </a:solidFill>
                <a:latin typeface="Segoe UI"/>
                <a:ea typeface="Microsoft YaHei"/>
              </a:rPr>
              <a:t>② Blob（FNS）· 附件 · Cool→Cold · 可 WORM</a:t>
            </a:r>
          </a:p>
        </p:txBody>
      </p:sp>
      <p:sp>
        <p:nvSpPr>
          <p:cNvPr id="183" name="Rounded Rectangle 182"/>
          <p:cNvSpPr/>
          <p:nvPr/>
        </p:nvSpPr>
        <p:spPr>
          <a:xfrm>
            <a:off x="10168128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EFF6FF"/>
          </a:solidFill>
          <a:ln w="1143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10195559" y="5239512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1E40AF"/>
                </a:solidFill>
                <a:latin typeface="Segoe UI"/>
                <a:ea typeface="Microsoft YaHei"/>
              </a:rPr>
              <a:t>Private Endpoint ×2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820656" y="5440680"/>
            <a:ext cx="1883664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C2626"/>
                </a:solidFill>
                <a:latin typeface="Segoe UI"/>
                <a:ea typeface="Microsoft YaHei"/>
              </a:rPr>
              <a:t>公网访问：已禁用</a:t>
            </a:r>
          </a:p>
        </p:txBody>
      </p:sp>
      <p:cxnSp>
        <p:nvCxnSpPr>
          <p:cNvPr id="186" name="Connector 185"/>
          <p:cNvCxnSpPr/>
          <p:nvPr/>
        </p:nvCxnSpPr>
        <p:spPr>
          <a:xfrm>
            <a:off x="6922008" y="4187952"/>
            <a:ext cx="0" cy="530352"/>
          </a:xfrm>
          <a:prstGeom prst="line">
            <a:avLst/>
          </a:prstGeom>
          <a:ln w="15240">
            <a:solidFill>
              <a:srgbClr val="0078D4"/>
            </a:solidFill>
            <a:prstDash val="dash"/>
            <a:tailEnd type="triangle" w="med" len="med"/>
          </a:ln>
          <a:effectLst/>
        </p:spPr>
      </p:cxnSp>
      <p:cxnSp>
        <p:nvCxnSpPr>
          <p:cNvPr id="187" name="Connector 186"/>
          <p:cNvCxnSpPr/>
          <p:nvPr/>
        </p:nvCxnSpPr>
        <p:spPr>
          <a:xfrm>
            <a:off x="8823960" y="4187952"/>
            <a:ext cx="0" cy="530352"/>
          </a:xfrm>
          <a:prstGeom prst="line">
            <a:avLst/>
          </a:prstGeom>
          <a:ln w="15240">
            <a:solidFill>
              <a:srgbClr val="0078D4"/>
            </a:solidFill>
            <a:prstDash val="dash"/>
            <a:tailEnd type="triangle" w="med" len="med"/>
          </a:ln>
          <a:effectLst/>
        </p:spPr>
      </p:cxnSp>
      <p:cxnSp>
        <p:nvCxnSpPr>
          <p:cNvPr id="188" name="Connector 187"/>
          <p:cNvCxnSpPr/>
          <p:nvPr/>
        </p:nvCxnSpPr>
        <p:spPr>
          <a:xfrm>
            <a:off x="9235440" y="4187952"/>
            <a:ext cx="0" cy="292608"/>
          </a:xfrm>
          <a:prstGeom prst="line">
            <a:avLst/>
          </a:prstGeom>
          <a:ln w="15240">
            <a:solidFill>
              <a:srgbClr val="0078D4"/>
            </a:solidFill>
            <a:prstDash val="dash"/>
          </a:ln>
          <a:effectLst/>
        </p:spPr>
      </p:cxnSp>
      <p:cxnSp>
        <p:nvCxnSpPr>
          <p:cNvPr id="189" name="Connector 188"/>
          <p:cNvCxnSpPr/>
          <p:nvPr/>
        </p:nvCxnSpPr>
        <p:spPr>
          <a:xfrm>
            <a:off x="9235440" y="4480560"/>
            <a:ext cx="1325880" cy="0"/>
          </a:xfrm>
          <a:prstGeom prst="line">
            <a:avLst/>
          </a:prstGeom>
          <a:ln w="15240">
            <a:solidFill>
              <a:srgbClr val="0078D4"/>
            </a:solidFill>
            <a:prstDash val="dash"/>
          </a:ln>
          <a:effectLst/>
        </p:spPr>
      </p:cxnSp>
      <p:cxnSp>
        <p:nvCxnSpPr>
          <p:cNvPr id="190" name="Connector 189"/>
          <p:cNvCxnSpPr/>
          <p:nvPr/>
        </p:nvCxnSpPr>
        <p:spPr>
          <a:xfrm>
            <a:off x="10561320" y="4480560"/>
            <a:ext cx="0" cy="237744"/>
          </a:xfrm>
          <a:prstGeom prst="line">
            <a:avLst/>
          </a:prstGeom>
          <a:ln w="15240">
            <a:solidFill>
              <a:srgbClr val="0078D4"/>
            </a:solidFill>
            <a:prstDash val="dash"/>
            <a:tailEnd type="triangle" w="med" len="med"/>
          </a:ln>
          <a:effectLst/>
        </p:spPr>
      </p:cxnSp>
      <p:sp>
        <p:nvSpPr>
          <p:cNvPr id="191" name="TextBox 190"/>
          <p:cNvSpPr txBox="1"/>
          <p:nvPr/>
        </p:nvSpPr>
        <p:spPr>
          <a:xfrm>
            <a:off x="7333488" y="4462272"/>
            <a:ext cx="137160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0078D4"/>
                </a:solidFill>
                <a:latin typeface="Segoe UI"/>
                <a:ea typeface="Microsoft YaHei"/>
              </a:rPr>
              <a:t>Private Link 私网流量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333488" y="4581144"/>
            <a:ext cx="137160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与上方端点一一对应</a:t>
            </a:r>
          </a:p>
        </p:txBody>
      </p:sp>
      <p:cxnSp>
        <p:nvCxnSpPr>
          <p:cNvPr id="193" name="Connector 192"/>
          <p:cNvCxnSpPr/>
          <p:nvPr/>
        </p:nvCxnSpPr>
        <p:spPr>
          <a:xfrm>
            <a:off x="11338560" y="4297680"/>
            <a:ext cx="0" cy="420624"/>
          </a:xfrm>
          <a:prstGeom prst="line">
            <a:avLst/>
          </a:prstGeom>
          <a:ln w="2540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194" name="TextBox 193"/>
          <p:cNvSpPr txBox="1"/>
          <p:nvPr/>
        </p:nvSpPr>
        <p:spPr>
          <a:xfrm>
            <a:off x="11411712" y="4389120"/>
            <a:ext cx="65836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59669"/>
                </a:solidFill>
                <a:latin typeface="Segoe UI"/>
                <a:ea typeface="Microsoft YaHei"/>
              </a:rPr>
              <a:t>★ NCC 托管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59669"/>
                </a:solidFill>
                <a:latin typeface="Segoe UI"/>
                <a:ea typeface="Microsoft YaHei"/>
              </a:rPr>
              <a:t>私有端点通道</a:t>
            </a:r>
          </a:p>
        </p:txBody>
      </p:sp>
      <p:sp>
        <p:nvSpPr>
          <p:cNvPr id="195" name="Rounded Rectangle 194"/>
          <p:cNvSpPr/>
          <p:nvPr/>
        </p:nvSpPr>
        <p:spPr>
          <a:xfrm>
            <a:off x="201168" y="5852160"/>
            <a:ext cx="8686800" cy="859536"/>
          </a:xfrm>
          <a:prstGeom prst="roundRect">
            <a:avLst>
              <a:gd name="adj" fmla="val 6382"/>
            </a:avLst>
          </a:prstGeom>
          <a:solidFill>
            <a:srgbClr val="FFFFFF"/>
          </a:solidFill>
          <a:ln w="1397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TextBox 195"/>
          <p:cNvSpPr txBox="1"/>
          <p:nvPr/>
        </p:nvSpPr>
        <p:spPr>
          <a:xfrm>
            <a:off x="329184" y="5907024"/>
            <a:ext cx="274320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F172A"/>
                </a:solidFill>
                <a:latin typeface="Segoe UI"/>
                <a:ea typeface="Microsoft YaHei"/>
              </a:rPr>
              <a:t>关键设计要点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329184" y="6080760"/>
            <a:ext cx="41605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Microsoft YaHei"/>
              </a:rPr>
              <a:t>① </a:t>
            </a: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除 Entra ID（全局认证）外，PaaS 全部私有端点接入，流量不出骨干网；入口 WAF + AppGW 收敛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329184" y="6222492"/>
            <a:ext cx="41605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Microsoft YaHei"/>
              </a:rPr>
              <a:t>② </a:t>
            </a: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Serverless 不支持 VNet 对等 / VPN —— 私有访问 ADLS 唯一方式：NCC + 托管私有端点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329184" y="6364224"/>
            <a:ext cx="41605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Microsoft YaHei"/>
              </a:rPr>
              <a:t>③ </a:t>
            </a: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源库抽取走 NAT 固定出口 IP 白名单；跨机房走 ExpressRoute / 站点到站点 VPN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4626864" y="6080760"/>
            <a:ext cx="41605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Microsoft YaHei"/>
              </a:rPr>
              <a:t>④ </a:t>
            </a: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元数据与销毁策略存 SQL DB S2 · 审计进 App Insights · 密钥由 Key Vault 托管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4626864" y="6222492"/>
            <a:ext cx="41605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Microsoft YaHei"/>
              </a:rPr>
              <a:t>⑤ </a:t>
            </a: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相比方案 B：省去 Trino 集群与双子网注入，查询层完全托管、零集群运维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4626864" y="6364224"/>
            <a:ext cx="41605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Microsoft YaHei"/>
              </a:rPr>
              <a:t>⑥ </a:t>
            </a: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需 Databricks Premium 层（PE / NCC 均为 Premium 特性）；NCC 需 Account Admin</a:t>
            </a:r>
          </a:p>
        </p:txBody>
      </p:sp>
      <p:sp>
        <p:nvSpPr>
          <p:cNvPr id="203" name="Rounded Rectangle 202"/>
          <p:cNvSpPr/>
          <p:nvPr/>
        </p:nvSpPr>
        <p:spPr>
          <a:xfrm>
            <a:off x="8997696" y="5852160"/>
            <a:ext cx="2999232" cy="859536"/>
          </a:xfrm>
          <a:prstGeom prst="roundRect">
            <a:avLst>
              <a:gd name="adj" fmla="val 6382"/>
            </a:avLst>
          </a:prstGeom>
          <a:solidFill>
            <a:srgbClr val="FFF1F2"/>
          </a:solidFill>
          <a:ln w="12700">
            <a:solidFill>
              <a:srgbClr val="F8717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TextBox 203"/>
          <p:cNvSpPr txBox="1"/>
          <p:nvPr/>
        </p:nvSpPr>
        <p:spPr>
          <a:xfrm>
            <a:off x="9125712" y="5907024"/>
            <a:ext cx="274320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B91C1C"/>
                </a:solidFill>
                <a:latin typeface="Segoe UI"/>
                <a:ea typeface="Microsoft YaHei"/>
              </a:rPr>
              <a:t>高可用 &amp; 容灾（HA / DR）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9125712" y="6080760"/>
            <a:ext cx="276148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E11D48"/>
                </a:solidFill>
                <a:latin typeface="Segoe UI"/>
                <a:ea typeface="Microsoft YaHei"/>
              </a:rPr>
              <a:t>· </a:t>
            </a: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AKS 跨 AZ · SQL 主备自动转移 · 存储 ZRS 冗余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125712" y="6222492"/>
            <a:ext cx="276148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E11D48"/>
                </a:solidFill>
                <a:latin typeface="Segoe UI"/>
                <a:ea typeface="Microsoft YaHei"/>
              </a:rPr>
              <a:t>· </a:t>
            </a: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平台托管无单点 · Serverless 空闲归零自动重建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9125712" y="6364224"/>
            <a:ext cx="276148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E11D48"/>
                </a:solidFill>
                <a:latin typeface="Segoe UI"/>
                <a:ea typeface="Microsoft YaHei"/>
              </a:rPr>
              <a:t>· </a:t>
            </a: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SQL 自动备份 + PITR · ADLS 生命周期分层 / GRS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9125712" y="6505956"/>
            <a:ext cx="276148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E11D48"/>
                </a:solidFill>
                <a:latin typeface="Segoe UI"/>
                <a:ea typeface="Microsoft YaHei"/>
              </a:rPr>
              <a:t>· </a:t>
            </a: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RPO ≤ 15 min · RTO ≤ 2 h · 审计独立备份不销毁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1168" y="155448"/>
            <a:ext cx="50292" cy="365760"/>
          </a:xfrm>
          <a:prstGeom prst="roundRect">
            <a:avLst>
              <a:gd name="adj" fmla="val 4909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18872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0F172A"/>
                </a:solidFill>
                <a:latin typeface="Segoe UI"/>
                <a:ea typeface="Microsoft YaHei"/>
              </a:rPr>
              <a:t>应用架构图 · 方案 B2（湖仓一体 · Databricks SQL Serverless 读）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01168" y="566928"/>
            <a:ext cx="11795760" cy="749808"/>
          </a:xfrm>
          <a:prstGeom prst="roundRect">
            <a:avLst>
              <a:gd name="adj" fmla="val 9756"/>
            </a:avLst>
          </a:prstGeom>
          <a:solidFill>
            <a:srgbClr val="ECFDF5"/>
          </a:solidFill>
          <a:ln w="15240">
            <a:solidFill>
              <a:srgbClr val="86E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47472" y="630936"/>
            <a:ext cx="182880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47857"/>
                </a:solidFill>
                <a:latin typeface="Segoe UI"/>
                <a:ea typeface="Microsoft YaHei"/>
              </a:rPr>
              <a:t>01 访问入口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41248"/>
            <a:ext cx="1828800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BBF7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6072" y="841248"/>
            <a:ext cx="177393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Microsoft YaHei"/>
              </a:rPr>
              <a:t>业务查询员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查本系统归档数据</a:t>
            </a:r>
          </a:p>
        </p:txBody>
      </p:sp>
      <p:sp>
        <p:nvSpPr>
          <p:cNvPr id="8" name="Oval 7"/>
          <p:cNvSpPr/>
          <p:nvPr/>
        </p:nvSpPr>
        <p:spPr>
          <a:xfrm>
            <a:off x="721141" y="959434"/>
            <a:ext cx="57332" cy="57332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99858" y="1026322"/>
            <a:ext cx="99898" cy="65150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523744" y="841248"/>
            <a:ext cx="1828800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BBF7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51176" y="841248"/>
            <a:ext cx="177393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Microsoft YaHei"/>
              </a:rPr>
              <a:t>审计 / 合规岗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跨系统检索与举证</a:t>
            </a:r>
          </a:p>
        </p:txBody>
      </p:sp>
      <p:sp>
        <p:nvSpPr>
          <p:cNvPr id="12" name="Oval 11"/>
          <p:cNvSpPr/>
          <p:nvPr/>
        </p:nvSpPr>
        <p:spPr>
          <a:xfrm>
            <a:off x="2696245" y="959434"/>
            <a:ext cx="57332" cy="57332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674962" y="1026322"/>
            <a:ext cx="99898" cy="65150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498848" y="841248"/>
            <a:ext cx="1828800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BBF7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26280" y="841248"/>
            <a:ext cx="177393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Microsoft YaHei"/>
              </a:rPr>
              <a:t>平台运维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监控作业与销毁</a:t>
            </a:r>
          </a:p>
        </p:txBody>
      </p:sp>
      <p:sp>
        <p:nvSpPr>
          <p:cNvPr id="16" name="Oval 15"/>
          <p:cNvSpPr/>
          <p:nvPr/>
        </p:nvSpPr>
        <p:spPr>
          <a:xfrm>
            <a:off x="4671349" y="959434"/>
            <a:ext cx="57332" cy="57332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650066" y="1026322"/>
            <a:ext cx="99898" cy="65150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646920" y="822960"/>
            <a:ext cx="2212848" cy="420624"/>
          </a:xfrm>
          <a:prstGeom prst="roundRect">
            <a:avLst>
              <a:gd name="adj" fmla="val 10869"/>
            </a:avLst>
          </a:prstGeom>
          <a:solidFill>
            <a:srgbClr val="EFF6FF"/>
          </a:solidFill>
          <a:ln w="15240">
            <a:solidFill>
              <a:srgbClr val="93C5FD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74352" y="822960"/>
            <a:ext cx="2157984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D4ED8"/>
                </a:solidFill>
                <a:latin typeface="Segoe UI"/>
                <a:ea typeface="Microsoft YaHei"/>
              </a:rPr>
              <a:t>Microsoft Entra ID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1E40AF"/>
                </a:solidFill>
                <a:latin typeface="Segoe UI"/>
                <a:ea typeface="Microsoft YaHei"/>
              </a:rPr>
              <a:t>SSO / OIDC / 托管标识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20" y="932688"/>
            <a:ext cx="192024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64748B"/>
                </a:solidFill>
                <a:latin typeface="Segoe UI"/>
                <a:ea typeface="Microsoft YaHei"/>
              </a:rPr>
              <a:t>统一身份 · 单点登录 →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977639" y="1316736"/>
            <a:ext cx="0" cy="109728"/>
          </a:xfrm>
          <a:prstGeom prst="line">
            <a:avLst/>
          </a:prstGeom>
          <a:ln w="25400">
            <a:solidFill>
              <a:srgbClr val="0891B2"/>
            </a:solidFill>
            <a:tailEnd type="triangle" w="med" len="med"/>
          </a:ln>
          <a:effectLst/>
        </p:spPr>
      </p:cxnSp>
      <p:sp>
        <p:nvSpPr>
          <p:cNvPr id="22" name="TextBox 21"/>
          <p:cNvSpPr txBox="1"/>
          <p:nvPr/>
        </p:nvSpPr>
        <p:spPr>
          <a:xfrm>
            <a:off x="4087368" y="1321308"/>
            <a:ext cx="1097280" cy="100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80" b="1" i="0">
                <a:solidFill>
                  <a:srgbClr val="0891B2"/>
                </a:solidFill>
                <a:latin typeface="Segoe UI"/>
                <a:ea typeface="Microsoft YaHei"/>
              </a:rPr>
              <a:t>HTTPS 443 · SSO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01168" y="1426464"/>
            <a:ext cx="11795760" cy="950976"/>
          </a:xfrm>
          <a:prstGeom prst="roundRect">
            <a:avLst>
              <a:gd name="adj" fmla="val 7692"/>
            </a:avLst>
          </a:prstGeom>
          <a:solidFill>
            <a:srgbClr val="ECFEFF"/>
          </a:solidFill>
          <a:ln w="15240">
            <a:solidFill>
              <a:srgbClr val="67E8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47472" y="1490472"/>
            <a:ext cx="274320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E7490"/>
                </a:solidFill>
                <a:latin typeface="Segoe UI"/>
                <a:ea typeface="Microsoft YaHei"/>
              </a:rPr>
              <a:t>02 自研应用层（AKS）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1700784"/>
            <a:ext cx="24688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7780">
            <a:solidFill>
              <a:srgbClr val="0891B2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6072" y="1700784"/>
            <a:ext cx="2414016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0F172A"/>
                </a:solidFill>
                <a:latin typeface="Segoe UI"/>
                <a:ea typeface="Microsoft YaHei"/>
              </a:rPr>
              <a:t>React 配置化查询平台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JSON Schema 渲染查询表单 · 表格 / 明细 / 附件预览 / 导出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200400" y="1700784"/>
            <a:ext cx="4846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7780">
            <a:solidFill>
              <a:srgbClr val="0891B2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255264" y="1700784"/>
            <a:ext cx="4736592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0F172A"/>
                </a:solidFill>
                <a:latin typeface="Segoe UI"/>
                <a:ea typeface="Microsoft YaHei"/>
              </a:rPr>
              <a:t>.NET 10 后端服务组</a:t>
            </a:r>
          </a:p>
          <a:p>
            <a:pPr algn="ctr">
              <a:lnSpc>
                <a:spcPct val="112000"/>
              </a:lnSpc>
              <a:spcBef>
                <a:spcPts val="200"/>
              </a:spcBef>
              <a:spcAft>
                <a:spcPts val="0"/>
              </a:spcAft>
            </a:pPr>
            <a:r>
              <a:rPr sz="660" b="0" i="0">
                <a:solidFill>
                  <a:srgbClr val="64748B"/>
                </a:solidFill>
                <a:latin typeface="Segoe UI"/>
                <a:ea typeface="Microsoft YaHei"/>
              </a:rPr>
              <a:t>元数据 · 查询代理 · 权限校验 · 附件代理 · 审计上报 · 销毁调度</a:t>
            </a:r>
          </a:p>
          <a:p>
            <a:pPr algn="ctr">
              <a:lnSpc>
                <a:spcPct val="112000"/>
              </a:lnSpc>
              <a:spcBef>
                <a:spcPts val="100"/>
              </a:spcBef>
              <a:spcAft>
                <a:spcPts val="0"/>
              </a:spcAft>
            </a:pPr>
            <a:r>
              <a:rPr sz="660" b="0" i="0">
                <a:solidFill>
                  <a:srgbClr val="94A3B8"/>
                </a:solidFill>
                <a:latin typeface="Segoe UI"/>
                <a:ea typeface="Microsoft YaHei"/>
              </a:rPr>
              <a:t>后端二次鉴权 · 参数化 SQL · 私有端点访问下游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035808" y="1984248"/>
            <a:ext cx="146304" cy="0"/>
          </a:xfrm>
          <a:prstGeom prst="line">
            <a:avLst/>
          </a:prstGeom>
          <a:ln w="22860">
            <a:solidFill>
              <a:srgbClr val="0891B2"/>
            </a:solidFill>
            <a:tailEnd type="triangle" w="med" len="med"/>
          </a:ln>
          <a:effectLst/>
        </p:spPr>
      </p:cxnSp>
      <p:sp>
        <p:nvSpPr>
          <p:cNvPr id="30" name="Rounded Rectangle 29"/>
          <p:cNvSpPr/>
          <p:nvPr/>
        </p:nvSpPr>
        <p:spPr>
          <a:xfrm>
            <a:off x="9646920" y="1700784"/>
            <a:ext cx="221284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7780">
            <a:solidFill>
              <a:srgbClr val="0891B2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674352" y="1700784"/>
            <a:ext cx="2157984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0F172A"/>
                </a:solidFill>
                <a:latin typeface="Segoe UI"/>
                <a:ea typeface="Microsoft YaHei"/>
              </a:rPr>
              <a:t>Azure SQL 元数据库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系统台账 / 表清单 / 保留期 / 销毁策略 / 审计索引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046720" y="1984248"/>
            <a:ext cx="1581912" cy="0"/>
          </a:xfrm>
          <a:prstGeom prst="line">
            <a:avLst/>
          </a:prstGeom>
          <a:ln w="22860">
            <a:solidFill>
              <a:srgbClr val="0891B2"/>
            </a:solidFill>
            <a:tailEnd type="triangle" w="med" len="med"/>
          </a:ln>
          <a:effectLst/>
        </p:spPr>
      </p:cxnSp>
      <p:sp>
        <p:nvSpPr>
          <p:cNvPr id="33" name="TextBox 32"/>
          <p:cNvSpPr txBox="1"/>
          <p:nvPr/>
        </p:nvSpPr>
        <p:spPr>
          <a:xfrm>
            <a:off x="8138160" y="1828800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891B2"/>
                </a:solidFill>
                <a:latin typeface="Segoe UI"/>
                <a:ea typeface="Microsoft YaHei"/>
              </a:rPr>
              <a:t>读写配置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01168" y="2505456"/>
            <a:ext cx="11795760" cy="2212848"/>
          </a:xfrm>
          <a:prstGeom prst="roundRect">
            <a:avLst>
              <a:gd name="adj" fmla="val 3305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47472" y="2569464"/>
            <a:ext cx="310896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334155"/>
                </a:solidFill>
                <a:latin typeface="Segoe UI"/>
                <a:ea typeface="Microsoft YaHei"/>
              </a:rPr>
              <a:t>03 核心链路（写入 / 查询 / 附件）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65760" y="2761488"/>
            <a:ext cx="3675887" cy="1773936"/>
          </a:xfrm>
          <a:prstGeom prst="roundRect">
            <a:avLst>
              <a:gd name="adj" fmla="val 4123"/>
            </a:avLst>
          </a:prstGeom>
          <a:solidFill>
            <a:srgbClr val="F0FDF4"/>
          </a:solidFill>
          <a:ln w="15240">
            <a:solidFill>
              <a:srgbClr val="86E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12064" y="2834640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 spc="140">
                <a:solidFill>
                  <a:srgbClr val="047857"/>
                </a:solidFill>
                <a:latin typeface="Segoe UI"/>
                <a:ea typeface="Microsoft YaHei"/>
              </a:rPr>
              <a:t>WRITE PATH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2064" y="2980944"/>
            <a:ext cx="338328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归档写入 / 到期销毁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93776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FDBA7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21208" y="3255264"/>
            <a:ext cx="1517904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Azure Data Factory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编排调度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359152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FDBA7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386584" y="3255264"/>
            <a:ext cx="1517904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SeaTunnel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结构化抽取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2103120" y="3506724"/>
            <a:ext cx="219456" cy="0"/>
          </a:xfrm>
          <a:prstGeom prst="line">
            <a:avLst/>
          </a:prstGeom>
          <a:ln w="25400">
            <a:solidFill>
              <a:srgbClr val="D97706"/>
            </a:solidFill>
            <a:tailEnd type="triangle" w="med" len="med"/>
          </a:ln>
          <a:effectLst/>
        </p:spPr>
      </p:cxnSp>
      <p:sp>
        <p:nvSpPr>
          <p:cNvPr id="44" name="Rounded Rectangle 43"/>
          <p:cNvSpPr/>
          <p:nvPr/>
        </p:nvSpPr>
        <p:spPr>
          <a:xfrm>
            <a:off x="512064" y="3913632"/>
            <a:ext cx="3383280" cy="475488"/>
          </a:xfrm>
          <a:prstGeom prst="roundRect">
            <a:avLst>
              <a:gd name="adj" fmla="val 11538"/>
            </a:avLst>
          </a:prstGeom>
          <a:solidFill>
            <a:srgbClr val="DCFCE7"/>
          </a:solidFill>
          <a:ln w="13970">
            <a:solidFill>
              <a:srgbClr val="86E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66928" y="3913632"/>
            <a:ext cx="327355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47857"/>
                </a:solidFill>
                <a:latin typeface="Segoe UI"/>
                <a:ea typeface="Microsoft YaHei"/>
              </a:rPr>
              <a:t>Databricks Serverless：ETL · Compaction · DROP PARTITION + VACUUM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224528" y="2761488"/>
            <a:ext cx="3675887" cy="1773936"/>
          </a:xfrm>
          <a:prstGeom prst="roundRect">
            <a:avLst>
              <a:gd name="adj" fmla="val 4123"/>
            </a:avLst>
          </a:prstGeom>
          <a:solidFill>
            <a:srgbClr val="F5F3FF"/>
          </a:solidFill>
          <a:ln w="15240">
            <a:solidFill>
              <a:srgbClr val="C4B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370832" y="2834640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 spc="140">
                <a:solidFill>
                  <a:srgbClr val="6D28D9"/>
                </a:solidFill>
                <a:latin typeface="Segoe UI"/>
                <a:ea typeface="Microsoft YaHei"/>
              </a:rPr>
              <a:t>READ PATH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370832" y="2980944"/>
            <a:ext cx="338328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在线查询 / 跨系统检索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352544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C4B5FD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379976" y="3255264"/>
            <a:ext cx="1517904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查询代理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限流 / 超时 / 审计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217920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A78BFA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245352" y="3255264"/>
            <a:ext cx="1517904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Databricks SQL Serverless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读侧查询 · 空闲缩 0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5961888" y="3506724"/>
            <a:ext cx="219456" cy="0"/>
          </a:xfrm>
          <a:prstGeom prst="line">
            <a:avLst/>
          </a:prstGeom>
          <a:ln w="2540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54" name="Rounded Rectangle 53"/>
          <p:cNvSpPr/>
          <p:nvPr/>
        </p:nvSpPr>
        <p:spPr>
          <a:xfrm>
            <a:off x="4370832" y="3913632"/>
            <a:ext cx="3383280" cy="475488"/>
          </a:xfrm>
          <a:prstGeom prst="roundRect">
            <a:avLst>
              <a:gd name="adj" fmla="val 11538"/>
            </a:avLst>
          </a:prstGeom>
          <a:solidFill>
            <a:srgbClr val="EDE9FE"/>
          </a:solidFill>
          <a:ln w="13970">
            <a:solidFill>
              <a:srgbClr val="C4B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425696" y="3913632"/>
            <a:ext cx="327355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6D28D9"/>
                </a:solidFill>
                <a:latin typeface="Segoe UI"/>
                <a:ea typeface="Microsoft YaHei"/>
              </a:rPr>
              <a:t>Unity Catalog 表级授权 · SERVE 层首屏 2–5 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083296" y="2761488"/>
            <a:ext cx="3675887" cy="1773936"/>
          </a:xfrm>
          <a:prstGeom prst="roundRect">
            <a:avLst>
              <a:gd name="adj" fmla="val 4123"/>
            </a:avLst>
          </a:prstGeom>
          <a:solidFill>
            <a:srgbClr val="FFFBEB"/>
          </a:solidFill>
          <a:ln w="1524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229600" y="2834640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 spc="140">
                <a:solidFill>
                  <a:srgbClr val="B45309"/>
                </a:solidFill>
                <a:latin typeface="Segoe UI"/>
                <a:ea typeface="Microsoft YaHei"/>
              </a:rPr>
              <a:t>ATTACHMENT PATH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29600" y="2980944"/>
            <a:ext cx="338328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非结构化附件 / 预览下载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211312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FCD34D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238744" y="3255264"/>
            <a:ext cx="1517904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Storage Mover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迁移附件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0076688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FCD34D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104120" y="3255264"/>
            <a:ext cx="1517904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附件代理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鉴权 / 流式回吐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9820656" y="3506724"/>
            <a:ext cx="219456" cy="0"/>
          </a:xfrm>
          <a:prstGeom prst="line">
            <a:avLst/>
          </a:prstGeom>
          <a:ln w="25400">
            <a:solidFill>
              <a:srgbClr val="D97706"/>
            </a:solidFill>
            <a:tailEnd type="triangle" w="med" len="med"/>
          </a:ln>
          <a:effectLst/>
        </p:spPr>
      </p:cxnSp>
      <p:sp>
        <p:nvSpPr>
          <p:cNvPr id="64" name="Rounded Rectangle 63"/>
          <p:cNvSpPr/>
          <p:nvPr/>
        </p:nvSpPr>
        <p:spPr>
          <a:xfrm>
            <a:off x="8229600" y="3913632"/>
            <a:ext cx="3383280" cy="475488"/>
          </a:xfrm>
          <a:prstGeom prst="roundRect">
            <a:avLst>
              <a:gd name="adj" fmla="val 11538"/>
            </a:avLst>
          </a:prstGeom>
          <a:solidFill>
            <a:srgbClr val="FEF3C7"/>
          </a:solidFill>
          <a:ln w="1397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284464" y="3913632"/>
            <a:ext cx="327355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92400E"/>
                </a:solidFill>
                <a:latin typeface="Segoe UI"/>
                <a:ea typeface="Microsoft YaHei"/>
              </a:rPr>
              <a:t>SHA-256 台账 · 附件索引表 · 后端审计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3840480" y="2267712"/>
            <a:ext cx="0" cy="384048"/>
          </a:xfrm>
          <a:prstGeom prst="line">
            <a:avLst/>
          </a:prstGeom>
          <a:ln w="27940">
            <a:solidFill>
              <a:srgbClr val="059669"/>
            </a:solidFill>
          </a:ln>
          <a:effectLst/>
        </p:spPr>
      </p:cxnSp>
      <p:cxnSp>
        <p:nvCxnSpPr>
          <p:cNvPr id="67" name="Connector 66"/>
          <p:cNvCxnSpPr/>
          <p:nvPr/>
        </p:nvCxnSpPr>
        <p:spPr>
          <a:xfrm flipH="1">
            <a:off x="2203704" y="2651760"/>
            <a:ext cx="1636776" cy="0"/>
          </a:xfrm>
          <a:prstGeom prst="line">
            <a:avLst/>
          </a:prstGeom>
          <a:ln w="27940">
            <a:solidFill>
              <a:srgbClr val="059669"/>
            </a:solidFill>
          </a:ln>
          <a:effectLst/>
        </p:spPr>
      </p:cxnSp>
      <p:cxnSp>
        <p:nvCxnSpPr>
          <p:cNvPr id="68" name="Connector 67"/>
          <p:cNvCxnSpPr/>
          <p:nvPr/>
        </p:nvCxnSpPr>
        <p:spPr>
          <a:xfrm>
            <a:off x="2203704" y="2651760"/>
            <a:ext cx="0" cy="91440"/>
          </a:xfrm>
          <a:prstGeom prst="line">
            <a:avLst/>
          </a:prstGeom>
          <a:ln w="2794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69" name="TextBox 68"/>
          <p:cNvSpPr txBox="1"/>
          <p:nvPr/>
        </p:nvSpPr>
        <p:spPr>
          <a:xfrm>
            <a:off x="2395728" y="2496312"/>
            <a:ext cx="17373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59669"/>
                </a:solidFill>
                <a:latin typeface="Segoe UI"/>
                <a:ea typeface="Microsoft YaHei"/>
              </a:rPr>
              <a:t>接入配置 / 销毁调度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6062472" y="2267712"/>
            <a:ext cx="0" cy="475488"/>
          </a:xfrm>
          <a:prstGeom prst="line">
            <a:avLst/>
          </a:prstGeom>
          <a:ln w="2794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71" name="TextBox 70"/>
          <p:cNvSpPr txBox="1"/>
          <p:nvPr/>
        </p:nvSpPr>
        <p:spPr>
          <a:xfrm>
            <a:off x="6163056" y="2432304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7C3AED"/>
                </a:solidFill>
                <a:latin typeface="Segoe UI"/>
                <a:ea typeface="Microsoft YaHei"/>
              </a:rPr>
              <a:t>查询请求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7223760" y="2267712"/>
            <a:ext cx="0" cy="384048"/>
          </a:xfrm>
          <a:prstGeom prst="line">
            <a:avLst/>
          </a:prstGeom>
          <a:ln w="25400">
            <a:solidFill>
              <a:srgbClr val="D97706"/>
            </a:solidFill>
          </a:ln>
          <a:effectLst/>
        </p:spPr>
      </p:cxnSp>
      <p:cxnSp>
        <p:nvCxnSpPr>
          <p:cNvPr id="73" name="Connector 72"/>
          <p:cNvCxnSpPr/>
          <p:nvPr/>
        </p:nvCxnSpPr>
        <p:spPr>
          <a:xfrm>
            <a:off x="7223760" y="2651760"/>
            <a:ext cx="2697480" cy="0"/>
          </a:xfrm>
          <a:prstGeom prst="line">
            <a:avLst/>
          </a:prstGeom>
          <a:ln w="25400">
            <a:solidFill>
              <a:srgbClr val="D97706"/>
            </a:solidFill>
          </a:ln>
          <a:effectLst/>
        </p:spPr>
      </p:cxnSp>
      <p:cxnSp>
        <p:nvCxnSpPr>
          <p:cNvPr id="74" name="Connector 73"/>
          <p:cNvCxnSpPr/>
          <p:nvPr/>
        </p:nvCxnSpPr>
        <p:spPr>
          <a:xfrm>
            <a:off x="9921240" y="2651760"/>
            <a:ext cx="0" cy="91440"/>
          </a:xfrm>
          <a:prstGeom prst="line">
            <a:avLst/>
          </a:prstGeom>
          <a:ln w="25400">
            <a:solidFill>
              <a:srgbClr val="D97706"/>
            </a:solidFill>
            <a:tailEnd type="triangle" w="med" len="med"/>
          </a:ln>
          <a:effectLst/>
        </p:spPr>
      </p:cxnSp>
      <p:sp>
        <p:nvSpPr>
          <p:cNvPr id="75" name="TextBox 74"/>
          <p:cNvSpPr txBox="1"/>
          <p:nvPr/>
        </p:nvSpPr>
        <p:spPr>
          <a:xfrm>
            <a:off x="8138160" y="2496312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D97706"/>
                </a:solidFill>
                <a:latin typeface="Segoe UI"/>
                <a:ea typeface="Microsoft YaHei"/>
              </a:rPr>
              <a:t>附件预览 / 下载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201168" y="4828032"/>
            <a:ext cx="11795760" cy="749808"/>
          </a:xfrm>
          <a:prstGeom prst="roundRect">
            <a:avLst>
              <a:gd name="adj" fmla="val 9756"/>
            </a:avLst>
          </a:prstGeom>
          <a:solidFill>
            <a:srgbClr val="EFF6FF"/>
          </a:solidFill>
          <a:ln w="1524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47472" y="4892040"/>
            <a:ext cx="365760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1D4ED8"/>
                </a:solidFill>
                <a:latin typeface="Segoe UI"/>
                <a:ea typeface="Microsoft YaHei"/>
              </a:rPr>
              <a:t>04 数据底座与统一治理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548640" y="5084064"/>
            <a:ext cx="3474720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60A5FA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6072" y="5084064"/>
            <a:ext cx="3419856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Microsoft YaHei"/>
              </a:rPr>
              <a:t>ADLS Gen2 · Iceberg 湖表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RAW / CURATED / LAKE / SERVE · 1:1 原样归档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4206240" y="5084064"/>
            <a:ext cx="3291840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60A5FA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233672" y="5084064"/>
            <a:ext cx="3236976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Microsoft YaHei"/>
              </a:rPr>
              <a:t>Unity Catalog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表级权限 / 血缘 / 快照回溯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7680960" y="5084064"/>
            <a:ext cx="3886200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F59E0B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708392" y="5084064"/>
            <a:ext cx="3831336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Microsoft YaHei"/>
              </a:rPr>
              <a:t>Azure Blob · 附件账户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Cool / Cold 分层 · WORM 可选 · 与业务表分账户</a:t>
            </a:r>
          </a:p>
        </p:txBody>
      </p:sp>
      <p:cxnSp>
        <p:nvCxnSpPr>
          <p:cNvPr id="84" name="Connector 83"/>
          <p:cNvCxnSpPr/>
          <p:nvPr/>
        </p:nvCxnSpPr>
        <p:spPr>
          <a:xfrm>
            <a:off x="2203704" y="4535424"/>
            <a:ext cx="0" cy="530352"/>
          </a:xfrm>
          <a:prstGeom prst="line">
            <a:avLst/>
          </a:prstGeom>
          <a:ln w="2794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85" name="TextBox 84"/>
          <p:cNvSpPr txBox="1"/>
          <p:nvPr/>
        </p:nvSpPr>
        <p:spPr>
          <a:xfrm>
            <a:off x="2304288" y="4732020"/>
            <a:ext cx="1280160" cy="100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59669"/>
                </a:solidFill>
                <a:latin typeface="Segoe UI"/>
                <a:ea typeface="Microsoft YaHei"/>
              </a:rPr>
              <a:t>写入 Iceberg</a:t>
            </a:r>
          </a:p>
        </p:txBody>
      </p:sp>
      <p:cxnSp>
        <p:nvCxnSpPr>
          <p:cNvPr id="86" name="Connector 85"/>
          <p:cNvCxnSpPr/>
          <p:nvPr/>
        </p:nvCxnSpPr>
        <p:spPr>
          <a:xfrm>
            <a:off x="6062472" y="4535424"/>
            <a:ext cx="0" cy="237744"/>
          </a:xfrm>
          <a:prstGeom prst="line">
            <a:avLst/>
          </a:prstGeom>
          <a:ln w="27940">
            <a:solidFill>
              <a:srgbClr val="7C3AED"/>
            </a:solidFill>
          </a:ln>
          <a:effectLst/>
        </p:spPr>
      </p:cxnSp>
      <p:cxnSp>
        <p:nvCxnSpPr>
          <p:cNvPr id="87" name="Connector 86"/>
          <p:cNvCxnSpPr/>
          <p:nvPr/>
        </p:nvCxnSpPr>
        <p:spPr>
          <a:xfrm flipH="1">
            <a:off x="3291840" y="4773168"/>
            <a:ext cx="2770632" cy="0"/>
          </a:xfrm>
          <a:prstGeom prst="line">
            <a:avLst/>
          </a:prstGeom>
          <a:ln w="27940">
            <a:solidFill>
              <a:srgbClr val="7C3AED"/>
            </a:solidFill>
          </a:ln>
          <a:effectLst/>
        </p:spPr>
      </p:cxnSp>
      <p:cxnSp>
        <p:nvCxnSpPr>
          <p:cNvPr id="88" name="Connector 87"/>
          <p:cNvCxnSpPr/>
          <p:nvPr/>
        </p:nvCxnSpPr>
        <p:spPr>
          <a:xfrm>
            <a:off x="3291840" y="4773168"/>
            <a:ext cx="0" cy="292608"/>
          </a:xfrm>
          <a:prstGeom prst="line">
            <a:avLst/>
          </a:prstGeom>
          <a:ln w="2794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89" name="TextBox 88"/>
          <p:cNvSpPr txBox="1"/>
          <p:nvPr/>
        </p:nvSpPr>
        <p:spPr>
          <a:xfrm>
            <a:off x="4224528" y="4572000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7C3AED"/>
                </a:solidFill>
                <a:latin typeface="Segoe UI"/>
                <a:ea typeface="Microsoft YaHei"/>
              </a:rPr>
              <a:t>读 Iceberg / ABFS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9921240" y="4535424"/>
            <a:ext cx="0" cy="530352"/>
          </a:xfrm>
          <a:prstGeom prst="line">
            <a:avLst/>
          </a:prstGeom>
          <a:ln w="25400">
            <a:solidFill>
              <a:srgbClr val="D97706"/>
            </a:solidFill>
            <a:tailEnd type="triangle" w="med" len="med"/>
          </a:ln>
          <a:effectLst/>
        </p:spPr>
      </p:cxnSp>
      <p:sp>
        <p:nvSpPr>
          <p:cNvPr id="91" name="TextBox 90"/>
          <p:cNvSpPr txBox="1"/>
          <p:nvPr/>
        </p:nvSpPr>
        <p:spPr>
          <a:xfrm>
            <a:off x="10021824" y="4732020"/>
            <a:ext cx="1188720" cy="100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D97706"/>
                </a:solidFill>
                <a:latin typeface="Segoe UI"/>
                <a:ea typeface="Microsoft YaHei"/>
              </a:rPr>
              <a:t>附件取流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201168" y="5705856"/>
            <a:ext cx="7498079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65760" y="5705856"/>
            <a:ext cx="722376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334155"/>
                </a:solidFill>
                <a:latin typeface="Segoe UI"/>
                <a:ea typeface="Microsoft YaHei"/>
              </a:rPr>
              <a:t>安全底座：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Key Vault · App Insights · Azure Monitor · Databricks Query History · 全部 PaaS 私有端点 · 入口 WAF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7827264" y="5705856"/>
            <a:ext cx="4169663" cy="365760"/>
          </a:xfrm>
          <a:prstGeom prst="roundRect">
            <a:avLst>
              <a:gd name="adj" fmla="val 15000"/>
            </a:avLst>
          </a:prstGeom>
          <a:solidFill>
            <a:srgbClr val="FFF7ED"/>
          </a:solidFill>
          <a:ln w="12700">
            <a:solidFill>
              <a:srgbClr val="FDB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7991856" y="5705856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B45309"/>
                </a:solidFill>
                <a:latin typeface="Segoe UI"/>
                <a:ea typeface="Microsoft YaHei"/>
              </a:rPr>
              <a:t>B2 读侧：</a:t>
            </a:r>
            <a:r>
              <a:rPr sz="680" b="0" i="0">
                <a:solidFill>
                  <a:srgbClr val="92400E"/>
                </a:solidFill>
                <a:latin typeface="Segoe UI"/>
                <a:ea typeface="Microsoft YaHei"/>
              </a:rPr>
              <a:t>Databricks SQL Serverless 完全托管 · 空闲缩 0；代价是引擎绑定 + 需 Premium 层（NCC / PE）</a:t>
            </a:r>
          </a:p>
        </p:txBody>
      </p:sp>
      <p:sp>
        <p:nvSpPr>
          <p:cNvPr id="96" name="Oval 95"/>
          <p:cNvSpPr/>
          <p:nvPr/>
        </p:nvSpPr>
        <p:spPr>
          <a:xfrm>
            <a:off x="548640" y="6245352"/>
            <a:ext cx="82296" cy="82296"/>
          </a:xfrm>
          <a:prstGeom prst="ellipse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76656" y="6199632"/>
            <a:ext cx="17373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自研应用组件（AKS）</a:t>
            </a:r>
          </a:p>
        </p:txBody>
      </p:sp>
      <p:sp>
        <p:nvSpPr>
          <p:cNvPr id="98" name="Oval 97"/>
          <p:cNvSpPr/>
          <p:nvPr/>
        </p:nvSpPr>
        <p:spPr>
          <a:xfrm>
            <a:off x="2123236" y="6245352"/>
            <a:ext cx="82296" cy="82296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2251252" y="6199632"/>
            <a:ext cx="17373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写侧数据链路</a:t>
            </a:r>
          </a:p>
        </p:txBody>
      </p:sp>
      <p:sp>
        <p:nvSpPr>
          <p:cNvPr id="100" name="Oval 99"/>
          <p:cNvSpPr/>
          <p:nvPr/>
        </p:nvSpPr>
        <p:spPr>
          <a:xfrm>
            <a:off x="3322929" y="6245352"/>
            <a:ext cx="82296" cy="822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3450945" y="6199632"/>
            <a:ext cx="17373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读侧查询链路</a:t>
            </a:r>
          </a:p>
        </p:txBody>
      </p:sp>
      <p:sp>
        <p:nvSpPr>
          <p:cNvPr id="102" name="Oval 101"/>
          <p:cNvSpPr/>
          <p:nvPr/>
        </p:nvSpPr>
        <p:spPr>
          <a:xfrm>
            <a:off x="4522622" y="6245352"/>
            <a:ext cx="82296" cy="82296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4650638" y="6199632"/>
            <a:ext cx="17373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编排 / 抽取</a:t>
            </a:r>
          </a:p>
        </p:txBody>
      </p:sp>
      <p:sp>
        <p:nvSpPr>
          <p:cNvPr id="104" name="Oval 103"/>
          <p:cNvSpPr/>
          <p:nvPr/>
        </p:nvSpPr>
        <p:spPr>
          <a:xfrm>
            <a:off x="5797296" y="6245352"/>
            <a:ext cx="82296" cy="82296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5925312" y="6199632"/>
            <a:ext cx="17373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Azure PaaS 数据服务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1168" y="155448"/>
            <a:ext cx="50292" cy="365760"/>
          </a:xfrm>
          <a:prstGeom prst="roundRect">
            <a:avLst>
              <a:gd name="adj" fmla="val 4909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18872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0F172A"/>
                </a:solidFill>
                <a:latin typeface="Segoe UI"/>
                <a:ea typeface="Microsoft YaHei"/>
              </a:rPr>
              <a:t>方案 B2 · 湖仓一体 · 存算分离架构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676656"/>
            <a:ext cx="0" cy="5632704"/>
          </a:xfrm>
          <a:prstGeom prst="line">
            <a:avLst/>
          </a:prstGeom>
          <a:ln w="31750">
            <a:solidFill>
              <a:srgbClr val="E2E8F0"/>
            </a:solidFill>
          </a:ln>
          <a:effectLst/>
        </p:spPr>
      </p:cxnSp>
      <p:sp>
        <p:nvSpPr>
          <p:cNvPr id="5" name="Rounded Rectangle 4"/>
          <p:cNvSpPr/>
          <p:nvPr/>
        </p:nvSpPr>
        <p:spPr>
          <a:xfrm>
            <a:off x="713232" y="566928"/>
            <a:ext cx="7104888" cy="621792"/>
          </a:xfrm>
          <a:prstGeom prst="roundRect">
            <a:avLst>
              <a:gd name="adj" fmla="val 11764"/>
            </a:avLst>
          </a:prstGeom>
          <a:solidFill>
            <a:srgbClr val="F6F8FA"/>
          </a:solidFill>
          <a:ln w="1524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47472" y="722375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7472" y="722375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475569"/>
                </a:solidFill>
                <a:latin typeface="Consolas"/>
                <a:ea typeface="Microsoft YaHe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21792"/>
            <a:ext cx="1335024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源系统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795528"/>
            <a:ext cx="1335024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475569"/>
                </a:solidFill>
                <a:latin typeface="Consolas"/>
                <a:ea typeface="Microsoft YaHei"/>
              </a:rPr>
              <a:t>SOURCE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932688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退役 · 只读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1051560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15 套待归档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31136" y="640080"/>
            <a:ext cx="2688336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6510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58568" y="640080"/>
            <a:ext cx="263347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0F172A"/>
                </a:solidFill>
                <a:latin typeface="Segoe UI"/>
                <a:ea typeface="Microsoft YaHei"/>
              </a:rPr>
              <a:t>结构化数据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Oracle · MySQL · DB2 / 其他 · JDBC 读取 · 约 100 张表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38344" y="640080"/>
            <a:ext cx="2688336" cy="475488"/>
          </a:xfrm>
          <a:prstGeom prst="roundRect">
            <a:avLst>
              <a:gd name="adj" fmla="val 9615"/>
            </a:avLst>
          </a:prstGeom>
          <a:solidFill>
            <a:srgbClr val="FFFBEB"/>
          </a:solidFill>
          <a:ln w="1651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65776" y="640080"/>
            <a:ext cx="263347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92400E"/>
                </a:solidFill>
                <a:latin typeface="Segoe UI"/>
                <a:ea typeface="Microsoft YaHei"/>
              </a:rPr>
              <a:t>非结构化附件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78350F"/>
                </a:solidFill>
                <a:latin typeface="Segoe UI"/>
                <a:ea typeface="Microsoft YaHei"/>
              </a:rPr>
              <a:t>NFS · S3 · Azure Blob · PDF / 图片 / 影像件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983480" y="1188720"/>
            <a:ext cx="0" cy="100584"/>
          </a:xfrm>
          <a:prstGeom prst="line">
            <a:avLst/>
          </a:prstGeom>
          <a:ln w="20320">
            <a:solidFill>
              <a:srgbClr val="94A3B8"/>
            </a:solidFill>
            <a:tailEnd type="triangle" w="med" len="med"/>
          </a:ln>
          <a:effectLst/>
        </p:spPr>
      </p:cxnSp>
      <p:sp>
        <p:nvSpPr>
          <p:cNvPr id="17" name="Rounded Rectangle 16"/>
          <p:cNvSpPr/>
          <p:nvPr/>
        </p:nvSpPr>
        <p:spPr>
          <a:xfrm>
            <a:off x="713232" y="1298448"/>
            <a:ext cx="7104888" cy="841248"/>
          </a:xfrm>
          <a:prstGeom prst="roundRect">
            <a:avLst>
              <a:gd name="adj" fmla="val 8695"/>
            </a:avLst>
          </a:prstGeom>
          <a:solidFill>
            <a:srgbClr val="ECFEFF"/>
          </a:solidFill>
          <a:ln w="15240">
            <a:solidFill>
              <a:srgbClr val="67E8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47472" y="1563624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7472" y="1563624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0891B2"/>
                </a:solidFill>
                <a:latin typeface="Consolas"/>
                <a:ea typeface="Microsoft YaHei"/>
              </a:rPr>
              <a:t>B-00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1353312"/>
            <a:ext cx="1335024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接入配置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1527048"/>
            <a:ext cx="1335024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0891B2"/>
                </a:solidFill>
                <a:latin typeface="Consolas"/>
                <a:ea typeface="Microsoft YaHei"/>
              </a:rPr>
              <a:t>CONFIGURE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1664207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页面操作 · 零代码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1783079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配置存元数据库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1901951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891B2"/>
                </a:solidFill>
                <a:latin typeface="Segoe UI"/>
                <a:ea typeface="Microsoft YaHei"/>
              </a:rPr>
              <a:t>新系统接入复用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231136" y="1353312"/>
            <a:ext cx="1691640" cy="585216"/>
          </a:xfrm>
          <a:prstGeom prst="roundRect">
            <a:avLst>
              <a:gd name="adj" fmla="val 7812"/>
            </a:avLst>
          </a:prstGeom>
          <a:solidFill>
            <a:srgbClr val="FFFFFF"/>
          </a:solidFill>
          <a:ln w="1651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322576" y="1408176"/>
            <a:ext cx="1536192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① 录入连接信息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22576" y="1554480"/>
            <a:ext cx="15361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主机 / 端口 / 账号 · 凭据存 Key Vault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22576" y="1746504"/>
            <a:ext cx="15361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「测试连接」校验连通与权限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133087" y="1353312"/>
            <a:ext cx="1691640" cy="585216"/>
          </a:xfrm>
          <a:prstGeom prst="roundRect">
            <a:avLst>
              <a:gd name="adj" fmla="val 7812"/>
            </a:avLst>
          </a:prstGeom>
          <a:solidFill>
            <a:srgbClr val="FFFFFF"/>
          </a:solidFill>
          <a:ln w="1651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224527" y="1408176"/>
            <a:ext cx="1536192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② 自动读取表清单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24527" y="1554480"/>
            <a:ext cx="15361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扫描 information_schema · 表名 / 行数 / 大小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24527" y="1746504"/>
            <a:ext cx="15361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共发现 10 张表（含类型与主键）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035040" y="1353312"/>
            <a:ext cx="1691640" cy="585216"/>
          </a:xfrm>
          <a:prstGeom prst="roundRect">
            <a:avLst>
              <a:gd name="adj" fmla="val 7812"/>
            </a:avLst>
          </a:prstGeom>
          <a:solidFill>
            <a:srgbClr val="FFFFFF"/>
          </a:solidFill>
          <a:ln w="1651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26479" y="1408176"/>
            <a:ext cx="1536192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③ 勾选待迁移表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26479" y="1554480"/>
            <a:ext cx="15361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☑ 订单主表 · 明细 · 客户 · 商品 · 支付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26479" y="1746504"/>
            <a:ext cx="15361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☐ 临时 / 日志 / 中间 / 缓存 / 备份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3931920" y="1645920"/>
            <a:ext cx="182880" cy="0"/>
          </a:xfrm>
          <a:prstGeom prst="line">
            <a:avLst/>
          </a:prstGeom>
          <a:ln w="19050">
            <a:solidFill>
              <a:srgbClr val="0891B2"/>
            </a:solidFill>
            <a:tailEnd type="triangle" w="med" len="med"/>
          </a:ln>
          <a:effectLst/>
        </p:spPr>
      </p:cxnSp>
      <p:cxnSp>
        <p:nvCxnSpPr>
          <p:cNvPr id="38" name="Connector 37"/>
          <p:cNvCxnSpPr/>
          <p:nvPr/>
        </p:nvCxnSpPr>
        <p:spPr>
          <a:xfrm>
            <a:off x="5833872" y="1645920"/>
            <a:ext cx="182880" cy="0"/>
          </a:xfrm>
          <a:prstGeom prst="line">
            <a:avLst/>
          </a:prstGeom>
          <a:ln w="19050">
            <a:solidFill>
              <a:srgbClr val="0891B2"/>
            </a:solidFill>
            <a:tailEnd type="triangle" w="med" len="med"/>
          </a:ln>
          <a:effectLst/>
        </p:spPr>
      </p:cxnSp>
      <p:sp>
        <p:nvSpPr>
          <p:cNvPr id="39" name="TextBox 38"/>
          <p:cNvSpPr txBox="1"/>
          <p:nvPr/>
        </p:nvSpPr>
        <p:spPr>
          <a:xfrm>
            <a:off x="2231136" y="1965960"/>
            <a:ext cx="5495544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891B2"/>
                </a:solidFill>
                <a:latin typeface="Segoe UI"/>
                <a:ea typeface="Microsoft YaHei"/>
              </a:rPr>
              <a:t>按配置生成 SeaTunnel 任务 · 仅入湖勾选的 5 张表（10 选 5）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4983480" y="2139696"/>
            <a:ext cx="0" cy="100584"/>
          </a:xfrm>
          <a:prstGeom prst="line">
            <a:avLst/>
          </a:prstGeom>
          <a:ln w="20320">
            <a:solidFill>
              <a:srgbClr val="94A3B8"/>
            </a:solidFill>
            <a:tailEnd type="triangle" w="med" len="med"/>
          </a:ln>
          <a:effectLst/>
        </p:spPr>
      </p:cxnSp>
      <p:sp>
        <p:nvSpPr>
          <p:cNvPr id="41" name="Rounded Rectangle 40"/>
          <p:cNvSpPr/>
          <p:nvPr/>
        </p:nvSpPr>
        <p:spPr>
          <a:xfrm>
            <a:off x="713232" y="2249424"/>
            <a:ext cx="7104888" cy="621792"/>
          </a:xfrm>
          <a:prstGeom prst="roundRect">
            <a:avLst>
              <a:gd name="adj" fmla="val 11764"/>
            </a:avLst>
          </a:prstGeom>
          <a:solidFill>
            <a:srgbClr val="FFF7ED"/>
          </a:solidFill>
          <a:ln w="15240">
            <a:solidFill>
              <a:srgbClr val="FED7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347472" y="2404872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47472" y="2404872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EA580C"/>
                </a:solidFill>
                <a:latin typeface="Consolas"/>
                <a:ea typeface="Microsoft YaHei"/>
              </a:rPr>
              <a:t>02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2960" y="2304288"/>
            <a:ext cx="1335024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数据抽取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2960" y="2478024"/>
            <a:ext cx="1335024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EA580C"/>
                </a:solidFill>
                <a:latin typeface="Consolas"/>
                <a:ea typeface="Microsoft YaHei"/>
              </a:rPr>
              <a:t>INGEST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2960" y="2615184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批量 · 全量 + 增量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2960" y="2734056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ADF 编排调度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231136" y="2322576"/>
            <a:ext cx="2688336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651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258568" y="2322576"/>
            <a:ext cx="263347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0F172A"/>
                </a:solidFill>
                <a:latin typeface="Segoe UI"/>
                <a:ea typeface="Microsoft YaHei"/>
              </a:rPr>
              <a:t>结构化 · SeaTunnel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200+ 连接器 · JDBC · 类型映射 · 对账 → Iceberg 表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038344" y="2322576"/>
            <a:ext cx="2688336" cy="475488"/>
          </a:xfrm>
          <a:prstGeom prst="roundRect">
            <a:avLst>
              <a:gd name="adj" fmla="val 9615"/>
            </a:avLst>
          </a:prstGeom>
          <a:solidFill>
            <a:srgbClr val="FFFBEB"/>
          </a:solidFill>
          <a:ln w="1905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65776" y="2322576"/>
            <a:ext cx="263347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92400E"/>
                </a:solidFill>
                <a:latin typeface="Segoe UI"/>
                <a:ea typeface="Microsoft YaHei"/>
              </a:rPr>
              <a:t>附件 · Storage Mover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78350F"/>
                </a:solidFill>
                <a:latin typeface="Segoe UI"/>
                <a:ea typeface="Microsoft YaHei"/>
              </a:rPr>
              <a:t>PDF / 图片 / Office 影像 · 服务免费 → ADLS 附件容器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4983480" y="2871216"/>
            <a:ext cx="0" cy="100584"/>
          </a:xfrm>
          <a:prstGeom prst="line">
            <a:avLst/>
          </a:prstGeom>
          <a:ln w="20320">
            <a:solidFill>
              <a:srgbClr val="94A3B8"/>
            </a:solidFill>
            <a:tailEnd type="triangle" w="med" len="med"/>
          </a:ln>
          <a:effectLst/>
        </p:spPr>
      </p:cxnSp>
      <p:sp>
        <p:nvSpPr>
          <p:cNvPr id="53" name="Rounded Rectangle 52"/>
          <p:cNvSpPr/>
          <p:nvPr/>
        </p:nvSpPr>
        <p:spPr>
          <a:xfrm>
            <a:off x="713232" y="2980944"/>
            <a:ext cx="7104888" cy="1133856"/>
          </a:xfrm>
          <a:prstGeom prst="roundRect">
            <a:avLst>
              <a:gd name="adj" fmla="val 6451"/>
            </a:avLst>
          </a:prstGeom>
          <a:solidFill>
            <a:srgbClr val="FAF9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347472" y="3392424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47472" y="3392424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7C3AED"/>
                </a:solidFill>
                <a:latin typeface="Consolas"/>
                <a:ea typeface="Microsoft YaHei"/>
              </a:rPr>
              <a:t>B-03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22960" y="3035808"/>
            <a:ext cx="1335024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Iceberg 冷湖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22960" y="3209544"/>
            <a:ext cx="1335024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7C3AED"/>
                </a:solidFill>
                <a:latin typeface="Consolas"/>
                <a:ea typeface="Microsoft YaHei"/>
              </a:rPr>
              <a:t>COLD LAKE · STORAGE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2960" y="3346703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ADLS Gen2 · Parquet + ZSTD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22960" y="3465575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7C3AED"/>
                </a:solidFill>
                <a:latin typeface="Segoe UI"/>
                <a:ea typeface="Microsoft YaHei"/>
              </a:rPr>
              <a:t>≈¥90–150/TB·月 · PB 级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22960" y="3584447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100 张表 · 1:1 原样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22960" y="3703320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Hot / Cool 分层 · ZRS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231136" y="3035808"/>
            <a:ext cx="5495544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7C3AED"/>
                </a:solidFill>
                <a:latin typeface="Segoe UI"/>
                <a:ea typeface="Microsoft YaHei"/>
              </a:rPr>
              <a:t>Iceberg 表 · 四层分层（RAW → SERVE 逐层升温，越往下越热）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2231136" y="3200400"/>
            <a:ext cx="5495544" cy="205740"/>
          </a:xfrm>
          <a:prstGeom prst="roundRect">
            <a:avLst>
              <a:gd name="adj" fmla="val 17777"/>
            </a:avLst>
          </a:prstGeom>
          <a:solidFill>
            <a:srgbClr val="EEF2FF"/>
          </a:solidFill>
          <a:ln w="12700">
            <a:solidFill>
              <a:srgbClr val="C7D2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2249424" y="3223260"/>
            <a:ext cx="32004" cy="160020"/>
          </a:xfrm>
          <a:prstGeom prst="roundRect">
            <a:avLst>
              <a:gd name="adj" fmla="val 48571"/>
            </a:avLst>
          </a:prstGeom>
          <a:solidFill>
            <a:srgbClr val="818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359152" y="3200400"/>
            <a:ext cx="5303520" cy="2057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4338CA"/>
                </a:solidFill>
                <a:latin typeface="Segoe UI"/>
                <a:ea typeface="Microsoft YaHei"/>
              </a:rPr>
              <a:t>RAW · 原始落地（最冷）</a:t>
            </a: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　SeaTunnel 全量 1:1 保真 · 分区 sys_id / ingest_date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231136" y="3424428"/>
            <a:ext cx="5495544" cy="205740"/>
          </a:xfrm>
          <a:prstGeom prst="roundRect">
            <a:avLst>
              <a:gd name="adj" fmla="val 17777"/>
            </a:avLst>
          </a:prstGeom>
          <a:solidFill>
            <a:srgbClr val="EDE9FE"/>
          </a:solidFill>
          <a:ln w="12700">
            <a:solidFill>
              <a:srgbClr val="C4B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2249424" y="3447288"/>
            <a:ext cx="32004" cy="160020"/>
          </a:xfrm>
          <a:prstGeom prst="roundRect">
            <a:avLst>
              <a:gd name="adj" fmla="val 48571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359152" y="3424428"/>
            <a:ext cx="5303520" cy="2057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6D28D9"/>
                </a:solidFill>
                <a:latin typeface="Segoe UI"/>
                <a:ea typeface="Microsoft YaHei"/>
              </a:rPr>
              <a:t>CURATED · 清洗规整</a:t>
            </a: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　类型统一 · 缺失值处理 · SHA-256 台账 · 分区归约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2231136" y="3648456"/>
            <a:ext cx="5495544" cy="205740"/>
          </a:xfrm>
          <a:prstGeom prst="roundRect">
            <a:avLst>
              <a:gd name="adj" fmla="val 17777"/>
            </a:avLst>
          </a:prstGeom>
          <a:solidFill>
            <a:srgbClr val="F5F3FF"/>
          </a:solidFill>
          <a:ln w="1270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2249424" y="3671316"/>
            <a:ext cx="32004" cy="160020"/>
          </a:xfrm>
          <a:prstGeom prst="roundRect">
            <a:avLst>
              <a:gd name="adj" fmla="val 48571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359152" y="3648456"/>
            <a:ext cx="5303520" cy="2057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5B21B6"/>
                </a:solidFill>
                <a:latin typeface="Segoe UI"/>
                <a:ea typeface="Microsoft YaHei"/>
              </a:rPr>
              <a:t>LAKE · 建模归档</a:t>
            </a: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　业务维度建模 · 生命周期分区（销毁友好）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2231136" y="3872484"/>
            <a:ext cx="5495544" cy="205740"/>
          </a:xfrm>
          <a:prstGeom prst="roundRect">
            <a:avLst>
              <a:gd name="adj" fmla="val 17777"/>
            </a:avLst>
          </a:prstGeom>
          <a:solidFill>
            <a:srgbClr val="FEF3C7"/>
          </a:solidFill>
          <a:ln w="12700">
            <a:solidFill>
              <a:srgbClr val="FCD3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2249424" y="3895344"/>
            <a:ext cx="32004" cy="160020"/>
          </a:xfrm>
          <a:prstGeom prst="roundRect">
            <a:avLst>
              <a:gd name="adj" fmla="val 48571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2359152" y="3872484"/>
            <a:ext cx="5303520" cy="2057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B45309"/>
                </a:solidFill>
                <a:latin typeface="Segoe UI"/>
                <a:ea typeface="Microsoft YaHei"/>
              </a:rPr>
              <a:t>SERVE · 加速服务（最热）</a:t>
            </a: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　热表物化 · Z-Order · 供 Databricks SQL Serverless 直查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713232" y="4251960"/>
            <a:ext cx="7104888" cy="0"/>
          </a:xfrm>
          <a:prstGeom prst="line">
            <a:avLst/>
          </a:prstGeom>
          <a:ln w="20320">
            <a:solidFill>
              <a:srgbClr val="94A3B8"/>
            </a:solidFill>
            <a:prstDash val="dash"/>
          </a:ln>
          <a:effectLst/>
        </p:spPr>
      </p:cxnSp>
      <p:sp>
        <p:nvSpPr>
          <p:cNvPr id="76" name="Rounded Rectangle 75"/>
          <p:cNvSpPr/>
          <p:nvPr/>
        </p:nvSpPr>
        <p:spPr>
          <a:xfrm>
            <a:off x="4224528" y="4160520"/>
            <a:ext cx="1609344" cy="18288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224528" y="4160520"/>
            <a:ext cx="1609344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475569"/>
                </a:solidFill>
                <a:latin typeface="Segoe UI"/>
                <a:ea typeface="Microsoft YaHei"/>
              </a:rPr>
              <a:t>━━ 存算分离边界 ━━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3108960" y="4114800"/>
            <a:ext cx="0" cy="274320"/>
          </a:xfrm>
          <a:prstGeom prst="line">
            <a:avLst/>
          </a:prstGeom>
          <a:ln w="2286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3218688" y="4123944"/>
            <a:ext cx="91440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7C3AED"/>
                </a:solidFill>
                <a:latin typeface="Segoe UI"/>
                <a:ea typeface="Microsoft YaHei"/>
              </a:rPr>
              <a:t>Serverless 直查</a:t>
            </a:r>
          </a:p>
        </p:txBody>
      </p:sp>
      <p:cxnSp>
        <p:nvCxnSpPr>
          <p:cNvPr id="80" name="Connector 79"/>
          <p:cNvCxnSpPr/>
          <p:nvPr/>
        </p:nvCxnSpPr>
        <p:spPr>
          <a:xfrm flipV="1">
            <a:off x="7132320" y="4114800"/>
            <a:ext cx="0" cy="274320"/>
          </a:xfrm>
          <a:prstGeom prst="line">
            <a:avLst/>
          </a:prstGeom>
          <a:ln w="2286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81" name="TextBox 80"/>
          <p:cNvSpPr txBox="1"/>
          <p:nvPr/>
        </p:nvSpPr>
        <p:spPr>
          <a:xfrm>
            <a:off x="5897880" y="4270248"/>
            <a:ext cx="1170432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059669"/>
                </a:solidFill>
                <a:latin typeface="Segoe UI"/>
                <a:ea typeface="Microsoft YaHei"/>
              </a:rPr>
              <a:t>ETL 写入 · Databricks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713232" y="4389120"/>
            <a:ext cx="7104888" cy="768096"/>
          </a:xfrm>
          <a:prstGeom prst="roundRect">
            <a:avLst>
              <a:gd name="adj" fmla="val 9523"/>
            </a:avLst>
          </a:prstGeom>
          <a:solidFill>
            <a:srgbClr val="F0FDF4"/>
          </a:solidFill>
          <a:ln w="1524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347472" y="4617720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47472" y="461772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059669"/>
                </a:solidFill>
                <a:latin typeface="Consolas"/>
                <a:ea typeface="Microsoft YaHei"/>
              </a:rPr>
              <a:t>B-04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22960" y="4443983"/>
            <a:ext cx="1335024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统一计算层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22960" y="4617720"/>
            <a:ext cx="1335024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059669"/>
                </a:solidFill>
                <a:latin typeface="Consolas"/>
                <a:ea typeface="Microsoft YaHei"/>
              </a:rPr>
              <a:t>COMPUTE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22960" y="4754880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Databricks 读写一体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22960" y="4873752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弹性 · 按量计费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2231136" y="4443984"/>
            <a:ext cx="2688336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651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2322576" y="4498848"/>
            <a:ext cx="2523744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F172A"/>
                </a:solidFill>
                <a:latin typeface="Segoe UI"/>
                <a:ea typeface="Microsoft YaHei"/>
              </a:rPr>
              <a:t>Databricks · 写侧 ETL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304288" y="46451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RAW → CURATED → LAKE → SERVE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304288" y="47594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Spark 批处理 · Iceberg 写入 · Z-Order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304288" y="48737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Compaction · VACUUM · 到期销毁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304288" y="49880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59669"/>
                </a:solidFill>
                <a:latin typeface="Segoe UI"/>
                <a:ea typeface="Microsoft YaHei"/>
              </a:rPr>
              <a:t>按 DBU 计费 · 按需拉起 ≈¥0.4–0.8 万/月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5038344" y="4443984"/>
            <a:ext cx="2688336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651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129783" y="4498848"/>
            <a:ext cx="2523744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F172A"/>
                </a:solidFill>
                <a:latin typeface="Segoe UI"/>
                <a:ea typeface="Microsoft YaHei"/>
              </a:rPr>
              <a:t>Databricks SQL Serverless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111496" y="46451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读侧查询 · 零运维 · 故障自动重建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111496" y="47594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Iceberg 直查 · SERVE 加速 · 首屏 2–5 s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111496" y="48737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UC 表 / 行 / 列级授权 + 审计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111496" y="49880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59669"/>
                </a:solidFill>
                <a:latin typeface="Segoe UI"/>
                <a:ea typeface="Microsoft YaHei"/>
              </a:rPr>
              <a:t>X-Small 6 DBU/h · 空闲缩 0 ≈¥0.5–0.9 万/月</a:t>
            </a:r>
          </a:p>
        </p:txBody>
      </p:sp>
      <p:cxnSp>
        <p:nvCxnSpPr>
          <p:cNvPr id="101" name="Connector 100"/>
          <p:cNvCxnSpPr/>
          <p:nvPr/>
        </p:nvCxnSpPr>
        <p:spPr>
          <a:xfrm>
            <a:off x="4983480" y="5157216"/>
            <a:ext cx="0" cy="100584"/>
          </a:xfrm>
          <a:prstGeom prst="line">
            <a:avLst/>
          </a:prstGeom>
          <a:ln w="20320">
            <a:solidFill>
              <a:srgbClr val="94A3B8"/>
            </a:solidFill>
            <a:tailEnd type="triangle" w="med" len="med"/>
          </a:ln>
          <a:effectLst/>
        </p:spPr>
      </p:cxnSp>
      <p:sp>
        <p:nvSpPr>
          <p:cNvPr id="102" name="Rounded Rectangle 101"/>
          <p:cNvSpPr/>
          <p:nvPr/>
        </p:nvSpPr>
        <p:spPr>
          <a:xfrm>
            <a:off x="713232" y="5266944"/>
            <a:ext cx="7104888" cy="658368"/>
          </a:xfrm>
          <a:prstGeom prst="roundRect">
            <a:avLst>
              <a:gd name="adj" fmla="val 11111"/>
            </a:avLst>
          </a:prstGeom>
          <a:solidFill>
            <a:srgbClr val="ECFEFF"/>
          </a:solidFill>
          <a:ln w="15240">
            <a:solidFill>
              <a:srgbClr val="A5F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347472" y="5440680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347472" y="544068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0891B2"/>
                </a:solidFill>
                <a:latin typeface="Consolas"/>
                <a:ea typeface="Microsoft YaHei"/>
              </a:rPr>
              <a:t>B-05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22960" y="5321807"/>
            <a:ext cx="1335024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消费入口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822960" y="5495544"/>
            <a:ext cx="1335024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0891B2"/>
                </a:solidFill>
                <a:latin typeface="Consolas"/>
                <a:ea typeface="Microsoft YaHei"/>
              </a:rPr>
              <a:t>CONSUME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22960" y="5632704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元数据驱动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22960" y="5751576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零代码接入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2231136" y="5321808"/>
            <a:ext cx="5495544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7780">
            <a:solidFill>
              <a:srgbClr val="0891B2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2340864" y="5376672"/>
            <a:ext cx="5276088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0F172A"/>
                </a:solidFill>
                <a:latin typeface="Segoe UI"/>
                <a:ea typeface="Microsoft YaHei"/>
              </a:rPr>
              <a:t>元数据驱动 · 动态配置化查询平台</a:t>
            </a:r>
          </a:p>
          <a:p>
            <a:pPr algn="ctr">
              <a:lnSpc>
                <a:spcPct val="112000"/>
              </a:lnSpc>
              <a:spcBef>
                <a:spcPts val="30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JSON 配置定义查询 / 筛选 / 列 / 权限 · 前端动态渲染 · 一次研发处处复用</a:t>
            </a:r>
          </a:p>
          <a:p>
            <a:pPr algn="ctr">
              <a:lnSpc>
                <a:spcPct val="112000"/>
              </a:lnSpc>
              <a:spcBef>
                <a:spcPts val="200"/>
              </a:spcBef>
              <a:spcAft>
                <a:spcPts val="0"/>
              </a:spcAft>
            </a:pPr>
            <a:r>
              <a:rPr sz="600" b="1" i="0">
                <a:solidFill>
                  <a:srgbClr val="0891B2"/>
                </a:solidFill>
                <a:latin typeface="Segoe UI"/>
                <a:ea typeface="Microsoft YaHei"/>
              </a:rPr>
              <a:t>新系统接入零代码 · 边际 +3~6 人天 / 系统 · 首期 60 人天 · ≥15 系统适用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713232" y="6016752"/>
            <a:ext cx="7104888" cy="658368"/>
          </a:xfrm>
          <a:prstGeom prst="roundRect">
            <a:avLst>
              <a:gd name="adj" fmla="val 11111"/>
            </a:avLst>
          </a:prstGeom>
          <a:solidFill>
            <a:srgbClr val="FFF1F2"/>
          </a:solidFill>
          <a:ln w="15240">
            <a:solidFill>
              <a:srgbClr val="E11D4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347472" y="6190488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47472" y="6190488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11D48"/>
                </a:solidFill>
                <a:latin typeface="Segoe UI"/>
                <a:ea typeface="Microsoft YaHei"/>
              </a:rPr>
              <a:t>↺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22960" y="6089904"/>
            <a:ext cx="1335024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E11D48"/>
                </a:solidFill>
                <a:latin typeface="Segoe UI"/>
                <a:ea typeface="Microsoft YaHei"/>
              </a:rPr>
              <a:t>Retention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22960" y="6254496"/>
            <a:ext cx="1335024" cy="100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E11D48"/>
                </a:solidFill>
                <a:latin typeface="Consolas"/>
                <a:ea typeface="Microsoft YaHei"/>
              </a:rPr>
              <a:t>RETENTION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22960" y="6391656"/>
            <a:ext cx="1353312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64748B"/>
                </a:solidFill>
                <a:latin typeface="Segoe UI"/>
                <a:ea typeface="Microsoft YaHei"/>
              </a:rPr>
              <a:t>作用于 B-03 分区
回写台账 · 附件同步删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2231136" y="6108192"/>
            <a:ext cx="1188720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524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2258568" y="6108192"/>
            <a:ext cx="113385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F172A"/>
                </a:solidFill>
                <a:latin typeface="Segoe UI"/>
                <a:ea typeface="Microsoft YaHei"/>
              </a:rPr>
              <a:t>① 到期扫描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扫描 Iceberg meta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3474720" y="6108192"/>
            <a:ext cx="1188720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524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3502151" y="6108192"/>
            <a:ext cx="113385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F172A"/>
                </a:solidFill>
                <a:latin typeface="Segoe UI"/>
                <a:ea typeface="Microsoft YaHei"/>
              </a:rPr>
              <a:t>② DROP PARTITION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秒级 · Iceberg 原生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4718304" y="6108192"/>
            <a:ext cx="1188720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524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4745736" y="6108192"/>
            <a:ext cx="113385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F172A"/>
                </a:solidFill>
                <a:latin typeface="Segoe UI"/>
                <a:ea typeface="Microsoft YaHei"/>
              </a:rPr>
              <a:t>③ VACUUM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物理清除快照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5961888" y="6108192"/>
            <a:ext cx="1188720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524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5989320" y="6108192"/>
            <a:ext cx="113385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F172A"/>
                </a:solidFill>
                <a:latin typeface="Segoe UI"/>
                <a:ea typeface="Microsoft YaHei"/>
              </a:rPr>
              <a:t>④ 附件 + 审计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同步删除 · 留痕</a:t>
            </a:r>
          </a:p>
        </p:txBody>
      </p:sp>
      <p:cxnSp>
        <p:nvCxnSpPr>
          <p:cNvPr id="125" name="Connector 124"/>
          <p:cNvCxnSpPr/>
          <p:nvPr/>
        </p:nvCxnSpPr>
        <p:spPr>
          <a:xfrm>
            <a:off x="3438144" y="6300216"/>
            <a:ext cx="91440" cy="0"/>
          </a:xfrm>
          <a:prstGeom prst="line">
            <a:avLst/>
          </a:prstGeom>
          <a:ln w="19050">
            <a:solidFill>
              <a:srgbClr val="E11D48"/>
            </a:solidFill>
            <a:tailEnd type="triangle" w="med" len="med"/>
          </a:ln>
          <a:effectLst/>
        </p:spPr>
      </p:cxnSp>
      <p:cxnSp>
        <p:nvCxnSpPr>
          <p:cNvPr id="126" name="Connector 125"/>
          <p:cNvCxnSpPr/>
          <p:nvPr/>
        </p:nvCxnSpPr>
        <p:spPr>
          <a:xfrm>
            <a:off x="4681728" y="6300216"/>
            <a:ext cx="91440" cy="0"/>
          </a:xfrm>
          <a:prstGeom prst="line">
            <a:avLst/>
          </a:prstGeom>
          <a:ln w="19050">
            <a:solidFill>
              <a:srgbClr val="E11D48"/>
            </a:solidFill>
            <a:tailEnd type="triangle" w="med" len="med"/>
          </a:ln>
          <a:effectLst/>
        </p:spPr>
      </p:cxnSp>
      <p:cxnSp>
        <p:nvCxnSpPr>
          <p:cNvPr id="127" name="Connector 126"/>
          <p:cNvCxnSpPr/>
          <p:nvPr/>
        </p:nvCxnSpPr>
        <p:spPr>
          <a:xfrm>
            <a:off x="5925312" y="6300216"/>
            <a:ext cx="91440" cy="0"/>
          </a:xfrm>
          <a:prstGeom prst="line">
            <a:avLst/>
          </a:prstGeom>
          <a:ln w="19050">
            <a:solidFill>
              <a:srgbClr val="E11D48"/>
            </a:solidFill>
            <a:tailEnd type="triangle" w="med" len="med"/>
          </a:ln>
          <a:effectLst/>
        </p:spPr>
      </p:cxnSp>
      <p:sp>
        <p:nvSpPr>
          <p:cNvPr id="128" name="TextBox 127"/>
          <p:cNvSpPr txBox="1"/>
          <p:nvPr/>
        </p:nvSpPr>
        <p:spPr>
          <a:xfrm>
            <a:off x="2231136" y="6528816"/>
            <a:ext cx="5495544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80" b="1" i="0">
                <a:solidFill>
                  <a:srgbClr val="9F1239"/>
                </a:solidFill>
                <a:latin typeface="Segoe UI"/>
                <a:ea typeface="Microsoft YaHei"/>
              </a:rPr>
              <a:t>审计与元数据独立备份 · 不随业务数据销毁 · 纳入年度销毁演练</a:t>
            </a:r>
          </a:p>
        </p:txBody>
      </p:sp>
      <p:cxnSp>
        <p:nvCxnSpPr>
          <p:cNvPr id="129" name="Connector 128"/>
          <p:cNvCxnSpPr/>
          <p:nvPr/>
        </p:nvCxnSpPr>
        <p:spPr>
          <a:xfrm flipH="1">
            <a:off x="274320" y="6510528"/>
            <a:ext cx="438912" cy="0"/>
          </a:xfrm>
          <a:prstGeom prst="line">
            <a:avLst/>
          </a:prstGeom>
          <a:ln w="15240">
            <a:solidFill>
              <a:srgbClr val="E11D48"/>
            </a:solidFill>
            <a:prstDash val="dash"/>
          </a:ln>
          <a:effectLst/>
        </p:spPr>
      </p:cxnSp>
      <p:cxnSp>
        <p:nvCxnSpPr>
          <p:cNvPr id="130" name="Connector 129"/>
          <p:cNvCxnSpPr/>
          <p:nvPr/>
        </p:nvCxnSpPr>
        <p:spPr>
          <a:xfrm flipV="1">
            <a:off x="274320" y="3840480"/>
            <a:ext cx="0" cy="2670048"/>
          </a:xfrm>
          <a:prstGeom prst="line">
            <a:avLst/>
          </a:prstGeom>
          <a:ln w="15240">
            <a:solidFill>
              <a:srgbClr val="E11D48"/>
            </a:solidFill>
            <a:prstDash val="dash"/>
          </a:ln>
          <a:effectLst/>
        </p:spPr>
      </p:cxnSp>
      <p:cxnSp>
        <p:nvCxnSpPr>
          <p:cNvPr id="131" name="Connector 130"/>
          <p:cNvCxnSpPr/>
          <p:nvPr/>
        </p:nvCxnSpPr>
        <p:spPr>
          <a:xfrm>
            <a:off x="274320" y="3840480"/>
            <a:ext cx="420624" cy="0"/>
          </a:xfrm>
          <a:prstGeom prst="line">
            <a:avLst/>
          </a:prstGeom>
          <a:ln w="15240">
            <a:solidFill>
              <a:srgbClr val="E11D48"/>
            </a:solidFill>
            <a:prstDash val="dash"/>
            <a:tailEnd type="triangle" w="med" len="med"/>
          </a:ln>
          <a:effectLst/>
        </p:spPr>
      </p:cxnSp>
      <p:sp>
        <p:nvSpPr>
          <p:cNvPr id="132" name="TextBox 131"/>
          <p:cNvSpPr txBox="1"/>
          <p:nvPr/>
        </p:nvSpPr>
        <p:spPr>
          <a:xfrm>
            <a:off x="91440" y="4434840"/>
            <a:ext cx="182880" cy="1188720"/>
          </a:xfrm>
          <a:prstGeom prst="rect">
            <a:avLst/>
          </a:prstGeom>
          <a:noFill/>
        </p:spPr>
        <p:txBody>
          <a:bodyPr wrap="square" lIns="0" rIns="0" tIns="0" bIns="0" anchor="ctr" vert="eaVer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E11D48"/>
                </a:solidFill>
                <a:latin typeface="Segoe UI"/>
                <a:ea typeface="Microsoft YaHei"/>
              </a:rPr>
              <a:t>作用于冷湖分区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8001000" y="566928"/>
            <a:ext cx="3986784" cy="1444752"/>
          </a:xfrm>
          <a:prstGeom prst="roundRect">
            <a:avLst>
              <a:gd name="adj" fmla="val 4430"/>
            </a:avLst>
          </a:prstGeom>
          <a:solidFill>
            <a:srgbClr val="FFFBEB"/>
          </a:solidFill>
          <a:ln w="13970">
            <a:solidFill>
              <a:srgbClr val="D9770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8129016" y="640080"/>
            <a:ext cx="3749039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D97706"/>
                </a:solidFill>
                <a:latin typeface="Segoe UI"/>
                <a:ea typeface="Microsoft YaHei"/>
              </a:rPr>
              <a:t>附件对象存储 · </a:t>
            </a:r>
            <a:r>
              <a:rPr sz="819" b="1" i="0">
                <a:solidFill>
                  <a:srgbClr val="92400E"/>
                </a:solidFill>
                <a:latin typeface="Segoe UI"/>
                <a:ea typeface="Microsoft YaHei"/>
              </a:rPr>
              <a:t>独立存储账户（与湖分开）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129016" y="804672"/>
            <a:ext cx="3749039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A16207"/>
                </a:solidFill>
                <a:latin typeface="Segoe UI"/>
                <a:ea typeface="Microsoft YaHei"/>
              </a:rPr>
              <a:t>贯穿 02 抽取 → B-03 存储 · 供 B-05 直接消费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8110727" y="969264"/>
            <a:ext cx="1874519" cy="402336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8138159" y="969264"/>
            <a:ext cx="1819655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F172A"/>
                </a:solidFill>
                <a:latin typeface="Segoe UI"/>
                <a:ea typeface="Microsoft YaHei"/>
              </a:rPr>
              <a:t>FNS 平面命名空间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A16207"/>
                </a:solidFill>
                <a:latin typeface="Segoe UI"/>
                <a:ea typeface="Microsoft YaHei"/>
              </a:rPr>
              <a:t>非 HNS · 按次计费（不按 4MB 切块）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10049255" y="969264"/>
            <a:ext cx="1874519" cy="402336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10076687" y="969264"/>
            <a:ext cx="1819655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F172A"/>
                </a:solidFill>
                <a:latin typeface="Segoe UI"/>
                <a:ea typeface="Microsoft YaHei"/>
              </a:rPr>
              <a:t>Cool → Cold 分层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A16207"/>
                </a:solidFill>
                <a:latin typeface="Segoe UI"/>
                <a:ea typeface="Microsoft YaHei"/>
              </a:rPr>
              <a:t>生命周期自动降档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8110727" y="1426464"/>
            <a:ext cx="1874519" cy="402336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8138159" y="1426464"/>
            <a:ext cx="1819655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F172A"/>
                </a:solidFill>
                <a:latin typeface="Segoe UI"/>
                <a:ea typeface="Microsoft YaHei"/>
              </a:rPr>
              <a:t>SHA-256 台账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A16207"/>
                </a:solidFill>
                <a:latin typeface="Segoe UI"/>
                <a:ea typeface="Microsoft YaHei"/>
              </a:rPr>
              <a:t>前缀 sysXX/yyyy-mm/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10049255" y="1426464"/>
            <a:ext cx="1874519" cy="402336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10076687" y="1426464"/>
            <a:ext cx="1819655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F172A"/>
                </a:solidFill>
                <a:latin typeface="Segoe UI"/>
                <a:ea typeface="Microsoft YaHei"/>
              </a:rPr>
              <a:t>后端签 SAS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A16207"/>
                </a:solidFill>
                <a:latin typeface="Segoe UI"/>
                <a:ea typeface="Microsoft YaHei"/>
              </a:rPr>
              <a:t>前端直连下载</a:t>
            </a:r>
          </a:p>
        </p:txBody>
      </p:sp>
      <p:cxnSp>
        <p:nvCxnSpPr>
          <p:cNvPr id="144" name="Connector 143"/>
          <p:cNvCxnSpPr/>
          <p:nvPr/>
        </p:nvCxnSpPr>
        <p:spPr>
          <a:xfrm flipH="1">
            <a:off x="7836408" y="2560320"/>
            <a:ext cx="164592" cy="0"/>
          </a:xfrm>
          <a:prstGeom prst="line">
            <a:avLst/>
          </a:prstGeom>
          <a:ln w="16510">
            <a:solidFill>
              <a:srgbClr val="D97706"/>
            </a:solidFill>
            <a:prstDash val="dash"/>
            <a:tailEnd type="triangle" w="med" len="med"/>
          </a:ln>
          <a:effectLst/>
        </p:spPr>
      </p:cxnSp>
      <p:cxnSp>
        <p:nvCxnSpPr>
          <p:cNvPr id="145" name="Connector 144"/>
          <p:cNvCxnSpPr/>
          <p:nvPr/>
        </p:nvCxnSpPr>
        <p:spPr>
          <a:xfrm flipH="1">
            <a:off x="7836408" y="3547872"/>
            <a:ext cx="164592" cy="0"/>
          </a:xfrm>
          <a:prstGeom prst="line">
            <a:avLst/>
          </a:prstGeom>
          <a:ln w="16510">
            <a:solidFill>
              <a:srgbClr val="D97706"/>
            </a:solidFill>
            <a:prstDash val="dash"/>
            <a:tailEnd type="triangle" w="med" len="med"/>
          </a:ln>
          <a:effectLst/>
        </p:spPr>
      </p:cxnSp>
      <p:cxnSp>
        <p:nvCxnSpPr>
          <p:cNvPr id="146" name="Connector 145"/>
          <p:cNvCxnSpPr/>
          <p:nvPr/>
        </p:nvCxnSpPr>
        <p:spPr>
          <a:xfrm>
            <a:off x="9994392" y="2011680"/>
            <a:ext cx="0" cy="128016"/>
          </a:xfrm>
          <a:prstGeom prst="line">
            <a:avLst/>
          </a:prstGeom>
          <a:ln w="16510">
            <a:solidFill>
              <a:srgbClr val="D97706"/>
            </a:solidFill>
            <a:prstDash val="dash"/>
          </a:ln>
          <a:effectLst/>
        </p:spPr>
      </p:cxnSp>
      <p:cxnSp>
        <p:nvCxnSpPr>
          <p:cNvPr id="147" name="Connector 146"/>
          <p:cNvCxnSpPr/>
          <p:nvPr/>
        </p:nvCxnSpPr>
        <p:spPr>
          <a:xfrm flipH="1">
            <a:off x="7918704" y="2139696"/>
            <a:ext cx="2075688" cy="0"/>
          </a:xfrm>
          <a:prstGeom prst="line">
            <a:avLst/>
          </a:prstGeom>
          <a:ln w="16510">
            <a:solidFill>
              <a:srgbClr val="D97706"/>
            </a:solidFill>
            <a:prstDash val="dash"/>
          </a:ln>
          <a:effectLst/>
        </p:spPr>
      </p:cxnSp>
      <p:cxnSp>
        <p:nvCxnSpPr>
          <p:cNvPr id="148" name="Connector 147"/>
          <p:cNvCxnSpPr/>
          <p:nvPr/>
        </p:nvCxnSpPr>
        <p:spPr>
          <a:xfrm>
            <a:off x="7918704" y="2139696"/>
            <a:ext cx="0" cy="3456432"/>
          </a:xfrm>
          <a:prstGeom prst="line">
            <a:avLst/>
          </a:prstGeom>
          <a:ln w="16510">
            <a:solidFill>
              <a:srgbClr val="D97706"/>
            </a:solidFill>
            <a:prstDash val="dash"/>
          </a:ln>
          <a:effectLst/>
        </p:spPr>
      </p:cxnSp>
      <p:cxnSp>
        <p:nvCxnSpPr>
          <p:cNvPr id="149" name="Connector 148"/>
          <p:cNvCxnSpPr/>
          <p:nvPr/>
        </p:nvCxnSpPr>
        <p:spPr>
          <a:xfrm flipH="1">
            <a:off x="7836408" y="5596128"/>
            <a:ext cx="82296" cy="0"/>
          </a:xfrm>
          <a:prstGeom prst="line">
            <a:avLst/>
          </a:prstGeom>
          <a:ln w="16510">
            <a:solidFill>
              <a:srgbClr val="D97706"/>
            </a:solidFill>
            <a:prstDash val="dash"/>
            <a:tailEnd type="triangle" w="med" len="med"/>
          </a:ln>
          <a:effectLst/>
        </p:spPr>
      </p:cxnSp>
      <p:sp>
        <p:nvSpPr>
          <p:cNvPr id="150" name="TextBox 149"/>
          <p:cNvSpPr txBox="1"/>
          <p:nvPr/>
        </p:nvSpPr>
        <p:spPr>
          <a:xfrm>
            <a:off x="8065008" y="2176272"/>
            <a:ext cx="192024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D97706"/>
                </a:solidFill>
                <a:latin typeface="Segoe UI"/>
                <a:ea typeface="Microsoft YaHei"/>
              </a:rPr>
              <a:t>附件 URL 直连消费（SAS）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8001000" y="2340864"/>
            <a:ext cx="3986784" cy="1225296"/>
          </a:xfrm>
          <a:prstGeom prst="roundRect">
            <a:avLst>
              <a:gd name="adj" fmla="val 5223"/>
            </a:avLst>
          </a:prstGeom>
          <a:solidFill>
            <a:srgbClr val="FFFF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8129016" y="2414016"/>
            <a:ext cx="3749039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6D28D9"/>
                </a:solidFill>
                <a:latin typeface="Segoe UI"/>
                <a:ea typeface="Microsoft YaHei"/>
              </a:rPr>
              <a:t>存算分离 · 成本结构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8129016" y="2633472"/>
            <a:ext cx="1298448" cy="310896"/>
          </a:xfrm>
          <a:prstGeom prst="roundRect">
            <a:avLst>
              <a:gd name="adj" fmla="val 14705"/>
            </a:avLst>
          </a:prstGeom>
          <a:solidFill>
            <a:srgbClr val="F5F3FF"/>
          </a:solidFill>
          <a:ln w="1270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8156448" y="2633472"/>
            <a:ext cx="1243584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6D28D9"/>
                </a:solidFill>
                <a:latin typeface="Segoe UI"/>
                <a:ea typeface="Microsoft YaHei"/>
              </a:rPr>
              <a:t>存储侧 · 常驻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9518904" y="2633472"/>
            <a:ext cx="2395728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475569"/>
                </a:solidFill>
                <a:latin typeface="Segoe UI"/>
                <a:ea typeface="Microsoft YaHei"/>
              </a:rPr>
              <a:t>ADLS Hot/Cool ≈¥90–150/TB·月 · PB 级从容 · ZRS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8129016" y="3017520"/>
            <a:ext cx="1298448" cy="310896"/>
          </a:xfrm>
          <a:prstGeom prst="roundRect">
            <a:avLst>
              <a:gd name="adj" fmla="val 14705"/>
            </a:avLst>
          </a:prstGeom>
          <a:solidFill>
            <a:srgbClr val="F0FDF4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8156448" y="3017520"/>
            <a:ext cx="1243584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47857"/>
                </a:solidFill>
                <a:latin typeface="Segoe UI"/>
                <a:ea typeface="Microsoft YaHei"/>
              </a:rPr>
              <a:t>计算侧 · 按需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18904" y="3017520"/>
            <a:ext cx="2395728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475569"/>
                </a:solidFill>
                <a:latin typeface="Segoe UI"/>
                <a:ea typeface="Microsoft YaHei"/>
              </a:rPr>
              <a:t>写侧 ETL ≈¥0.4–0.8 万/月 · 读侧查询 ≈¥0.5–0.9 万/月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8129016" y="3401568"/>
            <a:ext cx="3749039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7C3AED"/>
                </a:solidFill>
                <a:latin typeface="Segoe UI"/>
                <a:ea typeface="Microsoft YaHei"/>
              </a:rPr>
              <a:t>存储与计算独立扩缩 · 空闲缩到 0 · 只为使用的算力付费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8001000" y="3675887"/>
            <a:ext cx="3986784" cy="1572768"/>
          </a:xfrm>
          <a:prstGeom prst="roundRect">
            <a:avLst>
              <a:gd name="adj" fmla="val 4069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8129016" y="3749039"/>
            <a:ext cx="3749039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0F172A"/>
                </a:solidFill>
                <a:latin typeface="Segoe UI"/>
                <a:ea typeface="Microsoft YaHei"/>
              </a:rPr>
              <a:t>方案 B2 要点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8129016" y="3950208"/>
            <a:ext cx="3767328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610" b="1" i="0">
                <a:solidFill>
                  <a:srgbClr val="7C3AED"/>
                </a:solidFill>
                <a:latin typeface="Segoe UI"/>
                <a:ea typeface="Microsoft YaHei"/>
              </a:rPr>
              <a:t>· 存算分离 — </a:t>
            </a:r>
            <a:r>
              <a:rPr sz="610" b="0" i="0">
                <a:solidFill>
                  <a:srgbClr val="475569"/>
                </a:solidFill>
                <a:latin typeface="Segoe UI"/>
                <a:ea typeface="Microsoft YaHei"/>
              </a:rPr>
              <a:t>冷湖常驻，Serverless 读写按需拉起 · 空闲缩 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8129016" y="4192524"/>
            <a:ext cx="3767328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610" b="1" i="0">
                <a:solidFill>
                  <a:srgbClr val="E11D48"/>
                </a:solidFill>
                <a:latin typeface="Segoe UI"/>
                <a:ea typeface="Microsoft YaHei"/>
              </a:rPr>
              <a:t>· 到期即毁 — </a:t>
            </a:r>
            <a:r>
              <a:rPr sz="610" b="0" i="0">
                <a:solidFill>
                  <a:srgbClr val="475569"/>
                </a:solidFill>
                <a:latin typeface="Segoe UI"/>
                <a:ea typeface="Microsoft YaHei"/>
              </a:rPr>
              <a:t>DROP PARTITION + VACUUM 物理清除，附件与审计同步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8129016" y="4434840"/>
            <a:ext cx="3767328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610" b="1" i="0">
                <a:solidFill>
                  <a:srgbClr val="0891B2"/>
                </a:solidFill>
                <a:latin typeface="Segoe UI"/>
                <a:ea typeface="Microsoft YaHei"/>
              </a:rPr>
              <a:t>· 零代码接入 — </a:t>
            </a:r>
            <a:r>
              <a:rPr sz="610" b="0" i="0">
                <a:solidFill>
                  <a:srgbClr val="475569"/>
                </a:solidFill>
                <a:latin typeface="Segoe UI"/>
                <a:ea typeface="Microsoft YaHei"/>
              </a:rPr>
              <a:t>元数据驱动前端 · 边际 +3~6 人天 / 系统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8129016" y="4677155"/>
            <a:ext cx="3767328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610" b="1" i="0">
                <a:solidFill>
                  <a:srgbClr val="059669"/>
                </a:solidFill>
                <a:latin typeface="Segoe UI"/>
                <a:ea typeface="Microsoft YaHei"/>
              </a:rPr>
              <a:t>· 读侧托管 — </a:t>
            </a:r>
            <a:r>
              <a:rPr sz="610" b="0" i="0">
                <a:solidFill>
                  <a:srgbClr val="475569"/>
                </a:solidFill>
                <a:latin typeface="Segoe UI"/>
                <a:ea typeface="Microsoft YaHei"/>
              </a:rPr>
              <a:t>Databricks SQL Serverless · 零集群运维 · UC 授权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129016" y="4919471"/>
            <a:ext cx="3767328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610" b="1" i="0">
                <a:solidFill>
                  <a:srgbClr val="475569"/>
                </a:solidFill>
                <a:latin typeface="Segoe UI"/>
                <a:ea typeface="Microsoft YaHei"/>
              </a:rPr>
              <a:t>· 适用规模 — </a:t>
            </a:r>
            <a:r>
              <a:rPr sz="610" b="0" i="0">
                <a:solidFill>
                  <a:srgbClr val="475569"/>
                </a:solidFill>
                <a:latin typeface="Segoe UI"/>
                <a:ea typeface="Microsoft YaHei"/>
              </a:rPr>
              <a:t>≥15 套系统或 &gt;20 TB 长期保留 · PB 级从容</a:t>
            </a:r>
          </a:p>
        </p:txBody>
      </p:sp>
      <p:sp>
        <p:nvSpPr>
          <p:cNvPr id="167" name="Rounded Rectangle 166"/>
          <p:cNvSpPr/>
          <p:nvPr/>
        </p:nvSpPr>
        <p:spPr>
          <a:xfrm>
            <a:off x="8001000" y="5358384"/>
            <a:ext cx="3986784" cy="786384"/>
          </a:xfrm>
          <a:prstGeom prst="roundRect">
            <a:avLst>
              <a:gd name="adj" fmla="val 8139"/>
            </a:avLst>
          </a:prstGeom>
          <a:solidFill>
            <a:srgbClr val="FFF7ED"/>
          </a:solidFill>
          <a:ln w="13970">
            <a:solidFill>
              <a:srgbClr val="FDB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8129016" y="5431536"/>
            <a:ext cx="3749039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B45309"/>
                </a:solidFill>
                <a:latin typeface="Segoe UI"/>
                <a:ea typeface="Microsoft YaHei"/>
              </a:rPr>
              <a:t>B2 的取舍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8129016" y="5596128"/>
            <a:ext cx="3767328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610" b="0" i="0">
                <a:solidFill>
                  <a:srgbClr val="92400E"/>
                </a:solidFill>
                <a:latin typeface="Segoe UI"/>
                <a:ea typeface="Microsoft YaHei"/>
              </a:rPr>
              <a:t>读侧完全托管、UC 治理原生；代价是计算引擎绑定 Databricks（数据仍为开放 Iceberg，随时可换引擎），且 Serverless / NCC 需 Premium 层。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方案 B2 架构图集</dc:title>
  <dc:subject/>
  <dc:creator>RIMS 退役归档平台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