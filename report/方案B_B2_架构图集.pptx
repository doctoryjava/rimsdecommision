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架构图 · 数据加密设计 · 元数据库 ER 图 · 全部以 PPT 原生形状绘制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2962656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044952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04495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3035808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28269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3639312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3721608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372160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6192" y="3712464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36192" y="39593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4315968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4398264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4398264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4389120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36192" y="463600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" y="4992624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69264" y="5074920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" y="507492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Microsoft YaHei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36192" y="5065776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36192" y="531266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四层加密模型 · aes_encrypt + UC 列掩码 · 信封加密 / Crypto-Shredding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1248" y="5669280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69264" y="5751576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" y="575157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75569"/>
                </a:solidFill>
                <a:latin typeface="Consolas"/>
                <a:ea typeface="Microsoft Ya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192" y="574243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图（35 表 / 11 模块）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36192" y="59893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RBAC · 退役系统 · 源/目标配置 · 同步归档 · 动态查询 · 保留销毁 · 审计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1248" y="6382512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647395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docs/数据库ER图与全量表结构.md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Serverless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8" name="Oval 7"/>
          <p:cNvSpPr/>
          <p:nvPr/>
        </p:nvSpPr>
        <p:spPr>
          <a:xfrm>
            <a:off x="53826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697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4086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829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2" name="Oval 11"/>
          <p:cNvSpPr/>
          <p:nvPr/>
        </p:nvSpPr>
        <p:spPr>
          <a:xfrm>
            <a:off x="251336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9208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6" name="Oval 15"/>
          <p:cNvSpPr/>
          <p:nvPr/>
        </p:nvSpPr>
        <p:spPr>
          <a:xfrm>
            <a:off x="448846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6718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46336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7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1700784"/>
            <a:ext cx="268833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1700784"/>
            <a:ext cx="263347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57016" y="1700784"/>
            <a:ext cx="52852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1700784"/>
            <a:ext cx="517550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108960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345168" y="1700784"/>
            <a:ext cx="241401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1700784"/>
            <a:ext cx="23591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97112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8357616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Serverless：ETL · Compaction · DROP PARTITION + VACUUM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65760" y="5084064"/>
            <a:ext cx="356616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5084064"/>
            <a:ext cx="351129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4223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89520" y="5084064"/>
            <a:ext cx="4169663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16952" y="5084064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65760" y="5705856"/>
            <a:ext cx="733348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064" y="5705856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900416" y="5705856"/>
            <a:ext cx="3858768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65008" y="5705856"/>
            <a:ext cx="35295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Databricks SQL Serverless 完全托管 · 空闲缩 0；代价是引擎绑定 + 需 Premium 层（NCC / PE）</a:t>
            </a:r>
          </a:p>
        </p:txBody>
      </p:sp>
      <p:sp>
        <p:nvSpPr>
          <p:cNvPr id="96" name="Oval 95"/>
          <p:cNvSpPr/>
          <p:nvPr/>
        </p:nvSpPr>
        <p:spPr>
          <a:xfrm>
            <a:off x="36576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377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8" name="Oval 97"/>
          <p:cNvSpPr/>
          <p:nvPr/>
        </p:nvSpPr>
        <p:spPr>
          <a:xfrm>
            <a:off x="194035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6837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0" name="Oval 99"/>
          <p:cNvSpPr/>
          <p:nvPr/>
        </p:nvSpPr>
        <p:spPr>
          <a:xfrm>
            <a:off x="314004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6806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433974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6775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4" name="Oval 103"/>
          <p:cNvSpPr/>
          <p:nvPr/>
        </p:nvSpPr>
        <p:spPr>
          <a:xfrm>
            <a:off x="561441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4243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Databricks SQL Serverless 直查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657600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85032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84064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111496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10528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37960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483864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910328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6336792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ETL ≈¥0.4–0.8 万/月 · 读侧查询 ≈¥0.5–0.9 万/月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Databricks SQL Serverless · 零集群运维 · UC 授权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39319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566928"/>
            <a:ext cx="36758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四层加密模型 + 密钥管理（L1 → L5）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91440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9184" y="103327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03327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78D4"/>
                </a:solidFill>
                <a:latin typeface="Consolas"/>
                <a:ea typeface="Microsoft YaHe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99669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存储层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防磁盘 / 桶泄露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17043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账户级 SSE（AES-256）+ Key Vault CMK；数据 / 元数据 / 附件一套密钥策略，可选基础设施双重加密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" y="173736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" y="185623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85623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9669"/>
                </a:solidFill>
                <a:latin typeface="Consolas"/>
                <a:ea typeface="Microsoft Ya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181965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传输层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防链路窃听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99339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全链路 TLS 1.2+：HTTPS 443 入口 · 私有端点私网 · JDBC / ODBC；流量不出 Azure 骨干网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256032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1F2"/>
          </a:solidFill>
          <a:ln w="2032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" y="267919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67919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E11D48"/>
                </a:solidFill>
                <a:latin typeface="Consolas"/>
                <a:ea typeface="Microsoft YaHe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264261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E11D48"/>
                </a:solidFill>
                <a:latin typeface="Segoe UI"/>
                <a:ea typeface="Microsoft YaHei"/>
              </a:rPr>
              <a:t>字段层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 DBA / 运维内鬼 ★ 合规核心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81635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aes_encrypt() 落盘即密文 + UC 列掩码查询遮蔽——两者必须组合；GCM 每次随机 IV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3383279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9184" y="350215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350215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C3AED"/>
                </a:solidFill>
                <a:latin typeface="Consolas"/>
                <a:ea typeface="Microsoft YaHei"/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46557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展示层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防越权查看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63931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UC COLUMN MASK / ROW FILTER 绑定基表，任何访问路径强制生效；B2 原生，Trino 读完全不可用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1168" y="420624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BEB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9184" y="4325112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4325112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D97706"/>
                </a:solidFill>
                <a:latin typeface="Consolas"/>
                <a:ea typeface="Microsoft YaHei"/>
              </a:rPr>
              <a:t>L5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28853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密钥层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防泄露无法止损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46227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Key Vault CMK 自动轮转；信封加密——轮主密钥只重包装 KEK、零数据重写；密文自带 key_version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1104" y="566928"/>
            <a:ext cx="41148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566928"/>
            <a:ext cx="385876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字段级加密 · 推荐路线：aes_encrypt + UC 列掩码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1104" y="89611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70832" y="103327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0832" y="103327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96926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密钥入 Secret Scope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115214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Key Vault 撑腰 · 托管标识免密拉取，密钥不进代码 / 日志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09360" y="1453895"/>
            <a:ext cx="0" cy="73153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39" name="Rounded Rectangle 38"/>
          <p:cNvSpPr/>
          <p:nvPr/>
        </p:nvSpPr>
        <p:spPr>
          <a:xfrm>
            <a:off x="4261104" y="153619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370832" y="167335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0832" y="16733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160934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ETL 写侧加密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179222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aes_encrypt(col, secret(...))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默认 GCM 随机 IV，绝不能用 ECB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309360" y="209397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4261104" y="217627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70832" y="231343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3134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224942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定义掩码函数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80" y="243230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is_account_group_member()</a:t>
            </a:r>
            <a:r>
              <a:rPr sz="590" b="0" i="0">
                <a:solidFill>
                  <a:srgbClr val="64748B"/>
                </a:solidFill>
                <a:latin typeface="Consolas"/>
                <a:ea typeface="Microsoft YaHei"/>
              </a:rPr>
              <a:t> ? try_aes_decrypt : ***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309360" y="273405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51" name="Rounded Rectangle 50"/>
          <p:cNvSpPr/>
          <p:nvPr/>
        </p:nvSpPr>
        <p:spPr>
          <a:xfrm>
            <a:off x="4261104" y="281635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370832" y="295351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70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288950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挂载到列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307238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ALTER TABLE … SET MASK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（必须打在基表，不支持视图）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61104" y="3474720"/>
            <a:ext cx="4114800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52544" y="34747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同一条 SQL：授权者见明文 · 其他人见 *** · 直读 Parquet 只见密文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1104" y="3895344"/>
            <a:ext cx="4114800" cy="256032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70832" y="3895344"/>
            <a:ext cx="391363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F172A"/>
                </a:solidFill>
                <a:latin typeface="Segoe UI"/>
                <a:ea typeface="Microsoft YaHei"/>
              </a:rPr>
              <a:t>为何安全：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掩码函数以定义者权限取密钥，分析师自己写 aes_decrypt 也拿不到 key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61104" y="4224528"/>
            <a:ext cx="4114800" cy="731520"/>
          </a:xfrm>
          <a:prstGeom prst="roundRect">
            <a:avLst>
              <a:gd name="adj" fmla="val 7500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70832" y="4279392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45309"/>
                </a:solidFill>
                <a:latin typeface="Segoe UI"/>
                <a:ea typeface="Microsoft YaHei"/>
              </a:rPr>
              <a:t>三个必守约束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0832" y="4443984"/>
            <a:ext cx="391363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❶ 绝不能改成 ECB（暴露频率分布）　❷ 业务用户对 Secret Scope 必须无 READ 权限，否则防线归零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❸ 掩码不支持视图须挂基表；卸载顺序：先 DROP MASK 再 DROP FUNCTION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522208" y="566928"/>
            <a:ext cx="34747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50224" y="566928"/>
            <a:ext cx="32186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密钥体系 · 合规与销毁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522208" y="896112"/>
            <a:ext cx="347472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650224" y="987552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77656" y="9875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E40AF"/>
                </a:solidFill>
                <a:latin typeface="Segoe UI"/>
                <a:ea typeface="Microsoft YaHei"/>
              </a:rPr>
              <a:t>Key Vault · CMK / KEK 主密钥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0259568" y="1307592"/>
            <a:ext cx="0" cy="109728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351008" y="1298448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0078D4"/>
                </a:solidFill>
                <a:latin typeface="Segoe UI"/>
                <a:ea typeface="Microsoft YaHei"/>
              </a:rPr>
              <a:t>包装 / 解包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650224" y="1426464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77656" y="142646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D28D9"/>
                </a:solidFill>
                <a:latin typeface="Segoe UI"/>
                <a:ea typeface="Microsoft YaHei"/>
              </a:rPr>
              <a:t>DEK 数据密钥（带 key_version）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0259568" y="1746504"/>
            <a:ext cx="0" cy="109727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10351008" y="1737360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7C3AED"/>
                </a:solidFill>
                <a:latin typeface="Segoe UI"/>
                <a:ea typeface="Microsoft YaHei"/>
              </a:rPr>
              <a:t>加密 / 解密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1865376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77656" y="186537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47857"/>
                </a:solidFill>
                <a:latin typeface="Segoe UI"/>
                <a:ea typeface="Microsoft YaHei"/>
              </a:rPr>
              <a:t>Iceberg 密文 + UC 列掩码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13648" y="22311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078D4"/>
                </a:solidFill>
                <a:latin typeface="Segoe UI"/>
                <a:ea typeface="Microsoft YaHei"/>
              </a:rPr>
              <a:t>信封加密：轮转主密钥只重新包装 DEK，数据文件一个字节不动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22208" y="2560320"/>
            <a:ext cx="3474720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50224" y="262432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E11D48"/>
                </a:solidFill>
                <a:latin typeface="Segoe UI"/>
                <a:ea typeface="Microsoft YaHei"/>
              </a:rPr>
              <a:t>Crypto-Shredding · 被遗忘权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50224" y="2798064"/>
            <a:ext cx="323697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按数据主体分配独立 DEK——「删除」= 销毁该 DEK，密文永久不可读，无需重写 PB 级文件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E11D48"/>
                </a:solidFill>
                <a:latin typeface="Segoe UI"/>
                <a:ea typeface="Microsoft YaHei"/>
              </a:rPr>
              <a:t>归档场景性价比最高的合规设计，建议第一版纳入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22208" y="3511296"/>
            <a:ext cx="3474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50224" y="3575304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合规映射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50224" y="3767328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77656" y="37673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47857"/>
                </a:solidFill>
                <a:latin typeface="Segoe UI"/>
                <a:ea typeface="Microsoft YaHei"/>
              </a:rPr>
              <a:t>等保 2.0 三级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10928" y="375818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存储 / 传输保密达标；策略在引擎内、审计落表，举证材料天然齐备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50224" y="4169664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77656" y="416966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B45309"/>
                </a:solidFill>
                <a:latin typeface="Segoe UI"/>
                <a:ea typeface="Microsoft YaHei"/>
              </a:rPr>
              <a:t>个保法第 51 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10928" y="41605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SSE ≠ 去标识化——必须 L3 字段级加密 + L4 强制脱敏，只做 L1 不满足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650224" y="4572000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1F2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77656" y="45720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E11D48"/>
                </a:solidFill>
                <a:latin typeface="Segoe UI"/>
                <a:ea typeface="Microsoft YaHei"/>
              </a:rPr>
              <a:t>GDPR 被遗忘权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10928" y="4562856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Crypto-Shredding：销毁主体 DEK 即永久不可读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01168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① 授权强制力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掩码 / 行过滤绑定引擎元数据，任何客户端绕不过；应用层脱敏绕过 API 即失效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7880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2511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② 轮转成本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2511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信封加密只重包装 KEK、零数据重写；应用层方案轮转需重刷数十 TB 存量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15644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02751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C3AED"/>
                </a:solidFill>
                <a:latin typeface="Segoe UI"/>
                <a:ea typeface="Microsoft YaHei"/>
              </a:rPr>
              <a:t>③ 实施成本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02751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约 2~3 人天（应用层方案 8~12 人天）· 加密字段仍可检索 · 审计平台原生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01168" y="6108192"/>
            <a:ext cx="11795760" cy="475488"/>
          </a:xfrm>
          <a:prstGeom prst="roundRect">
            <a:avLst>
              <a:gd name="adj" fmla="val 13461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5760" y="6108192"/>
            <a:ext cx="1146657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28D9"/>
                </a:solidFill>
                <a:latin typeface="Segoe UI"/>
                <a:ea typeface="Microsoft YaHei"/>
              </a:rPr>
              <a:t>★ 若列级脱敏是硬需求：</a:t>
            </a:r>
            <a:r>
              <a:rPr sz="720" b="0" i="0">
                <a:solidFill>
                  <a:srgbClr val="4C1D95"/>
                </a:solidFill>
                <a:latin typeface="Segoe UI"/>
                <a:ea typeface="Microsoft YaHei"/>
              </a:rPr>
              <a:t>B（Trino 读）的 UC 列掩码完全不可用（Iceberg REST Catalog 不支持），B2 原生生效、任何路径强制遮蔽——这一条基本决定必须选 B2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 · 35 张表 / 11 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128016"/>
            <a:ext cx="42976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通用字段 id · deleted · created_at · updated_at 已省略；</a:t>
            </a:r>
            <a:r>
              <a:rPr sz="640" b="0" i="0">
                <a:solidFill>
                  <a:srgbClr val="94A3B8"/>
                </a:solidFill>
                <a:latin typeface="Segoe UI"/>
                <a:ea typeface="Microsoft YaHei"/>
              </a:rPr>
              <a:t>FK 行即关联关系，完整外键见 docs/数据库ER图与全量表结构.md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12064"/>
            <a:ext cx="4224528" cy="2798064"/>
          </a:xfrm>
          <a:prstGeom prst="roundRect">
            <a:avLst>
              <a:gd name="adj" fmla="val 2614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" y="557784"/>
            <a:ext cx="4005072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① 权限与访问控制 RBAC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17136" y="512064"/>
            <a:ext cx="3054096" cy="2798064"/>
          </a:xfrm>
          <a:prstGeom prst="roundRect">
            <a:avLst>
              <a:gd name="adj" fmla="val 2614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26864" y="557784"/>
            <a:ext cx="28346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47857"/>
                </a:solidFill>
                <a:latin typeface="Segoe UI"/>
                <a:ea typeface="Microsoft YaHei"/>
              </a:rPr>
              <a:t>② 退役系统管理（核心）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62672" y="512064"/>
            <a:ext cx="4325112" cy="2798064"/>
          </a:xfrm>
          <a:prstGeom prst="roundRect">
            <a:avLst>
              <a:gd name="adj" fmla="val 2614"/>
            </a:avLst>
          </a:prstGeom>
          <a:solidFill>
            <a:srgbClr val="ECFEFF"/>
          </a:solidFill>
          <a:ln w="1397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557784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E7490"/>
                </a:solidFill>
                <a:latin typeface="Segoe UI"/>
                <a:ea typeface="Microsoft YaHei"/>
              </a:rPr>
              <a:t>⑦ 动态查询（含归档 Schema）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" y="3401568"/>
            <a:ext cx="3017520" cy="3310128"/>
          </a:xfrm>
          <a:prstGeom prst="roundRect">
            <a:avLst>
              <a:gd name="adj" fmla="val 2424"/>
            </a:avLst>
          </a:prstGeom>
          <a:solidFill>
            <a:srgbClr val="FFF7ED"/>
          </a:solidFill>
          <a:ln w="1397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" y="3447288"/>
            <a:ext cx="2798063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EA580C"/>
                </a:solidFill>
                <a:latin typeface="Segoe UI"/>
                <a:ea typeface="Microsoft YaHei"/>
              </a:rPr>
              <a:t>③ 源数据 · ④ 目标存储 · ⑥ 附件索引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401568"/>
            <a:ext cx="4041648" cy="3310128"/>
          </a:xfrm>
          <a:prstGeom prst="roundRect">
            <a:avLst>
              <a:gd name="adj" fmla="val 2209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9856" y="3447288"/>
            <a:ext cx="3822191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6D28D9"/>
                </a:solidFill>
                <a:latin typeface="Segoe UI"/>
                <a:ea typeface="Microsoft YaHei"/>
              </a:rPr>
              <a:t>⑤ 同步与归档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43216" y="3401568"/>
            <a:ext cx="2139696" cy="3310128"/>
          </a:xfrm>
          <a:prstGeom prst="roundRect">
            <a:avLst>
              <a:gd name="adj" fmla="val 3418"/>
            </a:avLst>
          </a:prstGeom>
          <a:solidFill>
            <a:srgbClr val="FFF1F2"/>
          </a:solidFill>
          <a:ln w="1397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52944" y="3447288"/>
            <a:ext cx="19202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E11D48"/>
                </a:solidFill>
                <a:latin typeface="Segoe UI"/>
                <a:ea typeface="Microsoft YaHei"/>
              </a:rPr>
              <a:t>⑧ 生命周期与保留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74352" y="3401568"/>
            <a:ext cx="2313432" cy="3310128"/>
          </a:xfrm>
          <a:prstGeom prst="roundRect">
            <a:avLst>
              <a:gd name="adj" fmla="val 3162"/>
            </a:avLst>
          </a:prstGeom>
          <a:solidFill>
            <a:srgbClr val="F6F8FA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3447288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75569"/>
                </a:solidFill>
                <a:latin typeface="Segoe UI"/>
                <a:ea typeface="Microsoft YaHei"/>
              </a:rPr>
              <a:t>⑨ 销毁审批 · ⑩ 通知 · ⑪ 审计监控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786384"/>
            <a:ext cx="1975104" cy="1316736"/>
          </a:xfrm>
          <a:prstGeom prst="roundRect">
            <a:avLst>
              <a:gd name="adj" fmla="val 2777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10896" y="786384"/>
            <a:ext cx="1975104" cy="18288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804672"/>
            <a:ext cx="1865376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8D4"/>
                </a:solidFill>
                <a:latin typeface="Segoe UI"/>
                <a:ea typeface="Microsoft YaHei"/>
              </a:rPr>
              <a:t>user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用户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" y="992124"/>
            <a:ext cx="1856232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Segoe UI"/>
                <a:ea typeface="Microsoft YaHei"/>
              </a:rPr>
              <a:t>UK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username 登录名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password_hash BCrypt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real_name · email · phone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status 启用/禁用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last_login_at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95728" y="786384"/>
            <a:ext cx="1920240" cy="932688"/>
          </a:xfrm>
          <a:prstGeom prst="roundRect">
            <a:avLst>
              <a:gd name="adj" fmla="val 3921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395728" y="786384"/>
            <a:ext cx="1920240" cy="18288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50592" y="804672"/>
            <a:ext cx="181051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8D4"/>
                </a:solidFill>
                <a:latin typeface="Segoe UI"/>
                <a:ea typeface="Microsoft YaHei"/>
              </a:rPr>
              <a:t>role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角色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9736" y="992124"/>
            <a:ext cx="1801368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Segoe UI"/>
                <a:ea typeface="Microsoft YaHei"/>
              </a:rPr>
              <a:t>UK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role_code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role_name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is_builtin 内置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0896" y="1792224"/>
            <a:ext cx="1975104" cy="896112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10896" y="1792224"/>
            <a:ext cx="1975104" cy="18288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1810512"/>
            <a:ext cx="1865376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8D4"/>
                </a:solidFill>
                <a:latin typeface="Segoe UI"/>
                <a:ea typeface="Microsoft YaHei"/>
              </a:rPr>
              <a:t>permission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权限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4" y="1997964"/>
            <a:ext cx="1856232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Segoe UI"/>
                <a:ea typeface="Microsoft YaHei"/>
              </a:rPr>
              <a:t>UK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permission_code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module 模块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resource_type api/menu/btn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95728" y="1792224"/>
            <a:ext cx="1920240" cy="896112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95728" y="1792224"/>
            <a:ext cx="1920240" cy="18288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50592" y="1810512"/>
            <a:ext cx="181051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8D4"/>
                </a:solidFill>
                <a:latin typeface="Segoe UI"/>
                <a:ea typeface="Microsoft YaHei"/>
              </a:rPr>
              <a:t>page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页面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9736" y="1997964"/>
            <a:ext cx="1801368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Segoe UI"/>
                <a:ea typeface="Microsoft YaHei"/>
              </a:rPr>
              <a:t>UK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page_code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path 路由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enabled · sort_order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0896" y="2834640"/>
            <a:ext cx="1298448" cy="384048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10896" y="2834640"/>
            <a:ext cx="1298448" cy="18288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2852928"/>
            <a:ext cx="1188719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8D4"/>
                </a:solidFill>
                <a:latin typeface="Segoe UI"/>
                <a:ea typeface="Microsoft YaHei"/>
              </a:rPr>
              <a:t>user_role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用户角色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4" y="3040380"/>
            <a:ext cx="1179576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078D4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user_id + role_id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719072" y="2834640"/>
            <a:ext cx="1298448" cy="384048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719072" y="2834640"/>
            <a:ext cx="1298448" cy="18288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73936" y="2852928"/>
            <a:ext cx="1188719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8D4"/>
                </a:solidFill>
                <a:latin typeface="Segoe UI"/>
                <a:ea typeface="Microsoft YaHei"/>
              </a:rPr>
              <a:t>role_permission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角色权限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3040380"/>
            <a:ext cx="1179576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078D4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role_id + permission_id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27248" y="2834640"/>
            <a:ext cx="1188720" cy="384048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127248" y="2834640"/>
            <a:ext cx="1188720" cy="18288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82112" y="2852928"/>
            <a:ext cx="107899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78D4"/>
                </a:solidFill>
                <a:latin typeface="Segoe UI"/>
                <a:ea typeface="Microsoft YaHei"/>
              </a:rPr>
              <a:t>role_page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角色页面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91256" y="3040380"/>
            <a:ext cx="106984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078D4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role_id + page_id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26864" y="786384"/>
            <a:ext cx="2834640" cy="2084831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2032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626864" y="786384"/>
            <a:ext cx="2834640" cy="182880"/>
          </a:xfrm>
          <a:prstGeom prst="roundRect">
            <a:avLst>
              <a:gd name="adj" fmla="val 2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81727" y="804672"/>
            <a:ext cx="272491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47857"/>
                </a:solidFill>
                <a:latin typeface="Segoe UI"/>
                <a:ea typeface="Microsoft YaHei"/>
              </a:rPr>
              <a:t>decommission_system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退役系统 · 核心枢纽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0872" y="992124"/>
            <a:ext cx="2715768" cy="1865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Segoe UI"/>
                <a:ea typeface="Microsoft YaHei"/>
              </a:rPr>
              <a:t>UK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system_code 如 CRM_V1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system_name · department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owner · owner_email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status 六态状态机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retention_years 保留年限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sync_completed_date 保留起算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destroy_after_date 到期日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actual_destroy_date 销毁日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26864" y="2926080"/>
            <a:ext cx="2834640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626864" y="2926080"/>
            <a:ext cx="2834640" cy="182880"/>
          </a:xfrm>
          <a:prstGeom prst="roundRect">
            <a:avLst>
              <a:gd name="adj" fmla="val 2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81727" y="2944368"/>
            <a:ext cx="272491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47857"/>
                </a:solidFill>
                <a:latin typeface="Segoe UI"/>
                <a:ea typeface="Microsoft YaHei"/>
              </a:rPr>
              <a:t>system_user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系统-用户授权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90872" y="3131820"/>
            <a:ext cx="2715768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47857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system_id + user_id（系统级隔离）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72400" y="786384"/>
            <a:ext cx="1975104" cy="1152144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1270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772400" y="786384"/>
            <a:ext cx="1975104" cy="18288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27264" y="804672"/>
            <a:ext cx="1865376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E7490"/>
                </a:solidFill>
                <a:latin typeface="Segoe UI"/>
                <a:ea typeface="Microsoft YaHei"/>
              </a:rPr>
              <a:t>query_config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查询配置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36408" y="992124"/>
            <a:ext cx="1856232" cy="932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E7490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system_id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name · description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base_table 主表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status active/draft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857232" y="786384"/>
            <a:ext cx="2020824" cy="969264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857232" y="786384"/>
            <a:ext cx="2020824" cy="18288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12096" y="804672"/>
            <a:ext cx="1911095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E7490"/>
                </a:solidFill>
                <a:latin typeface="Segoe UI"/>
                <a:ea typeface="Microsoft YaHei"/>
              </a:rPr>
              <a:t>schema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归档 Schema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1240" y="992124"/>
            <a:ext cx="1901952" cy="749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E7490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system_id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catalog_name 如 lake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schema_name 如 CRM_V1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0" y="1993392"/>
            <a:ext cx="1975104" cy="1243584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772400" y="1993392"/>
            <a:ext cx="1975104" cy="18288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27264" y="2011680"/>
            <a:ext cx="1865376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E7490"/>
                </a:solidFill>
                <a:latin typeface="Segoe UI"/>
                <a:ea typeface="Microsoft YaHei"/>
              </a:rPr>
              <a:t>query_field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字段定义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36408" y="2199132"/>
            <a:ext cx="1856232" cy="1024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E7490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query_config_id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column_name · alias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filter_type 筛选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is_pii 隐私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mask_type 脱敏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857232" y="1993392"/>
            <a:ext cx="2020824" cy="768096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1270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857232" y="1993392"/>
            <a:ext cx="2020824" cy="18288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12096" y="2011680"/>
            <a:ext cx="1911095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E7490"/>
                </a:solidFill>
                <a:latin typeface="Segoe UI"/>
                <a:ea typeface="Microsoft YaHei"/>
              </a:rPr>
              <a:t>query_join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连接定义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21240" y="2199132"/>
            <a:ext cx="190195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E7490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query_config_id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join_table · join_type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left_field → right_field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857232" y="2816352"/>
            <a:ext cx="2020824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857232" y="2816352"/>
            <a:ext cx="2020824" cy="18288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912096" y="2834640"/>
            <a:ext cx="1911095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E7490"/>
                </a:solidFill>
                <a:latin typeface="Segoe UI"/>
                <a:ea typeface="Microsoft YaHei"/>
              </a:rPr>
              <a:t>drill_config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下钻配置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21240" y="3022092"/>
            <a:ext cx="190195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E7490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query_config_id + schema_id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parent_field → child_field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10896" y="3675887"/>
            <a:ext cx="1408176" cy="1316736"/>
          </a:xfrm>
          <a:prstGeom prst="roundRect">
            <a:avLst>
              <a:gd name="adj" fmla="val 2777"/>
            </a:avLst>
          </a:prstGeom>
          <a:solidFill>
            <a:srgbClr val="FFFFFF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10896" y="3675887"/>
            <a:ext cx="1408176" cy="182880"/>
          </a:xfrm>
          <a:prstGeom prst="roundRect">
            <a:avLst>
              <a:gd name="adj" fmla="val 20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3694175"/>
            <a:ext cx="129844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EA580C"/>
                </a:solidFill>
                <a:latin typeface="Segoe UI"/>
                <a:ea typeface="Microsoft YaHei"/>
              </a:rPr>
              <a:t>source_database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源数据库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4904" y="3881627"/>
            <a:ext cx="1289304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EA580C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system_id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db_type 类型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host : 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database_name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credential_ref 密钥引用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test_status 连通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810512" y="3675887"/>
            <a:ext cx="1408176" cy="1316736"/>
          </a:xfrm>
          <a:prstGeom prst="roundRect">
            <a:avLst>
              <a:gd name="adj" fmla="val 2777"/>
            </a:avLst>
          </a:prstGeom>
          <a:solidFill>
            <a:srgbClr val="FFFFFF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810512" y="3675887"/>
            <a:ext cx="1408176" cy="182880"/>
          </a:xfrm>
          <a:prstGeom prst="roundRect">
            <a:avLst>
              <a:gd name="adj" fmla="val 20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865376" y="3694175"/>
            <a:ext cx="129844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EA580C"/>
                </a:solidFill>
                <a:latin typeface="Segoe UI"/>
                <a:ea typeface="Microsoft YaHei"/>
              </a:rPr>
              <a:t>source_table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源表清单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74519" y="3881627"/>
            <a:ext cx="1289304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EA580C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source_database_id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table_name · alias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primary_key 主键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estimated_rows 行数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is_attachment 附件表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10896" y="5065776"/>
            <a:ext cx="1408176" cy="804672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10896" y="5065776"/>
            <a:ext cx="1408176" cy="182880"/>
          </a:xfrm>
          <a:prstGeom prst="roundRect">
            <a:avLst>
              <a:gd name="adj" fmla="val 20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5084064"/>
            <a:ext cx="129844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EA580C"/>
                </a:solidFill>
                <a:latin typeface="Segoe UI"/>
                <a:ea typeface="Microsoft YaHei"/>
              </a:rPr>
              <a:t>unstructured_source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非结构化源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74904" y="5271516"/>
            <a:ext cx="1289304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EA580C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system_id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source_type 类型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location_uri · file_pattern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810512" y="5065776"/>
            <a:ext cx="1408176" cy="804672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1810512" y="5065776"/>
            <a:ext cx="1408176" cy="182880"/>
          </a:xfrm>
          <a:prstGeom prst="roundRect">
            <a:avLst>
              <a:gd name="adj" fmla="val 20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865376" y="5084064"/>
            <a:ext cx="129844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EA580C"/>
                </a:solidFill>
                <a:latin typeface="Segoe UI"/>
                <a:ea typeface="Microsoft YaHei"/>
              </a:rPr>
              <a:t>unstructured_item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文件条目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74519" y="5271516"/>
            <a:ext cx="1289304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EA580C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unstructured_source_id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original_path · 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hash · size_bytes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10896" y="5907024"/>
            <a:ext cx="1408176" cy="768096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310896" y="5907024"/>
            <a:ext cx="1408176" cy="182880"/>
          </a:xfrm>
          <a:prstGeom prst="roundRect">
            <a:avLst>
              <a:gd name="adj" fmla="val 20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5760" y="5925312"/>
            <a:ext cx="129844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EA580C"/>
                </a:solidFill>
                <a:latin typeface="Segoe UI"/>
                <a:ea typeface="Microsoft YaHei"/>
              </a:rPr>
              <a:t>storage_config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目标存储 ④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4904" y="6112764"/>
            <a:ext cx="128930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EA580C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system_id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storage_type ADLS/BLOB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account · container · prefix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file_format ICEBERG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810512" y="5907024"/>
            <a:ext cx="1408176" cy="768096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1810512" y="5907024"/>
            <a:ext cx="1408176" cy="182880"/>
          </a:xfrm>
          <a:prstGeom prst="roundRect">
            <a:avLst>
              <a:gd name="adj" fmla="val 20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865376" y="5925312"/>
            <a:ext cx="129844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EA580C"/>
                </a:solidFill>
                <a:latin typeface="Segoe UI"/>
                <a:ea typeface="Microsoft YaHei"/>
              </a:rPr>
              <a:t>attachment_index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附件索引 ⑥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74519" y="6112764"/>
            <a:ext cx="128930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EA580C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system_id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table_name · business_key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object_key · container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sha256 · size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419856" y="3675887"/>
            <a:ext cx="2505456" cy="1499616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3419856" y="3675887"/>
            <a:ext cx="2505456" cy="18288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474720" y="3694175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D28D9"/>
                </a:solidFill>
                <a:latin typeface="Segoe UI"/>
                <a:ea typeface="Microsoft YaHei"/>
              </a:rPr>
              <a:t>sync_job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同步任务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483864" y="3881627"/>
            <a:ext cx="2386584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6D28D9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system_id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6D28D9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assignment_id 销毁指派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job_type FULL/INCR/COMPACT/DESTROY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trigger_type · status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started_at · finished_at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total/success_tables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total_rows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16752" y="3675887"/>
            <a:ext cx="1225296" cy="1499616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6016752" y="3675887"/>
            <a:ext cx="1225296" cy="18288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071616" y="3694175"/>
            <a:ext cx="111556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D28D9"/>
                </a:solidFill>
                <a:latin typeface="Segoe UI"/>
                <a:ea typeface="Microsoft YaHei"/>
              </a:rPr>
              <a:t>sync_job_config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定时配置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080760" y="3881627"/>
            <a:ext cx="1106424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6D28D9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system_id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job_name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cron_expr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enabled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last_run_at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419856" y="5230368"/>
            <a:ext cx="1207008" cy="67665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3419856" y="5230368"/>
            <a:ext cx="1207008" cy="18288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74720" y="5248655"/>
            <a:ext cx="109728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D28D9"/>
                </a:solidFill>
                <a:latin typeface="Segoe UI"/>
                <a:ea typeface="Microsoft YaHei"/>
              </a:rPr>
              <a:t>sync_table_config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表级配置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83864" y="5436107"/>
            <a:ext cx="108813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6D28D9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system_id + source_table_id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enabled · date_column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retain_years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718304" y="5230368"/>
            <a:ext cx="1207008" cy="67665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4718304" y="5230368"/>
            <a:ext cx="1207008" cy="18288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773168" y="5248655"/>
            <a:ext cx="109728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D28D9"/>
                </a:solidFill>
                <a:latin typeface="Segoe UI"/>
                <a:ea typeface="Microsoft YaHei"/>
              </a:rPr>
              <a:t>sync_table_stat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表级统计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782312" y="5436107"/>
            <a:ext cx="108813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6D28D9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sync_job_id + source_table_id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row_count · size_bytes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status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016752" y="5230368"/>
            <a:ext cx="1225296" cy="67665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016752" y="5230368"/>
            <a:ext cx="1225296" cy="18288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071616" y="5248655"/>
            <a:ext cx="111556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D28D9"/>
                </a:solidFill>
                <a:latin typeface="Segoe UI"/>
                <a:ea typeface="Microsoft YaHei"/>
              </a:rPr>
              <a:t>archive_batch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归档批次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080760" y="5436107"/>
            <a:ext cx="110642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6D28D9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sync_job_id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batch_year · rows_out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result · log_url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419856" y="5961888"/>
            <a:ext cx="1207008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3419856" y="5961888"/>
            <a:ext cx="1207008" cy="18288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474720" y="5980175"/>
            <a:ext cx="109728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D28D9"/>
                </a:solidFill>
                <a:latin typeface="Segoe UI"/>
                <a:ea typeface="Microsoft YaHei"/>
              </a:rPr>
              <a:t>archive_file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归档文件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483864" y="6167627"/>
            <a:ext cx="1088136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6D28D9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batch_id + source_table_id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blob_url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size · checksum · etag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5961888"/>
            <a:ext cx="1207008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718304" y="5961888"/>
            <a:ext cx="1207008" cy="18288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773168" y="5980175"/>
            <a:ext cx="109728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D28D9"/>
                </a:solidFill>
                <a:latin typeface="Segoe UI"/>
                <a:ea typeface="Microsoft YaHei"/>
              </a:rPr>
              <a:t>archive_set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归档集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782312" y="6167627"/>
            <a:ext cx="1088136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6D28D9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archive_batch_id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set_name · dir_url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items · bytes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016752" y="5961888"/>
            <a:ext cx="1225296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6016752" y="5961888"/>
            <a:ext cx="1225296" cy="18288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071616" y="5980175"/>
            <a:ext cx="111556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6D28D9"/>
                </a:solidFill>
                <a:latin typeface="Segoe UI"/>
                <a:ea typeface="Microsoft YaHei"/>
              </a:rPr>
              <a:t>archive_set_item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集条目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080760" y="6167627"/>
            <a:ext cx="1106424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6D28D9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archive_set_id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original_name · blob_url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size · checksum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7552944" y="3675887"/>
            <a:ext cx="19202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7552944" y="3675887"/>
            <a:ext cx="1920240" cy="182880"/>
          </a:xfrm>
          <a:prstGeom prst="roundRect">
            <a:avLst>
              <a:gd name="adj" fmla="val 20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607808" y="3694175"/>
            <a:ext cx="181051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E11D48"/>
                </a:solidFill>
                <a:latin typeface="Segoe UI"/>
                <a:ea typeface="Microsoft YaHei"/>
              </a:rPr>
              <a:t>retention_policy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保留策略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616952" y="3881627"/>
            <a:ext cx="1801368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Segoe UI"/>
                <a:ea typeface="Microsoft YaHei"/>
              </a:rPr>
              <a:t>UK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policy_code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policy_name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period_days 天数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start_trigger 起算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552944" y="4681728"/>
            <a:ext cx="1920240" cy="969264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7552944" y="4681728"/>
            <a:ext cx="1920240" cy="182880"/>
          </a:xfrm>
          <a:prstGeom prst="roundRect">
            <a:avLst>
              <a:gd name="adj" fmla="val 20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607808" y="4700016"/>
            <a:ext cx="181051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E11D48"/>
                </a:solidFill>
                <a:latin typeface="Segoe UI"/>
                <a:ea typeface="Microsoft YaHei"/>
              </a:rPr>
              <a:t>retention_assignment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保留指派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616952" y="4887468"/>
            <a:ext cx="1801368" cy="749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E11D48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policy_id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object_type SYSTEM/TABLE/SET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start_date · due_date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status ACTIVE/EXPIRED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7552944" y="5724144"/>
            <a:ext cx="1920240" cy="768096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7552944" y="5724144"/>
            <a:ext cx="1920240" cy="182880"/>
          </a:xfrm>
          <a:prstGeom prst="roundRect">
            <a:avLst>
              <a:gd name="adj" fmla="val 20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607808" y="5742431"/>
            <a:ext cx="181051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E11D48"/>
                </a:solidFill>
                <a:latin typeface="Segoe UI"/>
                <a:ea typeface="Microsoft YaHei"/>
              </a:rPr>
              <a:t>legal_hold_event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法定保留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616952" y="5929883"/>
            <a:ext cx="180136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E11D48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assignment_id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action HOLD/RELEASE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reason · actor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9784080" y="3675887"/>
            <a:ext cx="2093976" cy="804672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9784080" y="3675887"/>
            <a:ext cx="2093976" cy="182880"/>
          </a:xfrm>
          <a:prstGeom prst="roundRect">
            <a:avLst>
              <a:gd name="adj" fmla="val 20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838944" y="3694175"/>
            <a:ext cx="198424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475569"/>
                </a:solidFill>
                <a:latin typeface="Segoe UI"/>
                <a:ea typeface="Microsoft YaHei"/>
              </a:rPr>
              <a:t>destroy_approval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销毁审批 ⑨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848088" y="3881627"/>
            <a:ext cx="1975104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475569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sync_job_id + approver_id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decision APPROVE/REJECT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comment · decided_at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9784080" y="4553712"/>
            <a:ext cx="2093976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9784080" y="4553712"/>
            <a:ext cx="2093976" cy="182880"/>
          </a:xfrm>
          <a:prstGeom prst="roundRect">
            <a:avLst>
              <a:gd name="adj" fmla="val 20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838944" y="4572000"/>
            <a:ext cx="198424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475569"/>
                </a:solidFill>
                <a:latin typeface="Segoe UI"/>
                <a:ea typeface="Microsoft YaHei"/>
              </a:rPr>
              <a:t>audit_log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审计日志 ⑪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848088" y="4759452"/>
            <a:ext cx="1975104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475569"/>
                </a:solidFill>
                <a:latin typeface="Segoe UI"/>
                <a:ea typeface="Microsoft YaHei"/>
              </a:rPr>
              <a:t>FK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user_id 弱关联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action · module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target_type · target_id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ip · status · duration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9784080" y="5632704"/>
            <a:ext cx="2093976" cy="603504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9784080" y="5632704"/>
            <a:ext cx="2093976" cy="182880"/>
          </a:xfrm>
          <a:prstGeom prst="roundRect">
            <a:avLst>
              <a:gd name="adj" fmla="val 20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838944" y="5650992"/>
            <a:ext cx="198424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475569"/>
                </a:solidFill>
                <a:latin typeface="Segoe UI"/>
                <a:ea typeface="Microsoft YaHei"/>
              </a:rPr>
              <a:t>notification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通知 ⑩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848088" y="5838444"/>
            <a:ext cx="197510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DC2626"/>
                </a:solidFill>
                <a:latin typeface="Segoe UI"/>
                <a:ea typeface="Microsoft YaHei"/>
              </a:rPr>
              <a:t>PK </a:t>
            </a:r>
            <a:r>
              <a:rPr sz="530" b="0" i="0">
                <a:solidFill>
                  <a:srgbClr val="64748B"/>
                </a:solidFill>
                <a:latin typeface="Segoe UI"/>
                <a:ea typeface="Microsoft YaHei"/>
              </a:rPr>
              <a:t>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recipient · channel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title · status · sent_at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9784080" y="6291072"/>
            <a:ext cx="2093976" cy="384048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784080" y="6291072"/>
            <a:ext cx="2093976" cy="182880"/>
          </a:xfrm>
          <a:prstGeom prst="roundRect">
            <a:avLst>
              <a:gd name="adj" fmla="val 20000"/>
            </a:avLst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838944" y="6309359"/>
            <a:ext cx="1984248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475569"/>
                </a:solidFill>
                <a:latin typeface="Segoe UI"/>
                <a:ea typeface="Microsoft YaHei"/>
              </a:rPr>
              <a:t>sync_activity</a:t>
            </a: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  同步活跃度 ⑪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848088" y="6496812"/>
            <a:ext cx="197510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activity_date 按天预聚合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0" b="0" i="0">
                <a:solidFill>
                  <a:srgbClr val="475569"/>
                </a:solidFill>
                <a:latin typeface="Segoe UI"/>
                <a:ea typeface="Microsoft YaHei"/>
              </a:rPr>
              <a:t>成功/失败/部分/运行中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286000" y="1755648"/>
            <a:ext cx="2185416" cy="0"/>
          </a:xfrm>
          <a:prstGeom prst="line">
            <a:avLst/>
          </a:prstGeom>
          <a:ln w="13970">
            <a:solidFill>
              <a:srgbClr val="94A3B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4471416" y="1755648"/>
            <a:ext cx="0" cy="1335024"/>
          </a:xfrm>
          <a:prstGeom prst="line">
            <a:avLst/>
          </a:prstGeom>
          <a:ln w="13970">
            <a:solidFill>
              <a:srgbClr val="94A3B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4471416" y="3090672"/>
            <a:ext cx="155448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62" name="Connector 161"/>
          <p:cNvCxnSpPr/>
          <p:nvPr/>
        </p:nvCxnSpPr>
        <p:spPr>
          <a:xfrm>
            <a:off x="5120640" y="2871216"/>
            <a:ext cx="0" cy="54864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7461504" y="1188720"/>
            <a:ext cx="310896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64" name="Connector 163"/>
          <p:cNvCxnSpPr/>
          <p:nvPr/>
        </p:nvCxnSpPr>
        <p:spPr>
          <a:xfrm>
            <a:off x="6035040" y="2871216"/>
            <a:ext cx="0" cy="484632"/>
          </a:xfrm>
          <a:prstGeom prst="line">
            <a:avLst/>
          </a:prstGeom>
          <a:ln w="13970">
            <a:solidFill>
              <a:srgbClr val="94A3B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 flipH="1">
            <a:off x="4754880" y="3355848"/>
            <a:ext cx="1280160" cy="0"/>
          </a:xfrm>
          <a:prstGeom prst="line">
            <a:avLst/>
          </a:prstGeom>
          <a:ln w="13970">
            <a:solidFill>
              <a:srgbClr val="94A3B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>
            <a:off x="4754880" y="3355848"/>
            <a:ext cx="0" cy="320039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67" name="TextBox 166"/>
          <p:cNvSpPr txBox="1"/>
          <p:nvPr/>
        </p:nvSpPr>
        <p:spPr>
          <a:xfrm>
            <a:off x="4846320" y="3456432"/>
            <a:ext cx="21031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 i="0">
                <a:solidFill>
                  <a:srgbClr val="64748B"/>
                </a:solidFill>
                <a:latin typeface="Segoe UI"/>
                <a:ea typeface="Microsoft YaHei"/>
              </a:rPr>
              <a:t>1 : *  同步任务</a:t>
            </a:r>
          </a:p>
        </p:txBody>
      </p:sp>
      <p:cxnSp>
        <p:nvCxnSpPr>
          <p:cNvPr id="168" name="Connector 167"/>
          <p:cNvCxnSpPr/>
          <p:nvPr/>
        </p:nvCxnSpPr>
        <p:spPr>
          <a:xfrm flipH="1">
            <a:off x="4471416" y="2377440"/>
            <a:ext cx="155448" cy="0"/>
          </a:xfrm>
          <a:prstGeom prst="line">
            <a:avLst/>
          </a:prstGeom>
          <a:ln w="13970">
            <a:solidFill>
              <a:srgbClr val="94A3B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4471416" y="2377440"/>
            <a:ext cx="0" cy="978408"/>
          </a:xfrm>
          <a:prstGeom prst="line">
            <a:avLst/>
          </a:prstGeom>
          <a:ln w="13970">
            <a:solidFill>
              <a:srgbClr val="94A3B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H="1">
            <a:off x="2834640" y="3355848"/>
            <a:ext cx="1636776" cy="0"/>
          </a:xfrm>
          <a:prstGeom prst="line">
            <a:avLst/>
          </a:prstGeom>
          <a:ln w="13970">
            <a:solidFill>
              <a:srgbClr val="94A3B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2834640" y="3355848"/>
            <a:ext cx="0" cy="54864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2" name="TextBox 171"/>
          <p:cNvSpPr txBox="1"/>
          <p:nvPr/>
        </p:nvSpPr>
        <p:spPr>
          <a:xfrm>
            <a:off x="2761488" y="3326587"/>
            <a:ext cx="21031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00" b="1" i="0">
                <a:solidFill>
                  <a:srgbClr val="64748B"/>
                </a:solidFill>
                <a:latin typeface="Segoe UI"/>
                <a:ea typeface="Microsoft YaHei"/>
              </a:rPr>
              <a:t>1 : *  源库 / 文件源 / 存储 / 附件</a:t>
            </a:r>
          </a:p>
        </p:txBody>
      </p:sp>
      <p:cxnSp>
        <p:nvCxnSpPr>
          <p:cNvPr id="173" name="Connector 172"/>
          <p:cNvCxnSpPr/>
          <p:nvPr/>
        </p:nvCxnSpPr>
        <p:spPr>
          <a:xfrm>
            <a:off x="1719072" y="4206240"/>
            <a:ext cx="9144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74" name="Connector 173"/>
          <p:cNvCxnSpPr/>
          <p:nvPr/>
        </p:nvCxnSpPr>
        <p:spPr>
          <a:xfrm>
            <a:off x="1719072" y="5468112"/>
            <a:ext cx="9144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3218688" y="4206240"/>
            <a:ext cx="45720" cy="0"/>
          </a:xfrm>
          <a:prstGeom prst="line">
            <a:avLst/>
          </a:prstGeom>
          <a:ln w="13970">
            <a:solidFill>
              <a:srgbClr val="94A3B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>
            <a:off x="3264408" y="4206240"/>
            <a:ext cx="0" cy="1280160"/>
          </a:xfrm>
          <a:prstGeom prst="line">
            <a:avLst/>
          </a:prstGeom>
          <a:ln w="13970">
            <a:solidFill>
              <a:srgbClr val="94A3B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3264408" y="5486400"/>
            <a:ext cx="155448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78" name="Connector 177"/>
          <p:cNvCxnSpPr/>
          <p:nvPr/>
        </p:nvCxnSpPr>
        <p:spPr>
          <a:xfrm>
            <a:off x="5321808" y="5175504"/>
            <a:ext cx="0" cy="54864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5925312" y="4937760"/>
            <a:ext cx="704088" cy="0"/>
          </a:xfrm>
          <a:prstGeom prst="line">
            <a:avLst/>
          </a:prstGeom>
          <a:ln w="13970">
            <a:solidFill>
              <a:srgbClr val="94A3B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>
            <a:off x="6629400" y="4937760"/>
            <a:ext cx="0" cy="292608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6629400" y="5907024"/>
            <a:ext cx="0" cy="54864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82" name="Connector 181"/>
          <p:cNvCxnSpPr/>
          <p:nvPr/>
        </p:nvCxnSpPr>
        <p:spPr>
          <a:xfrm>
            <a:off x="5925312" y="6309360"/>
            <a:ext cx="9144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8513064" y="4626864"/>
            <a:ext cx="0" cy="54864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84" name="Connector 183"/>
          <p:cNvCxnSpPr/>
          <p:nvPr/>
        </p:nvCxnSpPr>
        <p:spPr>
          <a:xfrm>
            <a:off x="8513064" y="5650992"/>
            <a:ext cx="0" cy="73152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85" name="Connector 184"/>
          <p:cNvCxnSpPr/>
          <p:nvPr/>
        </p:nvCxnSpPr>
        <p:spPr>
          <a:xfrm flipH="1">
            <a:off x="7397496" y="5120640"/>
            <a:ext cx="155448" cy="0"/>
          </a:xfrm>
          <a:prstGeom prst="line">
            <a:avLst/>
          </a:prstGeom>
          <a:ln w="13970">
            <a:solidFill>
              <a:srgbClr val="94A3B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7397496" y="3291840"/>
            <a:ext cx="0" cy="1828800"/>
          </a:xfrm>
          <a:prstGeom prst="line">
            <a:avLst/>
          </a:prstGeom>
          <a:ln w="13970">
            <a:solidFill>
              <a:srgbClr val="94A3B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 flipH="1">
            <a:off x="5669280" y="3291840"/>
            <a:ext cx="1728216" cy="0"/>
          </a:xfrm>
          <a:prstGeom prst="line">
            <a:avLst/>
          </a:prstGeom>
          <a:ln w="13970">
            <a:solidFill>
              <a:srgbClr val="94A3B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5669280" y="3291840"/>
            <a:ext cx="0" cy="384047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8759952" y="1938528"/>
            <a:ext cx="0" cy="54864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  <a:effectLst/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