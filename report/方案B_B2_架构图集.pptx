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 /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三张核心架构图 · 全部以 PPT 原生形状绘制，文字 / 颜色 / 位置均可直接编辑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310128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438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4381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42900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6941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4169664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4297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297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28853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Serverless SQL Warehouse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55371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5029200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515721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51572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51480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41324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053328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6163056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湖仓一体 · Databricks 读写 · 共 17 个组件 · 无 Trino 集群 / 无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01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SQL Serverless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21" name="Oval 20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5" name="Oval 24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9" name="Oval 28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SQL Warehouse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Jobs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2" name="Connector 101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4" name="TextBox 103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工作区私有端点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5" name="TextBox 134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6" name="Connector 135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8" name="TextBox 137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88" name="Connector 187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2" name="Connector 191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3" name="TextBox 192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5" name="Connector 194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6" name="TextBox 195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全部 PaaS 私有端点接入，流量不出 Azure 骨干网；入口 WAF + App Gateway 收敛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Serverless SQL Warehouse 读）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应用逻辑分层视角 · 读侧 SQL Warehouse · 与基础设施部署拓扑互补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02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0" name="Oval 9"/>
          <p:cNvSpPr/>
          <p:nvPr/>
        </p:nvSpPr>
        <p:spPr>
          <a:xfrm>
            <a:off x="72114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985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2374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117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4" name="Oval 13"/>
          <p:cNvSpPr/>
          <p:nvPr/>
        </p:nvSpPr>
        <p:spPr>
          <a:xfrm>
            <a:off x="269624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496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9884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8" name="Oval 17"/>
          <p:cNvSpPr/>
          <p:nvPr/>
        </p:nvSpPr>
        <p:spPr>
          <a:xfrm>
            <a:off x="467134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5006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46920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74352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4" name="Rounded Rectangle 23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70078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1700784"/>
            <a:ext cx="241401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1700784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46704" y="1764792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6704" y="1938528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46920" y="1700784"/>
            <a:ext cx="22128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74352" y="1700784"/>
            <a:ext cx="215798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046720" y="1984248"/>
            <a:ext cx="158191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4" name="TextBox 33"/>
          <p:cNvSpPr txBox="1"/>
          <p:nvPr/>
        </p:nvSpPr>
        <p:spPr>
          <a:xfrm>
            <a:off x="8138160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5" name="Rounded Rectangle 44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Jobs：ETL · Compaction · DROP PARTITION + VACUUM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Serverless SQL Warehouse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5" name="Rounded Rectangle 54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5" name="Rounded Rectangle 64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2" name="TextBox 71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47472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8640" y="5084064"/>
            <a:ext cx="347472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76072" y="5084064"/>
            <a:ext cx="341985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20624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3367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680960" y="5084064"/>
            <a:ext cx="388620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08392" y="5084064"/>
            <a:ext cx="383133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0" name="TextBox 89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2" name="TextBox 91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01168" y="5705856"/>
            <a:ext cx="7498079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60" y="5705856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827264" y="5705856"/>
            <a:ext cx="4169663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991856" y="57058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Serverless SQL Warehouse 完全托管 · 空闲缩 0；代价是引擎绑定 + 需 Premium 层（NCC / PE）</a:t>
            </a:r>
          </a:p>
        </p:txBody>
      </p:sp>
      <p:sp>
        <p:nvSpPr>
          <p:cNvPr id="97" name="Oval 96"/>
          <p:cNvSpPr/>
          <p:nvPr/>
        </p:nvSpPr>
        <p:spPr>
          <a:xfrm>
            <a:off x="54864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7665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99" name="Oval 98"/>
          <p:cNvSpPr/>
          <p:nvPr/>
        </p:nvSpPr>
        <p:spPr>
          <a:xfrm>
            <a:off x="212323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25125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1" name="Oval 100"/>
          <p:cNvSpPr/>
          <p:nvPr/>
        </p:nvSpPr>
        <p:spPr>
          <a:xfrm>
            <a:off x="332292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45094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3" name="Oval 102"/>
          <p:cNvSpPr/>
          <p:nvPr/>
        </p:nvSpPr>
        <p:spPr>
          <a:xfrm>
            <a:off x="452262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65063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5" name="Oval 104"/>
          <p:cNvSpPr/>
          <p:nvPr/>
        </p:nvSpPr>
        <p:spPr>
          <a:xfrm>
            <a:off x="579729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92531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对象存储冷湖（Iceberg）· Databricks 写读一体（Serverless）· PB 级从容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03 / 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7" name="Rounded Rectangle 6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3" name="Rounded Rectangle 42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5" name="Rounded Rectangle 54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SQL Warehouse 直接查询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8" name="Rounded Rectangle 77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2" name="Connector 81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Serverless SQL Warehouse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4" name="Rounded Rectangle 103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231136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258568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474720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502151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745736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961888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989320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3438144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4681728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5925312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31" name="Connector 130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4" name="TextBox 133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46" name="Connector 145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0" name="Connector 149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1" name="Connector 150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Jobs ≈¥0.4–0.8 万/月 · 读侧 Warehouse ≈¥0.5–0.9 万/月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Serverless SQL Warehouse · 零集群运维 · UC 授权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001000" y="6254496"/>
            <a:ext cx="398678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4A3B8"/>
                </a:solidFill>
                <a:latin typeface="Segoe UI"/>
                <a:ea typeface="Microsoft YaHei"/>
              </a:rPr>
              <a:t>编号沿用 Architecture.html 原图（B-00 / B-03 / B-04 / B-05）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 /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