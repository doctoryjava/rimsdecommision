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ETL 引擎对比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880360"/>
            <a:ext cx="5806440" cy="52120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29489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29489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2926079"/>
            <a:ext cx="5029200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154679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447288"/>
            <a:ext cx="5806440" cy="52120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515868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5158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493008"/>
            <a:ext cx="5029200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721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014215"/>
            <a:ext cx="5806440" cy="52120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082796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082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059935"/>
            <a:ext cx="5029200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2885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581144"/>
            <a:ext cx="5806440" cy="52120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4649724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46497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4626864"/>
            <a:ext cx="5029200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48554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148072"/>
            <a:ext cx="5806440" cy="52120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216652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2166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A580C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193792"/>
            <a:ext cx="5029200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172A"/>
                </a:solidFill>
                <a:latin typeface="Segoe UI"/>
                <a:ea typeface="Microsoft YaHei"/>
              </a:rPr>
              <a:t>ETL 引擎对比 · SeaTunnel vs Databricks Serverless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42239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抽取入湖分工：普通数据走 SeaTunnel · 敏感 / 加密数据走 Databricks 写侧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1248" y="5715000"/>
            <a:ext cx="5806440" cy="52120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9264" y="578358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" y="57835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75569"/>
                </a:solidFill>
                <a:latin typeface="Consolas"/>
                <a:ea typeface="Microsoft YaHei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36192" y="5760720"/>
            <a:ext cx="5029200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 · 上下两页）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36192" y="598932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上篇：平台 / 权限 / 数据源配置　下篇：同步归档 / 动态查询 / 保留销毁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档（新建唯一档）· NCC 需 Account Admin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新建工作区仅 Premium 档可选（Azure 现行政策），UC / PE / NCC 默认可用；NCC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0；代价是引擎绑定（数据仍为开放 Iceberg 可迁移）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Iceberg，随时可换引擎）。Premium 为新建工作区唯一档（Azure 现行政策）。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图（上）· 平台 / 权限 / 数据源配置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18 表 · 仅关键字段 · 通用列已省略 · 源码：report/元数据库ER图.mmd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640080"/>
            <a:ext cx="10241280" cy="347472"/>
          </a:xfrm>
          <a:prstGeom prst="roundRect">
            <a:avLst>
              <a:gd name="adj" fmla="val 15789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002182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① 权限与访问控制（RBAC）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920240"/>
            <a:ext cx="4160520" cy="347472"/>
          </a:xfrm>
          <a:prstGeom prst="roundRect">
            <a:avLst>
              <a:gd name="adj" fmla="val 15789"/>
            </a:avLst>
          </a:prstGeom>
          <a:solidFill>
            <a:srgbClr val="D5E8D4"/>
          </a:solidFill>
          <a:ln w="12700">
            <a:solidFill>
              <a:srgbClr val="9BCB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920240"/>
            <a:ext cx="3941063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③ 源数据配置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1920240"/>
            <a:ext cx="1783080" cy="347472"/>
          </a:xfrm>
          <a:prstGeom prst="roundRect">
            <a:avLst>
              <a:gd name="adj" fmla="val 15789"/>
            </a:avLst>
          </a:prstGeom>
          <a:solidFill>
            <a:srgbClr val="E1D5E7"/>
          </a:solidFill>
          <a:ln w="12700">
            <a:solidFill>
              <a:srgbClr val="B5A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9567" y="1920240"/>
            <a:ext cx="156362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④ 目标存储 · 归档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182112"/>
            <a:ext cx="2651760" cy="347472"/>
          </a:xfrm>
          <a:prstGeom prst="roundRect">
            <a:avLst>
              <a:gd name="adj" fmla="val 15789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3182112"/>
            <a:ext cx="243230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5321808"/>
            <a:ext cx="11658600" cy="347472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5321808"/>
            <a:ext cx="1143914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⑩ 通知 · ⑪ 审计与监控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1005840"/>
            <a:ext cx="19202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7121" y="1018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104698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user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7121" y="1266444"/>
            <a:ext cx="1894636" cy="822959"/>
          </a:xfrm>
          <a:prstGeom prst="roundRect">
            <a:avLst>
              <a:gd name="adj" fmla="val 222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289304"/>
            <a:ext cx="1737360" cy="7863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username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password_hash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real_name·email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last_login_at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(datetime)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3160" y="1188720"/>
            <a:ext cx="169164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35961" y="1201521"/>
            <a:ext cx="16660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79" y="1229868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user_role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5961" y="1449324"/>
            <a:ext cx="166603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32888" y="1472184"/>
            <a:ext cx="1508760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1005840"/>
            <a:ext cx="1920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6201" y="1018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104698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role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6201" y="1266444"/>
            <a:ext cx="189463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1289304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role_code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role_name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is_builtin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1188720"/>
            <a:ext cx="17830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041" y="1201521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1229868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role_permission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05041" y="1449324"/>
            <a:ext cx="175747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1472184"/>
            <a:ext cx="1600200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permission_id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1005840"/>
            <a:ext cx="201168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6721" y="1018641"/>
            <a:ext cx="198607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046988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permission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6721" y="1266444"/>
            <a:ext cx="198607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13648" y="128930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permission_code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module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resource_type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2176272"/>
            <a:ext cx="1920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7121" y="2189073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21742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page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7121" y="2436876"/>
            <a:ext cx="1894636" cy="54864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2459736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page_code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path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23160" y="2322576"/>
            <a:ext cx="169164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435961" y="2335377"/>
            <a:ext cx="166603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79" y="2363724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role_page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5961" y="2583180"/>
            <a:ext cx="166603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2888" y="2606040"/>
            <a:ext cx="1508760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page_id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51760" y="3474720"/>
            <a:ext cx="2651760" cy="1234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664561" y="3487521"/>
            <a:ext cx="26261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97479" y="351586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64561" y="3735324"/>
            <a:ext cx="2626156" cy="960120"/>
          </a:xfrm>
          <a:prstGeom prst="roundRect">
            <a:avLst>
              <a:gd name="adj" fmla="val 1904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61488" y="3758183"/>
            <a:ext cx="2468879" cy="9235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retention_years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sync_completed_date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destroy_after_date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26080" y="4828032"/>
            <a:ext cx="16459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38881" y="4840833"/>
            <a:ext cx="16203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71800" y="486918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system_user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38881" y="5088636"/>
            <a:ext cx="162031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35808" y="5111496"/>
            <a:ext cx="1463040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60720" y="2212848"/>
            <a:ext cx="19659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773521" y="2225649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06440" y="2253996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source_database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73521" y="2473452"/>
            <a:ext cx="19403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70448" y="2496312"/>
            <a:ext cx="1783080" cy="7406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db_type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host:port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credential_ref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2212848"/>
            <a:ext cx="19659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968081" y="2225649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2253996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source_table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68081" y="2473452"/>
            <a:ext cx="19403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65007" y="2496312"/>
            <a:ext cx="1783080" cy="7406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source_database_id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table_name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primary_key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is_attachment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760720" y="3438144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73521" y="3450945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06440" y="3479291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unstructured_source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773521" y="3698748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70448" y="3721607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source_type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location_uri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55279" y="3438144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68081" y="3450945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01000" y="3479291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unstructured_item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968081" y="3698748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65007" y="3721607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unstructured_source_id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original_path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hash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149840" y="2212848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62641" y="2225649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95560" y="2253996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schema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62641" y="2473452"/>
            <a:ext cx="175747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59567" y="2496312"/>
            <a:ext cx="160020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catalog_name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schema_name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149840" y="3438144"/>
            <a:ext cx="17830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162641" y="3450945"/>
            <a:ext cx="1757476" cy="237744"/>
          </a:xfrm>
          <a:prstGeom prst="roundRect">
            <a:avLst>
              <a:gd name="adj" fmla="val 11538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95560" y="3479291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storage_config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162641" y="3698748"/>
            <a:ext cx="175747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9567" y="3721607"/>
            <a:ext cx="160020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storage_type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container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5669280"/>
            <a:ext cx="237744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87121" y="5682081"/>
            <a:ext cx="235183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0040" y="571042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audit_log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7121" y="5929884"/>
            <a:ext cx="2351836" cy="438912"/>
          </a:xfrm>
          <a:prstGeom prst="roundRect">
            <a:avLst>
              <a:gd name="adj" fmla="val 416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595274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action·module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ip·status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98064" y="5669280"/>
            <a:ext cx="2615184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810865" y="5682081"/>
            <a:ext cx="2589580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843784" y="5710428"/>
            <a:ext cx="2523744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sync_activity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10865" y="5929884"/>
            <a:ext cx="2589580" cy="438912"/>
          </a:xfrm>
          <a:prstGeom prst="roundRect">
            <a:avLst>
              <a:gd name="adj" fmla="val 416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07792" y="5952744"/>
            <a:ext cx="2432303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activity_date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成功/失败/运行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sync_job 按天预聚合·派生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559552" y="5669280"/>
            <a:ext cx="2377440" cy="566928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778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572353" y="5682081"/>
            <a:ext cx="235183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05272" y="571042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notification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572353" y="5929884"/>
            <a:ext cx="2351836" cy="292608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0" y="5952744"/>
            <a:ext cx="2194560" cy="2560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recipient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channel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2276856" y="1522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31136" y="12847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11480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9" name="TextBox 108"/>
          <p:cNvSpPr txBox="1"/>
          <p:nvPr/>
        </p:nvSpPr>
        <p:spPr>
          <a:xfrm>
            <a:off x="4151376" y="12847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97096" y="1522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26364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6345936" y="1522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0216" y="12847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8275320" y="146304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311896" y="12847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57616" y="1522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194560" y="285292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2276856" y="29123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231136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4754880" y="1792224"/>
            <a:ext cx="0" cy="38404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3264408" y="2176272"/>
            <a:ext cx="1490472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264408" y="2176272"/>
            <a:ext cx="0" cy="25603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4581144" y="186994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28415" y="223570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194560" y="1719072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2331720" y="1719072"/>
            <a:ext cx="0" cy="344728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2331720" y="5166360"/>
            <a:ext cx="5943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76856" y="17785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34056" y="49880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3977639" y="4937760"/>
            <a:ext cx="0" cy="14630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803904" y="50154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41648" y="488746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4078224"/>
            <a:ext cx="22860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2852928"/>
            <a:ext cx="0" cy="1225296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5385816" y="413765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68696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303520" y="4151376"/>
            <a:ext cx="4572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385816" y="42108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68696" y="397306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7726679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7808975" y="29123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63255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726679" y="4151376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7808975" y="42108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63255" y="397306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3895344"/>
            <a:ext cx="32004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623560" y="3456432"/>
            <a:ext cx="0" cy="438912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623560" y="3456432"/>
            <a:ext cx="441655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0040112" y="2999232"/>
            <a:ext cx="0" cy="45720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0040112" y="299923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5385816" y="395477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57815" y="28209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303520" y="4590288"/>
            <a:ext cx="1371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440680" y="4590288"/>
            <a:ext cx="0" cy="146304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5440680" y="4736592"/>
            <a:ext cx="459943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10040112" y="4151376"/>
            <a:ext cx="0" cy="585216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10040112" y="4151376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5385816" y="464972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957815" y="397306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164592" y="6400800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164592" y="1719072"/>
            <a:ext cx="0" cy="4681728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164592" y="1719072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82296" y="62224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2296" y="15407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8083296" y="5724144"/>
            <a:ext cx="3849624" cy="530352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A8A8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211312" y="5779007"/>
            <a:ext cx="3593591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569"/>
                </a:solidFill>
                <a:latin typeface="Segoe UI"/>
                <a:ea typeface="Microsoft YaHei"/>
              </a:rPr>
              <a:t>跨页关联（详见卡内 FK）：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source_table → sync_table_config / sync_table_stat / archive_file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sync_job ⇢ sync_activity（按天预聚合，派生表无 FK）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7432" y="3246120"/>
            <a:ext cx="146304" cy="566928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Microsoft YaHei"/>
              </a:rPr>
              <a:t>弱关联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434840" y="256032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462272" y="2560320"/>
            <a:ext cx="1024127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sync_job / query_config
子域见下页 →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01168" y="6565392"/>
            <a:ext cx="11795760" cy="29260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74320" y="656539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172A"/>
                </a:solidFill>
                <a:latin typeface="Segoe UI"/>
                <a:ea typeface="Microsoft YaHei"/>
              </a:rPr>
              <a:t>图例</a:t>
            </a:r>
          </a:p>
        </p:txBody>
      </p:sp>
      <p:sp>
        <p:nvSpPr>
          <p:cNvPr id="173" name="Oval 172"/>
          <p:cNvSpPr/>
          <p:nvPr/>
        </p:nvSpPr>
        <p:spPr>
          <a:xfrm>
            <a:off x="731520" y="6647688"/>
            <a:ext cx="128016" cy="128016"/>
          </a:xfrm>
          <a:prstGeom prst="ellipse">
            <a:avLst/>
          </a:prstGeom>
          <a:solidFill>
            <a:srgbClr val="D6A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400" y="6565392"/>
            <a:ext cx="286755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① 权限与访问控制（RBAC）</a:t>
            </a:r>
          </a:p>
        </p:txBody>
      </p:sp>
      <p:sp>
        <p:nvSpPr>
          <p:cNvPr id="175" name="Oval 174"/>
          <p:cNvSpPr/>
          <p:nvPr/>
        </p:nvSpPr>
        <p:spPr>
          <a:xfrm>
            <a:off x="3763670" y="6647688"/>
            <a:ext cx="128016" cy="128016"/>
          </a:xfrm>
          <a:prstGeom prst="ellipse">
            <a:avLst/>
          </a:prstGeom>
          <a:solidFill>
            <a:srgbClr val="82B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946550" y="6565392"/>
            <a:ext cx="1164945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③ 源数据配置</a:t>
            </a:r>
          </a:p>
        </p:txBody>
      </p:sp>
      <p:sp>
        <p:nvSpPr>
          <p:cNvPr id="177" name="Oval 176"/>
          <p:cNvSpPr/>
          <p:nvPr/>
        </p:nvSpPr>
        <p:spPr>
          <a:xfrm>
            <a:off x="5093208" y="6647688"/>
            <a:ext cx="128016" cy="128016"/>
          </a:xfrm>
          <a:prstGeom prst="ellipse">
            <a:avLst/>
          </a:prstGeom>
          <a:solidFill>
            <a:srgbClr val="967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276088" y="6565392"/>
            <a:ext cx="499262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④ 目标存储 · 归档 Schema</a:t>
            </a:r>
          </a:p>
        </p:txBody>
      </p:sp>
      <p:sp>
        <p:nvSpPr>
          <p:cNvPr id="179" name="Oval 178"/>
          <p:cNvSpPr/>
          <p:nvPr/>
        </p:nvSpPr>
        <p:spPr>
          <a:xfrm>
            <a:off x="5757062" y="6647688"/>
            <a:ext cx="128016" cy="128016"/>
          </a:xfrm>
          <a:prstGeom prst="ellipse">
            <a:avLst/>
          </a:prstGeom>
          <a:solidFill>
            <a:srgbClr val="5B8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939942" y="6565392"/>
            <a:ext cx="742492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181" name="Oval 180"/>
          <p:cNvSpPr/>
          <p:nvPr/>
        </p:nvSpPr>
        <p:spPr>
          <a:xfrm>
            <a:off x="6664147" y="6647688"/>
            <a:ext cx="128016" cy="128016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847027" y="6565392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⑩ 通知 · ⑪ 审计与监控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189720" y="6565392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1—N 连线：母端 1 / 子端 N　</a:t>
            </a: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（虚线卡=跨页引用）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图（下）· 同步归档 / 动态查询 / 保留销毁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17 表 + 1 跨页引用（虚线†见上页）
记号：[PK]/[FK]/[UK] · 连线 1—N 为一对多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30352"/>
            <a:ext cx="9326880" cy="347472"/>
          </a:xfrm>
          <a:prstGeom prst="roundRect">
            <a:avLst>
              <a:gd name="adj" fmla="val 15789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910742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⑤ 同步与归档（含 ⑥ 附件索引）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530352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F8CECC"/>
          </a:solidFill>
          <a:ln w="12700">
            <a:solidFill>
              <a:srgbClr val="D79B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56648" y="530352"/>
            <a:ext cx="170078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⑧ 生命周期与保留 · ⑨ 销毁审批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663440"/>
            <a:ext cx="9326880" cy="347472"/>
          </a:xfrm>
          <a:prstGeom prst="roundRect">
            <a:avLst>
              <a:gd name="adj" fmla="val 15789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663440"/>
            <a:ext cx="910742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3333"/>
                </a:solidFill>
                <a:latin typeface="Segoe UI"/>
                <a:ea typeface="Microsoft YaHei"/>
              </a:rPr>
              <a:t>⑦ 动态查询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"/>
            <a:ext cx="21031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7780">
            <a:solidFill>
              <a:srgbClr val="A9C4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7121" y="890625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918971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A7A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7121" y="1138428"/>
            <a:ext cx="2077516" cy="365759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161288"/>
            <a:ext cx="1920239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877824"/>
            <a:ext cx="21945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30321" y="890625"/>
            <a:ext cx="21689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39" y="918971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sync_job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30321" y="1138428"/>
            <a:ext cx="21689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7248" y="1161288"/>
            <a:ext cx="2011679" cy="7406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job_type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877824"/>
            <a:ext cx="1874519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90641" y="890625"/>
            <a:ext cx="18489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918971"/>
            <a:ext cx="17830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sync_job_config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0641" y="1138428"/>
            <a:ext cx="18489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87568" y="1161288"/>
            <a:ext cx="1691639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cron_expr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877824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9721" y="890625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0" y="918971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retention_policy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9721" y="1138428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56648" y="1161288"/>
            <a:ext cx="173736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policy_code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policy_name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period_days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712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18998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sync_table_config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712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2432304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retain_years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2148840"/>
            <a:ext cx="21031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27401" y="2161641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2189988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attachment_index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27401" y="2409444"/>
            <a:ext cx="207751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24328" y="2432304"/>
            <a:ext cx="1920239" cy="7406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table·business_key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object_key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sha256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768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218998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sync_table_stat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6768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64608" y="2432304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row_count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95160" y="21488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07961" y="21616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218998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archive_batch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07961" y="24094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4888" y="2432304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batch_year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rows_out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46920" y="2148840"/>
            <a:ext cx="192024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59721" y="21616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218998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retention_assignment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59721" y="2409444"/>
            <a:ext cx="189463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56648" y="2432304"/>
            <a:ext cx="1737360" cy="7406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policy_id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object_type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start·due_date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14600" y="3520440"/>
            <a:ext cx="2103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27401" y="3533241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60320" y="3561588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archive_set_item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27401" y="3781044"/>
            <a:ext cx="20775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24328" y="3803904"/>
            <a:ext cx="1920239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archive_set_id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original_name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35204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767681" y="35332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356158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archive_set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67681" y="37810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64608" y="3803904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set_name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items·bytes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995160" y="352044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007961" y="3533241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40880" y="356158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archive_file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007961" y="3781044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04888" y="3803904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checksum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46920" y="3520440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659721" y="3533241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92640" y="356158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legal_hold_event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659721" y="3781044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756648" y="3803904"/>
            <a:ext cx="173736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action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reason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4320" y="4992624"/>
            <a:ext cx="21945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7121" y="5005425"/>
            <a:ext cx="21689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503377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query_config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87121" y="5253228"/>
            <a:ext cx="2168956" cy="777239"/>
          </a:xfrm>
          <a:prstGeom prst="roundRect">
            <a:avLst>
              <a:gd name="adj" fmla="val 235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5276088"/>
            <a:ext cx="2011679" cy="7406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base_table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017520" y="5065776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030321" y="5078577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63239" y="5106924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query_field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030321" y="5326380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27248" y="5349240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column_name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is_pii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257800" y="5065776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70601" y="5078577"/>
            <a:ext cx="194035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03520" y="5106924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query_join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70601" y="5326380"/>
            <a:ext cx="194035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67528" y="5349240"/>
            <a:ext cx="178308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join_type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left→right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498079" y="5065776"/>
            <a:ext cx="2103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510881" y="5078577"/>
            <a:ext cx="2077516" cy="237744"/>
          </a:xfrm>
          <a:prstGeom prst="roundRect">
            <a:avLst>
              <a:gd name="adj" fmla="val 11538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5106924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drill_config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510881" y="5326380"/>
            <a:ext cx="207751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7807" y="5349240"/>
            <a:ext cx="1920239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schema_id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parent→child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646920" y="4992624"/>
            <a:ext cx="1920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59721" y="5005425"/>
            <a:ext cx="1894636" cy="237744"/>
          </a:xfrm>
          <a:prstGeom prst="roundRect">
            <a:avLst>
              <a:gd name="adj" fmla="val 11538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92640" y="50337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22222"/>
                </a:solidFill>
                <a:latin typeface="Segoe UI"/>
                <a:ea typeface="Microsoft YaHei"/>
              </a:rPr>
              <a:t>destroy_approval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659721" y="5253228"/>
            <a:ext cx="1894636" cy="64008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56648" y="5276088"/>
            <a:ext cx="1737360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approver_id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50" b="0" i="0">
                <a:solidFill>
                  <a:srgbClr val="222222"/>
                </a:solidFill>
                <a:latin typeface="Segoe UI"/>
                <a:ea typeface="Microsoft YaHei"/>
              </a:rPr>
              <a:t>decision</a:t>
            </a:r>
            <a:r>
              <a:rPr sz="60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377440" y="1234440"/>
            <a:ext cx="64008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459736" y="12938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25496" y="10561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325880" y="1517904"/>
            <a:ext cx="0" cy="630936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152143" y="159562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89888" y="19522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377440" y="1463040"/>
            <a:ext cx="27432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651760" y="1463040"/>
            <a:ext cx="0" cy="38404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651760" y="1847088"/>
            <a:ext cx="33832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6035040" y="1591056"/>
            <a:ext cx="0" cy="25603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11" name="TextBox 110"/>
          <p:cNvSpPr txBox="1"/>
          <p:nvPr/>
        </p:nvSpPr>
        <p:spPr>
          <a:xfrm>
            <a:off x="2459736" y="1522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61304" y="166878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2377440" y="1335024"/>
            <a:ext cx="64008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2441448" y="1335024"/>
            <a:ext cx="0" cy="1316736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2441448" y="2651760"/>
            <a:ext cx="73152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2459736" y="13944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22576" y="24734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164592" y="1188720"/>
            <a:ext cx="109728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164592" y="1188720"/>
            <a:ext cx="0" cy="431596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164592" y="5504688"/>
            <a:ext cx="109728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1" name="TextBox 120"/>
          <p:cNvSpPr txBox="1"/>
          <p:nvPr/>
        </p:nvSpPr>
        <p:spPr>
          <a:xfrm>
            <a:off x="82296" y="10104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" y="532637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4983480" y="193852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4809744" y="2016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47488" y="19522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5212080" y="1591056"/>
            <a:ext cx="1828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5394960" y="1591056"/>
            <a:ext cx="0" cy="347472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5394960" y="1938528"/>
            <a:ext cx="2578608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7973568" y="1938528"/>
            <a:ext cx="0" cy="21031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5294376" y="16504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037576" y="19522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2" name="Connector 131"/>
          <p:cNvCxnSpPr/>
          <p:nvPr/>
        </p:nvCxnSpPr>
        <p:spPr>
          <a:xfrm flipH="1">
            <a:off x="9418320" y="2944368"/>
            <a:ext cx="2286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9418320" y="2066543"/>
            <a:ext cx="0" cy="877825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5166360" y="2066543"/>
            <a:ext cx="425196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5166360" y="1938528"/>
            <a:ext cx="0" cy="128015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9454896" y="27660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992624" y="2016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212080" y="1115568"/>
            <a:ext cx="18288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5394960" y="877824"/>
            <a:ext cx="0" cy="23774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5394960" y="877824"/>
            <a:ext cx="649224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11887200" y="877824"/>
            <a:ext cx="0" cy="462686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H="1">
            <a:off x="11567160" y="5504688"/>
            <a:ext cx="320040" cy="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43" name="TextBox 142"/>
          <p:cNvSpPr txBox="1"/>
          <p:nvPr/>
        </p:nvSpPr>
        <p:spPr>
          <a:xfrm>
            <a:off x="5294376" y="117500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649456" y="556412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7973568" y="3172968"/>
            <a:ext cx="0" cy="34747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7799831" y="32506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37576" y="33238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7132320" y="3172968"/>
            <a:ext cx="0" cy="210312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5733288" y="3383280"/>
            <a:ext cx="1399032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5733288" y="3383280"/>
            <a:ext cx="0" cy="13716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6958584" y="32506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797296" y="33238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3" name="Connector 152"/>
          <p:cNvCxnSpPr/>
          <p:nvPr/>
        </p:nvCxnSpPr>
        <p:spPr>
          <a:xfrm flipH="1">
            <a:off x="4617720" y="4005072"/>
            <a:ext cx="1371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4" name="TextBox 153"/>
          <p:cNvSpPr txBox="1"/>
          <p:nvPr/>
        </p:nvSpPr>
        <p:spPr>
          <a:xfrm>
            <a:off x="4562856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00016" y="40645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10607040" y="1591056"/>
            <a:ext cx="0" cy="557784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10433303" y="166878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671048" y="19522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10607040" y="3172968"/>
            <a:ext cx="0" cy="34747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60" name="TextBox 159"/>
          <p:cNvSpPr txBox="1"/>
          <p:nvPr/>
        </p:nvSpPr>
        <p:spPr>
          <a:xfrm>
            <a:off x="10433303" y="32506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671048" y="33238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2468880" y="5623560"/>
            <a:ext cx="54864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3" name="TextBox 162"/>
          <p:cNvSpPr txBox="1"/>
          <p:nvPr/>
        </p:nvSpPr>
        <p:spPr>
          <a:xfrm>
            <a:off x="2551176" y="5682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825496" y="5445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1252728" y="6016752"/>
            <a:ext cx="0" cy="201168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1252728" y="6217920"/>
            <a:ext cx="498348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6236208" y="5943600"/>
            <a:ext cx="0" cy="27432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8" name="TextBox 167"/>
          <p:cNvSpPr txBox="1"/>
          <p:nvPr/>
        </p:nvSpPr>
        <p:spPr>
          <a:xfrm>
            <a:off x="1078992" y="6094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062472" y="60213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2011680" y="6016752"/>
            <a:ext cx="0" cy="36576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2011680" y="6382512"/>
            <a:ext cx="653796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8549640" y="5943600"/>
            <a:ext cx="0" cy="43891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73" name="TextBox 172"/>
          <p:cNvSpPr txBox="1"/>
          <p:nvPr/>
        </p:nvSpPr>
        <p:spPr>
          <a:xfrm>
            <a:off x="1837944" y="6094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375903" y="60213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445752" y="2121408"/>
            <a:ext cx="164592" cy="512064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E11D48"/>
                </a:solidFill>
                <a:latin typeface="Segoe UI"/>
                <a:ea typeface="Microsoft YaHei"/>
              </a:rPr>
              <a:t>到期触发销毁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201168" y="6565392"/>
            <a:ext cx="11795760" cy="292608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74320" y="656539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172A"/>
                </a:solidFill>
                <a:latin typeface="Segoe UI"/>
                <a:ea typeface="Microsoft YaHei"/>
              </a:rPr>
              <a:t>图例</a:t>
            </a:r>
          </a:p>
        </p:txBody>
      </p:sp>
      <p:sp>
        <p:nvSpPr>
          <p:cNvPr id="178" name="Oval 177"/>
          <p:cNvSpPr/>
          <p:nvPr/>
        </p:nvSpPr>
        <p:spPr>
          <a:xfrm>
            <a:off x="731520" y="6647688"/>
            <a:ext cx="128016" cy="128016"/>
          </a:xfrm>
          <a:prstGeom prst="ellipse">
            <a:avLst/>
          </a:prstGeom>
          <a:solidFill>
            <a:srgbClr val="5B8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0" y="6565392"/>
            <a:ext cx="2611526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⑤ 同步与归档（含 ⑥ 附件索引）</a:t>
            </a:r>
          </a:p>
        </p:txBody>
      </p:sp>
      <p:sp>
        <p:nvSpPr>
          <p:cNvPr id="180" name="Oval 179"/>
          <p:cNvSpPr/>
          <p:nvPr/>
        </p:nvSpPr>
        <p:spPr>
          <a:xfrm>
            <a:off x="3507638" y="6647688"/>
            <a:ext cx="128016" cy="128016"/>
          </a:xfrm>
          <a:prstGeom prst="ellipse">
            <a:avLst/>
          </a:prstGeom>
          <a:solidFill>
            <a:srgbClr val="B8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690518" y="6565392"/>
            <a:ext cx="537667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⑧ 生命周期与保留 · ⑨ 销毁审批</a:t>
            </a:r>
          </a:p>
        </p:txBody>
      </p:sp>
      <p:sp>
        <p:nvSpPr>
          <p:cNvPr id="182" name="Oval 181"/>
          <p:cNvSpPr/>
          <p:nvPr/>
        </p:nvSpPr>
        <p:spPr>
          <a:xfrm>
            <a:off x="4209897" y="6647688"/>
            <a:ext cx="128016" cy="128016"/>
          </a:xfrm>
          <a:prstGeom prst="ellipse">
            <a:avLst/>
          </a:prstGeom>
          <a:solidFill>
            <a:srgbClr val="D6A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392777" y="6565392"/>
            <a:ext cx="2611526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⑦ 动态查询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189720" y="6565392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1—N 连线：母端 1 / 子端 N　</a:t>
            </a: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（虚线卡=跨页引用）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ETL 引擎对比 · Apache SeaTunnel vs Databricks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写侧抽取与入湖的分工与选型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426464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566928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75569"/>
                </a:solidFill>
                <a:latin typeface="Segoe UI"/>
                <a:ea typeface="Microsoft YaHei"/>
              </a:rPr>
              <a:t>对比维度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566928"/>
            <a:ext cx="4800600" cy="566928"/>
          </a:xfrm>
          <a:prstGeom prst="roundRect">
            <a:avLst>
              <a:gd name="adj" fmla="val 9677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603504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84124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开源数据集成引擎 · 结构化抽取入湖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566928"/>
            <a:ext cx="5358384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603504"/>
            <a:ext cx="535838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3AED"/>
                </a:solidFill>
                <a:latin typeface="Segoe UI"/>
                <a:ea typeface="Microsoft YaHei"/>
              </a:rPr>
              <a:t>Databricks Serverless ·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841248"/>
            <a:ext cx="535838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托管湖仓计算 · 分层加工与治理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243584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" y="1243584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1243584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37360" y="1243584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7088" y="1280160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开源数据集成引擎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1444752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Apache 开源 · 免费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1243584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1243584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1280160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托管湖仓计算引擎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1444752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商业化 · 按 DBU 计费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732788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" y="1732788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连接与能力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37360" y="1732788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737360" y="1732788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47088" y="1769364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200+ 连接器 · JDBC → Iceberg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7088" y="1933956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类型映射 · 对账 · 仅读权限抽取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732788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29400" y="1732788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39128" y="1769364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Spark 批处理 · JDBC → Iceberg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39128" y="1933956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Z-Order · Compaction · VACUUM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1168" y="2221992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" y="2221992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职责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37360" y="2221992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737360" y="2221992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47088" y="2258568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结构化数据 1:1 原样入湖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47088" y="2423160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原始落地 · sys_id / ingest_date 分区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29400" y="2221992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629400" y="2221992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9128" y="2258568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RAW→CURATED→LAKE→SERVE 分层加工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39128" y="2423160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到期销毁 · DROP PARTITION + VACUUM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01168" y="2711196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1168" y="2711196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数据分级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37360" y="2711196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737360" y="2711196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47088" y="2747772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普通 / 非敏感数据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47088" y="2912364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轻量链路 · 本地或 ADLS 落盘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29400" y="2711196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629400" y="2711196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39128" y="2747772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7C3AED"/>
                </a:solidFill>
                <a:latin typeface="Segoe UI"/>
                <a:ea typeface="Microsoft YaHei"/>
              </a:rPr>
              <a:t>敏感 / 加密数据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39128" y="2912364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合规要求高 · 需全程加密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01168" y="3200400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" y="3200400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加密与合规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737360" y="3200400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737360" y="3200400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47088" y="3236976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凭据自管 · 无原生加密治理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47088" y="3401568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连接串需自行脱敏 / 加密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29400" y="3200400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29400" y="3200400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39128" y="3236976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7C3AED"/>
                </a:solidFill>
                <a:latin typeface="Segoe UI"/>
                <a:ea typeface="Microsoft YaHei"/>
              </a:rPr>
              <a:t>Secret Scope + Key Vault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39128" y="3401568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全程加密 · UC 列掩码 · 零明文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1168" y="3689604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1168" y="3689604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治理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37360" y="3689604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37360" y="3689604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47088" y="3726180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元数据自建台账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47088" y="3890772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无内置表格式治理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29400" y="3689604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629400" y="3689604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39128" y="3726180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Unity Catalog 原生治理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39128" y="3890772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表 / 行 / 列级授权 + 审计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168" y="4178808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1168" y="4178808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运维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37360" y="4178808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37360" y="4178808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847088" y="4215384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自部署 · ADF 编排调度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47088" y="4379976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需自行运维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29400" y="4178808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629400" y="4178808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9128" y="4215384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Serverless 零运维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39128" y="4379976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空闲缩 0 · 故障自动重建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01168" y="4668012"/>
            <a:ext cx="1426464" cy="438912"/>
          </a:xfrm>
          <a:prstGeom prst="roundRect">
            <a:avLst>
              <a:gd name="adj" fmla="val 10416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1168" y="4668012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成本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37360" y="4668012"/>
            <a:ext cx="4800600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737360" y="4668012"/>
            <a:ext cx="32004" cy="438912"/>
          </a:xfrm>
          <a:prstGeom prst="roundRect">
            <a:avLst>
              <a:gd name="adj" fmla="val 48571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47088" y="4704588"/>
            <a:ext cx="458114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75569"/>
                </a:solidFill>
                <a:latin typeface="Segoe UI"/>
                <a:ea typeface="Microsoft YaHei"/>
              </a:rPr>
              <a:t>开源免费 · 仅算力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47088" y="4869180"/>
            <a:ext cx="45811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≈¥0 许可费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629400" y="4668012"/>
            <a:ext cx="5358384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629400" y="4668012"/>
            <a:ext cx="32004" cy="438912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39128" y="4704588"/>
            <a:ext cx="5138928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7C3AED"/>
                </a:solidFill>
                <a:latin typeface="Segoe UI"/>
                <a:ea typeface="Microsoft YaHei"/>
              </a:rPr>
              <a:t>写侧 ≈¥0.4–0.8 万/月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39128" y="4869180"/>
            <a:ext cx="5138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按需拉起 · 只为使用付费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1168" y="5468112"/>
            <a:ext cx="11786616" cy="1024128"/>
          </a:xfrm>
          <a:prstGeom prst="roundRect">
            <a:avLst>
              <a:gd name="adj" fmla="val 7142"/>
            </a:avLst>
          </a:prstGeom>
          <a:solidFill>
            <a:srgbClr val="ECFDF5"/>
          </a:solidFill>
          <a:ln w="1778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7472" y="5541264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47857"/>
                </a:solidFill>
                <a:latin typeface="Segoe UI"/>
                <a:ea typeface="Microsoft YaHei"/>
              </a:rPr>
              <a:t>选型结论 · 分流策略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38160" y="554126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按数据敏感度自动分流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7472" y="5779008"/>
            <a:ext cx="3703320" cy="585216"/>
          </a:xfrm>
          <a:prstGeom prst="roundRect">
            <a:avLst>
              <a:gd name="adj" fmla="val 93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200" y="5824728"/>
            <a:ext cx="347472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普通 / 非敏感数据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6007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A580C"/>
                </a:solidFill>
                <a:latin typeface="Segoe UI"/>
                <a:ea typeface="Microsoft YaHei"/>
              </a:rPr>
              <a:t>→ SeaTunnel 抽取入湖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97096" y="5779008"/>
            <a:ext cx="3703320" cy="585216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06824" y="5824728"/>
            <a:ext cx="347472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敏感 / 加密数据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06824" y="6007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C3AED"/>
                </a:solidFill>
                <a:latin typeface="Segoe UI"/>
                <a:ea typeface="Microsoft YaHei"/>
              </a:rPr>
              <a:t>→ Databricks 写侧 ETL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046720" y="5779008"/>
            <a:ext cx="3703320" cy="585216"/>
          </a:xfrm>
          <a:prstGeom prst="roundRect">
            <a:avLst>
              <a:gd name="adj" fmla="val 93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156448" y="5824728"/>
            <a:ext cx="347472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统一底座 · 读侧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56448" y="6007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59669"/>
                </a:solidFill>
                <a:latin typeface="Segoe UI"/>
                <a:ea typeface="Microsoft YaHei"/>
              </a:rPr>
              <a:t>→ Iceberg 冷湖 · SQL Serverless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