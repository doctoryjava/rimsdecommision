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8" userDrawn="1">
          <p15:clr>
            <a:srgbClr val="A4A3A4"/>
          </p15:clr>
        </p15:guide>
        <p15:guide id="2" pos="28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8"/>
        <p:guide pos="287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微软雅黑"/>
              </a:rPr>
              <a:t>访问入口 · 查询 / 审计 / 运维</a:t>
            </a:r>
            <a:endParaRPr sz="850" b="1" i="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微软雅黑"/>
              </a:rPr>
              <a:t>自研应用层 · AKS（React + .NET）</a:t>
            </a:r>
            <a:endParaRPr sz="850" b="1" i="0">
              <a:solidFill>
                <a:srgbClr val="0E7490"/>
              </a:solidFill>
              <a:latin typeface="Segoe UI"/>
              <a:ea typeface="微软雅黑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微软雅黑"/>
              </a:rPr>
              <a:t>写侧 · Databricks</a:t>
            </a:r>
            <a:endParaRPr sz="800" b="1" i="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微软雅黑"/>
              </a:rPr>
              <a:t>读侧 · Serverless</a:t>
            </a:r>
            <a:endParaRPr sz="800" b="1" i="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微软雅黑"/>
              </a:rPr>
              <a:t>ADLS Gen2 · Iceberg 湖仓 + Blob 附件</a:t>
            </a:r>
            <a:endParaRPr sz="800" b="1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微软雅黑"/>
              </a:rPr>
              <a:t>存算分离 · 私有端点 · 合规销毁</a:t>
            </a:r>
            <a:endParaRPr sz="750" b="0" i="0">
              <a:solidFill>
                <a:srgbClr val="94A3B8"/>
              </a:solidFill>
              <a:latin typeface="Segoe UI"/>
              <a:ea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微软雅黑"/>
              </a:rPr>
              <a:t>RIMS 退役归档平台 · 方案 B2</a:t>
            </a:r>
            <a:endParaRPr sz="1100" b="1" i="0" spc="30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微软雅黑"/>
              </a:rPr>
              <a:t>湖仓一体架构图集</a:t>
            </a:r>
            <a:endParaRPr sz="330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微软雅黑"/>
              </a:rPr>
              <a:t>架构图 · 数据加密设计 · 元数据库 ER 图 · 全部以 PPT 原生形状绘制</a:t>
            </a:r>
            <a:endParaRPr sz="105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41248" y="2962656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044952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044952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onsolas"/>
                <a:ea typeface="微软雅黑"/>
              </a:rPr>
              <a:t>01</a:t>
            </a:r>
            <a:endParaRPr sz="1200" b="1" i="0">
              <a:solidFill>
                <a:srgbClr val="0078D4"/>
              </a:solidFill>
              <a:latin typeface="Consolas"/>
              <a:ea typeface="微软雅黑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536192" y="3035808"/>
            <a:ext cx="5029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微软雅黑"/>
              </a:rPr>
              <a:t>Azure 基础设施部署架构 · 方案 B2</a:t>
            </a:r>
            <a:endParaRPr sz="100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536192" y="3282696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微软雅黑"/>
              </a:rPr>
              <a:t>VNet · AKS · Databricks Serverless · NCC 私有端点 · 六大 PaaS 服务</a:t>
            </a:r>
            <a:endParaRPr sz="7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841248" y="3639312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3721608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3721608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9669"/>
                </a:solidFill>
                <a:latin typeface="Consolas"/>
                <a:ea typeface="微软雅黑"/>
              </a:rPr>
              <a:t>02</a:t>
            </a:r>
            <a:endParaRPr sz="1200" b="1" i="0">
              <a:solidFill>
                <a:srgbClr val="059669"/>
              </a:solidFill>
              <a:latin typeface="Consolas"/>
              <a:ea typeface="微软雅黑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536192" y="3712464"/>
            <a:ext cx="5029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微软雅黑"/>
              </a:rPr>
              <a:t>应用架构图 · 方案 B2（湖仓一体 · Databricks SQL Serverless 读）</a:t>
            </a:r>
            <a:endParaRPr sz="100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536192" y="3959352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微软雅黑"/>
              </a:rPr>
              <a:t>访问入口 → 自研应用层（AKS）→ 写 / 读 / 附件三条链路 → 数据底座</a:t>
            </a:r>
            <a:endParaRPr sz="7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841248" y="4315968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4398264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4398264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C3AED"/>
                </a:solidFill>
                <a:latin typeface="Consolas"/>
                <a:ea typeface="微软雅黑"/>
              </a:rPr>
              <a:t>03</a:t>
            </a:r>
            <a:endParaRPr sz="1200" b="1" i="0">
              <a:solidFill>
                <a:srgbClr val="7C3AED"/>
              </a:solidFill>
              <a:latin typeface="Consolas"/>
              <a:ea typeface="微软雅黑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536192" y="4389120"/>
            <a:ext cx="5029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微软雅黑"/>
              </a:rPr>
              <a:t>方案 B2 · 湖仓一体 · 存算分离架构</a:t>
            </a:r>
            <a:endParaRPr sz="100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536192" y="46360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微软雅黑"/>
              </a:rPr>
              <a:t>源系统 → 接入配置 → 抽取 → Iceberg 冷湖 → Databricks 读写一体计算层 → 消费入口 + 销毁回路</a:t>
            </a:r>
            <a:endParaRPr sz="7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841248" y="4992624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69264" y="5074920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9264" y="5074920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onsolas"/>
                <a:ea typeface="微软雅黑"/>
              </a:rPr>
              <a:t>04</a:t>
            </a:r>
            <a:endParaRPr sz="1200" b="1" i="0">
              <a:solidFill>
                <a:srgbClr val="0078D4"/>
              </a:solidFill>
              <a:latin typeface="Consolas"/>
              <a:ea typeface="微软雅黑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536192" y="5065776"/>
            <a:ext cx="5029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微软雅黑"/>
              </a:rPr>
              <a:t>方案 B2 · 数据加密设计</a:t>
            </a:r>
            <a:endParaRPr sz="100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536192" y="5312664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微软雅黑"/>
              </a:rPr>
              <a:t>四层加密模型 · aes_encrypt + UC 列掩码 · 信封加密 / Crypto-Shredding</a:t>
            </a:r>
            <a:endParaRPr sz="7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841248" y="5669280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69264" y="5751576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" y="575157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75569"/>
                </a:solidFill>
                <a:latin typeface="Consolas"/>
                <a:ea typeface="微软雅黑"/>
              </a:rPr>
              <a:t>05</a:t>
            </a:r>
            <a:endParaRPr sz="1200" b="1" i="0">
              <a:solidFill>
                <a:srgbClr val="475569"/>
              </a:solidFill>
              <a:latin typeface="Consolas"/>
              <a:ea typeface="微软雅黑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36192" y="5742432"/>
            <a:ext cx="5029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微软雅黑"/>
              </a:rPr>
              <a:t>元数据库 ER 图（35 表 / 11 模块 · 上下两页）</a:t>
            </a:r>
            <a:endParaRPr sz="100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536192" y="5989320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微软雅黑"/>
              </a:rPr>
              <a:t>上篇：平台 / 权限 / 数据源配置　下篇：同步归档 / 动态查询 / 保留销毁</a:t>
            </a:r>
            <a:endParaRPr sz="7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841248" y="6382512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" y="6473952"/>
            <a:ext cx="5852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微软雅黑"/>
              </a:rPr>
              <a:t>整理自 report/Architecture.html · docs/数据库ER图与全量表结构.md</a:t>
            </a:r>
            <a:endParaRPr sz="800" b="0" i="0">
              <a:solidFill>
                <a:srgbClr val="94A3B8"/>
              </a:solidFill>
              <a:latin typeface="Segoe UI"/>
              <a:ea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微软雅黑"/>
              </a:rPr>
              <a:t>Azure 基础设施部署架构 · 方案 B2</a:t>
            </a:r>
            <a:endParaRPr sz="1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微软雅黑"/>
              </a:rPr>
              <a:t>技术栈</a:t>
            </a:r>
            <a:endParaRPr sz="90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微软雅黑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微软雅黑"/>
              </a:rPr>
              <a:t>前端 · 配置化查询平台 React</a:t>
            </a:r>
            <a:endParaRPr sz="68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微软雅黑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微软雅黑"/>
              </a:rPr>
              <a:t>后端 · .NET 10（AKS 容器化）</a:t>
            </a:r>
            <a:endParaRPr sz="68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微软雅黑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微软雅黑"/>
              </a:rPr>
              <a:t>抽取 · Apache SeaTunnel</a:t>
            </a:r>
            <a:endParaRPr sz="68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微软雅黑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微软雅黑"/>
              </a:rPr>
              <a:t>编排 · Azure Data Factory</a:t>
            </a:r>
            <a:endParaRPr sz="68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微软雅黑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微软雅黑"/>
              </a:rPr>
              <a:t>表格式 · Apache Iceberg</a:t>
            </a:r>
            <a:endParaRPr sz="68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微软雅黑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微软雅黑"/>
              </a:rPr>
              <a:t>引擎 · Databricks Serverless（读写）</a:t>
            </a:r>
            <a:endParaRPr sz="68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微软雅黑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微软雅黑"/>
              </a:rPr>
              <a:t>治理 · Unity Catalog</a:t>
            </a:r>
            <a:endParaRPr sz="68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微软雅黑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微软雅黑"/>
              </a:rPr>
              <a:t>附件迁移 · Azure Storage Mover</a:t>
            </a:r>
            <a:endParaRPr sz="680" b="1" i="0">
              <a:solidFill>
                <a:srgbClr val="92400E"/>
              </a:solidFill>
              <a:latin typeface="Segoe UI"/>
              <a:ea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微软雅黑"/>
              </a:rPr>
              <a:t>终端用户</a:t>
            </a:r>
            <a:endParaRPr sz="900" b="1" i="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微软雅黑"/>
              </a:rPr>
              <a:t>业务查询员</a:t>
            </a:r>
            <a:endParaRPr sz="76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微软雅黑"/>
              </a:rPr>
              <a:t>查本系统归档数据</a:t>
            </a:r>
            <a:endParaRPr sz="6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微软雅黑"/>
              </a:rPr>
              <a:t>审计 / 合规岗</a:t>
            </a:r>
            <a:endParaRPr sz="76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微软雅黑"/>
              </a:rPr>
              <a:t>跨系统检索与举证</a:t>
            </a:r>
            <a:endParaRPr sz="6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微软雅黑"/>
              </a:rPr>
              <a:t>平台运维</a:t>
            </a:r>
            <a:endParaRPr sz="76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微软雅黑"/>
              </a:rPr>
              <a:t>监控 · 销毁作业值守</a:t>
            </a:r>
            <a:endParaRPr sz="6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微软雅黑"/>
              </a:rPr>
              <a:t>浏览器 HTTPS 443 · Entra ID 单点登录</a:t>
            </a:r>
            <a:endParaRPr sz="62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微软雅黑"/>
              </a:rPr>
              <a:t>源系统 · 15 套待退役业务系统</a:t>
            </a:r>
            <a:endParaRPr sz="900" b="1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微软雅黑"/>
              </a:rPr>
              <a:t>退役窗口内只读 · 数据只出不进</a:t>
            </a:r>
            <a:endParaRPr sz="620" b="0" i="0">
              <a:solidFill>
                <a:srgbClr val="94A3B8"/>
              </a:solidFill>
              <a:latin typeface="Segoe UI"/>
              <a:ea typeface="微软雅黑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Oracle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TCP 1521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MySQL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TCP 3306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DB2 / 其他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TCP 50000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微软雅黑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微软雅黑"/>
              </a:rPr>
              <a:t>Apache SeaTunnel</a:t>
            </a:r>
            <a:endParaRPr sz="740" b="1" i="0">
              <a:solidFill>
                <a:srgbClr val="EA580C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仅读权限 · 按勾选的表抽取（10 选 5）· ADF 编排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微软雅黑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微软雅黑"/>
              </a:rPr>
              <a:t>Storage Mover</a:t>
            </a:r>
            <a:endParaRPr sz="740" b="1" i="0">
              <a:solidFill>
                <a:srgbClr val="D97706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微软雅黑"/>
              </a:rPr>
              <a:t>读 NFS / S3 / Blob 附件源 · 服务免费</a:t>
            </a:r>
            <a:endParaRPr sz="600" b="0" i="0">
              <a:solidFill>
                <a:srgbClr val="78350F"/>
              </a:solidFill>
              <a:latin typeface="Segoe UI"/>
              <a:ea typeface="微软雅黑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微软雅黑"/>
              </a:rPr>
              <a:t>跨机房链路：ExpressRoute / 站点到站点 VPN · 源库防火墙放行 NAT 固定出口 IP</a:t>
            </a:r>
            <a:endParaRPr sz="620" b="1" i="0">
              <a:solidFill>
                <a:srgbClr val="D97706"/>
              </a:solidFill>
              <a:latin typeface="Segoe UI"/>
              <a:ea typeface="微软雅黑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微软雅黑"/>
              </a:rPr>
              <a:t>网络连通</a:t>
            </a:r>
            <a:endParaRPr sz="800" b="1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微软雅黑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微软雅黑"/>
              </a:rPr>
              <a:t>ExpressRoute / S2S VPN 专线</a:t>
            </a:r>
            <a:endParaRPr sz="64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微软雅黑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微软雅黑"/>
              </a:rPr>
              <a:t>NAT 固定出口 IP 白名单</a:t>
            </a:r>
            <a:endParaRPr sz="64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微软雅黑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微软雅黑"/>
              </a:rPr>
              <a:t>PaaS 全私有端点 · 禁公网</a:t>
            </a:r>
            <a:endParaRPr sz="64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微软雅黑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微软雅黑"/>
              </a:rPr>
              <a:t>WAF + App Gateway 收敛入口</a:t>
            </a:r>
            <a:endParaRPr sz="64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微软雅黑"/>
              </a:rPr>
              <a:t>Databricks 托管平面</a:t>
            </a:r>
            <a:endParaRPr sz="95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微软雅黑"/>
              </a:rPr>
              <a:t>★ 不在你的 VNet 内 · 运行于 Databricks 账户</a:t>
            </a:r>
            <a:endParaRPr sz="620" b="1" i="0">
              <a:solidFill>
                <a:srgbClr val="DC2626"/>
              </a:solidFill>
              <a:latin typeface="Segoe UI"/>
              <a:ea typeface="微软雅黑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微软雅黑"/>
              </a:rPr>
              <a:t>控制平面 Control Plane</a:t>
            </a:r>
            <a:endParaRPr sz="760" b="1" i="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微软雅黑"/>
              </a:rPr>
              <a:t>Web UI · 作业调度 · 无状态</a:t>
            </a:r>
            <a:endParaRPr sz="6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微软雅黑"/>
              </a:rPr>
              <a:t>Unity Catalog 元数据服务</a:t>
            </a:r>
            <a:endParaRPr sz="6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微软雅黑"/>
              </a:rPr>
              <a:t>Databricks SQL Serverless</a:t>
            </a:r>
            <a:endParaRPr sz="760" b="1" i="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微软雅黑"/>
              </a:rPr>
              <a:t>读侧查询 · X-Small 6 DBU/h</a:t>
            </a:r>
            <a:endParaRPr sz="6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微软雅黑"/>
              </a:rPr>
              <a:t>空闲自动缩到 0 · 零运维</a:t>
            </a:r>
            <a:endParaRPr sz="620" b="1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微软雅黑"/>
              </a:rPr>
              <a:t>Databricks Serverless</a:t>
            </a:r>
            <a:endParaRPr sz="760" b="1" i="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微软雅黑"/>
              </a:rPr>
              <a:t>写侧 ETL：RAW→CURATED→LAKE→SERVE</a:t>
            </a:r>
            <a:endParaRPr sz="6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微软雅黑"/>
              </a:rPr>
              <a:t>Compaction · VACUUM · 到期销毁</a:t>
            </a:r>
            <a:endParaRPr sz="62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微软雅黑"/>
              </a:rPr>
              <a:t>NCC 网络连接 + 托管私有端点</a:t>
            </a:r>
            <a:endParaRPr sz="720" b="1" i="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微软雅黑"/>
              </a:rPr>
              <a:t>Serverless 私有访问 ADLS 的唯一通道</a:t>
            </a:r>
            <a:endParaRPr sz="62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微软雅黑"/>
              </a:rPr>
              <a:t>Premium 档（新建唯一档）· NCC 需 Account Admin</a:t>
            </a:r>
            <a:endParaRPr sz="60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微软雅黑"/>
              </a:rPr>
              <a:t>Azure VNet · 10.0.0.0/16</a:t>
            </a:r>
            <a:endParaRPr sz="95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Hub-Spoke · NSG 管控 · PaaS 全部关闭公网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WAF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OWASP 防护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微软雅黑"/>
              </a:rPr>
              <a:t>Application Gateway</a:t>
            </a:r>
            <a:endParaRPr sz="74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TLS 终止 · 七层路由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微软雅黑"/>
              </a:rPr>
              <a:t>NAT Gateway</a:t>
            </a:r>
            <a:endParaRPr sz="74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出站固定 IP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99" name="Connector 98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微软雅黑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privatelink.* 区域集中解析，AKS / Databricks 经内网域名访问 PaaS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微软雅黑"/>
              </a:rPr>
              <a:t>AKS 子网 · 10.0.1.0/24</a:t>
            </a:r>
            <a:endParaRPr sz="78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微软雅黑"/>
              </a:rPr>
              <a:t>跨 AZ 节点池 · HPA · 托管标识免密</a:t>
            </a:r>
            <a:endParaRPr sz="590" b="0" i="0">
              <a:solidFill>
                <a:srgbClr val="94A3B8"/>
              </a:solidFill>
              <a:latin typeface="Segoe UI"/>
              <a:ea typeface="微软雅黑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微软雅黑"/>
              </a:rPr>
              <a:t>Node · 跨可用区冗余 · 托管节点池</a:t>
            </a:r>
            <a:endParaRPr sz="560" b="1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微软雅黑"/>
              </a:rPr>
              <a:t>前端 Pod · React</a:t>
            </a:r>
            <a:endParaRPr sz="720" b="0" i="0">
              <a:solidFill>
                <a:srgbClr val="1E40AF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配置化查询界面 · JSON Schema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微软雅黑"/>
              </a:rPr>
              <a:t>后端 Pod · .NET 单体</a:t>
            </a:r>
            <a:endParaRPr sz="720" b="0" i="0">
              <a:solidFill>
                <a:srgbClr val="0E7490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元数据 · 权限 · 查询代理 · 审计 · 销毁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微软雅黑"/>
              </a:rPr>
              <a:t>元数据服务：系统台账 · 表清单勾选 · 保留期与销毁策略 · 任务记录 · 操作审计</a:t>
            </a:r>
            <a:endParaRPr sz="590" b="1" i="0">
              <a:solidFill>
                <a:srgbClr val="0C4A6E"/>
              </a:solidFill>
              <a:latin typeface="Segoe UI"/>
              <a:ea typeface="微软雅黑"/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微软雅黑"/>
              </a:rPr>
              <a:t>私有端点子网 · 10.0.2.0/24</a:t>
            </a:r>
            <a:endParaRPr sz="78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116" name="Rounded Rectangle 115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微软雅黑"/>
              </a:rPr>
              <a:t>ADLS 私有端点（blob + dfs）</a:t>
            </a:r>
            <a:endParaRPr sz="61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118" name="Rounded Rectangle 117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微软雅黑"/>
              </a:rPr>
              <a:t>SQL Database 私有端点</a:t>
            </a:r>
            <a:endParaRPr sz="61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微软雅黑"/>
              </a:rPr>
              <a:t>Key Vault 私有端点</a:t>
            </a:r>
            <a:endParaRPr sz="61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122" name="Rounded Rectangle 121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微软雅黑"/>
              </a:rPr>
              <a:t>Databricks 工作区端点</a:t>
            </a:r>
            <a:endParaRPr sz="61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微软雅黑"/>
              </a:rPr>
              <a:t>子网内为私有端点 NIC · PaaS 本体在 Azure 平台侧</a:t>
            </a:r>
            <a:endParaRPr sz="590" b="0" i="0">
              <a:solidFill>
                <a:srgbClr val="94A3B8"/>
              </a:solidFill>
              <a:latin typeface="Segoe UI"/>
              <a:ea typeface="微软雅黑"/>
            </a:endParaRPr>
          </a:p>
        </p:txBody>
      </p:sp>
      <p:cxnSp>
        <p:nvCxnSpPr>
          <p:cNvPr id="125" name="Connector 124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6" name="TextBox 125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微软雅黑"/>
              </a:rPr>
              <a:t>内网</a:t>
            </a:r>
            <a:endParaRPr sz="56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微软雅黑"/>
              </a:rPr>
              <a:t>调用</a:t>
            </a:r>
            <a:endParaRPr sz="56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cxnSp>
        <p:nvCxnSpPr>
          <p:cNvPr id="128" name="Connector 127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29" name="TextBox 128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微软雅黑"/>
              </a:rPr>
              <a:t>HTTPS 443</a:t>
            </a:r>
            <a:endParaRPr sz="60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cxnSp>
        <p:nvCxnSpPr>
          <p:cNvPr id="130" name="Connector 129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微软雅黑"/>
              </a:rPr>
              <a:t>SeaTunnel 抽取 · NAT 固定 IP</a:t>
            </a:r>
            <a:endParaRPr sz="600" b="1" i="0">
              <a:solidFill>
                <a:srgbClr val="D97706"/>
              </a:solidFill>
              <a:latin typeface="Segoe UI"/>
              <a:ea typeface="微软雅黑"/>
            </a:endParaRPr>
          </a:p>
        </p:txBody>
      </p:sp>
      <p:cxnSp>
        <p:nvCxnSpPr>
          <p:cNvPr id="132" name="Connector 131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微软雅黑"/>
              </a:rPr>
              <a:t>出站固定 IP ↑</a:t>
            </a:r>
            <a:endParaRPr sz="590" b="1" i="0">
              <a:solidFill>
                <a:srgbClr val="D97706"/>
              </a:solidFill>
              <a:latin typeface="Segoe UI"/>
              <a:ea typeface="微软雅黑"/>
            </a:endParaRP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微软雅黑"/>
              </a:rPr>
              <a:t>Private Link · JDBC / ODBC 443</a:t>
            </a:r>
            <a:endParaRPr sz="60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sp>
        <p:nvSpPr>
          <p:cNvPr id="137" name="Rounded Rectangle 136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微软雅黑"/>
              </a:rPr>
              <a:t>Azure PaaS 数据与治理服务 · 全部私有端点接入 · 公网访问已禁用</a:t>
            </a:r>
            <a:endParaRPr sz="90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sp>
        <p:nvSpPr>
          <p:cNvPr id="139" name="Rounded Rectangle 138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微软雅黑"/>
              </a:rPr>
              <a:t>Microsoft Entra ID</a:t>
            </a:r>
            <a:endParaRPr sz="74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微软雅黑"/>
              </a:rPr>
              <a:t>身份与单点登录</a:t>
            </a:r>
            <a:endParaRPr sz="65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143" name="TextBox 142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SAML / OIDC · 托管标识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143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475569"/>
                </a:solidFill>
                <a:latin typeface="Segoe UI"/>
                <a:ea typeface="微软雅黑"/>
              </a:rPr>
              <a:t>全局服务 · 443</a:t>
            </a:r>
            <a:endParaRPr sz="58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微软雅黑"/>
              </a:rPr>
              <a:t>认证走 443 · 无私有端点</a:t>
            </a:r>
            <a:endParaRPr sz="600" b="1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47" name="Rounded Rectangle 146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微软雅黑"/>
              </a:rPr>
              <a:t>Application Insights</a:t>
            </a:r>
            <a:endParaRPr sz="74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微软雅黑"/>
              </a:rPr>
              <a:t>审计留痕与链路追踪</a:t>
            </a:r>
            <a:endParaRPr sz="65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操作日志 · 告警规则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微软雅黑"/>
              </a:rPr>
              <a:t>Private Endpoint</a:t>
            </a:r>
            <a:endParaRPr sz="58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微软雅黑"/>
              </a:rPr>
              <a:t>公网访问：已禁用</a:t>
            </a:r>
            <a:endParaRPr sz="600" b="1" i="0">
              <a:solidFill>
                <a:srgbClr val="DC2626"/>
              </a:solidFill>
              <a:latin typeface="Segoe UI"/>
              <a:ea typeface="微软雅黑"/>
            </a:endParaRPr>
          </a:p>
        </p:txBody>
      </p:sp>
      <p:sp>
        <p:nvSpPr>
          <p:cNvPr id="155" name="Rounded Rectangle 154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微软雅黑"/>
              </a:rPr>
              <a:t>Azure Monitor</a:t>
            </a:r>
            <a:endParaRPr sz="74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微软雅黑"/>
              </a:rPr>
              <a:t>资源指标与告警</a:t>
            </a:r>
            <a:endParaRPr sz="65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仪表板 · 自动化响应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微软雅黑"/>
              </a:rPr>
              <a:t>Private Endpoint</a:t>
            </a:r>
            <a:endParaRPr sz="58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微软雅黑"/>
              </a:rPr>
              <a:t>公网访问：已禁用</a:t>
            </a:r>
            <a:endParaRPr sz="600" b="1" i="0">
              <a:solidFill>
                <a:srgbClr val="DC2626"/>
              </a:solidFill>
              <a:latin typeface="Segoe UI"/>
              <a:ea typeface="微软雅黑"/>
            </a:endParaRPr>
          </a:p>
        </p:txBody>
      </p:sp>
      <p:sp>
        <p:nvSpPr>
          <p:cNvPr id="163" name="Rounded Rectangle 162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微软雅黑"/>
              </a:rPr>
              <a:t>Azure Key Vault</a:t>
            </a:r>
            <a:endParaRPr sz="74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微软雅黑"/>
              </a:rPr>
              <a:t>密钥与凭据托管</a:t>
            </a:r>
            <a:endParaRPr sz="65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167" name="TextBox 166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CMK · 源库连接串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68" name="Rounded Rectangle 167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微软雅黑"/>
              </a:rPr>
              <a:t>Private Endpoint</a:t>
            </a:r>
            <a:endParaRPr sz="58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170" name="TextBox 169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微软雅黑"/>
              </a:rPr>
              <a:t>公网访问：已禁用</a:t>
            </a:r>
            <a:endParaRPr sz="600" b="1" i="0">
              <a:solidFill>
                <a:srgbClr val="DC2626"/>
              </a:solidFill>
              <a:latin typeface="Segoe UI"/>
              <a:ea typeface="微软雅黑"/>
            </a:endParaRPr>
          </a:p>
        </p:txBody>
      </p:sp>
      <p:sp>
        <p:nvSpPr>
          <p:cNvPr id="171" name="Rounded Rectangle 170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微软雅黑"/>
              </a:rPr>
              <a:t>Azure SQL Database</a:t>
            </a:r>
            <a:endParaRPr sz="74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微软雅黑"/>
              </a:rPr>
              <a:t>元数据库 Standard S2</a:t>
            </a:r>
            <a:endParaRPr sz="65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主备自动故障转移 · PITR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76" name="Rounded Rectangle 175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微软雅黑"/>
              </a:rPr>
              <a:t>Private Endpoint</a:t>
            </a:r>
            <a:endParaRPr sz="58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微软雅黑"/>
              </a:rPr>
              <a:t>公网访问：已禁用</a:t>
            </a:r>
            <a:endParaRPr sz="600" b="1" i="0">
              <a:solidFill>
                <a:srgbClr val="DC2626"/>
              </a:solidFill>
              <a:latin typeface="Segoe UI"/>
              <a:ea typeface="微软雅黑"/>
            </a:endParaRPr>
          </a:p>
        </p:txBody>
      </p:sp>
      <p:sp>
        <p:nvSpPr>
          <p:cNvPr id="179" name="Rounded Rectangle 178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微软雅黑"/>
              </a:rPr>
              <a:t>两个独立存储账户</a:t>
            </a:r>
            <a:endParaRPr sz="74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微软雅黑"/>
              </a:rPr>
              <a:t>① ADLS Gen2（HNS）· Iceberg 湖表 · ZRS</a:t>
            </a:r>
            <a:endParaRPr sz="590" b="1" i="0">
              <a:solidFill>
                <a:srgbClr val="0078D4"/>
              </a:solidFill>
              <a:latin typeface="Segoe UI"/>
              <a:ea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微软雅黑"/>
              </a:rPr>
              <a:t>② Blob（FNS）· 附件 · Cool→Cold · 可 WORM</a:t>
            </a:r>
            <a:endParaRPr sz="590" b="1" i="0">
              <a:solidFill>
                <a:srgbClr val="D97706"/>
              </a:solidFill>
              <a:latin typeface="Segoe UI"/>
              <a:ea typeface="微软雅黑"/>
            </a:endParaRPr>
          </a:p>
        </p:txBody>
      </p:sp>
      <p:sp>
        <p:nvSpPr>
          <p:cNvPr id="183" name="Rounded Rectangle 182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微软雅黑"/>
              </a:rPr>
              <a:t>Private Endpoint ×2</a:t>
            </a:r>
            <a:endParaRPr sz="58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微软雅黑"/>
              </a:rPr>
              <a:t>公网访问：已禁用</a:t>
            </a:r>
            <a:endParaRPr sz="600" b="1" i="0">
              <a:solidFill>
                <a:srgbClr val="DC2626"/>
              </a:solidFill>
              <a:latin typeface="Segoe UI"/>
              <a:ea typeface="微软雅黑"/>
            </a:endParaRPr>
          </a:p>
        </p:txBody>
      </p:sp>
      <p:cxnSp>
        <p:nvCxnSpPr>
          <p:cNvPr id="186" name="Connector 185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8" name="Connector 187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1" name="TextBox 190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微软雅黑"/>
              </a:rPr>
              <a:t>Private Link 私网流量</a:t>
            </a:r>
            <a:endParaRPr sz="60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与上方端点一一对应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193" name="Connector 192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微软雅黑"/>
              </a:rPr>
              <a:t>★ NCC 托管</a:t>
            </a:r>
            <a:endParaRPr sz="590" b="1" i="0">
              <a:solidFill>
                <a:srgbClr val="059669"/>
              </a:solidFill>
              <a:latin typeface="Segoe UI"/>
              <a:ea typeface="微软雅黑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微软雅黑"/>
              </a:rPr>
              <a:t>私有端点通道</a:t>
            </a:r>
            <a:endParaRPr sz="59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sp>
        <p:nvSpPr>
          <p:cNvPr id="195" name="Rounded Rectangle 194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微软雅黑"/>
              </a:rPr>
              <a:t>关键设计要点</a:t>
            </a:r>
            <a:endParaRPr sz="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97" name="TextBox 196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微软雅黑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微软雅黑"/>
              </a:rPr>
              <a:t>除 Entra ID（全局认证）外，PaaS 全部私有端点接入，流量不出骨干网；入口 WAF + AppGW 收敛</a:t>
            </a:r>
            <a:endParaRPr sz="62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98" name="TextBox 197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微软雅黑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微软雅黑"/>
              </a:rPr>
              <a:t>Serverless 不支持 VNet 对等 / VPN —— 私有访问 ADLS 唯一方式：NCC + 托管私有端点</a:t>
            </a:r>
            <a:endParaRPr sz="62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99" name="TextBox 198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微软雅黑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微软雅黑"/>
              </a:rPr>
              <a:t>源库抽取走 NAT 固定出口 IP 白名单；跨机房走 ExpressRoute / 站点到站点 VPN</a:t>
            </a:r>
            <a:endParaRPr sz="62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200" name="TextBox 199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微软雅黑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微软雅黑"/>
              </a:rPr>
              <a:t>元数据与销毁策略存 SQL DB S2 · 审计进 App Insights · 密钥由 Key Vault 托管</a:t>
            </a:r>
            <a:endParaRPr sz="62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201" name="TextBox 200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微软雅黑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微软雅黑"/>
              </a:rPr>
              <a:t>相比方案 B：省去 Trino 集群与双子网注入，查询层完全托管、零集群运维</a:t>
            </a:r>
            <a:endParaRPr sz="62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202" name="TextBox 201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微软雅黑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微软雅黑"/>
              </a:rPr>
              <a:t>新建工作区仅 Premium 档可选（Azure 现行政策），UC / PE / NCC 默认可用；NCC 需 Account Admin</a:t>
            </a:r>
            <a:endParaRPr sz="62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203" name="Rounded Rectangle 202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微软雅黑"/>
              </a:rPr>
              <a:t>高可用 &amp; 容灾（HA / DR）</a:t>
            </a:r>
            <a:endParaRPr sz="750" b="1" i="0">
              <a:solidFill>
                <a:srgbClr val="B91C1C"/>
              </a:solidFill>
              <a:latin typeface="Segoe UI"/>
              <a:ea typeface="微软雅黑"/>
            </a:endParaRPr>
          </a:p>
        </p:txBody>
      </p:sp>
      <p:sp>
        <p:nvSpPr>
          <p:cNvPr id="205" name="TextBox 204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微软雅黑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微软雅黑"/>
              </a:rPr>
              <a:t>AKS 跨 AZ · SQL 主备自动转移 · 存储 ZRS 冗余</a:t>
            </a:r>
            <a:endParaRPr sz="60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206" name="TextBox 205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微软雅黑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微软雅黑"/>
              </a:rPr>
              <a:t>平台托管无单点 · Serverless 空闲归零自动重建</a:t>
            </a:r>
            <a:endParaRPr sz="60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207" name="TextBox 206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微软雅黑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微软雅黑"/>
              </a:rPr>
              <a:t>SQL 自动备份 + PITR · ADLS 生命周期分层 / GRS</a:t>
            </a:r>
            <a:endParaRPr sz="60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微软雅黑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微软雅黑"/>
              </a:rPr>
              <a:t>RPO ≤ 15 min · RTO ≤ 2 h · 审计独立备份不销毁</a:t>
            </a:r>
            <a:endParaRPr sz="60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微软雅黑"/>
              </a:rPr>
              <a:t>应用架构图 · 方案 B2（湖仓一体 · Databricks SQL Serverless 读）</a:t>
            </a:r>
            <a:endParaRPr sz="1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30936"/>
            <a:ext cx="1828800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微软雅黑"/>
              </a:rPr>
              <a:t>01 访问入口</a:t>
            </a:r>
            <a:endParaRPr sz="850" b="1" i="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841248"/>
            <a:ext cx="1773936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微软雅黑"/>
              </a:rPr>
              <a:t>业务查询员</a:t>
            </a:r>
            <a:endParaRPr sz="80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查本系统归档数据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8" name="Oval 7"/>
          <p:cNvSpPr/>
          <p:nvPr/>
        </p:nvSpPr>
        <p:spPr>
          <a:xfrm>
            <a:off x="53826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697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4086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8296" y="841248"/>
            <a:ext cx="1773936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微软雅黑"/>
              </a:rPr>
              <a:t>审计 / 合规岗</a:t>
            </a:r>
            <a:endParaRPr sz="80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跨系统检索与举证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251336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9208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596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841248"/>
            <a:ext cx="1773936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微软雅黑"/>
              </a:rPr>
              <a:t>平台运维</a:t>
            </a:r>
            <a:endParaRPr sz="80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监控作业与销毁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48846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6718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46336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3767" y="822960"/>
            <a:ext cx="2157984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1D4ED8"/>
                </a:solidFill>
                <a:latin typeface="Segoe UI"/>
                <a:ea typeface="微软雅黑"/>
              </a:rPr>
              <a:t>Microsoft Entra ID</a:t>
            </a:r>
            <a:endParaRPr sz="820" b="1" i="0">
              <a:solidFill>
                <a:srgbClr val="1D4ED8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微软雅黑"/>
              </a:rPr>
              <a:t>SSO / OIDC / 托管标识</a:t>
            </a:r>
            <a:endParaRPr sz="65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微软雅黑"/>
              </a:rPr>
              <a:t>统一身份 · 单点登录 →</a:t>
            </a:r>
            <a:endParaRPr sz="68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4087368" y="1321308"/>
            <a:ext cx="1097280" cy="1005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891B2"/>
                </a:solidFill>
                <a:latin typeface="Segoe UI"/>
                <a:ea typeface="微软雅黑"/>
              </a:rPr>
              <a:t>HTTPS 443 · SSO</a:t>
            </a:r>
            <a:endParaRPr sz="580" b="1" i="0">
              <a:solidFill>
                <a:srgbClr val="0891B2"/>
              </a:solidFill>
              <a:latin typeface="Segoe UI"/>
              <a:ea typeface="微软雅黑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490472"/>
            <a:ext cx="2743200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微软雅黑"/>
              </a:rPr>
              <a:t>02 自研应用层（AKS）</a:t>
            </a:r>
            <a:endParaRPr sz="850" b="1" i="0">
              <a:solidFill>
                <a:srgbClr val="0E7490"/>
              </a:solidFill>
              <a:latin typeface="Segoe UI"/>
              <a:ea typeface="微软雅黑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65760" y="1700784"/>
            <a:ext cx="268833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1700784"/>
            <a:ext cx="2633472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20" b="0" i="0">
                <a:solidFill>
                  <a:srgbClr val="0F172A"/>
                </a:solidFill>
                <a:latin typeface="Segoe UI"/>
                <a:ea typeface="微软雅黑"/>
              </a:rPr>
              <a:t>React 配置化查询平台</a:t>
            </a:r>
            <a:endParaRPr sz="82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JSON Schema 渲染查询表单 · 表格 / 明细 / 附件预览 / 导出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3557016" y="1700784"/>
            <a:ext cx="52852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1700784"/>
            <a:ext cx="5175504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0F172A"/>
                </a:solidFill>
                <a:latin typeface="Segoe UI"/>
                <a:ea typeface="微软雅黑"/>
              </a:rPr>
              <a:t>.NET 10 后端服务组</a:t>
            </a:r>
            <a:endParaRPr sz="820" b="1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微软雅黑"/>
              </a:rPr>
              <a:t>元数据 · 查询代理 · 权限校验 · 附件代理 · 审计上报 · 销毁调度</a:t>
            </a:r>
            <a:endParaRPr sz="660" b="0" i="0">
              <a:solidFill>
                <a:srgbClr val="64748B"/>
              </a:solidFill>
              <a:latin typeface="Segoe UI"/>
              <a:ea typeface="微软雅黑"/>
            </a:endParaRPr>
          </a:p>
          <a:p>
            <a:pPr algn="ctr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微软雅黑"/>
              </a:rPr>
              <a:t>后端二次鉴权 · 参数化 SQL · 私有端点访问下游</a:t>
            </a:r>
            <a:endParaRPr sz="660" b="0" i="0">
              <a:solidFill>
                <a:srgbClr val="94A3B8"/>
              </a:solidFill>
              <a:latin typeface="Segoe UI"/>
              <a:ea typeface="微软雅黑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3108960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0" name="Rounded Rectangle 29"/>
          <p:cNvSpPr/>
          <p:nvPr/>
        </p:nvSpPr>
        <p:spPr>
          <a:xfrm>
            <a:off x="9345168" y="1700784"/>
            <a:ext cx="241401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1700784"/>
            <a:ext cx="2359152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20" b="0" i="0">
                <a:solidFill>
                  <a:srgbClr val="0F172A"/>
                </a:solidFill>
                <a:latin typeface="Segoe UI"/>
                <a:ea typeface="微软雅黑"/>
              </a:rPr>
              <a:t>Azure SQL 元数据库</a:t>
            </a:r>
            <a:endParaRPr sz="82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系统台账 / 表清单 / 保留期 / 销毁策略 / 审计索引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32" name="Connector 31"/>
          <p:cNvCxnSpPr/>
          <p:nvPr/>
        </p:nvCxnSpPr>
        <p:spPr>
          <a:xfrm>
            <a:off x="8897112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8357616" y="1828800"/>
            <a:ext cx="146304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微软雅黑"/>
              </a:rPr>
              <a:t>读写配置</a:t>
            </a:r>
            <a:endParaRPr sz="640" b="1" i="0">
              <a:solidFill>
                <a:srgbClr val="0891B2"/>
              </a:solidFill>
              <a:latin typeface="Segoe UI"/>
              <a:ea typeface="微软雅黑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2569464"/>
            <a:ext cx="3108960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微软雅黑"/>
              </a:rPr>
              <a:t>03 核心链路（写入 / 查询 / 附件）</a:t>
            </a:r>
            <a:endParaRPr sz="850" b="1" i="0">
              <a:solidFill>
                <a:srgbClr val="334155"/>
              </a:solidFill>
              <a:latin typeface="Segoe UI"/>
              <a:ea typeface="微软雅黑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微软雅黑"/>
              </a:rPr>
              <a:t>WRITE PATH</a:t>
            </a:r>
            <a:endParaRPr sz="640" b="1" i="0" spc="14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0F172A"/>
                </a:solidFill>
                <a:latin typeface="Segoe UI"/>
                <a:ea typeface="微软雅黑"/>
              </a:rPr>
              <a:t>归档写入 / 到期销毁</a:t>
            </a:r>
            <a:endParaRPr sz="9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Azure Data Factory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编排调度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SeaTunnel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结构化抽取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4" name="Rounded Rectangle 43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微软雅黑"/>
              </a:rPr>
              <a:t>Databricks Serverless：ETL · Compaction · DROP PARTITION + VACUUM</a:t>
            </a:r>
            <a:endParaRPr sz="680" b="1" i="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微软雅黑"/>
              </a:rPr>
              <a:t>READ PATH</a:t>
            </a:r>
            <a:endParaRPr sz="640" b="1" i="0" spc="14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0F172A"/>
                </a:solidFill>
                <a:latin typeface="Segoe UI"/>
                <a:ea typeface="微软雅黑"/>
              </a:rPr>
              <a:t>在线查询 / 跨系统检索</a:t>
            </a:r>
            <a:endParaRPr sz="9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查询代理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限流 / 超时 / 审计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Databricks SQL Serverless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读侧查询 · 空闲缩 0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53" name="Connector 52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微软雅黑"/>
              </a:rPr>
              <a:t>Unity Catalog 表级授权 · SERVE 层首屏 2–5 s</a:t>
            </a:r>
            <a:endParaRPr sz="680" b="1" i="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微软雅黑"/>
              </a:rPr>
              <a:t>ATTACHMENT PATH</a:t>
            </a:r>
            <a:endParaRPr sz="640" b="1" i="0" spc="140">
              <a:solidFill>
                <a:srgbClr val="B45309"/>
              </a:solidFill>
              <a:latin typeface="Segoe UI"/>
              <a:ea typeface="微软雅黑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0F172A"/>
                </a:solidFill>
                <a:latin typeface="Segoe UI"/>
                <a:ea typeface="微软雅黑"/>
              </a:rPr>
              <a:t>非结构化附件 / 预览下载</a:t>
            </a:r>
            <a:endParaRPr sz="9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Storage Mover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迁移附件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微软雅黑"/>
              </a:rPr>
              <a:t>附件代理</a:t>
            </a:r>
            <a:endParaRPr sz="7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鉴权 / 流式回吐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63" name="Connector 62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4" name="Rounded Rectangle 63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微软雅黑"/>
              </a:rPr>
              <a:t>SHA-256 台账 · 附件索引表 · 后端审计</a:t>
            </a:r>
            <a:endParaRPr sz="680" b="1" i="0">
              <a:solidFill>
                <a:srgbClr val="92400E"/>
              </a:solidFill>
              <a:latin typeface="Segoe UI"/>
              <a:ea typeface="微软雅黑"/>
            </a:endParaRP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微软雅黑"/>
              </a:rPr>
              <a:t>接入配置 / 销毁调度</a:t>
            </a:r>
            <a:endParaRPr sz="64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cxnSp>
        <p:nvCxnSpPr>
          <p:cNvPr id="70" name="Connector 69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微软雅黑"/>
              </a:rPr>
              <a:t>查询请求</a:t>
            </a:r>
            <a:endParaRPr sz="64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cxnSp>
        <p:nvCxnSpPr>
          <p:cNvPr id="72" name="Connector 71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微软雅黑"/>
              </a:rPr>
              <a:t>附件预览 / 下载</a:t>
            </a:r>
            <a:endParaRPr sz="640" b="1" i="0">
              <a:solidFill>
                <a:srgbClr val="D97706"/>
              </a:solidFill>
              <a:latin typeface="Segoe UI"/>
              <a:ea typeface="微软雅黑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4892040"/>
            <a:ext cx="3657600" cy="155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微软雅黑"/>
              </a:rPr>
              <a:t>04 数据底座与统一治理</a:t>
            </a:r>
            <a:endParaRPr sz="850" b="1" i="0">
              <a:solidFill>
                <a:srgbClr val="1D4ED8"/>
              </a:solidFill>
              <a:latin typeface="Segoe UI"/>
              <a:ea typeface="微软雅黑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365760" y="5084064"/>
            <a:ext cx="356616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3192" y="5084064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微软雅黑"/>
              </a:rPr>
              <a:t>ADLS Gen2 · Iceberg 湖表</a:t>
            </a:r>
            <a:endParaRPr sz="80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RAW / CURATED / LAKE / SERVE · 1:1 原样归档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411480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42232" y="5084064"/>
            <a:ext cx="3236976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微软雅黑"/>
              </a:rPr>
              <a:t>Unity Catalog</a:t>
            </a:r>
            <a:endParaRPr sz="80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表级权限 / 血缘 / 快照回溯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7589520" y="5084064"/>
            <a:ext cx="4169663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616952" y="5084064"/>
            <a:ext cx="411480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微软雅黑"/>
              </a:rPr>
              <a:t>Azure Blob · 附件账户</a:t>
            </a:r>
            <a:endParaRPr sz="80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微软雅黑"/>
              </a:rPr>
              <a:t>Cool / Cold 分层 · WORM 可选 · 与业务表分账户</a:t>
            </a:r>
            <a:endParaRPr sz="63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84" name="Connector 83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微软雅黑"/>
              </a:rPr>
              <a:t>写入 Iceberg</a:t>
            </a:r>
            <a:endParaRPr sz="64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cxnSp>
        <p:nvCxnSpPr>
          <p:cNvPr id="86" name="Connector 85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微软雅黑"/>
              </a:rPr>
              <a:t>读 Iceberg / ABFS</a:t>
            </a:r>
            <a:endParaRPr sz="64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cxnSp>
        <p:nvCxnSpPr>
          <p:cNvPr id="90" name="Connector 89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微软雅黑"/>
              </a:rPr>
              <a:t>附件取流</a:t>
            </a:r>
            <a:endParaRPr sz="640" b="1" i="0">
              <a:solidFill>
                <a:srgbClr val="D97706"/>
              </a:solidFill>
              <a:latin typeface="Segoe UI"/>
              <a:ea typeface="微软雅黑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365760" y="5705856"/>
            <a:ext cx="733348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2064" y="5705856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微软雅黑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微软雅黑"/>
              </a:rPr>
              <a:t>Key Vault · App Insights · Azure Monitor · Databricks Query History · 全部 PaaS 私有端点 · 入口 WAF</a:t>
            </a:r>
            <a:endParaRPr sz="68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7900416" y="5705856"/>
            <a:ext cx="3858768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065008" y="5705856"/>
            <a:ext cx="3529584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微软雅黑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微软雅黑"/>
              </a:rPr>
              <a:t>Databricks SQL Serverless 完全托管 · 空闲缩 0；代价是引擎绑定（数据仍为开放 Iceberg 可迁移）</a:t>
            </a:r>
            <a:endParaRPr sz="680" b="0" i="0">
              <a:solidFill>
                <a:srgbClr val="92400E"/>
              </a:solidFill>
              <a:latin typeface="Segoe UI"/>
              <a:ea typeface="微软雅黑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36576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93776" y="6199632"/>
            <a:ext cx="173736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自研应用组件（AKS）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194035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68372" y="6199632"/>
            <a:ext cx="173736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写侧数据链路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314004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68065" y="6199632"/>
            <a:ext cx="173736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读侧查询链路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433974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467758" y="6199632"/>
            <a:ext cx="173736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编排 / 抽取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561441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742432" y="6199632"/>
            <a:ext cx="173736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Azure PaaS 数据服务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微软雅黑"/>
              </a:rPr>
              <a:t>方案 B2 · 湖仓一体 · 存算分离架构</a:t>
            </a:r>
            <a:endParaRPr sz="1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5" name="Rounded Rectangle 4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微软雅黑"/>
              </a:rPr>
              <a:t>01</a:t>
            </a:r>
            <a:endParaRPr sz="650" b="1" i="0">
              <a:solidFill>
                <a:srgbClr val="475569"/>
              </a:solidFill>
              <a:latin typeface="Consolas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0F172A"/>
                </a:solidFill>
                <a:latin typeface="Segoe UI"/>
                <a:ea typeface="微软雅黑"/>
              </a:rPr>
              <a:t>源系统</a:t>
            </a:r>
            <a:endParaRPr sz="9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微软雅黑"/>
              </a:rPr>
              <a:t>SOURCE</a:t>
            </a:r>
            <a:endParaRPr sz="520" b="1" i="0" spc="110">
              <a:solidFill>
                <a:srgbClr val="475569"/>
              </a:solidFill>
              <a:latin typeface="Consolas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退役 · 只读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15 套待归档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微软雅黑"/>
              </a:rPr>
              <a:t>结构化数据</a:t>
            </a:r>
            <a:endParaRPr sz="74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Oracle · MySQL · DB2 / 其他 · JDBC 读取 · 约 100 张表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微软雅黑"/>
              </a:rPr>
              <a:t>非结构化附件</a:t>
            </a:r>
            <a:endParaRPr sz="740" b="0" i="0">
              <a:solidFill>
                <a:srgbClr val="92400E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微软雅黑"/>
              </a:rPr>
              <a:t>NFS · S3 · Azure Blob · PDF / 图片 / 影像件</a:t>
            </a:r>
            <a:endParaRPr sz="600" b="0" i="0">
              <a:solidFill>
                <a:srgbClr val="78350F"/>
              </a:solidFill>
              <a:latin typeface="Segoe UI"/>
              <a:ea typeface="微软雅黑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微软雅黑"/>
              </a:rPr>
              <a:t>B-00</a:t>
            </a:r>
            <a:endParaRPr sz="530" b="1" i="0">
              <a:solidFill>
                <a:srgbClr val="0891B2"/>
              </a:solidFill>
              <a:latin typeface="Consolas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0F172A"/>
                </a:solidFill>
                <a:latin typeface="Segoe UI"/>
                <a:ea typeface="微软雅黑"/>
              </a:rPr>
              <a:t>接入配置</a:t>
            </a:r>
            <a:endParaRPr sz="9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微软雅黑"/>
              </a:rPr>
              <a:t>CONFIGURE</a:t>
            </a:r>
            <a:endParaRPr sz="520" b="1" i="0" spc="110">
              <a:solidFill>
                <a:srgbClr val="0891B2"/>
              </a:solidFill>
              <a:latin typeface="Consolas"/>
              <a:ea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页面操作 · 零代码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配置存元数据库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微软雅黑"/>
              </a:rPr>
              <a:t>新系统接入复用</a:t>
            </a:r>
            <a:endParaRPr sz="590" b="1" i="0">
              <a:solidFill>
                <a:srgbClr val="0891B2"/>
              </a:solidFill>
              <a:latin typeface="Segoe UI"/>
              <a:ea typeface="微软雅黑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微软雅黑"/>
              </a:rPr>
              <a:t>① 录入连接信息</a:t>
            </a:r>
            <a:endParaRPr sz="68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微软雅黑"/>
              </a:rPr>
              <a:t>主机 / 端口 / 账号 · 凭据存 Key Vault</a:t>
            </a:r>
            <a:endParaRPr sz="57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微软雅黑"/>
              </a:rPr>
              <a:t>「测试连接」校验连通与权限</a:t>
            </a:r>
            <a:endParaRPr sz="57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微软雅黑"/>
              </a:rPr>
              <a:t>② 自动读取表清单</a:t>
            </a:r>
            <a:endParaRPr sz="68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微软雅黑"/>
              </a:rPr>
              <a:t>扫描 information_schema · 表名 / 行数 / 大小</a:t>
            </a:r>
            <a:endParaRPr sz="57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微软雅黑"/>
              </a:rPr>
              <a:t>共发现 10 张表（含类型与主键）</a:t>
            </a:r>
            <a:endParaRPr sz="57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微软雅黑"/>
              </a:rPr>
              <a:t>③ 勾选待迁移表</a:t>
            </a:r>
            <a:endParaRPr sz="68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微软雅黑"/>
              </a:rPr>
              <a:t>☑ 订单主表 · 明细 · 客户 · 商品 · 支付</a:t>
            </a:r>
            <a:endParaRPr sz="57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微软雅黑"/>
              </a:rPr>
              <a:t>☐ 临时 / 日志 / 中间 / 缓存 / 备份</a:t>
            </a:r>
            <a:endParaRPr sz="57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37" name="Connector 36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微软雅黑"/>
              </a:rPr>
              <a:t>按配置生成 SeaTunnel 任务 · 仅入湖勾选的 5 张表（10 选 5）</a:t>
            </a:r>
            <a:endParaRPr sz="620" b="1" i="0">
              <a:solidFill>
                <a:srgbClr val="0891B2"/>
              </a:solidFill>
              <a:latin typeface="Segoe UI"/>
              <a:ea typeface="微软雅黑"/>
            </a:endParaRPr>
          </a:p>
        </p:txBody>
      </p:sp>
      <p:cxnSp>
        <p:nvCxnSpPr>
          <p:cNvPr id="40" name="Connector 39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1" name="Rounded Rectangle 40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微软雅黑"/>
              </a:rPr>
              <a:t>02</a:t>
            </a:r>
            <a:endParaRPr sz="650" b="1" i="0">
              <a:solidFill>
                <a:srgbClr val="EA580C"/>
              </a:solidFill>
              <a:latin typeface="Consolas"/>
              <a:ea typeface="微软雅黑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0F172A"/>
                </a:solidFill>
                <a:latin typeface="Segoe UI"/>
                <a:ea typeface="微软雅黑"/>
              </a:rPr>
              <a:t>数据抽取</a:t>
            </a:r>
            <a:endParaRPr sz="9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微软雅黑"/>
              </a:rPr>
              <a:t>INGEST</a:t>
            </a:r>
            <a:endParaRPr sz="520" b="1" i="0" spc="110">
              <a:solidFill>
                <a:srgbClr val="EA580C"/>
              </a:solidFill>
              <a:latin typeface="Consolas"/>
              <a:ea typeface="微软雅黑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批量 · 全量 + 增量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ADF 编排调度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微软雅黑"/>
              </a:rPr>
              <a:t>结构化 · SeaTunnel</a:t>
            </a:r>
            <a:endParaRPr sz="74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200+ 连接器 · JDBC · 类型映射 · 对账 → Iceberg 表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微软雅黑"/>
              </a:rPr>
              <a:t>附件 · Storage Mover</a:t>
            </a:r>
            <a:endParaRPr sz="740" b="0" i="0">
              <a:solidFill>
                <a:srgbClr val="92400E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微软雅黑"/>
              </a:rPr>
              <a:t>PDF / 图片 / Office 影像 · 服务免费 → ADLS 附件容器</a:t>
            </a:r>
            <a:endParaRPr sz="600" b="0" i="0">
              <a:solidFill>
                <a:srgbClr val="78350F"/>
              </a:solidFill>
              <a:latin typeface="Segoe UI"/>
              <a:ea typeface="微软雅黑"/>
            </a:endParaRPr>
          </a:p>
        </p:txBody>
      </p:sp>
      <p:cxnSp>
        <p:nvCxnSpPr>
          <p:cNvPr id="52" name="Connector 51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3" name="Rounded Rectangle 52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微软雅黑"/>
              </a:rPr>
              <a:t>B-03</a:t>
            </a:r>
            <a:endParaRPr sz="530" b="1" i="0">
              <a:solidFill>
                <a:srgbClr val="7C3AED"/>
              </a:solidFill>
              <a:latin typeface="Consolas"/>
              <a:ea typeface="微软雅黑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0F172A"/>
                </a:solidFill>
                <a:latin typeface="Segoe UI"/>
                <a:ea typeface="微软雅黑"/>
              </a:rPr>
              <a:t>Iceberg 冷湖</a:t>
            </a:r>
            <a:endParaRPr sz="9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微软雅黑"/>
              </a:rPr>
              <a:t>COLD LAKE · STORAGE</a:t>
            </a:r>
            <a:endParaRPr sz="520" b="1" i="0" spc="110">
              <a:solidFill>
                <a:srgbClr val="7C3AED"/>
              </a:solidFill>
              <a:latin typeface="Consolas"/>
              <a:ea typeface="微软雅黑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ADLS Gen2 · Parquet + ZSTD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微软雅黑"/>
              </a:rPr>
              <a:t>≈¥90–150/TB·月 · PB 级</a:t>
            </a:r>
            <a:endParaRPr sz="59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100 张表 · 1:1 原样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Hot / Cool 分层 · ZRS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微软雅黑"/>
              </a:rPr>
              <a:t>Iceberg 表 · 四层分层（RAW → SERVE 逐层升温，越往下越热）</a:t>
            </a:r>
            <a:endParaRPr sz="64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微软雅黑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　SeaTunnel 全量 1:1 保真 · 分区 sys_id / ingest_date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微软雅黑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　类型统一 · 缺失值处理 · SHA-256 台账 · 分区归约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微软雅黑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　业务维度建模 · 生命周期分区（销毁友好）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微软雅黑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　热表物化 · Z-Order · 供 Databricks SQL Serverless 直查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75" name="Connector 74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6" name="Rounded Rectangle 75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微软雅黑"/>
              </a:rPr>
              <a:t>━━ 存算分离边界 ━━</a:t>
            </a:r>
            <a:endParaRPr sz="680" b="1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cxnSp>
        <p:nvCxnSpPr>
          <p:cNvPr id="78" name="Connector 77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微软雅黑"/>
              </a:rPr>
              <a:t>Serverless 直查</a:t>
            </a:r>
            <a:endParaRPr sz="56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cxnSp>
        <p:nvCxnSpPr>
          <p:cNvPr id="80" name="Connector 79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微软雅黑"/>
              </a:rPr>
              <a:t>ETL 写入 · Databricks</a:t>
            </a:r>
            <a:endParaRPr sz="56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微软雅黑"/>
              </a:rPr>
              <a:t>B-04</a:t>
            </a:r>
            <a:endParaRPr sz="530" b="1" i="0">
              <a:solidFill>
                <a:srgbClr val="059669"/>
              </a:solidFill>
              <a:latin typeface="Consolas"/>
              <a:ea typeface="微软雅黑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0F172A"/>
                </a:solidFill>
                <a:latin typeface="Segoe UI"/>
                <a:ea typeface="微软雅黑"/>
              </a:rPr>
              <a:t>统一计算层</a:t>
            </a:r>
            <a:endParaRPr sz="9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微软雅黑"/>
              </a:rPr>
              <a:t>COMPUTE</a:t>
            </a:r>
            <a:endParaRPr sz="520" b="1" i="0" spc="110">
              <a:solidFill>
                <a:srgbClr val="059669"/>
              </a:solidFill>
              <a:latin typeface="Consolas"/>
              <a:ea typeface="微软雅黑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Databricks 读写一体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弹性 · 按量计费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微软雅黑"/>
              </a:rPr>
              <a:t>Databricks · 写侧 ETL</a:t>
            </a:r>
            <a:endParaRPr sz="7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RAW → CURATED → LAKE → SERVE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Spark 批处理 · Iceberg 写入 · Z-Order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Compaction · VACUUM · 到期销毁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微软雅黑"/>
              </a:rPr>
              <a:t>按 DBU 计费 · 按需拉起 ≈¥0.4–0.8 万/月</a:t>
            </a:r>
            <a:endParaRPr sz="59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微软雅黑"/>
              </a:rPr>
              <a:t>Databricks SQL Serverless</a:t>
            </a:r>
            <a:endParaRPr sz="7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读侧查询 · 零运维 · 故障自动重建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Iceberg 直查 · SERVE 加速 · 首屏 2–5 s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UC 表 / 行 / 列级授权 + 审计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微软雅黑"/>
              </a:rPr>
              <a:t>X-Small 6 DBU/h · 空闲缩 0 ≈¥0.5–0.9 万/月</a:t>
            </a:r>
            <a:endParaRPr sz="59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cxnSp>
        <p:nvCxnSpPr>
          <p:cNvPr id="101" name="Connector 100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2" name="Rounded Rectangle 101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微软雅黑"/>
              </a:rPr>
              <a:t>B-05</a:t>
            </a:r>
            <a:endParaRPr sz="530" b="1" i="0">
              <a:solidFill>
                <a:srgbClr val="0891B2"/>
              </a:solidFill>
              <a:latin typeface="Consolas"/>
              <a:ea typeface="微软雅黑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0F172A"/>
                </a:solidFill>
                <a:latin typeface="Segoe UI"/>
                <a:ea typeface="微软雅黑"/>
              </a:rPr>
              <a:t>消费入口</a:t>
            </a:r>
            <a:endParaRPr sz="9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微软雅黑"/>
              </a:rPr>
              <a:t>CONSUME</a:t>
            </a:r>
            <a:endParaRPr sz="520" b="1" i="0" spc="110">
              <a:solidFill>
                <a:srgbClr val="0891B2"/>
              </a:solidFill>
              <a:latin typeface="Consolas"/>
              <a:ea typeface="微软雅黑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元数据驱动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零代码接入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微软雅黑"/>
              </a:rPr>
              <a:t>元数据驱动 · 动态配置化查询平台</a:t>
            </a:r>
            <a:endParaRPr sz="760" b="1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微软雅黑"/>
              </a:rPr>
              <a:t>JSON 配置定义查询 / 筛选 / 列 / 权限 · 前端动态渲染 · 一次研发处处复用</a:t>
            </a:r>
            <a:endParaRPr sz="600" b="0" i="0">
              <a:solidFill>
                <a:srgbClr val="64748B"/>
              </a:solidFill>
              <a:latin typeface="Segoe UI"/>
              <a:ea typeface="微软雅黑"/>
            </a:endParaRP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微软雅黑"/>
              </a:rPr>
              <a:t>新系统接入零代码 · 边际 +3~6 人天 / 系统 · 首期 60 人天 · ≥15 系统适用</a:t>
            </a:r>
            <a:endParaRPr sz="600" b="1" i="0">
              <a:solidFill>
                <a:srgbClr val="0891B2"/>
              </a:solidFill>
              <a:latin typeface="Segoe UI"/>
              <a:ea typeface="微软雅黑"/>
            </a:endParaRPr>
          </a:p>
        </p:txBody>
      </p:sp>
      <p:sp>
        <p:nvSpPr>
          <p:cNvPr id="111" name="Rounded Rectangle 110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微软雅黑"/>
              </a:rPr>
              <a:t>↺</a:t>
            </a:r>
            <a:endParaRPr sz="1000" b="1" i="0">
              <a:solidFill>
                <a:srgbClr val="E11D48"/>
              </a:solidFill>
              <a:latin typeface="Segoe UI"/>
              <a:ea typeface="微软雅黑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微软雅黑"/>
              </a:rPr>
              <a:t>Retention</a:t>
            </a:r>
            <a:endParaRPr sz="840" b="1" i="0">
              <a:solidFill>
                <a:srgbClr val="E11D48"/>
              </a:solidFill>
              <a:latin typeface="Segoe UI"/>
              <a:ea typeface="微软雅黑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微软雅黑"/>
              </a:rPr>
              <a:t>RETENTION</a:t>
            </a:r>
            <a:endParaRPr sz="520" b="1" i="0" spc="110">
              <a:solidFill>
                <a:srgbClr val="E11D48"/>
              </a:solidFill>
              <a:latin typeface="Consolas"/>
              <a:ea typeface="微软雅黑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微软雅黑"/>
              </a:rPr>
              <a:t>作用于 B-03 分区
回写台账 · 附件同步删</a:t>
            </a:r>
            <a:endParaRPr sz="58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17" name="Rounded Rectangle 116"/>
          <p:cNvSpPr/>
          <p:nvPr/>
        </p:nvSpPr>
        <p:spPr>
          <a:xfrm>
            <a:off x="2231136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58568" y="6108192"/>
            <a:ext cx="11704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微软雅黑"/>
              </a:rPr>
              <a:t>① 到期扫描</a:t>
            </a:r>
            <a:endParaRPr sz="66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微软雅黑"/>
              </a:rPr>
              <a:t>扫描 Iceberg meta</a:t>
            </a:r>
            <a:endParaRPr sz="56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19" name="Rounded Rectangle 118"/>
          <p:cNvSpPr/>
          <p:nvPr/>
        </p:nvSpPr>
        <p:spPr>
          <a:xfrm>
            <a:off x="3657600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85032" y="6108192"/>
            <a:ext cx="11704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微软雅黑"/>
              </a:rPr>
              <a:t>② DROP PARTITION</a:t>
            </a:r>
            <a:endParaRPr sz="66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微软雅黑"/>
              </a:rPr>
              <a:t>秒级 · Iceberg 原生</a:t>
            </a:r>
            <a:endParaRPr sz="56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21" name="Rounded Rectangle 120"/>
          <p:cNvSpPr/>
          <p:nvPr/>
        </p:nvSpPr>
        <p:spPr>
          <a:xfrm>
            <a:off x="5084064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111496" y="6108192"/>
            <a:ext cx="11704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微软雅黑"/>
              </a:rPr>
              <a:t>③ VACUUM</a:t>
            </a:r>
            <a:endParaRPr sz="66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微软雅黑"/>
              </a:rPr>
              <a:t>物理清除快照</a:t>
            </a:r>
            <a:endParaRPr sz="56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6510528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37960" y="6108192"/>
            <a:ext cx="11704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微软雅黑"/>
              </a:rPr>
              <a:t>④ 附件 + 审计</a:t>
            </a:r>
            <a:endParaRPr sz="66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微软雅黑"/>
              </a:rPr>
              <a:t>同步删除 · 留痕</a:t>
            </a:r>
            <a:endParaRPr sz="56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125" name="Connector 124"/>
          <p:cNvCxnSpPr/>
          <p:nvPr/>
        </p:nvCxnSpPr>
        <p:spPr>
          <a:xfrm>
            <a:off x="3483864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4910328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6336792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微软雅黑"/>
              </a:rPr>
              <a:t>审计与元数据独立备份 · 不随业务数据销毁 · 纳入年度销毁演练</a:t>
            </a:r>
            <a:endParaRPr sz="580" b="1" i="0">
              <a:solidFill>
                <a:srgbClr val="9F1239"/>
              </a:solidFill>
              <a:latin typeface="Segoe UI"/>
              <a:ea typeface="微软雅黑"/>
            </a:endParaRPr>
          </a:p>
        </p:txBody>
      </p:sp>
      <p:cxnSp>
        <p:nvCxnSpPr>
          <p:cNvPr id="129" name="Connector 128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2" name="TextBox 131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vert="eaVert"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微软雅黑"/>
              </a:rPr>
              <a:t>作用于冷湖分区</a:t>
            </a:r>
            <a:endParaRPr sz="560" b="1" i="0">
              <a:solidFill>
                <a:srgbClr val="E11D48"/>
              </a:solidFill>
              <a:latin typeface="Segoe UI"/>
              <a:ea typeface="微软雅黑"/>
            </a:endParaRPr>
          </a:p>
        </p:txBody>
      </p:sp>
      <p:sp>
        <p:nvSpPr>
          <p:cNvPr id="133" name="Rounded Rectangle 132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D97706"/>
                </a:solidFill>
                <a:latin typeface="Segoe UI"/>
                <a:ea typeface="微软雅黑"/>
              </a:rPr>
              <a:t>附件对象存储 · </a:t>
            </a:r>
            <a:r>
              <a:rPr sz="820" b="1" i="0">
                <a:solidFill>
                  <a:srgbClr val="92400E"/>
                </a:solidFill>
                <a:latin typeface="Segoe UI"/>
                <a:ea typeface="微软雅黑"/>
              </a:rPr>
              <a:t>独立存储账户（与湖分开）</a:t>
            </a:r>
            <a:endParaRPr sz="820" b="1" i="0">
              <a:solidFill>
                <a:srgbClr val="92400E"/>
              </a:solidFill>
              <a:latin typeface="Segoe UI"/>
              <a:ea typeface="微软雅黑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微软雅黑"/>
              </a:rPr>
              <a:t>贯穿 02 抽取 → B-03 存储 · 供 B-05 直接消费</a:t>
            </a:r>
            <a:endParaRPr sz="590" b="0" i="0">
              <a:solidFill>
                <a:srgbClr val="A16207"/>
              </a:solidFill>
              <a:latin typeface="Segoe UI"/>
              <a:ea typeface="微软雅黑"/>
            </a:endParaRPr>
          </a:p>
        </p:txBody>
      </p:sp>
      <p:sp>
        <p:nvSpPr>
          <p:cNvPr id="136" name="Rounded Rectangle 135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微软雅黑"/>
              </a:rPr>
              <a:t>FNS 平面命名空间</a:t>
            </a:r>
            <a:endParaRPr sz="6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微软雅黑"/>
              </a:rPr>
              <a:t>非 HNS · 按次计费（不按 4MB 切块）</a:t>
            </a:r>
            <a:endParaRPr sz="580" b="0" i="0">
              <a:solidFill>
                <a:srgbClr val="A16207"/>
              </a:solidFill>
              <a:latin typeface="Segoe UI"/>
              <a:ea typeface="微软雅黑"/>
            </a:endParaRPr>
          </a:p>
        </p:txBody>
      </p:sp>
      <p:sp>
        <p:nvSpPr>
          <p:cNvPr id="138" name="Rounded Rectangle 137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微软雅黑"/>
              </a:rPr>
              <a:t>Cool → Cold 分层</a:t>
            </a:r>
            <a:endParaRPr sz="6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微软雅黑"/>
              </a:rPr>
              <a:t>生命周期自动降档</a:t>
            </a:r>
            <a:endParaRPr sz="580" b="0" i="0">
              <a:solidFill>
                <a:srgbClr val="A16207"/>
              </a:solidFill>
              <a:latin typeface="Segoe UI"/>
              <a:ea typeface="微软雅黑"/>
            </a:endParaRPr>
          </a:p>
        </p:txBody>
      </p:sp>
      <p:sp>
        <p:nvSpPr>
          <p:cNvPr id="140" name="Rounded Rectangle 139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微软雅黑"/>
              </a:rPr>
              <a:t>SHA-256 台账</a:t>
            </a:r>
            <a:endParaRPr sz="6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微软雅黑"/>
              </a:rPr>
              <a:t>前缀 sysXX/yyyy-mm/</a:t>
            </a:r>
            <a:endParaRPr sz="580" b="0" i="0">
              <a:solidFill>
                <a:srgbClr val="A16207"/>
              </a:solidFill>
              <a:latin typeface="Segoe UI"/>
              <a:ea typeface="微软雅黑"/>
            </a:endParaRPr>
          </a:p>
        </p:txBody>
      </p:sp>
      <p:sp>
        <p:nvSpPr>
          <p:cNvPr id="142" name="Rounded Rectangle 141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微软雅黑"/>
              </a:rPr>
              <a:t>后端签 SAS</a:t>
            </a:r>
            <a:endParaRPr sz="680" b="0" i="0">
              <a:solidFill>
                <a:srgbClr val="0F172A"/>
              </a:solidFill>
              <a:latin typeface="Segoe UI"/>
              <a:ea typeface="微软雅黑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微软雅黑"/>
              </a:rPr>
              <a:t>前端直连下载</a:t>
            </a:r>
            <a:endParaRPr sz="580" b="0" i="0">
              <a:solidFill>
                <a:srgbClr val="A16207"/>
              </a:solidFill>
              <a:latin typeface="Segoe UI"/>
              <a:ea typeface="微软雅黑"/>
            </a:endParaRPr>
          </a:p>
        </p:txBody>
      </p:sp>
      <p:cxnSp>
        <p:nvCxnSpPr>
          <p:cNvPr id="144" name="Connector 143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5" name="Connector 144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0" name="TextBox 149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微软雅黑"/>
              </a:rPr>
              <a:t>附件 URL 直连消费（SAS）</a:t>
            </a:r>
            <a:endParaRPr sz="590" b="1" i="0">
              <a:solidFill>
                <a:srgbClr val="D97706"/>
              </a:solidFill>
              <a:latin typeface="Segoe UI"/>
              <a:ea typeface="微软雅黑"/>
            </a:endParaRPr>
          </a:p>
        </p:txBody>
      </p:sp>
      <p:sp>
        <p:nvSpPr>
          <p:cNvPr id="151" name="Rounded Rectangle 150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6D28D9"/>
                </a:solidFill>
                <a:latin typeface="Segoe UI"/>
                <a:ea typeface="微软雅黑"/>
              </a:rPr>
              <a:t>存算分离 · 成本结构</a:t>
            </a:r>
            <a:endParaRPr sz="820" b="1" i="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sp>
        <p:nvSpPr>
          <p:cNvPr id="153" name="Rounded Rectangle 152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微软雅黑"/>
              </a:rPr>
              <a:t>存储侧 · 常驻</a:t>
            </a:r>
            <a:endParaRPr sz="660" b="0" i="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微软雅黑"/>
              </a:rPr>
              <a:t>ADLS Hot/Cool ≈¥90–150/TB·月 · PB 级从容 · ZRS</a:t>
            </a:r>
            <a:endParaRPr sz="59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56" name="Rounded Rectangle 155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微软雅黑"/>
              </a:rPr>
              <a:t>计算侧 · 按需</a:t>
            </a:r>
            <a:endParaRPr sz="660" b="0" i="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微软雅黑"/>
              </a:rPr>
              <a:t>写侧 ETL ≈¥0.4–0.8 万/月 · 读侧查询 ≈¥0.5–0.9 万/月</a:t>
            </a:r>
            <a:endParaRPr sz="59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微软雅黑"/>
              </a:rPr>
              <a:t>存储与计算独立扩缩 · 空闲缩到 0 · 只为使用的算力付费</a:t>
            </a:r>
            <a:endParaRPr sz="59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0F172A"/>
                </a:solidFill>
                <a:latin typeface="Segoe UI"/>
                <a:ea typeface="微软雅黑"/>
              </a:rPr>
              <a:t>方案 B2 要点</a:t>
            </a:r>
            <a:endParaRPr sz="82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微软雅黑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微软雅黑"/>
              </a:rPr>
              <a:t>冷湖常驻，Serverless 读写按需拉起 · 空闲缩 0</a:t>
            </a:r>
            <a:endParaRPr sz="61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微软雅黑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微软雅黑"/>
              </a:rPr>
              <a:t>DROP PARTITION + VACUUM 物理清除，附件与审计同步</a:t>
            </a:r>
            <a:endParaRPr sz="61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微软雅黑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微软雅黑"/>
              </a:rPr>
              <a:t>元数据驱动前端 · 边际 +3~6 人天 / 系统</a:t>
            </a:r>
            <a:endParaRPr sz="61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65" name="TextBox 164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微软雅黑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微软雅黑"/>
              </a:rPr>
              <a:t>Databricks SQL Serverless · 零集群运维 · UC 授权</a:t>
            </a:r>
            <a:endParaRPr sz="61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微软雅黑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微软雅黑"/>
              </a:rPr>
              <a:t>≥15 套系统或 &gt;20 TB 长期保留 · PB 级从容</a:t>
            </a:r>
            <a:endParaRPr sz="61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微软雅黑"/>
              </a:rPr>
              <a:t>B2 的取舍</a:t>
            </a:r>
            <a:endParaRPr sz="800" b="1" i="0">
              <a:solidFill>
                <a:srgbClr val="B45309"/>
              </a:solidFill>
              <a:latin typeface="Segoe UI"/>
              <a:ea typeface="微软雅黑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微软雅黑"/>
              </a:rPr>
              <a:t>读侧完全托管、UC 治理原生；代价是计算引擎绑定 Databricks（数据仍为开放 Iceberg，随时可换引擎）。Premium 为新建工作区唯一档（Azure 现行政策）。</a:t>
            </a:r>
            <a:endParaRPr sz="610" b="0" i="0">
              <a:solidFill>
                <a:srgbClr val="92400E"/>
              </a:solidFill>
              <a:latin typeface="Segoe UI"/>
              <a:ea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微软雅黑"/>
              </a:rPr>
              <a:t>方案 B2 · 数据加密设计</a:t>
            </a:r>
            <a:endParaRPr sz="1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39319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566928"/>
            <a:ext cx="3675887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微软雅黑"/>
              </a:rPr>
              <a:t>四层加密模型 + 密钥管理（L1 → L5）</a:t>
            </a:r>
            <a:endParaRPr sz="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01168" y="91440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9184" y="103327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033271"/>
            <a:ext cx="4754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78D4"/>
                </a:solidFill>
                <a:latin typeface="Consolas"/>
                <a:ea typeface="微软雅黑"/>
              </a:rPr>
              <a:t>L1</a:t>
            </a:r>
            <a:endParaRPr sz="750" b="1" i="0">
              <a:solidFill>
                <a:srgbClr val="0078D4"/>
              </a:solidFill>
              <a:latin typeface="Consolas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32688" y="996696"/>
            <a:ext cx="31089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微软雅黑"/>
              </a:rPr>
              <a:t>存储层</a:t>
            </a: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 · 防磁盘 / 桶泄露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2688" y="1170432"/>
            <a:ext cx="309067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微软雅黑"/>
              </a:rPr>
              <a:t>ADLS 账户级 SSE（AES-256）+ Key Vault CMK；数据 / 元数据 / 附件一套密钥策略，可选基础设施双重加密</a:t>
            </a:r>
            <a:endParaRPr sz="59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01168" y="173736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184" y="185623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1856231"/>
            <a:ext cx="4754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9669"/>
                </a:solidFill>
                <a:latin typeface="Consolas"/>
                <a:ea typeface="微软雅黑"/>
              </a:rPr>
              <a:t>L2</a:t>
            </a:r>
            <a:endParaRPr sz="750" b="1" i="0">
              <a:solidFill>
                <a:srgbClr val="059669"/>
              </a:solidFill>
              <a:latin typeface="Consolas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32688" y="1819656"/>
            <a:ext cx="31089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微软雅黑"/>
              </a:rPr>
              <a:t>传输层</a:t>
            </a: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 · 防链路窃听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32688" y="1993391"/>
            <a:ext cx="309067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微软雅黑"/>
              </a:rPr>
              <a:t>全链路 TLS 1.2+：HTTPS 443 入口 · 私有端点私网 · JDBC / ODBC；流量不出 Azure 骨干网</a:t>
            </a:r>
            <a:endParaRPr sz="59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201168" y="256032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1F2"/>
          </a:solidFill>
          <a:ln w="2032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" y="267919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679191"/>
            <a:ext cx="4754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E11D48"/>
                </a:solidFill>
                <a:latin typeface="Consolas"/>
                <a:ea typeface="微软雅黑"/>
              </a:rPr>
              <a:t>L3</a:t>
            </a:r>
            <a:endParaRPr sz="750" b="1" i="0">
              <a:solidFill>
                <a:srgbClr val="E11D48"/>
              </a:solidFill>
              <a:latin typeface="Consolas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32688" y="2642615"/>
            <a:ext cx="31089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E11D48"/>
                </a:solidFill>
                <a:latin typeface="Segoe UI"/>
                <a:ea typeface="微软雅黑"/>
              </a:rPr>
              <a:t>字段层</a:t>
            </a: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 · 防 DBA / 运维内鬼 ★ 合规核心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32688" y="2816352"/>
            <a:ext cx="309067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微软雅黑"/>
              </a:rPr>
              <a:t>aes_encrypt() 落盘即密文 + UC 列掩码查询遮蔽——两者必须组合；GCM 每次随机 IV</a:t>
            </a:r>
            <a:endParaRPr sz="59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201168" y="3383279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9184" y="350215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3502151"/>
            <a:ext cx="4754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7C3AED"/>
                </a:solidFill>
                <a:latin typeface="Consolas"/>
                <a:ea typeface="微软雅黑"/>
              </a:rPr>
              <a:t>L4</a:t>
            </a:r>
            <a:endParaRPr sz="750" b="1" i="0">
              <a:solidFill>
                <a:srgbClr val="7C3AED"/>
              </a:solidFill>
              <a:latin typeface="Consolas"/>
              <a:ea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32688" y="3465575"/>
            <a:ext cx="31089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微软雅黑"/>
              </a:rPr>
              <a:t>展示层</a:t>
            </a: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 · 防越权查看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32688" y="3639311"/>
            <a:ext cx="309067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微软雅黑"/>
              </a:rPr>
              <a:t>UC COLUMN MASK / ROW FILTER 绑定基表，任何访问路径强制生效；B2 原生，Trino 读完全不可用</a:t>
            </a:r>
            <a:endParaRPr sz="59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01168" y="420624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BEB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29184" y="4325112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4325112"/>
            <a:ext cx="4754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D97706"/>
                </a:solidFill>
                <a:latin typeface="Consolas"/>
                <a:ea typeface="微软雅黑"/>
              </a:rPr>
              <a:t>L5</a:t>
            </a:r>
            <a:endParaRPr sz="750" b="1" i="0">
              <a:solidFill>
                <a:srgbClr val="D97706"/>
              </a:solidFill>
              <a:latin typeface="Consolas"/>
              <a:ea typeface="微软雅黑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32688" y="4288536"/>
            <a:ext cx="31089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微软雅黑"/>
              </a:rPr>
              <a:t>密钥层</a:t>
            </a: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 · 防泄露无法止损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32688" y="4462272"/>
            <a:ext cx="309067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微软雅黑"/>
              </a:rPr>
              <a:t>Key Vault CMK 自动轮转；信封加密——轮主密钥只重包装 KEK、零数据重写；密文自带 key_version</a:t>
            </a:r>
            <a:endParaRPr sz="59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261104" y="566928"/>
            <a:ext cx="41148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566928"/>
            <a:ext cx="3858768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微软雅黑"/>
              </a:rPr>
              <a:t>字段级加密 · 推荐路线：aes_encrypt + UC 列掩码</a:t>
            </a:r>
            <a:endParaRPr sz="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4261104" y="89611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70832" y="103327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0832" y="103327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微软雅黑"/>
              </a:rPr>
              <a:t>1</a:t>
            </a:r>
            <a:endParaRPr sz="800" b="1" i="0">
              <a:solidFill>
                <a:srgbClr val="047857"/>
              </a:solidFill>
              <a:latin typeface="Consolas"/>
              <a:ea typeface="微软雅黑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969264"/>
            <a:ext cx="3529584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微软雅黑"/>
              </a:rPr>
              <a:t>密钥入 Secret Scope</a:t>
            </a:r>
            <a:endParaRPr sz="76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754880" y="1152144"/>
            <a:ext cx="3529584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Key Vault 撑腰 · 托管标识免密拉取，密钥不进代码 / 日志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38" name="Connector 37"/>
          <p:cNvCxnSpPr/>
          <p:nvPr/>
        </p:nvCxnSpPr>
        <p:spPr>
          <a:xfrm>
            <a:off x="6309360" y="1453895"/>
            <a:ext cx="0" cy="73153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39" name="Rounded Rectangle 38"/>
          <p:cNvSpPr/>
          <p:nvPr/>
        </p:nvSpPr>
        <p:spPr>
          <a:xfrm>
            <a:off x="4261104" y="153619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370832" y="167335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0832" y="167335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微软雅黑"/>
              </a:rPr>
              <a:t>2</a:t>
            </a:r>
            <a:endParaRPr sz="800" b="1" i="0">
              <a:solidFill>
                <a:srgbClr val="047857"/>
              </a:solidFill>
              <a:latin typeface="Consolas"/>
              <a:ea typeface="微软雅黑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1609344"/>
            <a:ext cx="3529584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微软雅黑"/>
              </a:rPr>
              <a:t>ETL 写侧加密</a:t>
            </a:r>
            <a:endParaRPr sz="76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754880" y="1792224"/>
            <a:ext cx="3529584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微软雅黑"/>
              </a:rPr>
              <a:t>aes_encrypt(col, secret(...))</a:t>
            </a: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 · 默认 GCM 随机 IV，绝不能用 ECB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cxnSp>
        <p:nvCxnSpPr>
          <p:cNvPr id="44" name="Connector 43"/>
          <p:cNvCxnSpPr/>
          <p:nvPr/>
        </p:nvCxnSpPr>
        <p:spPr>
          <a:xfrm>
            <a:off x="6309360" y="209397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45" name="Rounded Rectangle 44"/>
          <p:cNvSpPr/>
          <p:nvPr/>
        </p:nvSpPr>
        <p:spPr>
          <a:xfrm>
            <a:off x="4261104" y="217627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370832" y="231343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3134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微软雅黑"/>
              </a:rPr>
              <a:t>3</a:t>
            </a:r>
            <a:endParaRPr sz="800" b="1" i="0">
              <a:solidFill>
                <a:srgbClr val="047857"/>
              </a:solidFill>
              <a:latin typeface="Consolas"/>
              <a:ea typeface="微软雅黑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4754880" y="2249424"/>
            <a:ext cx="3529584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微软雅黑"/>
              </a:rPr>
              <a:t>定义掩码函数</a:t>
            </a:r>
            <a:endParaRPr sz="76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754880" y="2432304"/>
            <a:ext cx="3529584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微软雅黑"/>
              </a:rPr>
              <a:t>is_account_group_member()</a:t>
            </a:r>
            <a:r>
              <a:rPr sz="590" b="0" i="0">
                <a:solidFill>
                  <a:srgbClr val="64748B"/>
                </a:solidFill>
                <a:latin typeface="Consolas"/>
                <a:ea typeface="微软雅黑"/>
              </a:rPr>
              <a:t> ? try_aes_decrypt : ***</a:t>
            </a:r>
            <a:endParaRPr sz="590" b="0" i="0">
              <a:solidFill>
                <a:srgbClr val="64748B"/>
              </a:solidFill>
              <a:latin typeface="Consolas"/>
              <a:ea typeface="微软雅黑"/>
            </a:endParaRPr>
          </a:p>
        </p:txBody>
      </p:sp>
      <p:cxnSp>
        <p:nvCxnSpPr>
          <p:cNvPr id="50" name="Connector 49"/>
          <p:cNvCxnSpPr/>
          <p:nvPr/>
        </p:nvCxnSpPr>
        <p:spPr>
          <a:xfrm>
            <a:off x="6309360" y="273405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51" name="Rounded Rectangle 50"/>
          <p:cNvSpPr/>
          <p:nvPr/>
        </p:nvSpPr>
        <p:spPr>
          <a:xfrm>
            <a:off x="4261104" y="281635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370832" y="295351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70832" y="295351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微软雅黑"/>
              </a:rPr>
              <a:t>4</a:t>
            </a:r>
            <a:endParaRPr sz="800" b="1" i="0">
              <a:solidFill>
                <a:srgbClr val="047857"/>
              </a:solidFill>
              <a:latin typeface="Consolas"/>
              <a:ea typeface="微软雅黑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754880" y="2889504"/>
            <a:ext cx="3529584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微软雅黑"/>
              </a:rPr>
              <a:t>挂载到列</a:t>
            </a:r>
            <a:endParaRPr sz="76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4754880" y="3072384"/>
            <a:ext cx="3529584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微软雅黑"/>
              </a:rPr>
              <a:t>ALTER TABLE … SET MASK</a:t>
            </a: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（必须打在基表，不支持视图）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4261104" y="3474720"/>
            <a:ext cx="4114800" cy="36576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52544" y="347472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微软雅黑"/>
              </a:rPr>
              <a:t>同一条 SQL：授权者见明文 · 其他人见 *** · 直读 Parquet 只见密文</a:t>
            </a:r>
            <a:endParaRPr sz="680" b="1" i="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4261104" y="3895344"/>
            <a:ext cx="4114800" cy="256032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70832" y="3895344"/>
            <a:ext cx="39136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F172A"/>
                </a:solidFill>
                <a:latin typeface="Segoe UI"/>
                <a:ea typeface="微软雅黑"/>
              </a:rPr>
              <a:t>为何安全：</a:t>
            </a:r>
            <a:r>
              <a:rPr sz="590" b="0" i="0">
                <a:solidFill>
                  <a:srgbClr val="64748B"/>
                </a:solidFill>
                <a:latin typeface="Segoe UI"/>
                <a:ea typeface="微软雅黑"/>
              </a:rPr>
              <a:t>掩码函数以定义者权限取密钥，分析师自己写 aes_decrypt 也拿不到 key</a:t>
            </a:r>
            <a:endParaRPr sz="59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261104" y="4224528"/>
            <a:ext cx="4114800" cy="731520"/>
          </a:xfrm>
          <a:prstGeom prst="roundRect">
            <a:avLst>
              <a:gd name="adj" fmla="val 7500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70832" y="4279392"/>
            <a:ext cx="39319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B45309"/>
                </a:solidFill>
                <a:latin typeface="Segoe UI"/>
                <a:ea typeface="微软雅黑"/>
              </a:rPr>
              <a:t>三个必守约束</a:t>
            </a:r>
            <a:endParaRPr sz="720" b="1" i="0">
              <a:solidFill>
                <a:srgbClr val="B45309"/>
              </a:solidFill>
              <a:latin typeface="Segoe UI"/>
              <a:ea typeface="微软雅黑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370832" y="4443984"/>
            <a:ext cx="3913632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微软雅黑"/>
              </a:rPr>
              <a:t>❶ 绝不能改成 ECB（暴露频率分布）　❷ 业务用户对 Secret Scope 必须无 READ 权限，否则防线归零</a:t>
            </a:r>
            <a:endParaRPr sz="580" b="0" i="0">
              <a:solidFill>
                <a:srgbClr val="92400E"/>
              </a:solidFill>
              <a:latin typeface="Segoe UI"/>
              <a:ea typeface="微软雅黑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微软雅黑"/>
              </a:rPr>
              <a:t>❸ 掩码不支持视图须挂基表；卸载顺序：先 DROP MASK 再 DROP FUNCTION</a:t>
            </a:r>
            <a:endParaRPr sz="580" b="0" i="0">
              <a:solidFill>
                <a:srgbClr val="92400E"/>
              </a:solidFill>
              <a:latin typeface="Segoe UI"/>
              <a:ea typeface="微软雅黑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8522208" y="566928"/>
            <a:ext cx="34747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50224" y="566928"/>
            <a:ext cx="3218687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微软雅黑"/>
              </a:rPr>
              <a:t>密钥体系 · 合规与销毁</a:t>
            </a:r>
            <a:endParaRPr sz="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8522208" y="896112"/>
            <a:ext cx="347472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650224" y="987552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77656" y="987552"/>
            <a:ext cx="316382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1E40AF"/>
                </a:solidFill>
                <a:latin typeface="Segoe UI"/>
                <a:ea typeface="微软雅黑"/>
              </a:rPr>
              <a:t>Key Vault · CMK / KEK 主密钥</a:t>
            </a:r>
            <a:endParaRPr sz="680" b="0" i="0">
              <a:solidFill>
                <a:srgbClr val="1E40AF"/>
              </a:solidFill>
              <a:latin typeface="Segoe UI"/>
              <a:ea typeface="微软雅黑"/>
            </a:endParaRPr>
          </a:p>
        </p:txBody>
      </p:sp>
      <p:cxnSp>
        <p:nvCxnSpPr>
          <p:cNvPr id="68" name="Connector 67"/>
          <p:cNvCxnSpPr/>
          <p:nvPr/>
        </p:nvCxnSpPr>
        <p:spPr>
          <a:xfrm>
            <a:off x="10259568" y="1307592"/>
            <a:ext cx="0" cy="109728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351008" y="1298448"/>
            <a:ext cx="914400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0078D4"/>
                </a:solidFill>
                <a:latin typeface="Segoe UI"/>
                <a:ea typeface="微软雅黑"/>
              </a:rPr>
              <a:t>包装 / 解包</a:t>
            </a:r>
            <a:endParaRPr sz="54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650224" y="1426464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77656" y="1426464"/>
            <a:ext cx="316382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D28D9"/>
                </a:solidFill>
                <a:latin typeface="Segoe UI"/>
                <a:ea typeface="微软雅黑"/>
              </a:rPr>
              <a:t>DEK 数据密钥（带 key_version）</a:t>
            </a:r>
            <a:endParaRPr sz="680" b="0" i="0">
              <a:solidFill>
                <a:srgbClr val="6D28D9"/>
              </a:solidFill>
              <a:latin typeface="Segoe UI"/>
              <a:ea typeface="微软雅黑"/>
            </a:endParaRPr>
          </a:p>
        </p:txBody>
      </p:sp>
      <p:cxnSp>
        <p:nvCxnSpPr>
          <p:cNvPr id="72" name="Connector 71"/>
          <p:cNvCxnSpPr/>
          <p:nvPr/>
        </p:nvCxnSpPr>
        <p:spPr>
          <a:xfrm>
            <a:off x="10259568" y="1746504"/>
            <a:ext cx="0" cy="109727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10351008" y="1737360"/>
            <a:ext cx="914400" cy="109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7C3AED"/>
                </a:solidFill>
                <a:latin typeface="Segoe UI"/>
                <a:ea typeface="微软雅黑"/>
              </a:rPr>
              <a:t>加密 / 解密</a:t>
            </a:r>
            <a:endParaRPr sz="54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8650224" y="1865376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77656" y="1865376"/>
            <a:ext cx="316382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47857"/>
                </a:solidFill>
                <a:latin typeface="Segoe UI"/>
                <a:ea typeface="微软雅黑"/>
              </a:rPr>
              <a:t>Iceberg 密文 + UC 列掩码</a:t>
            </a:r>
            <a:endParaRPr sz="680" b="0" i="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8613648" y="223113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078D4"/>
                </a:solidFill>
                <a:latin typeface="Segoe UI"/>
                <a:ea typeface="微软雅黑"/>
              </a:rPr>
              <a:t>信封加密：轮转主密钥只重新包装 DEK，数据文件一个字节不动</a:t>
            </a:r>
            <a:endParaRPr sz="580" b="1" i="0">
              <a:solidFill>
                <a:srgbClr val="0078D4"/>
              </a:solidFill>
              <a:latin typeface="Segoe UI"/>
              <a:ea typeface="微软雅黑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8522208" y="2560320"/>
            <a:ext cx="3474720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50224" y="2624328"/>
            <a:ext cx="32004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E11D48"/>
                </a:solidFill>
                <a:latin typeface="Segoe UI"/>
                <a:ea typeface="微软雅黑"/>
              </a:rPr>
              <a:t>Crypto-Shredding · 被遗忘权</a:t>
            </a:r>
            <a:endParaRPr sz="760" b="1" i="0">
              <a:solidFill>
                <a:srgbClr val="E11D48"/>
              </a:solidFill>
              <a:latin typeface="Segoe UI"/>
              <a:ea typeface="微软雅黑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8650224" y="2798064"/>
            <a:ext cx="3236976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微软雅黑"/>
              </a:rPr>
              <a:t>按数据主体分配独立 DEK——「删除」= 销毁该 DEK，密文永久不可读，无需重写 PB 级文件</a:t>
            </a:r>
            <a:endParaRPr sz="590" b="0" i="0">
              <a:solidFill>
                <a:srgbClr val="475569"/>
              </a:solidFill>
              <a:latin typeface="Segoe UI"/>
              <a:ea typeface="微软雅黑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E11D48"/>
                </a:solidFill>
                <a:latin typeface="Segoe UI"/>
                <a:ea typeface="微软雅黑"/>
              </a:rPr>
              <a:t>归档场景性价比最高的合规设计，建议第一版纳入</a:t>
            </a:r>
            <a:endParaRPr sz="590" b="1" i="0">
              <a:solidFill>
                <a:srgbClr val="E11D48"/>
              </a:solidFill>
              <a:latin typeface="Segoe UI"/>
              <a:ea typeface="微软雅黑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8522208" y="3511296"/>
            <a:ext cx="3474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650224" y="3575304"/>
            <a:ext cx="320040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微软雅黑"/>
              </a:rPr>
              <a:t>合规映射</a:t>
            </a:r>
            <a:endParaRPr sz="76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8650224" y="3767328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677656" y="3767328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47857"/>
                </a:solidFill>
                <a:latin typeface="Segoe UI"/>
                <a:ea typeface="微软雅黑"/>
              </a:rPr>
              <a:t>等保 2.0 三级</a:t>
            </a:r>
            <a:endParaRPr sz="590" b="0" i="0">
              <a:solidFill>
                <a:srgbClr val="047857"/>
              </a:solidFill>
              <a:latin typeface="Segoe UI"/>
              <a:ea typeface="微软雅黑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9710928" y="3758184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微软雅黑"/>
              </a:rPr>
              <a:t>存储 / 传输保密达标；策略在引擎内、审计落表，举证材料天然齐备</a:t>
            </a:r>
            <a:endParaRPr sz="57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8650224" y="4169664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77656" y="4169664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B45309"/>
                </a:solidFill>
                <a:latin typeface="Segoe UI"/>
                <a:ea typeface="微软雅黑"/>
              </a:rPr>
              <a:t>个保法第 51 条</a:t>
            </a:r>
            <a:endParaRPr sz="590" b="0" i="0">
              <a:solidFill>
                <a:srgbClr val="B45309"/>
              </a:solidFill>
              <a:latin typeface="Segoe UI"/>
              <a:ea typeface="微软雅黑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9710928" y="4160520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微软雅黑"/>
              </a:rPr>
              <a:t>SSE ≠ 去标识化——必须 L3 字段级加密 + L4 强制脱敏，只做 L1 不满足</a:t>
            </a:r>
            <a:endParaRPr sz="57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8650224" y="4572000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1F2"/>
          </a:solidFill>
          <a:ln w="1270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677656" y="4572000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E11D48"/>
                </a:solidFill>
                <a:latin typeface="Segoe UI"/>
                <a:ea typeface="微软雅黑"/>
              </a:rPr>
              <a:t>GDPR 被遗忘权</a:t>
            </a:r>
            <a:endParaRPr sz="590" b="0" i="0">
              <a:solidFill>
                <a:srgbClr val="E11D48"/>
              </a:solidFill>
              <a:latin typeface="Segoe UI"/>
              <a:ea typeface="微软雅黑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9710928" y="4562856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微软雅黑"/>
              </a:rPr>
              <a:t>Crypto-Shredding：销毁主体 DEK 即永久不可读</a:t>
            </a:r>
            <a:endParaRPr sz="57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201168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" y="5193792"/>
            <a:ext cx="3566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微软雅黑"/>
              </a:rPr>
              <a:t>① 授权强制力</a:t>
            </a:r>
            <a:endParaRPr sz="78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347472" y="5394960"/>
            <a:ext cx="3584448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微软雅黑"/>
              </a:rPr>
              <a:t>掩码 / 行过滤绑定引擎元数据，任何客户端绕不过；应用层脱敏绕过 API 即失效</a:t>
            </a:r>
            <a:endParaRPr sz="60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417880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325112" y="5193792"/>
            <a:ext cx="3566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微软雅黑"/>
              </a:rPr>
              <a:t>② 轮转成本</a:t>
            </a:r>
            <a:endParaRPr sz="780" b="1" i="0">
              <a:solidFill>
                <a:srgbClr val="059669"/>
              </a:solidFill>
              <a:latin typeface="Segoe UI"/>
              <a:ea typeface="微软雅黑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325112" y="5394960"/>
            <a:ext cx="3584448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微软雅黑"/>
              </a:rPr>
              <a:t>信封加密只重包装 KEK、零数据重写；应用层方案轮转需重刷数十 TB 存量</a:t>
            </a:r>
            <a:endParaRPr sz="60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815644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302751" y="5193792"/>
            <a:ext cx="3566160" cy="137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C3AED"/>
                </a:solidFill>
                <a:latin typeface="Segoe UI"/>
                <a:ea typeface="微软雅黑"/>
              </a:rPr>
              <a:t>③ 实施成本</a:t>
            </a:r>
            <a:endParaRPr sz="780" b="1" i="0">
              <a:solidFill>
                <a:srgbClr val="7C3AED"/>
              </a:solidFill>
              <a:latin typeface="Segoe UI"/>
              <a:ea typeface="微软雅黑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302751" y="5394960"/>
            <a:ext cx="3584448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微软雅黑"/>
              </a:rPr>
              <a:t>约 2~3 人天（应用层方案 8~12 人天）· 加密字段仍可检索 · 审计平台原生</a:t>
            </a:r>
            <a:endParaRPr sz="600" b="0" i="0">
              <a:solidFill>
                <a:srgbClr val="475569"/>
              </a:solidFill>
              <a:latin typeface="Segoe UI"/>
              <a:ea typeface="微软雅黑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201168" y="6108192"/>
            <a:ext cx="11795760" cy="475488"/>
          </a:xfrm>
          <a:prstGeom prst="roundRect">
            <a:avLst>
              <a:gd name="adj" fmla="val 13461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5760" y="6108192"/>
            <a:ext cx="11466576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28D9"/>
                </a:solidFill>
                <a:latin typeface="Segoe UI"/>
                <a:ea typeface="微软雅黑"/>
              </a:rPr>
              <a:t>★ 若列级脱敏是硬需求：</a:t>
            </a:r>
            <a:r>
              <a:rPr sz="720" b="0" i="0">
                <a:solidFill>
                  <a:srgbClr val="4C1D95"/>
                </a:solidFill>
                <a:latin typeface="Segoe UI"/>
                <a:ea typeface="微软雅黑"/>
              </a:rPr>
              <a:t>B（Trino 读）的 UC 列掩码完全不可用（Iceberg REST Catalog 不支持），B2 原生生效、任何路径强制遮蔽——这一条基本决定必须选 B2</a:t>
            </a:r>
            <a:endParaRPr sz="720" b="0" i="0">
              <a:solidFill>
                <a:srgbClr val="4C1D95"/>
              </a:solidFill>
              <a:latin typeface="Segoe UI"/>
              <a:ea typeface="微软雅黑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微软雅黑"/>
              </a:rPr>
              <a:t>元数据库 ER 图（上）· 平台 / 权限 / 数据源配置</a:t>
            </a:r>
            <a:endParaRPr sz="1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75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74320" y="640080"/>
            <a:ext cx="10241280" cy="306705"/>
          </a:xfrm>
          <a:prstGeom prst="roundRect">
            <a:avLst>
              <a:gd name="adj" fmla="val 15789"/>
            </a:avLst>
          </a:prstGeom>
          <a:solidFill>
            <a:srgbClr val="FFF2CC"/>
          </a:solidFill>
          <a:ln w="12700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175" y="640080"/>
            <a:ext cx="10021570" cy="31178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微软雅黑"/>
              </a:rPr>
              <a:t>① 权限与访问控制（RBAC）</a:t>
            </a:r>
            <a:endParaRPr sz="950" b="1" i="0">
              <a:solidFill>
                <a:srgbClr val="333333"/>
              </a:solidFill>
              <a:latin typeface="Segoe UI"/>
              <a:ea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760720" y="1920240"/>
            <a:ext cx="4160520" cy="347472"/>
          </a:xfrm>
          <a:prstGeom prst="roundRect">
            <a:avLst>
              <a:gd name="adj" fmla="val 15789"/>
            </a:avLst>
          </a:prstGeom>
          <a:solidFill>
            <a:srgbClr val="D5E8D4"/>
          </a:solidFill>
          <a:ln w="12700">
            <a:solidFill>
              <a:srgbClr val="9BCB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70448" y="1920240"/>
            <a:ext cx="3941063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微软雅黑"/>
              </a:rPr>
              <a:t>③ 源数据配置</a:t>
            </a:r>
            <a:endParaRPr sz="950" b="1" i="0">
              <a:solidFill>
                <a:srgbClr val="333333"/>
              </a:solidFill>
              <a:latin typeface="Segoe UI"/>
              <a:ea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149840" y="1920240"/>
            <a:ext cx="1783080" cy="347472"/>
          </a:xfrm>
          <a:prstGeom prst="roundRect">
            <a:avLst>
              <a:gd name="adj" fmla="val 15789"/>
            </a:avLst>
          </a:prstGeom>
          <a:solidFill>
            <a:srgbClr val="E1D5E7"/>
          </a:solidFill>
          <a:ln w="12700">
            <a:solidFill>
              <a:srgbClr val="B5A0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9567" y="1920240"/>
            <a:ext cx="1563624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微软雅黑"/>
              </a:rPr>
              <a:t>④ 目标存储 · 归档 Schema</a:t>
            </a:r>
            <a:endParaRPr sz="950" b="1" i="0">
              <a:solidFill>
                <a:srgbClr val="333333"/>
              </a:solidFill>
              <a:latin typeface="Segoe UI"/>
              <a:ea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651760" y="3182112"/>
            <a:ext cx="2651760" cy="347472"/>
          </a:xfrm>
          <a:prstGeom prst="roundRect">
            <a:avLst>
              <a:gd name="adj" fmla="val 15789"/>
            </a:avLst>
          </a:prstGeom>
          <a:solidFill>
            <a:srgbClr val="D9E8FC"/>
          </a:solidFill>
          <a:ln w="12700">
            <a:solidFill>
              <a:srgbClr val="A9C4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3182112"/>
            <a:ext cx="2432304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微软雅黑"/>
              </a:rPr>
              <a:t>② 退役系统管理（核心）</a:t>
            </a:r>
            <a:endParaRPr sz="950" b="1" i="0">
              <a:solidFill>
                <a:srgbClr val="333333"/>
              </a:solidFill>
              <a:latin typeface="Segoe UI"/>
              <a:ea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74320" y="5321935"/>
            <a:ext cx="11658600" cy="311785"/>
          </a:xfrm>
          <a:prstGeom prst="roundRect">
            <a:avLst>
              <a:gd name="adj" fmla="val 15789"/>
            </a:avLst>
          </a:prstGeom>
          <a:solidFill>
            <a:srgbClr val="F5F5F5"/>
          </a:solidFill>
          <a:ln w="1270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5321808"/>
            <a:ext cx="11439144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微软雅黑"/>
              </a:rPr>
              <a:t>⑩ 通知 · ⑪ 审计与监控</a:t>
            </a:r>
            <a:endParaRPr sz="950" b="1" i="0">
              <a:solidFill>
                <a:srgbClr val="333333"/>
              </a:solidFill>
              <a:latin typeface="Segoe UI"/>
              <a:ea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74320" y="1005840"/>
            <a:ext cx="192024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7121" y="1018641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104698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user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87121" y="1266444"/>
            <a:ext cx="1894636" cy="822959"/>
          </a:xfrm>
          <a:prstGeom prst="roundRect">
            <a:avLst>
              <a:gd name="adj" fmla="val 222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1289304"/>
            <a:ext cx="1737360" cy="78638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微软雅黑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username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password_hash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real_name·email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status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(tinyint)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last_login_at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(datetime)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2423160" y="1188720"/>
            <a:ext cx="169164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35961" y="1201521"/>
            <a:ext cx="166603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79" y="1229868"/>
            <a:ext cx="16002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user_role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435961" y="1449324"/>
            <a:ext cx="1666036" cy="365759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32888" y="1472184"/>
            <a:ext cx="1508760" cy="32918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user_id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role_id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4343400" y="1005840"/>
            <a:ext cx="192024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56201" y="1018641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104698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role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4356201" y="1266444"/>
            <a:ext cx="1894636" cy="548640"/>
          </a:xfrm>
          <a:prstGeom prst="roundRect">
            <a:avLst>
              <a:gd name="adj" fmla="val 3333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53128" y="1289304"/>
            <a:ext cx="173736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微软雅黑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role_code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role_name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is_builtin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(tinyint)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492240" y="1188720"/>
            <a:ext cx="17830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05041" y="1201521"/>
            <a:ext cx="175747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1229868"/>
            <a:ext cx="169163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role_permission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505041" y="1449324"/>
            <a:ext cx="1757476" cy="365759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1968" y="1472184"/>
            <a:ext cx="1600200" cy="32918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role_id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permission_id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8503920" y="1005840"/>
            <a:ext cx="201168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16721" y="1018641"/>
            <a:ext cx="198607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1046988"/>
            <a:ext cx="19202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permission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8516721" y="1266444"/>
            <a:ext cx="1986076" cy="548640"/>
          </a:xfrm>
          <a:prstGeom prst="roundRect">
            <a:avLst>
              <a:gd name="adj" fmla="val 3333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13648" y="1289304"/>
            <a:ext cx="182880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微软雅黑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permission_code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module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resource_type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274320" y="2176272"/>
            <a:ext cx="192024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7121" y="2189073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221742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page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287121" y="2436876"/>
            <a:ext cx="1894636" cy="548640"/>
          </a:xfrm>
          <a:prstGeom prst="roundRect">
            <a:avLst>
              <a:gd name="adj" fmla="val 3333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4048" y="2459736"/>
            <a:ext cx="173736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微软雅黑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page_code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path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enabled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(tinyint)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423160" y="2322576"/>
            <a:ext cx="169164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435961" y="2335377"/>
            <a:ext cx="166603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68879" y="2363724"/>
            <a:ext cx="16002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role_page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435961" y="2583180"/>
            <a:ext cx="1666036" cy="365759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32888" y="2606040"/>
            <a:ext cx="1508760" cy="32918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role_id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page_id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2651760" y="3474720"/>
            <a:ext cx="2651760" cy="1234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664561" y="3487521"/>
            <a:ext cx="26261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97479" y="3515868"/>
            <a:ext cx="25603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decommission_system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2664561" y="3735324"/>
            <a:ext cx="2626156" cy="960120"/>
          </a:xfrm>
          <a:prstGeom prst="roundRect">
            <a:avLst>
              <a:gd name="adj" fmla="val 1904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61488" y="3758183"/>
            <a:ext cx="2468879" cy="923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微软雅黑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system_code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status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retention_years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sync_completed_date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(date)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destroy_after_date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(date)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2926080" y="4828032"/>
            <a:ext cx="164592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938881" y="4840833"/>
            <a:ext cx="162031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971800" y="4869180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system_user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2938881" y="5088636"/>
            <a:ext cx="1620316" cy="365759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035808" y="5111496"/>
            <a:ext cx="1463040" cy="32918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user_id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5760720" y="2212848"/>
            <a:ext cx="196596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778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773521" y="2225649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06440" y="2253996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source_database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773521" y="2473452"/>
            <a:ext cx="1940356" cy="777239"/>
          </a:xfrm>
          <a:prstGeom prst="roundRect">
            <a:avLst>
              <a:gd name="adj" fmla="val 235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870448" y="2496312"/>
            <a:ext cx="1783080" cy="7406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db_type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host:port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credential_ref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7955279" y="2212848"/>
            <a:ext cx="196596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778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968081" y="2225649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01000" y="2253996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source_table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7968081" y="2473452"/>
            <a:ext cx="1940356" cy="777239"/>
          </a:xfrm>
          <a:prstGeom prst="roundRect">
            <a:avLst>
              <a:gd name="adj" fmla="val 235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65007" y="2496312"/>
            <a:ext cx="1783080" cy="7406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source_database_id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table_name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primary_key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is_attachment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(tinyint)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5760720" y="3438144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773521" y="3450945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806440" y="3479291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unstructured_source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773521" y="3698748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870448" y="3721607"/>
            <a:ext cx="178308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source_type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location_uri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7955279" y="3438144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968081" y="3450945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01000" y="3479291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unstructured_item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7968081" y="3698748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65007" y="3721607"/>
            <a:ext cx="178308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unstructured_source_id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original_path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hash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10149840" y="2212848"/>
            <a:ext cx="178308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B5A0C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0162641" y="2225649"/>
            <a:ext cx="1757476" cy="237744"/>
          </a:xfrm>
          <a:prstGeom prst="roundRect">
            <a:avLst>
              <a:gd name="adj" fmla="val 11538"/>
            </a:avLst>
          </a:prstGeom>
          <a:solidFill>
            <a:srgbClr val="E1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95560" y="2253996"/>
            <a:ext cx="169163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schema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10162641" y="2473452"/>
            <a:ext cx="175747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259567" y="2496312"/>
            <a:ext cx="160020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catalog_name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schema_name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10149840" y="3438144"/>
            <a:ext cx="178308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B5A0C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10162641" y="3450945"/>
            <a:ext cx="1757476" cy="237744"/>
          </a:xfrm>
          <a:prstGeom prst="roundRect">
            <a:avLst>
              <a:gd name="adj" fmla="val 11538"/>
            </a:avLst>
          </a:prstGeom>
          <a:solidFill>
            <a:srgbClr val="E1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195560" y="3479291"/>
            <a:ext cx="169163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storage_config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162641" y="3698748"/>
            <a:ext cx="175747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259567" y="3721607"/>
            <a:ext cx="160020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storage_type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container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274320" y="5669280"/>
            <a:ext cx="2377440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7780">
            <a:solidFill>
              <a:srgbClr val="A8A8A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87121" y="5682081"/>
            <a:ext cx="2351836" cy="237744"/>
          </a:xfrm>
          <a:prstGeom prst="roundRect">
            <a:avLst>
              <a:gd name="adj" fmla="val 1153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20040" y="5710428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audit_log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287121" y="5929884"/>
            <a:ext cx="2351836" cy="438912"/>
          </a:xfrm>
          <a:prstGeom prst="roundRect">
            <a:avLst>
              <a:gd name="adj" fmla="val 4166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84048" y="5952744"/>
            <a:ext cx="219456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user_id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action·module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ip·status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2798064" y="5669280"/>
            <a:ext cx="2615184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7780">
            <a:solidFill>
              <a:srgbClr val="A8A8A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2810865" y="5682081"/>
            <a:ext cx="2589580" cy="237744"/>
          </a:xfrm>
          <a:prstGeom prst="roundRect">
            <a:avLst>
              <a:gd name="adj" fmla="val 1153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843784" y="5710428"/>
            <a:ext cx="2523744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sync_activity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2810865" y="5929884"/>
            <a:ext cx="2589580" cy="438912"/>
          </a:xfrm>
          <a:prstGeom prst="roundRect">
            <a:avLst>
              <a:gd name="adj" fmla="val 4166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907792" y="5952744"/>
            <a:ext cx="2432303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activity_date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(date)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成功/失败/运行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sync_job 按天预聚合·派生</a:t>
            </a:r>
            <a:endParaRPr sz="650" b="0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5559425" y="5669280"/>
            <a:ext cx="2377440" cy="69469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 w="17780">
            <a:solidFill>
              <a:srgbClr val="A8A8A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5572353" y="5682081"/>
            <a:ext cx="2351836" cy="237744"/>
          </a:xfrm>
          <a:prstGeom prst="roundRect">
            <a:avLst>
              <a:gd name="adj" fmla="val 1153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605272" y="5710428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notification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5572353" y="5929884"/>
            <a:ext cx="2351836" cy="292608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669280" y="5952744"/>
            <a:ext cx="2194560" cy="2560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recipient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channel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cxnSp>
        <p:nvCxnSpPr>
          <p:cNvPr id="105" name="Connector 104"/>
          <p:cNvCxnSpPr/>
          <p:nvPr/>
        </p:nvCxnSpPr>
        <p:spPr>
          <a:xfrm>
            <a:off x="2194560" y="146304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06" name="TextBox 105"/>
          <p:cNvSpPr txBox="1"/>
          <p:nvPr/>
        </p:nvSpPr>
        <p:spPr>
          <a:xfrm>
            <a:off x="2276856" y="1522476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2231136" y="128473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114800" y="146304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09" name="TextBox 108"/>
          <p:cNvSpPr txBox="1"/>
          <p:nvPr/>
        </p:nvSpPr>
        <p:spPr>
          <a:xfrm>
            <a:off x="4151376" y="128473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4197096" y="1522476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11" name="Connector 110"/>
          <p:cNvCxnSpPr/>
          <p:nvPr/>
        </p:nvCxnSpPr>
        <p:spPr>
          <a:xfrm>
            <a:off x="6263640" y="146304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2" name="TextBox 111"/>
          <p:cNvSpPr txBox="1"/>
          <p:nvPr/>
        </p:nvSpPr>
        <p:spPr>
          <a:xfrm>
            <a:off x="6345936" y="1522476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6300216" y="128473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8275320" y="146304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5" name="TextBox 114"/>
          <p:cNvSpPr txBox="1"/>
          <p:nvPr/>
        </p:nvSpPr>
        <p:spPr>
          <a:xfrm>
            <a:off x="8311896" y="128473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8357616" y="1522476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17" name="Connector 116"/>
          <p:cNvCxnSpPr/>
          <p:nvPr/>
        </p:nvCxnSpPr>
        <p:spPr>
          <a:xfrm>
            <a:off x="2194560" y="2852928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2327656" y="290601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2231136" y="2674620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20" name="Connector 119"/>
          <p:cNvCxnSpPr/>
          <p:nvPr/>
        </p:nvCxnSpPr>
        <p:spPr>
          <a:xfrm>
            <a:off x="4754880" y="1829054"/>
            <a:ext cx="0" cy="347345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 flipH="1">
            <a:off x="3264408" y="2176272"/>
            <a:ext cx="1490472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>
            <a:off x="3264408" y="2176272"/>
            <a:ext cx="0" cy="256032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23" name="TextBox 122"/>
          <p:cNvSpPr txBox="1"/>
          <p:nvPr/>
        </p:nvSpPr>
        <p:spPr>
          <a:xfrm>
            <a:off x="4581144" y="1869948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3328415" y="2235708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25" name="Connector 124"/>
          <p:cNvCxnSpPr/>
          <p:nvPr/>
        </p:nvCxnSpPr>
        <p:spPr>
          <a:xfrm>
            <a:off x="2194560" y="1719072"/>
            <a:ext cx="137160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2331720" y="1719072"/>
            <a:ext cx="0" cy="3447288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2331720" y="5166360"/>
            <a:ext cx="594360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38756" y="1778507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2734056" y="498805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30" name="Connector 129"/>
          <p:cNvCxnSpPr/>
          <p:nvPr/>
        </p:nvCxnSpPr>
        <p:spPr>
          <a:xfrm>
            <a:off x="3977639" y="4709160"/>
            <a:ext cx="0" cy="146304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3803904" y="479323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4028948" y="4639817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33" name="Connector 132"/>
          <p:cNvCxnSpPr/>
          <p:nvPr/>
        </p:nvCxnSpPr>
        <p:spPr>
          <a:xfrm>
            <a:off x="5303520" y="4078224"/>
            <a:ext cx="228600" cy="0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5532120" y="2852928"/>
            <a:ext cx="0" cy="1225296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5532120" y="2852928"/>
            <a:ext cx="2286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5385816" y="4137659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5568696" y="2674620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38" name="Connector 137"/>
          <p:cNvCxnSpPr/>
          <p:nvPr/>
        </p:nvCxnSpPr>
        <p:spPr>
          <a:xfrm>
            <a:off x="5303520" y="4151376"/>
            <a:ext cx="4572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39" name="TextBox 138"/>
          <p:cNvSpPr txBox="1"/>
          <p:nvPr/>
        </p:nvSpPr>
        <p:spPr>
          <a:xfrm>
            <a:off x="5385816" y="421081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5568696" y="3973068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41" name="Connector 140"/>
          <p:cNvCxnSpPr/>
          <p:nvPr/>
        </p:nvCxnSpPr>
        <p:spPr>
          <a:xfrm>
            <a:off x="7726679" y="2852928"/>
            <a:ext cx="2286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42" name="TextBox 141"/>
          <p:cNvSpPr txBox="1"/>
          <p:nvPr/>
        </p:nvSpPr>
        <p:spPr>
          <a:xfrm>
            <a:off x="7808975" y="291236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43" name="TextBox 142"/>
          <p:cNvSpPr txBox="1"/>
          <p:nvPr/>
        </p:nvSpPr>
        <p:spPr>
          <a:xfrm>
            <a:off x="7763255" y="2674620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44" name="Connector 143"/>
          <p:cNvCxnSpPr/>
          <p:nvPr/>
        </p:nvCxnSpPr>
        <p:spPr>
          <a:xfrm>
            <a:off x="7726679" y="4151376"/>
            <a:ext cx="2286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45" name="TextBox 144"/>
          <p:cNvSpPr txBox="1"/>
          <p:nvPr/>
        </p:nvSpPr>
        <p:spPr>
          <a:xfrm>
            <a:off x="7808975" y="421081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7763255" y="3973068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47" name="Connector 146"/>
          <p:cNvCxnSpPr/>
          <p:nvPr/>
        </p:nvCxnSpPr>
        <p:spPr>
          <a:xfrm>
            <a:off x="5303520" y="3895344"/>
            <a:ext cx="320040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5623560" y="3456432"/>
            <a:ext cx="0" cy="438912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5623560" y="3456432"/>
            <a:ext cx="4416552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10040112" y="2999232"/>
            <a:ext cx="0" cy="45720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10040112" y="2999232"/>
            <a:ext cx="109728" cy="0"/>
          </a:xfrm>
          <a:prstGeom prst="line">
            <a:avLst/>
          </a:prstGeom>
          <a:ln w="17780">
            <a:solidFill>
              <a:srgbClr val="9673A6"/>
            </a:solidFill>
            <a:tailEnd type="triangle" w="med" len="med"/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5385816" y="3954779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9957815" y="282092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54" name="Connector 153"/>
          <p:cNvCxnSpPr/>
          <p:nvPr/>
        </p:nvCxnSpPr>
        <p:spPr>
          <a:xfrm>
            <a:off x="5303520" y="4590288"/>
            <a:ext cx="137160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5440680" y="4590288"/>
            <a:ext cx="0" cy="146304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>
            <a:off x="5440680" y="4736592"/>
            <a:ext cx="4599432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10040112" y="4151376"/>
            <a:ext cx="0" cy="585216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>
            <a:off x="10040112" y="4151376"/>
            <a:ext cx="109728" cy="0"/>
          </a:xfrm>
          <a:prstGeom prst="line">
            <a:avLst/>
          </a:prstGeom>
          <a:ln w="17780">
            <a:solidFill>
              <a:srgbClr val="9673A6"/>
            </a:solidFill>
            <a:tailEnd type="triangle" w="med" len="med"/>
          </a:ln>
          <a:effectLst/>
        </p:spPr>
      </p:cxnSp>
      <p:sp>
        <p:nvSpPr>
          <p:cNvPr id="159" name="TextBox 158"/>
          <p:cNvSpPr txBox="1"/>
          <p:nvPr/>
        </p:nvSpPr>
        <p:spPr>
          <a:xfrm>
            <a:off x="5354066" y="4649723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9957815" y="3973068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164592" y="6400800"/>
            <a:ext cx="109728" cy="0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164592" y="1719072"/>
            <a:ext cx="0" cy="4681728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164592" y="1719072"/>
            <a:ext cx="109728" cy="0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sp>
        <p:nvSpPr>
          <p:cNvPr id="164" name="TextBox 163"/>
          <p:cNvSpPr txBox="1"/>
          <p:nvPr/>
        </p:nvSpPr>
        <p:spPr>
          <a:xfrm>
            <a:off x="82296" y="622249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65" name="TextBox 164"/>
          <p:cNvSpPr txBox="1"/>
          <p:nvPr/>
        </p:nvSpPr>
        <p:spPr>
          <a:xfrm>
            <a:off x="82296" y="154076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66" name="Rounded Rectangle 165"/>
          <p:cNvSpPr/>
          <p:nvPr/>
        </p:nvSpPr>
        <p:spPr>
          <a:xfrm>
            <a:off x="8083296" y="5724144"/>
            <a:ext cx="3849624" cy="530352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A8A8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8211312" y="5779007"/>
            <a:ext cx="3593591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475569"/>
                </a:solidFill>
                <a:latin typeface="Segoe UI"/>
                <a:ea typeface="微软雅黑"/>
              </a:rPr>
              <a:t>跨页关联（详见卡内 FK）：</a:t>
            </a:r>
            <a:endParaRPr sz="600" b="1" i="0">
              <a:solidFill>
                <a:srgbClr val="475569"/>
              </a:solidFill>
              <a:latin typeface="Segoe UI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微软雅黑"/>
              </a:rPr>
              <a:t>source_table → sync_table_config / sync_table_stat / archive_file</a:t>
            </a:r>
            <a:endParaRPr sz="580" b="0" i="0">
              <a:solidFill>
                <a:srgbClr val="64748B"/>
              </a:solidFill>
              <a:latin typeface="Segoe UI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微软雅黑"/>
              </a:rPr>
              <a:t>sync_job ⇢ sync_activity（按天预聚合，派生表无 FK）</a:t>
            </a:r>
            <a:endParaRPr sz="58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68" name="TextBox 167"/>
          <p:cNvSpPr txBox="1"/>
          <p:nvPr/>
        </p:nvSpPr>
        <p:spPr>
          <a:xfrm>
            <a:off x="27432" y="3246120"/>
            <a:ext cx="146304" cy="566928"/>
          </a:xfrm>
          <a:prstGeom prst="rect">
            <a:avLst/>
          </a:prstGeom>
          <a:noFill/>
        </p:spPr>
        <p:txBody>
          <a:bodyPr vert="eaVert"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64748B"/>
                </a:solidFill>
                <a:latin typeface="Segoe UI"/>
                <a:ea typeface="微软雅黑"/>
              </a:rPr>
              <a:t>弱关联</a:t>
            </a:r>
            <a:endParaRPr sz="580" b="1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69" name="Rounded Rectangle 168"/>
          <p:cNvSpPr/>
          <p:nvPr/>
        </p:nvSpPr>
        <p:spPr>
          <a:xfrm>
            <a:off x="4434840" y="2560320"/>
            <a:ext cx="107899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B6AE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462272" y="2560320"/>
            <a:ext cx="1024127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微软雅黑"/>
              </a:rPr>
              <a:t>sync_job / query_config
子域见下页 →</a:t>
            </a:r>
            <a:endParaRPr sz="600" b="1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71" name="Rounded Rectangle 170"/>
          <p:cNvSpPr/>
          <p:nvPr/>
        </p:nvSpPr>
        <p:spPr>
          <a:xfrm>
            <a:off x="201168" y="6565392"/>
            <a:ext cx="11795760" cy="292608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016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274320" y="6565392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F172A"/>
                </a:solidFill>
                <a:latin typeface="Segoe UI"/>
                <a:ea typeface="微软雅黑"/>
              </a:rPr>
              <a:t>图例</a:t>
            </a:r>
            <a:endParaRPr sz="7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731520" y="6647688"/>
            <a:ext cx="128016" cy="128016"/>
          </a:xfrm>
          <a:prstGeom prst="ellipse">
            <a:avLst/>
          </a:prstGeom>
          <a:solidFill>
            <a:srgbClr val="D6A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14400" y="6565392"/>
            <a:ext cx="2867558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① 权限与访问控制（RBAC）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3763670" y="6647688"/>
            <a:ext cx="128016" cy="128016"/>
          </a:xfrm>
          <a:prstGeom prst="ellipse">
            <a:avLst/>
          </a:prstGeom>
          <a:solidFill>
            <a:srgbClr val="82B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3946550" y="6565392"/>
            <a:ext cx="1164945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③ 源数据配置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5093208" y="6647688"/>
            <a:ext cx="128016" cy="128016"/>
          </a:xfrm>
          <a:prstGeom prst="ellipse">
            <a:avLst/>
          </a:prstGeom>
          <a:solidFill>
            <a:srgbClr val="967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5276088" y="6565392"/>
            <a:ext cx="499262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④ 目标存储 · 归档 Schema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5757062" y="6647688"/>
            <a:ext cx="128016" cy="128016"/>
          </a:xfrm>
          <a:prstGeom prst="ellipse">
            <a:avLst/>
          </a:prstGeom>
          <a:solidFill>
            <a:srgbClr val="5B82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5939942" y="6565392"/>
            <a:ext cx="742492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② 退役系统管理（核心）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6664147" y="6647688"/>
            <a:ext cx="128016" cy="128016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847027" y="6565392"/>
            <a:ext cx="3264408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⑩ 通知 · ⑪ 审计与监控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83" name="TextBox 182"/>
          <p:cNvSpPr txBox="1"/>
          <p:nvPr/>
        </p:nvSpPr>
        <p:spPr>
          <a:xfrm>
            <a:off x="9189720" y="6565392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微软雅黑"/>
              </a:rPr>
              <a:t>1—N 连线：母端 1 / 子端 N　</a:t>
            </a:r>
            <a:endParaRPr sz="620" b="0" i="0">
              <a:solidFill>
                <a:srgbClr val="475569"/>
              </a:solidFill>
              <a:latin typeface="Segoe UI"/>
              <a:ea typeface="微软雅黑"/>
            </a:endParaRPr>
          </a:p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微软雅黑"/>
              </a:rPr>
              <a:t>（虚线卡=跨页引用）</a:t>
            </a:r>
            <a:endParaRPr sz="620" b="0" i="0">
              <a:solidFill>
                <a:srgbClr val="94A3B8"/>
              </a:solidFill>
              <a:latin typeface="Segoe UI"/>
              <a:ea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微软雅黑"/>
              </a:rPr>
              <a:t>元数据库 ER 图（下）· 同步归档 / 动态查询 / 保留销毁</a:t>
            </a:r>
            <a:endParaRPr sz="18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75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74320" y="530352"/>
            <a:ext cx="9326880" cy="347472"/>
          </a:xfrm>
          <a:prstGeom prst="roundRect">
            <a:avLst>
              <a:gd name="adj" fmla="val 15789"/>
            </a:avLst>
          </a:prstGeom>
          <a:solidFill>
            <a:srgbClr val="D9E8FC"/>
          </a:solidFill>
          <a:ln w="12700">
            <a:solidFill>
              <a:srgbClr val="A9C4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9107424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微软雅黑"/>
              </a:rPr>
              <a:t>⑤ 同步与归档（含 ⑥ 附件索引）</a:t>
            </a:r>
            <a:endParaRPr sz="950" b="1" i="0">
              <a:solidFill>
                <a:srgbClr val="333333"/>
              </a:solidFill>
              <a:latin typeface="Segoe UI"/>
              <a:ea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9646920" y="530352"/>
            <a:ext cx="1920240" cy="347472"/>
          </a:xfrm>
          <a:prstGeom prst="roundRect">
            <a:avLst>
              <a:gd name="adj" fmla="val 15789"/>
            </a:avLst>
          </a:prstGeom>
          <a:solidFill>
            <a:srgbClr val="F8CECC"/>
          </a:solidFill>
          <a:ln w="12700">
            <a:solidFill>
              <a:srgbClr val="D79B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56648" y="530352"/>
            <a:ext cx="1700784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微软雅黑"/>
              </a:rPr>
              <a:t>⑧ 生命周期与保留 · ⑨ 销毁审批</a:t>
            </a:r>
            <a:endParaRPr sz="950" b="1" i="0">
              <a:solidFill>
                <a:srgbClr val="333333"/>
              </a:solidFill>
              <a:latin typeface="Segoe UI"/>
              <a:ea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74320" y="4663440"/>
            <a:ext cx="9326880" cy="347472"/>
          </a:xfrm>
          <a:prstGeom prst="roundRect">
            <a:avLst>
              <a:gd name="adj" fmla="val 15789"/>
            </a:avLst>
          </a:prstGeom>
          <a:solidFill>
            <a:srgbClr val="FFF2CC"/>
          </a:solidFill>
          <a:ln w="12700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663440"/>
            <a:ext cx="9107424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微软雅黑"/>
              </a:rPr>
              <a:t>⑦ 动态查询</a:t>
            </a:r>
            <a:endParaRPr sz="950" b="1" i="0">
              <a:solidFill>
                <a:srgbClr val="333333"/>
              </a:solidFill>
              <a:latin typeface="Segoe UI"/>
              <a:ea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74320" y="877824"/>
            <a:ext cx="210312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7780">
            <a:solidFill>
              <a:srgbClr val="A9C4E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7121" y="890625"/>
            <a:ext cx="2077516" cy="237744"/>
          </a:xfrm>
          <a:prstGeom prst="roundRect">
            <a:avLst>
              <a:gd name="adj" fmla="val 1153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918971"/>
            <a:ext cx="201167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A7A"/>
                </a:solidFill>
                <a:latin typeface="Segoe UI"/>
                <a:ea typeface="微软雅黑"/>
              </a:rPr>
              <a:t>decommission_system</a:t>
            </a:r>
            <a:endParaRPr sz="850" b="1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87121" y="1138428"/>
            <a:ext cx="2077516" cy="365759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1161288"/>
            <a:ext cx="1920239" cy="32918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微软雅黑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system_code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017520" y="877824"/>
            <a:ext cx="219456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30321" y="890625"/>
            <a:ext cx="21689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63239" y="918971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sync_job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3030321" y="1138428"/>
            <a:ext cx="2168956" cy="777239"/>
          </a:xfrm>
          <a:prstGeom prst="roundRect">
            <a:avLst>
              <a:gd name="adj" fmla="val 235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27248" y="1161288"/>
            <a:ext cx="2011679" cy="7406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assignment_id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job_type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status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577840" y="877824"/>
            <a:ext cx="1874519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90641" y="890625"/>
            <a:ext cx="184891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23559" y="918971"/>
            <a:ext cx="178307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sync_job_config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590641" y="1138428"/>
            <a:ext cx="184891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87568" y="1161288"/>
            <a:ext cx="1691639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cron_expr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enabled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(tinyint)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646920" y="877824"/>
            <a:ext cx="192024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59721" y="890625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0" y="918971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retention_policy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9659721" y="1138428"/>
            <a:ext cx="189463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56648" y="1161288"/>
            <a:ext cx="173736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微软雅黑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policy_code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policy_name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period_days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274320" y="214884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87121" y="2161641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2189988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sync_table_config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287121" y="2409444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" y="2432304"/>
            <a:ext cx="178308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source_table_id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enabled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(tinyint)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retain_years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2514600" y="2148840"/>
            <a:ext cx="210312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778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27401" y="2161641"/>
            <a:ext cx="2077516" cy="237744"/>
          </a:xfrm>
          <a:prstGeom prst="roundRect">
            <a:avLst>
              <a:gd name="adj" fmla="val 11538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60320" y="2189988"/>
            <a:ext cx="201167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attachment_index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2527401" y="2409444"/>
            <a:ext cx="2077516" cy="777239"/>
          </a:xfrm>
          <a:prstGeom prst="roundRect">
            <a:avLst>
              <a:gd name="adj" fmla="val 235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24328" y="2432304"/>
            <a:ext cx="1920239" cy="7406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table·business_key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object_key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sha256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4754880" y="214884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67681" y="2161641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2189988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sync_table_stat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767681" y="2409444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64608" y="2432304"/>
            <a:ext cx="178308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sync_job_id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source_table_id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row_count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995160" y="214884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007961" y="2161641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0880" y="2189988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archive_batch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7007961" y="2409444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04888" y="2432304"/>
            <a:ext cx="178308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sync_job_id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batch_year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rows_out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9646920" y="2148840"/>
            <a:ext cx="192024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778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659721" y="2161641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218998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retention_assignment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659721" y="2409444"/>
            <a:ext cx="1894636" cy="777239"/>
          </a:xfrm>
          <a:prstGeom prst="roundRect">
            <a:avLst>
              <a:gd name="adj" fmla="val 235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56648" y="2432304"/>
            <a:ext cx="1737360" cy="7406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policy_id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object_type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start·due_date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(date)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status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2514600" y="3520440"/>
            <a:ext cx="210312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527401" y="3533241"/>
            <a:ext cx="207751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60320" y="3561588"/>
            <a:ext cx="201167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archive_set_item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2527401" y="3781044"/>
            <a:ext cx="207751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24328" y="3803904"/>
            <a:ext cx="1920239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archive_set_id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original_name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blob_url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4754880" y="352044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767681" y="3533241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00600" y="3561588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archive_set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767681" y="3781044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864608" y="3803904"/>
            <a:ext cx="178308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archive_batch_id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set_name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items·bytes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995160" y="352044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007961" y="3533241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40880" y="3561588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archive_file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7007961" y="3781044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04888" y="3803904"/>
            <a:ext cx="178308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archive_batch_id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blob_url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checksum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646920" y="3520440"/>
            <a:ext cx="192024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659721" y="3533241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692640" y="356158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legal_hold_event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659721" y="3781044"/>
            <a:ext cx="189463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756648" y="3803904"/>
            <a:ext cx="173736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assignment_id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action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reason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274320" y="5067300"/>
            <a:ext cx="2194560" cy="9626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287121" y="5068925"/>
            <a:ext cx="216895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20040" y="5052822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query_config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287020" y="5349240"/>
            <a:ext cx="2169160" cy="681355"/>
          </a:xfrm>
          <a:prstGeom prst="roundRect">
            <a:avLst>
              <a:gd name="adj" fmla="val 235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47218" y="5354193"/>
            <a:ext cx="2011679" cy="7406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base_table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status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3017520" y="5065776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030321" y="5078577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63239" y="5106924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query_field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3030321" y="5326380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27248" y="5349240"/>
            <a:ext cx="178308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query_config_id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column_name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is_pii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(tinyint)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5257800" y="5065776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5270601" y="5078577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303520" y="5106924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query_join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5270601" y="5326380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367528" y="5349240"/>
            <a:ext cx="178308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query_config_id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join_type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left→right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7498079" y="5065776"/>
            <a:ext cx="210312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7510881" y="5078577"/>
            <a:ext cx="207751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43800" y="5106924"/>
            <a:ext cx="2011679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drill_config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7510881" y="5326380"/>
            <a:ext cx="207751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607807" y="5349240"/>
            <a:ext cx="1920239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query_config_id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schema_id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parent→child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9646920" y="4992624"/>
            <a:ext cx="192024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9659721" y="5005425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692640" y="5033772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微软雅黑"/>
              </a:rPr>
              <a:t>destroy_approval</a:t>
            </a:r>
            <a:endParaRPr sz="85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9659721" y="5253228"/>
            <a:ext cx="189463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56648" y="5276088"/>
            <a:ext cx="1737360" cy="6035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微软雅黑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sync_job_id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微软雅黑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approver_id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(bigint)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微软雅黑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微软雅黑"/>
              </a:rPr>
              <a:t>decision</a:t>
            </a:r>
            <a:r>
              <a:rPr sz="600" b="0" i="0">
                <a:solidFill>
                  <a:srgbClr val="7A7A7A"/>
                </a:solidFill>
                <a:latin typeface="Segoe UI"/>
                <a:ea typeface="微软雅黑"/>
              </a:rPr>
              <a:t> (varchar)</a:t>
            </a:r>
            <a:endParaRPr sz="600" b="0" i="0">
              <a:solidFill>
                <a:srgbClr val="7A7A7A"/>
              </a:solidFill>
              <a:latin typeface="Segoe UI"/>
              <a:ea typeface="微软雅黑"/>
            </a:endParaRPr>
          </a:p>
        </p:txBody>
      </p:sp>
      <p:cxnSp>
        <p:nvCxnSpPr>
          <p:cNvPr id="101" name="Connector 100"/>
          <p:cNvCxnSpPr/>
          <p:nvPr/>
        </p:nvCxnSpPr>
        <p:spPr>
          <a:xfrm>
            <a:off x="2377440" y="1234440"/>
            <a:ext cx="640080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2459736" y="1293876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2825496" y="105613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04" name="Connector 103"/>
          <p:cNvCxnSpPr/>
          <p:nvPr/>
        </p:nvCxnSpPr>
        <p:spPr>
          <a:xfrm>
            <a:off x="1325880" y="1517904"/>
            <a:ext cx="0" cy="630936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152143" y="1595628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1389888" y="195224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07" name="Connector 106"/>
          <p:cNvCxnSpPr/>
          <p:nvPr/>
        </p:nvCxnSpPr>
        <p:spPr>
          <a:xfrm>
            <a:off x="2377440" y="1463040"/>
            <a:ext cx="274320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>
            <a:off x="2651760" y="1463040"/>
            <a:ext cx="0" cy="384048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2651760" y="1847088"/>
            <a:ext cx="3383280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V="1">
            <a:off x="6035040" y="1591056"/>
            <a:ext cx="0" cy="256032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11" name="TextBox 110"/>
          <p:cNvSpPr txBox="1"/>
          <p:nvPr/>
        </p:nvSpPr>
        <p:spPr>
          <a:xfrm>
            <a:off x="2459736" y="1522476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5861304" y="1668780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13" name="Connector 112"/>
          <p:cNvCxnSpPr/>
          <p:nvPr/>
        </p:nvCxnSpPr>
        <p:spPr>
          <a:xfrm>
            <a:off x="2377440" y="1335024"/>
            <a:ext cx="64008" cy="0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>
            <a:off x="2441448" y="1335024"/>
            <a:ext cx="0" cy="1316736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2441448" y="2651760"/>
            <a:ext cx="73152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2459736" y="1394460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2322576" y="247345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18" name="Connector 117"/>
          <p:cNvCxnSpPr/>
          <p:nvPr/>
        </p:nvCxnSpPr>
        <p:spPr>
          <a:xfrm flipH="1">
            <a:off x="164592" y="1188720"/>
            <a:ext cx="109728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164592" y="1188720"/>
            <a:ext cx="0" cy="4315968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>
            <a:off x="164592" y="5504688"/>
            <a:ext cx="109728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21" name="TextBox 120"/>
          <p:cNvSpPr txBox="1"/>
          <p:nvPr/>
        </p:nvSpPr>
        <p:spPr>
          <a:xfrm>
            <a:off x="82296" y="101041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82296" y="5326379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23" name="Connector 122"/>
          <p:cNvCxnSpPr/>
          <p:nvPr/>
        </p:nvCxnSpPr>
        <p:spPr>
          <a:xfrm>
            <a:off x="4983480" y="1938528"/>
            <a:ext cx="0" cy="210312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4809744" y="201625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5047488" y="195224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26" name="Connector 125"/>
          <p:cNvCxnSpPr/>
          <p:nvPr/>
        </p:nvCxnSpPr>
        <p:spPr>
          <a:xfrm>
            <a:off x="5212080" y="1591056"/>
            <a:ext cx="182880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5394960" y="1591056"/>
            <a:ext cx="0" cy="347472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5394960" y="1938528"/>
            <a:ext cx="2578608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7973568" y="1938528"/>
            <a:ext cx="0" cy="210312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5294376" y="165049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8037576" y="195224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32" name="Connector 131"/>
          <p:cNvCxnSpPr/>
          <p:nvPr/>
        </p:nvCxnSpPr>
        <p:spPr>
          <a:xfrm flipH="1">
            <a:off x="9418320" y="2944368"/>
            <a:ext cx="22860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 flipV="1">
            <a:off x="9418320" y="2066543"/>
            <a:ext cx="0" cy="877825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H="1">
            <a:off x="5166360" y="2066543"/>
            <a:ext cx="425196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 flipV="1">
            <a:off x="5166360" y="1938528"/>
            <a:ext cx="0" cy="128015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9454896" y="2766060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4992624" y="201625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38" name="Connector 137"/>
          <p:cNvCxnSpPr/>
          <p:nvPr/>
        </p:nvCxnSpPr>
        <p:spPr>
          <a:xfrm>
            <a:off x="5212080" y="1115568"/>
            <a:ext cx="18288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 flipV="1">
            <a:off x="5394960" y="877824"/>
            <a:ext cx="0" cy="237744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5394960" y="877824"/>
            <a:ext cx="649224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11887200" y="877824"/>
            <a:ext cx="0" cy="4626864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H="1">
            <a:off x="11567160" y="5504688"/>
            <a:ext cx="320040" cy="0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43" name="TextBox 142"/>
          <p:cNvSpPr txBox="1"/>
          <p:nvPr/>
        </p:nvSpPr>
        <p:spPr>
          <a:xfrm>
            <a:off x="5294376" y="117500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11649456" y="5564123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45" name="Connector 144"/>
          <p:cNvCxnSpPr/>
          <p:nvPr/>
        </p:nvCxnSpPr>
        <p:spPr>
          <a:xfrm>
            <a:off x="7973568" y="3172968"/>
            <a:ext cx="0" cy="347472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46" name="TextBox 145"/>
          <p:cNvSpPr txBox="1"/>
          <p:nvPr/>
        </p:nvSpPr>
        <p:spPr>
          <a:xfrm>
            <a:off x="7799831" y="325069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8037576" y="332384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48" name="Connector 147"/>
          <p:cNvCxnSpPr/>
          <p:nvPr/>
        </p:nvCxnSpPr>
        <p:spPr>
          <a:xfrm>
            <a:off x="7132320" y="3172968"/>
            <a:ext cx="0" cy="210312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5733288" y="3383280"/>
            <a:ext cx="1399032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>
            <a:off x="5733288" y="3383280"/>
            <a:ext cx="0" cy="13716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51" name="TextBox 150"/>
          <p:cNvSpPr txBox="1"/>
          <p:nvPr/>
        </p:nvSpPr>
        <p:spPr>
          <a:xfrm>
            <a:off x="6958584" y="325069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5797296" y="332384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53" name="Connector 152"/>
          <p:cNvCxnSpPr/>
          <p:nvPr/>
        </p:nvCxnSpPr>
        <p:spPr>
          <a:xfrm flipH="1">
            <a:off x="4617720" y="4005072"/>
            <a:ext cx="137160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54" name="TextBox 153"/>
          <p:cNvSpPr txBox="1"/>
          <p:nvPr/>
        </p:nvSpPr>
        <p:spPr>
          <a:xfrm>
            <a:off x="4562856" y="3826763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4700016" y="4064507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56" name="Connector 155"/>
          <p:cNvCxnSpPr/>
          <p:nvPr/>
        </p:nvCxnSpPr>
        <p:spPr>
          <a:xfrm>
            <a:off x="10607040" y="1591056"/>
            <a:ext cx="0" cy="557784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57" name="TextBox 156"/>
          <p:cNvSpPr txBox="1"/>
          <p:nvPr/>
        </p:nvSpPr>
        <p:spPr>
          <a:xfrm>
            <a:off x="10433303" y="1668780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0671048" y="195224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59" name="Connector 158"/>
          <p:cNvCxnSpPr/>
          <p:nvPr/>
        </p:nvCxnSpPr>
        <p:spPr>
          <a:xfrm>
            <a:off x="10607040" y="3172968"/>
            <a:ext cx="0" cy="347472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60" name="TextBox 159"/>
          <p:cNvSpPr txBox="1"/>
          <p:nvPr/>
        </p:nvSpPr>
        <p:spPr>
          <a:xfrm>
            <a:off x="10433303" y="325069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10671048" y="332384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62" name="Connector 161"/>
          <p:cNvCxnSpPr/>
          <p:nvPr/>
        </p:nvCxnSpPr>
        <p:spPr>
          <a:xfrm>
            <a:off x="2468880" y="5623560"/>
            <a:ext cx="54864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63" name="TextBox 162"/>
          <p:cNvSpPr txBox="1"/>
          <p:nvPr/>
        </p:nvSpPr>
        <p:spPr>
          <a:xfrm>
            <a:off x="2551176" y="5682996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2825496" y="5445252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65" name="Connector 164"/>
          <p:cNvCxnSpPr/>
          <p:nvPr/>
        </p:nvCxnSpPr>
        <p:spPr>
          <a:xfrm>
            <a:off x="1252728" y="6016752"/>
            <a:ext cx="0" cy="201168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>
            <a:off x="1252728" y="6217920"/>
            <a:ext cx="4983480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V="1">
            <a:off x="6236208" y="5943600"/>
            <a:ext cx="0" cy="27432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68" name="TextBox 167"/>
          <p:cNvSpPr txBox="1"/>
          <p:nvPr/>
        </p:nvSpPr>
        <p:spPr>
          <a:xfrm>
            <a:off x="1078992" y="6094476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6062472" y="602132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cxnSp>
        <p:nvCxnSpPr>
          <p:cNvPr id="170" name="Connector 169"/>
          <p:cNvCxnSpPr/>
          <p:nvPr/>
        </p:nvCxnSpPr>
        <p:spPr>
          <a:xfrm>
            <a:off x="2011680" y="6016752"/>
            <a:ext cx="0" cy="36576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2011680" y="6382512"/>
            <a:ext cx="6537960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8549640" y="5943600"/>
            <a:ext cx="0" cy="438912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73" name="TextBox 172"/>
          <p:cNvSpPr txBox="1"/>
          <p:nvPr/>
        </p:nvSpPr>
        <p:spPr>
          <a:xfrm>
            <a:off x="1837944" y="6094476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1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8375903" y="6021324"/>
            <a:ext cx="109728" cy="118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微软雅黑"/>
              </a:rPr>
              <a:t>N</a:t>
            </a:r>
            <a:endParaRPr sz="700" b="1" i="0">
              <a:solidFill>
                <a:srgbClr val="222222"/>
              </a:solidFill>
              <a:latin typeface="Segoe UI"/>
              <a:ea typeface="微软雅黑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9445752" y="2121408"/>
            <a:ext cx="164592" cy="512064"/>
          </a:xfrm>
          <a:prstGeom prst="rect">
            <a:avLst/>
          </a:prstGeom>
          <a:noFill/>
        </p:spPr>
        <p:txBody>
          <a:bodyPr vert="eaVert"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E11D48"/>
                </a:solidFill>
                <a:latin typeface="Segoe UI"/>
                <a:ea typeface="微软雅黑"/>
              </a:rPr>
              <a:t>到期触发销毁</a:t>
            </a:r>
            <a:endParaRPr sz="580" b="1" i="0">
              <a:solidFill>
                <a:srgbClr val="E11D48"/>
              </a:solidFill>
              <a:latin typeface="Segoe UI"/>
              <a:ea typeface="微软雅黑"/>
            </a:endParaRPr>
          </a:p>
        </p:txBody>
      </p:sp>
      <p:sp>
        <p:nvSpPr>
          <p:cNvPr id="176" name="Rounded Rectangle 175"/>
          <p:cNvSpPr/>
          <p:nvPr/>
        </p:nvSpPr>
        <p:spPr>
          <a:xfrm>
            <a:off x="201168" y="6565392"/>
            <a:ext cx="11795760" cy="292608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016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274320" y="6565392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F172A"/>
                </a:solidFill>
                <a:latin typeface="Segoe UI"/>
                <a:ea typeface="微软雅黑"/>
              </a:rPr>
              <a:t>图例</a:t>
            </a:r>
            <a:endParaRPr sz="750" b="1" i="0">
              <a:solidFill>
                <a:srgbClr val="0F172A"/>
              </a:solidFill>
              <a:latin typeface="Segoe UI"/>
              <a:ea typeface="微软雅黑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31520" y="6647688"/>
            <a:ext cx="128016" cy="128016"/>
          </a:xfrm>
          <a:prstGeom prst="ellipse">
            <a:avLst/>
          </a:prstGeom>
          <a:solidFill>
            <a:srgbClr val="5B82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4400" y="6565392"/>
            <a:ext cx="261152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⑤ 同步与归档（含 ⑥ 附件索引）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3507638" y="6647688"/>
            <a:ext cx="128016" cy="128016"/>
          </a:xfrm>
          <a:prstGeom prst="ellipse">
            <a:avLst/>
          </a:prstGeom>
          <a:solidFill>
            <a:srgbClr val="B85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3690518" y="6565392"/>
            <a:ext cx="537667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⑧ 生命周期与保留 · ⑨ 销毁审批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4209897" y="6647688"/>
            <a:ext cx="128016" cy="128016"/>
          </a:xfrm>
          <a:prstGeom prst="ellipse">
            <a:avLst/>
          </a:prstGeom>
          <a:solidFill>
            <a:srgbClr val="D6A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392777" y="6565392"/>
            <a:ext cx="261152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微软雅黑"/>
              </a:rPr>
              <a:t>⑦ 动态查询</a:t>
            </a:r>
            <a:endParaRPr sz="640" b="0" i="0">
              <a:solidFill>
                <a:srgbClr val="64748B"/>
              </a:solidFill>
              <a:latin typeface="Segoe UI"/>
              <a:ea typeface="微软雅黑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9189720" y="6565392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微软雅黑"/>
              </a:rPr>
              <a:t>1—N 连线：母端 1 / 子端 N　</a:t>
            </a:r>
            <a:endParaRPr sz="620" b="0" i="0">
              <a:solidFill>
                <a:srgbClr val="475569"/>
              </a:solidFill>
              <a:latin typeface="Segoe UI"/>
              <a:ea typeface="微软雅黑"/>
            </a:endParaRPr>
          </a:p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微软雅黑"/>
              </a:rPr>
              <a:t>（虚线卡=跨页引用）</a:t>
            </a:r>
            <a:endParaRPr sz="620" b="0" i="0">
              <a:solidFill>
                <a:srgbClr val="94A3B8"/>
              </a:solidFill>
              <a:latin typeface="Segoe UI"/>
              <a:ea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12132</Words>
  <Application>WPS 演示</Application>
  <PresentationFormat>On-screen Show (4:3)</PresentationFormat>
  <Paragraphs>1157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8" baseType="lpstr">
      <vt:lpstr>Arial</vt:lpstr>
      <vt:lpstr>宋体</vt:lpstr>
      <vt:lpstr>Wingdings</vt:lpstr>
      <vt:lpstr>Arial</vt:lpstr>
      <vt:lpstr>Segoe UI</vt:lpstr>
      <vt:lpstr>Thonburi</vt:lpstr>
      <vt:lpstr>微软雅黑</vt:lpstr>
      <vt:lpstr>Consolas</vt:lpstr>
      <vt:lpstr>Calibri</vt:lpstr>
      <vt:lpstr>Helvetica Neue</vt:lpstr>
      <vt:lpstr>汉仪旗黑</vt:lpstr>
      <vt:lpstr>微软雅黑</vt:lpstr>
      <vt:lpstr>宋体</vt:lpstr>
      <vt:lpstr>Arial Unicode MS</vt:lpstr>
      <vt:lpstr>汉仪书宋二KW</vt:lpstr>
      <vt:lpstr>Consolas</vt:lpstr>
      <vt:lpstr>Segoe UI</vt:lpstr>
      <vt:lpstr>微软雅黑</vt:lpstr>
      <vt:lpstr>苹方-简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B2 架构图集</dc:title>
  <dc:creator>RIMS 退役归档平台</dc:creator>
  <dc:description>generated using python-pptx</dc:description>
  <cp:lastModifiedBy>chen</cp:lastModifiedBy>
  <cp:revision>4</cp:revision>
  <dcterms:created xsi:type="dcterms:W3CDTF">2026-08-25T02:19:57Z</dcterms:created>
  <dcterms:modified xsi:type="dcterms:W3CDTF">2026-08-25T02:19:57Z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2052-12.1.26046.26046</vt:lpwstr>
  </property>
  <property fmtid="{D5CDD505-2E9C-101B-9397-08002B2CF9AE}" pid="3" name="ICV">
    <vt:lpwstr>46FAEE9E75AFFDCC84FB8C6A16995EA1_42</vt:lpwstr>
  </property>
</Properties>
</file>