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三张架构图 + 一页数据加密设计 · 全部以 PPT 原生形状绘制，可直接编辑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163824"/>
            <a:ext cx="5806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2644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26440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255264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52044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3931920"/>
            <a:ext cx="5806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0325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0325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023359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28853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4700016"/>
            <a:ext cx="5806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4800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4791455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056631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" y="5468112"/>
            <a:ext cx="58064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9264" y="55686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556869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72768" y="5559551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72768" y="5824727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四层加密模型 · aes_encrypt + UC 列掩码 · 信封加密 / Crypto-Shredding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" y="6217920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6327648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39319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566928"/>
            <a:ext cx="36758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四层加密模型 + 密钥管理（L1 → L5）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91440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" y="103327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3327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78D4"/>
                </a:solidFill>
                <a:latin typeface="Consolas"/>
                <a:ea typeface="Microsoft YaHe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99669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存储层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防磁盘 / 桶泄露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17043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账户级 SSE（AES-256）+ Key Vault CMK；数据 / 元数据 / 附件一套密钥策略，可选基础设施双重加密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3736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85623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85623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9669"/>
                </a:solidFill>
                <a:latin typeface="Consolas"/>
                <a:ea typeface="Microsoft Ya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181965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传输层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防链路窃听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99339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全链路 TLS 1.2+：HTTPS 443 入口 · 私有端点私网 · JDBC / ODBC；流量不出 Azure 骨干网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256032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1F2"/>
          </a:solidFill>
          <a:ln w="2032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" y="267919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67919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E11D48"/>
                </a:solidFill>
                <a:latin typeface="Consolas"/>
                <a:ea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64261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E11D48"/>
                </a:solidFill>
                <a:latin typeface="Segoe UI"/>
                <a:ea typeface="Microsoft YaHei"/>
              </a:rPr>
              <a:t>字段层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 DBA / 运维内鬼 ★ 合规核心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81635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aes_encrypt() 落盘即密文 + UC 列掩码查询遮蔽——两者必须组合；GCM 每次随机 IV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3383279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9184" y="350215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350215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C3AED"/>
                </a:solidFill>
                <a:latin typeface="Consolas"/>
                <a:ea typeface="Microsoft YaHe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46557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展示层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防越权查看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63931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UC COLUMN MASK / ROW FILTER 绑定基表，任何访问路径强制生效；B2 原生，Trino 读完全不可用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" y="420624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9184" y="4325112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325112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97706"/>
                </a:solidFill>
                <a:latin typeface="Consolas"/>
                <a:ea typeface="Microsoft YaHe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28853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密钥层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防泄露无法止损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46227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Key Vault CMK 自动轮转；信封加密——轮主密钥只重包装 KEK、零数据重写；密文自带 key_version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1104" y="566928"/>
            <a:ext cx="41148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566928"/>
            <a:ext cx="385876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字段级加密 · 推荐路线：aes_encrypt + UC 列掩码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89611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70832" y="103327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2" y="103327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96926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密钥入 Secret 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115214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Key Vault 撑腰 · 托管标识免密拉取，密钥不进代码 / 日志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1453895"/>
            <a:ext cx="0" cy="73153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4261104" y="153619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70832" y="167335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16733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160934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ETL 写侧加密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179222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aes_encrypt(col, secret(...))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默认 GCM 随机 IV，绝不能用 ECB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09360" y="209397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4261104" y="217627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70832" y="231343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3134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224942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定义掩码函数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0" y="243230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is_account_group_member()</a:t>
            </a:r>
            <a:r>
              <a:rPr sz="590" b="0" i="0">
                <a:solidFill>
                  <a:srgbClr val="64748B"/>
                </a:solidFill>
                <a:latin typeface="Consolas"/>
                <a:ea typeface="Microsoft YaHei"/>
              </a:rPr>
              <a:t> ? try_aes_decrypt : ***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309360" y="273405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4261104" y="281635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70832" y="295351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0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88950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挂载到列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307238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ALTER TABLE … SET MASK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（必须打在基表，不支持视图）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61104" y="3474720"/>
            <a:ext cx="4114800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52544" y="34747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同一条 SQL：授权者见明文 · 其他人见 *** · 直读 Parquet 只见密文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1104" y="3895344"/>
            <a:ext cx="4114800" cy="256032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3895344"/>
            <a:ext cx="391363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F172A"/>
                </a:solidFill>
                <a:latin typeface="Segoe UI"/>
                <a:ea typeface="Microsoft YaHei"/>
              </a:rPr>
              <a:t>为何安全：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掩码函数以定义者权限取密钥，分析师自己写 aes_decrypt 也拿不到 key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61104" y="4224528"/>
            <a:ext cx="4114800" cy="73152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0832" y="427939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Microsoft YaHei"/>
              </a:rPr>
              <a:t>三个必守约束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0832" y="4443984"/>
            <a:ext cx="39136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❶ 绝不能改成 ECB（暴露频率分布）　❷ 业务用户对 Secret Scope 必须无 READ 权限，否则防线归零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❸ 掩码不支持视图须挂基表；卸载顺序：先 DROP MASK 再 DROP FUNCTION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22208" y="566928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50224" y="566928"/>
            <a:ext cx="32186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密钥体系 · 合规与销毁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22208" y="896112"/>
            <a:ext cx="347472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650224" y="987552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77656" y="9875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Microsoft YaHei"/>
              </a:rPr>
              <a:t>Key Vault · CMK / KEK 主密钥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259568" y="1307592"/>
            <a:ext cx="0" cy="109728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351008" y="1298448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0078D4"/>
                </a:solidFill>
                <a:latin typeface="Segoe UI"/>
                <a:ea typeface="Microsoft YaHei"/>
              </a:rPr>
              <a:t>包装 / 解包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650224" y="1426464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77656" y="142646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D28D9"/>
                </a:solidFill>
                <a:latin typeface="Segoe UI"/>
                <a:ea typeface="Microsoft YaHei"/>
              </a:rPr>
              <a:t>DEK 数据密钥（带 key_version）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259568" y="1746504"/>
            <a:ext cx="0" cy="109727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10351008" y="173736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7C3AED"/>
                </a:solidFill>
                <a:latin typeface="Segoe UI"/>
                <a:ea typeface="Microsoft YaHei"/>
              </a:rPr>
              <a:t>加密 / 解密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1865376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77656" y="186537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Microsoft YaHei"/>
              </a:rPr>
              <a:t>Iceberg 密文 + UC 列掩码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13648" y="22311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078D4"/>
                </a:solidFill>
                <a:latin typeface="Segoe UI"/>
                <a:ea typeface="Microsoft YaHei"/>
              </a:rPr>
              <a:t>信封加密：轮转主密钥只重新包装 DEK，数据文件一个字节不动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22208" y="2560320"/>
            <a:ext cx="3474720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50224" y="262432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Microsoft YaHei"/>
              </a:rPr>
              <a:t>Crypto-Shredding · 被遗忘权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50224" y="2798064"/>
            <a:ext cx="323697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按数据主体分配独立 DEK——「删除」= 销毁该 DEK，密文永久不可读，无需重写 PB 级文件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E11D48"/>
                </a:solidFill>
                <a:latin typeface="Segoe UI"/>
                <a:ea typeface="Microsoft YaHei"/>
              </a:rPr>
              <a:t>归档场景性价比最高的合规设计，建议第一版纳入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22208" y="3511296"/>
            <a:ext cx="3474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50224" y="3575304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合规映射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50224" y="3767328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77656" y="37673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47857"/>
                </a:solidFill>
                <a:latin typeface="Segoe UI"/>
                <a:ea typeface="Microsoft YaHei"/>
              </a:rPr>
              <a:t>等保 2.0 三级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10928" y="375818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存储 / 传输保密达标；策略在引擎内、审计落表，举证材料天然齐备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50224" y="4169664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77656" y="416966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B45309"/>
                </a:solidFill>
                <a:latin typeface="Segoe UI"/>
                <a:ea typeface="Microsoft YaHei"/>
              </a:rPr>
              <a:t>个保法第 51 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10928" y="41605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SSE ≠ 去标识化——必须 L3 字段级加密 + L4 强制脱敏，只做 L1 不满足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650224" y="4572000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77656" y="45720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E11D48"/>
                </a:solidFill>
                <a:latin typeface="Segoe UI"/>
                <a:ea typeface="Microsoft YaHei"/>
              </a:rPr>
              <a:t>GDPR 被遗忘权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10928" y="4562856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Crypto-Shredding：销毁主体 DEK 即永久不可读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01168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① 授权强制力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掩码 / 行过滤绑定引擎元数据，任何客户端绕不过；应用层脱敏绕过 API 即失效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7880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2511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② 轮转成本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2511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信封加密只重包装 KEK、零数据重写；应用层方案轮转需重刷数十 TB 存量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15644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02751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C3AED"/>
                </a:solidFill>
                <a:latin typeface="Segoe UI"/>
                <a:ea typeface="Microsoft YaHei"/>
              </a:rPr>
              <a:t>③ 实施成本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02751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约 2~3 人天（应用层方案 8~12 人天）· 加密字段仍可检索 · 审计平台原生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1168" y="6108192"/>
            <a:ext cx="11795760" cy="475488"/>
          </a:xfrm>
          <a:prstGeom prst="roundRect">
            <a:avLst>
              <a:gd name="adj" fmla="val 13461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6108192"/>
            <a:ext cx="1146657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28D9"/>
                </a:solidFill>
                <a:latin typeface="Segoe UI"/>
                <a:ea typeface="Microsoft YaHei"/>
              </a:rPr>
              <a:t>★ 若列级脱敏是硬需求：</a:t>
            </a:r>
            <a:r>
              <a:rPr sz="720" b="0" i="0">
                <a:solidFill>
                  <a:srgbClr val="4C1D95"/>
                </a:solidFill>
                <a:latin typeface="Segoe UI"/>
                <a:ea typeface="Microsoft YaHei"/>
              </a:rPr>
              <a:t>B（Trino 读）的 UC 列掩码完全不可用（Iceberg REST Catalog 不支持），B2 原生生效、任何路径强制遮蔽——这一条基本决定必须选 B2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