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架构图 · 数据加密设计 · 元数据库 ER 图 · 全部以 PPT 原生形状绘制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2962656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044952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044952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3035808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36192" y="328269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3639312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3721608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3721608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36192" y="3712464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36192" y="395935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4315968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4398264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4398264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36192" y="4389120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36192" y="463600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Databricks 读写一体计算层 → 消费入口 + 销毁回路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41248" y="4992624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69264" y="5074920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9264" y="507492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onsolas"/>
                <a:ea typeface="Microsoft YaHei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36192" y="5065776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方案 B2 · 数据加密设计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36192" y="531266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四层加密模型 · aes_encrypt + UC 列掩码 · 信封加密 / Crypto-Shredding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1248" y="5669280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69264" y="5751576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9264" y="5751576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75569"/>
                </a:solidFill>
                <a:latin typeface="Consolas"/>
                <a:ea typeface="Microsoft YaHe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36192" y="5742432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元数据库 ER 图（35 表 / 11 模块 · 上下两页）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36192" y="598932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上篇：平台 / 权限 / 数据源配置　下篇：同步归档 / 动态查询 / 保留销毁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41248" y="6382512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" y="6473952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docs/数据库ER图与全量表结构.md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Apache SeaTunnel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Azure Data Factory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Serverless（读写）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9" name="Oval 18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3" name="Oval 22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7" name="Oval 26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Apache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ADF 编排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Serverless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层特性 · NCC 需 Account Admin 配置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工作区端点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26" name="TextBox 125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29" name="TextBox 128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SeaTunnel 抽取 · NAT 固定 IP</a:t>
            </a:r>
          </a:p>
        </p:txBody>
      </p:sp>
      <p:cxnSp>
        <p:nvCxnSpPr>
          <p:cNvPr id="132" name="Connector 131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3" name="TextBox 132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4" name="Connector 133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143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475569"/>
                </a:solidFill>
                <a:latin typeface="Segoe UI"/>
                <a:ea typeface="Microsoft YaHei"/>
              </a:rPr>
              <a:t>全局服务 · 443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4748B"/>
                </a:solidFill>
                <a:latin typeface="Segoe UI"/>
                <a:ea typeface="Microsoft YaHei"/>
              </a:rPr>
              <a:t>认证走 443 · 无私有端点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86" name="Connector 185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8" name="Connector 187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1" name="TextBox 190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3" name="Connector 192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除 Entra ID（全局认证）外，PaaS 全部私有端点接入，流量不出骨干网；入口 WAF + AppGW 收敛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需 Databricks Premium 层（PE / NCC 均为 Premium 特性）；NCC 需 Account Admin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8" name="Oval 7"/>
          <p:cNvSpPr/>
          <p:nvPr/>
        </p:nvSpPr>
        <p:spPr>
          <a:xfrm>
            <a:off x="53826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697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4086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6829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2" name="Oval 11"/>
          <p:cNvSpPr/>
          <p:nvPr/>
        </p:nvSpPr>
        <p:spPr>
          <a:xfrm>
            <a:off x="251336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9208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1596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6" name="Oval 15"/>
          <p:cNvSpPr/>
          <p:nvPr/>
        </p:nvSpPr>
        <p:spPr>
          <a:xfrm>
            <a:off x="448846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6718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546336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73767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4087368" y="1321308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891B2"/>
                </a:solidFill>
                <a:latin typeface="Segoe UI"/>
                <a:ea typeface="Microsoft YaHei"/>
              </a:rPr>
              <a:t>HTTPS 443 · SSO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1700784"/>
            <a:ext cx="268833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1700784"/>
            <a:ext cx="263347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57016" y="1700784"/>
            <a:ext cx="52852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1880" y="1700784"/>
            <a:ext cx="517550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ctr">
              <a:lnSpc>
                <a:spcPct val="112000"/>
              </a:lnSpc>
              <a:spcBef>
                <a:spcPts val="10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108960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0" name="Rounded Rectangle 29"/>
          <p:cNvSpPr/>
          <p:nvPr/>
        </p:nvSpPr>
        <p:spPr>
          <a:xfrm>
            <a:off x="9345168" y="1700784"/>
            <a:ext cx="241401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1700784"/>
            <a:ext cx="23591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897112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8357616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Azure Data Factory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4" name="Rounded Rectangle 43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Serverless：ETL · Compaction · DROP PARTITION + VACUUM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读侧查询 · 空闲缩 0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Unity Catalog 表级授权 · SERVE 层首屏 2–5 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4" name="Rounded Rectangle 63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760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65760" y="5084064"/>
            <a:ext cx="356616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93192" y="5084064"/>
            <a:ext cx="351129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11480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4223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589520" y="5084064"/>
            <a:ext cx="4169663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616952" y="5084064"/>
            <a:ext cx="41148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5" name="TextBox 84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9" name="TextBox 88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65760" y="5705856"/>
            <a:ext cx="733348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12064" y="5705856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Databricks Query History · 全部 PaaS 私有端点 · 入口 WAF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900416" y="5705856"/>
            <a:ext cx="3858768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065008" y="5705856"/>
            <a:ext cx="35295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B2 读侧：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Databricks SQL Serverless 完全托管 · 空闲缩 0；代价是引擎绑定 + 需 Premium 层（NCC / PE）</a:t>
            </a:r>
          </a:p>
        </p:txBody>
      </p:sp>
      <p:sp>
        <p:nvSpPr>
          <p:cNvPr id="96" name="Oval 95"/>
          <p:cNvSpPr/>
          <p:nvPr/>
        </p:nvSpPr>
        <p:spPr>
          <a:xfrm>
            <a:off x="36576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9377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98" name="Oval 97"/>
          <p:cNvSpPr/>
          <p:nvPr/>
        </p:nvSpPr>
        <p:spPr>
          <a:xfrm>
            <a:off x="194035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6837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0" name="Oval 99"/>
          <p:cNvSpPr/>
          <p:nvPr/>
        </p:nvSpPr>
        <p:spPr>
          <a:xfrm>
            <a:off x="314004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26806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2" name="Oval 101"/>
          <p:cNvSpPr/>
          <p:nvPr/>
        </p:nvSpPr>
        <p:spPr>
          <a:xfrm>
            <a:off x="433974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46775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4" name="Oval 103"/>
          <p:cNvSpPr/>
          <p:nvPr/>
        </p:nvSpPr>
        <p:spPr>
          <a:xfrm>
            <a:off x="561441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74243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5" name="Rounded Rectangle 4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退役 · 只读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15 套待归档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Oracle · MySQL · DB2 / 其他 · JDBC 读取 · 约 100 张表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NFS · S3 · Azure Blob · PDF / 图片 / 影像件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7" name="Rounded Rectangle 16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配置存元数据库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新系统接入复用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 · 凭据存 Key Vault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「测试连接」校验连通与权限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 · 表名 / 行数 / 大小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共发现 10 张表（含类型与主键）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③ 勾选待迁移表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☑ 订单主表 · 明细 · 客户 · 商品 · 支付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☐ 临时 / 日志 / 中间 / 缓存 / 备份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Microsoft YaHei"/>
              </a:rPr>
              <a:t>按配置生成 SeaTunnel 任务 · 仅入湖勾选的 5 张表（10 选 5）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1" name="Rounded Rectangle 40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批量 · 全量 + 增量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ADF 编排调度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JDBC · 类型映射 · 对账 → Iceberg 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 · 服务免费 → ADLS 附件容器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3" name="Rounded Rectangle 52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 · PB 级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100 张表 · 1:1 原样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Hot / Cool 分层 · ZRS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Iceberg 表 · 四层分层（RAW → SERVE 逐层升温，越往下越热）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SeaTunnel 全量 1:1 保真 · 分区 sys_id / ingest_date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类型统一 · 缺失值处理 · SHA-256 台账 · 分区归约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业务维度建模 · 生命周期分区（销毁友好）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热表物化 · Z-Order · 供 Databricks SQL Serverless 直查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76" name="Rounded Rectangle 75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Microsoft YaHei"/>
              </a:rPr>
              <a:t>━━ 存算分离边界 ━━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Serverless 直查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 写入 · Databricks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Databricks 读写一体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弹性 · 按量计费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 · Z-Order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 ≈¥0.4–0.8 万/月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读侧查询 · 零运维 · 故障自动重建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Iceberg 直查 · SERVE 加速 · 首屏 2–5 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UC 表 / 行 / 列级授权 + 审计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X-Small 6 DBU/h · 空闲缩 0 ≈¥0.5–0.9 万/月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2" name="Rounded Rectangle 101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元数据驱动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 · 动态配置化查询平台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JSON 配置定义查询 / 筛选 / 列 / 权限 · 前端动态渲染 · 一次研发处处复用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 · 边际 +3~6 人天 / 系统 · 首期 60 人天 · ≥15 系统适用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Microsoft YaHei"/>
              </a:rPr>
              <a:t>Retention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Microsoft YaHei"/>
              </a:rPr>
              <a:t>RETENTION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作用于 B-03 分区
回写台账 · 附件同步删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231136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258568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3657600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685032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84064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111496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物理清除快照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510528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537960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3483864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4910328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6336792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Microsoft YaHei"/>
              </a:rPr>
              <a:t>审计与元数据独立备份 · 不随业务数据销毁 · 纳入年度销毁演练</a:t>
            </a:r>
          </a:p>
        </p:txBody>
      </p:sp>
      <p:cxnSp>
        <p:nvCxnSpPr>
          <p:cNvPr id="129" name="Connector 128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2" name="TextBox 131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819" b="1" i="0">
                <a:solidFill>
                  <a:srgbClr val="92400E"/>
                </a:solidFill>
                <a:latin typeface="Segoe UI"/>
                <a:ea typeface="Microsoft YaHei"/>
              </a:rPr>
              <a:t>独立存储账户（与湖分开）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Microsoft YaHei"/>
              </a:rPr>
              <a:t>贯穿 02 抽取 → B-03 存储 · 供 B-05 直接消费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FNS 平面命名空间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非 HNS · 按次计费（不按 4MB 切块）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Cool → Cold 分层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生命周期自动降档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SHA-256 台账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前缀 sysXX/yyyy-mm/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后端签 SAS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前端直连下载</a:t>
            </a:r>
          </a:p>
        </p:txBody>
      </p:sp>
      <p:cxnSp>
        <p:nvCxnSpPr>
          <p:cNvPr id="144" name="Connector 143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5" name="Connector 144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6" name="Connector 145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7" name="Connector 146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9" name="Connector 148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0" name="TextBox 149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D28D9"/>
                </a:solidFill>
                <a:latin typeface="Segoe UI"/>
                <a:ea typeface="Microsoft YaHei"/>
              </a:rPr>
              <a:t>存算分离 · 成本结构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Microsoft YaHei"/>
              </a:rPr>
              <a:t>存储侧 · 常驻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Hot/Cool ≈¥90–150/TB·月 · PB 级从容 · ZRS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Microsoft YaHei"/>
              </a:rPr>
              <a:t>计算侧 · 按需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写侧 ETL ≈¥0.4–0.8 万/月 · 读侧查询 ≈¥0.5–0.9 万/月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存储与计算独立扩缩 · 空闲缩到 0 · 只为使用的算力付费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方案 B2 要点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Microsoft YaHei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冷湖常驻，Serverless 读写按需拉起 · 空闲缩 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Microsoft YaHei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物理清除，附件与审计同步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Microsoft YaHei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边际 +3~6 人天 / 系统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Microsoft YaHei"/>
              </a:rPr>
              <a:t>· 读侧托管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Databricks SQL Serverless · 零集群运维 · UC 授权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Microsoft YaHei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≥15 套系统或 &gt;20 TB 长期保留 · PB 级从容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Microsoft YaHei"/>
              </a:rPr>
              <a:t>B2 的取舍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Microsoft YaHei"/>
              </a:rPr>
              <a:t>读侧完全托管、UC 治理原生；代价是计算引擎绑定 Databricks（数据仍为开放 Iceberg，随时可换引擎），且 Serverless / NCC 需 Premium 层。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数据加密设计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39319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566928"/>
            <a:ext cx="3675887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四层加密模型 + 密钥管理（L1 → L5）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91440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9184" y="103327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03327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78D4"/>
                </a:solidFill>
                <a:latin typeface="Consolas"/>
                <a:ea typeface="Microsoft YaHei"/>
              </a:rPr>
              <a:t>L1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99669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存储层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防磁盘 / 桶泄露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17043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账户级 SSE（AES-256）+ Key Vault CMK；数据 / 元数据 / 附件一套密钥策略，可选基础设施双重加密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" y="173736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9184" y="185623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185623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59669"/>
                </a:solidFill>
                <a:latin typeface="Consolas"/>
                <a:ea typeface="Microsoft YaHe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181965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传输层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防链路窃听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993391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全链路 TLS 1.2+：HTTPS 443 入口 · 私有端点私网 · JDBC / ODBC；流量不出 Azure 骨干网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" y="256032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1F2"/>
          </a:solidFill>
          <a:ln w="2032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9184" y="267919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267919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E11D48"/>
                </a:solidFill>
                <a:latin typeface="Consolas"/>
                <a:ea typeface="Microsoft YaHei"/>
              </a:rPr>
              <a:t>L3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2642615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E11D48"/>
                </a:solidFill>
                <a:latin typeface="Segoe UI"/>
                <a:ea typeface="Microsoft YaHei"/>
              </a:rPr>
              <a:t>字段层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 DBA / 运维内鬼 ★ 合规核心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81635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aes_encrypt() 落盘即密文 + UC 列掩码查询遮蔽——两者必须组合；GCM 每次随机 IV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3383279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9184" y="350215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350215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7C3AED"/>
                </a:solidFill>
                <a:latin typeface="Consolas"/>
                <a:ea typeface="Microsoft YaHei"/>
              </a:rPr>
              <a:t>L4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3465575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展示层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防越权查看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639311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UC COLUMN MASK / ROW FILTER 绑定基表，任何访问路径强制生效；B2 原生，Trino 读完全不可用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1168" y="420624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BEB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29184" y="4325112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" y="4325112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D97706"/>
                </a:solidFill>
                <a:latin typeface="Consolas"/>
                <a:ea typeface="Microsoft YaHei"/>
              </a:rPr>
              <a:t>L5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428853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密钥层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防泄露无法止损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46227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Key Vault CMK 自动轮转；信封加密——轮主密钥只重包装 KEK、零数据重写；密文自带 key_version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61104" y="566928"/>
            <a:ext cx="411480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0" y="566928"/>
            <a:ext cx="3858768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字段级加密 · 推荐路线：aes_encrypt + UC 列掩码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61104" y="89611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370832" y="1033271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70832" y="103327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96926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密钥入 Secret Scope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115214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Key Vault 撑腰 · 托管标识免密拉取，密钥不进代码 / 日志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09360" y="1453895"/>
            <a:ext cx="0" cy="73153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39" name="Rounded Rectangle 38"/>
          <p:cNvSpPr/>
          <p:nvPr/>
        </p:nvSpPr>
        <p:spPr>
          <a:xfrm>
            <a:off x="4261104" y="153619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370832" y="1673351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70832" y="16733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160934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ETL 写侧加密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0" y="179222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aes_encrypt(col, secret(...))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默认 GCM 随机 IV，绝不能用 ECB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309360" y="2093976"/>
            <a:ext cx="0" cy="73152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45" name="Rounded Rectangle 44"/>
          <p:cNvSpPr/>
          <p:nvPr/>
        </p:nvSpPr>
        <p:spPr>
          <a:xfrm>
            <a:off x="4261104" y="217627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370832" y="2313432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3134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0" y="224942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定义掩码函数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54880" y="243230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is_account_group_member()</a:t>
            </a:r>
            <a:r>
              <a:rPr sz="590" b="0" i="0">
                <a:solidFill>
                  <a:srgbClr val="64748B"/>
                </a:solidFill>
                <a:latin typeface="Consolas"/>
                <a:ea typeface="Microsoft YaHei"/>
              </a:rPr>
              <a:t> ? try_aes_decrypt : ***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309360" y="2734056"/>
            <a:ext cx="0" cy="73152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51" name="Rounded Rectangle 50"/>
          <p:cNvSpPr/>
          <p:nvPr/>
        </p:nvSpPr>
        <p:spPr>
          <a:xfrm>
            <a:off x="4261104" y="281635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370832" y="2953512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70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54880" y="288950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挂载到列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4880" y="307238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ALTER TABLE … SET MASK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（必须打在基表，不支持视图）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61104" y="3474720"/>
            <a:ext cx="4114800" cy="365760"/>
          </a:xfrm>
          <a:prstGeom prst="roundRect">
            <a:avLst>
              <a:gd name="adj" fmla="val 15000"/>
            </a:avLst>
          </a:prstGeom>
          <a:solidFill>
            <a:srgbClr val="DCFCE7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52544" y="34747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同一条 SQL：授权者见明文 · 其他人见 *** · 直读 Parquet 只见密文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61104" y="3895344"/>
            <a:ext cx="4114800" cy="256032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70832" y="3895344"/>
            <a:ext cx="391363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F172A"/>
                </a:solidFill>
                <a:latin typeface="Segoe UI"/>
                <a:ea typeface="Microsoft YaHei"/>
              </a:rPr>
              <a:t>为何安全：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掩码函数以定义者权限取密钥，分析师自己写 aes_decrypt 也拿不到 key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261104" y="4224528"/>
            <a:ext cx="4114800" cy="731520"/>
          </a:xfrm>
          <a:prstGeom prst="roundRect">
            <a:avLst>
              <a:gd name="adj" fmla="val 7500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70832" y="4279392"/>
            <a:ext cx="3931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B45309"/>
                </a:solidFill>
                <a:latin typeface="Segoe UI"/>
                <a:ea typeface="Microsoft YaHei"/>
              </a:rPr>
              <a:t>三个必守约束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0832" y="4443984"/>
            <a:ext cx="3913632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2400E"/>
                </a:solidFill>
                <a:latin typeface="Segoe UI"/>
                <a:ea typeface="Microsoft YaHei"/>
              </a:rPr>
              <a:t>❶ 绝不能改成 ECB（暴露频率分布）　❷ 业务用户对 Secret Scope 必须无 READ 权限，否则防线归零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2400E"/>
                </a:solidFill>
                <a:latin typeface="Segoe UI"/>
                <a:ea typeface="Microsoft YaHei"/>
              </a:rPr>
              <a:t>❸ 掩码不支持视图须挂基表；卸载顺序：先 DROP MASK 再 DROP FUNCTION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522208" y="566928"/>
            <a:ext cx="34747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650224" y="566928"/>
            <a:ext cx="3218687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密钥体系 · 合规与销毁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522208" y="896112"/>
            <a:ext cx="347472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650224" y="987552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77656" y="9875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1E40AF"/>
                </a:solidFill>
                <a:latin typeface="Segoe UI"/>
                <a:ea typeface="Microsoft YaHei"/>
              </a:rPr>
              <a:t>Key Vault · CMK / KEK 主密钥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0259568" y="1307592"/>
            <a:ext cx="0" cy="109728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351008" y="1298448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0078D4"/>
                </a:solidFill>
                <a:latin typeface="Segoe UI"/>
                <a:ea typeface="Microsoft YaHei"/>
              </a:rPr>
              <a:t>包装 / 解包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650224" y="1426464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77656" y="142646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D28D9"/>
                </a:solidFill>
                <a:latin typeface="Segoe UI"/>
                <a:ea typeface="Microsoft YaHei"/>
              </a:rPr>
              <a:t>DEK 数据密钥（带 key_version）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0259568" y="1746504"/>
            <a:ext cx="0" cy="109727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10351008" y="1737360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7C3AED"/>
                </a:solidFill>
                <a:latin typeface="Segoe UI"/>
                <a:ea typeface="Microsoft YaHei"/>
              </a:rPr>
              <a:t>加密 / 解密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50224" y="1865376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677656" y="186537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47857"/>
                </a:solidFill>
                <a:latin typeface="Segoe UI"/>
                <a:ea typeface="Microsoft YaHei"/>
              </a:rPr>
              <a:t>Iceberg 密文 + UC 列掩码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13648" y="22311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078D4"/>
                </a:solidFill>
                <a:latin typeface="Segoe UI"/>
                <a:ea typeface="Microsoft YaHei"/>
              </a:rPr>
              <a:t>信封加密：轮转主密钥只重新包装 DEK，数据文件一个字节不动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522208" y="2560320"/>
            <a:ext cx="3474720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50224" y="262432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E11D48"/>
                </a:solidFill>
                <a:latin typeface="Segoe UI"/>
                <a:ea typeface="Microsoft YaHei"/>
              </a:rPr>
              <a:t>Crypto-Shredding · 被遗忘权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50224" y="2798064"/>
            <a:ext cx="3236976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按数据主体分配独立 DEK——「删除」= 销毁该 DEK，密文永久不可读，无需重写 PB 级文件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E11D48"/>
                </a:solidFill>
                <a:latin typeface="Segoe UI"/>
                <a:ea typeface="Microsoft YaHei"/>
              </a:rPr>
              <a:t>归档场景性价比最高的合规设计，建议第一版纳入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522208" y="3511296"/>
            <a:ext cx="3474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650224" y="3575304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合规映射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650224" y="3767328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677656" y="376732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47857"/>
                </a:solidFill>
                <a:latin typeface="Segoe UI"/>
                <a:ea typeface="Microsoft YaHei"/>
              </a:rPr>
              <a:t>等保 2.0 三级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10928" y="375818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存储 / 传输保密达标；策略在引擎内、审计落表，举证材料天然齐备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650224" y="4169664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77656" y="416966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B45309"/>
                </a:solidFill>
                <a:latin typeface="Segoe UI"/>
                <a:ea typeface="Microsoft YaHei"/>
              </a:rPr>
              <a:t>个保法第 51 条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710928" y="416052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SSE ≠ 去标识化——必须 L3 字段级加密 + L4 强制脱敏，只做 L1 不满足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650224" y="4572000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FFF1F2"/>
          </a:solidFill>
          <a:ln w="1270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677656" y="45720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E11D48"/>
                </a:solidFill>
                <a:latin typeface="Segoe UI"/>
                <a:ea typeface="Microsoft YaHei"/>
              </a:rPr>
              <a:t>GDPR 被遗忘权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710928" y="4562856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Crypto-Shredding：销毁主体 DEK 即永久不可读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01168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59669"/>
                </a:solidFill>
                <a:latin typeface="Segoe UI"/>
                <a:ea typeface="Microsoft YaHei"/>
              </a:rPr>
              <a:t>① 授权强制力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掩码 / 行过滤绑定引擎元数据，任何客户端绕不过；应用层脱敏绕过 API 即失效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178807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325112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59669"/>
                </a:solidFill>
                <a:latin typeface="Segoe UI"/>
                <a:ea typeface="Microsoft YaHei"/>
              </a:rPr>
              <a:t>② 轮转成本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25112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信封加密只重包装 KEK、零数据重写；应用层方案轮转需重刷数十 TB 存量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156447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302751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7C3AED"/>
                </a:solidFill>
                <a:latin typeface="Segoe UI"/>
                <a:ea typeface="Microsoft YaHei"/>
              </a:rPr>
              <a:t>③ 实施成本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02751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约 2~3 人天（应用层方案 8~12 人天）· 加密字段仍可检索 · 审计平台原生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01168" y="6108192"/>
            <a:ext cx="11795760" cy="475488"/>
          </a:xfrm>
          <a:prstGeom prst="roundRect">
            <a:avLst>
              <a:gd name="adj" fmla="val 13461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65760" y="6108192"/>
            <a:ext cx="1146657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6D28D9"/>
                </a:solidFill>
                <a:latin typeface="Segoe UI"/>
                <a:ea typeface="Microsoft YaHei"/>
              </a:rPr>
              <a:t>★ 若列级脱敏是硬需求：</a:t>
            </a:r>
            <a:r>
              <a:rPr sz="720" b="0" i="0">
                <a:solidFill>
                  <a:srgbClr val="4C1D95"/>
                </a:solidFill>
                <a:latin typeface="Segoe UI"/>
                <a:ea typeface="Microsoft YaHei"/>
              </a:rPr>
              <a:t>B（Trino 读）的 UC 列掩码完全不可用（Iceberg REST Catalog 不支持），B2 原生生效、任何路径强制遮蔽——这一条基本决定必须选 B2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元数据库 ER 图（上）· 平台 / 权限 / 数据源配置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18 表 · 每表仅关键字段 · 通用列已省略 · 源码：report/元数据库ER图.mmd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85216"/>
            <a:ext cx="42062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078D4"/>
                </a:solidFill>
                <a:latin typeface="Segoe UI"/>
                <a:ea typeface="Microsoft YaHei"/>
              </a:rPr>
              <a:t>① 权限与访问控制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3968496"/>
            <a:ext cx="42062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59669"/>
                </a:solidFill>
                <a:latin typeface="Segoe UI"/>
                <a:ea typeface="Microsoft YaHei"/>
              </a:rPr>
              <a:t>② 退役系统管理（核心）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2414016"/>
            <a:ext cx="42062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A580C"/>
                </a:solidFill>
                <a:latin typeface="Segoe UI"/>
                <a:ea typeface="Microsoft YaHei"/>
              </a:rPr>
              <a:t>③ 源数据 · ④ 目标存储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5596128"/>
            <a:ext cx="42062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75569"/>
                </a:solidFill>
                <a:latin typeface="Segoe UI"/>
                <a:ea typeface="Microsoft YaHei"/>
              </a:rPr>
              <a:t>⑩ 通知 · ⑪ 审计与监控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914400"/>
            <a:ext cx="1920240" cy="1280160"/>
          </a:xfrm>
          <a:prstGeom prst="roundRect">
            <a:avLst>
              <a:gd name="adj" fmla="val 2500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338328" y="1129284"/>
            <a:ext cx="179222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310896" y="950976"/>
            <a:ext cx="1847088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user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" y="1161288"/>
            <a:ext cx="1755648" cy="10149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username</a:t>
            </a:r>
            <a:r>
              <a:rPr sz="600" b="1" i="0">
                <a:solidFill>
                  <a:srgbClr val="1E8E5A"/>
                </a:solidFill>
                <a:latin typeface="Segoe UI"/>
                <a:ea typeface="Microsoft YaHei"/>
              </a:rPr>
              <a:t>  UK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password_hash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real_name·email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tinyint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status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datetime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last_login_at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3160" y="1188720"/>
            <a:ext cx="1691640" cy="676656"/>
          </a:xfrm>
          <a:prstGeom prst="roundRect">
            <a:avLst>
              <a:gd name="adj" fmla="val 4729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2487168" y="1403604"/>
            <a:ext cx="1563623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2459736" y="1225296"/>
            <a:ext cx="1618488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user_role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3744" y="1435608"/>
            <a:ext cx="152704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user_id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role_id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914400"/>
            <a:ext cx="1920240" cy="950976"/>
          </a:xfrm>
          <a:prstGeom prst="roundRect">
            <a:avLst>
              <a:gd name="adj" fmla="val 336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4407408" y="1129284"/>
            <a:ext cx="1792223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4379976" y="950976"/>
            <a:ext cx="1847088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984" y="1161288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role_code</a:t>
            </a:r>
            <a:r>
              <a:rPr sz="600" b="1" i="0">
                <a:solidFill>
                  <a:srgbClr val="1E8E5A"/>
                </a:solidFill>
                <a:latin typeface="Segoe UI"/>
                <a:ea typeface="Microsoft YaHei"/>
              </a:rPr>
              <a:t>  UK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role_name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tinyint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is_builtin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1188720"/>
            <a:ext cx="1783080" cy="676656"/>
          </a:xfrm>
          <a:prstGeom prst="roundRect">
            <a:avLst>
              <a:gd name="adj" fmla="val 4729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556248" y="1403604"/>
            <a:ext cx="1655063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23" name="TextBox 22"/>
          <p:cNvSpPr txBox="1"/>
          <p:nvPr/>
        </p:nvSpPr>
        <p:spPr>
          <a:xfrm>
            <a:off x="6528816" y="1225296"/>
            <a:ext cx="1709928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role_permission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2824" y="1435608"/>
            <a:ext cx="161848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role_id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permission_id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3920" y="914400"/>
            <a:ext cx="2011680" cy="950976"/>
          </a:xfrm>
          <a:prstGeom prst="roundRect">
            <a:avLst>
              <a:gd name="adj" fmla="val 336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567928" y="1129284"/>
            <a:ext cx="188366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8540496" y="950976"/>
            <a:ext cx="1938528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permission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04504" y="1161288"/>
            <a:ext cx="184708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permission_code</a:t>
            </a:r>
            <a:r>
              <a:rPr sz="600" b="1" i="0">
                <a:solidFill>
                  <a:srgbClr val="1E8E5A"/>
                </a:solidFill>
                <a:latin typeface="Segoe UI"/>
                <a:ea typeface="Microsoft YaHei"/>
              </a:rPr>
              <a:t>  UK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module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resource_type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" y="2651760"/>
            <a:ext cx="1920240" cy="950976"/>
          </a:xfrm>
          <a:prstGeom prst="roundRect">
            <a:avLst>
              <a:gd name="adj" fmla="val 336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338328" y="2866644"/>
            <a:ext cx="179222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31" name="TextBox 30"/>
          <p:cNvSpPr txBox="1"/>
          <p:nvPr/>
        </p:nvSpPr>
        <p:spPr>
          <a:xfrm>
            <a:off x="310896" y="2688336"/>
            <a:ext cx="1847088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4" y="2898648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page_code</a:t>
            </a:r>
            <a:r>
              <a:rPr sz="600" b="1" i="0">
                <a:solidFill>
                  <a:srgbClr val="1E8E5A"/>
                </a:solidFill>
                <a:latin typeface="Segoe UI"/>
                <a:ea typeface="Microsoft YaHei"/>
              </a:rPr>
              <a:t>  UK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path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tinyint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enabled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23160" y="2798064"/>
            <a:ext cx="1691640" cy="676656"/>
          </a:xfrm>
          <a:prstGeom prst="roundRect">
            <a:avLst>
              <a:gd name="adj" fmla="val 4729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2487168" y="3012948"/>
            <a:ext cx="1563623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35" name="TextBox 34"/>
          <p:cNvSpPr txBox="1"/>
          <p:nvPr/>
        </p:nvSpPr>
        <p:spPr>
          <a:xfrm>
            <a:off x="2459736" y="2834640"/>
            <a:ext cx="1618488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role_page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23744" y="3044952"/>
            <a:ext cx="152704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role_id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page_id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51760" y="4206240"/>
            <a:ext cx="2651760" cy="1280160"/>
          </a:xfrm>
          <a:prstGeom prst="roundRect">
            <a:avLst>
              <a:gd name="adj" fmla="val 2500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715768" y="4421124"/>
            <a:ext cx="252374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688336" y="4242816"/>
            <a:ext cx="2578608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decommission_system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52344" y="4453127"/>
            <a:ext cx="2487168" cy="10149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system_code</a:t>
            </a:r>
            <a:r>
              <a:rPr sz="600" b="1" i="0">
                <a:solidFill>
                  <a:srgbClr val="1E8E5A"/>
                </a:solidFill>
                <a:latin typeface="Segoe UI"/>
                <a:ea typeface="Microsoft YaHei"/>
              </a:rPr>
              <a:t>  UK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status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retention_years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date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sync_completed_date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date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destroy_after_date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926080" y="5760720"/>
            <a:ext cx="1645920" cy="676656"/>
          </a:xfrm>
          <a:prstGeom prst="roundRect">
            <a:avLst>
              <a:gd name="adj" fmla="val 4729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2990088" y="5975604"/>
            <a:ext cx="151790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43" name="TextBox 42"/>
          <p:cNvSpPr txBox="1"/>
          <p:nvPr/>
        </p:nvSpPr>
        <p:spPr>
          <a:xfrm>
            <a:off x="2962656" y="5797296"/>
            <a:ext cx="1572768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system_user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26664" y="6007608"/>
            <a:ext cx="148132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system_id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user_id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760720" y="2651760"/>
            <a:ext cx="1965960" cy="1115568"/>
          </a:xfrm>
          <a:prstGeom prst="roundRect">
            <a:avLst>
              <a:gd name="adj" fmla="val 2868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5824728" y="2866644"/>
            <a:ext cx="1837943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5797296" y="2688336"/>
            <a:ext cx="1892807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source_database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61304" y="2898648"/>
            <a:ext cx="1801368" cy="850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system_id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db_type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host:port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credential_ref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955279" y="2651760"/>
            <a:ext cx="1965960" cy="1115568"/>
          </a:xfrm>
          <a:prstGeom prst="roundRect">
            <a:avLst>
              <a:gd name="adj" fmla="val 2868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8019288" y="2866644"/>
            <a:ext cx="183794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7991855" y="2688336"/>
            <a:ext cx="1892807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source_table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55863" y="2898648"/>
            <a:ext cx="1801368" cy="850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source_database_id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table_name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primary_key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tinyint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is_attachment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720" y="4206240"/>
            <a:ext cx="1965960" cy="950976"/>
          </a:xfrm>
          <a:prstGeom prst="roundRect">
            <a:avLst>
              <a:gd name="adj" fmla="val 336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824728" y="4421124"/>
            <a:ext cx="1837943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5797296" y="4242816"/>
            <a:ext cx="1892807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unstructured_source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61304" y="4453127"/>
            <a:ext cx="180136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system_id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source_type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location_uri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955279" y="4206240"/>
            <a:ext cx="1965960" cy="950976"/>
          </a:xfrm>
          <a:prstGeom prst="roundRect">
            <a:avLst>
              <a:gd name="adj" fmla="val 336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8019288" y="4421124"/>
            <a:ext cx="183794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59" name="TextBox 58"/>
          <p:cNvSpPr txBox="1"/>
          <p:nvPr/>
        </p:nvSpPr>
        <p:spPr>
          <a:xfrm>
            <a:off x="7991855" y="4242816"/>
            <a:ext cx="1892807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unstructured_item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55863" y="4453127"/>
            <a:ext cx="180136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unstructured_source_id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original_path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hash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149840" y="2651760"/>
            <a:ext cx="1783080" cy="950976"/>
          </a:xfrm>
          <a:prstGeom prst="roundRect">
            <a:avLst>
              <a:gd name="adj" fmla="val 336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0213848" y="2866644"/>
            <a:ext cx="1655063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63" name="TextBox 62"/>
          <p:cNvSpPr txBox="1"/>
          <p:nvPr/>
        </p:nvSpPr>
        <p:spPr>
          <a:xfrm>
            <a:off x="10186415" y="2688336"/>
            <a:ext cx="1709928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schema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0424" y="2898648"/>
            <a:ext cx="161848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system_id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catalog_name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schema_name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149840" y="4206240"/>
            <a:ext cx="1783080" cy="950976"/>
          </a:xfrm>
          <a:prstGeom prst="roundRect">
            <a:avLst>
              <a:gd name="adj" fmla="val 336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0213848" y="4421124"/>
            <a:ext cx="1655063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67" name="TextBox 66"/>
          <p:cNvSpPr txBox="1"/>
          <p:nvPr/>
        </p:nvSpPr>
        <p:spPr>
          <a:xfrm>
            <a:off x="10186415" y="4242816"/>
            <a:ext cx="1709928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storage_config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50424" y="4453127"/>
            <a:ext cx="161848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system_id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storage_type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container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760720" y="5806440"/>
            <a:ext cx="1965960" cy="877824"/>
          </a:xfrm>
          <a:prstGeom prst="roundRect">
            <a:avLst>
              <a:gd name="adj" fmla="val 364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5824728" y="6021324"/>
            <a:ext cx="1837943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5797296" y="5843016"/>
            <a:ext cx="1892807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audit_log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61304" y="6053327"/>
            <a:ext cx="1801368" cy="6126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user_id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action·module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ip·status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955279" y="5806440"/>
            <a:ext cx="1965960" cy="731520"/>
          </a:xfrm>
          <a:prstGeom prst="roundRect">
            <a:avLst>
              <a:gd name="adj" fmla="val 437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8019288" y="6021324"/>
            <a:ext cx="183794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7991855" y="5843016"/>
            <a:ext cx="1892807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sync_activity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55863" y="6053327"/>
            <a:ext cx="1801368" cy="4663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date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activity_date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成功/失败/运行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149840" y="5806440"/>
            <a:ext cx="1783080" cy="731520"/>
          </a:xfrm>
          <a:prstGeom prst="roundRect">
            <a:avLst>
              <a:gd name="adj" fmla="val 437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0213848" y="6021324"/>
            <a:ext cx="1655063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10186415" y="5843016"/>
            <a:ext cx="1709928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notification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250424" y="6053327"/>
            <a:ext cx="1618488" cy="4663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recipient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channel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2194560" y="1298448"/>
            <a:ext cx="228600" cy="0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2258568" y="1252728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2313432" y="1252728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>
            <a:off x="2313432" y="1298448"/>
            <a:ext cx="109728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 flipV="1">
            <a:off x="2313432" y="1243584"/>
            <a:ext cx="109728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86" name="Oval 85"/>
          <p:cNvSpPr/>
          <p:nvPr/>
        </p:nvSpPr>
        <p:spPr>
          <a:xfrm>
            <a:off x="2223820" y="1272844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 flipH="1">
            <a:off x="4114800" y="1298448"/>
            <a:ext cx="228600" cy="0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88" name="Connector 87"/>
          <p:cNvCxnSpPr/>
          <p:nvPr/>
        </p:nvCxnSpPr>
        <p:spPr>
          <a:xfrm flipV="1">
            <a:off x="4279392" y="1252728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 flipV="1">
            <a:off x="4224528" y="1252728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 flipH="1" flipV="1">
            <a:off x="4114800" y="1243584"/>
            <a:ext cx="109728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 flipH="1">
            <a:off x="4114800" y="1298448"/>
            <a:ext cx="109728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92" name="Oval 91"/>
          <p:cNvSpPr/>
          <p:nvPr/>
        </p:nvSpPr>
        <p:spPr>
          <a:xfrm>
            <a:off x="4262932" y="1272844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6263640" y="1298448"/>
            <a:ext cx="228600" cy="0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94" name="Connector 93"/>
          <p:cNvCxnSpPr/>
          <p:nvPr/>
        </p:nvCxnSpPr>
        <p:spPr>
          <a:xfrm>
            <a:off x="6327648" y="1252728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95" name="Connector 94"/>
          <p:cNvCxnSpPr/>
          <p:nvPr/>
        </p:nvCxnSpPr>
        <p:spPr>
          <a:xfrm>
            <a:off x="6382512" y="1252728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96" name="Connector 95"/>
          <p:cNvCxnSpPr/>
          <p:nvPr/>
        </p:nvCxnSpPr>
        <p:spPr>
          <a:xfrm>
            <a:off x="6382512" y="1298448"/>
            <a:ext cx="109728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97" name="Connector 96"/>
          <p:cNvCxnSpPr/>
          <p:nvPr/>
        </p:nvCxnSpPr>
        <p:spPr>
          <a:xfrm flipV="1">
            <a:off x="6382512" y="1243584"/>
            <a:ext cx="109728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98" name="Oval 97"/>
          <p:cNvSpPr/>
          <p:nvPr/>
        </p:nvSpPr>
        <p:spPr>
          <a:xfrm>
            <a:off x="6292900" y="1272844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 flipH="1">
            <a:off x="8275320" y="1298448"/>
            <a:ext cx="228600" cy="0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00" name="Connector 99"/>
          <p:cNvCxnSpPr/>
          <p:nvPr/>
        </p:nvCxnSpPr>
        <p:spPr>
          <a:xfrm flipV="1">
            <a:off x="8439912" y="1252728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01" name="Connector 100"/>
          <p:cNvCxnSpPr/>
          <p:nvPr/>
        </p:nvCxnSpPr>
        <p:spPr>
          <a:xfrm flipV="1">
            <a:off x="8385048" y="1252728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02" name="Connector 101"/>
          <p:cNvCxnSpPr/>
          <p:nvPr/>
        </p:nvCxnSpPr>
        <p:spPr>
          <a:xfrm flipH="1" flipV="1">
            <a:off x="8275320" y="1243584"/>
            <a:ext cx="109728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03" name="Connector 102"/>
          <p:cNvCxnSpPr/>
          <p:nvPr/>
        </p:nvCxnSpPr>
        <p:spPr>
          <a:xfrm flipH="1">
            <a:off x="8275320" y="1298448"/>
            <a:ext cx="109728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04" name="Oval 103"/>
          <p:cNvSpPr/>
          <p:nvPr/>
        </p:nvSpPr>
        <p:spPr>
          <a:xfrm>
            <a:off x="8423452" y="1272844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2194560" y="3136392"/>
            <a:ext cx="228600" cy="0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06" name="Connector 105"/>
          <p:cNvCxnSpPr/>
          <p:nvPr/>
        </p:nvCxnSpPr>
        <p:spPr>
          <a:xfrm>
            <a:off x="2258568" y="3090672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07" name="Connector 106"/>
          <p:cNvCxnSpPr/>
          <p:nvPr/>
        </p:nvCxnSpPr>
        <p:spPr>
          <a:xfrm>
            <a:off x="2313432" y="3090672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08" name="Connector 107"/>
          <p:cNvCxnSpPr/>
          <p:nvPr/>
        </p:nvCxnSpPr>
        <p:spPr>
          <a:xfrm>
            <a:off x="2313432" y="3136392"/>
            <a:ext cx="109728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09" name="Connector 108"/>
          <p:cNvCxnSpPr/>
          <p:nvPr/>
        </p:nvCxnSpPr>
        <p:spPr>
          <a:xfrm flipV="1">
            <a:off x="2313432" y="3081528"/>
            <a:ext cx="109728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10" name="Oval 109"/>
          <p:cNvSpPr/>
          <p:nvPr/>
        </p:nvSpPr>
        <p:spPr>
          <a:xfrm>
            <a:off x="2223820" y="3110788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4754880" y="1865376"/>
            <a:ext cx="0" cy="530352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12" name="Connector 111"/>
          <p:cNvCxnSpPr/>
          <p:nvPr/>
        </p:nvCxnSpPr>
        <p:spPr>
          <a:xfrm flipH="1">
            <a:off x="3264408" y="2395728"/>
            <a:ext cx="1490472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>
            <a:off x="3264408" y="2395728"/>
            <a:ext cx="0" cy="402336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14" name="Connector 113"/>
          <p:cNvCxnSpPr/>
          <p:nvPr/>
        </p:nvCxnSpPr>
        <p:spPr>
          <a:xfrm flipH="1">
            <a:off x="4709160" y="1929384"/>
            <a:ext cx="9144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 flipH="1">
            <a:off x="4709160" y="1984248"/>
            <a:ext cx="9144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 flipH="1">
            <a:off x="3209544" y="2688336"/>
            <a:ext cx="54864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>
            <a:off x="3264408" y="2688336"/>
            <a:ext cx="54864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18" name="Oval 117"/>
          <p:cNvSpPr/>
          <p:nvPr/>
        </p:nvSpPr>
        <p:spPr>
          <a:xfrm>
            <a:off x="3238804" y="2598724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9" name="Connector 118"/>
          <p:cNvCxnSpPr/>
          <p:nvPr/>
        </p:nvCxnSpPr>
        <p:spPr>
          <a:xfrm>
            <a:off x="2194560" y="1691640"/>
            <a:ext cx="13716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>
            <a:off x="2331720" y="1691640"/>
            <a:ext cx="0" cy="440740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>
            <a:off x="2331720" y="6099048"/>
            <a:ext cx="594360" cy="0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22" name="Connector 121"/>
          <p:cNvCxnSpPr/>
          <p:nvPr/>
        </p:nvCxnSpPr>
        <p:spPr>
          <a:xfrm>
            <a:off x="2258568" y="1645920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>
            <a:off x="2313432" y="1645920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>
            <a:off x="2816352" y="6099048"/>
            <a:ext cx="109728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 flipV="1">
            <a:off x="2816352" y="6044184"/>
            <a:ext cx="109728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26" name="Oval 125"/>
          <p:cNvSpPr/>
          <p:nvPr/>
        </p:nvSpPr>
        <p:spPr>
          <a:xfrm>
            <a:off x="2726740" y="6073444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3977639" y="5486400"/>
            <a:ext cx="0" cy="274320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28" name="Connector 127"/>
          <p:cNvCxnSpPr/>
          <p:nvPr/>
        </p:nvCxnSpPr>
        <p:spPr>
          <a:xfrm flipH="1">
            <a:off x="3931920" y="5550408"/>
            <a:ext cx="91439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 flipH="1">
            <a:off x="3931920" y="5605272"/>
            <a:ext cx="91439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H="1">
            <a:off x="3922776" y="5650992"/>
            <a:ext cx="54863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3977639" y="5650992"/>
            <a:ext cx="54864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32" name="Oval 131"/>
          <p:cNvSpPr/>
          <p:nvPr/>
        </p:nvSpPr>
        <p:spPr>
          <a:xfrm>
            <a:off x="3952036" y="5561380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5303520" y="4480560"/>
            <a:ext cx="22860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5532120" y="3246120"/>
            <a:ext cx="0" cy="1234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5532120" y="3246120"/>
            <a:ext cx="228600" cy="0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36" name="Connector 135"/>
          <p:cNvCxnSpPr/>
          <p:nvPr/>
        </p:nvCxnSpPr>
        <p:spPr>
          <a:xfrm>
            <a:off x="5367528" y="4434840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>
            <a:off x="5422392" y="4434840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>
            <a:off x="5650992" y="3246120"/>
            <a:ext cx="109728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 flipV="1">
            <a:off x="5650992" y="3191256"/>
            <a:ext cx="109728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40" name="Oval 139"/>
          <p:cNvSpPr/>
          <p:nvPr/>
        </p:nvSpPr>
        <p:spPr>
          <a:xfrm>
            <a:off x="5561380" y="3220516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1" name="Connector 140"/>
          <p:cNvCxnSpPr/>
          <p:nvPr/>
        </p:nvCxnSpPr>
        <p:spPr>
          <a:xfrm>
            <a:off x="5303520" y="4846320"/>
            <a:ext cx="457200" cy="0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42" name="Connector 141"/>
          <p:cNvCxnSpPr/>
          <p:nvPr/>
        </p:nvCxnSpPr>
        <p:spPr>
          <a:xfrm>
            <a:off x="5367528" y="4800600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5422392" y="4800600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>
            <a:off x="5650992" y="4846320"/>
            <a:ext cx="109728" cy="54863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 flipV="1">
            <a:off x="5650992" y="4791456"/>
            <a:ext cx="109728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46" name="Oval 145"/>
          <p:cNvSpPr/>
          <p:nvPr/>
        </p:nvSpPr>
        <p:spPr>
          <a:xfrm>
            <a:off x="5561380" y="4820716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7" name="Connector 146"/>
          <p:cNvCxnSpPr/>
          <p:nvPr/>
        </p:nvCxnSpPr>
        <p:spPr>
          <a:xfrm>
            <a:off x="5303520" y="4343400"/>
            <a:ext cx="22860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5532120" y="2331720"/>
            <a:ext cx="0" cy="201168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5532120" y="2331720"/>
            <a:ext cx="548640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>
            <a:off x="11018520" y="2331720"/>
            <a:ext cx="0" cy="320040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5367528" y="4297680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>
            <a:off x="5422392" y="4297680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 flipH="1">
            <a:off x="10963656" y="2542032"/>
            <a:ext cx="54864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>
            <a:off x="11018520" y="2542032"/>
            <a:ext cx="54864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55" name="Oval 154"/>
          <p:cNvSpPr/>
          <p:nvPr/>
        </p:nvSpPr>
        <p:spPr>
          <a:xfrm>
            <a:off x="10992916" y="2452420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6" name="Connector 155"/>
          <p:cNvCxnSpPr/>
          <p:nvPr/>
        </p:nvCxnSpPr>
        <p:spPr>
          <a:xfrm>
            <a:off x="5303520" y="5120640"/>
            <a:ext cx="13716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 flipV="1">
            <a:off x="5440680" y="3986784"/>
            <a:ext cx="0" cy="1133856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>
            <a:off x="5440680" y="3986784"/>
            <a:ext cx="4599432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>
            <a:off x="10040112" y="3986784"/>
            <a:ext cx="0" cy="5486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>
            <a:off x="10040112" y="4535424"/>
            <a:ext cx="109728" cy="0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5367528" y="5074920"/>
            <a:ext cx="0" cy="91439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>
            <a:off x="5422392" y="5074920"/>
            <a:ext cx="0" cy="91439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10040112" y="4535424"/>
            <a:ext cx="109728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10040112" y="4480560"/>
            <a:ext cx="109728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65" name="Oval 164"/>
          <p:cNvSpPr/>
          <p:nvPr/>
        </p:nvSpPr>
        <p:spPr>
          <a:xfrm>
            <a:off x="9950500" y="4509820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6" name="Connector 165"/>
          <p:cNvCxnSpPr/>
          <p:nvPr/>
        </p:nvCxnSpPr>
        <p:spPr>
          <a:xfrm>
            <a:off x="7726679" y="3154680"/>
            <a:ext cx="228600" cy="0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67" name="Connector 166"/>
          <p:cNvCxnSpPr/>
          <p:nvPr/>
        </p:nvCxnSpPr>
        <p:spPr>
          <a:xfrm>
            <a:off x="7790688" y="3108960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>
            <a:off x="7845552" y="3108960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7845552" y="3154680"/>
            <a:ext cx="109727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V="1">
            <a:off x="7845552" y="3099816"/>
            <a:ext cx="109727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71" name="Oval 170"/>
          <p:cNvSpPr/>
          <p:nvPr/>
        </p:nvSpPr>
        <p:spPr>
          <a:xfrm>
            <a:off x="7755940" y="3129076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2" name="Connector 171"/>
          <p:cNvCxnSpPr/>
          <p:nvPr/>
        </p:nvCxnSpPr>
        <p:spPr>
          <a:xfrm>
            <a:off x="7726679" y="4681728"/>
            <a:ext cx="228600" cy="0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7790688" y="4636008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>
            <a:off x="7845552" y="4636008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7845552" y="4681728"/>
            <a:ext cx="109727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7845552" y="4626864"/>
            <a:ext cx="109727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77" name="Oval 176"/>
          <p:cNvSpPr/>
          <p:nvPr/>
        </p:nvSpPr>
        <p:spPr>
          <a:xfrm>
            <a:off x="7755940" y="4656124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8" name="Connector 177"/>
          <p:cNvCxnSpPr/>
          <p:nvPr/>
        </p:nvCxnSpPr>
        <p:spPr>
          <a:xfrm flipH="1">
            <a:off x="5623560" y="6263640"/>
            <a:ext cx="137160" cy="0"/>
          </a:xfrm>
          <a:prstGeom prst="line">
            <a:avLst/>
          </a:prstGeom>
          <a:ln w="14604">
            <a:solidFill>
              <a:srgbClr val="8785A8"/>
            </a:solidFill>
            <a:prstDash val="dash"/>
          </a:ln>
          <a:effectLst/>
        </p:spPr>
      </p:cxnSp>
      <p:cxnSp>
        <p:nvCxnSpPr>
          <p:cNvPr id="179" name="Connector 178"/>
          <p:cNvCxnSpPr/>
          <p:nvPr/>
        </p:nvCxnSpPr>
        <p:spPr>
          <a:xfrm>
            <a:off x="5623560" y="6263640"/>
            <a:ext cx="0" cy="338328"/>
          </a:xfrm>
          <a:prstGeom prst="line">
            <a:avLst/>
          </a:prstGeom>
          <a:ln w="14604">
            <a:solidFill>
              <a:srgbClr val="8785A8"/>
            </a:solidFill>
            <a:prstDash val="dash"/>
          </a:ln>
          <a:effectLst/>
        </p:spPr>
      </p:cxnSp>
      <p:cxnSp>
        <p:nvCxnSpPr>
          <p:cNvPr id="180" name="Connector 179"/>
          <p:cNvCxnSpPr/>
          <p:nvPr/>
        </p:nvCxnSpPr>
        <p:spPr>
          <a:xfrm flipH="1">
            <a:off x="164592" y="6601968"/>
            <a:ext cx="5458968" cy="0"/>
          </a:xfrm>
          <a:prstGeom prst="line">
            <a:avLst/>
          </a:prstGeom>
          <a:ln w="14604">
            <a:solidFill>
              <a:srgbClr val="8785A8"/>
            </a:solidFill>
            <a:prstDash val="dash"/>
          </a:ln>
          <a:effectLst/>
        </p:spPr>
      </p:cxnSp>
      <p:cxnSp>
        <p:nvCxnSpPr>
          <p:cNvPr id="181" name="Connector 180"/>
          <p:cNvCxnSpPr/>
          <p:nvPr/>
        </p:nvCxnSpPr>
        <p:spPr>
          <a:xfrm flipV="1">
            <a:off x="164592" y="1691640"/>
            <a:ext cx="0" cy="4910328"/>
          </a:xfrm>
          <a:prstGeom prst="line">
            <a:avLst/>
          </a:prstGeom>
          <a:ln w="14604">
            <a:solidFill>
              <a:srgbClr val="8785A8"/>
            </a:solidFill>
            <a:prstDash val="dash"/>
          </a:ln>
          <a:effectLst/>
        </p:spPr>
      </p:cxnSp>
      <p:cxnSp>
        <p:nvCxnSpPr>
          <p:cNvPr id="182" name="Connector 181"/>
          <p:cNvCxnSpPr/>
          <p:nvPr/>
        </p:nvCxnSpPr>
        <p:spPr>
          <a:xfrm>
            <a:off x="164592" y="1691640"/>
            <a:ext cx="109728" cy="0"/>
          </a:xfrm>
          <a:prstGeom prst="line">
            <a:avLst/>
          </a:prstGeom>
          <a:ln w="14604">
            <a:solidFill>
              <a:srgbClr val="8785A8"/>
            </a:solidFill>
            <a:prstDash val="dash"/>
            <a:tailEnd type="triangle" w="med" len="med"/>
          </a:ln>
          <a:effectLst/>
        </p:spPr>
      </p:cxnSp>
      <p:cxnSp>
        <p:nvCxnSpPr>
          <p:cNvPr id="183" name="Connector 182"/>
          <p:cNvCxnSpPr/>
          <p:nvPr/>
        </p:nvCxnSpPr>
        <p:spPr>
          <a:xfrm flipV="1">
            <a:off x="5696712" y="6217920"/>
            <a:ext cx="0" cy="91439"/>
          </a:xfrm>
          <a:prstGeom prst="line">
            <a:avLst/>
          </a:prstGeom>
          <a:ln w="14604">
            <a:solidFill>
              <a:srgbClr val="8785A8"/>
            </a:solidFill>
            <a:prstDash val="dash"/>
          </a:ln>
          <a:effectLst/>
        </p:spPr>
      </p:cxnSp>
      <p:cxnSp>
        <p:nvCxnSpPr>
          <p:cNvPr id="184" name="Connector 183"/>
          <p:cNvCxnSpPr/>
          <p:nvPr/>
        </p:nvCxnSpPr>
        <p:spPr>
          <a:xfrm flipV="1">
            <a:off x="5641848" y="6217920"/>
            <a:ext cx="0" cy="91439"/>
          </a:xfrm>
          <a:prstGeom prst="line">
            <a:avLst/>
          </a:prstGeom>
          <a:ln w="14604">
            <a:solidFill>
              <a:srgbClr val="8785A8"/>
            </a:solidFill>
            <a:prstDash val="dash"/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164592" y="1691640"/>
            <a:ext cx="109728" cy="54864"/>
          </a:xfrm>
          <a:prstGeom prst="line">
            <a:avLst/>
          </a:prstGeom>
          <a:ln w="14604">
            <a:solidFill>
              <a:srgbClr val="8785A8"/>
            </a:solidFill>
            <a:prstDash val="dash"/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164592" y="1636776"/>
            <a:ext cx="109728" cy="54864"/>
          </a:xfrm>
          <a:prstGeom prst="line">
            <a:avLst/>
          </a:prstGeom>
          <a:ln w="14604">
            <a:solidFill>
              <a:srgbClr val="8785A8"/>
            </a:solidFill>
            <a:prstDash val="dash"/>
          </a:ln>
          <a:effectLst/>
        </p:spPr>
      </p:cxnSp>
      <p:sp>
        <p:nvSpPr>
          <p:cNvPr id="187" name="Oval 186"/>
          <p:cNvSpPr/>
          <p:nvPr/>
        </p:nvSpPr>
        <p:spPr>
          <a:xfrm>
            <a:off x="74980" y="1666036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331720" y="6446520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64748B"/>
                </a:solidFill>
                <a:latin typeface="Segoe UI"/>
                <a:ea typeface="Microsoft YaHei"/>
              </a:rPr>
              <a:t>弱关联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4343400" y="3017520"/>
            <a:ext cx="107899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B6AEE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370832" y="3017520"/>
            <a:ext cx="1024127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64748B"/>
                </a:solidFill>
                <a:latin typeface="Segoe UI"/>
                <a:ea typeface="Microsoft YaHei"/>
              </a:rPr>
              <a:t>sync_job / query_config
子域见下页 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元数据库 ER 图（下）· 同步归档 / 动态查询 / 保留销毁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17 表 + 1 跨页引用（虚线框）· 每表仅关键字段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85216"/>
            <a:ext cx="42062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D28D9"/>
                </a:solidFill>
                <a:latin typeface="Segoe UI"/>
                <a:ea typeface="Microsoft YaHei"/>
              </a:rPr>
              <a:t>⑤ 同步与归档（含 ⑥ 附件索引）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922776"/>
            <a:ext cx="42062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⑦ 动态查询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6920" y="585216"/>
            <a:ext cx="42062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E11D48"/>
                </a:solidFill>
                <a:latin typeface="Segoe UI"/>
                <a:ea typeface="Microsoft YaHei"/>
              </a:rPr>
              <a:t>⑧ 生命周期 · ⑨ 销毁审批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841248"/>
            <a:ext cx="2103120" cy="877824"/>
          </a:xfrm>
          <a:prstGeom prst="roundRect">
            <a:avLst>
              <a:gd name="adj" fmla="val 3645"/>
            </a:avLst>
          </a:prstGeom>
          <a:solidFill>
            <a:srgbClr val="FBFAFE"/>
          </a:solidFill>
          <a:ln w="13970">
            <a:solidFill>
              <a:srgbClr val="9370D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338328" y="1056132"/>
            <a:ext cx="197510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10" name="TextBox 9"/>
          <p:cNvSpPr txBox="1"/>
          <p:nvPr/>
        </p:nvSpPr>
        <p:spPr>
          <a:xfrm>
            <a:off x="310896" y="877824"/>
            <a:ext cx="2029967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4748B"/>
                </a:solidFill>
                <a:latin typeface="Segoe UI"/>
                <a:ea typeface="Microsoft YaHei"/>
              </a:rPr>
              <a:t>decommission_system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" y="1088136"/>
            <a:ext cx="1938527" cy="6126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system_code</a:t>
            </a:r>
            <a:r>
              <a:rPr sz="600" b="1" i="0">
                <a:solidFill>
                  <a:srgbClr val="1E8E5A"/>
                </a:solidFill>
                <a:latin typeface="Segoe UI"/>
                <a:ea typeface="Microsoft YaHei"/>
              </a:rPr>
              <a:t>  UK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841248"/>
            <a:ext cx="2194560" cy="1280160"/>
          </a:xfrm>
          <a:prstGeom prst="roundRect">
            <a:avLst>
              <a:gd name="adj" fmla="val 2500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081527" y="1056132"/>
            <a:ext cx="206654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3054096" y="877824"/>
            <a:ext cx="2121408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sync_job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3" y="1088136"/>
            <a:ext cx="2029967" cy="10149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system_id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assignment_id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job_type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status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77840" y="841248"/>
            <a:ext cx="1874519" cy="950976"/>
          </a:xfrm>
          <a:prstGeom prst="roundRect">
            <a:avLst>
              <a:gd name="adj" fmla="val 336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641848" y="1056132"/>
            <a:ext cx="1746503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5614416" y="877824"/>
            <a:ext cx="1801367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sync_job_config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1088136"/>
            <a:ext cx="170992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system_id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cron_expr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tinyint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enabled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46920" y="841248"/>
            <a:ext cx="1920240" cy="950976"/>
          </a:xfrm>
          <a:prstGeom prst="roundRect">
            <a:avLst>
              <a:gd name="adj" fmla="val 336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9710928" y="1056132"/>
            <a:ext cx="179222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9683496" y="877824"/>
            <a:ext cx="1847088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retention_policy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47504" y="1088136"/>
            <a:ext cx="175564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policy_code</a:t>
            </a:r>
            <a:r>
              <a:rPr sz="600" b="1" i="0">
                <a:solidFill>
                  <a:srgbClr val="1E8E5A"/>
                </a:solidFill>
                <a:latin typeface="Segoe UI"/>
                <a:ea typeface="Microsoft YaHei"/>
              </a:rPr>
              <a:t>  UK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policy_name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period_days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2514600"/>
            <a:ext cx="1965960" cy="950976"/>
          </a:xfrm>
          <a:prstGeom prst="roundRect">
            <a:avLst>
              <a:gd name="adj" fmla="val 336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38328" y="2729484"/>
            <a:ext cx="183794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26" name="TextBox 25"/>
          <p:cNvSpPr txBox="1"/>
          <p:nvPr/>
        </p:nvSpPr>
        <p:spPr>
          <a:xfrm>
            <a:off x="310896" y="2551176"/>
            <a:ext cx="1892807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sync_table_config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4" y="2761488"/>
            <a:ext cx="180136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source_table_id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tinyint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enabled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retain_years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14600" y="2514600"/>
            <a:ext cx="1965960" cy="950976"/>
          </a:xfrm>
          <a:prstGeom prst="roundRect">
            <a:avLst>
              <a:gd name="adj" fmla="val 336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2578608" y="2729484"/>
            <a:ext cx="183794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30" name="TextBox 29"/>
          <p:cNvSpPr txBox="1"/>
          <p:nvPr/>
        </p:nvSpPr>
        <p:spPr>
          <a:xfrm>
            <a:off x="2551176" y="2551176"/>
            <a:ext cx="1892807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sync_table_stat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15184" y="2761488"/>
            <a:ext cx="180136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sync_job_id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source_table_id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row_count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0" y="2514600"/>
            <a:ext cx="1965960" cy="950976"/>
          </a:xfrm>
          <a:prstGeom prst="roundRect">
            <a:avLst>
              <a:gd name="adj" fmla="val 336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4818888" y="2729484"/>
            <a:ext cx="1837943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34" name="TextBox 33"/>
          <p:cNvSpPr txBox="1"/>
          <p:nvPr/>
        </p:nvSpPr>
        <p:spPr>
          <a:xfrm>
            <a:off x="4791456" y="2551176"/>
            <a:ext cx="1892807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archive_batch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55464" y="2761488"/>
            <a:ext cx="180136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sync_job_id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batch_year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rows_out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95160" y="2514600"/>
            <a:ext cx="2103120" cy="1115568"/>
          </a:xfrm>
          <a:prstGeom prst="roundRect">
            <a:avLst>
              <a:gd name="adj" fmla="val 2868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7059168" y="2729484"/>
            <a:ext cx="197510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38" name="TextBox 37"/>
          <p:cNvSpPr txBox="1"/>
          <p:nvPr/>
        </p:nvSpPr>
        <p:spPr>
          <a:xfrm>
            <a:off x="7031736" y="2551176"/>
            <a:ext cx="2029967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attachment_index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95744" y="2761488"/>
            <a:ext cx="1938527" cy="850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system_id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table·business_key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object_key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sha256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46920" y="2514600"/>
            <a:ext cx="1920240" cy="1115568"/>
          </a:xfrm>
          <a:prstGeom prst="roundRect">
            <a:avLst>
              <a:gd name="adj" fmla="val 2868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9710928" y="2729484"/>
            <a:ext cx="179222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9683496" y="2551176"/>
            <a:ext cx="1847088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retention_assignment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47504" y="2761488"/>
            <a:ext cx="1755648" cy="850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policy_id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object_type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date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start·due_date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status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74320" y="4160520"/>
            <a:ext cx="2194560" cy="1115568"/>
          </a:xfrm>
          <a:prstGeom prst="roundRect">
            <a:avLst>
              <a:gd name="adj" fmla="val 2868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338328" y="4375404"/>
            <a:ext cx="206654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310896" y="4197096"/>
            <a:ext cx="2121408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query_config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4904" y="4407408"/>
            <a:ext cx="2029967" cy="850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system_id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base_table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status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017520" y="4160520"/>
            <a:ext cx="1965960" cy="950976"/>
          </a:xfrm>
          <a:prstGeom prst="roundRect">
            <a:avLst>
              <a:gd name="adj" fmla="val 336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3081527" y="4375404"/>
            <a:ext cx="183794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3054096" y="4197096"/>
            <a:ext cx="1892807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archive_file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18103" y="4407408"/>
            <a:ext cx="180136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archive_batch_id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blob_url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checksum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257800" y="4160520"/>
            <a:ext cx="1965960" cy="950976"/>
          </a:xfrm>
          <a:prstGeom prst="roundRect">
            <a:avLst>
              <a:gd name="adj" fmla="val 336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5321808" y="4375404"/>
            <a:ext cx="183794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54" name="TextBox 53"/>
          <p:cNvSpPr txBox="1"/>
          <p:nvPr/>
        </p:nvSpPr>
        <p:spPr>
          <a:xfrm>
            <a:off x="5294376" y="4197096"/>
            <a:ext cx="1892807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archive_set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58384" y="4407408"/>
            <a:ext cx="180136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archive_batch_id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set_name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items·bytes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498079" y="4160520"/>
            <a:ext cx="2103120" cy="950976"/>
          </a:xfrm>
          <a:prstGeom prst="roundRect">
            <a:avLst>
              <a:gd name="adj" fmla="val 336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7562088" y="4375404"/>
            <a:ext cx="197510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58" name="TextBox 57"/>
          <p:cNvSpPr txBox="1"/>
          <p:nvPr/>
        </p:nvSpPr>
        <p:spPr>
          <a:xfrm>
            <a:off x="7534655" y="4197096"/>
            <a:ext cx="2029967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archive_set_item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98663" y="4407408"/>
            <a:ext cx="1938527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archive_set_id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original_name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blob_url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75520" y="4160520"/>
            <a:ext cx="1691640" cy="950976"/>
          </a:xfrm>
          <a:prstGeom prst="roundRect">
            <a:avLst>
              <a:gd name="adj" fmla="val 336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9939528" y="4375404"/>
            <a:ext cx="156362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62" name="TextBox 61"/>
          <p:cNvSpPr txBox="1"/>
          <p:nvPr/>
        </p:nvSpPr>
        <p:spPr>
          <a:xfrm>
            <a:off x="9912096" y="4197096"/>
            <a:ext cx="1618488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legal_hold_event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76104" y="4407408"/>
            <a:ext cx="1527048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assignment_id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reason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74320" y="5760720"/>
            <a:ext cx="1965960" cy="877824"/>
          </a:xfrm>
          <a:prstGeom prst="roundRect">
            <a:avLst>
              <a:gd name="adj" fmla="val 364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338328" y="5975604"/>
            <a:ext cx="183794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66" name="TextBox 65"/>
          <p:cNvSpPr txBox="1"/>
          <p:nvPr/>
        </p:nvSpPr>
        <p:spPr>
          <a:xfrm>
            <a:off x="310896" y="5797296"/>
            <a:ext cx="1892807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query_field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74904" y="6007608"/>
            <a:ext cx="1801368" cy="6126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query_config_id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column_name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tinyint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is_pii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14600" y="5760720"/>
            <a:ext cx="1965960" cy="877824"/>
          </a:xfrm>
          <a:prstGeom prst="roundRect">
            <a:avLst>
              <a:gd name="adj" fmla="val 364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2578608" y="5975604"/>
            <a:ext cx="183794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70" name="TextBox 69"/>
          <p:cNvSpPr txBox="1"/>
          <p:nvPr/>
        </p:nvSpPr>
        <p:spPr>
          <a:xfrm>
            <a:off x="2551176" y="5797296"/>
            <a:ext cx="1892807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query_join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15184" y="6007608"/>
            <a:ext cx="1801368" cy="6126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query_config_id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join_type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left→right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754880" y="5760720"/>
            <a:ext cx="1965960" cy="877824"/>
          </a:xfrm>
          <a:prstGeom prst="roundRect">
            <a:avLst>
              <a:gd name="adj" fmla="val 364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4818888" y="5975604"/>
            <a:ext cx="1837943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4791456" y="5797296"/>
            <a:ext cx="1892807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drill_config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55464" y="6007608"/>
            <a:ext cx="1801368" cy="6126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query_config_id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schema_id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parent→child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646920" y="5760720"/>
            <a:ext cx="1920240" cy="877824"/>
          </a:xfrm>
          <a:prstGeom prst="roundRect">
            <a:avLst>
              <a:gd name="adj" fmla="val 3645"/>
            </a:avLst>
          </a:prstGeom>
          <a:solidFill>
            <a:srgbClr val="ECECFF"/>
          </a:solidFill>
          <a:ln w="13970">
            <a:solidFill>
              <a:srgbClr val="9370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9710928" y="5975604"/>
            <a:ext cx="1792224" cy="0"/>
          </a:xfrm>
          <a:prstGeom prst="line">
            <a:avLst/>
          </a:prstGeom>
          <a:ln w="9525">
            <a:solidFill>
              <a:srgbClr val="C5BEEF"/>
            </a:solidFill>
          </a:ln>
          <a:effectLst/>
        </p:spPr>
      </p:cxnSp>
      <p:sp>
        <p:nvSpPr>
          <p:cNvPr id="78" name="TextBox 77"/>
          <p:cNvSpPr txBox="1"/>
          <p:nvPr/>
        </p:nvSpPr>
        <p:spPr>
          <a:xfrm>
            <a:off x="9683496" y="5797296"/>
            <a:ext cx="1847088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D3A6B"/>
                </a:solidFill>
                <a:latin typeface="Segoe UI"/>
                <a:ea typeface="Microsoft YaHei"/>
              </a:rPr>
              <a:t>destroy_approval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747504" y="6007608"/>
            <a:ext cx="1755648" cy="6126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id</a:t>
            </a:r>
            <a:r>
              <a:rPr sz="600" b="1" i="0">
                <a:solidFill>
                  <a:srgbClr val="C0392B"/>
                </a:solidFill>
                <a:latin typeface="Segoe UI"/>
                <a:ea typeface="Microsoft YaHei"/>
              </a:rPr>
              <a:t>  PK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sync_job_id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bigint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approver_id</a:t>
            </a:r>
            <a:r>
              <a:rPr sz="600" b="1" i="0">
                <a:solidFill>
                  <a:srgbClr val="6C3FC5"/>
                </a:solidFill>
                <a:latin typeface="Segoe UI"/>
                <a:ea typeface="Microsoft YaHei"/>
              </a:rPr>
              <a:t>  FK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E6A94"/>
                </a:solidFill>
                <a:latin typeface="Segoe UI"/>
                <a:ea typeface="Microsoft YaHei"/>
              </a:rPr>
              <a:t>varchar </a:t>
            </a:r>
            <a:r>
              <a:rPr sz="640" b="0" i="0">
                <a:solidFill>
                  <a:srgbClr val="2F2C54"/>
                </a:solidFill>
                <a:latin typeface="Segoe UI"/>
                <a:ea typeface="Microsoft YaHei"/>
              </a:rPr>
              <a:t>decision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2377440" y="1280160"/>
            <a:ext cx="640080" cy="0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81" name="Connector 80"/>
          <p:cNvCxnSpPr/>
          <p:nvPr/>
        </p:nvCxnSpPr>
        <p:spPr>
          <a:xfrm>
            <a:off x="2441448" y="1234439"/>
            <a:ext cx="0" cy="91441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2496312" y="1234439"/>
            <a:ext cx="0" cy="91441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2907791" y="1280160"/>
            <a:ext cx="109729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2907791" y="1225295"/>
            <a:ext cx="109729" cy="54865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85" name="Oval 84"/>
          <p:cNvSpPr/>
          <p:nvPr/>
        </p:nvSpPr>
        <p:spPr>
          <a:xfrm>
            <a:off x="2818180" y="1254556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325880" y="1719072"/>
            <a:ext cx="0" cy="795528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87" name="Connector 86"/>
          <p:cNvCxnSpPr/>
          <p:nvPr/>
        </p:nvCxnSpPr>
        <p:spPr>
          <a:xfrm flipH="1">
            <a:off x="1280160" y="1783080"/>
            <a:ext cx="9144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 flipH="1">
            <a:off x="1280160" y="1837943"/>
            <a:ext cx="9144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 flipH="1">
            <a:off x="1271016" y="2404872"/>
            <a:ext cx="54864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>
            <a:off x="1325880" y="2404872"/>
            <a:ext cx="54864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91" name="Oval 90"/>
          <p:cNvSpPr/>
          <p:nvPr/>
        </p:nvSpPr>
        <p:spPr>
          <a:xfrm>
            <a:off x="1300276" y="2315260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2377440" y="1097280"/>
            <a:ext cx="27432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93" name="Connector 92"/>
          <p:cNvCxnSpPr/>
          <p:nvPr/>
        </p:nvCxnSpPr>
        <p:spPr>
          <a:xfrm>
            <a:off x="2651760" y="1097280"/>
            <a:ext cx="0" cy="129844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>
            <a:off x="2651760" y="2395728"/>
            <a:ext cx="539496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95" name="Connector 94"/>
          <p:cNvCxnSpPr/>
          <p:nvPr/>
        </p:nvCxnSpPr>
        <p:spPr>
          <a:xfrm>
            <a:off x="8046720" y="2395728"/>
            <a:ext cx="0" cy="118872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96" name="Connector 95"/>
          <p:cNvCxnSpPr/>
          <p:nvPr/>
        </p:nvCxnSpPr>
        <p:spPr>
          <a:xfrm>
            <a:off x="2441448" y="1051560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97" name="Connector 96"/>
          <p:cNvCxnSpPr/>
          <p:nvPr/>
        </p:nvCxnSpPr>
        <p:spPr>
          <a:xfrm>
            <a:off x="2496312" y="1051560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98" name="Connector 97"/>
          <p:cNvCxnSpPr/>
          <p:nvPr/>
        </p:nvCxnSpPr>
        <p:spPr>
          <a:xfrm flipH="1">
            <a:off x="7991856" y="2404872"/>
            <a:ext cx="54864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>
            <a:off x="8046720" y="2404872"/>
            <a:ext cx="54864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00" name="Oval 99"/>
          <p:cNvSpPr/>
          <p:nvPr/>
        </p:nvSpPr>
        <p:spPr>
          <a:xfrm>
            <a:off x="8021116" y="2315260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 flipH="1">
            <a:off x="164592" y="1463040"/>
            <a:ext cx="109728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02" name="Connector 101"/>
          <p:cNvCxnSpPr/>
          <p:nvPr/>
        </p:nvCxnSpPr>
        <p:spPr>
          <a:xfrm>
            <a:off x="164592" y="1463040"/>
            <a:ext cx="0" cy="324612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03" name="Connector 102"/>
          <p:cNvCxnSpPr/>
          <p:nvPr/>
        </p:nvCxnSpPr>
        <p:spPr>
          <a:xfrm>
            <a:off x="164592" y="4709160"/>
            <a:ext cx="109728" cy="0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04" name="Connector 103"/>
          <p:cNvCxnSpPr/>
          <p:nvPr/>
        </p:nvCxnSpPr>
        <p:spPr>
          <a:xfrm flipV="1">
            <a:off x="210311" y="1417320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05" name="Connector 104"/>
          <p:cNvCxnSpPr/>
          <p:nvPr/>
        </p:nvCxnSpPr>
        <p:spPr>
          <a:xfrm flipV="1">
            <a:off x="155448" y="1417320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06" name="Connector 105"/>
          <p:cNvCxnSpPr/>
          <p:nvPr/>
        </p:nvCxnSpPr>
        <p:spPr>
          <a:xfrm>
            <a:off x="164592" y="4709160"/>
            <a:ext cx="109728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07" name="Connector 106"/>
          <p:cNvCxnSpPr/>
          <p:nvPr/>
        </p:nvCxnSpPr>
        <p:spPr>
          <a:xfrm flipV="1">
            <a:off x="164592" y="4654296"/>
            <a:ext cx="109728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08" name="Oval 107"/>
          <p:cNvSpPr/>
          <p:nvPr/>
        </p:nvSpPr>
        <p:spPr>
          <a:xfrm>
            <a:off x="74980" y="4683556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>
            <a:off x="3749039" y="2121408"/>
            <a:ext cx="0" cy="164592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 flipH="1">
            <a:off x="3493008" y="2286000"/>
            <a:ext cx="256031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11" name="Connector 110"/>
          <p:cNvCxnSpPr/>
          <p:nvPr/>
        </p:nvCxnSpPr>
        <p:spPr>
          <a:xfrm>
            <a:off x="3493008" y="2286000"/>
            <a:ext cx="0" cy="228600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12" name="Connector 111"/>
          <p:cNvCxnSpPr/>
          <p:nvPr/>
        </p:nvCxnSpPr>
        <p:spPr>
          <a:xfrm flipH="1">
            <a:off x="3703320" y="2185415"/>
            <a:ext cx="91439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 flipH="1">
            <a:off x="3703320" y="2240279"/>
            <a:ext cx="91439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 flipH="1">
            <a:off x="3438144" y="2404872"/>
            <a:ext cx="54864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>
            <a:off x="3493008" y="2404872"/>
            <a:ext cx="54864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16" name="Oval 115"/>
          <p:cNvSpPr/>
          <p:nvPr/>
        </p:nvSpPr>
        <p:spPr>
          <a:xfrm>
            <a:off x="3467404" y="2315260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7" name="Connector 116"/>
          <p:cNvCxnSpPr/>
          <p:nvPr/>
        </p:nvCxnSpPr>
        <p:spPr>
          <a:xfrm>
            <a:off x="4114800" y="2121408"/>
            <a:ext cx="0" cy="219456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>
            <a:off x="4114800" y="2340864"/>
            <a:ext cx="1618488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>
            <a:off x="5733288" y="2340864"/>
            <a:ext cx="0" cy="173736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20" name="Connector 119"/>
          <p:cNvCxnSpPr/>
          <p:nvPr/>
        </p:nvCxnSpPr>
        <p:spPr>
          <a:xfrm flipH="1">
            <a:off x="4069080" y="2185415"/>
            <a:ext cx="9144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 flipH="1">
            <a:off x="4069080" y="2240279"/>
            <a:ext cx="9144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 flipH="1">
            <a:off x="5678424" y="2404872"/>
            <a:ext cx="54864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>
            <a:off x="5733288" y="2404872"/>
            <a:ext cx="54863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24" name="Oval 123"/>
          <p:cNvSpPr/>
          <p:nvPr/>
        </p:nvSpPr>
        <p:spPr>
          <a:xfrm>
            <a:off x="5707684" y="2315260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5" name="Connector 124"/>
          <p:cNvCxnSpPr/>
          <p:nvPr/>
        </p:nvCxnSpPr>
        <p:spPr>
          <a:xfrm flipH="1">
            <a:off x="9418320" y="3063240"/>
            <a:ext cx="22860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 flipV="1">
            <a:off x="9418320" y="2231136"/>
            <a:ext cx="0" cy="83210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 flipH="1">
            <a:off x="4846320" y="2231136"/>
            <a:ext cx="457200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 flipV="1">
            <a:off x="4846320" y="2121408"/>
            <a:ext cx="0" cy="109728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29" name="Connector 128"/>
          <p:cNvCxnSpPr/>
          <p:nvPr/>
        </p:nvCxnSpPr>
        <p:spPr>
          <a:xfrm flipV="1">
            <a:off x="9582912" y="3017520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9528048" y="3017520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 flipV="1">
            <a:off x="4846320" y="2121408"/>
            <a:ext cx="54863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 flipH="1" flipV="1">
            <a:off x="4791456" y="2121408"/>
            <a:ext cx="54864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33" name="Oval 132"/>
          <p:cNvSpPr/>
          <p:nvPr/>
        </p:nvSpPr>
        <p:spPr>
          <a:xfrm>
            <a:off x="4820716" y="2269540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903720" y="2258568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64748B"/>
                </a:solidFill>
                <a:latin typeface="Segoe UI"/>
                <a:ea typeface="Microsoft YaHei"/>
              </a:rPr>
              <a:t>到期触发 DESTROY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5212080" y="1005840"/>
            <a:ext cx="18288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 flipV="1">
            <a:off x="5394960" y="512064"/>
            <a:ext cx="0" cy="493776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>
            <a:off x="5394960" y="512064"/>
            <a:ext cx="649224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>
            <a:off x="11887200" y="512064"/>
            <a:ext cx="0" cy="568756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 flipH="1">
            <a:off x="11567160" y="6199632"/>
            <a:ext cx="320040" cy="0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40" name="Connector 139"/>
          <p:cNvCxnSpPr/>
          <p:nvPr/>
        </p:nvCxnSpPr>
        <p:spPr>
          <a:xfrm>
            <a:off x="5276088" y="960120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5330952" y="960120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H="1" flipV="1">
            <a:off x="11567160" y="6144768"/>
            <a:ext cx="109728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 flipH="1">
            <a:off x="11567160" y="6199632"/>
            <a:ext cx="109728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44" name="Oval 143"/>
          <p:cNvSpPr/>
          <p:nvPr/>
        </p:nvSpPr>
        <p:spPr>
          <a:xfrm>
            <a:off x="11715292" y="6174028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5120640" y="3465576"/>
            <a:ext cx="0" cy="3383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H="1">
            <a:off x="3995928" y="3803904"/>
            <a:ext cx="1124712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>
            <a:off x="3995928" y="3803904"/>
            <a:ext cx="0" cy="356616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48" name="Connector 147"/>
          <p:cNvCxnSpPr/>
          <p:nvPr/>
        </p:nvCxnSpPr>
        <p:spPr>
          <a:xfrm flipH="1">
            <a:off x="5074920" y="3529584"/>
            <a:ext cx="91439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 flipH="1">
            <a:off x="5074920" y="3584448"/>
            <a:ext cx="91439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H="1">
            <a:off x="3941064" y="4050791"/>
            <a:ext cx="54864" cy="109729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3995928" y="4050791"/>
            <a:ext cx="54863" cy="109729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52" name="Oval 151"/>
          <p:cNvSpPr/>
          <p:nvPr/>
        </p:nvSpPr>
        <p:spPr>
          <a:xfrm>
            <a:off x="3970324" y="3961180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3" name="Connector 152"/>
          <p:cNvCxnSpPr/>
          <p:nvPr/>
        </p:nvCxnSpPr>
        <p:spPr>
          <a:xfrm>
            <a:off x="6035040" y="3465576"/>
            <a:ext cx="0" cy="694944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54" name="Connector 153"/>
          <p:cNvCxnSpPr/>
          <p:nvPr/>
        </p:nvCxnSpPr>
        <p:spPr>
          <a:xfrm flipH="1">
            <a:off x="5989320" y="3529584"/>
            <a:ext cx="91439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 flipH="1">
            <a:off x="5989320" y="3584448"/>
            <a:ext cx="91439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H="1">
            <a:off x="5980176" y="4050791"/>
            <a:ext cx="54864" cy="109729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6035040" y="4050791"/>
            <a:ext cx="54863" cy="109729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58" name="Oval 157"/>
          <p:cNvSpPr/>
          <p:nvPr/>
        </p:nvSpPr>
        <p:spPr>
          <a:xfrm>
            <a:off x="6009436" y="3961180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9" name="Connector 158"/>
          <p:cNvCxnSpPr/>
          <p:nvPr/>
        </p:nvCxnSpPr>
        <p:spPr>
          <a:xfrm>
            <a:off x="7223760" y="4636008"/>
            <a:ext cx="274319" cy="0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60" name="Connector 159"/>
          <p:cNvCxnSpPr/>
          <p:nvPr/>
        </p:nvCxnSpPr>
        <p:spPr>
          <a:xfrm>
            <a:off x="7287768" y="4590288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7342632" y="4590288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>
            <a:off x="7388352" y="4636008"/>
            <a:ext cx="109727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 flipV="1">
            <a:off x="7388352" y="4581144"/>
            <a:ext cx="109727" cy="54864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64" name="Oval 163"/>
          <p:cNvSpPr/>
          <p:nvPr/>
        </p:nvSpPr>
        <p:spPr>
          <a:xfrm>
            <a:off x="7298740" y="4610404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5" name="Connector 164"/>
          <p:cNvCxnSpPr/>
          <p:nvPr/>
        </p:nvCxnSpPr>
        <p:spPr>
          <a:xfrm>
            <a:off x="10607040" y="1792224"/>
            <a:ext cx="0" cy="722376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66" name="Connector 165"/>
          <p:cNvCxnSpPr/>
          <p:nvPr/>
        </p:nvCxnSpPr>
        <p:spPr>
          <a:xfrm flipH="1">
            <a:off x="10561319" y="1856231"/>
            <a:ext cx="91441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 flipH="1">
            <a:off x="10561319" y="1911095"/>
            <a:ext cx="91441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H="1">
            <a:off x="10552176" y="2404872"/>
            <a:ext cx="54864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10607040" y="2404872"/>
            <a:ext cx="54864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70" name="Oval 169"/>
          <p:cNvSpPr/>
          <p:nvPr/>
        </p:nvSpPr>
        <p:spPr>
          <a:xfrm>
            <a:off x="10581436" y="2315260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1" name="Connector 170"/>
          <p:cNvCxnSpPr/>
          <p:nvPr/>
        </p:nvCxnSpPr>
        <p:spPr>
          <a:xfrm>
            <a:off x="10716768" y="3630168"/>
            <a:ext cx="0" cy="530352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72" name="Connector 171"/>
          <p:cNvCxnSpPr/>
          <p:nvPr/>
        </p:nvCxnSpPr>
        <p:spPr>
          <a:xfrm flipH="1">
            <a:off x="10671048" y="3694176"/>
            <a:ext cx="9144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 flipH="1">
            <a:off x="10671048" y="3749040"/>
            <a:ext cx="9144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H="1">
            <a:off x="10661904" y="4050791"/>
            <a:ext cx="54864" cy="109729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10716768" y="4050791"/>
            <a:ext cx="54864" cy="109729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76" name="Oval 175"/>
          <p:cNvSpPr/>
          <p:nvPr/>
        </p:nvSpPr>
        <p:spPr>
          <a:xfrm>
            <a:off x="10691164" y="3961180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7" name="Connector 176"/>
          <p:cNvCxnSpPr/>
          <p:nvPr/>
        </p:nvCxnSpPr>
        <p:spPr>
          <a:xfrm>
            <a:off x="1252728" y="5276088"/>
            <a:ext cx="0" cy="484632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78" name="Connector 177"/>
          <p:cNvCxnSpPr/>
          <p:nvPr/>
        </p:nvCxnSpPr>
        <p:spPr>
          <a:xfrm flipH="1">
            <a:off x="1207008" y="5340096"/>
            <a:ext cx="9144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 flipH="1">
            <a:off x="1207008" y="5394959"/>
            <a:ext cx="9144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H="1">
            <a:off x="1197864" y="5650992"/>
            <a:ext cx="54864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>
            <a:off x="1252728" y="5650992"/>
            <a:ext cx="54864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82" name="Oval 181"/>
          <p:cNvSpPr/>
          <p:nvPr/>
        </p:nvSpPr>
        <p:spPr>
          <a:xfrm>
            <a:off x="1227124" y="5561380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3" name="Connector 182"/>
          <p:cNvCxnSpPr/>
          <p:nvPr/>
        </p:nvCxnSpPr>
        <p:spPr>
          <a:xfrm>
            <a:off x="1920240" y="5276088"/>
            <a:ext cx="0" cy="3200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>
            <a:off x="1920240" y="5596128"/>
            <a:ext cx="1572768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3493008" y="5596128"/>
            <a:ext cx="0" cy="164592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86" name="Connector 185"/>
          <p:cNvCxnSpPr/>
          <p:nvPr/>
        </p:nvCxnSpPr>
        <p:spPr>
          <a:xfrm flipH="1">
            <a:off x="1874520" y="5340096"/>
            <a:ext cx="9144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 flipH="1">
            <a:off x="1874520" y="5394959"/>
            <a:ext cx="9144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 flipH="1">
            <a:off x="3438144" y="5650992"/>
            <a:ext cx="54864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3493008" y="5650992"/>
            <a:ext cx="54864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90" name="Oval 189"/>
          <p:cNvSpPr/>
          <p:nvPr/>
        </p:nvSpPr>
        <p:spPr>
          <a:xfrm>
            <a:off x="3467404" y="5561380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1" name="Connector 190"/>
          <p:cNvCxnSpPr/>
          <p:nvPr/>
        </p:nvCxnSpPr>
        <p:spPr>
          <a:xfrm>
            <a:off x="2468880" y="5029200"/>
            <a:ext cx="182880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>
            <a:off x="2651760" y="5029200"/>
            <a:ext cx="0" cy="64008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2651760" y="5669280"/>
            <a:ext cx="3081528" cy="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>
            <a:off x="5733288" y="5669280"/>
            <a:ext cx="0" cy="91440"/>
          </a:xfrm>
          <a:prstGeom prst="line">
            <a:avLst/>
          </a:prstGeom>
          <a:ln w="14604">
            <a:solidFill>
              <a:srgbClr val="8785A8"/>
            </a:solidFill>
            <a:tailEnd type="triangle" w="med" len="med"/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2532888" y="4983480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>
            <a:off x="2587752" y="4983480"/>
            <a:ext cx="0" cy="91440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 flipH="1">
            <a:off x="5678424" y="5650992"/>
            <a:ext cx="54864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>
            <a:off x="5733288" y="5650992"/>
            <a:ext cx="54863" cy="109728"/>
          </a:xfrm>
          <a:prstGeom prst="line">
            <a:avLst/>
          </a:prstGeom>
          <a:ln w="14604">
            <a:solidFill>
              <a:srgbClr val="8785A8"/>
            </a:solidFill>
          </a:ln>
          <a:effectLst/>
        </p:spPr>
      </p:cxnSp>
      <p:sp>
        <p:nvSpPr>
          <p:cNvPr id="199" name="Oval 198"/>
          <p:cNvSpPr/>
          <p:nvPr/>
        </p:nvSpPr>
        <p:spPr>
          <a:xfrm>
            <a:off x="5707684" y="5561380"/>
            <a:ext cx="51206" cy="51206"/>
          </a:xfrm>
          <a:prstGeom prst="ellipse">
            <a:avLst/>
          </a:prstGeom>
          <a:noFill/>
          <a:ln w="12700">
            <a:solidFill>
              <a:srgbClr val="8785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ounded Rectangle 199"/>
          <p:cNvSpPr/>
          <p:nvPr/>
        </p:nvSpPr>
        <p:spPr>
          <a:xfrm>
            <a:off x="7086600" y="5760720"/>
            <a:ext cx="2240280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7196328" y="5824728"/>
            <a:ext cx="2020824" cy="7680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[PK] 主键 · [UK] 唯一键 · [FK] 外键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F172A"/>
                </a:solidFill>
                <a:latin typeface="Segoe UI"/>
                <a:ea typeface="Microsoft YaHei"/>
              </a:rPr>
              <a:t>连线：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∥ 一端 · 鸦爪+○ 多端（一对多）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虚线框 = 跨页引用 · †见上页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