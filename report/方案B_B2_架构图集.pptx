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Trino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B（湖仓一体 + Trino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统一计算层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DataX /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Airflow / ADF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DataX /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Airflow /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DataX / 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B（湖仓一体 + Trino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Airflow / ADF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Trino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MPP 查询引擎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rules.json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Trino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 的取舍：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引擎中立，但需自运维 Trino；列级脱敏不能直接用 UC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写侧 + Trino 读侧 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713232"/>
            <a:ext cx="1627632" cy="3328416"/>
          </a:xfrm>
          <a:prstGeom prst="roundRect">
            <a:avLst>
              <a:gd name="adj" fmla="val 449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10896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77240"/>
            <a:ext cx="144475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96012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" y="1316736"/>
            <a:ext cx="1408176" cy="950976"/>
          </a:xfrm>
          <a:prstGeom prst="roundRect">
            <a:avLst>
              <a:gd name="adj" fmla="val 4807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371600"/>
            <a:ext cx="36576" cy="84124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389888"/>
            <a:ext cx="12984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591056"/>
            <a:ext cx="1298448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Oracle · MySQL · DB2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业务库 · JDBC 读取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约 100 张表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" y="2395728"/>
            <a:ext cx="1408176" cy="950976"/>
          </a:xfrm>
          <a:prstGeom prst="roundRect">
            <a:avLst>
              <a:gd name="adj" fmla="val 4807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9184" y="2450592"/>
            <a:ext cx="36576" cy="8412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68880"/>
            <a:ext cx="12984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1298448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92400E"/>
                </a:solidFill>
                <a:latin typeface="Segoe UI"/>
                <a:ea typeface="Microsoft YaHei"/>
              </a:rPr>
              <a:t>NFS · S3 · Blob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影像件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A16207"/>
                </a:solidFill>
                <a:latin typeface="Segoe UI"/>
                <a:ea typeface="Microsoft YaHei"/>
              </a:rPr>
              <a:t>文件服务器 · 对象存储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3474720"/>
            <a:ext cx="1408176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474720"/>
            <a:ext cx="129844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退役 · 只读
15 套系统待归档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713232"/>
            <a:ext cx="2212848" cy="3328416"/>
          </a:xfrm>
          <a:prstGeom prst="roundRect">
            <a:avLst>
              <a:gd name="adj" fmla="val 330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777240"/>
            <a:ext cx="2029967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960120"/>
            <a:ext cx="2029967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1133856"/>
            <a:ext cx="2029967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 · 配置存元数据库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03120" y="1316736"/>
            <a:ext cx="1993391" cy="786384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03120" y="1371600"/>
            <a:ext cx="36576" cy="676656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31136" y="1380744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1136" y="156362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732788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凭据存 Key Vault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1136" y="1901952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891B2"/>
                </a:solidFill>
                <a:latin typeface="Segoe UI"/>
                <a:ea typeface="Microsoft YaHei"/>
              </a:rPr>
              <a:t>「测试连接」校验连通 + 权限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3120" y="2212848"/>
            <a:ext cx="1993391" cy="786384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03120" y="2267712"/>
            <a:ext cx="36576" cy="676656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22768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1136" y="2459736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31136" y="2628900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表名 · 行数 · 大小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1136" y="279806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891B2"/>
                </a:solidFill>
                <a:latin typeface="Segoe UI"/>
                <a:ea typeface="Microsoft YaHei"/>
              </a:rPr>
              <a:t>共发现 10 张表（含类型 / 主键）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099816" y="2103120"/>
            <a:ext cx="0" cy="109728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99816" y="2999232"/>
            <a:ext cx="0" cy="109728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103120" y="3127248"/>
            <a:ext cx="1993391" cy="804672"/>
          </a:xfrm>
          <a:prstGeom prst="roundRect">
            <a:avLst>
              <a:gd name="adj" fmla="val 5681"/>
            </a:avLst>
          </a:prstGeom>
          <a:solidFill>
            <a:srgbClr val="ECFEFF"/>
          </a:solidFill>
          <a:ln w="2032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103120" y="3182112"/>
            <a:ext cx="36576" cy="69494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1136" y="31912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E7490"/>
                </a:solidFill>
                <a:latin typeface="Segoe UI"/>
                <a:ea typeface="Microsoft YaHei"/>
              </a:rPr>
              <a:t>③ 勾选待迁移表（10 选 5）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31136" y="340156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订单主表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9504" y="340156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订单明细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7872" y="340156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客户信息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31136" y="358444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商品档案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9504" y="358444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支付记录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31136" y="3767328"/>
            <a:ext cx="181051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☐ 临时 / 日志 / 中间 / 缓存 / 备份表 不入湖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70832" y="713232"/>
            <a:ext cx="1828800" cy="332841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480560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2896" y="77724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82896" y="960120"/>
            <a:ext cx="16459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60" y="11338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批量 · 由 Airflow / ADF 编排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80560" y="1316736"/>
            <a:ext cx="1609344" cy="1207008"/>
          </a:xfrm>
          <a:prstGeom prst="roundRect">
            <a:avLst>
              <a:gd name="adj" fmla="val 3787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80560" y="1371600"/>
            <a:ext cx="36576" cy="109728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53712" y="1389888"/>
            <a:ext cx="1481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批量抽取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JDBC · 类型映射 · 对账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2304288"/>
            <a:ext cx="14813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EA580C"/>
                </a:solidFill>
                <a:latin typeface="Segoe UI"/>
                <a:ea typeface="Microsoft YaHei"/>
              </a:rPr>
              <a:t>→ 写入 Iceberg 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80560" y="2651760"/>
            <a:ext cx="1609344" cy="1207008"/>
          </a:xfrm>
          <a:prstGeom prst="roundRect">
            <a:avLst>
              <a:gd name="adj" fmla="val 3787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80560" y="2706624"/>
            <a:ext cx="36576" cy="10972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53712" y="2724912"/>
            <a:ext cx="1481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A16207"/>
                </a:solidFill>
                <a:latin typeface="Segoe UI"/>
                <a:ea typeface="Microsoft YaHei"/>
              </a:rPr>
              <a:t>NFS · S3 · Blob · 服务免费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53712" y="3639312"/>
            <a:ext cx="14813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→ ADLS 附件容器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64224" y="713232"/>
            <a:ext cx="2615184" cy="3328416"/>
          </a:xfrm>
          <a:prstGeom prst="roundRect">
            <a:avLst>
              <a:gd name="adj" fmla="val 2797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73952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73952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6288" y="777240"/>
            <a:ext cx="2432303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 · 存储侧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76288" y="960120"/>
            <a:ext cx="2432303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73952" y="1133856"/>
            <a:ext cx="23957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 · 100 张表 1:1 原样 · </a:t>
            </a: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3952" y="1316736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492240" y="1353312"/>
            <a:ext cx="36576" cy="49377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01968" y="1380744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01968" y="155448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SeaTunnel 全量 1:1 保真 · 分区 sys_id / ingest_date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73952" y="1956815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492240" y="1993391"/>
            <a:ext cx="36576" cy="493776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01968" y="2020823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01968" y="2194559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类型统一 · 缺失值处理 · SHA-256 台账 · 分区归约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73952" y="2596896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492240" y="2633472"/>
            <a:ext cx="36576" cy="49377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601968" y="2660903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2834639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业务维度建模 · 生命周期分区（销毁友好）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73952" y="3236976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492240" y="3273552"/>
            <a:ext cx="36576" cy="49377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01968" y="3300984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01968" y="347472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热表物化 · Z-Order · 供 Trino 直接查询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73952" y="385876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RAW → SERVE 逐层升温 · 供上层直查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235440" y="603504"/>
            <a:ext cx="0" cy="3438144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098280" y="877824"/>
            <a:ext cx="274320" cy="1042415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98280" y="877824"/>
            <a:ext cx="274320" cy="1042415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5569"/>
                </a:solidFill>
                <a:latin typeface="Segoe UI"/>
                <a:ea typeface="Microsoft YaHei"/>
              </a:rPr>
              <a:t>存算分离边界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82512" y="40873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↑ 存储侧 · 对象存储常驻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26880" y="40782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↓ 计算侧 · 按需拉起计费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997696" y="1956816"/>
            <a:ext cx="402336" cy="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8988552" y="2048256"/>
            <a:ext cx="42062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2048256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Trino
外表直查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8997696" y="2761488"/>
            <a:ext cx="402336" cy="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8988552" y="2852928"/>
            <a:ext cx="42062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2852928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
逐层写入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418320" y="713232"/>
            <a:ext cx="1517904" cy="3328416"/>
          </a:xfrm>
          <a:prstGeom prst="roundRect">
            <a:avLst>
              <a:gd name="adj" fmla="val 4819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528048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528048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30384" y="777240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30384" y="960120"/>
            <a:ext cx="133502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28048" y="1133856"/>
            <a:ext cx="13350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· 读侧并列 · 弹性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491472" y="1316736"/>
            <a:ext cx="1371600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509760" y="1371600"/>
            <a:ext cx="36576" cy="11338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64624" y="1380744"/>
            <a:ext cx="1243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28048" y="1572768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28048" y="1760220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28048" y="1947672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Z-Order · Compaction · Vacuum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28048" y="2135124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528048" y="232257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≈¥0.4–0.8 万/月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491472" y="2651760"/>
            <a:ext cx="1371600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9509760" y="2706624"/>
            <a:ext cx="36576" cy="11338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64624" y="2715768"/>
            <a:ext cx="1243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Trino · 读侧查询引擎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528048" y="2907791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Iceberg 外表 · MPP 分布式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28048" y="3095244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首屏 2–5 s · SERVE 层加速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528048" y="3282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RLS 行级权限 · 查询网关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28048" y="3470148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常驻小集群 · 弹性扩缩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528048" y="3657600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≈¥0.4–0.6 万/月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1045952" y="713232"/>
            <a:ext cx="950976" cy="332841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137392" y="804672"/>
            <a:ext cx="274320" cy="27432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1137392" y="8046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100816" y="111556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064240" y="12893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0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1137392" y="1426464"/>
            <a:ext cx="768096" cy="24688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1192256" y="1517904"/>
            <a:ext cx="658368" cy="2340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
配置化查询平台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JSON 配置定义
查询 · 筛选 · 列 · 权限
前端动态渲染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
边际 +3~6 人天 / 系统</a:t>
            </a:r>
          </a:p>
          <a:p>
            <a:pPr algn="ctr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570" b="0" i="0">
                <a:solidFill>
                  <a:srgbClr val="94A3B8"/>
                </a:solidFill>
                <a:latin typeface="Segoe UI"/>
                <a:ea typeface="Microsoft YaHei"/>
              </a:rPr>
              <a:t>首期 60 人天
≥15 系统场景适用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0936224" y="2377440"/>
            <a:ext cx="10058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828800" y="2377440"/>
            <a:ext cx="146304" cy="0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4206240" y="2377440"/>
            <a:ext cx="146304" cy="0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199632" y="2377440"/>
            <a:ext cx="146304" cy="0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700784" y="2121408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94A3B8"/>
                </a:solidFill>
                <a:latin typeface="Segoe UI"/>
                <a:ea typeface="Microsoft YaHei"/>
              </a:rPr>
              <a:t>接入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59936" y="2121408"/>
            <a:ext cx="457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94A3B8"/>
                </a:solidFill>
                <a:latin typeface="Segoe UI"/>
                <a:ea typeface="Microsoft YaHei"/>
              </a:rPr>
              <a:t>生成任务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89904" y="2121408"/>
            <a:ext cx="38404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94A3B8"/>
                </a:solidFill>
                <a:latin typeface="Segoe UI"/>
                <a:ea typeface="Microsoft YaHei"/>
              </a:rPr>
              <a:t>入湖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370832" y="4334256"/>
            <a:ext cx="4425696" cy="658368"/>
          </a:xfrm>
          <a:prstGeom prst="roundRect">
            <a:avLst>
              <a:gd name="adj" fmla="val 972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17136" y="4389120"/>
            <a:ext cx="41148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独立存储账户 · 与湖分开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517136" y="4562856"/>
            <a:ext cx="41696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平面命名空间 FNS（非 HNS）· 写按次计费 · Cool→Cold 生命周期分层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A16207"/>
                </a:solidFill>
                <a:latin typeface="Segoe UI"/>
                <a:ea typeface="Microsoft YaHei"/>
              </a:rPr>
              <a:t>SHA-256 台账 · 前缀 sysXX/yyyy-mm/ · 后端签 SAS · 前端直连下载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5285232" y="4041648"/>
            <a:ext cx="0" cy="27432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4443984" y="4133087"/>
            <a:ext cx="8229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附件入池 ↘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8796528" y="4663440"/>
            <a:ext cx="268833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11484864" y="4078224"/>
            <a:ext cx="0" cy="585216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9235440" y="47365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5138928"/>
            <a:ext cx="11795760" cy="859536"/>
          </a:xfrm>
          <a:prstGeom prst="roundRect">
            <a:avLst>
              <a:gd name="adj" fmla="val 8510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65760" y="5266944"/>
            <a:ext cx="329184" cy="329184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5266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86384" y="5230368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11D48"/>
                </a:solidFill>
                <a:latin typeface="Segoe UI"/>
                <a:ea typeface="Microsoft YaHei"/>
              </a:rPr>
              <a:t>Retention · Iceberg 合规销毁回路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86384" y="5413248"/>
            <a:ext cx="6949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作用于 B-03 冷湖分区 · Databricks 定时触发 · 结果回写元数据台账 · 附件同步删除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59536" y="5577840"/>
            <a:ext cx="1755648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86968" y="5577840"/>
            <a:ext cx="17007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98064" y="5577840"/>
            <a:ext cx="1938528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825496" y="5577840"/>
            <a:ext cx="188366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5577840"/>
            <a:ext cx="1700784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946904" y="5577840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物理清除快照与文件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03136" y="5577840"/>
            <a:ext cx="1792224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30568" y="5577840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2633472" y="5742432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754880" y="5742432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6638544" y="5742432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8723376" y="5577840"/>
            <a:ext cx="3145536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96528" y="557784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F1239"/>
                </a:solidFill>
                <a:latin typeface="Segoe UI"/>
                <a:ea typeface="Microsoft YaHei"/>
              </a:rPr>
              <a:t>元数据与审计独立备份 · 不随业务数据销毁 · 年度销毁演练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8887968" y="4078224"/>
            <a:ext cx="0" cy="1060704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8979408" y="4480560"/>
            <a:ext cx="12801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01168" y="6144768"/>
            <a:ext cx="3877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201168" y="6199632"/>
            <a:ext cx="41148" cy="365760"/>
          </a:xfrm>
          <a:prstGeom prst="roundRect">
            <a:avLst>
              <a:gd name="adj" fmla="val 44444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7472" y="621792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7C3AED"/>
                </a:solidFill>
                <a:latin typeface="Segoe UI"/>
                <a:ea typeface="Microsoft YaHei"/>
              </a:rPr>
              <a:t>存算分离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7472" y="639165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对象存储常驻承载冷湖，Databricks / Trino 按需拉起 · 按量计费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160520" y="6144768"/>
            <a:ext cx="3877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4160520" y="6199632"/>
            <a:ext cx="41148" cy="365760"/>
          </a:xfrm>
          <a:prstGeom prst="roundRect">
            <a:avLst>
              <a:gd name="adj" fmla="val 44444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306824" y="621792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到期即毁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06824" y="639165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 · 附件与审计同步处理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119871" y="6144768"/>
            <a:ext cx="3877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8119871" y="6199632"/>
            <a:ext cx="41148" cy="365760"/>
          </a:xfrm>
          <a:prstGeom prst="roundRect">
            <a:avLst>
              <a:gd name="adj" fmla="val 44444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266175" y="621792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891B2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6175" y="639165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新系统接入边际仅 +3~6 人天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