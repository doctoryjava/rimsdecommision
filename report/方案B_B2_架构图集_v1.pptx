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20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"/>
            <a:ext cx="12191695" cy="320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86600" y="1188720"/>
            <a:ext cx="5102352" cy="5394960"/>
          </a:xfrm>
          <a:prstGeom prst="roundRect">
            <a:avLst>
              <a:gd name="adj" fmla="val 44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0" y="1691640"/>
            <a:ext cx="4343400" cy="4343400"/>
          </a:xfrm>
          <a:prstGeom prst="roundRect">
            <a:avLst>
              <a:gd name="adj" fmla="val 4631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36992" y="2212848"/>
            <a:ext cx="3657600" cy="475488"/>
          </a:xfrm>
          <a:prstGeom prst="roundRect">
            <a:avLst>
              <a:gd name="adj" fmla="val 15384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6992" y="221284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7857"/>
                </a:solidFill>
                <a:latin typeface="Segoe UI"/>
                <a:ea typeface="Microsoft YaHei"/>
              </a:rPr>
              <a:t>访问入口 · 查询 / 审计 / 运维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65792" y="2688336"/>
            <a:ext cx="0" cy="320040"/>
          </a:xfrm>
          <a:prstGeom prst="line">
            <a:avLst/>
          </a:prstGeom>
          <a:ln w="2032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7936992" y="3008376"/>
            <a:ext cx="3657600" cy="475488"/>
          </a:xfrm>
          <a:prstGeom prst="roundRect">
            <a:avLst>
              <a:gd name="adj" fmla="val 15384"/>
            </a:avLst>
          </a:prstGeom>
          <a:solidFill>
            <a:srgbClr val="ECFEFF"/>
          </a:solidFill>
          <a:ln w="15240">
            <a:solidFill>
              <a:srgbClr val="A5F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3008376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7490"/>
                </a:solidFill>
                <a:latin typeface="Segoe UI"/>
                <a:ea typeface="Microsoft YaHei"/>
              </a:rPr>
              <a:t>自研应用层 · AKS（React + .NET）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2520" y="3483864"/>
            <a:ext cx="0" cy="292608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799064" y="3483864"/>
            <a:ext cx="0" cy="292608"/>
          </a:xfrm>
          <a:prstGeom prst="line">
            <a:avLst/>
          </a:prstGeom>
          <a:ln w="1778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7936992" y="3776472"/>
            <a:ext cx="1783080" cy="475488"/>
          </a:xfrm>
          <a:prstGeom prst="roundRect">
            <a:avLst>
              <a:gd name="adj" fmla="val 15384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377647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D28D9"/>
                </a:solidFill>
                <a:latin typeface="Segoe UI"/>
                <a:ea typeface="Microsoft YaHei"/>
              </a:rPr>
              <a:t>写侧 · Databricks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1512" y="3776472"/>
            <a:ext cx="1783080" cy="475488"/>
          </a:xfrm>
          <a:prstGeom prst="roundRect">
            <a:avLst>
              <a:gd name="adj" fmla="val 15384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377647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D28D9"/>
                </a:solidFill>
                <a:latin typeface="Segoe UI"/>
                <a:ea typeface="Microsoft YaHei"/>
              </a:rPr>
              <a:t>读侧 · Serverless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65792" y="4251960"/>
            <a:ext cx="0" cy="310896"/>
          </a:xfrm>
          <a:prstGeom prst="line">
            <a:avLst/>
          </a:prstGeom>
          <a:ln w="17780">
            <a:solidFill>
              <a:srgbClr val="64748B"/>
            </a:solidFill>
            <a:tailEnd type="triangle" w="med" len="med"/>
          </a:ln>
          <a:effectLst/>
        </p:spPr>
      </p:cxnSp>
      <p:sp>
        <p:nvSpPr>
          <p:cNvPr id="19" name="Rounded Rectangle 18"/>
          <p:cNvSpPr/>
          <p:nvPr/>
        </p:nvSpPr>
        <p:spPr>
          <a:xfrm>
            <a:off x="7936992" y="4562856"/>
            <a:ext cx="3657600" cy="475488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4562856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40AF"/>
                </a:solidFill>
                <a:latin typeface="Segoe UI"/>
                <a:ea typeface="Microsoft YaHei"/>
              </a:rPr>
              <a:t>ADLS Gen2 · Iceberg 湖仓 + Blob 附件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52303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Segoe UI"/>
                <a:ea typeface="Microsoft YaHei"/>
              </a:rPr>
              <a:t>存算分离 · 私有端点 · 合规销毁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173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300">
                <a:solidFill>
                  <a:srgbClr val="64748B"/>
                </a:solidFill>
                <a:latin typeface="Segoe UI"/>
                <a:ea typeface="Microsoft YaHei"/>
              </a:rPr>
              <a:t>RIMS 退役归档平台 · 方案 B2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1755648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F172A"/>
                </a:solidFill>
                <a:latin typeface="Segoe UI"/>
                <a:ea typeface="Microsoft YaHei"/>
              </a:rPr>
              <a:t>湖仓一体架构图集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2615184"/>
            <a:ext cx="566928" cy="411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76148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  <a:ea typeface="Microsoft YaHei"/>
              </a:rPr>
              <a:t>架构图 · 数据加密设计 · 元数据库 ER 图 · 全部以 PPT 原生形状绘制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2962656"/>
            <a:ext cx="5806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" y="3044952"/>
            <a:ext cx="438912" cy="438912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04495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03580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  <a:ea typeface="Microsoft YaHei"/>
              </a:rPr>
              <a:t>Azure 基础设施部署架构 · 方案 B2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28269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4748B"/>
                </a:solidFill>
                <a:latin typeface="Segoe UI"/>
                <a:ea typeface="Microsoft YaHei"/>
              </a:rPr>
              <a:t>VNet · AKS · Databricks Serverless · NCC 私有端点 · 六大 PaaS 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3639312"/>
            <a:ext cx="5806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" y="3721608"/>
            <a:ext cx="438912" cy="438912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7216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3712464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  <a:ea typeface="Microsoft YaHei"/>
              </a:rPr>
              <a:t>应用架构图 · 方案 B2（湖仓一体 · Databricks SQL Serverless 读）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395935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4748B"/>
                </a:solidFill>
                <a:latin typeface="Segoe UI"/>
                <a:ea typeface="Microsoft YaHei"/>
              </a:rPr>
              <a:t>访问入口 → 自研应用层（AKS）→ 写 / 读 / 附件三条链路 → 数据底座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315968"/>
            <a:ext cx="5806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9264" y="4398264"/>
            <a:ext cx="438912" cy="438912"/>
          </a:xfrm>
          <a:prstGeom prst="roundRect">
            <a:avLst>
              <a:gd name="adj" fmla="val 16666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439826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38912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  <a:ea typeface="Microsoft YaHei"/>
              </a:rPr>
              <a:t>方案 B2 · 湖仓一体 · 存算分离架构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4636008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4748B"/>
                </a:solidFill>
                <a:latin typeface="Segoe UI"/>
                <a:ea typeface="Microsoft YaHei"/>
              </a:rPr>
              <a:t>源系统 → 接入配置 → 抽取 → Iceberg 冷湖 → Databricks 读写一体计算层 → 消费入口 + 销毁回路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" y="4992624"/>
            <a:ext cx="5806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9264" y="5074920"/>
            <a:ext cx="438912" cy="438912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50749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8D4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36192" y="506577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  <a:ea typeface="Microsoft YaHei"/>
              </a:rPr>
              <a:t>方案 B2 · 数据加密设计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6192" y="531266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4748B"/>
                </a:solidFill>
                <a:latin typeface="Segoe UI"/>
                <a:ea typeface="Microsoft YaHei"/>
              </a:rPr>
              <a:t>四层加密模型 · aes_encrypt + UC 列掩码 · 信封加密 / Crypto-Shredding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" y="5669280"/>
            <a:ext cx="5806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9264" y="5751576"/>
            <a:ext cx="438912" cy="438912"/>
          </a:xfrm>
          <a:prstGeom prst="roundRect">
            <a:avLst>
              <a:gd name="adj" fmla="val 16666"/>
            </a:avLst>
          </a:prstGeom>
          <a:solidFill>
            <a:srgbClr val="F6F8FA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575157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75569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74243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  <a:ea typeface="Microsoft YaHei"/>
              </a:rPr>
              <a:t>元数据库 ER 图（35 表 / 11 模块 · 上下两页）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98932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4748B"/>
                </a:solidFill>
                <a:latin typeface="Segoe UI"/>
                <a:ea typeface="Microsoft YaHei"/>
              </a:rPr>
              <a:t>上篇：平台 / 权限 / 数据源配置　下篇：同步归档 / 动态查询 / 保留销毁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" y="6382512"/>
            <a:ext cx="5806440" cy="320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647395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Segoe UI"/>
                <a:ea typeface="Microsoft YaHei"/>
              </a:rPr>
              <a:t>整理自 report/Architecture.html · docs/数据库ER图与全量表结构.md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Azure 基础设施部署架构 · 方案 B2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603504"/>
            <a:ext cx="1847088" cy="1773936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69494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72A"/>
                </a:solidFill>
                <a:latin typeface="Segoe UI"/>
                <a:ea typeface="Microsoft YaHei"/>
              </a:rPr>
              <a:t>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905256"/>
            <a:ext cx="274320" cy="228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005840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1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前端 · 配置化查询平台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173175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2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后端 · .NET 10（AKS 容器化）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340510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3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抽取 · Apache SeaTunnel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507845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4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编排 · Azure Data Factory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675180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5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表格式 · Apache Iceberg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1842516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6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引擎 · Databricks Serverless（读写）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2009851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078D4"/>
                </a:solidFill>
                <a:latin typeface="Segoe UI"/>
                <a:ea typeface="Microsoft YaHei"/>
              </a:rPr>
              <a:t>7  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治理 · Unity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2177186"/>
            <a:ext cx="1627632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D97706"/>
                </a:solidFill>
                <a:latin typeface="Segoe UI"/>
                <a:ea typeface="Microsoft YaHei"/>
              </a:rPr>
              <a:t>8  </a:t>
            </a:r>
            <a:r>
              <a:rPr sz="680" b="1" i="0">
                <a:solidFill>
                  <a:srgbClr val="92400E"/>
                </a:solidFill>
                <a:latin typeface="Segoe UI"/>
                <a:ea typeface="Microsoft YaHei"/>
              </a:rPr>
              <a:t>附件迁移 · Azure Storage Mover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" y="2487168"/>
            <a:ext cx="1847088" cy="1810512"/>
          </a:xfrm>
          <a:prstGeom prst="roundRect">
            <a:avLst>
              <a:gd name="adj" fmla="val 3535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25603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47857"/>
                </a:solidFill>
                <a:latin typeface="Segoe UI"/>
                <a:ea typeface="Microsoft YaHei"/>
              </a:rPr>
              <a:t>终端用户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" y="2798064"/>
            <a:ext cx="1627632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798064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F172A"/>
                </a:solidFill>
                <a:latin typeface="Segoe UI"/>
                <a:ea typeface="Microsoft YaHei"/>
              </a:rPr>
              <a:t>业务查询员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查本系统归档数据</a:t>
            </a:r>
          </a:p>
        </p:txBody>
      </p:sp>
      <p:sp>
        <p:nvSpPr>
          <p:cNvPr id="19" name="Oval 18"/>
          <p:cNvSpPr/>
          <p:nvPr/>
        </p:nvSpPr>
        <p:spPr>
          <a:xfrm>
            <a:off x="448330" y="2920136"/>
            <a:ext cx="54315" cy="54315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167" y="2983504"/>
            <a:ext cx="94640" cy="6172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" y="3255264"/>
            <a:ext cx="1627632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255264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F172A"/>
                </a:solidFill>
                <a:latin typeface="Segoe UI"/>
                <a:ea typeface="Microsoft YaHei"/>
              </a:rPr>
              <a:t>审计 / 合规岗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跨系统检索与举证</a:t>
            </a:r>
          </a:p>
        </p:txBody>
      </p:sp>
      <p:sp>
        <p:nvSpPr>
          <p:cNvPr id="23" name="Oval 22"/>
          <p:cNvSpPr/>
          <p:nvPr/>
        </p:nvSpPr>
        <p:spPr>
          <a:xfrm>
            <a:off x="448330" y="3377336"/>
            <a:ext cx="54315" cy="54315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8167" y="3440704"/>
            <a:ext cx="94640" cy="6172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" y="3712464"/>
            <a:ext cx="1627632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712464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F172A"/>
                </a:solidFill>
                <a:latin typeface="Segoe UI"/>
                <a:ea typeface="Microsoft YaHei"/>
              </a:rPr>
              <a:t>平台运维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监控 · 销毁作业值守</a:t>
            </a:r>
          </a:p>
        </p:txBody>
      </p:sp>
      <p:sp>
        <p:nvSpPr>
          <p:cNvPr id="27" name="Oval 26"/>
          <p:cNvSpPr/>
          <p:nvPr/>
        </p:nvSpPr>
        <p:spPr>
          <a:xfrm>
            <a:off x="448330" y="3834536"/>
            <a:ext cx="54315" cy="54315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8167" y="3897904"/>
            <a:ext cx="94640" cy="61722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114800"/>
            <a:ext cx="170078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59669"/>
                </a:solidFill>
                <a:latin typeface="Segoe UI"/>
                <a:ea typeface="Microsoft YaHei"/>
              </a:rPr>
              <a:t>浏览器 HTTPS 443 · Entra ID 单点登录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603504"/>
            <a:ext cx="568756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676656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5569"/>
                </a:solidFill>
                <a:latin typeface="Segoe UI"/>
                <a:ea typeface="Microsoft YaHei"/>
              </a:rPr>
              <a:t>源系统 · 15 套待退役业务系统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694944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4A3B8"/>
                </a:solidFill>
                <a:latin typeface="Segoe UI"/>
                <a:ea typeface="Microsoft YaHei"/>
              </a:rPr>
              <a:t>退役窗口内只读 · 数据只出不进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22576" y="914400"/>
            <a:ext cx="170078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914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Oracle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TCP 1521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5567" y="1109990"/>
            <a:ext cx="112928" cy="5385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85567" y="1091747"/>
            <a:ext cx="112928" cy="24323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85567" y="1163848"/>
            <a:ext cx="112928" cy="24323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151376" y="914400"/>
            <a:ext cx="170078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8808" y="914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MySQL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TCP 3306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4367" y="1109990"/>
            <a:ext cx="112928" cy="5385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14367" y="1091747"/>
            <a:ext cx="112928" cy="24323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14367" y="1163848"/>
            <a:ext cx="112928" cy="24323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80176" y="914400"/>
            <a:ext cx="170078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07608" y="9144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DB2 / 其他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TCP 50000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3167" y="1109990"/>
            <a:ext cx="112928" cy="5385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3167" y="1091747"/>
            <a:ext cx="112928" cy="24323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43167" y="1163848"/>
            <a:ext cx="112928" cy="24323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322576" y="1481328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50008" y="1481328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结构化抽取 · </a:t>
            </a:r>
            <a:r>
              <a:rPr sz="740" b="1" i="0">
                <a:solidFill>
                  <a:srgbClr val="EA580C"/>
                </a:solidFill>
                <a:latin typeface="Segoe UI"/>
                <a:ea typeface="Microsoft YaHei"/>
              </a:rPr>
              <a:t>Apache SeaTunnel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仅读权限 · 按勾选的表抽取（10 选 5）· ADF 编排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84064" y="1481328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1496" y="1481328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2400E"/>
                </a:solidFill>
                <a:latin typeface="Segoe UI"/>
                <a:ea typeface="Microsoft YaHei"/>
              </a:rPr>
              <a:t>附件迁移 · </a:t>
            </a:r>
            <a:r>
              <a:rPr sz="740" b="1" i="0">
                <a:solidFill>
                  <a:srgbClr val="D97706"/>
                </a:solidFill>
                <a:latin typeface="Segoe UI"/>
                <a:ea typeface="Microsoft YaHei"/>
              </a:rPr>
              <a:t>Storage Mover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8350F"/>
                </a:solidFill>
                <a:latin typeface="Segoe UI"/>
                <a:ea typeface="Microsoft YaHei"/>
              </a:rPr>
              <a:t>读 NFS / S3 / Blob 附件源 · 服务免费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22576" y="1920240"/>
            <a:ext cx="53949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97706"/>
                </a:solidFill>
                <a:latin typeface="Segoe UI"/>
                <a:ea typeface="Microsoft YaHei"/>
              </a:rPr>
              <a:t>跨机房链路：ExpressRoute / 站点到站点 VPN · 源库防火墙放行 NAT 固定出口 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91856" y="603504"/>
            <a:ext cx="1591056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1583" y="6766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Segoe UI"/>
                <a:ea typeface="Microsoft YaHei"/>
              </a:rPr>
              <a:t>网络连通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3" y="89611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ExpressRoute / S2S VPN 专线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01583" y="1161288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NAT 固定出口 IP 白名单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01583" y="1426464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PaaS 全私有端点 · 禁公网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1583" y="1691639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078D4"/>
                </a:solidFill>
                <a:latin typeface="Segoe UI"/>
                <a:ea typeface="Microsoft YaHei"/>
              </a:rPr>
              <a:t>· </a:t>
            </a:r>
            <a:r>
              <a:rPr sz="640" b="0" i="0">
                <a:solidFill>
                  <a:srgbClr val="475569"/>
                </a:solidFill>
                <a:latin typeface="Segoe UI"/>
                <a:ea typeface="Microsoft YaHei"/>
              </a:rPr>
              <a:t>WAF + App Gateway 收敛入口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603504"/>
            <a:ext cx="2304288" cy="3694176"/>
          </a:xfrm>
          <a:prstGeom prst="roundRect">
            <a:avLst>
              <a:gd name="adj" fmla="val 3174"/>
            </a:avLst>
          </a:prstGeom>
          <a:solidFill>
            <a:srgbClr val="FAF9FF"/>
          </a:solidFill>
          <a:ln w="17780">
            <a:solidFill>
              <a:srgbClr val="7C3A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0656" y="69494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Segoe UI"/>
                <a:ea typeface="Microsoft YaHei"/>
              </a:rPr>
              <a:t>Databricks 托管平面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0656" y="886968"/>
            <a:ext cx="21031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C2626"/>
                </a:solidFill>
                <a:latin typeface="Segoe UI"/>
                <a:ea typeface="Microsoft YaHei"/>
              </a:rPr>
              <a:t>★ 不在你的 VNet 内 · 运行于 Databricks 账户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20656" y="1078992"/>
            <a:ext cx="2048256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49586" y="1186434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933813" y="1200149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88677" y="1194663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0" y="1133856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D28D9"/>
                </a:solidFill>
                <a:latin typeface="Segoe UI"/>
                <a:ea typeface="Microsoft YaHei"/>
              </a:rPr>
              <a:t>控制平面 Control Plane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1335024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Web UI · 作业调度 · 无状态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1495044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Unity Catalog 元数据服务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20656" y="1819656"/>
            <a:ext cx="2048256" cy="676656"/>
          </a:xfrm>
          <a:prstGeom prst="roundRect">
            <a:avLst>
              <a:gd name="adj" fmla="val 6756"/>
            </a:avLst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949586" y="1927098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933813" y="1940814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88677" y="1935327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75520" y="1874519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D28D9"/>
                </a:solidFill>
                <a:latin typeface="Segoe UI"/>
                <a:ea typeface="Microsoft YaHei"/>
              </a:rPr>
              <a:t>Databricks SQL Serverless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75520" y="2075688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读侧查询 · X-Small 6 DBU/h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5520" y="2235708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64748B"/>
                </a:solidFill>
                <a:latin typeface="Segoe UI"/>
                <a:ea typeface="Microsoft YaHei"/>
              </a:rPr>
              <a:t>空闲自动缩到 0 · 零运维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20656" y="2560320"/>
            <a:ext cx="2048256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949586" y="2667762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33813" y="2681478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88677" y="2675991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75520" y="2615184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D28D9"/>
                </a:solidFill>
                <a:latin typeface="Segoe UI"/>
                <a:ea typeface="Microsoft YaHei"/>
              </a:rPr>
              <a:t>Databricks Serverless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0" y="2816352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写侧 ETL：RAW→CURATED→LAKE→SERVE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75520" y="2976372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4748B"/>
                </a:solidFill>
                <a:latin typeface="Segoe UI"/>
                <a:ea typeface="Microsoft YaHei"/>
              </a:rPr>
              <a:t>Compaction · VACUUM · 到期销毁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20656" y="3300984"/>
            <a:ext cx="2048256" cy="54864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651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949586" y="3408426"/>
            <a:ext cx="71323" cy="5143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933813" y="3422142"/>
            <a:ext cx="48006" cy="35661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988677" y="3416655"/>
            <a:ext cx="45262" cy="39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75520" y="3355848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47857"/>
                </a:solidFill>
                <a:latin typeface="Segoe UI"/>
                <a:ea typeface="Microsoft YaHei"/>
              </a:rPr>
              <a:t>NCC 网络连接 + 托管私有端点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0" y="3557015"/>
            <a:ext cx="193852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59669"/>
                </a:solidFill>
                <a:latin typeface="Segoe UI"/>
                <a:ea typeface="Microsoft YaHei"/>
              </a:rPr>
              <a:t>Serverless 私有访问 ADLS 的唯一通道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20656" y="3968496"/>
            <a:ext cx="204825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7C3AED"/>
                </a:solidFill>
                <a:latin typeface="Segoe UI"/>
                <a:ea typeface="Microsoft YaHei"/>
              </a:rPr>
              <a:t>Premium 层特性 · NCC 需 Account Admin 配置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176272" y="2212848"/>
            <a:ext cx="7406640" cy="2084831"/>
          </a:xfrm>
          <a:prstGeom prst="roundRect">
            <a:avLst>
              <a:gd name="adj" fmla="val 3508"/>
            </a:avLst>
          </a:prstGeom>
          <a:solidFill>
            <a:srgbClr val="F0F7FC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22576" y="22860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8D4"/>
                </a:solidFill>
                <a:latin typeface="Segoe UI"/>
                <a:ea typeface="Microsoft YaHei"/>
              </a:rPr>
              <a:t>Azure VNet · 10.0.0.0/16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60720" y="2322576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Hub-Spoke · NSG 管控 · PaaS 全部关闭公网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322576" y="2505456"/>
            <a:ext cx="8778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50008" y="2505456"/>
            <a:ext cx="82295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WAF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OWASP 防护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46704" y="2505456"/>
            <a:ext cx="133502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74136" y="2505456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Application Gateway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TLS 终止 · 七层路由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28032" y="2505456"/>
            <a:ext cx="969264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55464" y="2505456"/>
            <a:ext cx="9144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NAT Gateway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出站固定 IP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200400" y="2715768"/>
            <a:ext cx="128016" cy="0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4681728" y="2715768"/>
            <a:ext cx="128016" cy="0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014215" y="2926080"/>
            <a:ext cx="0" cy="109728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6172200" y="2560320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475569"/>
                </a:solidFill>
                <a:latin typeface="Segoe UI"/>
                <a:ea typeface="Microsoft YaHei"/>
              </a:rPr>
              <a:t>私有 DNS：</a:t>
            </a: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privatelink.* 区域集中解析，AKS / Databricks 经内网域名访问 PaaS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322576" y="3054096"/>
            <a:ext cx="4206240" cy="1133856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32304" y="3127248"/>
            <a:ext cx="237744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78D4"/>
                </a:solidFill>
                <a:latin typeface="Segoe UI"/>
                <a:ea typeface="Microsoft YaHei"/>
              </a:rPr>
              <a:t>AKS 子网 · 10.0.1.0/24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6240" y="314553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94A3B8"/>
                </a:solidFill>
                <a:latin typeface="Segoe UI"/>
                <a:ea typeface="Microsoft YaHei"/>
              </a:rPr>
              <a:t>跨 AZ 节点池 · HPA · 托管标识免密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432304" y="3310128"/>
            <a:ext cx="3986784" cy="512064"/>
          </a:xfrm>
          <a:prstGeom prst="roundRect">
            <a:avLst>
              <a:gd name="adj" fmla="val 8928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505456" y="3337560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Node · 跨可用区冗余 · 托管节点池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523744" y="3456432"/>
            <a:ext cx="1920240" cy="329184"/>
          </a:xfrm>
          <a:prstGeom prst="roundRect">
            <a:avLst>
              <a:gd name="adj" fmla="val 13888"/>
            </a:avLst>
          </a:prstGeom>
          <a:solidFill>
            <a:srgbClr val="EFF6FF"/>
          </a:solidFill>
          <a:ln w="1778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551175" y="3456432"/>
            <a:ext cx="186537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E40AF"/>
                </a:solidFill>
                <a:latin typeface="Segoe UI"/>
                <a:ea typeface="Microsoft YaHei"/>
              </a:rPr>
              <a:t>前端 Pod · React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配置化查询界面 · JSON Schema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17136" y="3456432"/>
            <a:ext cx="1828800" cy="329184"/>
          </a:xfrm>
          <a:prstGeom prst="roundRect">
            <a:avLst>
              <a:gd name="adj" fmla="val 13888"/>
            </a:avLst>
          </a:prstGeom>
          <a:solidFill>
            <a:srgbClr val="F0F9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44568" y="3456432"/>
            <a:ext cx="177393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0E7490"/>
                </a:solidFill>
                <a:latin typeface="Segoe UI"/>
                <a:ea typeface="Microsoft YaHei"/>
              </a:rPr>
              <a:t>后端 Pod · .NET 单体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元数据 · 权限 · 查询代理 · 审计 · 销毁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432304" y="3895344"/>
            <a:ext cx="3986784" cy="219456"/>
          </a:xfrm>
          <a:prstGeom prst="roundRect">
            <a:avLst>
              <a:gd name="adj" fmla="val 16666"/>
            </a:avLst>
          </a:prstGeom>
          <a:solidFill>
            <a:srgbClr val="F0F9FF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487168" y="3895344"/>
            <a:ext cx="387705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C4A6E"/>
                </a:solidFill>
                <a:latin typeface="Segoe UI"/>
                <a:ea typeface="Microsoft YaHei"/>
              </a:rPr>
              <a:t>元数据服务：系统台账 · 表清单勾选 · 保留期与销毁策略 · 任务记录 · 操作审计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675120" y="3054096"/>
            <a:ext cx="2798064" cy="1133856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84848" y="3127248"/>
            <a:ext cx="265176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78D4"/>
                </a:solidFill>
                <a:latin typeface="Segoe UI"/>
                <a:ea typeface="Microsoft YaHei"/>
              </a:rPr>
              <a:t>私有端点子网 · 10.0.2.0/24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84848" y="332841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812280" y="332841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ADLS 私有端点（blob + dfs）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119871" y="332841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47303" y="332841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SQL Database 私有端点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784848" y="369417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812280" y="369417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Key Vault 私有端点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119871" y="3694176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47303" y="3694176"/>
            <a:ext cx="122529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1E40AF"/>
                </a:solidFill>
                <a:latin typeface="Segoe UI"/>
                <a:ea typeface="Microsoft YaHei"/>
              </a:rPr>
              <a:t>Databricks 工作区端点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84848" y="4041648"/>
            <a:ext cx="2578608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94A3B8"/>
                </a:solidFill>
                <a:latin typeface="Segoe UI"/>
                <a:ea typeface="Microsoft YaHei"/>
              </a:rPr>
              <a:t>子网内为私有端点 NIC · PaaS 本体在 Azure 平台侧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528816" y="3584448"/>
            <a:ext cx="128016" cy="0"/>
          </a:xfrm>
          <a:prstGeom prst="line">
            <a:avLst/>
          </a:prstGeom>
          <a:ln w="1778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126" name="TextBox 125"/>
          <p:cNvSpPr txBox="1"/>
          <p:nvPr/>
        </p:nvSpPr>
        <p:spPr>
          <a:xfrm>
            <a:off x="6419088" y="338328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078D4"/>
                </a:solidFill>
                <a:latin typeface="Segoe UI"/>
                <a:ea typeface="Microsoft YaHei"/>
              </a:rPr>
              <a:t>内网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19088" y="365760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078D4"/>
                </a:solidFill>
                <a:latin typeface="Segoe UI"/>
                <a:ea typeface="Microsoft YaHei"/>
              </a:rPr>
              <a:t>调用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2048256" y="2715768"/>
            <a:ext cx="256032" cy="0"/>
          </a:xfrm>
          <a:prstGeom prst="line">
            <a:avLst/>
          </a:prstGeom>
          <a:ln w="2032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29" name="TextBox 128"/>
          <p:cNvSpPr txBox="1"/>
          <p:nvPr/>
        </p:nvSpPr>
        <p:spPr>
          <a:xfrm>
            <a:off x="1188720" y="2542032"/>
            <a:ext cx="9144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059669"/>
                </a:solidFill>
                <a:latin typeface="Segoe UI"/>
                <a:ea typeface="Microsoft YaHei"/>
              </a:rPr>
              <a:t>HTTPS 443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035040" y="2066543"/>
            <a:ext cx="0" cy="969265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6163056" y="2871216"/>
            <a:ext cx="210312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97706"/>
                </a:solidFill>
                <a:latin typeface="Segoe UI"/>
                <a:ea typeface="Microsoft YaHei"/>
              </a:rPr>
              <a:t>SeaTunnel 抽取 · NAT 固定 IP</a:t>
            </a:r>
          </a:p>
        </p:txBody>
      </p:sp>
      <p:cxnSp>
        <p:nvCxnSpPr>
          <p:cNvPr id="132" name="Connector 131"/>
          <p:cNvCxnSpPr/>
          <p:nvPr/>
        </p:nvCxnSpPr>
        <p:spPr>
          <a:xfrm flipV="1">
            <a:off x="5312664" y="2103120"/>
            <a:ext cx="0" cy="384048"/>
          </a:xfrm>
          <a:prstGeom prst="line">
            <a:avLst/>
          </a:prstGeom>
          <a:ln w="1397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sp>
        <p:nvSpPr>
          <p:cNvPr id="133" name="TextBox 132"/>
          <p:cNvSpPr txBox="1"/>
          <p:nvPr/>
        </p:nvSpPr>
        <p:spPr>
          <a:xfrm>
            <a:off x="4023360" y="2084831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D97706"/>
                </a:solidFill>
                <a:latin typeface="Segoe UI"/>
                <a:ea typeface="Microsoft YaHei"/>
              </a:rPr>
              <a:t>出站固定 IP ↑</a:t>
            </a:r>
          </a:p>
        </p:txBody>
      </p:sp>
      <p:cxnSp>
        <p:nvCxnSpPr>
          <p:cNvPr id="134" name="Connector 133"/>
          <p:cNvCxnSpPr/>
          <p:nvPr/>
        </p:nvCxnSpPr>
        <p:spPr>
          <a:xfrm flipV="1">
            <a:off x="9326880" y="2212848"/>
            <a:ext cx="0" cy="841248"/>
          </a:xfrm>
          <a:prstGeom prst="line">
            <a:avLst/>
          </a:prstGeom>
          <a:ln w="17780">
            <a:solidFill>
              <a:srgbClr val="7C3AED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9326880" y="2212848"/>
            <a:ext cx="347472" cy="0"/>
          </a:xfrm>
          <a:prstGeom prst="line">
            <a:avLst/>
          </a:prstGeom>
          <a:ln w="17780">
            <a:solidFill>
              <a:srgbClr val="7C3AED"/>
            </a:solidFill>
            <a:prstDash val="dash"/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7726679" y="2048256"/>
            <a:ext cx="18288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7C3AED"/>
                </a:solidFill>
                <a:latin typeface="Segoe UI"/>
                <a:ea typeface="Microsoft YaHei"/>
              </a:rPr>
              <a:t>Private Link · JDBC / ODBC 443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01168" y="4425696"/>
            <a:ext cx="11795760" cy="1316736"/>
          </a:xfrm>
          <a:prstGeom prst="roundRect">
            <a:avLst>
              <a:gd name="adj" fmla="val 5555"/>
            </a:avLst>
          </a:prstGeom>
          <a:solidFill>
            <a:srgbClr val="F0FAF6"/>
          </a:solidFill>
          <a:ln w="1651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47472" y="44988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  <a:ea typeface="Microsoft YaHei"/>
              </a:rPr>
              <a:t>Azure PaaS 数据与治理服务 · 全部私有端点接入 · 公网访问已禁用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10896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329184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20624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Microsoft Entra ID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4048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身份与单点登录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4048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SAML / OIDC · 托管标识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1792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9224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475569"/>
                </a:solidFill>
                <a:latin typeface="Segoe UI"/>
                <a:ea typeface="Microsoft YaHei"/>
              </a:rPr>
              <a:t>全局服务 · 443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10896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4748B"/>
                </a:solidFill>
                <a:latin typeface="Segoe UI"/>
                <a:ea typeface="Microsoft YaHei"/>
              </a:rPr>
              <a:t>认证走 443 · 无私有端点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212848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2231136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322576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Application Insights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286000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审计留痕与链路追踪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86000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操作日志 · 告警规则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523744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551175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212848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114800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4133087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224528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Azure Monitor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187952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资源指标与告警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87952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仪表板 · 自动化响应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425696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453128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14800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016752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035040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126480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Azure Key Vault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89904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密钥与凭据托管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089904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CMK · 源库连接串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327648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55080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016752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918704" y="4736592"/>
            <a:ext cx="18105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7936992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028431" y="4791456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Azure SQL Database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91856" y="4956048"/>
            <a:ext cx="1682496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078D4"/>
                </a:solidFill>
                <a:latin typeface="Segoe UI"/>
                <a:ea typeface="Microsoft YaHei"/>
              </a:rPr>
              <a:t>元数据库 Standard S2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91856" y="5093208"/>
            <a:ext cx="16824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主备自动故障转移 · PITR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229600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257031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918704" y="5440680"/>
            <a:ext cx="1810512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820656" y="4736592"/>
            <a:ext cx="18836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7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9838944" y="4791456"/>
            <a:ext cx="32004" cy="804672"/>
          </a:xfrm>
          <a:prstGeom prst="roundRect">
            <a:avLst>
              <a:gd name="adj" fmla="val 48571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875520" y="4782312"/>
            <a:ext cx="179222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172A"/>
                </a:solidFill>
                <a:latin typeface="Segoe UI"/>
                <a:ea typeface="Microsoft YaHei"/>
              </a:rPr>
              <a:t>两个独立存储账户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875520" y="4928616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078D4"/>
                </a:solidFill>
                <a:latin typeface="Segoe UI"/>
                <a:ea typeface="Microsoft YaHei"/>
              </a:rPr>
              <a:t>① ADLS Gen2（HNS）· Iceberg 湖表 · ZRS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D97706"/>
                </a:solidFill>
                <a:latin typeface="Segoe UI"/>
                <a:ea typeface="Microsoft YaHei"/>
              </a:rPr>
              <a:t>② Blob（FNS）· 附件 · Cool→Cold · 可 WORM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0168128" y="5239512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195559" y="5239512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1E40AF"/>
                </a:solidFill>
                <a:latin typeface="Segoe UI"/>
                <a:ea typeface="Microsoft YaHei"/>
              </a:rPr>
              <a:t>Private Endpoint ×2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820656" y="5440680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C2626"/>
                </a:solidFill>
                <a:latin typeface="Segoe UI"/>
                <a:ea typeface="Microsoft YaHei"/>
              </a:rPr>
              <a:t>公网访问：已禁用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6922008" y="4187952"/>
            <a:ext cx="0" cy="530352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8823960" y="4187952"/>
            <a:ext cx="0" cy="530352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cxnSp>
        <p:nvCxnSpPr>
          <p:cNvPr id="188" name="Connector 187"/>
          <p:cNvCxnSpPr/>
          <p:nvPr/>
        </p:nvCxnSpPr>
        <p:spPr>
          <a:xfrm>
            <a:off x="9235440" y="4187952"/>
            <a:ext cx="0" cy="292608"/>
          </a:xfrm>
          <a:prstGeom prst="line">
            <a:avLst/>
          </a:prstGeom>
          <a:ln w="15240">
            <a:solidFill>
              <a:srgbClr val="0078D4"/>
            </a:solidFill>
            <a:prstDash val="dash"/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9235440" y="4480560"/>
            <a:ext cx="1325880" cy="0"/>
          </a:xfrm>
          <a:prstGeom prst="line">
            <a:avLst/>
          </a:prstGeom>
          <a:ln w="15240">
            <a:solidFill>
              <a:srgbClr val="0078D4"/>
            </a:solidFill>
            <a:prstDash val="dash"/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10561320" y="4480560"/>
            <a:ext cx="0" cy="237744"/>
          </a:xfrm>
          <a:prstGeom prst="line">
            <a:avLst/>
          </a:prstGeom>
          <a:ln w="15240">
            <a:solidFill>
              <a:srgbClr val="0078D4"/>
            </a:solidFill>
            <a:prstDash val="dash"/>
            <a:tailEnd type="triangle" w="med" len="med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7333488" y="4462272"/>
            <a:ext cx="13716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0078D4"/>
                </a:solidFill>
                <a:latin typeface="Segoe UI"/>
                <a:ea typeface="Microsoft YaHei"/>
              </a:rPr>
              <a:t>Private Link 私网流量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333488" y="4581144"/>
            <a:ext cx="13716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与上方端点一一对应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11338560" y="4297680"/>
            <a:ext cx="0" cy="420624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11411712" y="4389120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★ NCC 托管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私有端点通道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201168" y="5852160"/>
            <a:ext cx="8686800" cy="859536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29184" y="5907024"/>
            <a:ext cx="27432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关键设计要点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29184" y="6080760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①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除 Entra ID（全局认证）外，PaaS 全部私有端点接入，流量不出骨干网；入口 WAF + AppGW 收敛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9184" y="6222492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②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Serverless 不支持 VNet 对等 / VPN —— 私有访问 ADLS 唯一方式：NCC + 托管私有端点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29184" y="6364224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③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源库抽取走 NAT 固定出口 IP 白名单；跨机房走 ExpressRoute / 站点到站点 VPN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626864" y="6080760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④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元数据与销毁策略存 SQL DB S2 · 审计进 App Insights · 密钥由 Key Vault 托管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626864" y="6222492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⑤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相比方案 B：省去 Trino 集群与双子网注入，查询层完全托管、零集群运维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626864" y="6364224"/>
            <a:ext cx="416052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78D4"/>
                </a:solidFill>
                <a:latin typeface="Segoe UI"/>
                <a:ea typeface="Microsoft YaHei"/>
              </a:rPr>
              <a:t>⑥ </a:t>
            </a: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需 Databricks Premium 层（PE / NCC 均为 Premium 特性）；NCC 需 Account Admin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997696" y="5852160"/>
            <a:ext cx="2999232" cy="859536"/>
          </a:xfrm>
          <a:prstGeom prst="roundRect">
            <a:avLst>
              <a:gd name="adj" fmla="val 6382"/>
            </a:avLst>
          </a:prstGeom>
          <a:solidFill>
            <a:srgbClr val="FFF1F2"/>
          </a:solidFill>
          <a:ln w="12700">
            <a:solidFill>
              <a:srgbClr val="F8717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125712" y="5907024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91C1C"/>
                </a:solidFill>
                <a:latin typeface="Segoe UI"/>
                <a:ea typeface="Microsoft YaHei"/>
              </a:rPr>
              <a:t>高可用 &amp; 容灾（HA / DR）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125712" y="6080760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AKS 跨 AZ · SQL 主备自动转移 · 存储 ZRS 冗余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125712" y="6222492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平台托管无单点 · Serverless 空闲归零自动重建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125712" y="6364224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SQL 自动备份 + PITR · ADLS 生命周期分层 / GRS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125712" y="6505956"/>
            <a:ext cx="2761488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E11D48"/>
                </a:solidFill>
                <a:latin typeface="Segoe UI"/>
                <a:ea typeface="Microsoft YaHei"/>
              </a:rPr>
              <a:t>· </a:t>
            </a: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RPO ≤ 15 min · RTO ≤ 2 h · 审计独立备份不销毁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应用架构图 · 方案 B2（湖仓一体 · Databricks SQL Serverless 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566928"/>
            <a:ext cx="1179576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1524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30936"/>
            <a:ext cx="18288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7857"/>
                </a:solidFill>
                <a:latin typeface="Segoe UI"/>
                <a:ea typeface="Microsoft YaHei"/>
              </a:rPr>
              <a:t>01 访问入口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1828800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84124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业务查询员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查本系统归档数据</a:t>
            </a:r>
          </a:p>
        </p:txBody>
      </p:sp>
      <p:sp>
        <p:nvSpPr>
          <p:cNvPr id="8" name="Oval 7"/>
          <p:cNvSpPr/>
          <p:nvPr/>
        </p:nvSpPr>
        <p:spPr>
          <a:xfrm>
            <a:off x="538261" y="959434"/>
            <a:ext cx="57332" cy="573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6978" y="1026322"/>
            <a:ext cx="99898" cy="6515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40864" y="841248"/>
            <a:ext cx="1828800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296" y="84124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审计 / 合规岗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跨系统检索与举证</a:t>
            </a:r>
          </a:p>
        </p:txBody>
      </p:sp>
      <p:sp>
        <p:nvSpPr>
          <p:cNvPr id="12" name="Oval 11"/>
          <p:cNvSpPr/>
          <p:nvPr/>
        </p:nvSpPr>
        <p:spPr>
          <a:xfrm>
            <a:off x="2513365" y="959434"/>
            <a:ext cx="57332" cy="573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92082" y="1026322"/>
            <a:ext cx="99898" cy="6515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841248"/>
            <a:ext cx="1828800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841248"/>
            <a:ext cx="17739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平台运维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监控作业与销毁</a:t>
            </a:r>
          </a:p>
        </p:txBody>
      </p:sp>
      <p:sp>
        <p:nvSpPr>
          <p:cNvPr id="16" name="Oval 15"/>
          <p:cNvSpPr/>
          <p:nvPr/>
        </p:nvSpPr>
        <p:spPr>
          <a:xfrm>
            <a:off x="4488469" y="959434"/>
            <a:ext cx="57332" cy="573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67186" y="1026322"/>
            <a:ext cx="99898" cy="65150"/>
          </a:xfrm>
          <a:prstGeom prst="roundRect">
            <a:avLst>
              <a:gd name="adj" fmla="val 4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46336" y="822960"/>
            <a:ext cx="2212848" cy="420624"/>
          </a:xfrm>
          <a:prstGeom prst="roundRect">
            <a:avLst>
              <a:gd name="adj" fmla="val 10869"/>
            </a:avLst>
          </a:prstGeom>
          <a:solidFill>
            <a:srgbClr val="EFF6FF"/>
          </a:solidFill>
          <a:ln w="15240">
            <a:solidFill>
              <a:srgbClr val="93C5F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822960"/>
            <a:ext cx="215798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ED8"/>
                </a:solidFill>
                <a:latin typeface="Segoe UI"/>
                <a:ea typeface="Microsoft YaHei"/>
              </a:rPr>
              <a:t>Microsoft Entra ID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1E40AF"/>
                </a:solidFill>
                <a:latin typeface="Segoe UI"/>
                <a:ea typeface="Microsoft YaHei"/>
              </a:rPr>
              <a:t>SSO / OIDC / 托管标识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93268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4748B"/>
                </a:solidFill>
                <a:latin typeface="Segoe UI"/>
                <a:ea typeface="Microsoft YaHei"/>
              </a:rPr>
              <a:t>统一身份 · 单点登录 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1316736"/>
            <a:ext cx="0" cy="109728"/>
          </a:xfrm>
          <a:prstGeom prst="line">
            <a:avLst/>
          </a:prstGeom>
          <a:ln w="2540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4087368" y="1321308"/>
            <a:ext cx="109728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891B2"/>
                </a:solidFill>
                <a:latin typeface="Segoe UI"/>
                <a:ea typeface="Microsoft YaHei"/>
              </a:rPr>
              <a:t>HTTPS 443 · 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" y="1426464"/>
            <a:ext cx="11795760" cy="950976"/>
          </a:xfrm>
          <a:prstGeom prst="roundRect">
            <a:avLst>
              <a:gd name="adj" fmla="val 7692"/>
            </a:avLst>
          </a:prstGeom>
          <a:solidFill>
            <a:srgbClr val="ECFEFF"/>
          </a:solidFill>
          <a:ln w="1524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490472"/>
            <a:ext cx="27432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7490"/>
                </a:solidFill>
                <a:latin typeface="Segoe UI"/>
                <a:ea typeface="Microsoft YaHei"/>
              </a:rPr>
              <a:t>02 自研应用层（AKS）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1700784"/>
            <a:ext cx="26883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1700784"/>
            <a:ext cx="263347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72A"/>
                </a:solidFill>
                <a:latin typeface="Segoe UI"/>
                <a:ea typeface="Microsoft YaHei"/>
              </a:rPr>
              <a:t>React 配置化查询平台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JSON Schema 渲染查询表单 · 表格 / 明细 / 附件预览 / 导出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7016" y="1700784"/>
            <a:ext cx="52852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700784"/>
            <a:ext cx="5175504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.NET 10 后端服务组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660" b="0" i="0">
                <a:solidFill>
                  <a:srgbClr val="64748B"/>
                </a:solidFill>
                <a:latin typeface="Segoe UI"/>
                <a:ea typeface="Microsoft YaHei"/>
              </a:rPr>
              <a:t>元数据 · 查询代理 · 权限校验 · 附件代理 · 审计上报 · 销毁调度</a:t>
            </a:r>
          </a:p>
          <a:p>
            <a:pPr algn="ctr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</a:pPr>
            <a:r>
              <a:rPr sz="660" b="0" i="0">
                <a:solidFill>
                  <a:srgbClr val="94A3B8"/>
                </a:solidFill>
                <a:latin typeface="Segoe UI"/>
                <a:ea typeface="Microsoft YaHei"/>
              </a:rPr>
              <a:t>后端二次鉴权 · 参数化 SQL · 私有端点访问下游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1984248"/>
            <a:ext cx="393192" cy="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9345168" y="1700784"/>
            <a:ext cx="241401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700784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72A"/>
                </a:solidFill>
                <a:latin typeface="Segoe UI"/>
                <a:ea typeface="Microsoft YaHei"/>
              </a:rPr>
              <a:t>Azure SQL 元数据库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系统台账 / 表清单 / 保留期 / 销毁策略 / 审计索引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97112" y="1984248"/>
            <a:ext cx="393192" cy="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8357616" y="182880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891B2"/>
                </a:solidFill>
                <a:latin typeface="Segoe UI"/>
                <a:ea typeface="Microsoft YaHei"/>
              </a:rPr>
              <a:t>读写配置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" y="2505456"/>
            <a:ext cx="11795760" cy="2212848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569464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Segoe UI"/>
                <a:ea typeface="Microsoft YaHei"/>
              </a:rPr>
              <a:t>03 核心链路（写入 / 查询 / 附件）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761488"/>
            <a:ext cx="3675887" cy="1773936"/>
          </a:xfrm>
          <a:prstGeom prst="roundRect">
            <a:avLst>
              <a:gd name="adj" fmla="val 4123"/>
            </a:avLst>
          </a:prstGeom>
          <a:solidFill>
            <a:srgbClr val="F0FDF4"/>
          </a:solidFill>
          <a:ln w="1524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28346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40">
                <a:solidFill>
                  <a:srgbClr val="047857"/>
                </a:solidFill>
                <a:latin typeface="Segoe UI"/>
                <a:ea typeface="Microsoft YaHei"/>
              </a:rPr>
              <a:t>WRITE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298094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归档写入 / 到期销毁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DBA7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Azure Data Factory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编排调度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59152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DBA7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86584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SeaTunnel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结构化抽取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103120" y="3506724"/>
            <a:ext cx="219456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44" name="Rounded Rectangle 43"/>
          <p:cNvSpPr/>
          <p:nvPr/>
        </p:nvSpPr>
        <p:spPr>
          <a:xfrm>
            <a:off x="512064" y="391363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397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3913632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47857"/>
                </a:solidFill>
                <a:latin typeface="Segoe UI"/>
                <a:ea typeface="Microsoft YaHei"/>
              </a:rPr>
              <a:t>Databricks Serverless：ETL · Compaction · DROP PARTITION + VACUUM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528" y="2761488"/>
            <a:ext cx="3675887" cy="1773936"/>
          </a:xfrm>
          <a:prstGeom prst="roundRect">
            <a:avLst>
              <a:gd name="adj" fmla="val 4123"/>
            </a:avLst>
          </a:prstGeom>
          <a:solidFill>
            <a:srgbClr val="F5F3FF"/>
          </a:solidFill>
          <a:ln w="1524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2" y="28346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40">
                <a:solidFill>
                  <a:srgbClr val="6D28D9"/>
                </a:solidFill>
                <a:latin typeface="Segoe UI"/>
                <a:ea typeface="Microsoft YaHei"/>
              </a:rPr>
              <a:t>READ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298094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在线查询 / 跨系统检索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2544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C4B5F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79976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查询代理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限流 / 超时 / 审计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A78B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Databricks SQL Serverless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读侧查询 · 空闲缩 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61888" y="3506724"/>
            <a:ext cx="219456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54" name="Rounded Rectangle 53"/>
          <p:cNvSpPr/>
          <p:nvPr/>
        </p:nvSpPr>
        <p:spPr>
          <a:xfrm>
            <a:off x="4370832" y="391363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397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25696" y="3913632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D28D9"/>
                </a:solidFill>
                <a:latin typeface="Segoe UI"/>
                <a:ea typeface="Microsoft YaHei"/>
              </a:rPr>
              <a:t>Unity Catalog 表级授权 · SERVE 层首屏 2–5 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83296" y="2761488"/>
            <a:ext cx="3675887" cy="1773936"/>
          </a:xfrm>
          <a:prstGeom prst="roundRect">
            <a:avLst>
              <a:gd name="adj" fmla="val 4123"/>
            </a:avLst>
          </a:prstGeom>
          <a:solidFill>
            <a:srgbClr val="FFFBEB"/>
          </a:solidFill>
          <a:ln w="1524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28346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40">
                <a:solidFill>
                  <a:srgbClr val="B45309"/>
                </a:solidFill>
                <a:latin typeface="Segoe UI"/>
                <a:ea typeface="Microsoft YaHei"/>
              </a:rPr>
              <a:t>ATTACHMENT 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298094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非结构化附件 / 预览下载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11312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CD34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38744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Storage Mover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迁移附件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76688" y="3255264"/>
            <a:ext cx="1572768" cy="50292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5240">
            <a:solidFill>
              <a:srgbClr val="FCD34D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4120" y="3255264"/>
            <a:ext cx="151790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F172A"/>
                </a:solidFill>
                <a:latin typeface="Segoe UI"/>
                <a:ea typeface="Microsoft YaHei"/>
              </a:rPr>
              <a:t>附件代理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鉴权 / 流式回吐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820656" y="3506724"/>
            <a:ext cx="219456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64" name="Rounded Rectangle 63"/>
          <p:cNvSpPr/>
          <p:nvPr/>
        </p:nvSpPr>
        <p:spPr>
          <a:xfrm>
            <a:off x="8229600" y="391363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3913632"/>
            <a:ext cx="32735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92400E"/>
                </a:solidFill>
                <a:latin typeface="Segoe UI"/>
                <a:ea typeface="Microsoft YaHei"/>
              </a:rPr>
              <a:t>SHA-256 台账 · 附件索引表 · 后端审计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840480" y="2267712"/>
            <a:ext cx="0" cy="384048"/>
          </a:xfrm>
          <a:prstGeom prst="line">
            <a:avLst/>
          </a:prstGeom>
          <a:ln w="27940">
            <a:solidFill>
              <a:srgbClr val="059669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H="1">
            <a:off x="2203704" y="2651760"/>
            <a:ext cx="1636776" cy="0"/>
          </a:xfrm>
          <a:prstGeom prst="line">
            <a:avLst/>
          </a:prstGeom>
          <a:ln w="27940">
            <a:solidFill>
              <a:srgbClr val="059669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203704" y="2651760"/>
            <a:ext cx="0" cy="91440"/>
          </a:xfrm>
          <a:prstGeom prst="line">
            <a:avLst/>
          </a:prstGeom>
          <a:ln w="2794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2395728" y="249631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59669"/>
                </a:solidFill>
                <a:latin typeface="Segoe UI"/>
                <a:ea typeface="Microsoft YaHei"/>
              </a:rPr>
              <a:t>接入配置 / 销毁调度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062472" y="2267712"/>
            <a:ext cx="0" cy="475488"/>
          </a:xfrm>
          <a:prstGeom prst="line">
            <a:avLst/>
          </a:prstGeom>
          <a:ln w="2794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6163056" y="243230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7C3AED"/>
                </a:solidFill>
                <a:latin typeface="Segoe UI"/>
                <a:ea typeface="Microsoft YaHei"/>
              </a:rPr>
              <a:t>查询请求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23760" y="2267712"/>
            <a:ext cx="0" cy="384048"/>
          </a:xfrm>
          <a:prstGeom prst="line">
            <a:avLst/>
          </a:prstGeom>
          <a:ln w="25400">
            <a:solidFill>
              <a:srgbClr val="D9770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7223760" y="2651760"/>
            <a:ext cx="2697480" cy="0"/>
          </a:xfrm>
          <a:prstGeom prst="line">
            <a:avLst/>
          </a:prstGeom>
          <a:ln w="25400">
            <a:solidFill>
              <a:srgbClr val="D9770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9921240" y="2651760"/>
            <a:ext cx="0" cy="9144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8138160" y="249631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97706"/>
                </a:solidFill>
                <a:latin typeface="Segoe UI"/>
                <a:ea typeface="Microsoft YaHei"/>
              </a:rPr>
              <a:t>附件预览 / 下载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1168" y="4828032"/>
            <a:ext cx="1179576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4892040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D4ED8"/>
                </a:solidFill>
                <a:latin typeface="Segoe UI"/>
                <a:ea typeface="Microsoft YaHei"/>
              </a:rPr>
              <a:t>04 数据底座与统一治理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5084064"/>
            <a:ext cx="3566160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60A5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5084064"/>
            <a:ext cx="351129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ADLS Gen2 · Iceberg 湖表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RAW / CURATED / LAKE / SERVE · 1:1 原样归档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0" y="5084064"/>
            <a:ext cx="3291840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60A5F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42232" y="5084064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Unity Catalog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表级权限 / 血缘 / 快照回溯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89520" y="5084064"/>
            <a:ext cx="4169663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16952" y="5084064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F172A"/>
                </a:solidFill>
                <a:latin typeface="Segoe UI"/>
                <a:ea typeface="Microsoft YaHei"/>
              </a:rPr>
              <a:t>Azure Blob · 附件账户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4748B"/>
                </a:solidFill>
                <a:latin typeface="Segoe UI"/>
                <a:ea typeface="Microsoft YaHei"/>
              </a:rPr>
              <a:t>Cool / Cold 分层 · WORM 可选 · 与业务表分账户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203704" y="4535424"/>
            <a:ext cx="0" cy="530352"/>
          </a:xfrm>
          <a:prstGeom prst="line">
            <a:avLst/>
          </a:prstGeom>
          <a:ln w="2794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2304288" y="4732020"/>
            <a:ext cx="128016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59669"/>
                </a:solidFill>
                <a:latin typeface="Segoe UI"/>
                <a:ea typeface="Microsoft YaHei"/>
              </a:rPr>
              <a:t>写入 Iceberg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062472" y="4535424"/>
            <a:ext cx="0" cy="237744"/>
          </a:xfrm>
          <a:prstGeom prst="line">
            <a:avLst/>
          </a:prstGeom>
          <a:ln w="27940">
            <a:solidFill>
              <a:srgbClr val="7C3AED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H="1">
            <a:off x="3291840" y="4773168"/>
            <a:ext cx="2770632" cy="0"/>
          </a:xfrm>
          <a:prstGeom prst="line">
            <a:avLst/>
          </a:prstGeom>
          <a:ln w="27940">
            <a:solidFill>
              <a:srgbClr val="7C3AED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3291840" y="4773168"/>
            <a:ext cx="0" cy="292608"/>
          </a:xfrm>
          <a:prstGeom prst="line">
            <a:avLst/>
          </a:prstGeom>
          <a:ln w="2794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4224528" y="457200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7C3AED"/>
                </a:solidFill>
                <a:latin typeface="Segoe UI"/>
                <a:ea typeface="Microsoft YaHei"/>
              </a:rPr>
              <a:t>读 Iceberg / ABFS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921240" y="4535424"/>
            <a:ext cx="0" cy="530352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10021824" y="4732020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D97706"/>
                </a:solidFill>
                <a:latin typeface="Segoe UI"/>
                <a:ea typeface="Microsoft YaHei"/>
              </a:rPr>
              <a:t>附件取流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5705856"/>
            <a:ext cx="73334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2064" y="5705856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334155"/>
                </a:solidFill>
                <a:latin typeface="Segoe UI"/>
                <a:ea typeface="Microsoft YaHei"/>
              </a:rPr>
              <a:t>安全底座：</a:t>
            </a:r>
            <a:r>
              <a:rPr sz="680" b="0" i="0">
                <a:solidFill>
                  <a:srgbClr val="475569"/>
                </a:solidFill>
                <a:latin typeface="Segoe UI"/>
                <a:ea typeface="Microsoft YaHei"/>
              </a:rPr>
              <a:t>Key Vault · App Insights · Azure Monitor · Databricks Query History · 全部 PaaS 私有端点 · 入口 WAF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00416" y="5705856"/>
            <a:ext cx="3858768" cy="36576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65008" y="5705856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B45309"/>
                </a:solidFill>
                <a:latin typeface="Segoe UI"/>
                <a:ea typeface="Microsoft YaHei"/>
              </a:rPr>
              <a:t>B2 读侧：</a:t>
            </a:r>
            <a:r>
              <a:rPr sz="680" b="0" i="0">
                <a:solidFill>
                  <a:srgbClr val="92400E"/>
                </a:solidFill>
                <a:latin typeface="Segoe UI"/>
                <a:ea typeface="Microsoft YaHei"/>
              </a:rPr>
              <a:t>Databricks SQL Serverless 完全托管 · 空闲缩 0；代价是引擎绑定 + 需 Premium 层（NCC / PE）</a:t>
            </a:r>
          </a:p>
        </p:txBody>
      </p:sp>
      <p:sp>
        <p:nvSpPr>
          <p:cNvPr id="96" name="Oval 95"/>
          <p:cNvSpPr/>
          <p:nvPr/>
        </p:nvSpPr>
        <p:spPr>
          <a:xfrm>
            <a:off x="365760" y="6245352"/>
            <a:ext cx="82296" cy="8229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3776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自研应用组件（AKS）</a:t>
            </a:r>
          </a:p>
        </p:txBody>
      </p:sp>
      <p:sp>
        <p:nvSpPr>
          <p:cNvPr id="98" name="Oval 97"/>
          <p:cNvSpPr/>
          <p:nvPr/>
        </p:nvSpPr>
        <p:spPr>
          <a:xfrm>
            <a:off x="1940356" y="6245352"/>
            <a:ext cx="82296" cy="822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68372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写侧数据链路</a:t>
            </a:r>
          </a:p>
        </p:txBody>
      </p:sp>
      <p:sp>
        <p:nvSpPr>
          <p:cNvPr id="100" name="Oval 99"/>
          <p:cNvSpPr/>
          <p:nvPr/>
        </p:nvSpPr>
        <p:spPr>
          <a:xfrm>
            <a:off x="3140049" y="6245352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68065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读侧查询链路</a:t>
            </a:r>
          </a:p>
        </p:txBody>
      </p:sp>
      <p:sp>
        <p:nvSpPr>
          <p:cNvPr id="102" name="Oval 101"/>
          <p:cNvSpPr/>
          <p:nvPr/>
        </p:nvSpPr>
        <p:spPr>
          <a:xfrm>
            <a:off x="4339742" y="6245352"/>
            <a:ext cx="82296" cy="822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67758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编排 / 抽取</a:t>
            </a:r>
          </a:p>
        </p:txBody>
      </p:sp>
      <p:sp>
        <p:nvSpPr>
          <p:cNvPr id="104" name="Oval 103"/>
          <p:cNvSpPr/>
          <p:nvPr/>
        </p:nvSpPr>
        <p:spPr>
          <a:xfrm>
            <a:off x="5614416" y="6245352"/>
            <a:ext cx="82296" cy="822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42432" y="619963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Azure PaaS 数据服务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方案 B2 · 湖仓一体 · 存算分离架构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76656"/>
            <a:ext cx="0" cy="5632704"/>
          </a:xfrm>
          <a:prstGeom prst="line">
            <a:avLst/>
          </a:prstGeom>
          <a:ln w="31750">
            <a:solidFill>
              <a:srgbClr val="E2E8F0"/>
            </a:solidFill>
          </a:ln>
          <a:effectLst/>
        </p:spPr>
      </p:cxnSp>
      <p:sp>
        <p:nvSpPr>
          <p:cNvPr id="5" name="Rounded Rectangle 4"/>
          <p:cNvSpPr/>
          <p:nvPr/>
        </p:nvSpPr>
        <p:spPr>
          <a:xfrm>
            <a:off x="713232" y="566928"/>
            <a:ext cx="7104888" cy="621792"/>
          </a:xfrm>
          <a:prstGeom prst="roundRect">
            <a:avLst>
              <a:gd name="adj" fmla="val 11764"/>
            </a:avLst>
          </a:prstGeom>
          <a:solidFill>
            <a:srgbClr val="F6F8FA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7472" y="722375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2237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475569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795528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475569"/>
                </a:solidFill>
                <a:latin typeface="Consolas"/>
                <a:ea typeface="Microsoft YaHe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32688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退役 · 只读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051560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15 套待归档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1136" y="640080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651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640080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结构化数据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Oracle · MySQL · DB2 / 其他 · JDBC 读取 · 约 100 张表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640080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BEB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640080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92400E"/>
                </a:solidFill>
                <a:latin typeface="Segoe UI"/>
                <a:ea typeface="Microsoft YaHei"/>
              </a:rPr>
              <a:t>非结构化附件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8350F"/>
                </a:solidFill>
                <a:latin typeface="Segoe UI"/>
                <a:ea typeface="Microsoft YaHei"/>
              </a:rPr>
              <a:t>NFS · S3 · Azure Blob · PDF / 图片 / 影像件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83480" y="1188720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713232" y="1298448"/>
            <a:ext cx="7104888" cy="841248"/>
          </a:xfrm>
          <a:prstGeom prst="roundRect">
            <a:avLst>
              <a:gd name="adj" fmla="val 8695"/>
            </a:avLst>
          </a:prstGeom>
          <a:solidFill>
            <a:srgbClr val="ECFEFF"/>
          </a:solidFill>
          <a:ln w="1524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7472" y="1563624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5636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91B2"/>
                </a:solidFill>
                <a:latin typeface="Consolas"/>
                <a:ea typeface="Microsoft YaHei"/>
              </a:rPr>
              <a:t>B-00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353312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接入配置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527048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0891B2"/>
                </a:solidFill>
                <a:latin typeface="Consolas"/>
                <a:ea typeface="Microsoft YaHei"/>
              </a:rPr>
              <a:t>CONFIGURE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664207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页面操作 · 零代码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783079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配置存元数据库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901951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891B2"/>
                </a:solidFill>
                <a:latin typeface="Segoe UI"/>
                <a:ea typeface="Microsoft YaHei"/>
              </a:rPr>
              <a:t>新系统接入复用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31136" y="1353312"/>
            <a:ext cx="1691640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22576" y="1408176"/>
            <a:ext cx="153619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① 录入连接信息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155448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主机 / 端口 / 账号 · 凭据存 Key Vault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「测试连接」校验连通与权限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087" y="1353312"/>
            <a:ext cx="1691640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7" y="1408176"/>
            <a:ext cx="153619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② 自动读取表清单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7" y="155448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扫描 information_schema · 表名 / 行数 / 大小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7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共发现 10 张表（含类型与主键）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1353312"/>
            <a:ext cx="1691640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1651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1408176"/>
            <a:ext cx="153619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③ 勾选待迁移表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9" y="1554480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☑ 订单主表 · 明细 · 客户 · 商品 · 支付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☐ 临时 / 日志 / 中间 / 缓存 / 备份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31920" y="1645920"/>
            <a:ext cx="182880" cy="0"/>
          </a:xfrm>
          <a:prstGeom prst="line">
            <a:avLst/>
          </a:prstGeom>
          <a:ln w="19050">
            <a:solidFill>
              <a:srgbClr val="0891B2"/>
            </a:solidFill>
            <a:tailEnd type="triangle" w="med" len="med"/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5833872" y="1645920"/>
            <a:ext cx="182880" cy="0"/>
          </a:xfrm>
          <a:prstGeom prst="line">
            <a:avLst/>
          </a:prstGeom>
          <a:ln w="1905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2231136" y="1965960"/>
            <a:ext cx="54955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891B2"/>
                </a:solidFill>
                <a:latin typeface="Segoe UI"/>
                <a:ea typeface="Microsoft YaHei"/>
              </a:rPr>
              <a:t>按配置生成 SeaTunnel 任务 · 仅入湖勾选的 5 张表（10 选 5）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83480" y="2139696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41" name="Rounded Rectangle 40"/>
          <p:cNvSpPr/>
          <p:nvPr/>
        </p:nvSpPr>
        <p:spPr>
          <a:xfrm>
            <a:off x="713232" y="2249424"/>
            <a:ext cx="7104888" cy="621792"/>
          </a:xfrm>
          <a:prstGeom prst="roundRect">
            <a:avLst>
              <a:gd name="adj" fmla="val 11764"/>
            </a:avLst>
          </a:prstGeom>
          <a:solidFill>
            <a:srgbClr val="FFF7ED"/>
          </a:solidFill>
          <a:ln w="1524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7472" y="2404872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24048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EA580C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2304288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数据抽取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2478024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EA580C"/>
                </a:solidFill>
                <a:latin typeface="Consolas"/>
                <a:ea typeface="Microsoft YaHei"/>
              </a:rPr>
              <a:t>INGEST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2615184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批量 · 全量 + 增量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2734056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ADF 编排调度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31136" y="2322576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651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58568" y="2322576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0F172A"/>
                </a:solidFill>
                <a:latin typeface="Segoe UI"/>
                <a:ea typeface="Microsoft YaHei"/>
              </a:rPr>
              <a:t>结构化 · SeaTunnel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200+ 连接器 · JDBC · 类型映射 · 对账 → Iceberg 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38344" y="2322576"/>
            <a:ext cx="2688336" cy="475488"/>
          </a:xfrm>
          <a:prstGeom prst="roundRect">
            <a:avLst>
              <a:gd name="adj" fmla="val 9615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5776" y="2322576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92400E"/>
                </a:solidFill>
                <a:latin typeface="Segoe UI"/>
                <a:ea typeface="Microsoft YaHei"/>
              </a:rPr>
              <a:t>附件 · Storage Mover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8350F"/>
                </a:solidFill>
                <a:latin typeface="Segoe UI"/>
                <a:ea typeface="Microsoft YaHei"/>
              </a:rPr>
              <a:t>PDF / 图片 / Office 影像 · 服务免费 → ADLS 附件容器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983480" y="2871216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53" name="Rounded Rectangle 52"/>
          <p:cNvSpPr/>
          <p:nvPr/>
        </p:nvSpPr>
        <p:spPr>
          <a:xfrm>
            <a:off x="713232" y="2980944"/>
            <a:ext cx="7104888" cy="1133856"/>
          </a:xfrm>
          <a:prstGeom prst="roundRect">
            <a:avLst>
              <a:gd name="adj" fmla="val 6451"/>
            </a:avLst>
          </a:prstGeom>
          <a:solidFill>
            <a:srgbClr val="FAF9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7472" y="3392424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3924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7C3AED"/>
                </a:solidFill>
                <a:latin typeface="Consolas"/>
                <a:ea typeface="Microsoft YaHei"/>
              </a:rPr>
              <a:t>B-03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3035808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Iceberg 冷湖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209544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7C3AED"/>
                </a:solidFill>
                <a:latin typeface="Consolas"/>
                <a:ea typeface="Microsoft YaHei"/>
              </a:rPr>
              <a:t>COLD LAKE · STORAGE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3346703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ADLS Gen2 · Parquet + ZSTD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3465575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7C3AED"/>
                </a:solidFill>
                <a:latin typeface="Segoe UI"/>
                <a:ea typeface="Microsoft YaHei"/>
              </a:rPr>
              <a:t>≈¥90–150/TB·月 · PB 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3584447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100 张表 · 1:1 原样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3703320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Hot / Cool 分层 · ZRS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31136" y="3035808"/>
            <a:ext cx="5495544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7C3AED"/>
                </a:solidFill>
                <a:latin typeface="Segoe UI"/>
                <a:ea typeface="Microsoft YaHei"/>
              </a:rPr>
              <a:t>Iceberg 表 · 四层分层（RAW → SERVE 逐层升温，越往下越热）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31136" y="3200400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249424" y="3223260"/>
            <a:ext cx="32004" cy="160020"/>
          </a:xfrm>
          <a:prstGeom prst="roundRect">
            <a:avLst>
              <a:gd name="adj" fmla="val 48571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59152" y="3200400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338CA"/>
                </a:solidFill>
                <a:latin typeface="Segoe UI"/>
                <a:ea typeface="Microsoft YaHei"/>
              </a:rPr>
              <a:t>RAW · 原始落地（最冷）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SeaTunnel 全量 1:1 保真 · 分区 sys_id / ingest_date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31136" y="3424428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EDE9FE"/>
          </a:solidFill>
          <a:ln w="1270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49424" y="3447288"/>
            <a:ext cx="32004" cy="160020"/>
          </a:xfrm>
          <a:prstGeom prst="roundRect">
            <a:avLst>
              <a:gd name="adj" fmla="val 48571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9152" y="3424428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D28D9"/>
                </a:solidFill>
                <a:latin typeface="Segoe UI"/>
                <a:ea typeface="Microsoft YaHei"/>
              </a:rPr>
              <a:t>CURATED · 清洗规整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类型统一 · 缺失值处理 · SHA-256 台账 · 分区归约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31136" y="3648456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F5F3FF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249424" y="3671316"/>
            <a:ext cx="32004" cy="160020"/>
          </a:xfrm>
          <a:prstGeom prst="roundRect">
            <a:avLst>
              <a:gd name="adj" fmla="val 4857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59152" y="3648456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5B21B6"/>
                </a:solidFill>
                <a:latin typeface="Segoe UI"/>
                <a:ea typeface="Microsoft YaHei"/>
              </a:rPr>
              <a:t>LAKE · 建模归档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业务维度建模 · 生命周期分区（销毁友好）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31136" y="3872484"/>
            <a:ext cx="5495544" cy="205740"/>
          </a:xfrm>
          <a:prstGeom prst="roundRect">
            <a:avLst>
              <a:gd name="adj" fmla="val 17777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2249424" y="3895344"/>
            <a:ext cx="32004" cy="160020"/>
          </a:xfrm>
          <a:prstGeom prst="roundRect">
            <a:avLst>
              <a:gd name="adj" fmla="val 48571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59152" y="3872484"/>
            <a:ext cx="5303520" cy="2057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45309"/>
                </a:solidFill>
                <a:latin typeface="Segoe UI"/>
                <a:ea typeface="Microsoft YaHei"/>
              </a:rPr>
              <a:t>SERVE · 加速服务（最热）</a:t>
            </a: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　热表物化 · Z-Order · 供 Databricks SQL Serverless 直查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13232" y="4251960"/>
            <a:ext cx="7104888" cy="0"/>
          </a:xfrm>
          <a:prstGeom prst="line">
            <a:avLst/>
          </a:prstGeom>
          <a:ln w="20320">
            <a:solidFill>
              <a:srgbClr val="94A3B8"/>
            </a:solidFill>
            <a:prstDash val="dash"/>
          </a:ln>
          <a:effectLst/>
        </p:spPr>
      </p:cxnSp>
      <p:sp>
        <p:nvSpPr>
          <p:cNvPr id="76" name="Rounded Rectangle 75"/>
          <p:cNvSpPr/>
          <p:nvPr/>
        </p:nvSpPr>
        <p:spPr>
          <a:xfrm>
            <a:off x="4224528" y="4160520"/>
            <a:ext cx="1609344" cy="182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24528" y="4160520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475569"/>
                </a:solidFill>
                <a:latin typeface="Segoe UI"/>
                <a:ea typeface="Microsoft YaHei"/>
              </a:rPr>
              <a:t>━━ 存算分离边界 ━━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108960" y="4114800"/>
            <a:ext cx="0" cy="274320"/>
          </a:xfrm>
          <a:prstGeom prst="line">
            <a:avLst/>
          </a:prstGeom>
          <a:ln w="2286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3218688" y="412394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C3AED"/>
                </a:solidFill>
                <a:latin typeface="Segoe UI"/>
                <a:ea typeface="Microsoft YaHei"/>
              </a:rPr>
              <a:t>Serverless 直查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7132320" y="4114800"/>
            <a:ext cx="0" cy="274320"/>
          </a:xfrm>
          <a:prstGeom prst="line">
            <a:avLst/>
          </a:prstGeom>
          <a:ln w="2286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5897880" y="4270248"/>
            <a:ext cx="1170432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59669"/>
                </a:solidFill>
                <a:latin typeface="Segoe UI"/>
                <a:ea typeface="Microsoft YaHei"/>
              </a:rPr>
              <a:t>ETL 写入 · Databricks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3232" y="4389120"/>
            <a:ext cx="7104888" cy="768096"/>
          </a:xfrm>
          <a:prstGeom prst="roundRect">
            <a:avLst>
              <a:gd name="adj" fmla="val 9523"/>
            </a:avLst>
          </a:prstGeom>
          <a:solidFill>
            <a:srgbClr val="F0FDF4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47472" y="4617720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46177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59669"/>
                </a:solidFill>
                <a:latin typeface="Consolas"/>
                <a:ea typeface="Microsoft YaHei"/>
              </a:rPr>
              <a:t>B-04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4443983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统一计算层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4617720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059669"/>
                </a:solidFill>
                <a:latin typeface="Consolas"/>
                <a:ea typeface="Microsoft YaHei"/>
              </a:rPr>
              <a:t>COMPUTE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4754880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Databricks 读写一体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4873752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弹性 · 按量计费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231136" y="4443984"/>
            <a:ext cx="26883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22576" y="4498848"/>
            <a:ext cx="25237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Databricks · 写侧 ETL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04288" y="46451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RAW → CURATED → LAKE → SERVE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04288" y="47594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Spark 批处理 · Iceberg 写入 · Z-Order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4288" y="48737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Compaction · VACUUM · 到期销毁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04288" y="49880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按 DBU 计费 · 按需拉起 ≈¥0.4–0.8 万/月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38344" y="4443984"/>
            <a:ext cx="2688336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651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29783" y="4498848"/>
            <a:ext cx="25237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Databricks SQL Serverless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11496" y="46451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读侧查询 · 零运维 · 故障自动重建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11496" y="47594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Iceberg 直查 · SERVE 加速 · 首屏 2–5 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11496" y="48737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UC 表 / 行 / 列级授权 + 审计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11496" y="4988052"/>
            <a:ext cx="2560320" cy="105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59669"/>
                </a:solidFill>
                <a:latin typeface="Segoe UI"/>
                <a:ea typeface="Microsoft YaHei"/>
              </a:rPr>
              <a:t>X-Small 6 DBU/h · 空闲缩 0 ≈¥0.5–0.9 万/月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983480" y="5157216"/>
            <a:ext cx="0" cy="100584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  <a:effectLst/>
        </p:spPr>
      </p:cxnSp>
      <p:sp>
        <p:nvSpPr>
          <p:cNvPr id="102" name="Rounded Rectangle 101"/>
          <p:cNvSpPr/>
          <p:nvPr/>
        </p:nvSpPr>
        <p:spPr>
          <a:xfrm>
            <a:off x="713232" y="5266944"/>
            <a:ext cx="7104888" cy="658368"/>
          </a:xfrm>
          <a:prstGeom prst="roundRect">
            <a:avLst>
              <a:gd name="adj" fmla="val 11111"/>
            </a:avLst>
          </a:prstGeom>
          <a:solidFill>
            <a:srgbClr val="ECFEFF"/>
          </a:solidFill>
          <a:ln w="15240">
            <a:solidFill>
              <a:srgbClr val="A5F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47472" y="5440680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7472" y="54406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" b="1" i="0">
                <a:solidFill>
                  <a:srgbClr val="0891B2"/>
                </a:solidFill>
                <a:latin typeface="Consolas"/>
                <a:ea typeface="Microsoft YaHei"/>
              </a:rPr>
              <a:t>B-05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5321807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172A"/>
                </a:solidFill>
                <a:latin typeface="Segoe UI"/>
                <a:ea typeface="Microsoft YaHei"/>
              </a:rPr>
              <a:t>消费入口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" y="5495544"/>
            <a:ext cx="1335024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0891B2"/>
                </a:solidFill>
                <a:latin typeface="Consolas"/>
                <a:ea typeface="Microsoft YaHei"/>
              </a:rPr>
              <a:t>CONSUME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" y="5632704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元数据驱动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5751576"/>
            <a:ext cx="135331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零代码接入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231136" y="5321808"/>
            <a:ext cx="5495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7780">
            <a:solidFill>
              <a:srgbClr val="0891B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40864" y="5376672"/>
            <a:ext cx="527608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元数据驱动 · 动态配置化查询平台</a:t>
            </a: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</a:pPr>
            <a:r>
              <a:rPr sz="600" b="0" i="0">
                <a:solidFill>
                  <a:srgbClr val="64748B"/>
                </a:solidFill>
                <a:latin typeface="Segoe UI"/>
                <a:ea typeface="Microsoft YaHei"/>
              </a:rPr>
              <a:t>JSON 配置定义查询 / 筛选 / 列 / 权限 · 前端动态渲染 · 一次研发处处复用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600" b="1" i="0">
                <a:solidFill>
                  <a:srgbClr val="0891B2"/>
                </a:solidFill>
                <a:latin typeface="Segoe UI"/>
                <a:ea typeface="Microsoft YaHei"/>
              </a:rPr>
              <a:t>新系统接入零代码 · 边际 +3~6 人天 / 系统 · 首期 60 人天 · ≥15 系统适用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13232" y="6016752"/>
            <a:ext cx="7104888" cy="658368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5240">
            <a:solidFill>
              <a:srgbClr val="E11D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47472" y="6190488"/>
            <a:ext cx="310896" cy="31089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61904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11D48"/>
                </a:solidFill>
                <a:latin typeface="Segoe UI"/>
                <a:ea typeface="Microsoft YaHei"/>
              </a:rPr>
              <a:t>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" y="6089904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E11D48"/>
                </a:solidFill>
                <a:latin typeface="Segoe UI"/>
                <a:ea typeface="Microsoft YaHei"/>
              </a:rPr>
              <a:t>Retention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" y="6254496"/>
            <a:ext cx="1335024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" b="1" i="0" spc="110">
                <a:solidFill>
                  <a:srgbClr val="E11D48"/>
                </a:solidFill>
                <a:latin typeface="Consolas"/>
                <a:ea typeface="Microsoft YaHei"/>
              </a:rPr>
              <a:t>RETENTION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2960" y="6391656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作用于 B-03 分区
回写台账 · 附件同步删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231136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58568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① 到期扫描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扫描 Iceberg meta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657600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85032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② DROP PARTITION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秒级 · Iceberg 原生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084064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111496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③ VACUUM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物理清除快照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510528" y="6108192"/>
            <a:ext cx="1225296" cy="384048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37960" y="6108192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④ 附件 + 审计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同步删除 · 留痕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483864" y="6300216"/>
            <a:ext cx="146304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4910328" y="6300216"/>
            <a:ext cx="146304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6336792" y="6300216"/>
            <a:ext cx="146304" cy="0"/>
          </a:xfrm>
          <a:prstGeom prst="line">
            <a:avLst/>
          </a:prstGeom>
          <a:ln w="19050">
            <a:solidFill>
              <a:srgbClr val="E11D48"/>
            </a:solidFill>
            <a:tailEnd type="triangle" w="med" len="med"/>
          </a:ln>
          <a:effectLst/>
        </p:spPr>
      </p:cxnSp>
      <p:sp>
        <p:nvSpPr>
          <p:cNvPr id="128" name="TextBox 127"/>
          <p:cNvSpPr txBox="1"/>
          <p:nvPr/>
        </p:nvSpPr>
        <p:spPr>
          <a:xfrm>
            <a:off x="2231136" y="6528816"/>
            <a:ext cx="5495544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9F1239"/>
                </a:solidFill>
                <a:latin typeface="Segoe UI"/>
                <a:ea typeface="Microsoft YaHei"/>
              </a:rPr>
              <a:t>审计与元数据独立备份 · 不随业务数据销毁 · 纳入年度销毁演练</a:t>
            </a:r>
          </a:p>
        </p:txBody>
      </p:sp>
      <p:cxnSp>
        <p:nvCxnSpPr>
          <p:cNvPr id="129" name="Connector 128"/>
          <p:cNvCxnSpPr/>
          <p:nvPr/>
        </p:nvCxnSpPr>
        <p:spPr>
          <a:xfrm flipH="1">
            <a:off x="274320" y="6510528"/>
            <a:ext cx="438912" cy="0"/>
          </a:xfrm>
          <a:prstGeom prst="line">
            <a:avLst/>
          </a:prstGeom>
          <a:ln w="15240">
            <a:solidFill>
              <a:srgbClr val="E11D48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274320" y="3840480"/>
            <a:ext cx="0" cy="2670048"/>
          </a:xfrm>
          <a:prstGeom prst="line">
            <a:avLst/>
          </a:prstGeom>
          <a:ln w="15240">
            <a:solidFill>
              <a:srgbClr val="E11D48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274320" y="3840480"/>
            <a:ext cx="420624" cy="0"/>
          </a:xfrm>
          <a:prstGeom prst="line">
            <a:avLst/>
          </a:prstGeom>
          <a:ln w="15240">
            <a:solidFill>
              <a:srgbClr val="E11D48"/>
            </a:solidFill>
            <a:prstDash val="dash"/>
            <a:tailEnd type="triangle" w="med" len="med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91440" y="4434840"/>
            <a:ext cx="182880" cy="1188720"/>
          </a:xfrm>
          <a:prstGeom prst="rect">
            <a:avLst/>
          </a:prstGeom>
          <a:noFill/>
        </p:spPr>
        <p:txBody>
          <a:bodyPr wrap="square" lIns="0" rIns="0" tIns="0" bIns="0" anchor="ctr" vert="eaVer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E11D48"/>
                </a:solidFill>
                <a:latin typeface="Segoe UI"/>
                <a:ea typeface="Microsoft YaHei"/>
              </a:rPr>
              <a:t>作用于冷湖分区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01000" y="566928"/>
            <a:ext cx="3986784" cy="1444752"/>
          </a:xfrm>
          <a:prstGeom prst="roundRect">
            <a:avLst>
              <a:gd name="adj" fmla="val 4430"/>
            </a:avLst>
          </a:prstGeom>
          <a:solidFill>
            <a:srgbClr val="FFFBEB"/>
          </a:solidFill>
          <a:ln w="13970"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129016" y="6400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97706"/>
                </a:solidFill>
                <a:latin typeface="Segoe UI"/>
                <a:ea typeface="Microsoft YaHei"/>
              </a:rPr>
              <a:t>附件对象存储 · </a:t>
            </a:r>
            <a:r>
              <a:rPr sz="819" b="1" i="0">
                <a:solidFill>
                  <a:srgbClr val="92400E"/>
                </a:solidFill>
                <a:latin typeface="Segoe UI"/>
                <a:ea typeface="Microsoft YaHei"/>
              </a:rPr>
              <a:t>独立存储账户（与湖分开）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129016" y="804672"/>
            <a:ext cx="3749039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A16207"/>
                </a:solidFill>
                <a:latin typeface="Segoe UI"/>
                <a:ea typeface="Microsoft YaHei"/>
              </a:rPr>
              <a:t>贯穿 02 抽取 → B-03 存储 · 供 B-05 直接消费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110727" y="9692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138159" y="9692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FNS 平面命名空间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非 HNS · 按次计费（不按 4MB 切块）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049255" y="9692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76687" y="9692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Cool → Cold 分层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生命周期自动降档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110727" y="14264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138159" y="14264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SHA-256 台账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前缀 sysXX/yyyy-mm/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049255" y="1426464"/>
            <a:ext cx="1874519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076687" y="1426464"/>
            <a:ext cx="181965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后端签 SAS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A16207"/>
                </a:solidFill>
                <a:latin typeface="Segoe UI"/>
                <a:ea typeface="Microsoft YaHei"/>
              </a:rPr>
              <a:t>前端直连下载</a:t>
            </a:r>
          </a:p>
        </p:txBody>
      </p:sp>
      <p:cxnSp>
        <p:nvCxnSpPr>
          <p:cNvPr id="144" name="Connector 143"/>
          <p:cNvCxnSpPr/>
          <p:nvPr/>
        </p:nvCxnSpPr>
        <p:spPr>
          <a:xfrm flipH="1">
            <a:off x="7836408" y="2560320"/>
            <a:ext cx="164592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cxnSp>
        <p:nvCxnSpPr>
          <p:cNvPr id="145" name="Connector 144"/>
          <p:cNvCxnSpPr/>
          <p:nvPr/>
        </p:nvCxnSpPr>
        <p:spPr>
          <a:xfrm flipH="1">
            <a:off x="7836408" y="3547872"/>
            <a:ext cx="164592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9994392" y="2011680"/>
            <a:ext cx="0" cy="128016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7" name="Connector 146"/>
          <p:cNvCxnSpPr/>
          <p:nvPr/>
        </p:nvCxnSpPr>
        <p:spPr>
          <a:xfrm flipH="1">
            <a:off x="7918704" y="2139696"/>
            <a:ext cx="2075688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7918704" y="2139696"/>
            <a:ext cx="0" cy="3456432"/>
          </a:xfrm>
          <a:prstGeom prst="line">
            <a:avLst/>
          </a:prstGeom>
          <a:ln w="16510">
            <a:solidFill>
              <a:srgbClr val="D97706"/>
            </a:solidFill>
            <a:prstDash val="dash"/>
          </a:ln>
          <a:effectLst/>
        </p:spPr>
      </p:cxnSp>
      <p:cxnSp>
        <p:nvCxnSpPr>
          <p:cNvPr id="149" name="Connector 148"/>
          <p:cNvCxnSpPr/>
          <p:nvPr/>
        </p:nvCxnSpPr>
        <p:spPr>
          <a:xfrm flipH="1">
            <a:off x="7836408" y="5596128"/>
            <a:ext cx="82296" cy="0"/>
          </a:xfrm>
          <a:prstGeom prst="line">
            <a:avLst/>
          </a:prstGeom>
          <a:ln w="16510">
            <a:solidFill>
              <a:srgbClr val="D97706"/>
            </a:solidFill>
            <a:prstDash val="dash"/>
            <a:tailEnd type="triangle" w="med" len="med"/>
          </a:ln>
          <a:effectLst/>
        </p:spPr>
      </p:cxnSp>
      <p:sp>
        <p:nvSpPr>
          <p:cNvPr id="150" name="TextBox 149"/>
          <p:cNvSpPr txBox="1"/>
          <p:nvPr/>
        </p:nvSpPr>
        <p:spPr>
          <a:xfrm>
            <a:off x="8065008" y="2176272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D97706"/>
                </a:solidFill>
                <a:latin typeface="Segoe UI"/>
                <a:ea typeface="Microsoft YaHei"/>
              </a:rPr>
              <a:t>附件 URL 直连消费（SAS）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01000" y="2340864"/>
            <a:ext cx="3986784" cy="1225296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129016" y="2414016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D28D9"/>
                </a:solidFill>
                <a:latin typeface="Segoe UI"/>
                <a:ea typeface="Microsoft YaHei"/>
              </a:rPr>
              <a:t>存算分离 · 成本结构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129016" y="2633472"/>
            <a:ext cx="1298448" cy="310896"/>
          </a:xfrm>
          <a:prstGeom prst="roundRect">
            <a:avLst>
              <a:gd name="adj" fmla="val 14705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156448" y="263347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D28D9"/>
                </a:solidFill>
                <a:latin typeface="Segoe UI"/>
                <a:ea typeface="Microsoft YaHei"/>
              </a:rPr>
              <a:t>存储侧 · 常驻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518904" y="2633472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ADLS Hot/Cool ≈¥90–150/TB·月 · PB 级从容 · ZRS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129016" y="3017520"/>
            <a:ext cx="1298448" cy="310896"/>
          </a:xfrm>
          <a:prstGeom prst="roundRect">
            <a:avLst>
              <a:gd name="adj" fmla="val 14705"/>
            </a:avLst>
          </a:prstGeom>
          <a:solidFill>
            <a:srgbClr val="F0FDF4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56448" y="3017520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47857"/>
                </a:solidFill>
                <a:latin typeface="Segoe UI"/>
                <a:ea typeface="Microsoft YaHei"/>
              </a:rPr>
              <a:t>计算侧 · 按需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18904" y="301752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写侧 ETL ≈¥0.4–0.8 万/月 · 读侧查询 ≈¥0.5–0.9 万/月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29016" y="3401568"/>
            <a:ext cx="3749039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7C3AED"/>
                </a:solidFill>
                <a:latin typeface="Segoe UI"/>
                <a:ea typeface="Microsoft YaHei"/>
              </a:rPr>
              <a:t>存储与计算独立扩缩 · 空闲缩到 0 · 只为使用的算力付费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01000" y="3675887"/>
            <a:ext cx="3986784" cy="1572768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129016" y="3749039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方案 B2 要点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129016" y="3950208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7C3AED"/>
                </a:solidFill>
                <a:latin typeface="Segoe UI"/>
                <a:ea typeface="Microsoft YaHei"/>
              </a:rPr>
              <a:t>· 存算分离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冷湖常驻，Serverless 读写按需拉起 · 空闲缩 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29016" y="4192524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E11D48"/>
                </a:solidFill>
                <a:latin typeface="Segoe UI"/>
                <a:ea typeface="Microsoft YaHei"/>
              </a:rPr>
              <a:t>· 到期即毁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DROP PARTITION + VACUUM 物理清除，附件与审计同步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29016" y="4434840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0891B2"/>
                </a:solidFill>
                <a:latin typeface="Segoe UI"/>
                <a:ea typeface="Microsoft YaHei"/>
              </a:rPr>
              <a:t>· 零代码接入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元数据驱动前端 · 边际 +3~6 人天 / 系统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129016" y="4677155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059669"/>
                </a:solidFill>
                <a:latin typeface="Segoe UI"/>
                <a:ea typeface="Microsoft YaHei"/>
              </a:rPr>
              <a:t>· 读侧托管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Databricks SQL Serverless · 零集群运维 · UC 授权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129016" y="4919471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i="0">
                <a:solidFill>
                  <a:srgbClr val="475569"/>
                </a:solidFill>
                <a:latin typeface="Segoe UI"/>
                <a:ea typeface="Microsoft YaHei"/>
              </a:rPr>
              <a:t>· 适用规模 — </a:t>
            </a:r>
            <a:r>
              <a:rPr sz="610" b="0" i="0">
                <a:solidFill>
                  <a:srgbClr val="475569"/>
                </a:solidFill>
                <a:latin typeface="Segoe UI"/>
                <a:ea typeface="Microsoft YaHei"/>
              </a:rPr>
              <a:t>≥15 套系统或 &gt;20 TB 长期保留 · PB 级从容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001000" y="5358384"/>
            <a:ext cx="3986784" cy="786384"/>
          </a:xfrm>
          <a:prstGeom prst="roundRect">
            <a:avLst>
              <a:gd name="adj" fmla="val 8139"/>
            </a:avLst>
          </a:prstGeom>
          <a:solidFill>
            <a:srgbClr val="FFF7ED"/>
          </a:solidFill>
          <a:ln w="1397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129016" y="5431536"/>
            <a:ext cx="3749039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45309"/>
                </a:solidFill>
                <a:latin typeface="Segoe UI"/>
                <a:ea typeface="Microsoft YaHei"/>
              </a:rPr>
              <a:t>B2 的取舍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29016" y="5596128"/>
            <a:ext cx="376732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92400E"/>
                </a:solidFill>
                <a:latin typeface="Segoe UI"/>
                <a:ea typeface="Microsoft YaHei"/>
              </a:rPr>
              <a:t>读侧完全托管、UC 治理原生；代价是计算引擎绑定 Databricks（数据仍为开放 Iceberg，随时可换引擎），且 Serverless / NCC 需 Premium 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方案 B2 · 数据加密设计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566928"/>
            <a:ext cx="39319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566928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四层加密模型 + 密钥管理（L1 → L5）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91440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397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" y="103327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03327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78D4"/>
                </a:solidFill>
                <a:latin typeface="Consolas"/>
                <a:ea typeface="Microsoft YaHei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996696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存储层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防磁盘 / 桶泄露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170432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ADLS 账户级 SSE（AES-256）+ Key Vault CMK；数据 / 元数据 / 附件一套密钥策略，可选基础设施双重加密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173736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" y="185623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85623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59669"/>
                </a:solidFill>
                <a:latin typeface="Consolas"/>
                <a:ea typeface="Microsoft YaHei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819656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传输层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防链路窃听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993391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全链路 TLS 1.2+：HTTPS 443 入口 · 私有端点私网 · JDBC / ODBC；流量不出 Azure 骨干网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256032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1F2"/>
          </a:solidFill>
          <a:ln w="2032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" y="267919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267919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11D48"/>
                </a:solidFill>
                <a:latin typeface="Consolas"/>
                <a:ea typeface="Microsoft YaHei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42615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E11D48"/>
                </a:solidFill>
                <a:latin typeface="Segoe UI"/>
                <a:ea typeface="Microsoft YaHei"/>
              </a:rPr>
              <a:t>字段层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 DBA / 运维内鬼 ★ 合规核心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816352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aes_encrypt() 落盘即密文 + UC 列掩码查询遮蔽——两者必须组合；GCM 每次随机 IV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" y="3383279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5F3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9184" y="3502151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350215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7C3AED"/>
                </a:solidFill>
                <a:latin typeface="Consolas"/>
                <a:ea typeface="Microsoft YaHei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465575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展示层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防越权查看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39311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UC COLUMN MASK / ROW FILTER 绑定基表，任何访问路径强制生效；B2 原生，Trino 读完全不可用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" y="420624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BEB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9184" y="4325112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4325112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97706"/>
                </a:solidFill>
                <a:latin typeface="Consolas"/>
                <a:ea typeface="Microsoft YaHei"/>
              </a:rPr>
              <a:t>L5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288536"/>
            <a:ext cx="3108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0F172A"/>
                </a:solidFill>
                <a:latin typeface="Segoe UI"/>
                <a:ea typeface="Microsoft YaHei"/>
              </a:rPr>
              <a:t>密钥层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防泄露无法止损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462272"/>
            <a:ext cx="309067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Key Vault CMK 自动轮转；信封加密——轮主密钥只重包装 KEK、零数据重写；密文自带 key_version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61104" y="566928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"/>
            <a:ext cx="385876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字段级加密 · 推荐路线：aes_encrypt + UC 列掩码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89611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70832" y="1033271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103327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96926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密钥入 Secret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115214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Key Vault 撑腰 · 托管标识免密拉取，密钥不进代码 / 日志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09360" y="1453895"/>
            <a:ext cx="0" cy="73153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39" name="Rounded Rectangle 38"/>
          <p:cNvSpPr/>
          <p:nvPr/>
        </p:nvSpPr>
        <p:spPr>
          <a:xfrm>
            <a:off x="4261104" y="153619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70832" y="1673351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167335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160934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ETL 写侧加密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9222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E7490"/>
                </a:solidFill>
                <a:latin typeface="Consolas"/>
                <a:ea typeface="Microsoft YaHei"/>
              </a:rPr>
              <a:t>aes_encrypt(col, secret(...))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 · 默认 GCM 随机 IV，绝不能用 ECB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09360" y="2093976"/>
            <a:ext cx="0" cy="73152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45" name="Rounded Rectangle 44"/>
          <p:cNvSpPr/>
          <p:nvPr/>
        </p:nvSpPr>
        <p:spPr>
          <a:xfrm>
            <a:off x="4261104" y="217627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70832" y="2313432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2" y="23134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224942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定义掩码函数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243230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E7490"/>
                </a:solidFill>
                <a:latin typeface="Consolas"/>
                <a:ea typeface="Microsoft YaHei"/>
              </a:rPr>
              <a:t>is_account_group_member()</a:t>
            </a:r>
            <a:r>
              <a:rPr sz="590" b="0" i="0">
                <a:solidFill>
                  <a:srgbClr val="64748B"/>
                </a:solidFill>
                <a:latin typeface="Consolas"/>
                <a:ea typeface="Microsoft YaHei"/>
              </a:rPr>
              <a:t> ? try_aes_decrypt : ***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309360" y="2734056"/>
            <a:ext cx="0" cy="73152"/>
          </a:xfrm>
          <a:prstGeom prst="line">
            <a:avLst/>
          </a:prstGeom>
          <a:ln w="1778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51" name="Rounded Rectangle 50"/>
          <p:cNvSpPr/>
          <p:nvPr/>
        </p:nvSpPr>
        <p:spPr>
          <a:xfrm>
            <a:off x="4261104" y="281635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70832" y="2953512"/>
            <a:ext cx="274320" cy="27432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2953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47857"/>
                </a:solidFill>
                <a:latin typeface="Consolas"/>
                <a:ea typeface="Microsoft Ya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2889504"/>
            <a:ext cx="352958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挂载到列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3072384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E7490"/>
                </a:solidFill>
                <a:latin typeface="Consolas"/>
                <a:ea typeface="Microsoft YaHei"/>
              </a:rPr>
              <a:t>ALTER TABLE … SET MASK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（必须打在基表，不支持视图）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61104" y="347472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52544" y="34747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47857"/>
                </a:solidFill>
                <a:latin typeface="Segoe UI"/>
                <a:ea typeface="Microsoft YaHei"/>
              </a:rPr>
              <a:t>同一条 SQL：授权者见明文 · 其他人见 *** · 直读 Parquet 只见密文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1104" y="3895344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0832" y="3895344"/>
            <a:ext cx="39136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0F172A"/>
                </a:solidFill>
                <a:latin typeface="Segoe UI"/>
                <a:ea typeface="Microsoft YaHei"/>
              </a:rPr>
              <a:t>为何安全：</a:t>
            </a:r>
            <a:r>
              <a:rPr sz="590" b="0" i="0">
                <a:solidFill>
                  <a:srgbClr val="64748B"/>
                </a:solidFill>
                <a:latin typeface="Segoe UI"/>
                <a:ea typeface="Microsoft YaHei"/>
              </a:rPr>
              <a:t>掩码函数以定义者权限取密钥，分析师自己写 aes_decrypt 也拿不到 key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61104" y="4224528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397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0832" y="4279392"/>
            <a:ext cx="393192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B45309"/>
                </a:solidFill>
                <a:latin typeface="Segoe UI"/>
                <a:ea typeface="Microsoft YaHei"/>
              </a:rPr>
              <a:t>三个必守约束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0832" y="4443984"/>
            <a:ext cx="391363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92400E"/>
                </a:solidFill>
                <a:latin typeface="Segoe UI"/>
                <a:ea typeface="Microsoft YaHei"/>
              </a:rPr>
              <a:t>❶ 绝不能改成 ECB（暴露频率分布）　❷ 业务用户对 Secret Scope 必须无 READ 权限，否则防线归零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92400E"/>
                </a:solidFill>
                <a:latin typeface="Segoe UI"/>
                <a:ea typeface="Microsoft YaHei"/>
              </a:rPr>
              <a:t>❸ 掩码不支持视图须挂基表；卸载顺序：先 DROP MASK 再 DROP FUNCTION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22208" y="566928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0224" y="566928"/>
            <a:ext cx="3218687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密钥体系 · 合规与销毁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22208" y="896112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650224" y="987552"/>
            <a:ext cx="3218688" cy="310896"/>
          </a:xfrm>
          <a:prstGeom prst="roundRect">
            <a:avLst>
              <a:gd name="adj" fmla="val 14705"/>
            </a:avLst>
          </a:prstGeom>
          <a:solidFill>
            <a:srgbClr val="EFF6FF"/>
          </a:solidFill>
          <a:ln w="13970">
            <a:solidFill>
              <a:srgbClr val="BFDB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77656" y="987552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E40AF"/>
                </a:solidFill>
                <a:latin typeface="Segoe UI"/>
                <a:ea typeface="Microsoft YaHei"/>
              </a:rPr>
              <a:t>Key Vault · CMK / KEK 主密钥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259568" y="1307592"/>
            <a:ext cx="0" cy="109728"/>
          </a:xfrm>
          <a:prstGeom prst="line">
            <a:avLst/>
          </a:prstGeom>
          <a:ln w="1651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0351008" y="1298448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 i="0">
                <a:solidFill>
                  <a:srgbClr val="0078D4"/>
                </a:solidFill>
                <a:latin typeface="Segoe UI"/>
                <a:ea typeface="Microsoft YaHei"/>
              </a:rPr>
              <a:t>包装 / 解包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50224" y="1426464"/>
            <a:ext cx="3218688" cy="310896"/>
          </a:xfrm>
          <a:prstGeom prst="roundRect">
            <a:avLst>
              <a:gd name="adj" fmla="val 14705"/>
            </a:avLst>
          </a:prstGeom>
          <a:solidFill>
            <a:srgbClr val="F5F3FF"/>
          </a:solidFill>
          <a:ln w="13970">
            <a:solidFill>
              <a:srgbClr val="DDD6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77656" y="1426464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D28D9"/>
                </a:solidFill>
                <a:latin typeface="Segoe UI"/>
                <a:ea typeface="Microsoft YaHei"/>
              </a:rPr>
              <a:t>DEK 数据密钥（带 key_version）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259568" y="1746504"/>
            <a:ext cx="0" cy="109727"/>
          </a:xfrm>
          <a:prstGeom prst="line">
            <a:avLst/>
          </a:prstGeom>
          <a:ln w="1651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10351008" y="17373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" b="1" i="0">
                <a:solidFill>
                  <a:srgbClr val="7C3AED"/>
                </a:solidFill>
                <a:latin typeface="Segoe UI"/>
                <a:ea typeface="Microsoft YaHei"/>
              </a:rPr>
              <a:t>加密 / 解密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50224" y="1865376"/>
            <a:ext cx="3218688" cy="310896"/>
          </a:xfrm>
          <a:prstGeom prst="roundRect">
            <a:avLst>
              <a:gd name="adj" fmla="val 14705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77656" y="1865376"/>
            <a:ext cx="316382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47857"/>
                </a:solidFill>
                <a:latin typeface="Segoe UI"/>
                <a:ea typeface="Microsoft YaHei"/>
              </a:rPr>
              <a:t>Iceberg 密文 + UC 列掩码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13648" y="22311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078D4"/>
                </a:solidFill>
                <a:latin typeface="Segoe UI"/>
                <a:ea typeface="Microsoft YaHei"/>
              </a:rPr>
              <a:t>信封加密：轮转主密钥只重新包装 DEK，数据文件一个字节不动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22208" y="2560320"/>
            <a:ext cx="3474720" cy="859536"/>
          </a:xfrm>
          <a:prstGeom prst="roundRect">
            <a:avLst>
              <a:gd name="adj" fmla="val 6382"/>
            </a:avLst>
          </a:prstGeom>
          <a:solidFill>
            <a:srgbClr val="FFF1F2"/>
          </a:solidFill>
          <a:ln w="15240">
            <a:solidFill>
              <a:srgbClr val="E11D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50224" y="262432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E11D48"/>
                </a:solidFill>
                <a:latin typeface="Segoe UI"/>
                <a:ea typeface="Microsoft YaHei"/>
              </a:rPr>
              <a:t>Crypto-Shredding · 被遗忘权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50224" y="2798064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按数据主体分配独立 DEK——「删除」= 销毁该 DEK，密文永久不可读，无需重写 PB 级文件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E11D48"/>
                </a:solidFill>
                <a:latin typeface="Segoe UI"/>
                <a:ea typeface="Microsoft YaHei"/>
              </a:rPr>
              <a:t>归档场景性价比最高的合规设计，建议第一版纳入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22208" y="3511296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50224" y="3575304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F172A"/>
                </a:solidFill>
                <a:latin typeface="Segoe UI"/>
                <a:ea typeface="Microsoft YaHei"/>
              </a:rPr>
              <a:t>合规映射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50224" y="3767328"/>
            <a:ext cx="969264" cy="219456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77656" y="37673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047857"/>
                </a:solidFill>
                <a:latin typeface="Segoe UI"/>
                <a:ea typeface="Microsoft YaHei"/>
              </a:rPr>
              <a:t>等保 2.0 三级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10928" y="375818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存储 / 传输保密达标；策略在引擎内、审计落表，举证材料天然齐备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50224" y="4169664"/>
            <a:ext cx="969264" cy="219456"/>
          </a:xfrm>
          <a:prstGeom prst="roundRect">
            <a:avLst>
              <a:gd name="adj" fmla="val 16666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77656" y="416966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B45309"/>
                </a:solidFill>
                <a:latin typeface="Segoe UI"/>
                <a:ea typeface="Microsoft YaHei"/>
              </a:rPr>
              <a:t>个保法第 51 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10928" y="4160520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SSE ≠ 去标识化——必须 L3 字段级加密 + L4 强制脱敏，只做 L1 不满足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650224" y="4572000"/>
            <a:ext cx="969264" cy="219456"/>
          </a:xfrm>
          <a:prstGeom prst="roundRect">
            <a:avLst>
              <a:gd name="adj" fmla="val 16666"/>
            </a:avLst>
          </a:prstGeom>
          <a:solidFill>
            <a:srgbClr val="FFF1F2"/>
          </a:solidFill>
          <a:ln w="1270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77656" y="45720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E11D48"/>
                </a:solidFill>
                <a:latin typeface="Segoe UI"/>
                <a:ea typeface="Microsoft YaHei"/>
              </a:rPr>
              <a:t>GDPR 被遗忘权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710928" y="4562856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Crypto-Shredding：销毁主体 DEK 即永久不可读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01168" y="5084064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7472" y="5193792"/>
            <a:ext cx="35661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59669"/>
                </a:solidFill>
                <a:latin typeface="Segoe UI"/>
                <a:ea typeface="Microsoft YaHei"/>
              </a:rPr>
              <a:t>① 授权强制力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394960"/>
            <a:ext cx="358444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掩码 / 行过滤绑定引擎元数据，任何客户端绕不过；应用层脱敏绕过 API 即失效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78807" y="5084064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25112" y="5193792"/>
            <a:ext cx="35661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59669"/>
                </a:solidFill>
                <a:latin typeface="Segoe UI"/>
                <a:ea typeface="Microsoft YaHei"/>
              </a:rPr>
              <a:t>② 轮转成本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25112" y="5394960"/>
            <a:ext cx="358444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信封加密只重包装 KEK、零数据重写；应用层方案轮转需重刷数十 TB 存量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156447" y="5084064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02751" y="5193792"/>
            <a:ext cx="35661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7C3AED"/>
                </a:solidFill>
                <a:latin typeface="Segoe UI"/>
                <a:ea typeface="Microsoft YaHei"/>
              </a:rPr>
              <a:t>③ 实施成本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02751" y="5394960"/>
            <a:ext cx="3584448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约 2~3 人天（应用层方案 8~12 人天）· 加密字段仍可检索 · 审计平台原生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01168" y="6108192"/>
            <a:ext cx="11795760" cy="475488"/>
          </a:xfrm>
          <a:prstGeom prst="roundRect">
            <a:avLst>
              <a:gd name="adj" fmla="val 13461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5760" y="6108192"/>
            <a:ext cx="114665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D28D9"/>
                </a:solidFill>
                <a:latin typeface="Segoe UI"/>
                <a:ea typeface="Microsoft YaHei"/>
              </a:rPr>
              <a:t>★ 若列级脱敏是硬需求：</a:t>
            </a:r>
            <a:r>
              <a:rPr sz="720" b="0" i="0">
                <a:solidFill>
                  <a:srgbClr val="4C1D95"/>
                </a:solidFill>
                <a:latin typeface="Segoe UI"/>
                <a:ea typeface="Microsoft YaHei"/>
              </a:rPr>
              <a:t>B（Trino 读）的 UC 列掩码完全不可用（Iceberg REST Catalog 不支持），B2 原生生效、任何路径强制遮蔽——这一条基本决定必须选 B2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元数据库 ER 图（上）· 平台 / 权限 / 数据源配置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18 表 · 仅关键字段 · 通用列已省略 · 源码：report/元数据库ER图.mmd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66928"/>
            <a:ext cx="10241280" cy="237744"/>
          </a:xfrm>
          <a:prstGeom prst="roundRect">
            <a:avLst>
              <a:gd name="adj" fmla="val 23076"/>
            </a:avLst>
          </a:prstGeom>
          <a:solidFill>
            <a:srgbClr val="FFF2CC"/>
          </a:solidFill>
          <a:ln w="1270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① 权限与访问控制（RBAC）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066543"/>
            <a:ext cx="4160520" cy="237744"/>
          </a:xfrm>
          <a:prstGeom prst="roundRect">
            <a:avLst>
              <a:gd name="adj" fmla="val 23076"/>
            </a:avLst>
          </a:prstGeom>
          <a:solidFill>
            <a:srgbClr val="D5E8D4"/>
          </a:solidFill>
          <a:ln w="12700">
            <a:solidFill>
              <a:srgbClr val="9BC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9" y="2066543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③ 源数据配置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2066543"/>
            <a:ext cx="1783080" cy="237744"/>
          </a:xfrm>
          <a:prstGeom prst="roundRect">
            <a:avLst>
              <a:gd name="adj" fmla="val 23076"/>
            </a:avLst>
          </a:prstGeom>
          <a:solidFill>
            <a:srgbClr val="E1D5E7"/>
          </a:solidFill>
          <a:ln w="12700">
            <a:solidFill>
              <a:srgbClr val="B5A0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2066543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④ 目标存储 · 归档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383280"/>
            <a:ext cx="2651760" cy="237744"/>
          </a:xfrm>
          <a:prstGeom prst="roundRect">
            <a:avLst>
              <a:gd name="adj" fmla="val 23076"/>
            </a:avLst>
          </a:prstGeom>
          <a:solidFill>
            <a:srgbClr val="D9E8FC"/>
          </a:solidFill>
          <a:ln w="12700">
            <a:solidFill>
              <a:srgbClr val="A9C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383280"/>
            <a:ext cx="246887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② 退役系统管理（核心）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577840"/>
            <a:ext cx="11658600" cy="237744"/>
          </a:xfrm>
          <a:prstGeom prst="roundRect">
            <a:avLst>
              <a:gd name="adj" fmla="val 23076"/>
            </a:avLst>
          </a:prstGeom>
          <a:solidFill>
            <a:srgbClr val="F5F5F5"/>
          </a:solidFill>
          <a:ln w="1270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577840"/>
            <a:ext cx="114757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⑩ 通知 · ⑪ 审计与监控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914400"/>
            <a:ext cx="1920240" cy="1115568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5292" y="925372"/>
            <a:ext cx="189829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946403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" y="1152144"/>
            <a:ext cx="1898294" cy="859536"/>
          </a:xfrm>
          <a:prstGeom prst="roundRect">
            <a:avLst>
              <a:gd name="adj" fmla="val 212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175004"/>
            <a:ext cx="177393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username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password_hash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real_name·email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last_login_at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(datetime)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1188720"/>
            <a:ext cx="1691640" cy="566928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34132" y="1199692"/>
            <a:ext cx="166969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9736" y="1220724"/>
            <a:ext cx="16184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user_role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4132" y="1426464"/>
            <a:ext cx="1669694" cy="310896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1449324"/>
            <a:ext cx="154533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user_id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role_id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914400"/>
            <a:ext cx="192024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4372" y="925372"/>
            <a:ext cx="189829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6" y="946403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role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4372" y="1152144"/>
            <a:ext cx="189829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175004"/>
            <a:ext cx="17739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role_code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role_name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is_builtin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188720"/>
            <a:ext cx="1783080" cy="566928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03212" y="1199692"/>
            <a:ext cx="176113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1220724"/>
            <a:ext cx="170992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role_permission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03212" y="1426464"/>
            <a:ext cx="1761134" cy="310896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79" y="1449324"/>
            <a:ext cx="16367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role_id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permission_id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914400"/>
            <a:ext cx="201168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14892" y="925372"/>
            <a:ext cx="198973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6" y="946403"/>
            <a:ext cx="193852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permission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4892" y="1152144"/>
            <a:ext cx="198973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1175004"/>
            <a:ext cx="18653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permission_code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module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resource_type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2286000"/>
            <a:ext cx="192024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5292" y="2296972"/>
            <a:ext cx="189829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2318004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page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5292" y="2523744"/>
            <a:ext cx="189829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546604"/>
            <a:ext cx="17739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page_code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path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enabled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23160" y="2432304"/>
            <a:ext cx="1691640" cy="566928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434132" y="2443276"/>
            <a:ext cx="166969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59736" y="2464308"/>
            <a:ext cx="16184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role_page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34132" y="2670048"/>
            <a:ext cx="1669694" cy="310896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2692908"/>
            <a:ext cx="154533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role_id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page_id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51760" y="3675887"/>
            <a:ext cx="2651760" cy="1115568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62732" y="3686860"/>
            <a:ext cx="262981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88336" y="3707891"/>
            <a:ext cx="257860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decommission_system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62732" y="3913631"/>
            <a:ext cx="2629814" cy="859536"/>
          </a:xfrm>
          <a:prstGeom prst="roundRect">
            <a:avLst>
              <a:gd name="adj" fmla="val 2127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0" y="3936491"/>
            <a:ext cx="250545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system_code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retention_years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sync_completed_date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destroy_after_date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26080" y="4937760"/>
            <a:ext cx="1645920" cy="566928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937052" y="4948732"/>
            <a:ext cx="162397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62656" y="4969764"/>
            <a:ext cx="157276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system_user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37052" y="5175504"/>
            <a:ext cx="1623974" cy="310896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5198364"/>
            <a:ext cx="149961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user_id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60720" y="2359152"/>
            <a:ext cx="1965960" cy="978408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524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771692" y="2370124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97296" y="2391156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source_database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71692" y="2596896"/>
            <a:ext cx="1944014" cy="722376"/>
          </a:xfrm>
          <a:prstGeom prst="roundRect">
            <a:avLst>
              <a:gd name="adj" fmla="val 2531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52159" y="2619756"/>
            <a:ext cx="1819656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db_type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host:port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credential_ref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55279" y="2359152"/>
            <a:ext cx="1965960" cy="978408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524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966252" y="2370124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91855" y="2391156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source_table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66252" y="2596896"/>
            <a:ext cx="1944014" cy="722376"/>
          </a:xfrm>
          <a:prstGeom prst="roundRect">
            <a:avLst>
              <a:gd name="adj" fmla="val 2531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19" y="2619756"/>
            <a:ext cx="1819656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source_database_id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table_name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primary_key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is_attachment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760720" y="3584448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771692" y="3595420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97296" y="3616452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unstructured_source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771692" y="3822191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59" y="3845052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source_type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location_uri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55279" y="3584448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966252" y="3595420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91855" y="3616452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unstructured_item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66252" y="3822191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46719" y="3845052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unstructured_source_id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original_path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hash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149840" y="2359152"/>
            <a:ext cx="178308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B5A0C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160812" y="2370124"/>
            <a:ext cx="1761134" cy="214884"/>
          </a:xfrm>
          <a:prstGeom prst="roundRect">
            <a:avLst>
              <a:gd name="adj" fmla="val 12765"/>
            </a:avLst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86415" y="2391156"/>
            <a:ext cx="170992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schema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160812" y="2596896"/>
            <a:ext cx="176113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41280" y="2619756"/>
            <a:ext cx="16367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catalog_name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schema_name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49840" y="3584448"/>
            <a:ext cx="178308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B5A0C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160812" y="3595420"/>
            <a:ext cx="1761134" cy="214884"/>
          </a:xfrm>
          <a:prstGeom prst="roundRect">
            <a:avLst>
              <a:gd name="adj" fmla="val 12765"/>
            </a:avLst>
          </a:prstGeom>
          <a:solidFill>
            <a:srgbClr val="E1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86415" y="3616452"/>
            <a:ext cx="170992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storage_config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160812" y="3822191"/>
            <a:ext cx="176113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41280" y="3845052"/>
            <a:ext cx="163677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storage_type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container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74320" y="5870448"/>
            <a:ext cx="237744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85292" y="5881420"/>
            <a:ext cx="2355494" cy="214884"/>
          </a:xfrm>
          <a:prstGeom prst="roundRect">
            <a:avLst>
              <a:gd name="adj" fmla="val 1276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" y="5902452"/>
            <a:ext cx="23042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audit_log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85292" y="6108192"/>
            <a:ext cx="235549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6131052"/>
            <a:ext cx="22311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user_id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action·module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ip·status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798064" y="5870448"/>
            <a:ext cx="2615184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809036" y="5881420"/>
            <a:ext cx="2593238" cy="214884"/>
          </a:xfrm>
          <a:prstGeom prst="roundRect">
            <a:avLst>
              <a:gd name="adj" fmla="val 1276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34640" y="5902452"/>
            <a:ext cx="2542032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sync_activity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809036" y="6108192"/>
            <a:ext cx="2593238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89504" y="6131052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activity_date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成功/失败/运行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sync_job 按天预聚合·派生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559552" y="5870448"/>
            <a:ext cx="2377440" cy="70408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A8A8A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570524" y="5881420"/>
            <a:ext cx="2355494" cy="214884"/>
          </a:xfrm>
          <a:prstGeom prst="roundRect">
            <a:avLst>
              <a:gd name="adj" fmla="val 1276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96128" y="5902452"/>
            <a:ext cx="23042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notification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570524" y="6108192"/>
            <a:ext cx="2355494" cy="448056"/>
          </a:xfrm>
          <a:prstGeom prst="roundRect">
            <a:avLst>
              <a:gd name="adj" fmla="val 4081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650992" y="6131052"/>
            <a:ext cx="223113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recipient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channel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194560" y="141732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2276856" y="147675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31136" y="12390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4114800" y="141732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09" name="TextBox 108"/>
          <p:cNvSpPr txBox="1"/>
          <p:nvPr/>
        </p:nvSpPr>
        <p:spPr>
          <a:xfrm>
            <a:off x="4151376" y="12390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97096" y="147675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263640" y="141732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12" name="TextBox 111"/>
          <p:cNvSpPr txBox="1"/>
          <p:nvPr/>
        </p:nvSpPr>
        <p:spPr>
          <a:xfrm>
            <a:off x="6345936" y="147675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00216" y="12390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4" name="Connector 113"/>
          <p:cNvCxnSpPr/>
          <p:nvPr/>
        </p:nvCxnSpPr>
        <p:spPr>
          <a:xfrm flipH="1">
            <a:off x="8275320" y="141732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15" name="TextBox 114"/>
          <p:cNvSpPr txBox="1"/>
          <p:nvPr/>
        </p:nvSpPr>
        <p:spPr>
          <a:xfrm>
            <a:off x="8311896" y="12390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57616" y="147675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194560" y="2743200"/>
            <a:ext cx="22860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2276856" y="280263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31136" y="25648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754880" y="1755648"/>
            <a:ext cx="0" cy="347472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3264408" y="2103120"/>
            <a:ext cx="1490472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264408" y="2103120"/>
            <a:ext cx="0" cy="329184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23" name="TextBox 122"/>
          <p:cNvSpPr txBox="1"/>
          <p:nvPr/>
        </p:nvSpPr>
        <p:spPr>
          <a:xfrm>
            <a:off x="4581144" y="183337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28415" y="223570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194560" y="1645920"/>
            <a:ext cx="13716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2331720" y="1645920"/>
            <a:ext cx="0" cy="3575304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2331720" y="5221224"/>
            <a:ext cx="59436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28" name="TextBox 127"/>
          <p:cNvSpPr txBox="1"/>
          <p:nvPr/>
        </p:nvSpPr>
        <p:spPr>
          <a:xfrm>
            <a:off x="2276856" y="170535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34056" y="504291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977639" y="4791456"/>
            <a:ext cx="0" cy="146304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3803904" y="486918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41648" y="474116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5303520" y="3931920"/>
            <a:ext cx="228600" cy="0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5532120" y="2852928"/>
            <a:ext cx="0" cy="1078992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5532120" y="2852928"/>
            <a:ext cx="2286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5385816" y="3991355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68696" y="267462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303520" y="4005072"/>
            <a:ext cx="4572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5385816" y="4064507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68696" y="382676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7726679" y="2852928"/>
            <a:ext cx="2286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42" name="TextBox 141"/>
          <p:cNvSpPr txBox="1"/>
          <p:nvPr/>
        </p:nvSpPr>
        <p:spPr>
          <a:xfrm>
            <a:off x="7808975" y="291236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763255" y="267462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7726679" y="4005072"/>
            <a:ext cx="228600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7808975" y="4064507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63255" y="382676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5303520" y="3785615"/>
            <a:ext cx="320040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623560" y="3456432"/>
            <a:ext cx="0" cy="329183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623560" y="3456432"/>
            <a:ext cx="4416552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10040112" y="2999232"/>
            <a:ext cx="0" cy="45720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10040112" y="2999232"/>
            <a:ext cx="109728" cy="0"/>
          </a:xfrm>
          <a:prstGeom prst="line">
            <a:avLst/>
          </a:prstGeom>
          <a:ln w="17780">
            <a:solidFill>
              <a:srgbClr val="9673A6"/>
            </a:solidFill>
            <a:tailEnd type="triangle" w="med" len="med"/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5385816" y="3845051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57815" y="28209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303520" y="4480560"/>
            <a:ext cx="137160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440680" y="4480560"/>
            <a:ext cx="0" cy="164592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5440680" y="4645152"/>
            <a:ext cx="4599432" cy="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10040112" y="4005072"/>
            <a:ext cx="0" cy="640080"/>
          </a:xfrm>
          <a:prstGeom prst="line">
            <a:avLst/>
          </a:prstGeom>
          <a:ln w="17780">
            <a:solidFill>
              <a:srgbClr val="9673A6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10040112" y="4005072"/>
            <a:ext cx="109728" cy="0"/>
          </a:xfrm>
          <a:prstGeom prst="line">
            <a:avLst/>
          </a:prstGeom>
          <a:ln w="17780">
            <a:solidFill>
              <a:srgbClr val="9673A6"/>
            </a:solidFill>
            <a:tailEnd type="triangle" w="med" len="med"/>
          </a:ln>
          <a:effectLst/>
        </p:spPr>
      </p:cxnSp>
      <p:sp>
        <p:nvSpPr>
          <p:cNvPr id="159" name="TextBox 158"/>
          <p:cNvSpPr txBox="1"/>
          <p:nvPr/>
        </p:nvSpPr>
        <p:spPr>
          <a:xfrm>
            <a:off x="5385816" y="453999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957815" y="382676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164592" y="6291072"/>
            <a:ext cx="109728" cy="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164592" y="1645920"/>
            <a:ext cx="0" cy="4645152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164592" y="1645920"/>
            <a:ext cx="109728" cy="0"/>
          </a:xfrm>
          <a:prstGeom prst="line">
            <a:avLst/>
          </a:prstGeom>
          <a:ln w="15240">
            <a:solidFill>
              <a:srgbClr val="666666"/>
            </a:solidFill>
            <a:prstDash val="dash"/>
            <a:tailEnd type="triangle" w="med" len="med"/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82296" y="611276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296" y="14676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083296" y="5870448"/>
            <a:ext cx="3849624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193023" y="5925312"/>
            <a:ext cx="363016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475569"/>
                </a:solidFill>
                <a:latin typeface="Segoe UI"/>
                <a:ea typeface="Microsoft YaHei"/>
              </a:rPr>
              <a:t>跨页关联（详见卡内 FK 字段）：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source_table → sync_table_config · sync_table_stat · archive_file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schema → drill_config　·　user → destroy_approval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sync_job ⇢ sync_activity（按天预聚合，派生表无 FK）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" y="3246120"/>
            <a:ext cx="146304" cy="566928"/>
          </a:xfrm>
          <a:prstGeom prst="rect">
            <a:avLst/>
          </a:prstGeom>
          <a:noFill/>
        </p:spPr>
        <p:txBody>
          <a:bodyPr wrap="square" lIns="0" rIns="0" tIns="0" bIns="0" anchor="ctr" vert="eaVer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64748B"/>
                </a:solidFill>
                <a:latin typeface="Segoe UI"/>
                <a:ea typeface="Microsoft YaHei"/>
              </a:rPr>
              <a:t>弱关联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434840" y="2697480"/>
            <a:ext cx="107899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6AE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462272" y="2697480"/>
            <a:ext cx="1024127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64748B"/>
                </a:solidFill>
                <a:latin typeface="Segoe UI"/>
                <a:ea typeface="Microsoft YaHei"/>
              </a:rPr>
              <a:t>sync_job / query_config
子域见下页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元数据库 ER 图（下）· 同步归档 / 动态查询 / 保留销毁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17 表 + 1 跨页引用（虚线†见上页）
记号：[PK]/[FK]/[UK] · 连线 1—N 为一对多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66928"/>
            <a:ext cx="9326880" cy="237744"/>
          </a:xfrm>
          <a:prstGeom prst="roundRect">
            <a:avLst>
              <a:gd name="adj" fmla="val 23076"/>
            </a:avLst>
          </a:prstGeom>
          <a:solidFill>
            <a:srgbClr val="D9E8FC"/>
          </a:solidFill>
          <a:ln w="12700">
            <a:solidFill>
              <a:srgbClr val="A9C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⑤ 同步与归档（含 ⑥ 附件索引）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566928"/>
            <a:ext cx="1920240" cy="237744"/>
          </a:xfrm>
          <a:prstGeom prst="roundRect">
            <a:avLst>
              <a:gd name="adj" fmla="val 23076"/>
            </a:avLst>
          </a:prstGeom>
          <a:solidFill>
            <a:srgbClr val="F8CECC"/>
          </a:solidFill>
          <a:ln w="12700">
            <a:solidFill>
              <a:srgbClr val="D79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0" y="56692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⑧ 生命周期与保留 · ⑨ 销毁审批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846320"/>
            <a:ext cx="9326880" cy="237744"/>
          </a:xfrm>
          <a:prstGeom prst="roundRect">
            <a:avLst>
              <a:gd name="adj" fmla="val 23076"/>
            </a:avLst>
          </a:prstGeom>
          <a:solidFill>
            <a:srgbClr val="FFF2CC"/>
          </a:solidFill>
          <a:ln w="1270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3333"/>
                </a:solidFill>
                <a:latin typeface="Segoe UI"/>
                <a:ea typeface="Microsoft YaHei"/>
              </a:rPr>
              <a:t>⑦ 动态查询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96112"/>
            <a:ext cx="2103120" cy="566928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5240">
            <a:solidFill>
              <a:srgbClr val="A9C4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292" y="907084"/>
            <a:ext cx="2081174" cy="214884"/>
          </a:xfrm>
          <a:prstGeom prst="roundRect">
            <a:avLst>
              <a:gd name="adj" fmla="val 1276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928115"/>
            <a:ext cx="202996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7A7A"/>
                </a:solidFill>
                <a:latin typeface="Segoe UI"/>
                <a:ea typeface="Microsoft YaHei"/>
              </a:rPr>
              <a:t>decommission_system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" y="1133856"/>
            <a:ext cx="2081174" cy="310896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156716"/>
            <a:ext cx="195681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system_code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896112"/>
            <a:ext cx="2194560" cy="978408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28492" y="907084"/>
            <a:ext cx="217261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928115"/>
            <a:ext cx="212140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sync_job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28492" y="1133856"/>
            <a:ext cx="2172614" cy="722376"/>
          </a:xfrm>
          <a:prstGeom prst="roundRect">
            <a:avLst>
              <a:gd name="adj" fmla="val 2531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156716"/>
            <a:ext cx="2048255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assignment_id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job_type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896112"/>
            <a:ext cx="1874519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88812" y="907084"/>
            <a:ext cx="185257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4416" y="928115"/>
            <a:ext cx="180136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sync_job_config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8812" y="1133856"/>
            <a:ext cx="185257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79" y="1156716"/>
            <a:ext cx="172821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cron_expr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enabled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896112"/>
            <a:ext cx="192024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57892" y="907084"/>
            <a:ext cx="1898294" cy="214884"/>
          </a:xfrm>
          <a:prstGeom prst="roundRect">
            <a:avLst>
              <a:gd name="adj" fmla="val 12765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83496" y="928115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retention_policy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7892" y="1133856"/>
            <a:ext cx="189829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1156716"/>
            <a:ext cx="17739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26A00"/>
                </a:solidFill>
                <a:latin typeface="Segoe UI"/>
                <a:ea typeface="Microsoft YaHei"/>
              </a:rPr>
              <a:t>UK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policy_code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policy_name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period_days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2331720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5292" y="2342692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363724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sync_table_config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5292" y="2569463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592324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source_table_id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enabled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retain_years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4600" y="2331720"/>
            <a:ext cx="2103120" cy="978408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5240">
            <a:solidFill>
              <a:srgbClr val="9BCB92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25572" y="2342692"/>
            <a:ext cx="2081174" cy="214884"/>
          </a:xfrm>
          <a:prstGeom prst="roundRect">
            <a:avLst>
              <a:gd name="adj" fmla="val 12765"/>
            </a:avLst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51176" y="2363724"/>
            <a:ext cx="202996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attachment_index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25572" y="2569463"/>
            <a:ext cx="2081174" cy="722376"/>
          </a:xfrm>
          <a:prstGeom prst="roundRect">
            <a:avLst>
              <a:gd name="adj" fmla="val 2531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040" y="2592324"/>
            <a:ext cx="1956815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table·business_key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object_key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sha256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2331720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65852" y="2342692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91456" y="2363724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sync_table_stat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65852" y="2569463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2592324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sync_job_id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source_table_id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row_count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2331720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006132" y="2342692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31736" y="2363724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archive_batch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06132" y="2569463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2592324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sync_job_id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batch_year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rows_out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6920" y="2331720"/>
            <a:ext cx="1920240" cy="978408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524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57892" y="2342692"/>
            <a:ext cx="1898294" cy="214884"/>
          </a:xfrm>
          <a:prstGeom prst="roundRect">
            <a:avLst>
              <a:gd name="adj" fmla="val 12765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3496" y="2363724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retention_assignment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57892" y="2569463"/>
            <a:ext cx="1898294" cy="722376"/>
          </a:xfrm>
          <a:prstGeom prst="roundRect">
            <a:avLst>
              <a:gd name="adj" fmla="val 2531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2592324"/>
            <a:ext cx="1773936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policy_id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object_type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start·due_date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14600" y="3703320"/>
            <a:ext cx="210312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525572" y="3714292"/>
            <a:ext cx="208117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51176" y="3735324"/>
            <a:ext cx="202996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archive_set_item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25572" y="3941063"/>
            <a:ext cx="208117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6040" y="3963924"/>
            <a:ext cx="195681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archive_set_id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original_name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blob_url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0" y="3703320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765852" y="3714292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91456" y="3735324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archive_set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65852" y="3941063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0" y="3963924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archive_batch_id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set_name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items·bytes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(int)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95160" y="3703320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A9C4E5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06132" y="3714292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D9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31736" y="3735324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archive_file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06132" y="3941063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86600" y="3963924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archive_batch_id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blob_url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checksum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46920" y="3703320"/>
            <a:ext cx="192024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657892" y="3714292"/>
            <a:ext cx="1898294" cy="214884"/>
          </a:xfrm>
          <a:prstGeom prst="roundRect">
            <a:avLst>
              <a:gd name="adj" fmla="val 12765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83496" y="3735324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legal_hold_event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57892" y="3941063"/>
            <a:ext cx="189829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38360" y="3963924"/>
            <a:ext cx="17739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assignment_id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action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reason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4320" y="5138928"/>
            <a:ext cx="2194560" cy="978408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85292" y="5149900"/>
            <a:ext cx="217261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" y="5170932"/>
            <a:ext cx="212140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query_config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85292" y="5376672"/>
            <a:ext cx="2172614" cy="722376"/>
          </a:xfrm>
          <a:prstGeom prst="roundRect">
            <a:avLst>
              <a:gd name="adj" fmla="val 2531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5399532"/>
            <a:ext cx="2048255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system_id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base_table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status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17520" y="5212080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028492" y="5223052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54096" y="5244084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query_field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28492" y="5449824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0" y="5472684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query_config_id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column_name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is_pii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(tinyint)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57800" y="5212080"/>
            <a:ext cx="196596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268772" y="5223052"/>
            <a:ext cx="194401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94376" y="5244084"/>
            <a:ext cx="189280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query_join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68772" y="5449824"/>
            <a:ext cx="194401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49240" y="5472684"/>
            <a:ext cx="181965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query_config_id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join_type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left→right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98079" y="5212080"/>
            <a:ext cx="210312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6B656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509052" y="5223052"/>
            <a:ext cx="2081174" cy="214884"/>
          </a:xfrm>
          <a:prstGeom prst="roundRect">
            <a:avLst>
              <a:gd name="adj" fmla="val 12765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34655" y="5244084"/>
            <a:ext cx="2029967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drill_config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9052" y="5449824"/>
            <a:ext cx="208117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89519" y="5472684"/>
            <a:ext cx="195681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query_config_id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schema_id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parent→child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46920" y="5138928"/>
            <a:ext cx="1920240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5240">
            <a:solidFill>
              <a:srgbClr val="D79B98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657892" y="5149900"/>
            <a:ext cx="1898294" cy="214884"/>
          </a:xfrm>
          <a:prstGeom prst="roundRect">
            <a:avLst>
              <a:gd name="adj" fmla="val 12765"/>
            </a:avLst>
          </a:prstGeom>
          <a:solidFill>
            <a:srgbClr val="F8C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83496" y="5170932"/>
            <a:ext cx="1847088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Segoe UI"/>
                <a:ea typeface="Microsoft YaHei"/>
              </a:rPr>
              <a:t>destroy_approval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657892" y="5376672"/>
            <a:ext cx="1898294" cy="585216"/>
          </a:xfrm>
          <a:prstGeom prst="roundRect">
            <a:avLst>
              <a:gd name="adj" fmla="val 3125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38360" y="5399532"/>
            <a:ext cx="177393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D00000"/>
                </a:solidFill>
                <a:latin typeface="Segoe UI"/>
                <a:ea typeface="Microsoft YaHei"/>
              </a:rPr>
              <a:t>PK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sync_job_id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0049C6"/>
                </a:solidFill>
                <a:latin typeface="Segoe UI"/>
                <a:ea typeface="Microsoft YaHei"/>
              </a:rPr>
              <a:t>FK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approver_id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(bigint)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FAFAFA"/>
                </a:solidFill>
                <a:latin typeface="Segoe UI"/>
                <a:ea typeface="Microsoft YaHei"/>
              </a:rPr>
              <a:t>     </a:t>
            </a:r>
            <a:r>
              <a:rPr sz="630" b="0" i="0">
                <a:solidFill>
                  <a:srgbClr val="222222"/>
                </a:solidFill>
                <a:latin typeface="Segoe UI"/>
                <a:ea typeface="Microsoft YaHei"/>
              </a:rPr>
              <a:t>decision</a:t>
            </a:r>
            <a:r>
              <a:rPr sz="590" b="0" i="0">
                <a:solidFill>
                  <a:srgbClr val="7A7A7A"/>
                </a:solidFill>
                <a:latin typeface="Segoe UI"/>
                <a:ea typeface="Microsoft YaHei"/>
              </a:rPr>
              <a:t> (varchar)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377440" y="1179576"/>
            <a:ext cx="64008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459736" y="12390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25496" y="1001268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325880" y="1463040"/>
            <a:ext cx="0" cy="86868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152143" y="154076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89888" y="21351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2377440" y="1417320"/>
            <a:ext cx="27432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>
            <a:off x="2651760" y="1417320"/>
            <a:ext cx="0" cy="576072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651760" y="1993392"/>
            <a:ext cx="338328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6035040" y="1737360"/>
            <a:ext cx="0" cy="256032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11" name="TextBox 110"/>
          <p:cNvSpPr txBox="1"/>
          <p:nvPr/>
        </p:nvSpPr>
        <p:spPr>
          <a:xfrm>
            <a:off x="2459736" y="147675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61304" y="181508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2377440" y="1298448"/>
            <a:ext cx="64008" cy="0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2441448" y="1298448"/>
            <a:ext cx="0" cy="1517904"/>
          </a:xfrm>
          <a:prstGeom prst="line">
            <a:avLst/>
          </a:prstGeom>
          <a:ln w="17780">
            <a:solidFill>
              <a:srgbClr val="82B366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2441448" y="2816352"/>
            <a:ext cx="73152" cy="0"/>
          </a:xfrm>
          <a:prstGeom prst="line">
            <a:avLst/>
          </a:prstGeom>
          <a:ln w="17780">
            <a:solidFill>
              <a:srgbClr val="82B366"/>
            </a:solidFill>
            <a:tailEnd type="triangle" w="med" len="med"/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2459736" y="135788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22576" y="263804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18" name="Connector 117"/>
          <p:cNvCxnSpPr/>
          <p:nvPr/>
        </p:nvCxnSpPr>
        <p:spPr>
          <a:xfrm flipH="1">
            <a:off x="164592" y="1188720"/>
            <a:ext cx="109728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164592" y="1188720"/>
            <a:ext cx="0" cy="443484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164592" y="5623560"/>
            <a:ext cx="109728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21" name="TextBox 120"/>
          <p:cNvSpPr txBox="1"/>
          <p:nvPr/>
        </p:nvSpPr>
        <p:spPr>
          <a:xfrm>
            <a:off x="82296" y="101041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296" y="54452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983480" y="1874519"/>
            <a:ext cx="0" cy="457201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4809744" y="195224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47488" y="21351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5212080" y="1463040"/>
            <a:ext cx="182880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5394960" y="1463040"/>
            <a:ext cx="0" cy="64008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5394960" y="2103120"/>
            <a:ext cx="2578608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7973568" y="2103120"/>
            <a:ext cx="0" cy="22860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30" name="TextBox 129"/>
          <p:cNvSpPr txBox="1"/>
          <p:nvPr/>
        </p:nvSpPr>
        <p:spPr>
          <a:xfrm>
            <a:off x="5294376" y="152247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37576" y="21351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2" name="Connector 131"/>
          <p:cNvCxnSpPr/>
          <p:nvPr/>
        </p:nvCxnSpPr>
        <p:spPr>
          <a:xfrm flipH="1">
            <a:off x="9418320" y="2834640"/>
            <a:ext cx="22860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9418320" y="2231136"/>
            <a:ext cx="0" cy="603504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5166360" y="2231136"/>
            <a:ext cx="425196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5166360" y="1874519"/>
            <a:ext cx="0" cy="356617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9454896" y="265633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992624" y="1952243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212080" y="1042415"/>
            <a:ext cx="18288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5394960" y="841248"/>
            <a:ext cx="0" cy="201167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5394960" y="841248"/>
            <a:ext cx="6492240" cy="0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11887200" y="841248"/>
            <a:ext cx="0" cy="4782312"/>
          </a:xfrm>
          <a:prstGeom prst="line">
            <a:avLst/>
          </a:prstGeom>
          <a:ln w="17780">
            <a:solidFill>
              <a:srgbClr val="B8545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H="1">
            <a:off x="11567160" y="5623560"/>
            <a:ext cx="320040" cy="0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5294376" y="11018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649456" y="568299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7973568" y="3172968"/>
            <a:ext cx="0" cy="530352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7799831" y="32506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37576" y="35067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7132320" y="3172968"/>
            <a:ext cx="0" cy="265176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H="1">
            <a:off x="5733288" y="3438144"/>
            <a:ext cx="1399032" cy="0"/>
          </a:xfrm>
          <a:prstGeom prst="line">
            <a:avLst/>
          </a:prstGeom>
          <a:ln w="17780">
            <a:solidFill>
              <a:srgbClr val="5B82B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5733288" y="3438144"/>
            <a:ext cx="0" cy="265176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6958584" y="325069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97296" y="35067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3" name="Connector 152"/>
          <p:cNvCxnSpPr/>
          <p:nvPr/>
        </p:nvCxnSpPr>
        <p:spPr>
          <a:xfrm flipH="1">
            <a:off x="4617720" y="4123944"/>
            <a:ext cx="137160" cy="0"/>
          </a:xfrm>
          <a:prstGeom prst="line">
            <a:avLst/>
          </a:prstGeom>
          <a:ln w="17780">
            <a:solidFill>
              <a:srgbClr val="5B82B1"/>
            </a:solidFill>
            <a:tailEnd type="triangle" w="med" len="med"/>
          </a:ln>
          <a:effectLst/>
        </p:spPr>
      </p:cxnSp>
      <p:sp>
        <p:nvSpPr>
          <p:cNvPr id="154" name="TextBox 153"/>
          <p:cNvSpPr txBox="1"/>
          <p:nvPr/>
        </p:nvSpPr>
        <p:spPr>
          <a:xfrm>
            <a:off x="4562856" y="3945635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700016" y="4183379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0607040" y="1737360"/>
            <a:ext cx="0" cy="594360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57" name="TextBox 156"/>
          <p:cNvSpPr txBox="1"/>
          <p:nvPr/>
        </p:nvSpPr>
        <p:spPr>
          <a:xfrm>
            <a:off x="10433303" y="181508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671048" y="21351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0607040" y="3310128"/>
            <a:ext cx="0" cy="393192"/>
          </a:xfrm>
          <a:prstGeom prst="line">
            <a:avLst/>
          </a:prstGeom>
          <a:ln w="17780">
            <a:solidFill>
              <a:srgbClr val="B85450"/>
            </a:solidFill>
            <a:tailEnd type="triangle" w="med" len="med"/>
          </a:ln>
          <a:effectLst/>
        </p:spPr>
      </p:cxnSp>
      <p:sp>
        <p:nvSpPr>
          <p:cNvPr id="160" name="TextBox 159"/>
          <p:cNvSpPr txBox="1"/>
          <p:nvPr/>
        </p:nvSpPr>
        <p:spPr>
          <a:xfrm>
            <a:off x="10433303" y="33878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671048" y="3506724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2468880" y="5623560"/>
            <a:ext cx="548640" cy="0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63" name="TextBox 162"/>
          <p:cNvSpPr txBox="1"/>
          <p:nvPr/>
        </p:nvSpPr>
        <p:spPr>
          <a:xfrm>
            <a:off x="2551176" y="5682996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825496" y="54452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1252728" y="6117336"/>
            <a:ext cx="0" cy="192024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1252728" y="6309360"/>
            <a:ext cx="4983480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6236208" y="6053328"/>
            <a:ext cx="0" cy="256032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1078992" y="619506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062472" y="61310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011680" y="6117336"/>
            <a:ext cx="0" cy="374904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2011680" y="6492240"/>
            <a:ext cx="6537960" cy="0"/>
          </a:xfrm>
          <a:prstGeom prst="line">
            <a:avLst/>
          </a:prstGeom>
          <a:ln w="17780">
            <a:solidFill>
              <a:srgbClr val="D6A22A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8549640" y="6053328"/>
            <a:ext cx="0" cy="438912"/>
          </a:xfrm>
          <a:prstGeom prst="line">
            <a:avLst/>
          </a:prstGeom>
          <a:ln w="17780">
            <a:solidFill>
              <a:srgbClr val="D6A22A"/>
            </a:solidFill>
            <a:tailEnd type="triangl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1837944" y="6195060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375903" y="6131052"/>
            <a:ext cx="109728" cy="1188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22222"/>
                </a:solidFill>
                <a:latin typeface="Segoe UI"/>
                <a:ea typeface="Microsoft YaHei"/>
              </a:rPr>
              <a:t>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445752" y="2304288"/>
            <a:ext cx="164592" cy="512064"/>
          </a:xfrm>
          <a:prstGeom prst="rect">
            <a:avLst/>
          </a:prstGeom>
          <a:noFill/>
        </p:spPr>
        <p:txBody>
          <a:bodyPr wrap="square" lIns="0" rIns="0" tIns="0" bIns="0" anchor="ctr" vert="eaVer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E11D48"/>
                </a:solidFill>
                <a:latin typeface="Segoe UI"/>
                <a:ea typeface="Microsoft YaHei"/>
              </a:rPr>
              <a:t>到期触发销毁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方案 B2 架构图集</dc:title>
  <dc:subject/>
  <dc:creator>RIMS 退役归档平台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