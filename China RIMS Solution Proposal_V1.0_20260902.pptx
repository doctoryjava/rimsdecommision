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4.xml" ContentType="application/vnd.openxmlformats-officedocument.theme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theme/theme5.xml" ContentType="application/vnd.openxmlformats-officedocument.theme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763" r:id="rId5"/>
    <p:sldMasterId id="2147483813" r:id="rId6"/>
    <p:sldMasterId id="2147483829" r:id="rId7"/>
    <p:sldMasterId id="2147483867" r:id="rId8"/>
    <p:sldMasterId id="2147483872" r:id="rId9"/>
  </p:sldMasterIdLst>
  <p:notesMasterIdLst>
    <p:notesMasterId r:id="rId58"/>
  </p:notesMasterIdLst>
  <p:handoutMasterIdLst>
    <p:handoutMasterId r:id="rId59"/>
  </p:handoutMasterIdLst>
  <p:sldIdLst>
    <p:sldId id="258" r:id="rId10"/>
    <p:sldId id="2147483580" r:id="rId11"/>
    <p:sldId id="2147483024" r:id="rId12"/>
    <p:sldId id="2147483598" r:id="rId13"/>
    <p:sldId id="2147483582" r:id="rId14"/>
    <p:sldId id="2147483051" r:id="rId15"/>
    <p:sldId id="2147483052" r:id="rId16"/>
    <p:sldId id="257" r:id="rId17"/>
    <p:sldId id="2147483054" r:id="rId18"/>
    <p:sldId id="2147483611" r:id="rId19"/>
    <p:sldId id="2147483583" r:id="rId20"/>
    <p:sldId id="2147483028" r:id="rId21"/>
    <p:sldId id="2147483029" r:id="rId22"/>
    <p:sldId id="2147483030" r:id="rId23"/>
    <p:sldId id="2147483031" r:id="rId24"/>
    <p:sldId id="261" r:id="rId25"/>
    <p:sldId id="2147483584" r:id="rId26"/>
    <p:sldId id="2147483053" r:id="rId27"/>
    <p:sldId id="2147483589" r:id="rId28"/>
    <p:sldId id="2147483609" r:id="rId29"/>
    <p:sldId id="2147483591" r:id="rId30"/>
    <p:sldId id="2147483020" r:id="rId31"/>
    <p:sldId id="2147483585" r:id="rId32"/>
    <p:sldId id="2147483055" r:id="rId33"/>
    <p:sldId id="2147483069" r:id="rId34"/>
    <p:sldId id="2147483588" r:id="rId35"/>
    <p:sldId id="2147483058" r:id="rId36"/>
    <p:sldId id="2147483597" r:id="rId37"/>
    <p:sldId id="2147483595" r:id="rId38"/>
    <p:sldId id="263" r:id="rId39"/>
    <p:sldId id="264" r:id="rId40"/>
    <p:sldId id="268" r:id="rId41"/>
    <p:sldId id="270" r:id="rId42"/>
    <p:sldId id="271" r:id="rId43"/>
    <p:sldId id="273" r:id="rId44"/>
    <p:sldId id="274" r:id="rId45"/>
    <p:sldId id="269" r:id="rId46"/>
    <p:sldId id="2147483586" r:id="rId47"/>
    <p:sldId id="2147483606" r:id="rId48"/>
    <p:sldId id="2147483604" r:id="rId49"/>
    <p:sldId id="2147483593" r:id="rId50"/>
    <p:sldId id="2147483594" r:id="rId51"/>
    <p:sldId id="2147483063" r:id="rId52"/>
    <p:sldId id="2147483610" r:id="rId53"/>
    <p:sldId id="2147483608" r:id="rId54"/>
    <p:sldId id="2147483587" r:id="rId55"/>
    <p:sldId id="267" r:id="rId56"/>
    <p:sldId id="2147483603" r:id="rId57"/>
  </p:sldIdLst>
  <p:sldSz cx="9144000" cy="5143500" type="screen16x9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88B660D-3B9B-47D5-BBCD-5F2A7B46DB56}">
          <p14:sldIdLst>
            <p14:sldId id="258"/>
          </p14:sldIdLst>
        </p14:section>
        <p14:section name="01. Project Background" id="{C148E10D-8A5B-4354-943C-7A6477DCDEBF}">
          <p14:sldIdLst>
            <p14:sldId id="2147483580"/>
            <p14:sldId id="2147483024"/>
            <p14:sldId id="2147483598"/>
          </p14:sldIdLst>
        </p14:section>
        <p14:section name="2. AS-IS Assessment" id="{79FCE938-1509-4910-BF25-79887DDD6E47}">
          <p14:sldIdLst>
            <p14:sldId id="2147483582"/>
            <p14:sldId id="2147483051"/>
            <p14:sldId id="2147483052"/>
            <p14:sldId id="257"/>
            <p14:sldId id="2147483054"/>
            <p14:sldId id="2147483611"/>
          </p14:sldIdLst>
        </p14:section>
        <p14:section name="03. Market Solution Analysis" id="{6A6E492F-4544-4046-8460-841F6A99AEC9}">
          <p14:sldIdLst>
            <p14:sldId id="2147483583"/>
            <p14:sldId id="2147483028"/>
            <p14:sldId id="2147483029"/>
            <p14:sldId id="2147483030"/>
            <p14:sldId id="2147483031"/>
            <p14:sldId id="261"/>
          </p14:sldIdLst>
        </p14:section>
        <p14:section name="04. Blueprint &amp; Roadmap" id="{46F38E41-50EE-4F9B-BE9B-5C574508426D}">
          <p14:sldIdLst>
            <p14:sldId id="2147483584"/>
            <p14:sldId id="2147483053"/>
            <p14:sldId id="2147483589"/>
            <p14:sldId id="2147483609"/>
            <p14:sldId id="2147483591"/>
            <p14:sldId id="2147483020"/>
          </p14:sldIdLst>
        </p14:section>
        <p14:section name="05. Technology Solution &amp; Architecture Recommendation" id="{CBD3463A-D346-4205-B42B-03B6514652E3}">
          <p14:sldIdLst>
            <p14:sldId id="2147483585"/>
            <p14:sldId id="2147483055"/>
            <p14:sldId id="2147483069"/>
            <p14:sldId id="2147483588"/>
            <p14:sldId id="2147483058"/>
            <p14:sldId id="2147483597"/>
            <p14:sldId id="2147483595"/>
            <p14:sldId id="263"/>
            <p14:sldId id="264"/>
            <p14:sldId id="268"/>
            <p14:sldId id="270"/>
            <p14:sldId id="271"/>
            <p14:sldId id="273"/>
            <p14:sldId id="274"/>
            <p14:sldId id="269"/>
          </p14:sldIdLst>
        </p14:section>
        <p14:section name="06. Delivery Approach, Timeline &amp; Cost Estimation" id="{83790357-C61B-4F56-8BC0-AF514E4334BC}">
          <p14:sldIdLst>
            <p14:sldId id="2147483586"/>
            <p14:sldId id="2147483606"/>
            <p14:sldId id="2147483604"/>
            <p14:sldId id="2147483593"/>
            <p14:sldId id="2147483594"/>
            <p14:sldId id="2147483063"/>
            <p14:sldId id="2147483610"/>
            <p14:sldId id="2147483608"/>
          </p14:sldIdLst>
        </p14:section>
        <p14:section name="Ending" id="{1F2A3205-EDDF-4BDE-9766-F0CCB231A8D1}">
          <p14:sldIdLst>
            <p14:sldId id="2147483587"/>
          </p14:sldIdLst>
        </p14:section>
        <p14:section name="Appendix" id="{86F82852-EC8F-4F61-AF65-985E46116C91}">
          <p14:sldIdLst>
            <p14:sldId id="267"/>
            <p14:sldId id="2147483603"/>
          </p14:sldIdLst>
        </p14:section>
      </p14:section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CDE"/>
    <a:srgbClr val="004F71"/>
    <a:srgbClr val="119A75"/>
    <a:srgbClr val="E5F7FF"/>
    <a:srgbClr val="0165DE"/>
    <a:srgbClr val="FFFFFF"/>
    <a:srgbClr val="EAF1FB"/>
    <a:srgbClr val="00B0F0"/>
    <a:srgbClr val="48A08F"/>
    <a:srgbClr val="E58E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F9AFE0-447B-40BF-9A37-A15B79852D50}" v="242" dt="2026-09-09T10:06:24.789"/>
  </p1510:revLst>
</p1510:revInfo>
</file>

<file path=ppt/tableStyles.xml><?xml version="1.0" encoding="utf-8"?>
<a:tblStyleLst xmlns:a="http://schemas.openxmlformats.org/drawingml/2006/main" def="{F5AB1C69-6EDB-4FF4-983F-18BD219EF322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tesViewPr>
    <p:cSldViewPr snapToGrid="0">
      <p:cViewPr>
        <p:scale>
          <a:sx n="1" d="2"/>
          <a:sy n="1" d="2"/>
        </p:scale>
        <p:origin x="0" y="0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7.xml"/><Relationship Id="rId21" Type="http://schemas.openxmlformats.org/officeDocument/2006/relationships/slide" Target="slides/slide12.xml"/><Relationship Id="rId34" Type="http://schemas.openxmlformats.org/officeDocument/2006/relationships/slide" Target="slides/slide25.xml"/><Relationship Id="rId42" Type="http://schemas.openxmlformats.org/officeDocument/2006/relationships/slide" Target="slides/slide33.xml"/><Relationship Id="rId47" Type="http://schemas.openxmlformats.org/officeDocument/2006/relationships/slide" Target="slides/slide38.xml"/><Relationship Id="rId50" Type="http://schemas.openxmlformats.org/officeDocument/2006/relationships/slide" Target="slides/slide41.xml"/><Relationship Id="rId55" Type="http://schemas.openxmlformats.org/officeDocument/2006/relationships/slide" Target="slides/slide46.xml"/><Relationship Id="rId63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9" Type="http://schemas.openxmlformats.org/officeDocument/2006/relationships/slide" Target="slides/slide20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slide" Target="slides/slide23.xml"/><Relationship Id="rId37" Type="http://schemas.openxmlformats.org/officeDocument/2006/relationships/slide" Target="slides/slide28.xml"/><Relationship Id="rId40" Type="http://schemas.openxmlformats.org/officeDocument/2006/relationships/slide" Target="slides/slide31.xml"/><Relationship Id="rId45" Type="http://schemas.openxmlformats.org/officeDocument/2006/relationships/slide" Target="slides/slide36.xml"/><Relationship Id="rId53" Type="http://schemas.openxmlformats.org/officeDocument/2006/relationships/slide" Target="slides/slide44.xml"/><Relationship Id="rId58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61" Type="http://schemas.openxmlformats.org/officeDocument/2006/relationships/viewProps" Target="viewProps.xml"/><Relationship Id="rId19" Type="http://schemas.openxmlformats.org/officeDocument/2006/relationships/slide" Target="slides/slide10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43" Type="http://schemas.openxmlformats.org/officeDocument/2006/relationships/slide" Target="slides/slide34.xml"/><Relationship Id="rId48" Type="http://schemas.openxmlformats.org/officeDocument/2006/relationships/slide" Target="slides/slide39.xml"/><Relationship Id="rId56" Type="http://schemas.openxmlformats.org/officeDocument/2006/relationships/slide" Target="slides/slide47.xml"/><Relationship Id="rId64" Type="http://schemas.microsoft.com/office/2016/11/relationships/changesInfo" Target="changesInfos/changesInfo1.xml"/><Relationship Id="rId8" Type="http://schemas.openxmlformats.org/officeDocument/2006/relationships/slideMaster" Target="slideMasters/slideMaster5.xml"/><Relationship Id="rId51" Type="http://schemas.openxmlformats.org/officeDocument/2006/relationships/slide" Target="slides/slide42.xml"/><Relationship Id="rId3" Type="http://schemas.openxmlformats.org/officeDocument/2006/relationships/customXml" Target="../customXml/item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slide" Target="slides/slide29.xml"/><Relationship Id="rId46" Type="http://schemas.openxmlformats.org/officeDocument/2006/relationships/slide" Target="slides/slide37.xml"/><Relationship Id="rId59" Type="http://schemas.openxmlformats.org/officeDocument/2006/relationships/handoutMaster" Target="handoutMasters/handoutMaster1.xml"/><Relationship Id="rId20" Type="http://schemas.openxmlformats.org/officeDocument/2006/relationships/slide" Target="slides/slide11.xml"/><Relationship Id="rId41" Type="http://schemas.openxmlformats.org/officeDocument/2006/relationships/slide" Target="slides/slide32.xml"/><Relationship Id="rId54" Type="http://schemas.openxmlformats.org/officeDocument/2006/relationships/slide" Target="slides/slide45.xml"/><Relationship Id="rId62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49" Type="http://schemas.openxmlformats.org/officeDocument/2006/relationships/slide" Target="slides/slide40.xml"/><Relationship Id="rId57" Type="http://schemas.openxmlformats.org/officeDocument/2006/relationships/slide" Target="slides/slide48.xml"/><Relationship Id="rId10" Type="http://schemas.openxmlformats.org/officeDocument/2006/relationships/slide" Target="slides/slide1.xml"/><Relationship Id="rId31" Type="http://schemas.openxmlformats.org/officeDocument/2006/relationships/slide" Target="slides/slide22.xml"/><Relationship Id="rId44" Type="http://schemas.openxmlformats.org/officeDocument/2006/relationships/slide" Target="slides/slide35.xml"/><Relationship Id="rId52" Type="http://schemas.openxmlformats.org/officeDocument/2006/relationships/slide" Target="slides/slide43.xml"/><Relationship Id="rId60" Type="http://schemas.openxmlformats.org/officeDocument/2006/relationships/presProps" Target="presProps.xml"/><Relationship Id="rId65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39" Type="http://schemas.openxmlformats.org/officeDocument/2006/relationships/slide" Target="slides/slide3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ng, Minnow" userId="cba63f46-6db9-4440-9cc5-f93cd43ad9ed" providerId="ADAL" clId="{74BF3CB1-B611-4156-83A5-802AE6C3FB2F}"/>
    <pc:docChg chg="undo custSel addSld delSld modSld sldOrd modSection">
      <pc:chgData name="Zhang, Minnow" userId="cba63f46-6db9-4440-9cc5-f93cd43ad9ed" providerId="ADAL" clId="{74BF3CB1-B611-4156-83A5-802AE6C3FB2F}" dt="2026-09-02T11:25:40.917" v="31" actId="20577"/>
      <pc:docMkLst>
        <pc:docMk/>
      </pc:docMkLst>
      <pc:sldChg chg="modSp mod">
        <pc:chgData name="Zhang, Minnow" userId="cba63f46-6db9-4440-9cc5-f93cd43ad9ed" providerId="ADAL" clId="{74BF3CB1-B611-4156-83A5-802AE6C3FB2F}" dt="2026-09-02T11:24:33.207" v="25" actId="20577"/>
        <pc:sldMkLst>
          <pc:docMk/>
          <pc:sldMk cId="425026555" sldId="2147483063"/>
        </pc:sldMkLst>
        <pc:spChg chg="mod">
          <ac:chgData name="Zhang, Minnow" userId="cba63f46-6db9-4440-9cc5-f93cd43ad9ed" providerId="ADAL" clId="{74BF3CB1-B611-4156-83A5-802AE6C3FB2F}" dt="2026-09-02T11:24:33.207" v="25" actId="20577"/>
          <ac:spMkLst>
            <pc:docMk/>
            <pc:sldMk cId="425026555" sldId="2147483063"/>
            <ac:spMk id="262" creationId="{2E5D151C-7173-1BB0-1B92-61F724D2BC68}"/>
          </ac:spMkLst>
        </pc:spChg>
      </pc:sldChg>
      <pc:sldChg chg="add del ord">
        <pc:chgData name="Zhang, Minnow" userId="cba63f46-6db9-4440-9cc5-f93cd43ad9ed" providerId="ADAL" clId="{74BF3CB1-B611-4156-83A5-802AE6C3FB2F}" dt="2026-09-02T11:24:53.927" v="29"/>
        <pc:sldMkLst>
          <pc:docMk/>
          <pc:sldMk cId="4101999027" sldId="2147483603"/>
        </pc:sldMkLst>
      </pc:sldChg>
      <pc:sldChg chg="modSp mod">
        <pc:chgData name="Zhang, Minnow" userId="cba63f46-6db9-4440-9cc5-f93cd43ad9ed" providerId="ADAL" clId="{74BF3CB1-B611-4156-83A5-802AE6C3FB2F}" dt="2026-09-02T11:25:40.917" v="31" actId="20577"/>
        <pc:sldMkLst>
          <pc:docMk/>
          <pc:sldMk cId="4250475961" sldId="2147483610"/>
        </pc:sldMkLst>
        <pc:spChg chg="mod">
          <ac:chgData name="Zhang, Minnow" userId="cba63f46-6db9-4440-9cc5-f93cd43ad9ed" providerId="ADAL" clId="{74BF3CB1-B611-4156-83A5-802AE6C3FB2F}" dt="2026-09-02T11:25:40.917" v="31" actId="20577"/>
          <ac:spMkLst>
            <pc:docMk/>
            <pc:sldMk cId="4250475961" sldId="2147483610"/>
            <ac:spMk id="383" creationId="{6CDA560F-96EC-FA82-26CD-538398A1C267}"/>
          </ac:spMkLst>
        </pc:spChg>
      </pc:sldChg>
      <pc:sldChg chg="modSp mod">
        <pc:chgData name="Zhang, Minnow" userId="cba63f46-6db9-4440-9cc5-f93cd43ad9ed" providerId="ADAL" clId="{74BF3CB1-B611-4156-83A5-802AE6C3FB2F}" dt="2026-09-02T11:24:12.645" v="23" actId="20577"/>
        <pc:sldMkLst>
          <pc:docMk/>
          <pc:sldMk cId="274923379" sldId="2147483611"/>
        </pc:sldMkLst>
        <pc:spChg chg="mod">
          <ac:chgData name="Zhang, Minnow" userId="cba63f46-6db9-4440-9cc5-f93cd43ad9ed" providerId="ADAL" clId="{74BF3CB1-B611-4156-83A5-802AE6C3FB2F}" dt="2026-09-02T11:24:12.645" v="23" actId="20577"/>
          <ac:spMkLst>
            <pc:docMk/>
            <pc:sldMk cId="274923379" sldId="2147483611"/>
            <ac:spMk id="89" creationId="{BB8BE3CC-A6B7-7F64-06DB-D9C6F6572434}"/>
          </ac:spMkLst>
        </pc:spChg>
        <pc:spChg chg="mod">
          <ac:chgData name="Zhang, Minnow" userId="cba63f46-6db9-4440-9cc5-f93cd43ad9ed" providerId="ADAL" clId="{74BF3CB1-B611-4156-83A5-802AE6C3FB2F}" dt="2026-09-02T11:24:09.901" v="21" actId="20577"/>
          <ac:spMkLst>
            <pc:docMk/>
            <pc:sldMk cId="274923379" sldId="2147483611"/>
            <ac:spMk id="114" creationId="{737EDC9F-3AFF-67DC-169B-76CD18CFCAA3}"/>
          </ac:spMkLst>
        </pc:spChg>
        <pc:graphicFrameChg chg="mod modGraphic">
          <ac:chgData name="Zhang, Minnow" userId="cba63f46-6db9-4440-9cc5-f93cd43ad9ed" providerId="ADAL" clId="{74BF3CB1-B611-4156-83A5-802AE6C3FB2F}" dt="2026-09-02T11:24:03.669" v="19" actId="20577"/>
          <ac:graphicFrameMkLst>
            <pc:docMk/>
            <pc:sldMk cId="274923379" sldId="2147483611"/>
            <ac:graphicFrameMk id="95" creationId="{F4E40BCB-62A4-F44F-251C-6D77D4D9E441}"/>
          </ac:graphicFrameMkLst>
        </pc:graphicFrameChg>
      </pc:sldChg>
    </pc:docChg>
  </pc:docChgLst>
  <pc:docChgLst>
    <pc:chgData name="Chen, Wade" userId="c4f2137a-206a-4429-b09c-e0638ae8da40" providerId="ADAL" clId="{2E3F59CB-C5FA-4033-8CFB-A1B6168B37AC}"/>
    <pc:docChg chg="undo custSel addSld delSld modSld modSection">
      <pc:chgData name="Chen, Wade" userId="c4f2137a-206a-4429-b09c-e0638ae8da40" providerId="ADAL" clId="{2E3F59CB-C5FA-4033-8CFB-A1B6168B37AC}" dt="2026-09-09T10:06:24.789" v="467" actId="255"/>
      <pc:docMkLst>
        <pc:docMk/>
      </pc:docMkLst>
      <pc:sldChg chg="delSp modSp add mod setBg">
        <pc:chgData name="Chen, Wade" userId="c4f2137a-206a-4429-b09c-e0638ae8da40" providerId="ADAL" clId="{2E3F59CB-C5FA-4033-8CFB-A1B6168B37AC}" dt="2026-09-09T10:06:24.789" v="467" actId="255"/>
        <pc:sldMkLst>
          <pc:docMk/>
          <pc:sldMk cId="0" sldId="263"/>
        </pc:sldMkLst>
        <pc:spChg chg="del">
          <ac:chgData name="Chen, Wade" userId="c4f2137a-206a-4429-b09c-e0638ae8da40" providerId="ADAL" clId="{2E3F59CB-C5FA-4033-8CFB-A1B6168B37AC}" dt="2026-09-09T10:02:13.512" v="422" actId="478"/>
          <ac:spMkLst>
            <pc:docMk/>
            <pc:sldMk cId="0" sldId="263"/>
            <ac:spMk id="2" creationId="{00000000-0000-0000-0000-000000000000}"/>
          </ac:spMkLst>
        </pc:spChg>
        <pc:spChg chg="mod">
          <ac:chgData name="Chen, Wade" userId="c4f2137a-206a-4429-b09c-e0638ae8da40" providerId="ADAL" clId="{2E3F59CB-C5FA-4033-8CFB-A1B6168B37AC}" dt="2026-09-09T10:02:11.721" v="421" actId="2711"/>
          <ac:spMkLst>
            <pc:docMk/>
            <pc:sldMk cId="0" sldId="263"/>
            <ac:spMk id="3" creationId="{00000000-0000-0000-0000-000000000000}"/>
          </ac:spMkLst>
        </pc:spChg>
        <pc:spChg chg="del">
          <ac:chgData name="Chen, Wade" userId="c4f2137a-206a-4429-b09c-e0638ae8da40" providerId="ADAL" clId="{2E3F59CB-C5FA-4033-8CFB-A1B6168B37AC}" dt="2026-09-09T10:05:54.255" v="461" actId="478"/>
          <ac:spMkLst>
            <pc:docMk/>
            <pc:sldMk cId="0" sldId="263"/>
            <ac:spMk id="4" creationId="{00000000-0000-0000-0000-000000000000}"/>
          </ac:spMkLst>
        </pc:spChg>
        <pc:spChg chg="mod">
          <ac:chgData name="Chen, Wade" userId="c4f2137a-206a-4429-b09c-e0638ae8da40" providerId="ADAL" clId="{2E3F59CB-C5FA-4033-8CFB-A1B6168B37AC}" dt="2026-09-09T10:05:49.816" v="460" actId="255"/>
          <ac:spMkLst>
            <pc:docMk/>
            <pc:sldMk cId="0" sldId="263"/>
            <ac:spMk id="5" creationId="{00000000-0000-0000-0000-000000000000}"/>
          </ac:spMkLst>
        </pc:spChg>
        <pc:spChg chg="mod">
          <ac:chgData name="Chen, Wade" userId="c4f2137a-206a-4429-b09c-e0638ae8da40" providerId="ADAL" clId="{2E3F59CB-C5FA-4033-8CFB-A1B6168B37AC}" dt="2026-09-09T10:05:49.816" v="460" actId="255"/>
          <ac:spMkLst>
            <pc:docMk/>
            <pc:sldMk cId="0" sldId="263"/>
            <ac:spMk id="6" creationId="{00000000-0000-0000-0000-000000000000}"/>
          </ac:spMkLst>
        </pc:spChg>
        <pc:spChg chg="mod">
          <ac:chgData name="Chen, Wade" userId="c4f2137a-206a-4429-b09c-e0638ae8da40" providerId="ADAL" clId="{2E3F59CB-C5FA-4033-8CFB-A1B6168B37AC}" dt="2026-09-09T10:04:46.006" v="446" actId="692"/>
          <ac:spMkLst>
            <pc:docMk/>
            <pc:sldMk cId="0" sldId="263"/>
            <ac:spMk id="7" creationId="{00000000-0000-0000-0000-000000000000}"/>
          </ac:spMkLst>
        </pc:spChg>
        <pc:spChg chg="mod">
          <ac:chgData name="Chen, Wade" userId="c4f2137a-206a-4429-b09c-e0638ae8da40" providerId="ADAL" clId="{2E3F59CB-C5FA-4033-8CFB-A1B6168B37AC}" dt="2026-09-09T10:02:08.342" v="420" actId="2711"/>
          <ac:spMkLst>
            <pc:docMk/>
            <pc:sldMk cId="0" sldId="263"/>
            <ac:spMk id="9" creationId="{00000000-0000-0000-0000-000000000000}"/>
          </ac:spMkLst>
        </pc:spChg>
        <pc:spChg chg="mod">
          <ac:chgData name="Chen, Wade" userId="c4f2137a-206a-4429-b09c-e0638ae8da40" providerId="ADAL" clId="{2E3F59CB-C5FA-4033-8CFB-A1B6168B37AC}" dt="2026-09-09T10:04:49.907" v="447" actId="692"/>
          <ac:spMkLst>
            <pc:docMk/>
            <pc:sldMk cId="0" sldId="263"/>
            <ac:spMk id="10" creationId="{00000000-0000-0000-0000-000000000000}"/>
          </ac:spMkLst>
        </pc:spChg>
        <pc:spChg chg="mod">
          <ac:chgData name="Chen, Wade" userId="c4f2137a-206a-4429-b09c-e0638ae8da40" providerId="ADAL" clId="{2E3F59CB-C5FA-4033-8CFB-A1B6168B37AC}" dt="2026-09-09T10:05:49.816" v="460" actId="255"/>
          <ac:spMkLst>
            <pc:docMk/>
            <pc:sldMk cId="0" sldId="263"/>
            <ac:spMk id="13" creationId="{00000000-0000-0000-0000-000000000000}"/>
          </ac:spMkLst>
        </pc:spChg>
        <pc:spChg chg="mod">
          <ac:chgData name="Chen, Wade" userId="c4f2137a-206a-4429-b09c-e0638ae8da40" providerId="ADAL" clId="{2E3F59CB-C5FA-4033-8CFB-A1B6168B37AC}" dt="2026-09-09T10:05:49.816" v="460" actId="255"/>
          <ac:spMkLst>
            <pc:docMk/>
            <pc:sldMk cId="0" sldId="263"/>
            <ac:spMk id="14" creationId="{00000000-0000-0000-0000-000000000000}"/>
          </ac:spMkLst>
        </pc:spChg>
        <pc:spChg chg="del mod">
          <ac:chgData name="Chen, Wade" userId="c4f2137a-206a-4429-b09c-e0638ae8da40" providerId="ADAL" clId="{2E3F59CB-C5FA-4033-8CFB-A1B6168B37AC}" dt="2026-09-09T10:05:11.809" v="448" actId="478"/>
          <ac:spMkLst>
            <pc:docMk/>
            <pc:sldMk cId="0" sldId="263"/>
            <ac:spMk id="16" creationId="{00000000-0000-0000-0000-000000000000}"/>
          </ac:spMkLst>
        </pc:spChg>
        <pc:spChg chg="del">
          <ac:chgData name="Chen, Wade" userId="c4f2137a-206a-4429-b09c-e0638ae8da40" providerId="ADAL" clId="{2E3F59CB-C5FA-4033-8CFB-A1B6168B37AC}" dt="2026-09-09T10:05:24.909" v="453" actId="478"/>
          <ac:spMkLst>
            <pc:docMk/>
            <pc:sldMk cId="0" sldId="263"/>
            <ac:spMk id="20" creationId="{00000000-0000-0000-0000-000000000000}"/>
          </ac:spMkLst>
        </pc:spChg>
        <pc:spChg chg="mod">
          <ac:chgData name="Chen, Wade" userId="c4f2137a-206a-4429-b09c-e0638ae8da40" providerId="ADAL" clId="{2E3F59CB-C5FA-4033-8CFB-A1B6168B37AC}" dt="2026-09-09T10:05:38.601" v="459" actId="255"/>
          <ac:spMkLst>
            <pc:docMk/>
            <pc:sldMk cId="0" sldId="263"/>
            <ac:spMk id="22" creationId="{00000000-0000-0000-0000-000000000000}"/>
          </ac:spMkLst>
        </pc:spChg>
        <pc:spChg chg="mod">
          <ac:chgData name="Chen, Wade" userId="c4f2137a-206a-4429-b09c-e0638ae8da40" providerId="ADAL" clId="{2E3F59CB-C5FA-4033-8CFB-A1B6168B37AC}" dt="2026-09-09T10:05:49.816" v="460" actId="255"/>
          <ac:spMkLst>
            <pc:docMk/>
            <pc:sldMk cId="0" sldId="263"/>
            <ac:spMk id="23" creationId="{00000000-0000-0000-0000-000000000000}"/>
          </ac:spMkLst>
        </pc:spChg>
        <pc:spChg chg="del">
          <ac:chgData name="Chen, Wade" userId="c4f2137a-206a-4429-b09c-e0638ae8da40" providerId="ADAL" clId="{2E3F59CB-C5FA-4033-8CFB-A1B6168B37AC}" dt="2026-09-09T10:05:11.809" v="448" actId="478"/>
          <ac:spMkLst>
            <pc:docMk/>
            <pc:sldMk cId="0" sldId="263"/>
            <ac:spMk id="26" creationId="{00000000-0000-0000-0000-000000000000}"/>
          </ac:spMkLst>
        </pc:spChg>
        <pc:spChg chg="mod">
          <ac:chgData name="Chen, Wade" userId="c4f2137a-206a-4429-b09c-e0638ae8da40" providerId="ADAL" clId="{2E3F59CB-C5FA-4033-8CFB-A1B6168B37AC}" dt="2026-09-09T10:05:38.601" v="459" actId="255"/>
          <ac:spMkLst>
            <pc:docMk/>
            <pc:sldMk cId="0" sldId="263"/>
            <ac:spMk id="27" creationId="{00000000-0000-0000-0000-000000000000}"/>
          </ac:spMkLst>
        </pc:spChg>
        <pc:spChg chg="del">
          <ac:chgData name="Chen, Wade" userId="c4f2137a-206a-4429-b09c-e0638ae8da40" providerId="ADAL" clId="{2E3F59CB-C5FA-4033-8CFB-A1B6168B37AC}" dt="2026-09-09T10:05:20.872" v="451" actId="478"/>
          <ac:spMkLst>
            <pc:docMk/>
            <pc:sldMk cId="0" sldId="263"/>
            <ac:spMk id="30" creationId="{00000000-0000-0000-0000-000000000000}"/>
          </ac:spMkLst>
        </pc:spChg>
        <pc:spChg chg="mod">
          <ac:chgData name="Chen, Wade" userId="c4f2137a-206a-4429-b09c-e0638ae8da40" providerId="ADAL" clId="{2E3F59CB-C5FA-4033-8CFB-A1B6168B37AC}" dt="2026-09-09T10:02:08.342" v="420" actId="2711"/>
          <ac:spMkLst>
            <pc:docMk/>
            <pc:sldMk cId="0" sldId="263"/>
            <ac:spMk id="31" creationId="{00000000-0000-0000-0000-000000000000}"/>
          </ac:spMkLst>
        </pc:spChg>
        <pc:spChg chg="mod">
          <ac:chgData name="Chen, Wade" userId="c4f2137a-206a-4429-b09c-e0638ae8da40" providerId="ADAL" clId="{2E3F59CB-C5FA-4033-8CFB-A1B6168B37AC}" dt="2026-09-09T10:02:08.342" v="420" actId="2711"/>
          <ac:spMkLst>
            <pc:docMk/>
            <pc:sldMk cId="0" sldId="263"/>
            <ac:spMk id="34" creationId="{00000000-0000-0000-0000-000000000000}"/>
          </ac:spMkLst>
        </pc:spChg>
        <pc:spChg chg="del">
          <ac:chgData name="Chen, Wade" userId="c4f2137a-206a-4429-b09c-e0638ae8da40" providerId="ADAL" clId="{2E3F59CB-C5FA-4033-8CFB-A1B6168B37AC}" dt="2026-09-09T10:05:14.400" v="449" actId="478"/>
          <ac:spMkLst>
            <pc:docMk/>
            <pc:sldMk cId="0" sldId="263"/>
            <ac:spMk id="36" creationId="{00000000-0000-0000-0000-000000000000}"/>
          </ac:spMkLst>
        </pc:spChg>
        <pc:spChg chg="mod">
          <ac:chgData name="Chen, Wade" userId="c4f2137a-206a-4429-b09c-e0638ae8da40" providerId="ADAL" clId="{2E3F59CB-C5FA-4033-8CFB-A1B6168B37AC}" dt="2026-09-09T10:05:38.601" v="459" actId="255"/>
          <ac:spMkLst>
            <pc:docMk/>
            <pc:sldMk cId="0" sldId="263"/>
            <ac:spMk id="37" creationId="{00000000-0000-0000-0000-000000000000}"/>
          </ac:spMkLst>
        </pc:spChg>
        <pc:spChg chg="del">
          <ac:chgData name="Chen, Wade" userId="c4f2137a-206a-4429-b09c-e0638ae8da40" providerId="ADAL" clId="{2E3F59CB-C5FA-4033-8CFB-A1B6168B37AC}" dt="2026-09-09T10:05:23.855" v="452" actId="478"/>
          <ac:spMkLst>
            <pc:docMk/>
            <pc:sldMk cId="0" sldId="263"/>
            <ac:spMk id="40" creationId="{00000000-0000-0000-0000-000000000000}"/>
          </ac:spMkLst>
        </pc:spChg>
        <pc:spChg chg="mod">
          <ac:chgData name="Chen, Wade" userId="c4f2137a-206a-4429-b09c-e0638ae8da40" providerId="ADAL" clId="{2E3F59CB-C5FA-4033-8CFB-A1B6168B37AC}" dt="2026-09-09T10:05:38.601" v="459" actId="255"/>
          <ac:spMkLst>
            <pc:docMk/>
            <pc:sldMk cId="0" sldId="263"/>
            <ac:spMk id="41" creationId="{00000000-0000-0000-0000-000000000000}"/>
          </ac:spMkLst>
        </pc:spChg>
        <pc:spChg chg="mod">
          <ac:chgData name="Chen, Wade" userId="c4f2137a-206a-4429-b09c-e0638ae8da40" providerId="ADAL" clId="{2E3F59CB-C5FA-4033-8CFB-A1B6168B37AC}" dt="2026-09-09T10:05:38.601" v="459" actId="255"/>
          <ac:spMkLst>
            <pc:docMk/>
            <pc:sldMk cId="0" sldId="263"/>
            <ac:spMk id="42" creationId="{00000000-0000-0000-0000-000000000000}"/>
          </ac:spMkLst>
        </pc:spChg>
        <pc:spChg chg="mod">
          <ac:chgData name="Chen, Wade" userId="c4f2137a-206a-4429-b09c-e0638ae8da40" providerId="ADAL" clId="{2E3F59CB-C5FA-4033-8CFB-A1B6168B37AC}" dt="2026-09-09T10:05:49.816" v="460" actId="255"/>
          <ac:spMkLst>
            <pc:docMk/>
            <pc:sldMk cId="0" sldId="263"/>
            <ac:spMk id="43" creationId="{00000000-0000-0000-0000-000000000000}"/>
          </ac:spMkLst>
        </pc:spChg>
        <pc:spChg chg="mod">
          <ac:chgData name="Chen, Wade" userId="c4f2137a-206a-4429-b09c-e0638ae8da40" providerId="ADAL" clId="{2E3F59CB-C5FA-4033-8CFB-A1B6168B37AC}" dt="2026-09-09T10:05:49.816" v="460" actId="255"/>
          <ac:spMkLst>
            <pc:docMk/>
            <pc:sldMk cId="0" sldId="263"/>
            <ac:spMk id="44" creationId="{00000000-0000-0000-0000-000000000000}"/>
          </ac:spMkLst>
        </pc:spChg>
        <pc:spChg chg="del mod">
          <ac:chgData name="Chen, Wade" userId="c4f2137a-206a-4429-b09c-e0638ae8da40" providerId="ADAL" clId="{2E3F59CB-C5FA-4033-8CFB-A1B6168B37AC}" dt="2026-09-09T10:05:11.809" v="448" actId="478"/>
          <ac:spMkLst>
            <pc:docMk/>
            <pc:sldMk cId="0" sldId="263"/>
            <ac:spMk id="46" creationId="{00000000-0000-0000-0000-000000000000}"/>
          </ac:spMkLst>
        </pc:spChg>
        <pc:spChg chg="del">
          <ac:chgData name="Chen, Wade" userId="c4f2137a-206a-4429-b09c-e0638ae8da40" providerId="ADAL" clId="{2E3F59CB-C5FA-4033-8CFB-A1B6168B37AC}" dt="2026-09-09T10:05:26.134" v="454" actId="478"/>
          <ac:spMkLst>
            <pc:docMk/>
            <pc:sldMk cId="0" sldId="263"/>
            <ac:spMk id="50" creationId="{00000000-0000-0000-0000-000000000000}"/>
          </ac:spMkLst>
        </pc:spChg>
        <pc:spChg chg="mod">
          <ac:chgData name="Chen, Wade" userId="c4f2137a-206a-4429-b09c-e0638ae8da40" providerId="ADAL" clId="{2E3F59CB-C5FA-4033-8CFB-A1B6168B37AC}" dt="2026-09-09T10:05:38.601" v="459" actId="255"/>
          <ac:spMkLst>
            <pc:docMk/>
            <pc:sldMk cId="0" sldId="263"/>
            <ac:spMk id="52" creationId="{00000000-0000-0000-0000-000000000000}"/>
          </ac:spMkLst>
        </pc:spChg>
        <pc:spChg chg="mod">
          <ac:chgData name="Chen, Wade" userId="c4f2137a-206a-4429-b09c-e0638ae8da40" providerId="ADAL" clId="{2E3F59CB-C5FA-4033-8CFB-A1B6168B37AC}" dt="2026-09-09T10:05:49.816" v="460" actId="255"/>
          <ac:spMkLst>
            <pc:docMk/>
            <pc:sldMk cId="0" sldId="263"/>
            <ac:spMk id="54" creationId="{00000000-0000-0000-0000-000000000000}"/>
          </ac:spMkLst>
        </pc:spChg>
        <pc:spChg chg="del">
          <ac:chgData name="Chen, Wade" userId="c4f2137a-206a-4429-b09c-e0638ae8da40" providerId="ADAL" clId="{2E3F59CB-C5FA-4033-8CFB-A1B6168B37AC}" dt="2026-09-09T10:05:11.809" v="448" actId="478"/>
          <ac:spMkLst>
            <pc:docMk/>
            <pc:sldMk cId="0" sldId="263"/>
            <ac:spMk id="56" creationId="{00000000-0000-0000-0000-000000000000}"/>
          </ac:spMkLst>
        </pc:spChg>
        <pc:spChg chg="mod">
          <ac:chgData name="Chen, Wade" userId="c4f2137a-206a-4429-b09c-e0638ae8da40" providerId="ADAL" clId="{2E3F59CB-C5FA-4033-8CFB-A1B6168B37AC}" dt="2026-09-09T10:02:08.342" v="420" actId="2711"/>
          <ac:spMkLst>
            <pc:docMk/>
            <pc:sldMk cId="0" sldId="263"/>
            <ac:spMk id="59" creationId="{00000000-0000-0000-0000-000000000000}"/>
          </ac:spMkLst>
        </pc:spChg>
        <pc:spChg chg="del">
          <ac:chgData name="Chen, Wade" userId="c4f2137a-206a-4429-b09c-e0638ae8da40" providerId="ADAL" clId="{2E3F59CB-C5FA-4033-8CFB-A1B6168B37AC}" dt="2026-09-09T10:05:27.149" v="455" actId="478"/>
          <ac:spMkLst>
            <pc:docMk/>
            <pc:sldMk cId="0" sldId="263"/>
            <ac:spMk id="60" creationId="{00000000-0000-0000-0000-000000000000}"/>
          </ac:spMkLst>
        </pc:spChg>
        <pc:spChg chg="mod">
          <ac:chgData name="Chen, Wade" userId="c4f2137a-206a-4429-b09c-e0638ae8da40" providerId="ADAL" clId="{2E3F59CB-C5FA-4033-8CFB-A1B6168B37AC}" dt="2026-09-09T10:05:49.816" v="460" actId="255"/>
          <ac:spMkLst>
            <pc:docMk/>
            <pc:sldMk cId="0" sldId="263"/>
            <ac:spMk id="63" creationId="{00000000-0000-0000-0000-000000000000}"/>
          </ac:spMkLst>
        </pc:spChg>
        <pc:spChg chg="del">
          <ac:chgData name="Chen, Wade" userId="c4f2137a-206a-4429-b09c-e0638ae8da40" providerId="ADAL" clId="{2E3F59CB-C5FA-4033-8CFB-A1B6168B37AC}" dt="2026-09-09T10:05:11.809" v="448" actId="478"/>
          <ac:spMkLst>
            <pc:docMk/>
            <pc:sldMk cId="0" sldId="263"/>
            <ac:spMk id="66" creationId="{00000000-0000-0000-0000-000000000000}"/>
          </ac:spMkLst>
        </pc:spChg>
        <pc:spChg chg="mod">
          <ac:chgData name="Chen, Wade" userId="c4f2137a-206a-4429-b09c-e0638ae8da40" providerId="ADAL" clId="{2E3F59CB-C5FA-4033-8CFB-A1B6168B37AC}" dt="2026-09-09T10:02:08.342" v="420" actId="2711"/>
          <ac:spMkLst>
            <pc:docMk/>
            <pc:sldMk cId="0" sldId="263"/>
            <ac:spMk id="67" creationId="{00000000-0000-0000-0000-000000000000}"/>
          </ac:spMkLst>
        </pc:spChg>
        <pc:spChg chg="del">
          <ac:chgData name="Chen, Wade" userId="c4f2137a-206a-4429-b09c-e0638ae8da40" providerId="ADAL" clId="{2E3F59CB-C5FA-4033-8CFB-A1B6168B37AC}" dt="2026-09-09T10:05:28.211" v="456" actId="478"/>
          <ac:spMkLst>
            <pc:docMk/>
            <pc:sldMk cId="0" sldId="263"/>
            <ac:spMk id="70" creationId="{00000000-0000-0000-0000-000000000000}"/>
          </ac:spMkLst>
        </pc:spChg>
        <pc:spChg chg="mod">
          <ac:chgData name="Chen, Wade" userId="c4f2137a-206a-4429-b09c-e0638ae8da40" providerId="ADAL" clId="{2E3F59CB-C5FA-4033-8CFB-A1B6168B37AC}" dt="2026-09-09T10:05:38.601" v="459" actId="255"/>
          <ac:spMkLst>
            <pc:docMk/>
            <pc:sldMk cId="0" sldId="263"/>
            <ac:spMk id="72" creationId="{00000000-0000-0000-0000-000000000000}"/>
          </ac:spMkLst>
        </pc:spChg>
        <pc:spChg chg="mod">
          <ac:chgData name="Chen, Wade" userId="c4f2137a-206a-4429-b09c-e0638ae8da40" providerId="ADAL" clId="{2E3F59CB-C5FA-4033-8CFB-A1B6168B37AC}" dt="2026-09-09T10:05:49.816" v="460" actId="255"/>
          <ac:spMkLst>
            <pc:docMk/>
            <pc:sldMk cId="0" sldId="263"/>
            <ac:spMk id="74" creationId="{00000000-0000-0000-0000-000000000000}"/>
          </ac:spMkLst>
        </pc:spChg>
        <pc:spChg chg="del">
          <ac:chgData name="Chen, Wade" userId="c4f2137a-206a-4429-b09c-e0638ae8da40" providerId="ADAL" clId="{2E3F59CB-C5FA-4033-8CFB-A1B6168B37AC}" dt="2026-09-09T10:05:11.809" v="448" actId="478"/>
          <ac:spMkLst>
            <pc:docMk/>
            <pc:sldMk cId="0" sldId="263"/>
            <ac:spMk id="76" creationId="{00000000-0000-0000-0000-000000000000}"/>
          </ac:spMkLst>
        </pc:spChg>
        <pc:spChg chg="del">
          <ac:chgData name="Chen, Wade" userId="c4f2137a-206a-4429-b09c-e0638ae8da40" providerId="ADAL" clId="{2E3F59CB-C5FA-4033-8CFB-A1B6168B37AC}" dt="2026-09-09T10:05:28.913" v="457" actId="478"/>
          <ac:spMkLst>
            <pc:docMk/>
            <pc:sldMk cId="0" sldId="263"/>
            <ac:spMk id="80" creationId="{00000000-0000-0000-0000-000000000000}"/>
          </ac:spMkLst>
        </pc:spChg>
        <pc:spChg chg="del">
          <ac:chgData name="Chen, Wade" userId="c4f2137a-206a-4429-b09c-e0638ae8da40" providerId="ADAL" clId="{2E3F59CB-C5FA-4033-8CFB-A1B6168B37AC}" dt="2026-09-09T10:05:16.458" v="450" actId="478"/>
          <ac:spMkLst>
            <pc:docMk/>
            <pc:sldMk cId="0" sldId="263"/>
            <ac:spMk id="86" creationId="{00000000-0000-0000-0000-000000000000}"/>
          </ac:spMkLst>
        </pc:spChg>
        <pc:spChg chg="mod">
          <ac:chgData name="Chen, Wade" userId="c4f2137a-206a-4429-b09c-e0638ae8da40" providerId="ADAL" clId="{2E3F59CB-C5FA-4033-8CFB-A1B6168B37AC}" dt="2026-09-09T10:05:38.601" v="459" actId="255"/>
          <ac:spMkLst>
            <pc:docMk/>
            <pc:sldMk cId="0" sldId="263"/>
            <ac:spMk id="87" creationId="{00000000-0000-0000-0000-000000000000}"/>
          </ac:spMkLst>
        </pc:spChg>
        <pc:spChg chg="mod">
          <ac:chgData name="Chen, Wade" userId="c4f2137a-206a-4429-b09c-e0638ae8da40" providerId="ADAL" clId="{2E3F59CB-C5FA-4033-8CFB-A1B6168B37AC}" dt="2026-09-09T10:02:08.342" v="420" actId="2711"/>
          <ac:spMkLst>
            <pc:docMk/>
            <pc:sldMk cId="0" sldId="263"/>
            <ac:spMk id="89" creationId="{00000000-0000-0000-0000-000000000000}"/>
          </ac:spMkLst>
        </pc:spChg>
        <pc:spChg chg="del">
          <ac:chgData name="Chen, Wade" userId="c4f2137a-206a-4429-b09c-e0638ae8da40" providerId="ADAL" clId="{2E3F59CB-C5FA-4033-8CFB-A1B6168B37AC}" dt="2026-09-09T10:05:29.693" v="458" actId="478"/>
          <ac:spMkLst>
            <pc:docMk/>
            <pc:sldMk cId="0" sldId="263"/>
            <ac:spMk id="90" creationId="{00000000-0000-0000-0000-000000000000}"/>
          </ac:spMkLst>
        </pc:spChg>
        <pc:spChg chg="mod">
          <ac:chgData name="Chen, Wade" userId="c4f2137a-206a-4429-b09c-e0638ae8da40" providerId="ADAL" clId="{2E3F59CB-C5FA-4033-8CFB-A1B6168B37AC}" dt="2026-09-09T10:05:38.601" v="459" actId="255"/>
          <ac:spMkLst>
            <pc:docMk/>
            <pc:sldMk cId="0" sldId="263"/>
            <ac:spMk id="91" creationId="{00000000-0000-0000-0000-000000000000}"/>
          </ac:spMkLst>
        </pc:spChg>
        <pc:spChg chg="mod">
          <ac:chgData name="Chen, Wade" userId="c4f2137a-206a-4429-b09c-e0638ae8da40" providerId="ADAL" clId="{2E3F59CB-C5FA-4033-8CFB-A1B6168B37AC}" dt="2026-09-09T10:05:38.601" v="459" actId="255"/>
          <ac:spMkLst>
            <pc:docMk/>
            <pc:sldMk cId="0" sldId="263"/>
            <ac:spMk id="92" creationId="{00000000-0000-0000-0000-000000000000}"/>
          </ac:spMkLst>
        </pc:spChg>
        <pc:spChg chg="mod">
          <ac:chgData name="Chen, Wade" userId="c4f2137a-206a-4429-b09c-e0638ae8da40" providerId="ADAL" clId="{2E3F59CB-C5FA-4033-8CFB-A1B6168B37AC}" dt="2026-09-09T10:06:24.789" v="467" actId="255"/>
          <ac:spMkLst>
            <pc:docMk/>
            <pc:sldMk cId="0" sldId="263"/>
            <ac:spMk id="93" creationId="{00000000-0000-0000-0000-000000000000}"/>
          </ac:spMkLst>
        </pc:spChg>
        <pc:spChg chg="mod">
          <ac:chgData name="Chen, Wade" userId="c4f2137a-206a-4429-b09c-e0638ae8da40" providerId="ADAL" clId="{2E3F59CB-C5FA-4033-8CFB-A1B6168B37AC}" dt="2026-09-09T10:06:24.789" v="467" actId="255"/>
          <ac:spMkLst>
            <pc:docMk/>
            <pc:sldMk cId="0" sldId="263"/>
            <ac:spMk id="95" creationId="{00000000-0000-0000-0000-000000000000}"/>
          </ac:spMkLst>
        </pc:spChg>
        <pc:spChg chg="mod">
          <ac:chgData name="Chen, Wade" userId="c4f2137a-206a-4429-b09c-e0638ae8da40" providerId="ADAL" clId="{2E3F59CB-C5FA-4033-8CFB-A1B6168B37AC}" dt="2026-09-09T10:06:24.789" v="467" actId="255"/>
          <ac:spMkLst>
            <pc:docMk/>
            <pc:sldMk cId="0" sldId="263"/>
            <ac:spMk id="96" creationId="{00000000-0000-0000-0000-000000000000}"/>
          </ac:spMkLst>
        </pc:spChg>
        <pc:spChg chg="mod">
          <ac:chgData name="Chen, Wade" userId="c4f2137a-206a-4429-b09c-e0638ae8da40" providerId="ADAL" clId="{2E3F59CB-C5FA-4033-8CFB-A1B6168B37AC}" dt="2026-09-09T10:06:24.789" v="467" actId="255"/>
          <ac:spMkLst>
            <pc:docMk/>
            <pc:sldMk cId="0" sldId="263"/>
            <ac:spMk id="97" creationId="{00000000-0000-0000-0000-000000000000}"/>
          </ac:spMkLst>
        </pc:spChg>
        <pc:spChg chg="mod">
          <ac:chgData name="Chen, Wade" userId="c4f2137a-206a-4429-b09c-e0638ae8da40" providerId="ADAL" clId="{2E3F59CB-C5FA-4033-8CFB-A1B6168B37AC}" dt="2026-09-09T10:06:24.789" v="467" actId="255"/>
          <ac:spMkLst>
            <pc:docMk/>
            <pc:sldMk cId="0" sldId="263"/>
            <ac:spMk id="98" creationId="{00000000-0000-0000-0000-000000000000}"/>
          </ac:spMkLst>
        </pc:spChg>
        <pc:spChg chg="mod">
          <ac:chgData name="Chen, Wade" userId="c4f2137a-206a-4429-b09c-e0638ae8da40" providerId="ADAL" clId="{2E3F59CB-C5FA-4033-8CFB-A1B6168B37AC}" dt="2026-09-09T10:06:24.789" v="467" actId="255"/>
          <ac:spMkLst>
            <pc:docMk/>
            <pc:sldMk cId="0" sldId="263"/>
            <ac:spMk id="99" creationId="{00000000-0000-0000-0000-000000000000}"/>
          </ac:spMkLst>
        </pc:spChg>
        <pc:spChg chg="mod">
          <ac:chgData name="Chen, Wade" userId="c4f2137a-206a-4429-b09c-e0638ae8da40" providerId="ADAL" clId="{2E3F59CB-C5FA-4033-8CFB-A1B6168B37AC}" dt="2026-09-09T10:06:24.789" v="467" actId="255"/>
          <ac:spMkLst>
            <pc:docMk/>
            <pc:sldMk cId="0" sldId="263"/>
            <ac:spMk id="100" creationId="{00000000-0000-0000-0000-000000000000}"/>
          </ac:spMkLst>
        </pc:spChg>
        <pc:spChg chg="mod">
          <ac:chgData name="Chen, Wade" userId="c4f2137a-206a-4429-b09c-e0638ae8da40" providerId="ADAL" clId="{2E3F59CB-C5FA-4033-8CFB-A1B6168B37AC}" dt="2026-09-09T10:06:24.789" v="467" actId="255"/>
          <ac:spMkLst>
            <pc:docMk/>
            <pc:sldMk cId="0" sldId="263"/>
            <ac:spMk id="102" creationId="{00000000-0000-0000-0000-000000000000}"/>
          </ac:spMkLst>
        </pc:spChg>
        <pc:spChg chg="mod">
          <ac:chgData name="Chen, Wade" userId="c4f2137a-206a-4429-b09c-e0638ae8da40" providerId="ADAL" clId="{2E3F59CB-C5FA-4033-8CFB-A1B6168B37AC}" dt="2026-09-09T10:06:24.789" v="467" actId="255"/>
          <ac:spMkLst>
            <pc:docMk/>
            <pc:sldMk cId="0" sldId="263"/>
            <ac:spMk id="103" creationId="{00000000-0000-0000-0000-000000000000}"/>
          </ac:spMkLst>
        </pc:spChg>
        <pc:spChg chg="mod">
          <ac:chgData name="Chen, Wade" userId="c4f2137a-206a-4429-b09c-e0638ae8da40" providerId="ADAL" clId="{2E3F59CB-C5FA-4033-8CFB-A1B6168B37AC}" dt="2026-09-09T10:06:24.789" v="467" actId="255"/>
          <ac:spMkLst>
            <pc:docMk/>
            <pc:sldMk cId="0" sldId="263"/>
            <ac:spMk id="104" creationId="{00000000-0000-0000-0000-000000000000}"/>
          </ac:spMkLst>
        </pc:spChg>
      </pc:sldChg>
      <pc:sldChg chg="addSp delSp modSp add mod setBg">
        <pc:chgData name="Chen, Wade" userId="c4f2137a-206a-4429-b09c-e0638ae8da40" providerId="ADAL" clId="{2E3F59CB-C5FA-4033-8CFB-A1B6168B37AC}" dt="2026-09-09T10:04:06.113" v="442" actId="478"/>
        <pc:sldMkLst>
          <pc:docMk/>
          <pc:sldMk cId="0" sldId="264"/>
        </pc:sldMkLst>
        <pc:spChg chg="del">
          <ac:chgData name="Chen, Wade" userId="c4f2137a-206a-4429-b09c-e0638ae8da40" providerId="ADAL" clId="{2E3F59CB-C5FA-4033-8CFB-A1B6168B37AC}" dt="2026-09-09T10:02:27.906" v="425" actId="478"/>
          <ac:spMkLst>
            <pc:docMk/>
            <pc:sldMk cId="0" sldId="264"/>
            <ac:spMk id="2" creationId="{00000000-0000-0000-0000-000000000000}"/>
          </ac:spMkLst>
        </pc:spChg>
        <pc:spChg chg="mod">
          <ac:chgData name="Chen, Wade" userId="c4f2137a-206a-4429-b09c-e0638ae8da40" providerId="ADAL" clId="{2E3F59CB-C5FA-4033-8CFB-A1B6168B37AC}" dt="2026-09-09T10:02:21.201" v="424" actId="2711"/>
          <ac:spMkLst>
            <pc:docMk/>
            <pc:sldMk cId="0" sldId="264"/>
            <ac:spMk id="3" creationId="{00000000-0000-0000-0000-000000000000}"/>
          </ac:spMkLst>
        </pc:spChg>
        <pc:spChg chg="mod">
          <ac:chgData name="Chen, Wade" userId="c4f2137a-206a-4429-b09c-e0638ae8da40" providerId="ADAL" clId="{2E3F59CB-C5FA-4033-8CFB-A1B6168B37AC}" dt="2026-09-09T10:04:00.226" v="441" actId="20577"/>
          <ac:spMkLst>
            <pc:docMk/>
            <pc:sldMk cId="0" sldId="264"/>
            <ac:spMk id="4" creationId="{00000000-0000-0000-0000-000000000000}"/>
          </ac:spMkLst>
        </pc:spChg>
        <pc:spChg chg="mod">
          <ac:chgData name="Chen, Wade" userId="c4f2137a-206a-4429-b09c-e0638ae8da40" providerId="ADAL" clId="{2E3F59CB-C5FA-4033-8CFB-A1B6168B37AC}" dt="2026-09-09T10:03:52.185" v="439" actId="207"/>
          <ac:spMkLst>
            <pc:docMk/>
            <pc:sldMk cId="0" sldId="264"/>
            <ac:spMk id="5" creationId="{00000000-0000-0000-0000-000000000000}"/>
          </ac:spMkLst>
        </pc:spChg>
        <pc:spChg chg="add del mod">
          <ac:chgData name="Chen, Wade" userId="c4f2137a-206a-4429-b09c-e0638ae8da40" providerId="ADAL" clId="{2E3F59CB-C5FA-4033-8CFB-A1B6168B37AC}" dt="2026-09-09T10:03:57.721" v="440" actId="255"/>
          <ac:spMkLst>
            <pc:docMk/>
            <pc:sldMk cId="0" sldId="264"/>
            <ac:spMk id="6" creationId="{00000000-0000-0000-0000-000000000000}"/>
          </ac:spMkLst>
        </pc:spChg>
        <pc:spChg chg="mod">
          <ac:chgData name="Chen, Wade" userId="c4f2137a-206a-4429-b09c-e0638ae8da40" providerId="ADAL" clId="{2E3F59CB-C5FA-4033-8CFB-A1B6168B37AC}" dt="2026-09-09T10:03:29.621" v="432" actId="692"/>
          <ac:spMkLst>
            <pc:docMk/>
            <pc:sldMk cId="0" sldId="264"/>
            <ac:spMk id="7" creationId="{00000000-0000-0000-0000-000000000000}"/>
          </ac:spMkLst>
        </pc:spChg>
        <pc:spChg chg="mod">
          <ac:chgData name="Chen, Wade" userId="c4f2137a-206a-4429-b09c-e0638ae8da40" providerId="ADAL" clId="{2E3F59CB-C5FA-4033-8CFB-A1B6168B37AC}" dt="2026-09-09T10:02:18.416" v="423" actId="2711"/>
          <ac:spMkLst>
            <pc:docMk/>
            <pc:sldMk cId="0" sldId="264"/>
            <ac:spMk id="10" creationId="{00000000-0000-0000-0000-000000000000}"/>
          </ac:spMkLst>
        </pc:spChg>
        <pc:spChg chg="mod">
          <ac:chgData name="Chen, Wade" userId="c4f2137a-206a-4429-b09c-e0638ae8da40" providerId="ADAL" clId="{2E3F59CB-C5FA-4033-8CFB-A1B6168B37AC}" dt="2026-09-09T10:02:18.416" v="423" actId="2711"/>
          <ac:spMkLst>
            <pc:docMk/>
            <pc:sldMk cId="0" sldId="264"/>
            <ac:spMk id="11" creationId="{00000000-0000-0000-0000-000000000000}"/>
          </ac:spMkLst>
        </pc:spChg>
        <pc:spChg chg="mod">
          <ac:chgData name="Chen, Wade" userId="c4f2137a-206a-4429-b09c-e0638ae8da40" providerId="ADAL" clId="{2E3F59CB-C5FA-4033-8CFB-A1B6168B37AC}" dt="2026-09-09T10:02:18.416" v="423" actId="2711"/>
          <ac:spMkLst>
            <pc:docMk/>
            <pc:sldMk cId="0" sldId="264"/>
            <ac:spMk id="19" creationId="{00000000-0000-0000-0000-000000000000}"/>
          </ac:spMkLst>
        </pc:spChg>
        <pc:spChg chg="mod">
          <ac:chgData name="Chen, Wade" userId="c4f2137a-206a-4429-b09c-e0638ae8da40" providerId="ADAL" clId="{2E3F59CB-C5FA-4033-8CFB-A1B6168B37AC}" dt="2026-09-09T10:02:18.416" v="423" actId="2711"/>
          <ac:spMkLst>
            <pc:docMk/>
            <pc:sldMk cId="0" sldId="264"/>
            <ac:spMk id="22" creationId="{00000000-0000-0000-0000-000000000000}"/>
          </ac:spMkLst>
        </pc:spChg>
        <pc:spChg chg="mod">
          <ac:chgData name="Chen, Wade" userId="c4f2137a-206a-4429-b09c-e0638ae8da40" providerId="ADAL" clId="{2E3F59CB-C5FA-4033-8CFB-A1B6168B37AC}" dt="2026-09-09T10:03:19.543" v="429" actId="692"/>
          <ac:spMkLst>
            <pc:docMk/>
            <pc:sldMk cId="0" sldId="264"/>
            <ac:spMk id="23" creationId="{00000000-0000-0000-0000-000000000000}"/>
          </ac:spMkLst>
        </pc:spChg>
        <pc:spChg chg="mod">
          <ac:chgData name="Chen, Wade" userId="c4f2137a-206a-4429-b09c-e0638ae8da40" providerId="ADAL" clId="{2E3F59CB-C5FA-4033-8CFB-A1B6168B37AC}" dt="2026-09-09T10:02:18.416" v="423" actId="2711"/>
          <ac:spMkLst>
            <pc:docMk/>
            <pc:sldMk cId="0" sldId="264"/>
            <ac:spMk id="32" creationId="{00000000-0000-0000-0000-000000000000}"/>
          </ac:spMkLst>
        </pc:spChg>
        <pc:spChg chg="mod">
          <ac:chgData name="Chen, Wade" userId="c4f2137a-206a-4429-b09c-e0638ae8da40" providerId="ADAL" clId="{2E3F59CB-C5FA-4033-8CFB-A1B6168B37AC}" dt="2026-09-09T10:03:25.493" v="431" actId="692"/>
          <ac:spMkLst>
            <pc:docMk/>
            <pc:sldMk cId="0" sldId="264"/>
            <ac:spMk id="39" creationId="{00000000-0000-0000-0000-000000000000}"/>
          </ac:spMkLst>
        </pc:spChg>
        <pc:spChg chg="mod">
          <ac:chgData name="Chen, Wade" userId="c4f2137a-206a-4429-b09c-e0638ae8da40" providerId="ADAL" clId="{2E3F59CB-C5FA-4033-8CFB-A1B6168B37AC}" dt="2026-09-09T10:02:18.416" v="423" actId="2711"/>
          <ac:spMkLst>
            <pc:docMk/>
            <pc:sldMk cId="0" sldId="264"/>
            <ac:spMk id="42" creationId="{00000000-0000-0000-0000-000000000000}"/>
          </ac:spMkLst>
        </pc:spChg>
        <pc:spChg chg="mod">
          <ac:chgData name="Chen, Wade" userId="c4f2137a-206a-4429-b09c-e0638ae8da40" providerId="ADAL" clId="{2E3F59CB-C5FA-4033-8CFB-A1B6168B37AC}" dt="2026-09-09T10:02:18.416" v="423" actId="2711"/>
          <ac:spMkLst>
            <pc:docMk/>
            <pc:sldMk cId="0" sldId="264"/>
            <ac:spMk id="49" creationId="{00000000-0000-0000-0000-000000000000}"/>
          </ac:spMkLst>
        </pc:spChg>
        <pc:spChg chg="mod">
          <ac:chgData name="Chen, Wade" userId="c4f2137a-206a-4429-b09c-e0638ae8da40" providerId="ADAL" clId="{2E3F59CB-C5FA-4033-8CFB-A1B6168B37AC}" dt="2026-09-09T10:02:18.416" v="423" actId="2711"/>
          <ac:spMkLst>
            <pc:docMk/>
            <pc:sldMk cId="0" sldId="264"/>
            <ac:spMk id="53" creationId="{00000000-0000-0000-0000-000000000000}"/>
          </ac:spMkLst>
        </pc:spChg>
        <pc:spChg chg="mod">
          <ac:chgData name="Chen, Wade" userId="c4f2137a-206a-4429-b09c-e0638ae8da40" providerId="ADAL" clId="{2E3F59CB-C5FA-4033-8CFB-A1B6168B37AC}" dt="2026-09-09T10:03:22.440" v="430" actId="692"/>
          <ac:spMkLst>
            <pc:docMk/>
            <pc:sldMk cId="0" sldId="264"/>
            <ac:spMk id="55" creationId="{00000000-0000-0000-0000-000000000000}"/>
          </ac:spMkLst>
        </pc:spChg>
        <pc:spChg chg="mod">
          <ac:chgData name="Chen, Wade" userId="c4f2137a-206a-4429-b09c-e0638ae8da40" providerId="ADAL" clId="{2E3F59CB-C5FA-4033-8CFB-A1B6168B37AC}" dt="2026-09-09T10:02:18.416" v="423" actId="2711"/>
          <ac:spMkLst>
            <pc:docMk/>
            <pc:sldMk cId="0" sldId="264"/>
            <ac:spMk id="68" creationId="{00000000-0000-0000-0000-000000000000}"/>
          </ac:spMkLst>
        </pc:spChg>
        <pc:spChg chg="mod">
          <ac:chgData name="Chen, Wade" userId="c4f2137a-206a-4429-b09c-e0638ae8da40" providerId="ADAL" clId="{2E3F59CB-C5FA-4033-8CFB-A1B6168B37AC}" dt="2026-09-09T10:02:39.985" v="426" actId="255"/>
          <ac:spMkLst>
            <pc:docMk/>
            <pc:sldMk cId="0" sldId="264"/>
            <ac:spMk id="73" creationId="{00000000-0000-0000-0000-000000000000}"/>
          </ac:spMkLst>
        </pc:spChg>
        <pc:spChg chg="mod">
          <ac:chgData name="Chen, Wade" userId="c4f2137a-206a-4429-b09c-e0638ae8da40" providerId="ADAL" clId="{2E3F59CB-C5FA-4033-8CFB-A1B6168B37AC}" dt="2026-09-09T10:02:43.015" v="427" actId="255"/>
          <ac:spMkLst>
            <pc:docMk/>
            <pc:sldMk cId="0" sldId="264"/>
            <ac:spMk id="74" creationId="{00000000-0000-0000-0000-000000000000}"/>
          </ac:spMkLst>
        </pc:spChg>
        <pc:spChg chg="mod">
          <ac:chgData name="Chen, Wade" userId="c4f2137a-206a-4429-b09c-e0638ae8da40" providerId="ADAL" clId="{2E3F59CB-C5FA-4033-8CFB-A1B6168B37AC}" dt="2026-09-09T10:02:45.851" v="428" actId="255"/>
          <ac:spMkLst>
            <pc:docMk/>
            <pc:sldMk cId="0" sldId="264"/>
            <ac:spMk id="75" creationId="{00000000-0000-0000-0000-000000000000}"/>
          </ac:spMkLst>
        </pc:spChg>
        <pc:spChg chg="del">
          <ac:chgData name="Chen, Wade" userId="c4f2137a-206a-4429-b09c-e0638ae8da40" providerId="ADAL" clId="{2E3F59CB-C5FA-4033-8CFB-A1B6168B37AC}" dt="2026-09-09T10:04:06.113" v="442" actId="478"/>
          <ac:spMkLst>
            <pc:docMk/>
            <pc:sldMk cId="0" sldId="264"/>
            <ac:spMk id="76" creationId="{00000000-0000-0000-0000-000000000000}"/>
          </ac:spMkLst>
        </pc:spChg>
      </pc:sldChg>
      <pc:sldChg chg="modSp mod">
        <pc:chgData name="Chen, Wade" userId="c4f2137a-206a-4429-b09c-e0638ae8da40" providerId="ADAL" clId="{2E3F59CB-C5FA-4033-8CFB-A1B6168B37AC}" dt="2026-09-09T06:23:05.269" v="299" actId="6549"/>
        <pc:sldMkLst>
          <pc:docMk/>
          <pc:sldMk cId="1641943185" sldId="268"/>
        </pc:sldMkLst>
        <pc:spChg chg="mod">
          <ac:chgData name="Chen, Wade" userId="c4f2137a-206a-4429-b09c-e0638ae8da40" providerId="ADAL" clId="{2E3F59CB-C5FA-4033-8CFB-A1B6168B37AC}" dt="2026-09-09T06:22:56.548" v="298"/>
          <ac:spMkLst>
            <pc:docMk/>
            <pc:sldMk cId="1641943185" sldId="268"/>
            <ac:spMk id="73" creationId="{00000000-0000-0000-0000-000000000000}"/>
          </ac:spMkLst>
        </pc:spChg>
        <pc:spChg chg="mod">
          <ac:chgData name="Chen, Wade" userId="c4f2137a-206a-4429-b09c-e0638ae8da40" providerId="ADAL" clId="{2E3F59CB-C5FA-4033-8CFB-A1B6168B37AC}" dt="2026-09-09T06:23:05.269" v="299" actId="6549"/>
          <ac:spMkLst>
            <pc:docMk/>
            <pc:sldMk cId="1641943185" sldId="268"/>
            <ac:spMk id="80" creationId="{00000000-0000-0000-0000-000000000000}"/>
          </ac:spMkLst>
        </pc:spChg>
      </pc:sldChg>
      <pc:sldChg chg="modSp mod">
        <pc:chgData name="Chen, Wade" userId="c4f2137a-206a-4429-b09c-e0638ae8da40" providerId="ADAL" clId="{2E3F59CB-C5FA-4033-8CFB-A1B6168B37AC}" dt="2026-09-09T06:24:29.381" v="381"/>
        <pc:sldMkLst>
          <pc:docMk/>
          <pc:sldMk cId="2621818790" sldId="270"/>
        </pc:sldMkLst>
        <pc:spChg chg="mod">
          <ac:chgData name="Chen, Wade" userId="c4f2137a-206a-4429-b09c-e0638ae8da40" providerId="ADAL" clId="{2E3F59CB-C5FA-4033-8CFB-A1B6168B37AC}" dt="2026-09-09T06:23:31.129" v="338"/>
          <ac:spMkLst>
            <pc:docMk/>
            <pc:sldMk cId="2621818790" sldId="270"/>
            <ac:spMk id="49" creationId="{00000000-0000-0000-0000-000000000000}"/>
          </ac:spMkLst>
        </pc:spChg>
        <pc:spChg chg="mod">
          <ac:chgData name="Chen, Wade" userId="c4f2137a-206a-4429-b09c-e0638ae8da40" providerId="ADAL" clId="{2E3F59CB-C5FA-4033-8CFB-A1B6168B37AC}" dt="2026-09-09T06:24:09.584" v="364"/>
          <ac:spMkLst>
            <pc:docMk/>
            <pc:sldMk cId="2621818790" sldId="270"/>
            <ac:spMk id="90" creationId="{00000000-0000-0000-0000-000000000000}"/>
          </ac:spMkLst>
        </pc:spChg>
        <pc:spChg chg="mod">
          <ac:chgData name="Chen, Wade" userId="c4f2137a-206a-4429-b09c-e0638ae8da40" providerId="ADAL" clId="{2E3F59CB-C5FA-4033-8CFB-A1B6168B37AC}" dt="2026-09-09T06:24:29.381" v="381"/>
          <ac:spMkLst>
            <pc:docMk/>
            <pc:sldMk cId="2621818790" sldId="270"/>
            <ac:spMk id="96" creationId="{00000000-0000-0000-0000-000000000000}"/>
          </ac:spMkLst>
        </pc:spChg>
      </pc:sldChg>
      <pc:sldChg chg="modSp mod">
        <pc:chgData name="Chen, Wade" userId="c4f2137a-206a-4429-b09c-e0638ae8da40" providerId="ADAL" clId="{2E3F59CB-C5FA-4033-8CFB-A1B6168B37AC}" dt="2026-09-02T10:15:02.846" v="181"/>
        <pc:sldMkLst>
          <pc:docMk/>
          <pc:sldMk cId="425026555" sldId="2147483063"/>
        </pc:sldMkLst>
        <pc:spChg chg="mod">
          <ac:chgData name="Chen, Wade" userId="c4f2137a-206a-4429-b09c-e0638ae8da40" providerId="ADAL" clId="{2E3F59CB-C5FA-4033-8CFB-A1B6168B37AC}" dt="2026-09-02T10:09:31.169" v="107"/>
          <ac:spMkLst>
            <pc:docMk/>
            <pc:sldMk cId="425026555" sldId="2147483063"/>
            <ac:spMk id="45" creationId="{DEF84164-D449-E4C4-111A-45069527E960}"/>
          </ac:spMkLst>
        </pc:spChg>
        <pc:spChg chg="mod">
          <ac:chgData name="Chen, Wade" userId="c4f2137a-206a-4429-b09c-e0638ae8da40" providerId="ADAL" clId="{2E3F59CB-C5FA-4033-8CFB-A1B6168B37AC}" dt="2026-09-02T10:12:50.110" v="129"/>
          <ac:spMkLst>
            <pc:docMk/>
            <pc:sldMk cId="425026555" sldId="2147483063"/>
            <ac:spMk id="61" creationId="{52DD6731-F910-FB34-3944-73119C03C045}"/>
          </ac:spMkLst>
        </pc:spChg>
        <pc:spChg chg="mod">
          <ac:chgData name="Chen, Wade" userId="c4f2137a-206a-4429-b09c-e0638ae8da40" providerId="ADAL" clId="{2E3F59CB-C5FA-4033-8CFB-A1B6168B37AC}" dt="2026-09-02T10:12:23.762" v="119" actId="21"/>
          <ac:spMkLst>
            <pc:docMk/>
            <pc:sldMk cId="425026555" sldId="2147483063"/>
            <ac:spMk id="63" creationId="{212BB4C6-C6DB-2B46-CD2B-F4A7C82EB0A0}"/>
          </ac:spMkLst>
        </pc:spChg>
        <pc:spChg chg="mod">
          <ac:chgData name="Chen, Wade" userId="c4f2137a-206a-4429-b09c-e0638ae8da40" providerId="ADAL" clId="{2E3F59CB-C5FA-4033-8CFB-A1B6168B37AC}" dt="2026-09-02T10:14:22.907" v="178"/>
          <ac:spMkLst>
            <pc:docMk/>
            <pc:sldMk cId="425026555" sldId="2147483063"/>
            <ac:spMk id="75" creationId="{FFF1C9D3-73CB-4D90-2405-DA26A7E1E9EE}"/>
          </ac:spMkLst>
        </pc:spChg>
        <pc:spChg chg="mod">
          <ac:chgData name="Chen, Wade" userId="c4f2137a-206a-4429-b09c-e0638ae8da40" providerId="ADAL" clId="{2E3F59CB-C5FA-4033-8CFB-A1B6168B37AC}" dt="2026-09-02T10:15:02.846" v="181"/>
          <ac:spMkLst>
            <pc:docMk/>
            <pc:sldMk cId="425026555" sldId="2147483063"/>
            <ac:spMk id="79" creationId="{9175CC42-C981-4459-37BB-917616776B29}"/>
          </ac:spMkLst>
        </pc:spChg>
        <pc:spChg chg="mod">
          <ac:chgData name="Chen, Wade" userId="c4f2137a-206a-4429-b09c-e0638ae8da40" providerId="ADAL" clId="{2E3F59CB-C5FA-4033-8CFB-A1B6168B37AC}" dt="2026-09-02T10:14:15.257" v="175"/>
          <ac:spMkLst>
            <pc:docMk/>
            <pc:sldMk cId="425026555" sldId="2147483063"/>
            <ac:spMk id="81" creationId="{FBBC157A-AD60-9A71-EACC-B5FD6DEF70CE}"/>
          </ac:spMkLst>
        </pc:spChg>
        <pc:spChg chg="mod">
          <ac:chgData name="Chen, Wade" userId="c4f2137a-206a-4429-b09c-e0638ae8da40" providerId="ADAL" clId="{2E3F59CB-C5FA-4033-8CFB-A1B6168B37AC}" dt="2026-09-02T10:12:17.995" v="118"/>
          <ac:spMkLst>
            <pc:docMk/>
            <pc:sldMk cId="425026555" sldId="2147483063"/>
            <ac:spMk id="91" creationId="{506D53F9-B36C-F996-FCF7-7E5606998865}"/>
          </ac:spMkLst>
        </pc:spChg>
        <pc:spChg chg="mod">
          <ac:chgData name="Chen, Wade" userId="c4f2137a-206a-4429-b09c-e0638ae8da40" providerId="ADAL" clId="{2E3F59CB-C5FA-4033-8CFB-A1B6168B37AC}" dt="2026-09-02T09:43:15.518" v="23"/>
          <ac:spMkLst>
            <pc:docMk/>
            <pc:sldMk cId="425026555" sldId="2147483063"/>
            <ac:spMk id="139" creationId="{FCCC85B5-AF0A-3714-88CE-B41C3F637316}"/>
          </ac:spMkLst>
        </pc:spChg>
        <pc:spChg chg="mod">
          <ac:chgData name="Chen, Wade" userId="c4f2137a-206a-4429-b09c-e0638ae8da40" providerId="ADAL" clId="{2E3F59CB-C5FA-4033-8CFB-A1B6168B37AC}" dt="2026-09-02T09:43:50.840" v="26"/>
          <ac:spMkLst>
            <pc:docMk/>
            <pc:sldMk cId="425026555" sldId="2147483063"/>
            <ac:spMk id="141" creationId="{8FA781DB-8DB1-4DC4-878E-5170226CD085}"/>
          </ac:spMkLst>
        </pc:spChg>
        <pc:spChg chg="mod">
          <ac:chgData name="Chen, Wade" userId="c4f2137a-206a-4429-b09c-e0638ae8da40" providerId="ADAL" clId="{2E3F59CB-C5FA-4033-8CFB-A1B6168B37AC}" dt="2026-09-02T09:42:36.571" v="12" actId="14100"/>
          <ac:spMkLst>
            <pc:docMk/>
            <pc:sldMk cId="425026555" sldId="2147483063"/>
            <ac:spMk id="202" creationId="{A72C869E-DDC1-CD38-2527-108A51CD5453}"/>
          </ac:spMkLst>
        </pc:spChg>
        <pc:spChg chg="mod">
          <ac:chgData name="Chen, Wade" userId="c4f2137a-206a-4429-b09c-e0638ae8da40" providerId="ADAL" clId="{2E3F59CB-C5FA-4033-8CFB-A1B6168B37AC}" dt="2026-09-02T09:42:39.368" v="13" actId="14100"/>
          <ac:spMkLst>
            <pc:docMk/>
            <pc:sldMk cId="425026555" sldId="2147483063"/>
            <ac:spMk id="204" creationId="{8A0EE86F-14E3-A8AF-BF4B-11B6CBC091CF}"/>
          </ac:spMkLst>
        </pc:spChg>
        <pc:spChg chg="mod">
          <ac:chgData name="Chen, Wade" userId="c4f2137a-206a-4429-b09c-e0638ae8da40" providerId="ADAL" clId="{2E3F59CB-C5FA-4033-8CFB-A1B6168B37AC}" dt="2026-09-02T09:42:07.929" v="5"/>
          <ac:spMkLst>
            <pc:docMk/>
            <pc:sldMk cId="425026555" sldId="2147483063"/>
            <ac:spMk id="206" creationId="{A7F03C36-40CC-C34C-4092-531A54175E90}"/>
          </ac:spMkLst>
        </pc:spChg>
        <pc:spChg chg="mod">
          <ac:chgData name="Chen, Wade" userId="c4f2137a-206a-4429-b09c-e0638ae8da40" providerId="ADAL" clId="{2E3F59CB-C5FA-4033-8CFB-A1B6168B37AC}" dt="2026-09-02T09:42:16.063" v="8"/>
          <ac:spMkLst>
            <pc:docMk/>
            <pc:sldMk cId="425026555" sldId="2147483063"/>
            <ac:spMk id="208" creationId="{CE8DA56D-0EAC-D273-22E8-0F1907AF8E25}"/>
          </ac:spMkLst>
        </pc:spChg>
        <pc:spChg chg="mod">
          <ac:chgData name="Chen, Wade" userId="c4f2137a-206a-4429-b09c-e0638ae8da40" providerId="ADAL" clId="{2E3F59CB-C5FA-4033-8CFB-A1B6168B37AC}" dt="2026-09-02T09:42:52.185" v="18"/>
          <ac:spMkLst>
            <pc:docMk/>
            <pc:sldMk cId="425026555" sldId="2147483063"/>
            <ac:spMk id="262" creationId="{2E5D151C-7173-1BB0-1B92-61F724D2BC68}"/>
          </ac:spMkLst>
        </pc:spChg>
      </pc:sldChg>
      <pc:sldChg chg="addSp delSp mod">
        <pc:chgData name="Chen, Wade" userId="c4f2137a-206a-4429-b09c-e0638ae8da40" providerId="ADAL" clId="{2E3F59CB-C5FA-4033-8CFB-A1B6168B37AC}" dt="2026-09-09T09:31:48.294" v="410" actId="22"/>
        <pc:sldMkLst>
          <pc:docMk/>
          <pc:sldMk cId="2673372205" sldId="2147483595"/>
        </pc:sldMkLst>
        <pc:picChg chg="add del">
          <ac:chgData name="Chen, Wade" userId="c4f2137a-206a-4429-b09c-e0638ae8da40" providerId="ADAL" clId="{2E3F59CB-C5FA-4033-8CFB-A1B6168B37AC}" dt="2026-09-09T09:31:48.294" v="410" actId="22"/>
          <ac:picMkLst>
            <pc:docMk/>
            <pc:sldMk cId="2673372205" sldId="2147483595"/>
            <ac:picMk id="2" creationId="{02CA7E60-64F8-AD41-F84D-B37947FA6E4C}"/>
          </ac:picMkLst>
        </pc:picChg>
      </pc:sldChg>
      <pc:sldChg chg="modSp mod">
        <pc:chgData name="Chen, Wade" userId="c4f2137a-206a-4429-b09c-e0638ae8da40" providerId="ADAL" clId="{2E3F59CB-C5FA-4033-8CFB-A1B6168B37AC}" dt="2026-09-09T06:51:10.512" v="407" actId="20577"/>
        <pc:sldMkLst>
          <pc:docMk/>
          <pc:sldMk cId="4007335237" sldId="2147483597"/>
        </pc:sldMkLst>
        <pc:spChg chg="mod">
          <ac:chgData name="Chen, Wade" userId="c4f2137a-206a-4429-b09c-e0638ae8da40" providerId="ADAL" clId="{2E3F59CB-C5FA-4033-8CFB-A1B6168B37AC}" dt="2026-09-09T06:51:10.512" v="407" actId="20577"/>
          <ac:spMkLst>
            <pc:docMk/>
            <pc:sldMk cId="4007335237" sldId="2147483597"/>
            <ac:spMk id="246" creationId="{6344A756-83F4-A604-A426-3A658977DFB0}"/>
          </ac:spMkLst>
        </pc:spChg>
      </pc:sldChg>
      <pc:sldChg chg="modSp mod">
        <pc:chgData name="Chen, Wade" userId="c4f2137a-206a-4429-b09c-e0638ae8da40" providerId="ADAL" clId="{2E3F59CB-C5FA-4033-8CFB-A1B6168B37AC}" dt="2026-09-04T05:57:45.571" v="264"/>
        <pc:sldMkLst>
          <pc:docMk/>
          <pc:sldMk cId="1446256217" sldId="2147483608"/>
        </pc:sldMkLst>
        <pc:graphicFrameChg chg="mod modGraphic">
          <ac:chgData name="Chen, Wade" userId="c4f2137a-206a-4429-b09c-e0638ae8da40" providerId="ADAL" clId="{2E3F59CB-C5FA-4033-8CFB-A1B6168B37AC}" dt="2026-09-04T05:57:45.571" v="264"/>
          <ac:graphicFrameMkLst>
            <pc:docMk/>
            <pc:sldMk cId="1446256217" sldId="2147483608"/>
            <ac:graphicFrameMk id="19" creationId="{CAFD24A9-9358-12DB-276D-87BE09615F5E}"/>
          </ac:graphicFrameMkLst>
        </pc:graphicFrameChg>
      </pc:sldChg>
      <pc:sldChg chg="modSp mod">
        <pc:chgData name="Chen, Wade" userId="c4f2137a-206a-4429-b09c-e0638ae8da40" providerId="ADAL" clId="{2E3F59CB-C5FA-4033-8CFB-A1B6168B37AC}" dt="2026-09-02T09:45:46.274" v="53"/>
        <pc:sldMkLst>
          <pc:docMk/>
          <pc:sldMk cId="4250475961" sldId="2147483610"/>
        </pc:sldMkLst>
        <pc:spChg chg="mod">
          <ac:chgData name="Chen, Wade" userId="c4f2137a-206a-4429-b09c-e0638ae8da40" providerId="ADAL" clId="{2E3F59CB-C5FA-4033-8CFB-A1B6168B37AC}" dt="2026-09-02T09:45:08.335" v="48"/>
          <ac:spMkLst>
            <pc:docMk/>
            <pc:sldMk cId="4250475961" sldId="2147483610"/>
            <ac:spMk id="377" creationId="{970A074D-1AB7-D59B-7904-25C90E8E8DC0}"/>
          </ac:spMkLst>
        </pc:spChg>
        <pc:spChg chg="mod">
          <ac:chgData name="Chen, Wade" userId="c4f2137a-206a-4429-b09c-e0638ae8da40" providerId="ADAL" clId="{2E3F59CB-C5FA-4033-8CFB-A1B6168B37AC}" dt="2026-09-02T09:44:55.672" v="40"/>
          <ac:spMkLst>
            <pc:docMk/>
            <pc:sldMk cId="4250475961" sldId="2147483610"/>
            <ac:spMk id="383" creationId="{6CDA560F-96EC-FA82-26CD-538398A1C267}"/>
          </ac:spMkLst>
        </pc:spChg>
        <pc:spChg chg="mod">
          <ac:chgData name="Chen, Wade" userId="c4f2137a-206a-4429-b09c-e0638ae8da40" providerId="ADAL" clId="{2E3F59CB-C5FA-4033-8CFB-A1B6168B37AC}" dt="2026-09-02T09:45:46.274" v="53"/>
          <ac:spMkLst>
            <pc:docMk/>
            <pc:sldMk cId="4250475961" sldId="2147483610"/>
            <ac:spMk id="451" creationId="{6C445BAE-E118-FBCB-A1C9-07FE052DC9C2}"/>
          </ac:spMkLst>
        </pc:spChg>
      </pc:sldChg>
      <pc:sldChg chg="addSp delSp new del mod">
        <pc:chgData name="Chen, Wade" userId="c4f2137a-206a-4429-b09c-e0638ae8da40" providerId="ADAL" clId="{2E3F59CB-C5FA-4033-8CFB-A1B6168B37AC}" dt="2026-09-09T10:01:50.066" v="419" actId="47"/>
        <pc:sldMkLst>
          <pc:docMk/>
          <pc:sldMk cId="3896140124" sldId="2147483612"/>
        </pc:sldMkLst>
        <pc:picChg chg="add del">
          <ac:chgData name="Chen, Wade" userId="c4f2137a-206a-4429-b09c-e0638ae8da40" providerId="ADAL" clId="{2E3F59CB-C5FA-4033-8CFB-A1B6168B37AC}" dt="2026-09-09T09:38:04.028" v="414" actId="478"/>
          <ac:picMkLst>
            <pc:docMk/>
            <pc:sldMk cId="3896140124" sldId="2147483612"/>
            <ac:picMk id="7" creationId="{6CE11173-C126-4251-D5A5-F2A26002401B}"/>
          </ac:picMkLst>
        </pc:picChg>
        <pc:picChg chg="add del">
          <ac:chgData name="Chen, Wade" userId="c4f2137a-206a-4429-b09c-e0638ae8da40" providerId="ADAL" clId="{2E3F59CB-C5FA-4033-8CFB-A1B6168B37AC}" dt="2026-09-09T09:38:12.908" v="417" actId="478"/>
          <ac:picMkLst>
            <pc:docMk/>
            <pc:sldMk cId="3896140124" sldId="2147483612"/>
            <ac:picMk id="8" creationId="{8CD45F5C-B4B6-9803-1745-BB8C5E125F8C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FA2CA8-92D6-47CF-85D6-1F0532C1E387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5A89C9-4676-4DF6-A308-B82F637C7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9955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FB7AB40-F860-4E32-9C26-3A6684532969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DE1EEE18-8F3D-4CB3-B090-6249C20A5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912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8808A1-0A63-488B-A893-6B9315BFD5A9}" type="slidenum">
              <a:rPr lang="en-US" smtClean="0">
                <a:solidFill>
                  <a:prstClr val="black"/>
                </a:solidFill>
              </a:rPr>
              <a:pPr/>
              <a:t>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63474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8808A1-0A63-488B-A893-6B9315BFD5A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63474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07AD3-B440-EA5E-90CC-BE9F2376A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61E018-342D-C820-6138-4A118F19B1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3986B4-4D32-3971-E12E-1F8A8BB846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目标的定义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E20D05-1A1B-3DF0-1915-3088D52E57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1EEE18-8F3D-4CB3-B090-6249C20A5AF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6155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AFC01-7C0C-AEF3-A2BB-B36ADE091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9E8C9A-6BF5-5B1A-4E7C-85E97880A6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E131BF-6953-EAE7-85A8-4EE2F9D4A6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目标的定义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33220D-CFA5-55FC-FC0F-DE915EE198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1EEE18-8F3D-4CB3-B090-6249C20A5AF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7773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16429-3CBB-D22C-4F66-3BE46F4E5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AD3EC7-E28F-8464-3B0F-4AB6D5F4A7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AA3DAE-2EB1-A846-D74A-C517205DD9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5C07EC-CE64-44F7-E502-C487000B8D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8808A1-0A63-488B-A893-6B9315BFD5A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34276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BF5E7-2975-708F-E8CA-6C047AE79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EB5311-A3EC-370A-69CF-22DCF7C1A1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ED1A6C-7F8E-B655-7876-03CACF4002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DDAA80-BF78-4D3E-C940-CEA6C92B768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97714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</a:t>
            </a:r>
            <a:r>
              <a:rPr err="1"/>
              <a:t>本页全部数据、系统名称、场景和结论均来自用户提供的原始PPT；未使用外部来源</a:t>
            </a:r>
            <a:r>
              <a:t>。</a:t>
            </a:r>
          </a:p>
          <a:p>
            <a:r>
              <a:t>- </a:t>
            </a:r>
            <a:r>
              <a:rPr err="1"/>
              <a:t>本版本仅将原有可见内容翻译为中文并放大、重排既有元素，未新增或删除内容</a:t>
            </a:r>
            <a:r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9D118-78BE-B056-15CC-B6CB72AD8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66523A-91A8-EA40-302F-D64C4CF2AD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8DE1D7-7DAB-C72A-0F78-CC257D6A86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E61F2E-51CE-0165-B0C6-0C34627FCD2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84014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A4AE8-388B-C26D-6A97-2EFD3F5EB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6FFEFB-4384-BD49-649B-7D1FA980DD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B482B6-E64E-3BA3-41D0-D45D767DE9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A220A2-F2A4-0B87-82E5-1C77DBD3CF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8808A1-0A63-488B-A893-6B9315BFD5A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58939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BDD15-0BD7-00CB-078A-B3D80E922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847325-07CF-5302-6FA4-6715C69B0C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C32F6D-7E61-FB83-641F-E4EA4D5C5E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目标的定义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FDD233-A5FE-C80D-B8BB-92F689E288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1EEE18-8F3D-4CB3-B090-6249C20A5AF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3657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7E90E-C36C-0945-1D55-675DE57D5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639E48-9516-103E-5611-0BB8845231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DFDBC7-DDC4-0632-A78B-38F32F5F62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目标的定义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325D21-7D1E-1453-2DE4-85F8D0E7A3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1EEE18-8F3D-4CB3-B090-6249C20A5AF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6302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7C87E-27B5-02FD-8110-E8DCB5F7B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7E3BC9-167A-1F9B-5A7D-B06593B803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002E8F-48E7-30DD-82BF-FA80E1F7F7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目标的定义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43BFD8-103C-C077-6117-992D3CBA6D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1EEE18-8F3D-4CB3-B090-6249C20A5AF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7008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FB6D0-3DC9-88AF-B3AA-826006AAE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0AF5BB-40D8-E896-22F4-9AAF168AFA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F483F9-A0B2-CB41-7AC1-45E226DD23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目标的定义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9CB8D8-EB7E-4B5E-323B-9BCC27C720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1EEE18-8F3D-4CB3-B090-6249C20A5AF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3942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D39B0-9155-1DCB-AB6C-026A5E628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9E29DB-6349-C6BF-23D6-469D3D7CA3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8ADAD5-2F51-67CD-D7FC-984D8337B0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0D2107-6B0D-5E25-BE00-1292190758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8808A1-0A63-488B-A893-6B9315BFD5A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82142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9AD07-5510-CD52-E882-9E6C1B7DF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E197C2-F9F4-A211-FFD7-2AF1D67E85F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CD6DB1-B339-58F6-6E3E-DF855F860E3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8D9A877-6EAE-629A-0C98-A484CA58EF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5DC02F3-5220-CC80-5355-37F4AEA022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通用能力</a:t>
            </a: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altLang="zh-CN" sz="1400" b="0" i="0" u="none" strike="noStrike">
                <a:solidFill>
                  <a:srgbClr val="000000"/>
                </a:solidFill>
              </a:rPr>
              <a:t>08 – SSO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登录（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Phase1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）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DD3071-EFC4-DB3B-6DDF-352141489EA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44874B-078E-B238-3596-CC0D8A431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7748902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B0CED-8C51-D3D3-22C9-77E3C20B0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AF5EA5-A672-D894-9ECD-1A535E95B3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FD7079-FAEA-A5BB-E8B3-F5203A27F3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目标的定义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E5F698-B0A8-F034-0918-EDF81ECA4B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1EEE18-8F3D-4CB3-B090-6249C20A5AF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54753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进入第二阶段，我们的目标是优化用户体验并扩展系统的应用范围。我们将支持更复杂的查询场景，提供可配置的查询页面，并开始承接现有系统的冷数据。系统功能将包括高级筛选、可配置化界面、冷数据归档流程以及数据关联与可视化，让数据查询更高效、更灵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726A3-3BF4-941A-1068-6D000D31F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98A297C-F2E8-40D5-B380-C89E0F2FB10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2829EB-9BBD-BEB7-BF2B-12F854F38ED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E829453-A16F-F89C-019F-E5A0D179F9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7FB081F-4047-EA3B-1635-D747FBEE5E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进入第二阶段，我们的目标是优化用户体验并扩展系统的应用范围。我们将支持更复杂的查询场景，提供可配置的查询页面，并开始承接现有系统的冷数据。系统功能将包括高级筛选、可配置化界面、冷数据归档流程以及数据关联与可视化，让数据查询更高效、更灵活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60CD25-E5CF-4BE2-B041-7093C042B43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7E462-9F47-4758-05D5-B36EF6E96B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1763044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914AB-B3A0-F151-02D8-88E30EC67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F87C40-9828-B800-033E-002168383E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A5C70E-E872-501A-65CF-57601A2763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4C75B2-2023-16FE-24D4-84E8868726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8808A1-0A63-488B-A893-6B9315BFD5A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52025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2CA4E-2007-6215-2D91-915695424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485637-ED49-DB59-C1EF-B1556D1E85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EBA3A8-0264-A366-0A6D-5344CFE355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RIMS </a:t>
            </a:r>
            <a:r>
              <a:rPr lang="en-US" err="1"/>
              <a:t>介绍和培训网站：https</a:t>
            </a:r>
            <a:r>
              <a:rPr lang="en-US"/>
              <a:t>://abbott.sharepoint.com/sites/AW-</a:t>
            </a:r>
            <a:r>
              <a:rPr lang="en-US" err="1"/>
              <a:t>infogov</a:t>
            </a:r>
            <a:r>
              <a:rPr lang="en-US"/>
              <a:t>/</a:t>
            </a:r>
            <a:r>
              <a:rPr lang="en-US" err="1"/>
              <a:t>SitePages</a:t>
            </a:r>
            <a:r>
              <a:rPr lang="en-US"/>
              <a:t>/IG-ErecMgmt-Records.aspx</a:t>
            </a:r>
          </a:p>
          <a:p>
            <a:r>
              <a:rPr lang="en-US"/>
              <a:t>Businesses with no licensed RIMS users can contact the Information Governance and Records team for assistance.</a:t>
            </a:r>
          </a:p>
          <a:p>
            <a:endParaRPr lang="en-US"/>
          </a:p>
          <a:p>
            <a:r>
              <a:rPr lang="en-US"/>
              <a:t>Why – </a:t>
            </a:r>
            <a:r>
              <a:rPr lang="zh-CN" altLang="en-US"/>
              <a:t>从业务角度</a:t>
            </a:r>
            <a:endParaRPr lang="en-US" altLang="zh-CN"/>
          </a:p>
          <a:p>
            <a:pPr marL="228600" indent="-228600">
              <a:buAutoNum type="arabicPeriod"/>
            </a:pPr>
            <a:r>
              <a:rPr lang="zh-CN" altLang="en-US"/>
              <a:t>业务查不到历史数据</a:t>
            </a:r>
            <a:endParaRPr lang="en-US" altLang="zh-CN"/>
          </a:p>
          <a:p>
            <a:pPr marL="228600" indent="-228600">
              <a:buAutoNum type="arabicPeriod"/>
            </a:pPr>
            <a:r>
              <a:rPr lang="zh-CN" altLang="en-US"/>
              <a:t>为了应对</a:t>
            </a:r>
            <a:r>
              <a:rPr lang="en-US" altLang="zh-CN"/>
              <a:t>audit</a:t>
            </a:r>
            <a:r>
              <a:rPr lang="zh-CN" altLang="en-US"/>
              <a:t>和药监</a:t>
            </a:r>
            <a:r>
              <a:rPr lang="en-US" altLang="zh-CN"/>
              <a:t>-</a:t>
            </a:r>
            <a:r>
              <a:rPr lang="zh-CN" altLang="en-US"/>
              <a:t>合规</a:t>
            </a: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BCFD49-D8BA-E42F-7977-8F2FCBA375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1EEE18-8F3D-4CB3-B090-6249C20A5AF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36616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43DEC-3007-260A-3B24-B57945088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63EBDC-0FD1-3968-00A3-3192DE7368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230457-49EC-BF5F-3789-F6AF6D7C6D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RIMS </a:t>
            </a:r>
            <a:r>
              <a:rPr lang="en-US" err="1"/>
              <a:t>介绍和培训网站：https</a:t>
            </a:r>
            <a:r>
              <a:rPr lang="en-US"/>
              <a:t>://abbott.sharepoint.com/sites/AW-</a:t>
            </a:r>
            <a:r>
              <a:rPr lang="en-US" err="1"/>
              <a:t>infogov</a:t>
            </a:r>
            <a:r>
              <a:rPr lang="en-US"/>
              <a:t>/</a:t>
            </a:r>
            <a:r>
              <a:rPr lang="en-US" err="1"/>
              <a:t>SitePages</a:t>
            </a:r>
            <a:r>
              <a:rPr lang="en-US"/>
              <a:t>/IG-ErecMgmt-Records.aspx</a:t>
            </a:r>
          </a:p>
          <a:p>
            <a:r>
              <a:rPr lang="en-US"/>
              <a:t>Businesses with no licensed RIMS users can contact the Information Governance and Records team for assistance.</a:t>
            </a:r>
          </a:p>
          <a:p>
            <a:endParaRPr lang="en-US"/>
          </a:p>
          <a:p>
            <a:r>
              <a:rPr lang="en-US"/>
              <a:t>Why – </a:t>
            </a:r>
            <a:r>
              <a:rPr lang="zh-CN" altLang="en-US"/>
              <a:t>从业务角度</a:t>
            </a:r>
            <a:endParaRPr lang="en-US" altLang="zh-CN"/>
          </a:p>
          <a:p>
            <a:pPr marL="228600" indent="-228600">
              <a:buAutoNum type="arabicPeriod"/>
            </a:pPr>
            <a:r>
              <a:rPr lang="zh-CN" altLang="en-US"/>
              <a:t>业务查不到历史数据</a:t>
            </a:r>
            <a:endParaRPr lang="en-US" altLang="zh-CN"/>
          </a:p>
          <a:p>
            <a:pPr marL="228600" indent="-228600">
              <a:buAutoNum type="arabicPeriod"/>
            </a:pPr>
            <a:r>
              <a:rPr lang="zh-CN" altLang="en-US"/>
              <a:t>为了应对</a:t>
            </a:r>
            <a:r>
              <a:rPr lang="en-US" altLang="zh-CN"/>
              <a:t>audit</a:t>
            </a:r>
            <a:r>
              <a:rPr lang="zh-CN" altLang="en-US"/>
              <a:t>和药监</a:t>
            </a:r>
            <a:r>
              <a:rPr lang="en-US" altLang="zh-CN"/>
              <a:t>-</a:t>
            </a:r>
            <a:r>
              <a:rPr lang="zh-CN" altLang="en-US"/>
              <a:t>合规</a:t>
            </a: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6585C2-EFE2-1D60-C6DC-899EA420BC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1EEE18-8F3D-4CB3-B090-6249C20A5AF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175535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1EEE18-8F3D-4CB3-B090-6249C20A5AF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00415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DED9E-887B-E8AB-6627-F262E4D07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6C5A50-C791-8FC8-6D56-F6CA7D8EDC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744667-1F24-51B1-D7E2-31687EF31A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RIMS </a:t>
            </a:r>
            <a:r>
              <a:rPr lang="en-US" err="1"/>
              <a:t>介绍和培训网站：https</a:t>
            </a:r>
            <a:r>
              <a:rPr lang="en-US"/>
              <a:t>://abbott.sharepoint.com/sites/AW-</a:t>
            </a:r>
            <a:r>
              <a:rPr lang="en-US" err="1"/>
              <a:t>infogov</a:t>
            </a:r>
            <a:r>
              <a:rPr lang="en-US"/>
              <a:t>/</a:t>
            </a:r>
            <a:r>
              <a:rPr lang="en-US" err="1"/>
              <a:t>SitePages</a:t>
            </a:r>
            <a:r>
              <a:rPr lang="en-US"/>
              <a:t>/IG-ErecMgmt-Records.aspx</a:t>
            </a:r>
          </a:p>
          <a:p>
            <a:r>
              <a:rPr lang="en-US"/>
              <a:t>Businesses with no licensed RIMS users can contact the Information Governance and Records team for assistance.</a:t>
            </a:r>
          </a:p>
          <a:p>
            <a:endParaRPr lang="en-US"/>
          </a:p>
          <a:p>
            <a:r>
              <a:rPr lang="en-US"/>
              <a:t>Why – </a:t>
            </a:r>
            <a:r>
              <a:rPr lang="zh-CN" altLang="en-US"/>
              <a:t>从业务角度</a:t>
            </a:r>
            <a:endParaRPr lang="en-US" altLang="zh-CN"/>
          </a:p>
          <a:p>
            <a:pPr marL="228600" indent="-228600">
              <a:buAutoNum type="arabicPeriod"/>
            </a:pPr>
            <a:r>
              <a:rPr lang="zh-CN" altLang="en-US"/>
              <a:t>业务查不到历史数据</a:t>
            </a:r>
            <a:endParaRPr lang="en-US" altLang="zh-CN"/>
          </a:p>
          <a:p>
            <a:pPr marL="228600" indent="-228600">
              <a:buAutoNum type="arabicPeriod"/>
            </a:pPr>
            <a:r>
              <a:rPr lang="zh-CN" altLang="en-US"/>
              <a:t>为了应对</a:t>
            </a:r>
            <a:r>
              <a:rPr lang="en-US" altLang="zh-CN"/>
              <a:t>audit</a:t>
            </a:r>
            <a:r>
              <a:rPr lang="zh-CN" altLang="en-US"/>
              <a:t>和药监</a:t>
            </a:r>
            <a:r>
              <a:rPr lang="en-US" altLang="zh-CN"/>
              <a:t>-</a:t>
            </a:r>
            <a:r>
              <a:rPr lang="zh-CN" altLang="en-US"/>
              <a:t>合规</a:t>
            </a: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419B2E-73B5-19DD-9F6E-8C407FA2E8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1EEE18-8F3D-4CB3-B090-6249C20A5AF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090967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33CEC-634E-3F81-E679-CD1417075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8693AE-BE98-D4BB-1B2D-ABFBE0D29E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F468CA-66CF-3D1B-552C-C1155C089D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RIMS </a:t>
            </a:r>
            <a:r>
              <a:rPr lang="en-US" err="1"/>
              <a:t>介绍和培训网站：https</a:t>
            </a:r>
            <a:r>
              <a:rPr lang="en-US"/>
              <a:t>://abbott.sharepoint.com/sites/AW-</a:t>
            </a:r>
            <a:r>
              <a:rPr lang="en-US" err="1"/>
              <a:t>infogov</a:t>
            </a:r>
            <a:r>
              <a:rPr lang="en-US"/>
              <a:t>/</a:t>
            </a:r>
            <a:r>
              <a:rPr lang="en-US" err="1"/>
              <a:t>SitePages</a:t>
            </a:r>
            <a:r>
              <a:rPr lang="en-US"/>
              <a:t>/IG-ErecMgmt-Records.aspx</a:t>
            </a:r>
          </a:p>
          <a:p>
            <a:r>
              <a:rPr lang="en-US"/>
              <a:t>Businesses with no licensed RIMS users can contact the Information Governance and Records team for assistance.</a:t>
            </a:r>
          </a:p>
          <a:p>
            <a:endParaRPr lang="en-US"/>
          </a:p>
          <a:p>
            <a:r>
              <a:rPr lang="en-US"/>
              <a:t>Why – </a:t>
            </a:r>
            <a:r>
              <a:rPr lang="zh-CN" altLang="en-US"/>
              <a:t>从业务角度</a:t>
            </a:r>
            <a:endParaRPr lang="en-US" altLang="zh-CN"/>
          </a:p>
          <a:p>
            <a:pPr marL="228600" indent="-228600">
              <a:buAutoNum type="arabicPeriod"/>
            </a:pPr>
            <a:r>
              <a:rPr lang="zh-CN" altLang="en-US"/>
              <a:t>业务查不到历史数据</a:t>
            </a:r>
            <a:endParaRPr lang="en-US" altLang="zh-CN"/>
          </a:p>
          <a:p>
            <a:pPr marL="228600" indent="-228600">
              <a:buAutoNum type="arabicPeriod"/>
            </a:pPr>
            <a:r>
              <a:rPr lang="zh-CN" altLang="en-US"/>
              <a:t>为了应对</a:t>
            </a:r>
            <a:r>
              <a:rPr lang="en-US" altLang="zh-CN"/>
              <a:t>audit</a:t>
            </a:r>
            <a:r>
              <a:rPr lang="zh-CN" altLang="en-US"/>
              <a:t>和药监</a:t>
            </a:r>
            <a:r>
              <a:rPr lang="en-US" altLang="zh-CN"/>
              <a:t>-</a:t>
            </a:r>
            <a:r>
              <a:rPr lang="zh-CN" altLang="en-US"/>
              <a:t>合规</a:t>
            </a: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7971EA-B521-9A13-0A92-D3C19EC2A3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1EEE18-8F3D-4CB3-B090-6249C20A5AF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603322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F35A4-2743-DB09-ADDF-41FFABEFD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9AEB40-C4C1-F96C-E11E-CF3D52E07C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DF3112-0DD6-3355-8E9C-29273FDBC6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RIMS </a:t>
            </a:r>
            <a:r>
              <a:rPr lang="en-US" err="1"/>
              <a:t>介绍和培训网站：https</a:t>
            </a:r>
            <a:r>
              <a:rPr lang="en-US"/>
              <a:t>://abbott.sharepoint.com/sites/AW-</a:t>
            </a:r>
            <a:r>
              <a:rPr lang="en-US" err="1"/>
              <a:t>infogov</a:t>
            </a:r>
            <a:r>
              <a:rPr lang="en-US"/>
              <a:t>/</a:t>
            </a:r>
            <a:r>
              <a:rPr lang="en-US" err="1"/>
              <a:t>SitePages</a:t>
            </a:r>
            <a:r>
              <a:rPr lang="en-US"/>
              <a:t>/IG-ErecMgmt-Records.aspx</a:t>
            </a:r>
          </a:p>
          <a:p>
            <a:r>
              <a:rPr lang="en-US"/>
              <a:t>Businesses with no licensed RIMS users can contact the Information Governance and Records team for assistance.</a:t>
            </a:r>
          </a:p>
          <a:p>
            <a:endParaRPr lang="en-US"/>
          </a:p>
          <a:p>
            <a:r>
              <a:rPr lang="en-US"/>
              <a:t>Why – </a:t>
            </a:r>
            <a:r>
              <a:rPr lang="zh-CN" altLang="en-US"/>
              <a:t>从业务角度</a:t>
            </a:r>
            <a:endParaRPr lang="en-US" altLang="zh-CN"/>
          </a:p>
          <a:p>
            <a:pPr marL="228600" indent="-228600">
              <a:buAutoNum type="arabicPeriod"/>
            </a:pPr>
            <a:r>
              <a:rPr lang="zh-CN" altLang="en-US"/>
              <a:t>业务查不到历史数据</a:t>
            </a:r>
            <a:endParaRPr lang="en-US" altLang="zh-CN"/>
          </a:p>
          <a:p>
            <a:pPr marL="228600" indent="-228600">
              <a:buAutoNum type="arabicPeriod"/>
            </a:pPr>
            <a:r>
              <a:rPr lang="zh-CN" altLang="en-US"/>
              <a:t>为了应对</a:t>
            </a:r>
            <a:r>
              <a:rPr lang="en-US" altLang="zh-CN"/>
              <a:t>audit</a:t>
            </a:r>
            <a:r>
              <a:rPr lang="zh-CN" altLang="en-US"/>
              <a:t>和药监</a:t>
            </a:r>
            <a:r>
              <a:rPr lang="en-US" altLang="zh-CN"/>
              <a:t>-</a:t>
            </a:r>
            <a:r>
              <a:rPr lang="zh-CN" altLang="en-US"/>
              <a:t>合规</a:t>
            </a: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158112-37D2-5ED2-0686-17C51A6330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1EEE18-8F3D-4CB3-B090-6249C20A5AF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597920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4CF5023-6B6D-411F-A9C9-885052BA7D6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843126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D9116-3F41-ED93-D4D1-C0CD4CD8A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FC574C-6856-CCB1-F345-FC4FC98F53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FC1270-8BF2-FFE7-FC40-901E682907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8D4A7-D15E-B112-CA27-16A0E7E692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8808A1-0A63-488B-A893-6B9315BFD5A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413464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AB149-DFAA-448B-BDDA-4181AF83D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383A91-ED29-0A12-4C7E-A48839F628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8B408C-10C2-6423-3C1B-D9DF36E13E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RIMS </a:t>
            </a:r>
            <a:r>
              <a:rPr lang="en-US" err="1"/>
              <a:t>介绍和培训网站：https</a:t>
            </a:r>
            <a:r>
              <a:rPr lang="en-US"/>
              <a:t>://abbott.sharepoint.com/sites/AW-</a:t>
            </a:r>
            <a:r>
              <a:rPr lang="en-US" err="1"/>
              <a:t>infogov</a:t>
            </a:r>
            <a:r>
              <a:rPr lang="en-US"/>
              <a:t>/</a:t>
            </a:r>
            <a:r>
              <a:rPr lang="en-US" err="1"/>
              <a:t>SitePages</a:t>
            </a:r>
            <a:r>
              <a:rPr lang="en-US"/>
              <a:t>/IG-ErecMgmt-Records.aspx</a:t>
            </a:r>
          </a:p>
          <a:p>
            <a:r>
              <a:rPr lang="en-US"/>
              <a:t>Businesses with no licensed RIMS users can contact the Information Governance and Records team for assistance.</a:t>
            </a:r>
          </a:p>
          <a:p>
            <a:endParaRPr lang="en-US"/>
          </a:p>
          <a:p>
            <a:r>
              <a:rPr lang="en-US"/>
              <a:t>Why – </a:t>
            </a:r>
            <a:r>
              <a:rPr lang="zh-CN" altLang="en-US"/>
              <a:t>从业务角度</a:t>
            </a:r>
            <a:endParaRPr lang="en-US" altLang="zh-CN"/>
          </a:p>
          <a:p>
            <a:pPr marL="228600" indent="-228600">
              <a:buAutoNum type="arabicPeriod"/>
            </a:pPr>
            <a:r>
              <a:rPr lang="zh-CN" altLang="en-US"/>
              <a:t>业务查不到历史数据</a:t>
            </a:r>
            <a:endParaRPr lang="en-US" altLang="zh-CN"/>
          </a:p>
          <a:p>
            <a:pPr marL="228600" indent="-228600">
              <a:buAutoNum type="arabicPeriod"/>
            </a:pPr>
            <a:r>
              <a:rPr lang="zh-CN" altLang="en-US"/>
              <a:t>为了应对</a:t>
            </a:r>
            <a:r>
              <a:rPr lang="en-US" altLang="zh-CN"/>
              <a:t>audit</a:t>
            </a:r>
            <a:r>
              <a:rPr lang="zh-CN" altLang="en-US"/>
              <a:t>和药监</a:t>
            </a:r>
            <a:r>
              <a:rPr lang="en-US" altLang="zh-CN"/>
              <a:t>-</a:t>
            </a:r>
            <a:r>
              <a:rPr lang="zh-CN" altLang="en-US"/>
              <a:t>合规</a:t>
            </a: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5FCE7F-5159-A209-40C2-D7486D8969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1EEE18-8F3D-4CB3-B090-6249C20A5AF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555289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5BFE5-EF9C-6CD5-9692-0D5621946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D642EB-555C-6EDE-D016-8903FD32BC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9CEAE3-E253-D2EB-CE1A-EFD2825CAD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RIMS </a:t>
            </a:r>
            <a:r>
              <a:rPr lang="en-US" err="1"/>
              <a:t>介绍和培训网站：https</a:t>
            </a:r>
            <a:r>
              <a:rPr lang="en-US"/>
              <a:t>://abbott.sharepoint.com/sites/AW-</a:t>
            </a:r>
            <a:r>
              <a:rPr lang="en-US" err="1"/>
              <a:t>infogov</a:t>
            </a:r>
            <a:r>
              <a:rPr lang="en-US"/>
              <a:t>/</a:t>
            </a:r>
            <a:r>
              <a:rPr lang="en-US" err="1"/>
              <a:t>SitePages</a:t>
            </a:r>
            <a:r>
              <a:rPr lang="en-US"/>
              <a:t>/IG-ErecMgmt-Records.aspx</a:t>
            </a:r>
          </a:p>
          <a:p>
            <a:r>
              <a:rPr lang="en-US"/>
              <a:t>Businesses with no licensed RIMS users can contact the Information Governance and Records team for assistance.</a:t>
            </a:r>
          </a:p>
          <a:p>
            <a:endParaRPr lang="en-US"/>
          </a:p>
          <a:p>
            <a:r>
              <a:rPr lang="en-US"/>
              <a:t>Why – </a:t>
            </a:r>
            <a:r>
              <a:rPr lang="zh-CN" altLang="en-US"/>
              <a:t>从业务角度</a:t>
            </a:r>
            <a:endParaRPr lang="en-US" altLang="zh-CN"/>
          </a:p>
          <a:p>
            <a:pPr marL="228600" indent="-228600">
              <a:buAutoNum type="arabicPeriod"/>
            </a:pPr>
            <a:r>
              <a:rPr lang="zh-CN" altLang="en-US"/>
              <a:t>业务查不到历史数据</a:t>
            </a:r>
            <a:endParaRPr lang="en-US" altLang="zh-CN"/>
          </a:p>
          <a:p>
            <a:pPr marL="228600" indent="-228600">
              <a:buAutoNum type="arabicPeriod"/>
            </a:pPr>
            <a:r>
              <a:rPr lang="zh-CN" altLang="en-US"/>
              <a:t>为了应对</a:t>
            </a:r>
            <a:r>
              <a:rPr lang="en-US" altLang="zh-CN"/>
              <a:t>audit</a:t>
            </a:r>
            <a:r>
              <a:rPr lang="zh-CN" altLang="en-US"/>
              <a:t>和药监</a:t>
            </a:r>
            <a:r>
              <a:rPr lang="en-US" altLang="zh-CN"/>
              <a:t>-</a:t>
            </a:r>
            <a:r>
              <a:rPr lang="zh-CN" altLang="en-US"/>
              <a:t>合规</a:t>
            </a: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5D9C60-9B72-BD82-1DC9-930E683196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1EEE18-8F3D-4CB3-B090-6249C20A5AF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673594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3CD0A-E16E-D523-6F17-F6228A615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157EC1-F48B-C1A9-D671-0B5EB362BB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1342E2-6EC4-747D-171E-BF0335F2D3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A82208-CF80-7335-30ED-99EEE8745F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75495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en-US" altLang="zh-CN"/>
              <a:t>AI</a:t>
            </a:r>
            <a:r>
              <a:rPr lang="zh-CN" altLang="en-US"/>
              <a:t>主要解决哪几个步骤；标准清楚；</a:t>
            </a:r>
            <a:endParaRPr lang="en-US" altLang="zh-CN"/>
          </a:p>
          <a:p>
            <a:pPr marL="342900" indent="-342900">
              <a:buAutoNum type="arabicPeriod"/>
            </a:pPr>
            <a:r>
              <a:rPr lang="en-US" altLang="zh-CN"/>
              <a:t>SDD</a:t>
            </a:r>
            <a:r>
              <a:rPr lang="zh-CN" altLang="en-US"/>
              <a:t>体现在</a:t>
            </a:r>
            <a:r>
              <a:rPr lang="en-US" altLang="zh-CN"/>
              <a:t>36</a:t>
            </a:r>
            <a:r>
              <a:rPr lang="zh-CN" altLang="en-US"/>
              <a:t>页中的哪个步骤；</a:t>
            </a:r>
          </a:p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1EEE18-8F3D-4CB3-B090-6249C20A5AF8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92212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4FF07-75E1-FE9D-E1FA-0659738FE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779640-3BA0-B636-F663-78D35D5943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2AD9D8-37A4-FB53-7872-C63554694C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130-F7AB-15F0-187F-A49E0B3CFA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5.xml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5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Layout">
    <p:bg bwMode="gray"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502920" y="2330054"/>
            <a:ext cx="8138160" cy="1234440"/>
          </a:xfrm>
        </p:spPr>
        <p:txBody>
          <a:bodyPr/>
          <a:lstStyle>
            <a:lvl1pPr algn="l">
              <a:lnSpc>
                <a:spcPct val="90000"/>
              </a:lnSpc>
              <a:defRPr sz="4400" b="0" cap="none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02919" y="1749981"/>
            <a:ext cx="8138159" cy="480060"/>
          </a:xfrm>
          <a:prstGeom prst="rect">
            <a:avLst/>
          </a:prstGeom>
        </p:spPr>
        <p:txBody>
          <a:bodyPr rIns="0" bIns="0" anchor="b" anchorCtr="0"/>
          <a:lstStyle>
            <a:lvl1pPr marL="0" indent="0" algn="l">
              <a:lnSpc>
                <a:spcPct val="100000"/>
              </a:lnSpc>
              <a:buNone/>
              <a:defRPr sz="1800" b="1" cap="all" spc="150" baseline="0">
                <a:solidFill>
                  <a:schemeClr val="accent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502920" y="3701654"/>
            <a:ext cx="4846320" cy="480060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Day |  Month |  YY</a:t>
            </a:r>
          </a:p>
        </p:txBody>
      </p:sp>
      <p:pic>
        <p:nvPicPr>
          <p:cNvPr id="7" name="Picture 6" descr="A_symbol_wordm_below_w_rgb-01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7472" y="137160"/>
            <a:ext cx="1188720" cy="1302056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9B7AF3-6EAA-4E53-822C-0EC8E7CEFD82}"/>
              </a:ext>
            </a:extLst>
          </p:cNvPr>
          <p:cNvSpPr txBox="1">
            <a:spLocks/>
          </p:cNvSpPr>
          <p:nvPr userDrawn="1"/>
        </p:nvSpPr>
        <p:spPr bwMode="gray">
          <a:xfrm>
            <a:off x="502920" y="4820603"/>
            <a:ext cx="3057981" cy="219076"/>
          </a:xfrm>
          <a:prstGeom prst="rect">
            <a:avLst/>
          </a:prstGeom>
        </p:spPr>
        <p:txBody>
          <a:bodyPr vert="horz" lIns="0" r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Proprietary and confidential — do not distribute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C4B86A29-886E-42EB-8E62-80044AB822E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66159" y="204186"/>
            <a:ext cx="3092450" cy="322263"/>
          </a:xfrm>
          <a:prstGeom prst="rect">
            <a:avLst/>
          </a:prstGeom>
        </p:spPr>
        <p:txBody>
          <a:bodyPr anchor="ctr"/>
          <a:lstStyle>
            <a:lvl1pPr algn="r">
              <a:defRPr sz="1400" b="1" cap="all" spc="15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OPTIONAL DESCRIPTOR</a:t>
            </a:r>
          </a:p>
        </p:txBody>
      </p:sp>
    </p:spTree>
    <p:extLst>
      <p:ext uri="{BB962C8B-B14F-4D97-AF65-F5344CB8AC3E}">
        <p14:creationId xmlns:p14="http://schemas.microsoft.com/office/powerpoint/2010/main" val="2139708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Layout">
    <p:bg bwMode="gray"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502920" y="1380173"/>
            <a:ext cx="8138160" cy="1234440"/>
          </a:xfrm>
        </p:spPr>
        <p:txBody>
          <a:bodyPr/>
          <a:lstStyle>
            <a:lvl1pPr algn="l">
              <a:lnSpc>
                <a:spcPct val="90000"/>
              </a:lnSpc>
              <a:defRPr sz="4400" b="0" cap="none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02919" y="800100"/>
            <a:ext cx="8138159" cy="480060"/>
          </a:xfrm>
          <a:prstGeom prst="rect">
            <a:avLst/>
          </a:prstGeom>
        </p:spPr>
        <p:txBody>
          <a:bodyPr rIns="0" bIns="0" anchor="b" anchorCtr="0"/>
          <a:lstStyle>
            <a:lvl1pPr marL="0" indent="0" algn="l">
              <a:lnSpc>
                <a:spcPct val="100000"/>
              </a:lnSpc>
              <a:buNone/>
              <a:defRPr sz="1800" b="1" cap="all" spc="150" baseline="0">
                <a:solidFill>
                  <a:schemeClr val="accent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502920" y="2751773"/>
            <a:ext cx="4846320" cy="480060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Day |  Month |  YY</a:t>
            </a:r>
          </a:p>
        </p:txBody>
      </p:sp>
      <p:pic>
        <p:nvPicPr>
          <p:cNvPr id="7" name="Picture 6" descr="A_symbol_wordm_below_w_rgb-01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8528" y="3726878"/>
            <a:ext cx="1188720" cy="1302056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9B7AF3-6EAA-4E53-822C-0EC8E7CEFD82}"/>
              </a:ext>
            </a:extLst>
          </p:cNvPr>
          <p:cNvSpPr txBox="1">
            <a:spLocks/>
          </p:cNvSpPr>
          <p:nvPr userDrawn="1"/>
        </p:nvSpPr>
        <p:spPr bwMode="gray">
          <a:xfrm>
            <a:off x="502920" y="4820603"/>
            <a:ext cx="3057981" cy="219076"/>
          </a:xfrm>
          <a:prstGeom prst="rect">
            <a:avLst/>
          </a:prstGeom>
        </p:spPr>
        <p:txBody>
          <a:bodyPr vert="horz" lIns="0" r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Proprietary and confidential — do not distribute</a:t>
            </a:r>
          </a:p>
        </p:txBody>
      </p:sp>
    </p:spTree>
    <p:extLst>
      <p:ext uri="{BB962C8B-B14F-4D97-AF65-F5344CB8AC3E}">
        <p14:creationId xmlns:p14="http://schemas.microsoft.com/office/powerpoint/2010/main" val="1597831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Alternate Layou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502919" y="2330054"/>
            <a:ext cx="8138161" cy="1234440"/>
          </a:xfrm>
        </p:spPr>
        <p:txBody>
          <a:bodyPr/>
          <a:lstStyle>
            <a:lvl1pPr algn="l">
              <a:lnSpc>
                <a:spcPct val="90000"/>
              </a:lnSpc>
              <a:defRPr sz="4400" b="0" cap="none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02919" y="1749981"/>
            <a:ext cx="8138161" cy="480060"/>
          </a:xfrm>
          <a:prstGeom prst="rect">
            <a:avLst/>
          </a:prstGeom>
        </p:spPr>
        <p:txBody>
          <a:bodyPr rIns="0" bIns="0" anchor="b" anchorCtr="0"/>
          <a:lstStyle>
            <a:lvl1pPr marL="0" indent="0" algn="l">
              <a:lnSpc>
                <a:spcPct val="100000"/>
              </a:lnSpc>
              <a:buNone/>
              <a:defRPr sz="1800" b="1" cap="all" spc="150" baseline="0">
                <a:solidFill>
                  <a:schemeClr val="accent3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502920" y="3701654"/>
            <a:ext cx="4846320" cy="480060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Day |  Month |  YY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650" y="65675"/>
            <a:ext cx="1335866" cy="1452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65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Alternate Layou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502919" y="1380173"/>
            <a:ext cx="8138161" cy="1234440"/>
          </a:xfrm>
        </p:spPr>
        <p:txBody>
          <a:bodyPr/>
          <a:lstStyle>
            <a:lvl1pPr algn="l">
              <a:lnSpc>
                <a:spcPct val="90000"/>
              </a:lnSpc>
              <a:defRPr sz="4400" b="0" cap="none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02919" y="800100"/>
            <a:ext cx="8138161" cy="480060"/>
          </a:xfrm>
          <a:prstGeom prst="rect">
            <a:avLst/>
          </a:prstGeom>
        </p:spPr>
        <p:txBody>
          <a:bodyPr rIns="0" bIns="0" anchor="b" anchorCtr="0"/>
          <a:lstStyle>
            <a:lvl1pPr marL="0" indent="0" algn="l">
              <a:lnSpc>
                <a:spcPct val="100000"/>
              </a:lnSpc>
              <a:buNone/>
              <a:defRPr sz="1800" b="1" cap="all" spc="150" baseline="0">
                <a:solidFill>
                  <a:schemeClr val="accent3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502920" y="2751773"/>
            <a:ext cx="4846320" cy="480060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Day |  Month |  YY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393F5A5-751C-47D5-AD67-F5C13DA7DEE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6145" y="3651299"/>
            <a:ext cx="1335866" cy="1452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807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6D6E74-3911-4251-9210-E9AF0CB465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2921" y="266700"/>
            <a:ext cx="5241925" cy="26161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400" b="0" cap="all" spc="150" baseline="0">
                <a:solidFill>
                  <a:schemeClr val="accent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 REGULAR</a:t>
            </a:r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DCEC16E3-E9C3-470B-B2C9-CBD23EA9860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2920" y="1487804"/>
            <a:ext cx="8145780" cy="3174922"/>
          </a:xfrm>
        </p:spPr>
        <p:txBody>
          <a:bodyPr/>
          <a:lstStyle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D5EEAD8-45FF-4137-A993-0E3B0A63B7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238" y="1097279"/>
            <a:ext cx="8145462" cy="3905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00" b="1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 CALIBRI 18PT BOLD, ABBOTT PRIMARY BLUE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90257E-A5F7-47F2-BCB5-BF684CDCDDF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2A6DA05-6508-4447-A38A-AEECDCFB32B4}" type="datetime1">
              <a:rPr lang="en-US" sz="1000" smtClean="0"/>
              <a:t>9/9/2026</a:t>
            </a:fld>
            <a:endParaRPr lang="en-IN" sz="10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684F02-3528-4796-B761-E75F59E065C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Special Use Cases  |  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025CAD-0E7F-412A-A2E4-ACA5E42AF8D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B071053-E294-48B6-82D4-81528F06E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5560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Lon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778F9584-625D-462B-8192-C99B9E91AB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2921" y="266700"/>
            <a:ext cx="5241925" cy="26161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400" b="0" cap="all" spc="150" baseline="0">
                <a:solidFill>
                  <a:schemeClr val="accent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 REGULAR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0F6E8C1B-F140-45B9-ADF1-1C3C6570114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2918" y="1097279"/>
            <a:ext cx="8145781" cy="3566159"/>
          </a:xfrm>
        </p:spPr>
        <p:txBody>
          <a:bodyPr/>
          <a:lstStyle>
            <a:lvl1pPr>
              <a:spcBef>
                <a:spcPts val="1200"/>
              </a:spcBef>
              <a:defRPr/>
            </a:lvl1pPr>
            <a:lvl2pPr>
              <a:spcBef>
                <a:spcPts val="12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5AE4F8-4A35-4815-BCAE-2DEF5BFEC47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C38621F-E531-42C4-8378-ECB4386EFB58}" type="datetime1">
              <a:rPr lang="en-US" sz="1000" smtClean="0"/>
              <a:t>9/9/2026</a:t>
            </a:fld>
            <a:endParaRPr lang="en-IN" sz="100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2A9712-7611-460F-BBA1-965DC35A5A0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Special Use Cases  | 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16DBEC-A477-4721-9AEB-6DA5B1D8A35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92466CF-9DE4-42FD-B4BE-466148127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273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_CALIBRI SUBHEAD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2367392-CE3F-4A36-802E-43D377135A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3238" y="1097279"/>
            <a:ext cx="3817302" cy="3905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00" b="1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SHORT TITLE, CALIBRI, 18PT, BOLD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784001D6-32AA-4130-AA76-37D05FF0EF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23460" y="1097279"/>
            <a:ext cx="3817302" cy="3905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00" b="1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SHORT TITLE, CALIBRI, 18PT, BOLD</a:t>
            </a:r>
          </a:p>
        </p:txBody>
      </p:sp>
      <p:sp>
        <p:nvSpPr>
          <p:cNvPr id="18" name="Content Placeholder 14">
            <a:extLst>
              <a:ext uri="{FF2B5EF4-FFF2-40B4-BE49-F238E27FC236}">
                <a16:creationId xmlns:a16="http://schemas.microsoft.com/office/drawing/2014/main" id="{1F77A952-6CFD-4B10-A39C-FBF9CCB45B5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02919" y="1487804"/>
            <a:ext cx="3817301" cy="3175634"/>
          </a:xfrm>
        </p:spPr>
        <p:txBody>
          <a:bodyPr>
            <a:noAutofit/>
          </a:bodyPr>
          <a:lstStyle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9" name="Content Placeholder 14">
            <a:extLst>
              <a:ext uri="{FF2B5EF4-FFF2-40B4-BE49-F238E27FC236}">
                <a16:creationId xmlns:a16="http://schemas.microsoft.com/office/drawing/2014/main" id="{0756EC84-5A13-4571-BFB7-247BD6E93F56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823460" y="1487804"/>
            <a:ext cx="3817301" cy="3175634"/>
          </a:xfrm>
        </p:spPr>
        <p:txBody>
          <a:bodyPr>
            <a:noAutofit/>
          </a:bodyPr>
          <a:lstStyle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1B479ED3-E6FF-4DA0-B9B5-59809FFAEF4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2921" y="266700"/>
            <a:ext cx="5241925" cy="26161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400" b="0" cap="all" spc="150" baseline="0">
                <a:solidFill>
                  <a:schemeClr val="accent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 REGULAR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E310AD-6CAA-4788-94E2-A00CB4EDAD64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AEB5D6A1-ADC6-4849-A09B-44985EE13241}" type="datetime1">
              <a:rPr lang="en-US" sz="1000" smtClean="0"/>
              <a:t>9/9/2026</a:t>
            </a:fld>
            <a:endParaRPr lang="en-IN" sz="10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A85807-C4E2-4DC1-A4DC-B733652C5847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Special Use Cases  |  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6E6C4-2B39-46A3-861C-1D8545DFDAF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88E1389-D875-4A3C-85CC-2FF6F879D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3091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+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9A84B86-6CE3-4715-A01A-FECF8E99EC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2921" y="266700"/>
            <a:ext cx="5241925" cy="26161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400" b="0" cap="all" spc="150" baseline="0">
                <a:solidFill>
                  <a:schemeClr val="accent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 REGULAR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F184EA7A-C14A-435C-84F4-DB8BC3A9A6E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2920" y="1097280"/>
            <a:ext cx="8129016" cy="82296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 b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5D0068BB-B539-4488-911A-96DC071FE8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3238" y="2057400"/>
            <a:ext cx="3817302" cy="3905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 b="1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SHORT TITLE, CALIBRI, 16PT, BOLD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FC1F4580-228D-4976-BFA8-C2248824F3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23460" y="2057400"/>
            <a:ext cx="3817302" cy="3905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 b="1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SHORT TITLE, CALIBRI, 16PT, BOLD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4073EB3D-18BB-4E2C-9D12-E03D0B6131B9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02919" y="2447925"/>
            <a:ext cx="3817301" cy="2215513"/>
          </a:xfrm>
        </p:spPr>
        <p:txBody>
          <a:bodyPr>
            <a:noAutofit/>
          </a:bodyPr>
          <a:lstStyle>
            <a:lvl1pPr>
              <a:defRPr sz="1400"/>
            </a:lvl1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1" name="Content Placeholder 6">
            <a:extLst>
              <a:ext uri="{FF2B5EF4-FFF2-40B4-BE49-F238E27FC236}">
                <a16:creationId xmlns:a16="http://schemas.microsoft.com/office/drawing/2014/main" id="{112F3581-3732-4A0B-8F51-60DBC2912C03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823460" y="2447925"/>
            <a:ext cx="3817301" cy="2215513"/>
          </a:xfrm>
        </p:spPr>
        <p:txBody>
          <a:bodyPr>
            <a:noAutofit/>
          </a:bodyPr>
          <a:lstStyle>
            <a:lvl1pPr>
              <a:defRPr sz="1400"/>
            </a:lvl1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D7130C-27A5-4624-9DE7-54CCA5B6E680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0A74BAD1-8CA7-4FBF-804B-53549105ED13}" type="datetime1">
              <a:rPr lang="en-US" sz="1000" smtClean="0"/>
              <a:t>9/9/2026</a:t>
            </a:fld>
            <a:endParaRPr lang="en-IN" sz="10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8D77C1-A9B7-4C57-B330-C34B8588E4BD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Special Use Cases  |  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0E347A-2097-4DC1-8FC4-1FBFBC563FCB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D079F95-85C8-47A7-9EDE-B17DE1BCA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2103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(L) Half-content &amp;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4" hasCustomPrompt="1"/>
          </p:nvPr>
        </p:nvSpPr>
        <p:spPr>
          <a:xfrm>
            <a:off x="4818888" y="0"/>
            <a:ext cx="4325111" cy="51435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lIns="365760" rIns="365760" anchor="ctr" anchorCtr="1"/>
          <a:lstStyle>
            <a:lvl1pPr algn="ctr">
              <a:defRPr sz="1800" b="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Insert an image</a:t>
            </a:r>
            <a:br>
              <a:rPr lang="en-US"/>
            </a:br>
            <a:r>
              <a:rPr lang="en-US"/>
              <a:t>within this placeholder 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05D9C096-3ECB-4476-AF46-67B691208D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1" y="266700"/>
            <a:ext cx="3822191" cy="261610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400" b="0" cap="all" spc="150" baseline="0">
                <a:solidFill>
                  <a:schemeClr val="accent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E828A00F-D1B4-4C3E-969E-375A3487E70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3238" y="1097957"/>
            <a:ext cx="3817302" cy="3905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00" b="1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SUBTITLE, CALIBRI, 18PT, BOLD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98B40350-90AF-4369-8B21-A237E4585B4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3238" y="1619968"/>
            <a:ext cx="3817302" cy="32004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 b="1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SHORT TITLE, CALIBRI, 16PT, BOLD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74DA2C74-7837-4DF6-A9E0-010AABA411BF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502919" y="1957741"/>
            <a:ext cx="3817301" cy="108152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4384C29-B1D2-4169-8C59-6E4C6B7D22E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3238" y="3237576"/>
            <a:ext cx="3817302" cy="32004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 b="1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SHORT TITLE, CALIBRI, 16PT, BOLD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0312D5F6-81FC-4261-AED0-88E16C37278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502919" y="3575350"/>
            <a:ext cx="3817301" cy="1081522"/>
          </a:xfrm>
        </p:spPr>
        <p:txBody>
          <a:bodyPr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F65347-7CD3-4F10-8EF3-1278C80396F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1F49E236-7AC9-4F5E-A3FD-39D6105DC010}" type="datetime1">
              <a:rPr lang="en-US" sz="1000" smtClean="0"/>
              <a:t>9/9/2026</a:t>
            </a:fld>
            <a:endParaRPr lang="en-IN" sz="100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4E929D-79C8-4A03-8A31-BDC679EAB2C4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Special Use Cases  | 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C59128-8C19-4115-801D-638E5DDDF8DB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A67DE3C-68DE-43DF-A233-910AFDC7F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569594"/>
            <a:ext cx="3817300" cy="3905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853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(R) Half-content &amp;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4314969" cy="51435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lIns="365760" rIns="365760" anchor="ctr" anchorCtr="1"/>
          <a:lstStyle>
            <a:lvl1pPr algn="ctr">
              <a:defRPr sz="1800" b="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Insert an image</a:t>
            </a:r>
            <a:br>
              <a:rPr lang="en-US"/>
            </a:br>
            <a:r>
              <a:rPr lang="en-US"/>
              <a:t>within this placeholder 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06D962-A904-455A-9FF2-A3FC930F6781}"/>
              </a:ext>
            </a:extLst>
          </p:cNvPr>
          <p:cNvSpPr txBox="1">
            <a:spLocks/>
          </p:cNvSpPr>
          <p:nvPr userDrawn="1"/>
        </p:nvSpPr>
        <p:spPr bwMode="gray">
          <a:xfrm>
            <a:off x="502920" y="4820603"/>
            <a:ext cx="3057981" cy="219076"/>
          </a:xfrm>
          <a:prstGeom prst="rect">
            <a:avLst/>
          </a:prstGeom>
        </p:spPr>
        <p:txBody>
          <a:bodyPr vert="horz" lIns="0" rIns="0" anchor="b" anchorCtr="0"/>
          <a:lstStyle>
            <a:defPPr>
              <a:defRPr lang="en-US"/>
            </a:defPPr>
            <a:lvl1pPr indent="0" defTabSz="457200">
              <a:spcBef>
                <a:spcPct val="20000"/>
              </a:spcBef>
              <a:buFont typeface="Arial"/>
              <a:buNone/>
              <a:defRPr sz="1000">
                <a:solidFill>
                  <a:srgbClr val="000000"/>
                </a:solidFill>
                <a:cs typeface="Calibri" panose="020F0502020204030204" pitchFamily="34" charset="0"/>
              </a:defRPr>
            </a:lvl1pPr>
            <a:lvl2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2pPr>
            <a:lvl3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3pPr>
            <a:lvl4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4pPr>
            <a:lvl5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pPr lvl="0"/>
            <a:r>
              <a:rPr lang="en-US"/>
              <a:t>Proprietary and confidential — do not distribute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82FAC416-5A96-491E-91F4-37DD3C42AC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26509" y="266700"/>
            <a:ext cx="3822191" cy="261610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400" b="0" cap="all" spc="150" baseline="0">
                <a:solidFill>
                  <a:schemeClr val="accent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53FDA49B-BBFC-4479-BD4E-6B88C700E35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26826" y="1097957"/>
            <a:ext cx="3817302" cy="3905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00" b="1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SUBTITLE, CALIBRI, 18PT, BOLD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EC4C2575-A445-43B7-875C-641A76884F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26826" y="1619968"/>
            <a:ext cx="3817302" cy="32004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 b="1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SHORT TITLE, CALIBRI, 16PT, BOLD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E778DA63-FCCC-4EE0-AA5F-890A1063CF18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826507" y="1957741"/>
            <a:ext cx="3817301" cy="108152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BFD7EDCF-7335-4524-B52F-57203999193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26826" y="3237576"/>
            <a:ext cx="3817302" cy="32004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 b="1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SHORT TITLE, CALIBRI, 16PT, BOLD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08041EA5-1907-45C9-B84F-05A0E02AB318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826507" y="3575350"/>
            <a:ext cx="3817301" cy="1081522"/>
          </a:xfrm>
        </p:spPr>
        <p:txBody>
          <a:bodyPr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75C93F-ECF9-4556-AC7C-FA60927EA1A8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0879B893-248C-4AEA-BCA8-C8CB65445D7F}" type="datetime1">
              <a:rPr lang="en-US" sz="1000" smtClean="0"/>
              <a:t>9/9/2026</a:t>
            </a:fld>
            <a:endParaRPr lang="en-IN" sz="100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069AD8-8E84-41FF-B477-E769B006F372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Special Use Cases  | 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859DF1-EAA0-48AE-9642-5890114712D6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0AE3F9D-0018-4E23-82DB-DD559B56D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8888" y="569594"/>
            <a:ext cx="3822192" cy="3905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5876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(L) Alternate Half-content &amp;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4" hasCustomPrompt="1"/>
          </p:nvPr>
        </p:nvSpPr>
        <p:spPr>
          <a:xfrm>
            <a:off x="4818888" y="0"/>
            <a:ext cx="4325111" cy="51435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lIns="365760" rIns="365760" anchor="ctr" anchorCtr="1"/>
          <a:lstStyle>
            <a:lvl1pPr algn="ctr">
              <a:defRPr sz="1800" b="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Insert an image</a:t>
            </a:r>
            <a:br>
              <a:rPr lang="en-US"/>
            </a:br>
            <a:r>
              <a:rPr lang="en-US"/>
              <a:t>within this placeholder 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05D9C096-3ECB-4476-AF46-67B691208D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1" y="266700"/>
            <a:ext cx="3822191" cy="261610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400" b="0" cap="all" spc="150" baseline="0">
                <a:solidFill>
                  <a:schemeClr val="accent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E828A00F-D1B4-4C3E-969E-375A3487E70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3238" y="1097957"/>
            <a:ext cx="3817302" cy="3905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00" b="1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SUBTITLE, CALIBRI, 18PT, BOLD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74DA2C74-7837-4DF6-A9E0-010AABA411BF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502919" y="1619968"/>
            <a:ext cx="3817301" cy="3045695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27F0BF-1759-4538-B8D8-0064CA73DDB0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EE88A4AE-0E23-418E-BEEE-E14F9B50607F}" type="datetime1">
              <a:rPr lang="en-US" sz="1000" smtClean="0"/>
              <a:t>9/9/2026</a:t>
            </a:fld>
            <a:endParaRPr lang="en-IN" sz="100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0FE4CA-4B98-48B6-B1EE-FD27EAF7A291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Special Use Cases  | 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6BBD30-0719-4938-BD49-A680D58627F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A62E712-D0C0-4F27-A890-045067D4F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569594"/>
            <a:ext cx="3817300" cy="3905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34936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(R) Alternate Half-content &amp;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4314969" cy="51435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lIns="365760" rIns="365760" anchor="ctr" anchorCtr="1"/>
          <a:lstStyle>
            <a:lvl1pPr algn="ctr">
              <a:defRPr sz="1800" b="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Insert an image</a:t>
            </a:r>
            <a:br>
              <a:rPr lang="en-US"/>
            </a:br>
            <a:r>
              <a:rPr lang="en-US"/>
              <a:t>within this placeholder 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06D962-A904-455A-9FF2-A3FC930F6781}"/>
              </a:ext>
            </a:extLst>
          </p:cNvPr>
          <p:cNvSpPr txBox="1">
            <a:spLocks/>
          </p:cNvSpPr>
          <p:nvPr userDrawn="1"/>
        </p:nvSpPr>
        <p:spPr bwMode="gray">
          <a:xfrm>
            <a:off x="502920" y="4820603"/>
            <a:ext cx="3057981" cy="219076"/>
          </a:xfrm>
          <a:prstGeom prst="rect">
            <a:avLst/>
          </a:prstGeom>
        </p:spPr>
        <p:txBody>
          <a:bodyPr vert="horz" lIns="0" rIns="0" anchor="b" anchorCtr="0"/>
          <a:lstStyle>
            <a:defPPr>
              <a:defRPr lang="en-US"/>
            </a:defPPr>
            <a:lvl1pPr indent="0" defTabSz="457200">
              <a:spcBef>
                <a:spcPct val="20000"/>
              </a:spcBef>
              <a:buFont typeface="Arial"/>
              <a:buNone/>
              <a:defRPr sz="1000">
                <a:solidFill>
                  <a:srgbClr val="000000"/>
                </a:solidFill>
                <a:cs typeface="Calibri" panose="020F0502020204030204" pitchFamily="34" charset="0"/>
              </a:defRPr>
            </a:lvl1pPr>
            <a:lvl2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2pPr>
            <a:lvl3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3pPr>
            <a:lvl4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4pPr>
            <a:lvl5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pPr lvl="0"/>
            <a:r>
              <a:rPr lang="en-US"/>
              <a:t>Proprietary and confidential — do not distribute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82FAC416-5A96-491E-91F4-37DD3C42AC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26509" y="266700"/>
            <a:ext cx="3822191" cy="261610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400" b="0" cap="all" spc="150" baseline="0">
                <a:solidFill>
                  <a:schemeClr val="accent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53FDA49B-BBFC-4479-BD4E-6B88C700E35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26826" y="1097957"/>
            <a:ext cx="3817302" cy="3905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00" b="1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SUBTITLE, CALIBRI, 18PT, BOLD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E778DA63-FCCC-4EE0-AA5F-890A1063CF18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826507" y="1619968"/>
            <a:ext cx="3817301" cy="3045695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013800-11CE-477C-AE55-6CEC71C7CC12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4B7927C8-B7EA-488F-BC1B-E4664342B037}" type="datetime1">
              <a:rPr lang="en-US" sz="1000" smtClean="0"/>
              <a:t>9/9/2026</a:t>
            </a:fld>
            <a:endParaRPr lang="en-IN" sz="100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EF273E-1E19-49B4-B078-2C851563484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Special Use Cases  | 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194424-AE09-468A-95DC-0699180FC4E1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AB94D7-D90B-4C16-A5BF-F2C3042C6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8888" y="569594"/>
            <a:ext cx="3822191" cy="3905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33522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Chart +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DB57EE1-11D5-470C-B633-08E9CE6ABD2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2921" y="266700"/>
            <a:ext cx="5241925" cy="26161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400" b="0" cap="all" spc="150" baseline="0">
                <a:solidFill>
                  <a:schemeClr val="accent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 REGULAR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69C8B4ED-99D4-4FA7-951B-B230EC2B1EE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7711" y="1097957"/>
            <a:ext cx="8138160" cy="27432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00" b="1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CHART TITLE, CALIBRI, 18PT, BOLD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9849D2D5-1C25-41F7-91C5-A575937D23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7710" y="1369506"/>
            <a:ext cx="8138160" cy="274320"/>
          </a:xfrm>
        </p:spPr>
        <p:txBody>
          <a:bodyPr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Second level for chart subtitle</a:t>
            </a:r>
          </a:p>
        </p:txBody>
      </p:sp>
      <p:sp>
        <p:nvSpPr>
          <p:cNvPr id="17" name="Chart Placeholder 14">
            <a:extLst>
              <a:ext uri="{FF2B5EF4-FFF2-40B4-BE49-F238E27FC236}">
                <a16:creationId xmlns:a16="http://schemas.microsoft.com/office/drawing/2014/main" id="{5F384281-9885-4DF1-AB32-7D6D158EC4B8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02920" y="1714500"/>
            <a:ext cx="8145780" cy="2743200"/>
          </a:xfrm>
        </p:spPr>
        <p:txBody>
          <a:bodyPr anchor="ctr"/>
          <a:lstStyle>
            <a:lvl1pPr algn="ctr">
              <a:defRPr>
                <a:latin typeface="+mn-lt"/>
              </a:defRPr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0806C5A9-06E4-4EA0-A5AC-FD02E44C152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4616896"/>
            <a:ext cx="8138160" cy="170816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>
              <a:lnSpc>
                <a:spcPct val="90000"/>
              </a:lnSpc>
              <a:spcBef>
                <a:spcPts val="200"/>
              </a:spcBef>
              <a:defRPr sz="9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Add footnote, source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82C435-71F6-4068-8A4B-8C697C1529D2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60406F75-1D3F-4B33-BFF3-932C24DC1765}" type="datetime1">
              <a:rPr lang="en-US" sz="1000" smtClean="0"/>
              <a:t>9/9/2026</a:t>
            </a:fld>
            <a:endParaRPr lang="en-IN" sz="100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BC25F0-DFF8-436D-8252-A061A91C145E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Special Use Cases  | 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2353F-0202-40BD-B19D-D4C9B9A0C62B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B3C7C1-99C7-46EF-8247-FA3C97B61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91682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Table +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E4099E12-93CF-4238-950D-B699BBED1B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2921" y="266700"/>
            <a:ext cx="5241925" cy="26161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400" b="0" cap="all" spc="150" baseline="0">
                <a:solidFill>
                  <a:schemeClr val="accent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 REGULAR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2FAF8700-F002-4A2F-B04A-6FE90BE6FD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7711" y="1097957"/>
            <a:ext cx="8138160" cy="27432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00" b="1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table TITLE, CALIBRI, 18PT, BOLD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BF897FA-2891-4141-ADA3-1B87FB5BC58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7710" y="1369506"/>
            <a:ext cx="8138160" cy="274320"/>
          </a:xfrm>
        </p:spPr>
        <p:txBody>
          <a:bodyPr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Second level for table subtitle</a:t>
            </a:r>
          </a:p>
        </p:txBody>
      </p:sp>
      <p:sp>
        <p:nvSpPr>
          <p:cNvPr id="18" name="Table Placeholder 4">
            <a:extLst>
              <a:ext uri="{FF2B5EF4-FFF2-40B4-BE49-F238E27FC236}">
                <a16:creationId xmlns:a16="http://schemas.microsoft.com/office/drawing/2014/main" id="{2EA10139-92DE-45F7-A9D8-ABD6CC72C084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02920" y="1714500"/>
            <a:ext cx="8150990" cy="2743200"/>
          </a:xfrm>
        </p:spPr>
        <p:txBody>
          <a:bodyPr anchor="ctr"/>
          <a:lstStyle>
            <a:lvl1pPr algn="ctr">
              <a:defRPr>
                <a:latin typeface="+mn-lt"/>
              </a:defRPr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347BBFB3-3E66-4180-AF12-56CA7F75531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4616896"/>
            <a:ext cx="8138160" cy="170816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>
              <a:lnSpc>
                <a:spcPct val="90000"/>
              </a:lnSpc>
              <a:spcBef>
                <a:spcPts val="200"/>
              </a:spcBef>
              <a:defRPr sz="9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Add footnote, source here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2C66BA-D565-4011-B0A4-9903204CC066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EA9922F9-E70E-4CDE-A75A-4192A59E1EC2}" type="datetime1">
              <a:rPr lang="en-US" sz="1000" smtClean="0"/>
              <a:t>9/9/2026</a:t>
            </a:fld>
            <a:endParaRPr lang="en-IN" sz="10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68657A-366F-45A8-9F2D-9FBE15E12470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Special Use Cases  |  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94FFD5-60B8-4C56-97EB-599229FD90B3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D78DA13-52C4-4A1D-BD59-DC0D557C1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06787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(L) Half-content &amp; full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EBBC6B44-1A66-4C17-802D-CD6F3BEB84D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9144000" cy="51435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lIns="365760" rIns="365760" anchor="ctr" anchorCtr="1"/>
          <a:lstStyle>
            <a:lvl1pPr marL="3776663" indent="0" algn="l">
              <a:tabLst/>
              <a:defRPr sz="1800" b="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Insert an image</a:t>
            </a:r>
            <a:br>
              <a:rPr lang="en-US"/>
            </a:br>
            <a:r>
              <a:rPr lang="en-US"/>
              <a:t>within this placeholder 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C8B7A96-E0C8-46F1-B070-891752D196D5}"/>
              </a:ext>
            </a:extLst>
          </p:cNvPr>
          <p:cNvSpPr txBox="1">
            <a:spLocks/>
          </p:cNvSpPr>
          <p:nvPr userDrawn="1"/>
        </p:nvSpPr>
        <p:spPr bwMode="gray">
          <a:xfrm>
            <a:off x="502920" y="4820603"/>
            <a:ext cx="3057981" cy="219076"/>
          </a:xfrm>
          <a:prstGeom prst="rect">
            <a:avLst/>
          </a:prstGeom>
        </p:spPr>
        <p:txBody>
          <a:bodyPr vert="horz" lIns="0" rIns="0" anchor="b" anchorCtr="0"/>
          <a:lstStyle>
            <a:defPPr>
              <a:defRPr lang="en-US"/>
            </a:defPPr>
            <a:lvl1pPr indent="0" defTabSz="457200">
              <a:spcBef>
                <a:spcPct val="20000"/>
              </a:spcBef>
              <a:buFont typeface="Arial"/>
              <a:buNone/>
              <a:defRPr sz="1000">
                <a:solidFill>
                  <a:srgbClr val="000000"/>
                </a:solidFill>
                <a:cs typeface="Calibri" panose="020F0502020204030204" pitchFamily="34" charset="0"/>
              </a:defRPr>
            </a:lvl1pPr>
            <a:lvl2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2pPr>
            <a:lvl3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3pPr>
            <a:lvl4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4pPr>
            <a:lvl5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pPr lvl="0"/>
            <a:r>
              <a:rPr lang="en-US"/>
              <a:t>Proprietary and confidential — do not distribute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D57305E-F709-4E9E-B399-8D21F2A51FF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1" y="266700"/>
            <a:ext cx="3822191" cy="261610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400" b="0" cap="all" spc="150" baseline="0">
                <a:solidFill>
                  <a:schemeClr val="accent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C73EADF8-32AF-409A-AD0A-3134A5D09D5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02919" y="1411940"/>
            <a:ext cx="3822191" cy="3251499"/>
          </a:xfrm>
        </p:spPr>
        <p:txBody>
          <a:bodyPr/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9AEB25F-FA40-4727-8C63-0FB00C65B1F1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33F0AA1E-F0AB-40E3-8723-B5AC3EAD3A4B}" type="datetime1">
              <a:rPr lang="en-US" sz="1000" smtClean="0"/>
              <a:t>9/9/2026</a:t>
            </a:fld>
            <a:endParaRPr lang="en-IN" sz="100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80517F6-6DC6-4EDB-A0A3-3A25D9B2A02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Special Use Cases  |  </a:t>
            </a:r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0E4568D-868E-42F7-926A-483A8A7B381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49B87BA-CB3B-4626-87FF-39721BA39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569594"/>
            <a:ext cx="3822190" cy="3905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76961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(R) Half-content &amp; full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EBBC6B44-1A66-4C17-802D-CD6F3BEB84D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9144000" cy="51435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lIns="0" rIns="0" anchor="ctr" anchorCtr="0"/>
          <a:lstStyle>
            <a:lvl1pPr marL="695325" indent="0" algn="l">
              <a:tabLst/>
              <a:defRPr sz="1800" b="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Insert an image</a:t>
            </a:r>
            <a:br>
              <a:rPr lang="en-US"/>
            </a:br>
            <a:r>
              <a:rPr lang="en-US"/>
              <a:t>within this placeholder 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97FC738-9BF3-4608-8B8E-05D0C5B5F6DE}"/>
              </a:ext>
            </a:extLst>
          </p:cNvPr>
          <p:cNvSpPr txBox="1">
            <a:spLocks/>
          </p:cNvSpPr>
          <p:nvPr userDrawn="1"/>
        </p:nvSpPr>
        <p:spPr bwMode="gray">
          <a:xfrm>
            <a:off x="502920" y="4820603"/>
            <a:ext cx="3057981" cy="219076"/>
          </a:xfrm>
          <a:prstGeom prst="rect">
            <a:avLst/>
          </a:prstGeom>
        </p:spPr>
        <p:txBody>
          <a:bodyPr vert="horz" lIns="0" rIns="0" anchor="b" anchorCtr="0"/>
          <a:lstStyle>
            <a:defPPr>
              <a:defRPr lang="en-US"/>
            </a:defPPr>
            <a:lvl1pPr indent="0" defTabSz="457200">
              <a:spcBef>
                <a:spcPct val="20000"/>
              </a:spcBef>
              <a:buFont typeface="Arial"/>
              <a:buNone/>
              <a:defRPr sz="1000">
                <a:solidFill>
                  <a:srgbClr val="000000"/>
                </a:solidFill>
                <a:cs typeface="Calibri" panose="020F0502020204030204" pitchFamily="34" charset="0"/>
              </a:defRPr>
            </a:lvl1pPr>
            <a:lvl2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2pPr>
            <a:lvl3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3pPr>
            <a:lvl4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4pPr>
            <a:lvl5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pPr lvl="0"/>
            <a:r>
              <a:rPr lang="en-US"/>
              <a:t>Proprietary and confidential — do not distribute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6273392E-BE16-4C3F-A463-7A7FC6BEE03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18888" y="266700"/>
            <a:ext cx="3822191" cy="261610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400" b="0" cap="all" spc="150" baseline="0">
                <a:solidFill>
                  <a:schemeClr val="accent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1679F6DF-FEFB-4C1A-A396-814197C11D86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818886" y="1411940"/>
            <a:ext cx="3822191" cy="3251499"/>
          </a:xfrm>
        </p:spPr>
        <p:txBody>
          <a:bodyPr/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F552E6A-42EF-4270-B9A7-98DFF9C26BC9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85F2DEED-5DBC-4DAD-9C08-62397AE2D4BB}" type="datetime1">
              <a:rPr lang="en-US" sz="1000" smtClean="0"/>
              <a:t>9/9/2026</a:t>
            </a:fld>
            <a:endParaRPr lang="en-IN" sz="100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474A17B-B0E6-4C29-8975-C906D924799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Special Use Cases  |  </a:t>
            </a:r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A86EBC0-A4B4-49A9-8E69-797CFD88D05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0E04E43-6321-44FE-86E3-923631136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8886" y="569594"/>
            <a:ext cx="3822194" cy="3905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96494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C2773AC-CB5F-4692-8614-145FCB8122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2921" y="266700"/>
            <a:ext cx="5241925" cy="26161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400" b="0" cap="all" spc="150" baseline="0">
                <a:solidFill>
                  <a:schemeClr val="accent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 REGULAR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095818-CAA3-49D4-822D-78FB55358F3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B6A540B-081F-4350-924C-7C3F33EDA0FA}" type="datetime1">
              <a:rPr lang="en-US" sz="1000" smtClean="0"/>
              <a:t>9/9/2026</a:t>
            </a:fld>
            <a:endParaRPr lang="en-IN" sz="100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F4A984-8C41-4A18-A4AB-486817760C8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Special Use Cases  | 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C13B2C-626A-4182-93CD-E777AFAD57C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F2BE9E2-7A7D-4BED-96F2-45B5703A2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77546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B9B04E-CEBD-4F9E-A541-121DB0F54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39FE5-A752-4596-8776-416F07595D01}" type="datetime1">
              <a:rPr lang="en-US" sz="1000" smtClean="0"/>
              <a:t>9/9/2026</a:t>
            </a:fld>
            <a:endParaRPr lang="en-IN" sz="100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FCBFE7-5E00-4725-92DC-113FE1B9D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Special Use Cases  | 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38BA52-5212-4BC3-9F12-DB299DFC3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62425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Dark Blue">
    <p:bg bwMode="auto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502920" y="2331719"/>
            <a:ext cx="8138160" cy="1234440"/>
          </a:xfrm>
        </p:spPr>
        <p:txBody>
          <a:bodyPr wrap="square" rIns="0" bIns="0" anchor="t">
            <a:noAutofit/>
          </a:bodyPr>
          <a:lstStyle>
            <a:lvl1pPr algn="l">
              <a:lnSpc>
                <a:spcPct val="80000"/>
              </a:lnSpc>
              <a:defRPr sz="4400" b="0" cap="none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 bwMode="gray">
          <a:xfrm>
            <a:off x="502920" y="1748790"/>
            <a:ext cx="8138160" cy="480060"/>
          </a:xfrm>
          <a:prstGeom prst="rect">
            <a:avLst/>
          </a:prstGeom>
        </p:spPr>
        <p:txBody>
          <a:bodyPr rIns="0" bIns="0" anchor="b"/>
          <a:lstStyle>
            <a:lvl1pPr marL="0" indent="0">
              <a:lnSpc>
                <a:spcPct val="100000"/>
              </a:lnSpc>
              <a:buNone/>
              <a:defRPr sz="1800" b="1" cap="all" spc="150" baseline="0">
                <a:solidFill>
                  <a:schemeClr val="bg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15B31BE-5499-438F-8FC9-24D8712E9F2E}"/>
              </a:ext>
            </a:extLst>
          </p:cNvPr>
          <p:cNvSpPr txBox="1">
            <a:spLocks/>
          </p:cNvSpPr>
          <p:nvPr userDrawn="1"/>
        </p:nvSpPr>
        <p:spPr bwMode="gray">
          <a:xfrm>
            <a:off x="502920" y="4820603"/>
            <a:ext cx="3057981" cy="219076"/>
          </a:xfrm>
          <a:prstGeom prst="rect">
            <a:avLst/>
          </a:prstGeom>
        </p:spPr>
        <p:txBody>
          <a:bodyPr vert="horz" lIns="0" r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Proprietary and confidential — do not distribute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29463D-7256-4F94-B053-694230DDA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3134129-5FD5-45B7-80E5-F66453152310}" type="datetime1">
              <a:rPr lang="en-US" smtClean="0"/>
              <a:t>9/9/2026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65850-E065-46A5-AFAB-25EE12435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Special Use Cases  |  </a:t>
            </a:r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0E02CAF-4CC0-4859-963B-FC187D3CD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23719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Purple">
    <p:bg bwMode="auto"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502920" y="2331719"/>
            <a:ext cx="8138160" cy="1234440"/>
          </a:xfrm>
        </p:spPr>
        <p:txBody>
          <a:bodyPr rIns="0" bIns="0" anchor="t">
            <a:noAutofit/>
          </a:bodyPr>
          <a:lstStyle>
            <a:lvl1pPr algn="l">
              <a:lnSpc>
                <a:spcPct val="80000"/>
              </a:lnSpc>
              <a:defRPr sz="4400" b="0" cap="none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 bwMode="gray">
          <a:xfrm>
            <a:off x="502920" y="1748790"/>
            <a:ext cx="8138160" cy="480060"/>
          </a:xfrm>
          <a:prstGeom prst="rect">
            <a:avLst/>
          </a:prstGeom>
        </p:spPr>
        <p:txBody>
          <a:bodyPr rIns="0" bIns="0" anchor="b"/>
          <a:lstStyle>
            <a:lvl1pPr marL="0" indent="0">
              <a:lnSpc>
                <a:spcPct val="100000"/>
              </a:lnSpc>
              <a:buNone/>
              <a:defRPr sz="1800" b="1" cap="all" spc="150" baseline="0">
                <a:solidFill>
                  <a:schemeClr val="bg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9C12FC6-CE3D-4CC3-A382-14A18C7C6B1A}"/>
              </a:ext>
            </a:extLst>
          </p:cNvPr>
          <p:cNvSpPr txBox="1">
            <a:spLocks/>
          </p:cNvSpPr>
          <p:nvPr userDrawn="1"/>
        </p:nvSpPr>
        <p:spPr bwMode="gray">
          <a:xfrm>
            <a:off x="502920" y="4820603"/>
            <a:ext cx="3057981" cy="219076"/>
          </a:xfrm>
          <a:prstGeom prst="rect">
            <a:avLst/>
          </a:prstGeom>
        </p:spPr>
        <p:txBody>
          <a:bodyPr vert="horz" lIns="0" r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Proprietary and confidential — do not distribute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0A7879-8A49-4492-B223-248AB6881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C9C488-B277-4020-A2A7-BACAB46DB83A}" type="datetime1">
              <a:rPr lang="en-US" smtClean="0"/>
              <a:t>9/9/2026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308BD4-DA66-4BD1-91B7-E89327F3B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Special Use Cases  |  </a:t>
            </a:r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E73C706-89A1-4AA5-9321-7F4CB3A91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27266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Mint">
    <p:bg bwMode="auto"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502920" y="2331719"/>
            <a:ext cx="8138160" cy="1234440"/>
          </a:xfrm>
        </p:spPr>
        <p:txBody>
          <a:bodyPr rIns="0" bIns="0" anchor="t">
            <a:noAutofit/>
          </a:bodyPr>
          <a:lstStyle>
            <a:lvl1pPr algn="l">
              <a:lnSpc>
                <a:spcPct val="80000"/>
              </a:lnSpc>
              <a:defRPr sz="4400" b="0" cap="none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 bwMode="gray">
          <a:xfrm>
            <a:off x="502920" y="1748790"/>
            <a:ext cx="8138160" cy="480060"/>
          </a:xfrm>
          <a:prstGeom prst="rect">
            <a:avLst/>
          </a:prstGeom>
        </p:spPr>
        <p:txBody>
          <a:bodyPr rIns="0" bIns="0" anchor="b"/>
          <a:lstStyle>
            <a:lvl1pPr marL="0" indent="0">
              <a:lnSpc>
                <a:spcPct val="100000"/>
              </a:lnSpc>
              <a:buNone/>
              <a:defRPr sz="1800" b="1" cap="all" spc="150" baseline="0">
                <a:solidFill>
                  <a:schemeClr val="accent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DF2FEF2-FECD-4ED1-BD47-FF58F25B75AD}"/>
              </a:ext>
            </a:extLst>
          </p:cNvPr>
          <p:cNvSpPr txBox="1">
            <a:spLocks/>
          </p:cNvSpPr>
          <p:nvPr userDrawn="1"/>
        </p:nvSpPr>
        <p:spPr bwMode="gray">
          <a:xfrm>
            <a:off x="502920" y="4820603"/>
            <a:ext cx="3057981" cy="219076"/>
          </a:xfrm>
          <a:prstGeom prst="rect">
            <a:avLst/>
          </a:prstGeom>
        </p:spPr>
        <p:txBody>
          <a:bodyPr vert="horz" lIns="0" r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Proprietary and confidential — do not distribute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0FC3C2-5069-4B7A-9F14-6E1032BB1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6C27EBA2-EBF0-499C-8395-B7D8C09E98EA}" type="datetime1">
              <a:rPr lang="en-US" smtClean="0"/>
              <a:t>9/9/2026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C2EC12-3F0B-463D-AC15-E276D69DA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lang="en-US"/>
              <a:t>Special Use Cases  |  </a:t>
            </a:r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D4A8CC4-8FBE-45E1-BB15-2672002D5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57462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502920" y="2331719"/>
            <a:ext cx="8138160" cy="1234440"/>
          </a:xfrm>
        </p:spPr>
        <p:txBody>
          <a:bodyPr rIns="0" bIns="0" anchor="t">
            <a:noAutofit/>
          </a:bodyPr>
          <a:lstStyle>
            <a:lvl1pPr algn="l">
              <a:lnSpc>
                <a:spcPct val="80000"/>
              </a:lnSpc>
              <a:defRPr sz="4400" b="0" cap="none" spc="0" baseline="0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 bwMode="gray">
          <a:xfrm>
            <a:off x="502920" y="1748790"/>
            <a:ext cx="8138160" cy="480060"/>
          </a:xfrm>
          <a:prstGeom prst="rect">
            <a:avLst/>
          </a:prstGeom>
        </p:spPr>
        <p:txBody>
          <a:bodyPr rIns="0" bIns="0" anchor="b"/>
          <a:lstStyle>
            <a:lvl1pPr marL="0" indent="0">
              <a:lnSpc>
                <a:spcPct val="100000"/>
              </a:lnSpc>
              <a:buNone/>
              <a:defRPr sz="1800" b="1" cap="all" spc="150" baseline="0">
                <a:solidFill>
                  <a:schemeClr val="accent3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DF2FEF2-FECD-4ED1-BD47-FF58F25B75AD}"/>
              </a:ext>
            </a:extLst>
          </p:cNvPr>
          <p:cNvSpPr txBox="1">
            <a:spLocks/>
          </p:cNvSpPr>
          <p:nvPr userDrawn="1"/>
        </p:nvSpPr>
        <p:spPr bwMode="gray">
          <a:xfrm>
            <a:off x="502920" y="4820603"/>
            <a:ext cx="3057981" cy="219076"/>
          </a:xfrm>
          <a:prstGeom prst="rect">
            <a:avLst/>
          </a:prstGeom>
        </p:spPr>
        <p:txBody>
          <a:bodyPr vert="horz" lIns="0" r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Proprietary and confidential — do not distribute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98435C-7AB2-499D-B9D2-7646859B2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EB796-53A5-4398-BFAB-C857031D42FB}" type="datetime1">
              <a:rPr lang="en-US" sz="1000" smtClean="0"/>
              <a:t>9/9/2026</a:t>
            </a:fld>
            <a:endParaRPr lang="en-IN" sz="100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953D83-DC20-4A71-BEBA-E5BD8133D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Special Use Cases  |  </a:t>
            </a:r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FF502C7-63A6-4765-B23E-CD59D755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122744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with Solid Background">
    <p:bg bwMode="auto"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1371600" y="1508760"/>
            <a:ext cx="6858000" cy="2674620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sz="2400" b="0">
                <a:solidFill>
                  <a:schemeClr val="bg1"/>
                </a:solidFill>
                <a:latin typeface="+mj-lt"/>
              </a:defRPr>
            </a:lvl1pPr>
            <a:lvl2pPr marL="1371600" indent="-228600" algn="l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/>
              <a:t>Click to edit quote text</a:t>
            </a:r>
          </a:p>
          <a:p>
            <a:pPr lvl="1"/>
            <a:r>
              <a:rPr lang="en-US"/>
              <a:t>Second level for attribution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A501EA9-08EC-4F43-BB57-5CF4837F22E5}"/>
              </a:ext>
            </a:extLst>
          </p:cNvPr>
          <p:cNvSpPr txBox="1">
            <a:spLocks/>
          </p:cNvSpPr>
          <p:nvPr userDrawn="1"/>
        </p:nvSpPr>
        <p:spPr bwMode="gray">
          <a:xfrm>
            <a:off x="502920" y="4820603"/>
            <a:ext cx="3057981" cy="219076"/>
          </a:xfrm>
          <a:prstGeom prst="rect">
            <a:avLst/>
          </a:prstGeom>
        </p:spPr>
        <p:txBody>
          <a:bodyPr vert="horz" lIns="0" r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Proprietary and confidential — do not distribute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6D6453-5C41-4AA1-8206-B28E31B4BDF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B760B79-E793-45E6-AB4A-8BF48011851C}" type="datetime1">
              <a:rPr lang="en-US" smtClean="0"/>
              <a:t>9/9/2026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915091-8BEE-4EAD-A12E-FE3FD48546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Special Use Cases  |  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7B97B-43D6-430D-9C83-B8A0A565552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862424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Blue">
    <p:bg bwMode="auto"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_symbol_wordm_below_w_rgb-01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17441" y="1206347"/>
            <a:ext cx="2509119" cy="2730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1787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LTTF Blue">
    <p:bg bwMode="auto"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6BE25BFE-C141-9744-B07B-AF2EDC44630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80642" y="939843"/>
            <a:ext cx="3782715" cy="3263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94360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sign&#10;&#10;Description automatically generated">
            <a:extLst>
              <a:ext uri="{FF2B5EF4-FFF2-40B4-BE49-F238E27FC236}">
                <a16:creationId xmlns:a16="http://schemas.microsoft.com/office/drawing/2014/main" id="{9D5804C8-119A-4621-B885-F0B59F0C23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0338" y="1064196"/>
            <a:ext cx="2753140" cy="2998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02727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LTTF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object, clock&#10;&#10;Description automatically generated">
            <a:extLst>
              <a:ext uri="{FF2B5EF4-FFF2-40B4-BE49-F238E27FC236}">
                <a16:creationId xmlns:a16="http://schemas.microsoft.com/office/drawing/2014/main" id="{CA73EC50-27B9-4304-8A26-2A1CE79D62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6510" y="393405"/>
            <a:ext cx="4735158" cy="435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7905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2920" y="600076"/>
            <a:ext cx="8138160" cy="357188"/>
          </a:xfrm>
        </p:spPr>
        <p:txBody>
          <a:bodyPr/>
          <a:lstStyle>
            <a:lvl1pPr>
              <a:defRPr sz="1950" b="1" cap="none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6D6E74-3911-4251-9210-E9AF0CB465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2922" y="338465"/>
            <a:ext cx="5241925" cy="261610"/>
          </a:xfrm>
        </p:spPr>
        <p:txBody>
          <a:bodyPr>
            <a:spAutoFit/>
          </a:bodyPr>
          <a:lstStyle>
            <a:lvl1pPr>
              <a:defRPr sz="1400" b="0" cap="all" spc="150" baseline="0">
                <a:solidFill>
                  <a:schemeClr val="tx2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D4D9D-1E75-4A41-BFAA-C36E089F00E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236FC2FE-D9A6-AF48-AD77-930B68553FD2}" type="datetime4">
              <a:rPr lang="en-US" smtClean="0">
                <a:solidFill>
                  <a:srgbClr val="000000"/>
                </a:solidFill>
              </a:rPr>
              <a:t>September 9, 2026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2AD462-D7C9-2642-BDCE-29B5F74B26F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Enter title via "insert&gt;header and footer&gt;footer" |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111AFE-F2F2-AE4D-8711-156C56FBA90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2885E78-1F86-4A3D-9EE1-B0103B1CEF15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64249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">
          <p15:clr>
            <a:srgbClr val="FBAE40"/>
          </p15:clr>
        </p15:guide>
        <p15:guide id="2" pos="7265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C2773AC-CB5F-4692-8614-145FCB8122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2921" y="266700"/>
            <a:ext cx="5241925" cy="26161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400" b="0" cap="all" spc="150" baseline="0">
                <a:solidFill>
                  <a:schemeClr val="accent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 REGULAR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095818-CAA3-49D4-822D-78FB55358F3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B6A540B-081F-4350-924C-7C3F33EDA0FA}" type="datetime1">
              <a:rPr lang="en-US" sz="1000" smtClean="0"/>
              <a:t>9/9/2026</a:t>
            </a:fld>
            <a:endParaRPr lang="en-IN" sz="100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F4A984-8C41-4A18-A4AB-486817760C8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Special Use Cases  | 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C13B2C-626A-4182-93CD-E777AFAD57C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F2BE9E2-7A7D-4BED-96F2-45B5703A2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679623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097673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502920" y="2330054"/>
            <a:ext cx="8138160" cy="1234440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4400" b="0" cap="none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02919" y="1749981"/>
            <a:ext cx="8138159" cy="480060"/>
          </a:xfrm>
          <a:prstGeom prst="rect">
            <a:avLst/>
          </a:prstGeom>
        </p:spPr>
        <p:txBody>
          <a:bodyPr rIns="0" bIns="0" anchor="b" anchorCtr="0"/>
          <a:lstStyle>
            <a:lvl1pPr marL="0" indent="0" algn="l">
              <a:lnSpc>
                <a:spcPct val="100000"/>
              </a:lnSpc>
              <a:buNone/>
              <a:defRPr sz="1800" b="1" cap="all" spc="150" baseline="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502920" y="3701654"/>
            <a:ext cx="4846320" cy="480060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Day |  Month |  YY</a:t>
            </a:r>
          </a:p>
        </p:txBody>
      </p:sp>
      <p:pic>
        <p:nvPicPr>
          <p:cNvPr id="7" name="Picture 6" descr="A_symbol_wordm_below_w_rgb-01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7472" y="137160"/>
            <a:ext cx="1188720" cy="1302056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C079E7-0338-4425-842D-F75F238C7B2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66159" y="204186"/>
            <a:ext cx="3092450" cy="322263"/>
          </a:xfrm>
          <a:prstGeom prst="rect">
            <a:avLst/>
          </a:prstGeom>
        </p:spPr>
        <p:txBody>
          <a:bodyPr anchor="ctr"/>
          <a:lstStyle>
            <a:lvl1pPr algn="r">
              <a:defRPr sz="1400" b="1" cap="all" spc="15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OPTIONAL DESCRIPTOR</a:t>
            </a:r>
          </a:p>
        </p:txBody>
      </p:sp>
      <p:pic>
        <p:nvPicPr>
          <p:cNvPr id="9" name="Picture 8" descr="Background pattern&#10;&#10;Description automatically generated">
            <a:extLst>
              <a:ext uri="{FF2B5EF4-FFF2-40B4-BE49-F238E27FC236}">
                <a16:creationId xmlns:a16="http://schemas.microsoft.com/office/drawing/2014/main" id="{F64ACA33-B81E-4C40-A537-20D6B9A143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000" t="90667"/>
          <a:stretch/>
        </p:blipFill>
        <p:spPr>
          <a:xfrm>
            <a:off x="7863840" y="4663440"/>
            <a:ext cx="1280160" cy="480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69897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502920" y="1380173"/>
            <a:ext cx="8138160" cy="1234440"/>
          </a:xfrm>
        </p:spPr>
        <p:txBody>
          <a:bodyPr/>
          <a:lstStyle>
            <a:lvl1pPr algn="l">
              <a:lnSpc>
                <a:spcPct val="90000"/>
              </a:lnSpc>
              <a:defRPr sz="4400" b="0" cap="none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02919" y="800100"/>
            <a:ext cx="8138159" cy="480060"/>
          </a:xfrm>
          <a:prstGeom prst="rect">
            <a:avLst/>
          </a:prstGeom>
        </p:spPr>
        <p:txBody>
          <a:bodyPr rIns="0" bIns="0" anchor="b" anchorCtr="0"/>
          <a:lstStyle>
            <a:lvl1pPr marL="0" indent="0" algn="l">
              <a:lnSpc>
                <a:spcPct val="100000"/>
              </a:lnSpc>
              <a:buNone/>
              <a:defRPr sz="1800" b="1" cap="all" spc="150" baseline="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502920" y="2751773"/>
            <a:ext cx="4846320" cy="480060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Day |  Month |  YY</a:t>
            </a:r>
          </a:p>
        </p:txBody>
      </p:sp>
      <p:pic>
        <p:nvPicPr>
          <p:cNvPr id="7" name="Picture 6" descr="A_symbol_wordm_below_w_rgb-01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8528" y="3726878"/>
            <a:ext cx="1188720" cy="1302056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9B7AF3-6EAA-4E53-822C-0EC8E7CEFD82}"/>
              </a:ext>
            </a:extLst>
          </p:cNvPr>
          <p:cNvSpPr txBox="1">
            <a:spLocks/>
          </p:cNvSpPr>
          <p:nvPr userDrawn="1"/>
        </p:nvSpPr>
        <p:spPr bwMode="gray">
          <a:xfrm>
            <a:off x="502920" y="4820603"/>
            <a:ext cx="3057981" cy="219076"/>
          </a:xfrm>
          <a:prstGeom prst="rect">
            <a:avLst/>
          </a:prstGeom>
        </p:spPr>
        <p:txBody>
          <a:bodyPr vert="horz" lIns="0" r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Proprietary and confidential — do not distribute</a:t>
            </a:r>
          </a:p>
        </p:txBody>
      </p:sp>
    </p:spTree>
    <p:extLst>
      <p:ext uri="{BB962C8B-B14F-4D97-AF65-F5344CB8AC3E}">
        <p14:creationId xmlns:p14="http://schemas.microsoft.com/office/powerpoint/2010/main" val="277295809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6F84C077-90EB-489F-9583-81D63D0529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2921" y="266700"/>
            <a:ext cx="5241925" cy="26161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400" b="0" cap="all" spc="150" baseline="0">
                <a:solidFill>
                  <a:schemeClr val="accent2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 REGULAR</a:t>
            </a:r>
          </a:p>
        </p:txBody>
      </p:sp>
      <p:sp>
        <p:nvSpPr>
          <p:cNvPr id="18" name="Content Placeholder 9">
            <a:extLst>
              <a:ext uri="{FF2B5EF4-FFF2-40B4-BE49-F238E27FC236}">
                <a16:creationId xmlns:a16="http://schemas.microsoft.com/office/drawing/2014/main" id="{7C330037-A806-4CED-9F5A-3F59AAC3868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2920" y="1487804"/>
            <a:ext cx="8145780" cy="3174922"/>
          </a:xfrm>
        </p:spPr>
        <p:txBody>
          <a:bodyPr>
            <a:noAutofit/>
          </a:bodyPr>
          <a:lstStyle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First level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  <a:endParaRPr lang="en-IN"/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02BAB220-7024-4DDE-95A2-9D418A52C75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238" y="1097279"/>
            <a:ext cx="8145462" cy="3905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00" b="1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 CALIBRI 18PT BOLD, white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35A1FB-BA52-4BD1-8AF6-DDBFACF5FE3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99919158-5B80-4916-B450-A8051F093F35}" type="datetime1">
              <a:rPr lang="en-US" sz="1000" smtClean="0"/>
              <a:t>9/9/2026</a:t>
            </a:fld>
            <a:endParaRPr lang="en-IN" sz="100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0C19A0-007F-4795-A63A-2AB1D4CD05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Special Use Cases  | 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71C191-AACC-45C1-9532-813DE7A9120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ACBBF95-B943-4B94-873E-49338E6CC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819423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Lon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8C4E6824-BC35-4134-9F27-991A840349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2921" y="266700"/>
            <a:ext cx="5241925" cy="26161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400" b="0" cap="all" spc="150" baseline="0">
                <a:solidFill>
                  <a:schemeClr val="accent2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 REGULAR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72D10E3-4645-4C6E-99E9-2CF712C6A94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2920" y="1097279"/>
            <a:ext cx="8145780" cy="3565447"/>
          </a:xfrm>
        </p:spPr>
        <p:txBody>
          <a:bodyPr>
            <a:noAutofit/>
          </a:bodyPr>
          <a:lstStyle>
            <a:lvl1pPr>
              <a:spcBef>
                <a:spcPts val="1200"/>
              </a:spcBef>
              <a:defRPr/>
            </a:lvl1pPr>
            <a:lvl2pPr>
              <a:spcBef>
                <a:spcPts val="1200"/>
              </a:spcBef>
              <a:defRPr/>
            </a:lvl2pPr>
            <a:lvl3pPr marL="228600" indent="0">
              <a:buNone/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CA32A6-8AF8-4EFE-BF5F-345B9DE4986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899CA2F-13BC-43D0-9284-FA704FCAF7EC}" type="datetime1">
              <a:rPr lang="en-US" sz="1000" smtClean="0"/>
              <a:t>9/9/2026</a:t>
            </a:fld>
            <a:endParaRPr lang="en-IN" sz="100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0F35B-6B47-4E81-BC98-BBD04C159B6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Special Use Cases  | 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10C4F5-5955-46F8-8417-363ED601160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9761CE6-7625-4D4F-8DF1-D454EDFFB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004417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_CALIBRI SUBHEAD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DC8CFFF-24E5-4D53-989F-F4E93C9D9D1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3238" y="1097279"/>
            <a:ext cx="3817302" cy="3905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00" b="1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SHORT TITLE, CALIBRI, 18PT, BOLD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DE1D0A19-24A0-42A1-88A0-10A757E8E67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23460" y="1097279"/>
            <a:ext cx="3817302" cy="3905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00" b="1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SHORT TITLE, CALIBRI, 18PT, BOLD</a:t>
            </a:r>
          </a:p>
        </p:txBody>
      </p:sp>
      <p:sp>
        <p:nvSpPr>
          <p:cNvPr id="12" name="Content Placeholder 14">
            <a:extLst>
              <a:ext uri="{FF2B5EF4-FFF2-40B4-BE49-F238E27FC236}">
                <a16:creationId xmlns:a16="http://schemas.microsoft.com/office/drawing/2014/main" id="{7DC97119-8034-4889-B729-0E3963B60D2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02919" y="1487804"/>
            <a:ext cx="3817301" cy="3175634"/>
          </a:xfrm>
        </p:spPr>
        <p:txBody>
          <a:bodyPr>
            <a:noAutofit/>
          </a:bodyPr>
          <a:lstStyle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First level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  <a:endParaRPr lang="en-IN"/>
          </a:p>
        </p:txBody>
      </p:sp>
      <p:sp>
        <p:nvSpPr>
          <p:cNvPr id="13" name="Content Placeholder 14">
            <a:extLst>
              <a:ext uri="{FF2B5EF4-FFF2-40B4-BE49-F238E27FC236}">
                <a16:creationId xmlns:a16="http://schemas.microsoft.com/office/drawing/2014/main" id="{D23AA11D-C736-4A2D-A2E5-743EA4E0D94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823460" y="1487804"/>
            <a:ext cx="3817301" cy="3175634"/>
          </a:xfrm>
        </p:spPr>
        <p:txBody>
          <a:bodyPr>
            <a:noAutofit/>
          </a:bodyPr>
          <a:lstStyle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First level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  <a:endParaRPr lang="en-IN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F35FEC9F-C507-44E0-9733-E28CDFE7BE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2921" y="266700"/>
            <a:ext cx="5241925" cy="26161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400" b="0" cap="all" spc="150" baseline="0">
                <a:solidFill>
                  <a:schemeClr val="accent2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 REGULAR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9B0F37-AD6B-405F-966C-AEAC08367728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DB37E5AA-C3A3-4874-82F4-D3F7CC005F9D}" type="datetime1">
              <a:rPr lang="en-US" sz="1000" smtClean="0"/>
              <a:t>9/9/2026</a:t>
            </a:fld>
            <a:endParaRPr lang="en-IN" sz="100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8FAF83-77F0-402C-9105-010216AB1287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Special Use Cases  | 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247CD1-13D4-4D6F-9AD9-FA94F649083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394271E-5E80-405F-9D37-24DDD81A2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250614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+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3DDD3982-D580-4A3D-87F3-05FAC777BE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2921" y="266700"/>
            <a:ext cx="5241925" cy="26161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400" b="0" cap="all" spc="150" baseline="0">
                <a:solidFill>
                  <a:schemeClr val="accent2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 REGULAR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69554EE2-145C-4A00-A0C3-DB78B30B5E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2920" y="1097280"/>
            <a:ext cx="8129016" cy="82296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33322A2D-74CF-44BB-AC52-68CD1726915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3238" y="2057400"/>
            <a:ext cx="3817302" cy="3905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 b="1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SHORT TITLE, CALIBRI, 16PT, BOLD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7BD8A4B5-FD7F-4BD4-9920-59537A11C9B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23460" y="2057400"/>
            <a:ext cx="3817302" cy="3905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 b="1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SHORT TITLE, CALIBRI, 16PT, BOLD</a:t>
            </a:r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F3327A1A-989A-492F-A5BD-8FFF6798933B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02919" y="2447925"/>
            <a:ext cx="3817301" cy="2215513"/>
          </a:xfrm>
        </p:spPr>
        <p:txBody>
          <a:bodyPr>
            <a:noAutofit/>
          </a:bodyPr>
          <a:lstStyle>
            <a:lvl1pPr>
              <a:defRPr sz="1400"/>
            </a:lvl1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First level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  <a:endParaRPr lang="en-IN"/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32E05A6F-19E8-420D-B3B5-112D1569BED8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823460" y="2447925"/>
            <a:ext cx="3817301" cy="2215513"/>
          </a:xfrm>
        </p:spPr>
        <p:txBody>
          <a:bodyPr>
            <a:noAutofit/>
          </a:bodyPr>
          <a:lstStyle>
            <a:lvl1pPr>
              <a:defRPr sz="1400"/>
            </a:lvl1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First level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59D619-EC53-4375-AE7E-A9A801CFD1A7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22FAC7CA-59BA-4C86-B16E-93FCC0628B94}" type="datetime1">
              <a:rPr lang="en-US" sz="1000" smtClean="0"/>
              <a:t>9/9/2026</a:t>
            </a:fld>
            <a:endParaRPr lang="en-IN" sz="100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5B64EC-97BF-41C6-8238-279BCED62053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Special Use Cases  | 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ADB52F-ABC4-41F2-A048-5A87BD1175F3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1FE648B-60F7-4CF6-81A9-BFD2DC21B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984043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(L) Half-content &amp; imag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4" hasCustomPrompt="1"/>
          </p:nvPr>
        </p:nvSpPr>
        <p:spPr>
          <a:xfrm>
            <a:off x="4818888" y="0"/>
            <a:ext cx="4325111" cy="51435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lIns="365760" rIns="365760" anchor="ctr" anchorCtr="1"/>
          <a:lstStyle>
            <a:lvl1pPr algn="ctr">
              <a:defRPr sz="1800" b="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Insert an image</a:t>
            </a:r>
            <a:br>
              <a:rPr lang="en-US"/>
            </a:br>
            <a:r>
              <a:rPr lang="en-US"/>
              <a:t>within this placeholder 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4F282B79-3C71-4038-841E-9E254DD4547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1" y="266700"/>
            <a:ext cx="3822191" cy="261610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400" b="0" cap="all" spc="150" baseline="0">
                <a:solidFill>
                  <a:schemeClr val="accent2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58D1AC19-13A5-445C-9A4B-BF895B4C6A2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3238" y="1097957"/>
            <a:ext cx="3817302" cy="3905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00" b="1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SUBTITLE, CALIBRI, 18PT, BOLD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C1FE8E94-F119-4099-AB4A-12BE7BE08A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3238" y="1619968"/>
            <a:ext cx="3817302" cy="32004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 b="1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SHORT TITLE, CALIBRI, 16PT, BOLD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11E453D5-1F29-42C6-8756-561E8838165F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502919" y="1957741"/>
            <a:ext cx="3817301" cy="108152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First level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  <a:endParaRPr lang="en-IN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DCA1532B-ABC4-45A6-AB8E-E261FF7ADB2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3238" y="3237576"/>
            <a:ext cx="3817302" cy="32004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 b="1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SHORT TITLE, CALIBRI, 16PT, BOLD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5FE1B3D3-5D26-4FEE-A34C-14143960C29E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502919" y="3575350"/>
            <a:ext cx="3817301" cy="1081522"/>
          </a:xfrm>
        </p:spPr>
        <p:txBody>
          <a:bodyPr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First level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198A3C-18DD-47FE-97EB-45A03761084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fld id="{8A49F0EF-9C22-4EB2-8EC8-F3C029C51C0F}" type="datetime1">
              <a:rPr lang="en-US" smtClean="0"/>
              <a:t>9/9/2026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4CF959-2902-4B7E-8BE2-A755DD45FFC4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Special Use Cases  | 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248175-3CED-4F8D-A7BF-004A5A1D05BA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69640B4-9024-4477-AC1A-EEB4BC716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569592"/>
            <a:ext cx="3817300" cy="390527"/>
          </a:xfrm>
        </p:spPr>
        <p:txBody>
          <a:bodyPr/>
          <a:lstStyle/>
          <a:p>
            <a:r>
              <a:rPr lang="en-US"/>
              <a:t>Click to edit Master title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005449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(R) Half-content &amp; imag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4314969" cy="51435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lIns="365760" rIns="365760" anchor="ctr" anchorCtr="1"/>
          <a:lstStyle>
            <a:lvl1pPr algn="ctr">
              <a:defRPr sz="1800" b="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Insert an image</a:t>
            </a:r>
            <a:br>
              <a:rPr lang="en-US"/>
            </a:br>
            <a:r>
              <a:rPr lang="en-US"/>
              <a:t>within this placeholder 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06D962-A904-455A-9FF2-A3FC930F6781}"/>
              </a:ext>
            </a:extLst>
          </p:cNvPr>
          <p:cNvSpPr txBox="1">
            <a:spLocks/>
          </p:cNvSpPr>
          <p:nvPr userDrawn="1"/>
        </p:nvSpPr>
        <p:spPr bwMode="gray">
          <a:xfrm>
            <a:off x="502920" y="4820603"/>
            <a:ext cx="3057981" cy="219076"/>
          </a:xfrm>
          <a:prstGeom prst="rect">
            <a:avLst/>
          </a:prstGeom>
        </p:spPr>
        <p:txBody>
          <a:bodyPr vert="horz" lIns="0" rIns="0" anchor="b" anchorCtr="0"/>
          <a:lstStyle>
            <a:defPPr>
              <a:defRPr lang="en-US"/>
            </a:defPPr>
            <a:lvl1pPr indent="0" defTabSz="457200">
              <a:spcBef>
                <a:spcPct val="20000"/>
              </a:spcBef>
              <a:buFont typeface="Arial"/>
              <a:buNone/>
              <a:defRPr sz="1000">
                <a:solidFill>
                  <a:schemeClr val="bg2">
                    <a:lumMod val="10000"/>
                  </a:schemeClr>
                </a:solidFill>
                <a:cs typeface="Calibri" panose="020F0502020204030204" pitchFamily="34" charset="0"/>
              </a:defRPr>
            </a:lvl1pPr>
            <a:lvl2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2pPr>
            <a:lvl3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3pPr>
            <a:lvl4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4pPr>
            <a:lvl5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pPr lvl="0"/>
            <a:r>
              <a:rPr lang="en-US"/>
              <a:t>Proprietary and confidential — do not distribute</a:t>
            </a:r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BCE9EE84-6D78-4EA7-A0BA-54294DAD635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28716" y="266700"/>
            <a:ext cx="3822191" cy="261610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400" b="0" cap="all" spc="150" baseline="0">
                <a:solidFill>
                  <a:schemeClr val="accent2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4213A971-0458-449E-8A05-022FFCDC03B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29033" y="1097957"/>
            <a:ext cx="3817302" cy="3905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00" b="1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SUBTITLE, CALIBRI, 18PT, BOLD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25BD6757-CD83-4140-BD84-D5A87A525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29033" y="1619968"/>
            <a:ext cx="3817302" cy="32004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 b="1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SHORT TITLE, CALIBRI, 16PT, BOLD</a:t>
            </a:r>
          </a:p>
        </p:txBody>
      </p:sp>
      <p:sp>
        <p:nvSpPr>
          <p:cNvPr id="31" name="Content Placeholder 5">
            <a:extLst>
              <a:ext uri="{FF2B5EF4-FFF2-40B4-BE49-F238E27FC236}">
                <a16:creationId xmlns:a16="http://schemas.microsoft.com/office/drawing/2014/main" id="{B5BC7F6D-6A69-4462-AC94-59D2440E9F60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828714" y="1957741"/>
            <a:ext cx="3817301" cy="108152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First level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  <a:endParaRPr lang="en-IN"/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A05AAF67-97A5-425C-A335-E3E63FEA464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29033" y="3237576"/>
            <a:ext cx="3817302" cy="32004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 b="1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SHORT TITLE, CALIBRI, 16PT, BOLD</a:t>
            </a:r>
          </a:p>
        </p:txBody>
      </p:sp>
      <p:sp>
        <p:nvSpPr>
          <p:cNvPr id="33" name="Content Placeholder 5">
            <a:extLst>
              <a:ext uri="{FF2B5EF4-FFF2-40B4-BE49-F238E27FC236}">
                <a16:creationId xmlns:a16="http://schemas.microsoft.com/office/drawing/2014/main" id="{E8B20F51-F5D3-4203-A668-06DE173022AE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828714" y="3575350"/>
            <a:ext cx="3817301" cy="1081522"/>
          </a:xfrm>
        </p:spPr>
        <p:txBody>
          <a:bodyPr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First level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132B6A-FBA3-41BE-B85A-F194020014AA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DF118D2A-FA3C-4C61-AD11-F6AD5FC8E303}" type="datetime1">
              <a:rPr lang="en-US" sz="1000" smtClean="0"/>
              <a:t>9/9/2026</a:t>
            </a:fld>
            <a:endParaRPr lang="en-IN" sz="100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F77DF8-261E-4A45-AD34-15E7282C8EF9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Special Use Cases  | 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CD971E-56D2-414A-B552-A4EF4CE2B792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79574A7-ECA2-42D5-A6A3-D8BD20BD0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8714" y="569592"/>
            <a:ext cx="3812366" cy="390527"/>
          </a:xfrm>
        </p:spPr>
        <p:txBody>
          <a:bodyPr/>
          <a:lstStyle/>
          <a:p>
            <a:r>
              <a:rPr lang="en-US"/>
              <a:t>Click to edit Master title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32042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(L) Alternate Half-content &amp; imag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4" hasCustomPrompt="1"/>
          </p:nvPr>
        </p:nvSpPr>
        <p:spPr>
          <a:xfrm>
            <a:off x="4818888" y="0"/>
            <a:ext cx="4325111" cy="51435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lIns="365760" rIns="365760" anchor="ctr" anchorCtr="1"/>
          <a:lstStyle>
            <a:lvl1pPr algn="ctr">
              <a:defRPr sz="1800" b="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Insert an image</a:t>
            </a:r>
            <a:br>
              <a:rPr lang="en-US"/>
            </a:br>
            <a:r>
              <a:rPr lang="en-US"/>
              <a:t>within this placeholder 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4F282B79-3C71-4038-841E-9E254DD4547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1" y="266700"/>
            <a:ext cx="3822191" cy="261610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400" b="0" cap="all" spc="150" baseline="0">
                <a:solidFill>
                  <a:schemeClr val="accent2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58D1AC19-13A5-445C-9A4B-BF895B4C6A2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3238" y="1097957"/>
            <a:ext cx="3817302" cy="3905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00" b="1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SUBTITLE, CALIBRI, 18PT, BOLD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11E453D5-1F29-42C6-8756-561E8838165F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502919" y="1619968"/>
            <a:ext cx="3817301" cy="3045695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First level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573EA2-2703-4750-91B5-59592F23A9BA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fld id="{70676315-C838-4F0E-A0F5-72558F625789}" type="datetime1">
              <a:rPr lang="en-US" smtClean="0"/>
              <a:t>9/9/2026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A6CD73-4FB4-4C42-B296-A9D203A00299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Special Use Cases  | 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9E12B7-6478-4174-9D62-4CE1ED014B8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71A172B-6D03-48FD-95B2-5782E2CD3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569592"/>
            <a:ext cx="3817300" cy="390527"/>
          </a:xfrm>
        </p:spPr>
        <p:txBody>
          <a:bodyPr/>
          <a:lstStyle/>
          <a:p>
            <a:r>
              <a:rPr lang="en-US"/>
              <a:t>Click to edit Master title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212978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(R) Alternate Half-content &amp; imag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4314969" cy="51435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lIns="365760" rIns="365760" anchor="ctr" anchorCtr="1"/>
          <a:lstStyle>
            <a:lvl1pPr algn="ctr">
              <a:defRPr sz="1800" b="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Insert an image</a:t>
            </a:r>
            <a:br>
              <a:rPr lang="en-US"/>
            </a:br>
            <a:r>
              <a:rPr lang="en-US"/>
              <a:t>within this placeholder 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06D962-A904-455A-9FF2-A3FC930F6781}"/>
              </a:ext>
            </a:extLst>
          </p:cNvPr>
          <p:cNvSpPr txBox="1">
            <a:spLocks/>
          </p:cNvSpPr>
          <p:nvPr userDrawn="1"/>
        </p:nvSpPr>
        <p:spPr bwMode="gray">
          <a:xfrm>
            <a:off x="502920" y="4820603"/>
            <a:ext cx="3057981" cy="219076"/>
          </a:xfrm>
          <a:prstGeom prst="rect">
            <a:avLst/>
          </a:prstGeom>
        </p:spPr>
        <p:txBody>
          <a:bodyPr vert="horz" lIns="0" rIns="0" anchor="b" anchorCtr="0"/>
          <a:lstStyle>
            <a:defPPr>
              <a:defRPr lang="en-US"/>
            </a:defPPr>
            <a:lvl1pPr indent="0" defTabSz="457200">
              <a:spcBef>
                <a:spcPct val="20000"/>
              </a:spcBef>
              <a:buFont typeface="Arial"/>
              <a:buNone/>
              <a:defRPr sz="1000">
                <a:solidFill>
                  <a:schemeClr val="bg2">
                    <a:lumMod val="10000"/>
                  </a:schemeClr>
                </a:solidFill>
                <a:cs typeface="Calibri" panose="020F0502020204030204" pitchFamily="34" charset="0"/>
              </a:defRPr>
            </a:lvl1pPr>
            <a:lvl2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2pPr>
            <a:lvl3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3pPr>
            <a:lvl4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4pPr>
            <a:lvl5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pPr lvl="0"/>
            <a:r>
              <a:rPr lang="en-US"/>
              <a:t>Proprietary and confidential — do not distribute</a:t>
            </a:r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BCE9EE84-6D78-4EA7-A0BA-54294DAD635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28716" y="266700"/>
            <a:ext cx="3822191" cy="261610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400" b="0" cap="all" spc="150" baseline="0">
                <a:solidFill>
                  <a:schemeClr val="accent2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4213A971-0458-449E-8A05-022FFCDC03B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29033" y="1097957"/>
            <a:ext cx="3817302" cy="3905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00" b="1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SUBTITLE, CALIBRI, 18PT, BOLD</a:t>
            </a:r>
          </a:p>
        </p:txBody>
      </p:sp>
      <p:sp>
        <p:nvSpPr>
          <p:cNvPr id="31" name="Content Placeholder 5">
            <a:extLst>
              <a:ext uri="{FF2B5EF4-FFF2-40B4-BE49-F238E27FC236}">
                <a16:creationId xmlns:a16="http://schemas.microsoft.com/office/drawing/2014/main" id="{B5BC7F6D-6A69-4462-AC94-59D2440E9F60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828714" y="1619968"/>
            <a:ext cx="3817301" cy="3045695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First level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76AA6F-274D-4C30-8231-BCE60209C350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D4AB63F1-E14E-4D09-A657-41F83523D2B0}" type="datetime1">
              <a:rPr lang="en-US" sz="1000" smtClean="0"/>
              <a:t>9/9/2026</a:t>
            </a:fld>
            <a:endParaRPr lang="en-IN" sz="100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90ED92-D78E-4927-81AF-A839DE78EF1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Special Use Cases  | 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92392A-F844-43CE-9CB9-AC393579CD5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1104A16-8545-464D-95F9-F7F8075AD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8714" y="569592"/>
            <a:ext cx="3812366" cy="390527"/>
          </a:xfrm>
        </p:spPr>
        <p:txBody>
          <a:bodyPr/>
          <a:lstStyle/>
          <a:p>
            <a:r>
              <a:rPr lang="en-US"/>
              <a:t>Click to edit Master title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402801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(L) Half-content &amp; full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EBBC6B44-1A66-4C17-802D-CD6F3BEB84D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9144000" cy="5143500"/>
          </a:xfrm>
          <a:prstGeom prst="rect">
            <a:avLst/>
          </a:prstGeom>
          <a:noFill/>
          <a:ln>
            <a:noFill/>
          </a:ln>
          <a:effectLst/>
        </p:spPr>
        <p:txBody>
          <a:bodyPr lIns="365760" rIns="365760" anchor="ctr" anchorCtr="1"/>
          <a:lstStyle>
            <a:lvl1pPr marL="4572000" indent="0" algn="ctr">
              <a:tabLst/>
              <a:defRPr sz="1800" b="0" baseline="0">
                <a:solidFill>
                  <a:srgbClr val="5BC2E7"/>
                </a:solidFill>
                <a:latin typeface="+mn-lt"/>
              </a:defRPr>
            </a:lvl1pPr>
          </a:lstStyle>
          <a:p>
            <a:r>
              <a:rPr lang="en-US"/>
              <a:t>Insert an image or chart </a:t>
            </a:r>
            <a:br>
              <a:rPr lang="en-US"/>
            </a:br>
            <a:r>
              <a:rPr lang="en-US"/>
              <a:t>within this placeholder 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1DA9A41A-6EE1-49F5-AFE9-BA3D27BD935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1" y="266700"/>
            <a:ext cx="3822191" cy="261610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400" b="0" cap="all" spc="150" baseline="0">
                <a:solidFill>
                  <a:schemeClr val="accent2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</a:t>
            </a:r>
          </a:p>
        </p:txBody>
      </p:sp>
      <p:sp>
        <p:nvSpPr>
          <p:cNvPr id="17" name="Content Placeholder 5">
            <a:extLst>
              <a:ext uri="{FF2B5EF4-FFF2-40B4-BE49-F238E27FC236}">
                <a16:creationId xmlns:a16="http://schemas.microsoft.com/office/drawing/2014/main" id="{9429E2A8-8B6B-4260-8142-907D2399D5E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02919" y="1411940"/>
            <a:ext cx="3822191" cy="3251499"/>
          </a:xfrm>
        </p:spPr>
        <p:txBody>
          <a:bodyPr>
            <a:noAutofit/>
          </a:bodyPr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First level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E0F8180-A780-4399-880A-8AA1E69C0F8C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B1F09158-DFEA-4C86-93B3-762C0FE350E8}" type="datetime1">
              <a:rPr lang="en-US" sz="1000" smtClean="0"/>
              <a:t>9/9/2026</a:t>
            </a:fld>
            <a:endParaRPr lang="en-IN" sz="100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5608BB2-D691-4F93-85B3-B1B4B0A35E5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Special Use Cases  |  </a:t>
            </a:r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AE60EC4-73AF-4FE7-894E-9CA45C02203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EFB07F9-6AE7-4BC6-A62B-E1EF2F296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569592"/>
            <a:ext cx="3822190" cy="390527"/>
          </a:xfrm>
        </p:spPr>
        <p:txBody>
          <a:bodyPr/>
          <a:lstStyle/>
          <a:p>
            <a:r>
              <a:rPr lang="en-US"/>
              <a:t>Click to edit Master title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414525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(R) Half-content &amp; full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EBBC6B44-1A66-4C17-802D-CD6F3BEB84D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9144000" cy="5143500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0" rIns="914400" anchor="ctr" anchorCtr="0"/>
          <a:lstStyle>
            <a:lvl1pPr marL="9525" indent="0" algn="l">
              <a:tabLst/>
              <a:defRPr sz="1800" b="0" baseline="0">
                <a:solidFill>
                  <a:srgbClr val="5BC2E7"/>
                </a:solidFill>
                <a:latin typeface="+mn-lt"/>
              </a:defRPr>
            </a:lvl1pPr>
          </a:lstStyle>
          <a:p>
            <a:r>
              <a:rPr lang="en-US"/>
              <a:t>Insert an image or chart </a:t>
            </a:r>
            <a:br>
              <a:rPr lang="en-US"/>
            </a:br>
            <a:r>
              <a:rPr lang="en-US"/>
              <a:t>within this placeholder 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1E655C6-6C55-4BCE-A907-B7048CE6FF6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26511" y="266700"/>
            <a:ext cx="3822191" cy="261610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400" b="0" cap="all" spc="150" baseline="0">
                <a:solidFill>
                  <a:schemeClr val="accent2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15B48ECC-C9D4-4D04-9E63-711B66A66FE4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826509" y="1411940"/>
            <a:ext cx="3822191" cy="3251499"/>
          </a:xfrm>
        </p:spPr>
        <p:txBody>
          <a:bodyPr>
            <a:noAutofit/>
          </a:bodyPr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First level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569548C-76EF-4BC9-BEDB-4665E7109D66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0E67B69A-DB30-44C5-BC02-8154F459C65E}" type="datetime1">
              <a:rPr lang="en-US" sz="1000" smtClean="0"/>
              <a:t>9/9/2026</a:t>
            </a:fld>
            <a:endParaRPr lang="en-IN" sz="100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D029042-E580-498D-A997-1F4A4D0C67EB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Special Use Cases  |  </a:t>
            </a:r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9D78DC0-79C2-4029-B092-1E1E990016A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3E7CDA0-49B9-411A-8A94-B75B1A558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8888" y="569592"/>
            <a:ext cx="3822191" cy="390527"/>
          </a:xfrm>
        </p:spPr>
        <p:txBody>
          <a:bodyPr/>
          <a:lstStyle/>
          <a:p>
            <a:r>
              <a:rPr lang="en-US"/>
              <a:t>Click to edit Master title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318578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6FC1646B-E15A-4F90-9777-95E6C931F3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2921" y="266700"/>
            <a:ext cx="5241925" cy="26161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400" b="0" cap="all" spc="150" baseline="0">
                <a:solidFill>
                  <a:schemeClr val="accent2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 REGULAR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8617FC-72F8-4DD8-982D-4F8BFE1DF19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EA14857-A058-4375-90AD-EA5191B49084}" type="datetime1">
              <a:rPr lang="en-US" sz="1000" smtClean="0"/>
              <a:t>9/9/2026</a:t>
            </a:fld>
            <a:endParaRPr lang="en-IN" sz="100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0ABF46-54BB-4D47-8135-82411AA1D3B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Special Use Cases  |  </a:t>
            </a:r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B303E62-E927-44E1-92EC-EE640A44890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43C68A1-FF6A-427A-B340-7E9CD9AEF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99723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D2B880-DD51-47C7-9324-01910D190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D6F69-13B5-4C13-868D-FB24CA6C755D}" type="datetime1">
              <a:rPr lang="en-US" sz="1000" smtClean="0"/>
              <a:t>9/9/2026</a:t>
            </a:fld>
            <a:endParaRPr lang="en-IN" sz="100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05DC02-FFB3-42A2-B28F-07C5C81B5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Special Use Cases  | 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BD9181-53F3-4D09-BA64-3655373B1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309049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Solid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1371600" y="1508760"/>
            <a:ext cx="6858000" cy="2674620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sz="2400" b="0">
                <a:solidFill>
                  <a:schemeClr val="tx1"/>
                </a:solidFill>
                <a:latin typeface="+mj-lt"/>
              </a:defRPr>
            </a:lvl1pPr>
            <a:lvl2pPr marL="1371600" indent="-228600" algn="l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Char char="–"/>
              <a:defRPr sz="1800">
                <a:solidFill>
                  <a:schemeClr val="tx1"/>
                </a:solidFill>
                <a:latin typeface="+mj-lt"/>
              </a:defRPr>
            </a:lvl2pPr>
          </a:lstStyle>
          <a:p>
            <a:pPr lvl="0"/>
            <a:r>
              <a:rPr lang="en-US"/>
              <a:t>Click to edit quote text</a:t>
            </a:r>
          </a:p>
          <a:p>
            <a:pPr lvl="1"/>
            <a:r>
              <a:rPr lang="en-US"/>
              <a:t>Second level for attribution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665066-E4BE-4E2F-A592-569FD227023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1B34FC7-0D4B-4C39-B669-C0C23384DB32}" type="datetime1">
              <a:rPr lang="en-US" sz="1000" smtClean="0"/>
              <a:t>9/9/2026</a:t>
            </a:fld>
            <a:endParaRPr lang="en-IN" sz="100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8F3049-0B2C-439D-8618-41F7715D78D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Special Use Cases  |  </a:t>
            </a:r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9517DBB-2B8B-4FC1-A42C-F9F35472660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275940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502920" y="2331719"/>
            <a:ext cx="8138160" cy="1234440"/>
          </a:xfrm>
          <a:prstGeom prst="rect">
            <a:avLst/>
          </a:prstGeom>
        </p:spPr>
        <p:txBody>
          <a:bodyPr wrap="square" rIns="0" bIns="0" anchor="t">
            <a:noAutofit/>
          </a:bodyPr>
          <a:lstStyle>
            <a:lvl1pPr algn="l">
              <a:lnSpc>
                <a:spcPct val="80000"/>
              </a:lnSpc>
              <a:defRPr sz="4400" b="0" cap="none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 bwMode="gray">
          <a:xfrm>
            <a:off x="502920" y="1748790"/>
            <a:ext cx="8138160" cy="480060"/>
          </a:xfrm>
          <a:prstGeom prst="rect">
            <a:avLst/>
          </a:prstGeom>
        </p:spPr>
        <p:txBody>
          <a:bodyPr rIns="0" bIns="0" anchor="b"/>
          <a:lstStyle>
            <a:lvl1pPr marL="0" indent="0">
              <a:lnSpc>
                <a:spcPct val="100000"/>
              </a:lnSpc>
              <a:buNone/>
              <a:defRPr sz="1800" b="1" cap="all" spc="150" baseline="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86598D-EC95-4AB8-A679-F021EAB90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B1E16-A99E-4D1B-86D3-138353FFBB3B}" type="datetime1">
              <a:rPr lang="en-US" sz="1000" smtClean="0"/>
              <a:t>9/9/2026</a:t>
            </a:fld>
            <a:endParaRPr lang="en-IN" sz="100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99211F-D107-43FA-94E7-765356B69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Special Use Cases  |  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D1348B-0CBC-4BED-A1D6-62E9AE59B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057894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_symbol_wordm_below_w_rgb-01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17441" y="1206347"/>
            <a:ext cx="2509119" cy="2730807"/>
          </a:xfrm>
          <a:prstGeom prst="rect">
            <a:avLst/>
          </a:prstGeom>
        </p:spPr>
      </p:pic>
      <p:pic>
        <p:nvPicPr>
          <p:cNvPr id="2" name="Picture 1" descr="Background pattern&#10;&#10;Description automatically generated">
            <a:extLst>
              <a:ext uri="{FF2B5EF4-FFF2-40B4-BE49-F238E27FC236}">
                <a16:creationId xmlns:a16="http://schemas.microsoft.com/office/drawing/2014/main" id="{1FA2C3B7-0DE3-40C2-A9E7-6D4EFBDA7C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497"/>
          <a:stretch/>
        </p:blipFill>
        <p:spPr>
          <a:xfrm>
            <a:off x="0" y="4346089"/>
            <a:ext cx="9144000" cy="797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65150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LTT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6BE25BFE-C141-9744-B07B-AF2EDC44630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80642" y="939843"/>
            <a:ext cx="3782715" cy="3263814"/>
          </a:xfrm>
          <a:prstGeom prst="rect">
            <a:avLst/>
          </a:prstGeom>
        </p:spPr>
      </p:pic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ADF339B2-8D49-4B47-8CC1-B4EF612F82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497"/>
          <a:stretch/>
        </p:blipFill>
        <p:spPr>
          <a:xfrm>
            <a:off x="0" y="4346089"/>
            <a:ext cx="9144000" cy="797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60861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Quote with Solid Background">
    <p:bg bwMode="auto"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1143000" y="1508760"/>
            <a:ext cx="6858000" cy="2674620"/>
          </a:xfrm>
        </p:spPr>
        <p:txBody>
          <a:bodyPr/>
          <a:lstStyle>
            <a:lvl1pPr algn="l">
              <a:lnSpc>
                <a:spcPct val="90000"/>
              </a:lnSpc>
              <a:defRPr sz="2800" b="0">
                <a:solidFill>
                  <a:schemeClr val="bg1"/>
                </a:solidFill>
                <a:latin typeface="+mn-lt"/>
              </a:defRPr>
            </a:lvl1pPr>
            <a:lvl2pPr marL="1371566" indent="-228594" algn="l">
              <a:spcBef>
                <a:spcPts val="1800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/>
              <a:t>Click to edit quote text</a:t>
            </a:r>
          </a:p>
          <a:p>
            <a:pPr lvl="1"/>
            <a:r>
              <a:rPr lang="en-US"/>
              <a:t>Second level for attribution</a:t>
            </a:r>
          </a:p>
        </p:txBody>
      </p:sp>
    </p:spTree>
    <p:extLst>
      <p:ext uri="{BB962C8B-B14F-4D97-AF65-F5344CB8AC3E}">
        <p14:creationId xmlns:p14="http://schemas.microsoft.com/office/powerpoint/2010/main" val="192037688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losing Slide">
    <p:bg bwMode="auto"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_symbol_wordm_below_w_rgb-01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17441" y="1206347"/>
            <a:ext cx="2509119" cy="2730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40738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losing Slide">
    <p:bg bwMode="auto"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6BE25BFE-C141-9744-B07B-AF2EDC44630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80643" y="939843"/>
            <a:ext cx="3782715" cy="3263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26051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502920" y="2330054"/>
            <a:ext cx="8138161" cy="1234440"/>
          </a:xfrm>
        </p:spPr>
        <p:txBody>
          <a:bodyPr/>
          <a:lstStyle>
            <a:lvl1pPr algn="l">
              <a:lnSpc>
                <a:spcPct val="90000"/>
              </a:lnSpc>
              <a:defRPr sz="4400" b="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02920" y="1749981"/>
            <a:ext cx="8138160" cy="480060"/>
          </a:xfrm>
        </p:spPr>
        <p:txBody>
          <a:bodyPr rIns="0" bIns="0" anchor="b" anchorCtr="0"/>
          <a:lstStyle>
            <a:lvl1pPr marL="0" indent="0" algn="l">
              <a:lnSpc>
                <a:spcPct val="100000"/>
              </a:lnSpc>
              <a:buNone/>
              <a:defRPr sz="1800" b="1" cap="all" spc="113" baseline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3428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502920" y="3701654"/>
            <a:ext cx="4846320" cy="480060"/>
          </a:xfrm>
        </p:spPr>
        <p:txBody>
          <a:bodyPr/>
          <a:lstStyle>
            <a:lvl1pPr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date</a:t>
            </a:r>
          </a:p>
        </p:txBody>
      </p:sp>
      <p:pic>
        <p:nvPicPr>
          <p:cNvPr id="7" name="Picture 6" descr="A_symbol_wordm_below_w_rgb-01.png">
            <a:extLst>
              <a:ext uri="{FF2B5EF4-FFF2-40B4-BE49-F238E27FC236}">
                <a16:creationId xmlns:a16="http://schemas.microsoft.com/office/drawing/2014/main" id="{9E010671-E31C-9E4C-8544-E8E1B034989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7472" y="137160"/>
            <a:ext cx="1188720" cy="130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05937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4314969" cy="5143500"/>
          </a:xfrm>
          <a:solidFill>
            <a:schemeClr val="bg2"/>
          </a:solidFill>
          <a:ln>
            <a:noFill/>
          </a:ln>
          <a:effectLst/>
        </p:spPr>
        <p:txBody>
          <a:bodyPr lIns="365760" rIns="365760" anchor="ctr" anchorCtr="1"/>
          <a:lstStyle>
            <a:lvl1pPr algn="ctr">
              <a:defRPr sz="1800" b="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Insert an image or chart </a:t>
            </a:r>
            <a:br>
              <a:rPr lang="en-US"/>
            </a:br>
            <a:r>
              <a:rPr lang="en-US"/>
              <a:t>within this placeholder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823460" y="600076"/>
            <a:ext cx="3822192" cy="360045"/>
          </a:xfrm>
        </p:spPr>
        <p:txBody>
          <a:bodyPr rIns="182880"/>
          <a:lstStyle>
            <a:lvl1pPr>
              <a:defRPr cap="none" baseline="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823460" y="1097280"/>
            <a:ext cx="3822192" cy="3463290"/>
          </a:xfrm>
        </p:spPr>
        <p:txBody>
          <a:bodyPr rIns="182880"/>
          <a:lstStyle>
            <a:lvl1pPr>
              <a:spcBef>
                <a:spcPts val="2250"/>
              </a:spcBef>
              <a:defRPr sz="1600" cap="all" baseline="0">
                <a:solidFill>
                  <a:schemeClr val="accent5"/>
                </a:solidFill>
              </a:defRPr>
            </a:lvl1pPr>
            <a:lvl2pPr>
              <a:defRPr sz="1400"/>
            </a:lvl2pPr>
            <a:lvl3pPr>
              <a:defRPr sz="1100"/>
            </a:lvl3pPr>
            <a:lvl4pPr>
              <a:defRPr sz="1000"/>
            </a:lvl4pPr>
            <a:lvl5pPr>
              <a:defRPr sz="10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First level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CA4907C1-05C0-432F-88DA-D1192ED2D3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23461" y="338466"/>
            <a:ext cx="3822192" cy="477054"/>
          </a:xfrm>
        </p:spPr>
        <p:txBody>
          <a:bodyPr wrap="square">
            <a:spAutoFit/>
          </a:bodyPr>
          <a:lstStyle>
            <a:lvl1pPr>
              <a:defRPr sz="1400" b="0" cap="all" spc="150" baseline="0">
                <a:solidFill>
                  <a:schemeClr val="tx2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613727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2921" y="600076"/>
            <a:ext cx="8138159" cy="360045"/>
          </a:xfrm>
        </p:spPr>
        <p:txBody>
          <a:bodyPr/>
          <a:lstStyle>
            <a:lvl1pPr>
              <a:defRPr sz="200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9F1B05F3-90A1-4152-BCA8-1DCF7545457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2922" y="338465"/>
            <a:ext cx="5241925" cy="261610"/>
          </a:xfrm>
        </p:spPr>
        <p:txBody>
          <a:bodyPr>
            <a:spAutoFit/>
          </a:bodyPr>
          <a:lstStyle>
            <a:lvl1pPr>
              <a:defRPr sz="1400" b="0" cap="all" spc="150" baseline="0">
                <a:solidFill>
                  <a:schemeClr val="tx2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176204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506277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with Solid Background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1371600" y="1508760"/>
            <a:ext cx="6858000" cy="2674620"/>
          </a:xfrm>
        </p:spPr>
        <p:txBody>
          <a:bodyPr/>
          <a:lstStyle>
            <a:lvl1pPr algn="l">
              <a:lnSpc>
                <a:spcPct val="90000"/>
              </a:lnSpc>
              <a:defRPr sz="2800" b="0">
                <a:solidFill>
                  <a:schemeClr val="bg1"/>
                </a:solidFill>
                <a:latin typeface="+mn-lt"/>
              </a:defRPr>
            </a:lvl1pPr>
            <a:lvl2pPr marL="1028675" indent="-171446" algn="l">
              <a:spcBef>
                <a:spcPts val="1350"/>
              </a:spcBef>
              <a:buFont typeface="Arial" panose="020B0604020202020204" pitchFamily="34" charset="0"/>
              <a:buChar char="–"/>
              <a:defRPr sz="1600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/>
              <a:t>Click to edit quote text</a:t>
            </a:r>
          </a:p>
          <a:p>
            <a:pPr lvl="1"/>
            <a:r>
              <a:rPr lang="en-US"/>
              <a:t>Second level for attribution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1BA30ED-FFDE-224E-96FC-B2FCD040803B}"/>
              </a:ext>
            </a:extLst>
          </p:cNvPr>
          <p:cNvSpPr txBox="1">
            <a:spLocks/>
          </p:cNvSpPr>
          <p:nvPr userDrawn="1"/>
        </p:nvSpPr>
        <p:spPr bwMode="gray">
          <a:xfrm>
            <a:off x="502921" y="4675983"/>
            <a:ext cx="8448979" cy="365125"/>
          </a:xfrm>
          <a:prstGeom prst="rect">
            <a:avLst/>
          </a:prstGeom>
        </p:spPr>
        <p:txBody>
          <a:bodyPr vert="horz" lIns="0" r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1198533" algn="ctr"/>
                <a:tab pos="8229395" algn="r"/>
              </a:tabLst>
            </a:pPr>
            <a:r>
              <a:rPr lang="en-US" sz="1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Proprietary and confidential — do not distribute 	Enter title via "insert&gt;header and footer&gt;footer" | </a:t>
            </a:r>
            <a:fld id="{08B54061-1B86-B041-9362-CC02A6117E06}" type="datetime4">
              <a:rPr lang="en-US" sz="100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>
                <a:tabLst>
                  <a:tab pos="1198533" algn="ctr"/>
                  <a:tab pos="8229395" algn="r"/>
                </a:tabLst>
              </a:pPr>
              <a:t>September 9, 2026</a:t>
            </a:fld>
            <a:r>
              <a:rPr lang="en-US" sz="1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‹#› </a:t>
            </a:r>
          </a:p>
        </p:txBody>
      </p:sp>
    </p:spTree>
    <p:extLst>
      <p:ext uri="{BB962C8B-B14F-4D97-AF65-F5344CB8AC3E}">
        <p14:creationId xmlns:p14="http://schemas.microsoft.com/office/powerpoint/2010/main" val="378373820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_symbol_wordm_below_w_rgb-01.png">
            <a:extLst>
              <a:ext uri="{FF2B5EF4-FFF2-40B4-BE49-F238E27FC236}">
                <a16:creationId xmlns:a16="http://schemas.microsoft.com/office/drawing/2014/main" id="{1B77479C-2257-C645-A513-C3B568F381A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17441" y="1206347"/>
            <a:ext cx="2509119" cy="2730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50552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losing Slide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4D2D3D06-29DB-6C40-AF16-48BD0327BFF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80643" y="939843"/>
            <a:ext cx="3782715" cy="3263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3813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2920" y="271463"/>
            <a:ext cx="8138160" cy="685800"/>
          </a:xfrm>
        </p:spPr>
        <p:txBody>
          <a:bodyPr/>
          <a:lstStyle>
            <a:lvl1pPr>
              <a:defRPr cap="none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02920" y="1312862"/>
            <a:ext cx="8138160" cy="3349863"/>
          </a:xfrm>
        </p:spPr>
        <p:txBody>
          <a:bodyPr/>
          <a:lstStyle>
            <a:lvl2pPr>
              <a:defRPr sz="1601"/>
            </a:lvl2pPr>
            <a:lvl3pPr>
              <a:defRPr sz="1399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First level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2"/>
          </p:nvPr>
        </p:nvSpPr>
        <p:spPr>
          <a:xfrm>
            <a:off x="7574173" y="4767264"/>
            <a:ext cx="1188720" cy="273844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1001">
                <a:solidFill>
                  <a:schemeClr val="tx1"/>
                </a:solidFill>
                <a:latin typeface="Calibri" panose="020F0702030404030204" pitchFamily="34" charset="0"/>
                <a:cs typeface="Calibri" panose="020F0702030404030204" pitchFamily="34" charset="0"/>
              </a:defRPr>
            </a:lvl1pPr>
          </a:lstStyle>
          <a:p>
            <a:fld id="{ACB6B034-2F67-554B-A124-FF999B9B0144}" type="datetime4">
              <a:rPr lang="en-US" smtClean="0">
                <a:solidFill>
                  <a:srgbClr val="000000"/>
                </a:solidFill>
              </a:rPr>
              <a:t>September 9, 2026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14471" y="4767264"/>
            <a:ext cx="4480560" cy="273844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1001">
                <a:solidFill>
                  <a:schemeClr val="tx1"/>
                </a:solidFill>
                <a:latin typeface="Calibri" panose="020F0702030404030204" pitchFamily="34" charset="0"/>
                <a:cs typeface="Calibri" panose="020F0702030404030204" pitchFamily="34" charset="0"/>
              </a:defRPr>
            </a:lvl1pPr>
          </a:lstStyle>
          <a:p>
            <a:r>
              <a:rPr lang="en-US">
                <a:solidFill>
                  <a:srgbClr val="000000"/>
                </a:solidFill>
              </a:rPr>
              <a:t>Enter title via "insert&gt;header and footer&gt;footer" |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06290" y="4828509"/>
            <a:ext cx="292608" cy="212598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ctr">
              <a:defRPr sz="1001" b="1">
                <a:solidFill>
                  <a:schemeClr val="tx1"/>
                </a:solidFill>
                <a:latin typeface="Calibri" panose="020F0702030404030204" pitchFamily="34" charset="0"/>
                <a:cs typeface="Calibri" panose="020F0702030404030204" pitchFamily="34" charset="0"/>
              </a:defRPr>
            </a:lvl1pPr>
          </a:lstStyle>
          <a:p>
            <a:fld id="{A2885E78-1F86-4A3D-9EE1-B0103B1CEF15}" type="slidenum">
              <a:rPr lang="en-US" smtClean="0">
                <a:solidFill>
                  <a:srgbClr val="000000"/>
                </a:solidFill>
              </a:r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532783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-OfficePL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748888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Breadcrumb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21208"/>
            <a:ext cx="7772400" cy="445770"/>
          </a:xfrm>
        </p:spPr>
        <p:txBody>
          <a:bodyPr vert="horz" lIns="0" tIns="45720" rIns="0" bIns="0" rtlCol="0" anchor="b" anchorCtr="0">
            <a:noAutofit/>
          </a:bodyPr>
          <a:lstStyle>
            <a:lvl1pPr>
              <a:defRPr lang="en-US" sz="2700" b="0" spc="-56" dirty="0">
                <a:latin typeface="+mj-lt"/>
              </a:defRPr>
            </a:lvl1pPr>
          </a:lstStyle>
          <a:p>
            <a:pPr lvl="0" defTabSz="514337">
              <a:lnSpc>
                <a:spcPct val="85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FD545910-EC58-4E59-AC9B-9F096DAB35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6228" y="349758"/>
            <a:ext cx="2516886" cy="152400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675" b="1" kern="0" cap="all" spc="188" baseline="0" dirty="0">
                <a:solidFill>
                  <a:schemeClr val="accent5">
                    <a:lumMod val="60000"/>
                    <a:lumOff val="40000"/>
                  </a:schemeClr>
                </a:solidFill>
                <a:ea typeface="Nexa Black" charset="0"/>
                <a:cs typeface="Nexa Black" charset="0"/>
              </a:defRPr>
            </a:lvl1pPr>
          </a:lstStyle>
          <a:p>
            <a:pPr marL="171446" lvl="0" indent="-171446"/>
            <a:r>
              <a:rPr lang="en-US"/>
              <a:t>BREADCRUMBS</a:t>
            </a:r>
          </a:p>
        </p:txBody>
      </p:sp>
    </p:spTree>
    <p:extLst>
      <p:ext uri="{BB962C8B-B14F-4D97-AF65-F5344CB8AC3E}">
        <p14:creationId xmlns:p14="http://schemas.microsoft.com/office/powerpoint/2010/main" val="417143006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Chart +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DB57EE1-11D5-470C-B633-08E9CE6ABD2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2923" y="266701"/>
            <a:ext cx="5241925" cy="26161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050" b="0" cap="all" spc="113" baseline="0">
                <a:solidFill>
                  <a:schemeClr val="accent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 REGULAR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69C8B4ED-99D4-4FA7-951B-B230EC2B1EE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7711" y="1097957"/>
            <a:ext cx="8138160" cy="27432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350" b="1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CHART TITLE, CALIBRI, 18PT, BOLD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9849D2D5-1C25-41F7-91C5-A575937D23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7710" y="1369506"/>
            <a:ext cx="8138160" cy="274320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Second level for chart subtitle</a:t>
            </a:r>
          </a:p>
        </p:txBody>
      </p:sp>
      <p:sp>
        <p:nvSpPr>
          <p:cNvPr id="17" name="Chart Placeholder 14">
            <a:extLst>
              <a:ext uri="{FF2B5EF4-FFF2-40B4-BE49-F238E27FC236}">
                <a16:creationId xmlns:a16="http://schemas.microsoft.com/office/drawing/2014/main" id="{5F384281-9885-4DF1-AB32-7D6D158EC4B8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02920" y="1714500"/>
            <a:ext cx="8145780" cy="2743200"/>
          </a:xfrm>
        </p:spPr>
        <p:txBody>
          <a:bodyPr anchor="ctr"/>
          <a:lstStyle>
            <a:lvl1pPr algn="ctr">
              <a:defRPr>
                <a:latin typeface="+mn-lt"/>
              </a:defRPr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0806C5A9-06E4-4EA0-A5AC-FD02E44C152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4648058"/>
            <a:ext cx="8138160" cy="139654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>
              <a:lnSpc>
                <a:spcPct val="90000"/>
              </a:lnSpc>
              <a:spcBef>
                <a:spcPts val="150"/>
              </a:spcBef>
              <a:defRPr sz="675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Add footnote, source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82C435-71F6-4068-8A4B-8C697C1529D2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CDF85480-B840-4A98-805E-D4CB9A9E239D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BC25F0-DFF8-436D-8252-A061A91C145E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2353F-0202-40BD-B19D-D4C9B9A0C62B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B3C7C1-99C7-46EF-8247-FA3C97B61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89503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Subhead: No Content - Breadcrumb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7CA39D1-D445-044A-AFA2-D1843D893C5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94884" y="371994"/>
            <a:ext cx="426921" cy="104836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525" b="1" cap="all" spc="75" baseline="0">
                <a:solidFill>
                  <a:schemeClr val="tx1"/>
                </a:solidFill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E136CB96-E742-444A-B55F-00D82103A3F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89685" y="371994"/>
            <a:ext cx="2616032" cy="104836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525" b="1" cap="all" spc="113" baseline="0">
                <a:solidFill>
                  <a:schemeClr val="tx1"/>
                </a:solidFill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DELOITTE DIGITAL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3FF76A-4C04-7C40-B276-46DB909165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85800" y="578032"/>
            <a:ext cx="7743825" cy="51843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noProof="0"/>
              <a:t>Your headline goes here when you’re ready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7D646A0-5F3F-BC41-8E22-2823D1AC8C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5800" y="1329929"/>
            <a:ext cx="5514975" cy="438150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5"/>
            </a:lvl1pPr>
          </a:lstStyle>
          <a:p>
            <a:pPr lvl="0"/>
            <a:r>
              <a:rPr lang="en-US"/>
              <a:t>2 lines running intro text. Morbi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risus</a:t>
            </a:r>
            <a:r>
              <a:rPr lang="en-US"/>
              <a:t>, porta ac </a:t>
            </a:r>
            <a:r>
              <a:rPr lang="en-US" err="1"/>
              <a:t>consectetur</a:t>
            </a:r>
            <a:r>
              <a:rPr lang="en-US"/>
              <a:t> ac, vestibulum at eros. Donec sed </a:t>
            </a:r>
            <a:r>
              <a:rPr lang="en-US" err="1"/>
              <a:t>odio</a:t>
            </a:r>
            <a:r>
              <a:rPr lang="en-US"/>
              <a:t> dui. </a:t>
            </a:r>
            <a:r>
              <a:rPr lang="en-US" err="1"/>
              <a:t>Praesent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cursus magna, vel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nisl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et. Sed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at </a:t>
            </a:r>
            <a:r>
              <a:rPr lang="en-US" err="1"/>
              <a:t>lobortis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47214011"/>
      </p:ext>
    </p:extLst>
  </p:cSld>
  <p:clrMapOvr>
    <a:masterClrMapping/>
  </p:clrMapOvr>
  <p:transition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Layout">
    <p:bg bwMode="gray"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502920" y="2330054"/>
            <a:ext cx="8138160" cy="1234440"/>
          </a:xfrm>
        </p:spPr>
        <p:txBody>
          <a:bodyPr/>
          <a:lstStyle>
            <a:lvl1pPr algn="l">
              <a:lnSpc>
                <a:spcPct val="90000"/>
              </a:lnSpc>
              <a:defRPr sz="4400" b="0" cap="none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02919" y="1749981"/>
            <a:ext cx="8138159" cy="480060"/>
          </a:xfrm>
          <a:prstGeom prst="rect">
            <a:avLst/>
          </a:prstGeom>
        </p:spPr>
        <p:txBody>
          <a:bodyPr rIns="0" bIns="0" anchor="b" anchorCtr="0"/>
          <a:lstStyle>
            <a:lvl1pPr marL="0" indent="0" algn="l">
              <a:lnSpc>
                <a:spcPct val="100000"/>
              </a:lnSpc>
              <a:buNone/>
              <a:defRPr sz="1800" b="1" cap="all" spc="150" baseline="0">
                <a:solidFill>
                  <a:schemeClr val="accent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502920" y="3701654"/>
            <a:ext cx="4846320" cy="480060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Day |  Month |  YY</a:t>
            </a:r>
          </a:p>
        </p:txBody>
      </p:sp>
      <p:pic>
        <p:nvPicPr>
          <p:cNvPr id="7" name="Picture 6" descr="A_symbol_wordm_below_w_rgb-01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7472" y="137160"/>
            <a:ext cx="1188720" cy="1302056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9B7AF3-6EAA-4E53-822C-0EC8E7CEFD82}"/>
              </a:ext>
            </a:extLst>
          </p:cNvPr>
          <p:cNvSpPr txBox="1">
            <a:spLocks/>
          </p:cNvSpPr>
          <p:nvPr userDrawn="1"/>
        </p:nvSpPr>
        <p:spPr bwMode="gray">
          <a:xfrm>
            <a:off x="502920" y="4820603"/>
            <a:ext cx="3057981" cy="219076"/>
          </a:xfrm>
          <a:prstGeom prst="rect">
            <a:avLst/>
          </a:prstGeom>
        </p:spPr>
        <p:txBody>
          <a:bodyPr vert="horz" lIns="0" r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Proprietary and confidential — do not distribute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C4B86A29-886E-42EB-8E62-80044AB822E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66159" y="204186"/>
            <a:ext cx="3092450" cy="322263"/>
          </a:xfrm>
          <a:prstGeom prst="rect">
            <a:avLst/>
          </a:prstGeom>
        </p:spPr>
        <p:txBody>
          <a:bodyPr anchor="ctr"/>
          <a:lstStyle>
            <a:lvl1pPr algn="r">
              <a:defRPr sz="1400" b="1" cap="all" spc="15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OPTIONAL DESCRIPTOR</a:t>
            </a:r>
          </a:p>
        </p:txBody>
      </p:sp>
    </p:spTree>
    <p:extLst>
      <p:ext uri="{BB962C8B-B14F-4D97-AF65-F5344CB8AC3E}">
        <p14:creationId xmlns:p14="http://schemas.microsoft.com/office/powerpoint/2010/main" val="88373037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Layout">
    <p:bg bwMode="gray"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502920" y="1380173"/>
            <a:ext cx="8138160" cy="1234440"/>
          </a:xfrm>
        </p:spPr>
        <p:txBody>
          <a:bodyPr/>
          <a:lstStyle>
            <a:lvl1pPr algn="l">
              <a:lnSpc>
                <a:spcPct val="90000"/>
              </a:lnSpc>
              <a:defRPr sz="4400" b="0" cap="none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02919" y="800100"/>
            <a:ext cx="8138159" cy="480060"/>
          </a:xfrm>
          <a:prstGeom prst="rect">
            <a:avLst/>
          </a:prstGeom>
        </p:spPr>
        <p:txBody>
          <a:bodyPr rIns="0" bIns="0" anchor="b" anchorCtr="0"/>
          <a:lstStyle>
            <a:lvl1pPr marL="0" indent="0" algn="l">
              <a:lnSpc>
                <a:spcPct val="100000"/>
              </a:lnSpc>
              <a:buNone/>
              <a:defRPr sz="1800" b="1" cap="all" spc="150" baseline="0">
                <a:solidFill>
                  <a:schemeClr val="accent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502920" y="2751773"/>
            <a:ext cx="4846320" cy="480060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Day |  Month |  YY</a:t>
            </a:r>
          </a:p>
        </p:txBody>
      </p:sp>
      <p:pic>
        <p:nvPicPr>
          <p:cNvPr id="7" name="Picture 6" descr="A_symbol_wordm_below_w_rgb-01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8528" y="3726878"/>
            <a:ext cx="1188720" cy="1302056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9B7AF3-6EAA-4E53-822C-0EC8E7CEFD82}"/>
              </a:ext>
            </a:extLst>
          </p:cNvPr>
          <p:cNvSpPr txBox="1">
            <a:spLocks/>
          </p:cNvSpPr>
          <p:nvPr userDrawn="1"/>
        </p:nvSpPr>
        <p:spPr bwMode="gray">
          <a:xfrm>
            <a:off x="502920" y="4820603"/>
            <a:ext cx="3057981" cy="219076"/>
          </a:xfrm>
          <a:prstGeom prst="rect">
            <a:avLst/>
          </a:prstGeom>
        </p:spPr>
        <p:txBody>
          <a:bodyPr vert="horz" lIns="0" r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Proprietary and confidential — do not distribute</a:t>
            </a:r>
          </a:p>
        </p:txBody>
      </p:sp>
    </p:spTree>
    <p:extLst>
      <p:ext uri="{BB962C8B-B14F-4D97-AF65-F5344CB8AC3E}">
        <p14:creationId xmlns:p14="http://schemas.microsoft.com/office/powerpoint/2010/main" val="51071005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Alternate Layou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502919" y="2330054"/>
            <a:ext cx="8138161" cy="1234440"/>
          </a:xfrm>
        </p:spPr>
        <p:txBody>
          <a:bodyPr/>
          <a:lstStyle>
            <a:lvl1pPr algn="l">
              <a:lnSpc>
                <a:spcPct val="90000"/>
              </a:lnSpc>
              <a:defRPr sz="4400" b="0" cap="none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02919" y="1749981"/>
            <a:ext cx="8138161" cy="480060"/>
          </a:xfrm>
          <a:prstGeom prst="rect">
            <a:avLst/>
          </a:prstGeom>
        </p:spPr>
        <p:txBody>
          <a:bodyPr rIns="0" bIns="0" anchor="b" anchorCtr="0"/>
          <a:lstStyle>
            <a:lvl1pPr marL="0" indent="0" algn="l">
              <a:lnSpc>
                <a:spcPct val="100000"/>
              </a:lnSpc>
              <a:buNone/>
              <a:defRPr sz="1800" b="1" cap="all" spc="150" baseline="0">
                <a:solidFill>
                  <a:schemeClr val="accent3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502920" y="3701654"/>
            <a:ext cx="4846320" cy="480060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Day |  Month |  YY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650" y="65675"/>
            <a:ext cx="1335866" cy="1452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11394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Alternate Layou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502919" y="1380173"/>
            <a:ext cx="8138161" cy="1234440"/>
          </a:xfrm>
        </p:spPr>
        <p:txBody>
          <a:bodyPr/>
          <a:lstStyle>
            <a:lvl1pPr algn="l">
              <a:lnSpc>
                <a:spcPct val="90000"/>
              </a:lnSpc>
              <a:defRPr sz="4400" b="0" cap="none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02919" y="800100"/>
            <a:ext cx="8138161" cy="480060"/>
          </a:xfrm>
          <a:prstGeom prst="rect">
            <a:avLst/>
          </a:prstGeom>
        </p:spPr>
        <p:txBody>
          <a:bodyPr rIns="0" bIns="0" anchor="b" anchorCtr="0"/>
          <a:lstStyle>
            <a:lvl1pPr marL="0" indent="0" algn="l">
              <a:lnSpc>
                <a:spcPct val="100000"/>
              </a:lnSpc>
              <a:buNone/>
              <a:defRPr sz="1800" b="1" cap="all" spc="150" baseline="0">
                <a:solidFill>
                  <a:schemeClr val="accent3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502920" y="2751773"/>
            <a:ext cx="4846320" cy="480060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Day |  Month |  YY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393F5A5-751C-47D5-AD67-F5C13DA7DEE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6145" y="3651299"/>
            <a:ext cx="1335866" cy="1452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72781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6D6E74-3911-4251-9210-E9AF0CB465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2921" y="266700"/>
            <a:ext cx="5241925" cy="26161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400" b="0" cap="all" spc="150" baseline="0">
                <a:solidFill>
                  <a:schemeClr val="accent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 REGULAR</a:t>
            </a:r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DCEC16E3-E9C3-470B-B2C9-CBD23EA9860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2920" y="1487804"/>
            <a:ext cx="8145780" cy="3174922"/>
          </a:xfrm>
        </p:spPr>
        <p:txBody>
          <a:bodyPr/>
          <a:lstStyle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D5EEAD8-45FF-4137-A993-0E3B0A63B7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238" y="1097279"/>
            <a:ext cx="8145462" cy="3905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00" b="1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 CALIBRI 18PT BOLD, ABBOTT PRIMARY BLUE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90257E-A5F7-47F2-BCB5-BF684CDCDDF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1D273335-11FE-4AAE-80DD-FC0536E8E0C8}" type="datetime1">
              <a:rPr lang="en-US" sz="1000" smtClean="0"/>
              <a:t>9/9/2026</a:t>
            </a:fld>
            <a:endParaRPr lang="en-IN" sz="10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684F02-3528-4796-B761-E75F59E065C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BTS Power Apps  |  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025CAD-0E7F-412A-A2E4-ACA5E42AF8D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B071053-E294-48B6-82D4-81528F06E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813997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Lon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778F9584-625D-462B-8192-C99B9E91AB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2921" y="266700"/>
            <a:ext cx="5241925" cy="26161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400" b="0" cap="all" spc="150" baseline="0">
                <a:solidFill>
                  <a:schemeClr val="accent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 REGULAR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0F6E8C1B-F140-45B9-ADF1-1C3C6570114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2918" y="1097279"/>
            <a:ext cx="8145781" cy="3566159"/>
          </a:xfrm>
        </p:spPr>
        <p:txBody>
          <a:bodyPr/>
          <a:lstStyle>
            <a:lvl1pPr>
              <a:spcBef>
                <a:spcPts val="1200"/>
              </a:spcBef>
              <a:defRPr/>
            </a:lvl1pPr>
            <a:lvl2pPr>
              <a:spcBef>
                <a:spcPts val="12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5AE4F8-4A35-4815-BCAE-2DEF5BFEC47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B2F4861-8A9C-4338-8D6B-AD5024D9D8F9}" type="datetime1">
              <a:rPr lang="en-US" sz="1000" smtClean="0"/>
              <a:t>9/9/2026</a:t>
            </a:fld>
            <a:endParaRPr lang="en-IN" sz="100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2A9712-7611-460F-BBA1-965DC35A5A0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BTS Power Apps  | 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16DBEC-A477-4721-9AEB-6DA5B1D8A35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92466CF-9DE4-42FD-B4BE-466148127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91826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_CALIBRI SUBHEAD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2367392-CE3F-4A36-802E-43D377135A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3238" y="1097279"/>
            <a:ext cx="3817302" cy="3905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00" b="1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SHORT TITLE, CALIBRI, 18PT, BOLD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784001D6-32AA-4130-AA76-37D05FF0EF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23460" y="1097279"/>
            <a:ext cx="3817302" cy="3905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00" b="1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SHORT TITLE, CALIBRI, 18PT, BOLD</a:t>
            </a:r>
          </a:p>
        </p:txBody>
      </p:sp>
      <p:sp>
        <p:nvSpPr>
          <p:cNvPr id="18" name="Content Placeholder 14">
            <a:extLst>
              <a:ext uri="{FF2B5EF4-FFF2-40B4-BE49-F238E27FC236}">
                <a16:creationId xmlns:a16="http://schemas.microsoft.com/office/drawing/2014/main" id="{1F77A952-6CFD-4B10-A39C-FBF9CCB45B5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02919" y="1487804"/>
            <a:ext cx="3817301" cy="3175634"/>
          </a:xfrm>
        </p:spPr>
        <p:txBody>
          <a:bodyPr>
            <a:noAutofit/>
          </a:bodyPr>
          <a:lstStyle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9" name="Content Placeholder 14">
            <a:extLst>
              <a:ext uri="{FF2B5EF4-FFF2-40B4-BE49-F238E27FC236}">
                <a16:creationId xmlns:a16="http://schemas.microsoft.com/office/drawing/2014/main" id="{0756EC84-5A13-4571-BFB7-247BD6E93F56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823460" y="1487804"/>
            <a:ext cx="3817301" cy="3175634"/>
          </a:xfrm>
        </p:spPr>
        <p:txBody>
          <a:bodyPr>
            <a:noAutofit/>
          </a:bodyPr>
          <a:lstStyle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1B479ED3-E6FF-4DA0-B9B5-59809FFAEF4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2921" y="266700"/>
            <a:ext cx="5241925" cy="26161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400" b="0" cap="all" spc="150" baseline="0">
                <a:solidFill>
                  <a:schemeClr val="accent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 REGULAR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E310AD-6CAA-4788-94E2-A00CB4EDAD64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76329237-3529-4C6A-9453-E605D869B191}" type="datetime1">
              <a:rPr lang="en-US" sz="1000" smtClean="0"/>
              <a:t>9/9/2026</a:t>
            </a:fld>
            <a:endParaRPr lang="en-IN" sz="10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A85807-C4E2-4DC1-A4DC-B733652C5847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BTS Power Apps  |  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6E6C4-2B39-46A3-861C-1D8545DFDAF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88E1389-D875-4A3C-85CC-2FF6F879D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139066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+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9A84B86-6CE3-4715-A01A-FECF8E99EC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2921" y="266700"/>
            <a:ext cx="5241925" cy="26161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400" b="0" cap="all" spc="150" baseline="0">
                <a:solidFill>
                  <a:schemeClr val="accent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 REGULAR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F184EA7A-C14A-435C-84F4-DB8BC3A9A6E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2920" y="1097280"/>
            <a:ext cx="8129016" cy="82296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 b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5D0068BB-B539-4488-911A-96DC071FE8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3238" y="2057400"/>
            <a:ext cx="3817302" cy="3905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 b="1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SHORT TITLE, CALIBRI, 16PT, BOLD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FC1F4580-228D-4976-BFA8-C2248824F3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23460" y="2057400"/>
            <a:ext cx="3817302" cy="3905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 b="1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SHORT TITLE, CALIBRI, 16PT, BOLD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4073EB3D-18BB-4E2C-9D12-E03D0B6131B9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02919" y="2447925"/>
            <a:ext cx="3817301" cy="2215513"/>
          </a:xfrm>
        </p:spPr>
        <p:txBody>
          <a:bodyPr>
            <a:noAutofit/>
          </a:bodyPr>
          <a:lstStyle>
            <a:lvl1pPr>
              <a:defRPr sz="1400"/>
            </a:lvl1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1" name="Content Placeholder 6">
            <a:extLst>
              <a:ext uri="{FF2B5EF4-FFF2-40B4-BE49-F238E27FC236}">
                <a16:creationId xmlns:a16="http://schemas.microsoft.com/office/drawing/2014/main" id="{112F3581-3732-4A0B-8F51-60DBC2912C03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823460" y="2447925"/>
            <a:ext cx="3817301" cy="2215513"/>
          </a:xfrm>
        </p:spPr>
        <p:txBody>
          <a:bodyPr>
            <a:noAutofit/>
          </a:bodyPr>
          <a:lstStyle>
            <a:lvl1pPr>
              <a:defRPr sz="1400"/>
            </a:lvl1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D7130C-27A5-4624-9DE7-54CCA5B6E680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3542FB79-570D-4EE2-9285-AE3D462CA12B}" type="datetime1">
              <a:rPr lang="en-US" sz="1000" smtClean="0"/>
              <a:t>9/9/2026</a:t>
            </a:fld>
            <a:endParaRPr lang="en-IN" sz="10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8D77C1-A9B7-4C57-B330-C34B8588E4BD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BTS Power Apps  |  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0E347A-2097-4DC1-8FC4-1FBFBC563FCB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D079F95-85C8-47A7-9EDE-B17DE1BCA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8325460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(L) Half-content &amp;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4" hasCustomPrompt="1"/>
          </p:nvPr>
        </p:nvSpPr>
        <p:spPr>
          <a:xfrm>
            <a:off x="4818888" y="0"/>
            <a:ext cx="4325111" cy="51435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lIns="365760" rIns="365760" anchor="ctr" anchorCtr="1"/>
          <a:lstStyle>
            <a:lvl1pPr algn="ctr">
              <a:defRPr sz="1800" b="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Insert an image</a:t>
            </a:r>
            <a:br>
              <a:rPr lang="en-US"/>
            </a:br>
            <a:r>
              <a:rPr lang="en-US"/>
              <a:t>within this placeholder 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05D9C096-3ECB-4476-AF46-67B691208D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1" y="266700"/>
            <a:ext cx="3822191" cy="261610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400" b="0" cap="all" spc="150" baseline="0">
                <a:solidFill>
                  <a:schemeClr val="accent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E828A00F-D1B4-4C3E-969E-375A3487E70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3238" y="1097957"/>
            <a:ext cx="3817302" cy="3905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00" b="1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SUBTITLE, CALIBRI, 18PT, BOLD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98B40350-90AF-4369-8B21-A237E4585B4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3238" y="1619968"/>
            <a:ext cx="3817302" cy="32004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 b="1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SHORT TITLE, CALIBRI, 16PT, BOLD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74DA2C74-7837-4DF6-A9E0-010AABA411BF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502919" y="1957741"/>
            <a:ext cx="3817301" cy="108152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4384C29-B1D2-4169-8C59-6E4C6B7D22E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3238" y="3237576"/>
            <a:ext cx="3817302" cy="32004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 b="1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SHORT TITLE, CALIBRI, 16PT, BOLD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0312D5F6-81FC-4261-AED0-88E16C37278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502919" y="3575350"/>
            <a:ext cx="3817301" cy="1081522"/>
          </a:xfrm>
        </p:spPr>
        <p:txBody>
          <a:bodyPr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F65347-7CD3-4F10-8EF3-1278C80396F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7BF19286-63B6-41B0-8978-CC506D15F0C9}" type="datetime1">
              <a:rPr lang="en-US" sz="1000" smtClean="0"/>
              <a:t>9/9/2026</a:t>
            </a:fld>
            <a:endParaRPr lang="en-IN" sz="100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4E929D-79C8-4A03-8A31-BDC679EAB2C4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BTS Power Apps  | 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C59128-8C19-4115-801D-638E5DDDF8DB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A67DE3C-68DE-43DF-A233-910AFDC7F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569594"/>
            <a:ext cx="3817300" cy="3905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70992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(R) Half-content &amp;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4314969" cy="51435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lIns="365760" rIns="365760" anchor="ctr" anchorCtr="1"/>
          <a:lstStyle>
            <a:lvl1pPr algn="ctr">
              <a:defRPr sz="1800" b="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Insert an image</a:t>
            </a:r>
            <a:br>
              <a:rPr lang="en-US"/>
            </a:br>
            <a:r>
              <a:rPr lang="en-US"/>
              <a:t>within this placeholder 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06D962-A904-455A-9FF2-A3FC930F6781}"/>
              </a:ext>
            </a:extLst>
          </p:cNvPr>
          <p:cNvSpPr txBox="1">
            <a:spLocks/>
          </p:cNvSpPr>
          <p:nvPr userDrawn="1"/>
        </p:nvSpPr>
        <p:spPr bwMode="gray">
          <a:xfrm>
            <a:off x="502920" y="4820603"/>
            <a:ext cx="3057981" cy="219076"/>
          </a:xfrm>
          <a:prstGeom prst="rect">
            <a:avLst/>
          </a:prstGeom>
        </p:spPr>
        <p:txBody>
          <a:bodyPr vert="horz" lIns="0" rIns="0" anchor="b" anchorCtr="0"/>
          <a:lstStyle>
            <a:defPPr>
              <a:defRPr lang="en-US"/>
            </a:defPPr>
            <a:lvl1pPr indent="0" defTabSz="457200">
              <a:spcBef>
                <a:spcPct val="20000"/>
              </a:spcBef>
              <a:buFont typeface="Arial"/>
              <a:buNone/>
              <a:defRPr sz="1000">
                <a:solidFill>
                  <a:srgbClr val="000000"/>
                </a:solidFill>
                <a:cs typeface="Calibri" panose="020F0502020204030204" pitchFamily="34" charset="0"/>
              </a:defRPr>
            </a:lvl1pPr>
            <a:lvl2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2pPr>
            <a:lvl3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3pPr>
            <a:lvl4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4pPr>
            <a:lvl5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pPr lvl="0"/>
            <a:r>
              <a:rPr lang="en-US"/>
              <a:t>Proprietary and confidential — do not distribute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82FAC416-5A96-491E-91F4-37DD3C42AC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26509" y="266700"/>
            <a:ext cx="3822191" cy="261610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400" b="0" cap="all" spc="150" baseline="0">
                <a:solidFill>
                  <a:schemeClr val="accent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53FDA49B-BBFC-4479-BD4E-6B88C700E35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26826" y="1097957"/>
            <a:ext cx="3817302" cy="3905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00" b="1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SUBTITLE, CALIBRI, 18PT, BOLD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EC4C2575-A445-43B7-875C-641A76884F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26826" y="1619968"/>
            <a:ext cx="3817302" cy="32004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 b="1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SHORT TITLE, CALIBRI, 16PT, BOLD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E778DA63-FCCC-4EE0-AA5F-890A1063CF18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826507" y="1957741"/>
            <a:ext cx="3817301" cy="108152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BFD7EDCF-7335-4524-B52F-57203999193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26826" y="3237576"/>
            <a:ext cx="3817302" cy="32004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 b="1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SHORT TITLE, CALIBRI, 16PT, BOLD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08041EA5-1907-45C9-B84F-05A0E02AB318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826507" y="3575350"/>
            <a:ext cx="3817301" cy="1081522"/>
          </a:xfrm>
        </p:spPr>
        <p:txBody>
          <a:bodyPr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75C93F-ECF9-4556-AC7C-FA60927EA1A8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EDD130F8-EFB3-4DA3-B98C-63618D5D513F}" type="datetime1">
              <a:rPr lang="en-US" sz="1000" smtClean="0"/>
              <a:t>9/9/2026</a:t>
            </a:fld>
            <a:endParaRPr lang="en-IN" sz="100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069AD8-8E84-41FF-B477-E769B006F372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BTS Power Apps  | 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859DF1-EAA0-48AE-9642-5890114712D6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0AE3F9D-0018-4E23-82DB-DD559B56D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8888" y="569594"/>
            <a:ext cx="3822192" cy="3905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0472445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(L) Alternate Half-content &amp;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4" hasCustomPrompt="1"/>
          </p:nvPr>
        </p:nvSpPr>
        <p:spPr>
          <a:xfrm>
            <a:off x="4818888" y="0"/>
            <a:ext cx="4325111" cy="51435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lIns="365760" rIns="365760" anchor="ctr" anchorCtr="1"/>
          <a:lstStyle>
            <a:lvl1pPr algn="ctr">
              <a:defRPr sz="1800" b="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Insert an image</a:t>
            </a:r>
            <a:br>
              <a:rPr lang="en-US"/>
            </a:br>
            <a:r>
              <a:rPr lang="en-US"/>
              <a:t>within this placeholder 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05D9C096-3ECB-4476-AF46-67B691208D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1" y="266700"/>
            <a:ext cx="3822191" cy="261610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400" b="0" cap="all" spc="150" baseline="0">
                <a:solidFill>
                  <a:schemeClr val="accent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E828A00F-D1B4-4C3E-969E-375A3487E70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3238" y="1097957"/>
            <a:ext cx="3817302" cy="3905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00" b="1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SUBTITLE, CALIBRI, 18PT, BOLD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74DA2C74-7837-4DF6-A9E0-010AABA411BF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502919" y="1619968"/>
            <a:ext cx="3817301" cy="3045695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27F0BF-1759-4538-B8D8-0064CA73DDB0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2E6B9C57-4991-4021-A6AF-D5D08BC7A4F1}" type="datetime1">
              <a:rPr lang="en-US" sz="1000" smtClean="0"/>
              <a:t>9/9/2026</a:t>
            </a:fld>
            <a:endParaRPr lang="en-IN" sz="100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0FE4CA-4B98-48B6-B1EE-FD27EAF7A291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BTS Power Apps  | 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6BBD30-0719-4938-BD49-A680D58627F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A62E712-D0C0-4F27-A890-045067D4F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569594"/>
            <a:ext cx="3817300" cy="3905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668819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(R) Alternate Half-content &amp;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4314969" cy="51435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lIns="365760" rIns="365760" anchor="ctr" anchorCtr="1"/>
          <a:lstStyle>
            <a:lvl1pPr algn="ctr">
              <a:defRPr sz="1800" b="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Insert an image</a:t>
            </a:r>
            <a:br>
              <a:rPr lang="en-US"/>
            </a:br>
            <a:r>
              <a:rPr lang="en-US"/>
              <a:t>within this placeholder 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06D962-A904-455A-9FF2-A3FC930F6781}"/>
              </a:ext>
            </a:extLst>
          </p:cNvPr>
          <p:cNvSpPr txBox="1">
            <a:spLocks/>
          </p:cNvSpPr>
          <p:nvPr userDrawn="1"/>
        </p:nvSpPr>
        <p:spPr bwMode="gray">
          <a:xfrm>
            <a:off x="502920" y="4820603"/>
            <a:ext cx="3057981" cy="219076"/>
          </a:xfrm>
          <a:prstGeom prst="rect">
            <a:avLst/>
          </a:prstGeom>
        </p:spPr>
        <p:txBody>
          <a:bodyPr vert="horz" lIns="0" rIns="0" anchor="b" anchorCtr="0"/>
          <a:lstStyle>
            <a:defPPr>
              <a:defRPr lang="en-US"/>
            </a:defPPr>
            <a:lvl1pPr indent="0" defTabSz="457200">
              <a:spcBef>
                <a:spcPct val="20000"/>
              </a:spcBef>
              <a:buFont typeface="Arial"/>
              <a:buNone/>
              <a:defRPr sz="1000">
                <a:solidFill>
                  <a:srgbClr val="000000"/>
                </a:solidFill>
                <a:cs typeface="Calibri" panose="020F0502020204030204" pitchFamily="34" charset="0"/>
              </a:defRPr>
            </a:lvl1pPr>
            <a:lvl2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2pPr>
            <a:lvl3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3pPr>
            <a:lvl4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4pPr>
            <a:lvl5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pPr lvl="0"/>
            <a:r>
              <a:rPr lang="en-US"/>
              <a:t>Proprietary and confidential — do not distribute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82FAC416-5A96-491E-91F4-37DD3C42AC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26509" y="266700"/>
            <a:ext cx="3822191" cy="261610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400" b="0" cap="all" spc="150" baseline="0">
                <a:solidFill>
                  <a:schemeClr val="accent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53FDA49B-BBFC-4479-BD4E-6B88C700E35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26826" y="1097957"/>
            <a:ext cx="3817302" cy="3905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00" b="1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SUBTITLE, CALIBRI, 18PT, BOLD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E778DA63-FCCC-4EE0-AA5F-890A1063CF18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826507" y="1619968"/>
            <a:ext cx="3817301" cy="3045695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013800-11CE-477C-AE55-6CEC71C7CC12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AAC5CF04-B154-41F6-99C8-EDA98BE7C2BE}" type="datetime1">
              <a:rPr lang="en-US" sz="1000" smtClean="0"/>
              <a:t>9/9/2026</a:t>
            </a:fld>
            <a:endParaRPr lang="en-IN" sz="100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EF273E-1E19-49B4-B078-2C851563484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BTS Power Apps  | 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194424-AE09-468A-95DC-0699180FC4E1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AB94D7-D90B-4C16-A5BF-F2C3042C6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8888" y="569594"/>
            <a:ext cx="3822191" cy="3905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10347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Chart +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DB57EE1-11D5-470C-B633-08E9CE6ABD2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2921" y="266700"/>
            <a:ext cx="5241925" cy="26161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400" b="0" cap="all" spc="150" baseline="0">
                <a:solidFill>
                  <a:schemeClr val="accent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 REGULAR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69C8B4ED-99D4-4FA7-951B-B230EC2B1EE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7711" y="1097957"/>
            <a:ext cx="8138160" cy="27432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00" b="1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CHART TITLE, CALIBRI, 18PT, BOLD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9849D2D5-1C25-41F7-91C5-A575937D23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7710" y="1369506"/>
            <a:ext cx="8138160" cy="274320"/>
          </a:xfrm>
        </p:spPr>
        <p:txBody>
          <a:bodyPr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Second level for chart subtitle</a:t>
            </a:r>
          </a:p>
        </p:txBody>
      </p:sp>
      <p:sp>
        <p:nvSpPr>
          <p:cNvPr id="17" name="Chart Placeholder 14">
            <a:extLst>
              <a:ext uri="{FF2B5EF4-FFF2-40B4-BE49-F238E27FC236}">
                <a16:creationId xmlns:a16="http://schemas.microsoft.com/office/drawing/2014/main" id="{5F384281-9885-4DF1-AB32-7D6D158EC4B8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02920" y="1714500"/>
            <a:ext cx="8145780" cy="2743200"/>
          </a:xfrm>
        </p:spPr>
        <p:txBody>
          <a:bodyPr anchor="ctr"/>
          <a:lstStyle>
            <a:lvl1pPr algn="ctr">
              <a:defRPr>
                <a:latin typeface="+mn-lt"/>
              </a:defRPr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0806C5A9-06E4-4EA0-A5AC-FD02E44C152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4616896"/>
            <a:ext cx="8138160" cy="170816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>
              <a:lnSpc>
                <a:spcPct val="90000"/>
              </a:lnSpc>
              <a:spcBef>
                <a:spcPts val="200"/>
              </a:spcBef>
              <a:defRPr sz="9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Add footnote, source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82C435-71F6-4068-8A4B-8C697C1529D2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87E99148-1486-4B8F-8121-977D5190D3C9}" type="datetime1">
              <a:rPr lang="en-US" sz="1000" smtClean="0"/>
              <a:t>9/9/2026</a:t>
            </a:fld>
            <a:endParaRPr lang="en-IN" sz="100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BC25F0-DFF8-436D-8252-A061A91C145E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BTS Power Apps  | 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2353F-0202-40BD-B19D-D4C9B9A0C62B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B3C7C1-99C7-46EF-8247-FA3C97B61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7017624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Table +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E4099E12-93CF-4238-950D-B699BBED1B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2921" y="266700"/>
            <a:ext cx="5241925" cy="26161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400" b="0" cap="all" spc="150" baseline="0">
                <a:solidFill>
                  <a:schemeClr val="accent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 REGULAR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2FAF8700-F002-4A2F-B04A-6FE90BE6FD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7711" y="1097957"/>
            <a:ext cx="8138160" cy="27432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00" b="1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table TITLE, CALIBRI, 18PT, BOLD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BF897FA-2891-4141-ADA3-1B87FB5BC58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7710" y="1369506"/>
            <a:ext cx="8138160" cy="274320"/>
          </a:xfrm>
        </p:spPr>
        <p:txBody>
          <a:bodyPr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Second level for table subtitle</a:t>
            </a:r>
          </a:p>
        </p:txBody>
      </p:sp>
      <p:sp>
        <p:nvSpPr>
          <p:cNvPr id="18" name="Table Placeholder 4">
            <a:extLst>
              <a:ext uri="{FF2B5EF4-FFF2-40B4-BE49-F238E27FC236}">
                <a16:creationId xmlns:a16="http://schemas.microsoft.com/office/drawing/2014/main" id="{2EA10139-92DE-45F7-A9D8-ABD6CC72C084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02920" y="1714500"/>
            <a:ext cx="8150990" cy="2743200"/>
          </a:xfrm>
        </p:spPr>
        <p:txBody>
          <a:bodyPr anchor="ctr"/>
          <a:lstStyle>
            <a:lvl1pPr algn="ctr">
              <a:defRPr>
                <a:latin typeface="+mn-lt"/>
              </a:defRPr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347BBFB3-3E66-4180-AF12-56CA7F75531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4616896"/>
            <a:ext cx="8138160" cy="170816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>
              <a:lnSpc>
                <a:spcPct val="90000"/>
              </a:lnSpc>
              <a:spcBef>
                <a:spcPts val="200"/>
              </a:spcBef>
              <a:defRPr sz="9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Add footnote, source here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2C66BA-D565-4011-B0A4-9903204CC066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CFC37191-A694-406A-AF51-F09C616FA3F6}" type="datetime1">
              <a:rPr lang="en-US" sz="1000" smtClean="0"/>
              <a:t>9/9/2026</a:t>
            </a:fld>
            <a:endParaRPr lang="en-IN" sz="10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68657A-366F-45A8-9F2D-9FBE15E12470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BTS Power Apps  |  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94FFD5-60B8-4C56-97EB-599229FD90B3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D78DA13-52C4-4A1D-BD59-DC0D557C1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8636747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(L) Half-content &amp; full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EBBC6B44-1A66-4C17-802D-CD6F3BEB84D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9144000" cy="51435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lIns="365760" rIns="365760" anchor="ctr" anchorCtr="1"/>
          <a:lstStyle>
            <a:lvl1pPr marL="3776663" indent="0" algn="l">
              <a:tabLst/>
              <a:defRPr sz="1800" b="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Insert an image</a:t>
            </a:r>
            <a:br>
              <a:rPr lang="en-US"/>
            </a:br>
            <a:r>
              <a:rPr lang="en-US"/>
              <a:t>within this placeholder 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C8B7A96-E0C8-46F1-B070-891752D196D5}"/>
              </a:ext>
            </a:extLst>
          </p:cNvPr>
          <p:cNvSpPr txBox="1">
            <a:spLocks/>
          </p:cNvSpPr>
          <p:nvPr userDrawn="1"/>
        </p:nvSpPr>
        <p:spPr bwMode="gray">
          <a:xfrm>
            <a:off x="502920" y="4820603"/>
            <a:ext cx="3057981" cy="219076"/>
          </a:xfrm>
          <a:prstGeom prst="rect">
            <a:avLst/>
          </a:prstGeom>
        </p:spPr>
        <p:txBody>
          <a:bodyPr vert="horz" lIns="0" rIns="0" anchor="b" anchorCtr="0"/>
          <a:lstStyle>
            <a:defPPr>
              <a:defRPr lang="en-US"/>
            </a:defPPr>
            <a:lvl1pPr indent="0" defTabSz="457200">
              <a:spcBef>
                <a:spcPct val="20000"/>
              </a:spcBef>
              <a:buFont typeface="Arial"/>
              <a:buNone/>
              <a:defRPr sz="1000">
                <a:solidFill>
                  <a:srgbClr val="000000"/>
                </a:solidFill>
                <a:cs typeface="Calibri" panose="020F0502020204030204" pitchFamily="34" charset="0"/>
              </a:defRPr>
            </a:lvl1pPr>
            <a:lvl2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2pPr>
            <a:lvl3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3pPr>
            <a:lvl4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4pPr>
            <a:lvl5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pPr lvl="0"/>
            <a:r>
              <a:rPr lang="en-US"/>
              <a:t>Proprietary and confidential — do not distribute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D57305E-F709-4E9E-B399-8D21F2A51FF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1" y="266700"/>
            <a:ext cx="3822191" cy="261610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400" b="0" cap="all" spc="150" baseline="0">
                <a:solidFill>
                  <a:schemeClr val="accent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C73EADF8-32AF-409A-AD0A-3134A5D09D5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02919" y="1411940"/>
            <a:ext cx="3822191" cy="3251499"/>
          </a:xfrm>
        </p:spPr>
        <p:txBody>
          <a:bodyPr/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9AEB25F-FA40-4727-8C63-0FB00C65B1F1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3A27C541-DB4C-4C60-B527-34CCCA53AE99}" type="datetime1">
              <a:rPr lang="en-US" sz="1000" smtClean="0"/>
              <a:t>9/9/2026</a:t>
            </a:fld>
            <a:endParaRPr lang="en-IN" sz="100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80517F6-6DC6-4EDB-A0A3-3A25D9B2A02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BTS Power Apps  |  </a:t>
            </a:r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0E4568D-868E-42F7-926A-483A8A7B381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49B87BA-CB3B-4626-87FF-39721BA39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569594"/>
            <a:ext cx="3822190" cy="3905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0775252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(R) Half-content &amp; full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EBBC6B44-1A66-4C17-802D-CD6F3BEB84D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9144000" cy="51435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lIns="0" rIns="0" anchor="ctr" anchorCtr="0"/>
          <a:lstStyle>
            <a:lvl1pPr marL="695325" indent="0" algn="l">
              <a:tabLst/>
              <a:defRPr sz="1800" b="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Insert an image</a:t>
            </a:r>
            <a:br>
              <a:rPr lang="en-US"/>
            </a:br>
            <a:r>
              <a:rPr lang="en-US"/>
              <a:t>within this placeholder 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97FC738-9BF3-4608-8B8E-05D0C5B5F6DE}"/>
              </a:ext>
            </a:extLst>
          </p:cNvPr>
          <p:cNvSpPr txBox="1">
            <a:spLocks/>
          </p:cNvSpPr>
          <p:nvPr userDrawn="1"/>
        </p:nvSpPr>
        <p:spPr bwMode="gray">
          <a:xfrm>
            <a:off x="502920" y="4820603"/>
            <a:ext cx="3057981" cy="219076"/>
          </a:xfrm>
          <a:prstGeom prst="rect">
            <a:avLst/>
          </a:prstGeom>
        </p:spPr>
        <p:txBody>
          <a:bodyPr vert="horz" lIns="0" rIns="0" anchor="b" anchorCtr="0"/>
          <a:lstStyle>
            <a:defPPr>
              <a:defRPr lang="en-US"/>
            </a:defPPr>
            <a:lvl1pPr indent="0" defTabSz="457200">
              <a:spcBef>
                <a:spcPct val="20000"/>
              </a:spcBef>
              <a:buFont typeface="Arial"/>
              <a:buNone/>
              <a:defRPr sz="1000">
                <a:solidFill>
                  <a:srgbClr val="000000"/>
                </a:solidFill>
                <a:cs typeface="Calibri" panose="020F0502020204030204" pitchFamily="34" charset="0"/>
              </a:defRPr>
            </a:lvl1pPr>
            <a:lvl2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2pPr>
            <a:lvl3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3pPr>
            <a:lvl4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4pPr>
            <a:lvl5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pPr lvl="0"/>
            <a:r>
              <a:rPr lang="en-US"/>
              <a:t>Proprietary and confidential — do not distribute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6273392E-BE16-4C3F-A463-7A7FC6BEE03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18888" y="266700"/>
            <a:ext cx="3822191" cy="261610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400" b="0" cap="all" spc="150" baseline="0">
                <a:solidFill>
                  <a:schemeClr val="accent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1679F6DF-FEFB-4C1A-A396-814197C11D86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818886" y="1411940"/>
            <a:ext cx="3822191" cy="3251499"/>
          </a:xfrm>
        </p:spPr>
        <p:txBody>
          <a:bodyPr/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F552E6A-42EF-4270-B9A7-98DFF9C26BC9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D529A076-B448-40A4-8C9E-A9E34498B71E}" type="datetime1">
              <a:rPr lang="en-US" sz="1000" smtClean="0"/>
              <a:t>9/9/2026</a:t>
            </a:fld>
            <a:endParaRPr lang="en-IN" sz="100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474A17B-B0E6-4C29-8975-C906D924799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BTS Power Apps  |  </a:t>
            </a:r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A86EBC0-A4B4-49A9-8E69-797CFD88D05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0E04E43-6321-44FE-86E3-923631136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8886" y="569594"/>
            <a:ext cx="3822194" cy="3905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229917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C2773AC-CB5F-4692-8614-145FCB8122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2921" y="266700"/>
            <a:ext cx="5241925" cy="26161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400" b="0" cap="all" spc="150" baseline="0">
                <a:solidFill>
                  <a:schemeClr val="accent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Flamingo Design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095818-CAA3-49D4-822D-78FB55358F3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7710F71-F636-42F4-BFD2-2AA9C4703BB8}" type="datetime1">
              <a:rPr lang="en-US" sz="1000" smtClean="0"/>
              <a:t>9/9/2026</a:t>
            </a:fld>
            <a:endParaRPr lang="en-IN" sz="100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F4A984-8C41-4A18-A4AB-486817760C8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BTS Power Apps  | 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C13B2C-626A-4182-93CD-E777AFAD57C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F2BE9E2-7A7D-4BED-96F2-45B5703A2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5511324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B9B04E-CEBD-4F9E-A541-121DB0F54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0D71A-40AB-426D-B253-27900F7B7EE7}" type="datetime1">
              <a:rPr lang="en-US" sz="1000" smtClean="0"/>
              <a:t>9/9/2026</a:t>
            </a:fld>
            <a:endParaRPr lang="en-IN" sz="100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FCBFE7-5E00-4725-92DC-113FE1B9D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BTS Power Apps  | 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38BA52-5212-4BC3-9F12-DB299DFC3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9571787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Dark Blue">
    <p:bg bwMode="auto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502920" y="2331719"/>
            <a:ext cx="8138160" cy="1234440"/>
          </a:xfrm>
        </p:spPr>
        <p:txBody>
          <a:bodyPr wrap="square" rIns="0" bIns="0" anchor="t">
            <a:noAutofit/>
          </a:bodyPr>
          <a:lstStyle>
            <a:lvl1pPr algn="l">
              <a:lnSpc>
                <a:spcPct val="80000"/>
              </a:lnSpc>
              <a:defRPr sz="4400" b="0" cap="none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 bwMode="gray">
          <a:xfrm>
            <a:off x="502920" y="1748790"/>
            <a:ext cx="8138160" cy="480060"/>
          </a:xfrm>
          <a:prstGeom prst="rect">
            <a:avLst/>
          </a:prstGeom>
        </p:spPr>
        <p:txBody>
          <a:bodyPr rIns="0" bIns="0" anchor="b"/>
          <a:lstStyle>
            <a:lvl1pPr marL="0" indent="0">
              <a:lnSpc>
                <a:spcPct val="100000"/>
              </a:lnSpc>
              <a:buNone/>
              <a:defRPr sz="1800" b="1" cap="all" spc="150" baseline="0">
                <a:solidFill>
                  <a:schemeClr val="bg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15B31BE-5499-438F-8FC9-24D8712E9F2E}"/>
              </a:ext>
            </a:extLst>
          </p:cNvPr>
          <p:cNvSpPr txBox="1">
            <a:spLocks/>
          </p:cNvSpPr>
          <p:nvPr userDrawn="1"/>
        </p:nvSpPr>
        <p:spPr bwMode="gray">
          <a:xfrm>
            <a:off x="502920" y="4820603"/>
            <a:ext cx="3057981" cy="219076"/>
          </a:xfrm>
          <a:prstGeom prst="rect">
            <a:avLst/>
          </a:prstGeom>
        </p:spPr>
        <p:txBody>
          <a:bodyPr vert="horz" lIns="0" r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Proprietary and confidential — do not distribute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29463D-7256-4F94-B053-694230DDA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1822E50-E00F-48D7-989E-A9A5D022E9BA}" type="datetime1">
              <a:rPr lang="en-US" smtClean="0"/>
              <a:t>9/9/2026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65850-E065-46A5-AFAB-25EE12435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BTS Power Apps  |  </a:t>
            </a:r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0E02CAF-4CC0-4859-963B-FC187D3CD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584418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Purple">
    <p:bg bwMode="auto"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502920" y="2331719"/>
            <a:ext cx="8138160" cy="1234440"/>
          </a:xfrm>
        </p:spPr>
        <p:txBody>
          <a:bodyPr rIns="0" bIns="0" anchor="t">
            <a:noAutofit/>
          </a:bodyPr>
          <a:lstStyle>
            <a:lvl1pPr algn="l">
              <a:lnSpc>
                <a:spcPct val="80000"/>
              </a:lnSpc>
              <a:defRPr sz="4400" b="0" cap="none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 bwMode="gray">
          <a:xfrm>
            <a:off x="502920" y="1748790"/>
            <a:ext cx="8138160" cy="480060"/>
          </a:xfrm>
          <a:prstGeom prst="rect">
            <a:avLst/>
          </a:prstGeom>
        </p:spPr>
        <p:txBody>
          <a:bodyPr rIns="0" bIns="0" anchor="b"/>
          <a:lstStyle>
            <a:lvl1pPr marL="0" indent="0">
              <a:lnSpc>
                <a:spcPct val="100000"/>
              </a:lnSpc>
              <a:buNone/>
              <a:defRPr sz="1800" b="1" cap="all" spc="150" baseline="0">
                <a:solidFill>
                  <a:schemeClr val="bg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9C12FC6-CE3D-4CC3-A382-14A18C7C6B1A}"/>
              </a:ext>
            </a:extLst>
          </p:cNvPr>
          <p:cNvSpPr txBox="1">
            <a:spLocks/>
          </p:cNvSpPr>
          <p:nvPr userDrawn="1"/>
        </p:nvSpPr>
        <p:spPr bwMode="gray">
          <a:xfrm>
            <a:off x="502920" y="4820603"/>
            <a:ext cx="3057981" cy="219076"/>
          </a:xfrm>
          <a:prstGeom prst="rect">
            <a:avLst/>
          </a:prstGeom>
        </p:spPr>
        <p:txBody>
          <a:bodyPr vert="horz" lIns="0" r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Proprietary and confidential — do not distribute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0A7879-8A49-4492-B223-248AB6881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B3CE77F-9DE2-4B50-B015-8FEBC1934A95}" type="datetime1">
              <a:rPr lang="en-US" smtClean="0"/>
              <a:t>9/9/2026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308BD4-DA66-4BD1-91B7-E89327F3B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BTS Power Apps  |  </a:t>
            </a:r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E73C706-89A1-4AA5-9321-7F4CB3A91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5403429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Mint">
    <p:bg bwMode="auto"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502920" y="2331719"/>
            <a:ext cx="8138160" cy="1234440"/>
          </a:xfrm>
        </p:spPr>
        <p:txBody>
          <a:bodyPr rIns="0" bIns="0" anchor="t">
            <a:noAutofit/>
          </a:bodyPr>
          <a:lstStyle>
            <a:lvl1pPr algn="l">
              <a:lnSpc>
                <a:spcPct val="80000"/>
              </a:lnSpc>
              <a:defRPr sz="4400" b="0" cap="none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 bwMode="gray">
          <a:xfrm>
            <a:off x="502920" y="1748790"/>
            <a:ext cx="8138160" cy="480060"/>
          </a:xfrm>
          <a:prstGeom prst="rect">
            <a:avLst/>
          </a:prstGeom>
        </p:spPr>
        <p:txBody>
          <a:bodyPr rIns="0" bIns="0" anchor="b"/>
          <a:lstStyle>
            <a:lvl1pPr marL="0" indent="0">
              <a:lnSpc>
                <a:spcPct val="100000"/>
              </a:lnSpc>
              <a:buNone/>
              <a:defRPr sz="1800" b="1" cap="all" spc="150" baseline="0">
                <a:solidFill>
                  <a:schemeClr val="accent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DF2FEF2-FECD-4ED1-BD47-FF58F25B75AD}"/>
              </a:ext>
            </a:extLst>
          </p:cNvPr>
          <p:cNvSpPr txBox="1">
            <a:spLocks/>
          </p:cNvSpPr>
          <p:nvPr userDrawn="1"/>
        </p:nvSpPr>
        <p:spPr bwMode="gray">
          <a:xfrm>
            <a:off x="502920" y="4820603"/>
            <a:ext cx="3057981" cy="219076"/>
          </a:xfrm>
          <a:prstGeom prst="rect">
            <a:avLst/>
          </a:prstGeom>
        </p:spPr>
        <p:txBody>
          <a:bodyPr vert="horz" lIns="0" r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Proprietary and confidential — do not distribute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0FC3C2-5069-4B7A-9F14-6E1032BB1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B08721A-5788-45BC-9D7E-5A0D682B06D0}" type="datetime1">
              <a:rPr lang="en-US" smtClean="0"/>
              <a:t>9/9/2026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C2EC12-3F0B-463D-AC15-E276D69DA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lang="en-US"/>
              <a:t>BTS Power Apps  |  </a:t>
            </a:r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D4A8CC4-8FBE-45E1-BB15-2672002D5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8451636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502920" y="2331719"/>
            <a:ext cx="8138160" cy="1234440"/>
          </a:xfrm>
        </p:spPr>
        <p:txBody>
          <a:bodyPr rIns="0" bIns="0" anchor="t">
            <a:noAutofit/>
          </a:bodyPr>
          <a:lstStyle>
            <a:lvl1pPr algn="l">
              <a:lnSpc>
                <a:spcPct val="80000"/>
              </a:lnSpc>
              <a:defRPr sz="4400" b="0" cap="none" spc="0" baseline="0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 bwMode="gray">
          <a:xfrm>
            <a:off x="502920" y="1748790"/>
            <a:ext cx="8138160" cy="480060"/>
          </a:xfrm>
          <a:prstGeom prst="rect">
            <a:avLst/>
          </a:prstGeom>
        </p:spPr>
        <p:txBody>
          <a:bodyPr rIns="0" bIns="0" anchor="b"/>
          <a:lstStyle>
            <a:lvl1pPr marL="0" indent="0">
              <a:lnSpc>
                <a:spcPct val="100000"/>
              </a:lnSpc>
              <a:buNone/>
              <a:defRPr sz="1800" b="1" cap="all" spc="150" baseline="0">
                <a:solidFill>
                  <a:schemeClr val="accent3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DF2FEF2-FECD-4ED1-BD47-FF58F25B75AD}"/>
              </a:ext>
            </a:extLst>
          </p:cNvPr>
          <p:cNvSpPr txBox="1">
            <a:spLocks/>
          </p:cNvSpPr>
          <p:nvPr userDrawn="1"/>
        </p:nvSpPr>
        <p:spPr bwMode="gray">
          <a:xfrm>
            <a:off x="502920" y="4820603"/>
            <a:ext cx="3057981" cy="219076"/>
          </a:xfrm>
          <a:prstGeom prst="rect">
            <a:avLst/>
          </a:prstGeom>
        </p:spPr>
        <p:txBody>
          <a:bodyPr vert="horz" lIns="0" r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Proprietary and confidential — do not distribute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98435C-7AB2-499D-B9D2-7646859B2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6620C-8967-4939-A7A9-11D20087444D}" type="datetime1">
              <a:rPr lang="en-US" sz="1000" smtClean="0"/>
              <a:t>9/9/2026</a:t>
            </a:fld>
            <a:endParaRPr lang="en-IN" sz="100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953D83-DC20-4A71-BEBA-E5BD8133D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BTS Power Apps  |  </a:t>
            </a:r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FF502C7-63A6-4765-B23E-CD59D755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0525704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with Solid Background">
    <p:bg bwMode="auto"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1371600" y="1508760"/>
            <a:ext cx="6858000" cy="2674620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sz="2400" b="0">
                <a:solidFill>
                  <a:schemeClr val="bg1"/>
                </a:solidFill>
                <a:latin typeface="+mj-lt"/>
              </a:defRPr>
            </a:lvl1pPr>
            <a:lvl2pPr marL="1371600" indent="-228600" algn="l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/>
              <a:t>Click to edit quote text</a:t>
            </a:r>
          </a:p>
          <a:p>
            <a:pPr lvl="1"/>
            <a:r>
              <a:rPr lang="en-US"/>
              <a:t>Second level for attribution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A501EA9-08EC-4F43-BB57-5CF4837F22E5}"/>
              </a:ext>
            </a:extLst>
          </p:cNvPr>
          <p:cNvSpPr txBox="1">
            <a:spLocks/>
          </p:cNvSpPr>
          <p:nvPr userDrawn="1"/>
        </p:nvSpPr>
        <p:spPr bwMode="gray">
          <a:xfrm>
            <a:off x="502920" y="4820603"/>
            <a:ext cx="3057981" cy="219076"/>
          </a:xfrm>
          <a:prstGeom prst="rect">
            <a:avLst/>
          </a:prstGeom>
        </p:spPr>
        <p:txBody>
          <a:bodyPr vert="horz" lIns="0" r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Proprietary and confidential — do not distribute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6D6453-5C41-4AA1-8206-B28E31B4BDF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E45871B-79F1-4838-B808-1B14D45914F3}" type="datetime1">
              <a:rPr lang="en-US" smtClean="0"/>
              <a:t>9/9/2026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915091-8BEE-4EAD-A12E-FE3FD48546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BTS Power Apps  |  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7B97B-43D6-430D-9C83-B8A0A565552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960989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Blue">
    <p:bg bwMode="auto"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_symbol_wordm_below_w_rgb-01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17441" y="1206347"/>
            <a:ext cx="2509119" cy="2730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510657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LTTF Blue">
    <p:bg bwMode="auto"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6BE25BFE-C141-9744-B07B-AF2EDC44630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80642" y="939843"/>
            <a:ext cx="3782715" cy="3263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008967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sign&#10;&#10;Description automatically generated">
            <a:extLst>
              <a:ext uri="{FF2B5EF4-FFF2-40B4-BE49-F238E27FC236}">
                <a16:creationId xmlns:a16="http://schemas.microsoft.com/office/drawing/2014/main" id="{9D5804C8-119A-4621-B885-F0B59F0C23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0338" y="1064196"/>
            <a:ext cx="2753140" cy="2998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674532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LTTF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object, clock&#10;&#10;Description automatically generated">
            <a:extLst>
              <a:ext uri="{FF2B5EF4-FFF2-40B4-BE49-F238E27FC236}">
                <a16:creationId xmlns:a16="http://schemas.microsoft.com/office/drawing/2014/main" id="{CA73EC50-27B9-4304-8A26-2A1CE79D62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6510" y="393405"/>
            <a:ext cx="4735158" cy="435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991654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6D6E74-3911-4251-9210-E9AF0CB465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2922" y="266700"/>
            <a:ext cx="5241925" cy="26161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400" b="0" cap="all" spc="150" baseline="0">
                <a:solidFill>
                  <a:schemeClr val="accent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 REGULAR</a:t>
            </a:r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DCEC16E3-E9C3-470B-B2C9-CBD23EA9860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2920" y="1487805"/>
            <a:ext cx="8145780" cy="3174922"/>
          </a:xfrm>
        </p:spPr>
        <p:txBody>
          <a:bodyPr/>
          <a:lstStyle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D5EEAD8-45FF-4137-A993-0E3B0A63B7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238" y="1097279"/>
            <a:ext cx="8145462" cy="3905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00" b="1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 CALIBRI 18PT BOLD, ABBOTT PRIMARY BLUE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90257E-A5F7-47F2-BCB5-BF684CDCDDF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1D273335-11FE-4AAE-80DD-FC0536E8E0C8}" type="datetime1">
              <a:rPr lang="en-US" sz="1000" smtClean="0"/>
              <a:t>9/9/2026</a:t>
            </a:fld>
            <a:endParaRPr lang="en-IN" sz="10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684F02-3528-4796-B761-E75F59E065C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BTS Power Apps  |  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025CAD-0E7F-412A-A2E4-ACA5E42AF8D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B071053-E294-48B6-82D4-81528F06E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6371712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2920" y="600076"/>
            <a:ext cx="8138160" cy="357188"/>
          </a:xfrm>
        </p:spPr>
        <p:txBody>
          <a:bodyPr/>
          <a:lstStyle>
            <a:lvl1pPr>
              <a:defRPr sz="1950" b="1" cap="none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6D6E74-3911-4251-9210-E9AF0CB465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2922" y="338465"/>
            <a:ext cx="5241925" cy="261610"/>
          </a:xfrm>
        </p:spPr>
        <p:txBody>
          <a:bodyPr>
            <a:spAutoFit/>
          </a:bodyPr>
          <a:lstStyle>
            <a:lvl1pPr>
              <a:defRPr sz="1400" b="0" cap="all" spc="150" baseline="0">
                <a:solidFill>
                  <a:schemeClr val="tx2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D4D9D-1E75-4A41-BFAA-C36E089F00E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236FC2FE-D9A6-AF48-AD77-930B68553FD2}" type="datetime4">
              <a:rPr lang="en-US" smtClean="0">
                <a:solidFill>
                  <a:srgbClr val="000000"/>
                </a:solidFill>
              </a:rPr>
              <a:t>September 9, 2026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2AD462-D7C9-2642-BDCE-29B5F74B26F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Enter title via "insert&gt;header and footer&gt;footer" |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111AFE-F2F2-AE4D-8711-156C56FBA90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2885E78-1F86-4A3D-9EE1-B0103B1CEF15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64353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">
          <p15:clr>
            <a:srgbClr val="FBAE40"/>
          </p15:clr>
        </p15:guide>
        <p15:guide id="2" pos="7265">
          <p15:clr>
            <a:srgbClr val="FBAE4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2920" y="600076"/>
            <a:ext cx="8138160" cy="357188"/>
          </a:xfrm>
        </p:spPr>
        <p:txBody>
          <a:bodyPr/>
          <a:lstStyle>
            <a:lvl1pPr>
              <a:defRPr sz="1950" b="1" cap="none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6D6E74-3911-4251-9210-E9AF0CB465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2922" y="338465"/>
            <a:ext cx="5241925" cy="261610"/>
          </a:xfrm>
        </p:spPr>
        <p:txBody>
          <a:bodyPr>
            <a:spAutoFit/>
          </a:bodyPr>
          <a:lstStyle>
            <a:lvl1pPr>
              <a:defRPr sz="1400" b="0" cap="all" spc="150" baseline="0">
                <a:solidFill>
                  <a:schemeClr val="tx2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D4D9D-1E75-4A41-BFAA-C36E089F00E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236FC2FE-D9A6-AF48-AD77-930B68553FD2}" type="datetime4">
              <a:rPr lang="en-US" smtClean="0">
                <a:solidFill>
                  <a:srgbClr val="000000"/>
                </a:solidFill>
              </a:rPr>
              <a:t>September 9, 2026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2AD462-D7C9-2642-BDCE-29B5F74B26F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Enter title via "insert&gt;header and footer&gt;footer" |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111AFE-F2F2-AE4D-8711-156C56FBA90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2885E78-1F86-4A3D-9EE1-B0103B1CEF15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71108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">
          <p15:clr>
            <a:srgbClr val="FBAE40"/>
          </p15:clr>
        </p15:guide>
        <p15:guide id="2" pos="7265">
          <p15:clr>
            <a:srgbClr val="FBAE4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people looking at a tablet&#10;&#10;AI-generated content may be incorrect.">
            <a:extLst>
              <a:ext uri="{FF2B5EF4-FFF2-40B4-BE49-F238E27FC236}">
                <a16:creationId xmlns:a16="http://schemas.microsoft.com/office/drawing/2014/main" id="{A9FA810E-3153-137B-C0D9-8E440BF7F03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67" b="6157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CC22A7A-997E-22A6-E597-F93DB358C2DA}"/>
              </a:ext>
            </a:extLst>
          </p:cNvPr>
          <p:cNvSpPr/>
          <p:nvPr userDrawn="1"/>
        </p:nvSpPr>
        <p:spPr>
          <a:xfrm>
            <a:off x="499298" y="2595965"/>
            <a:ext cx="4661178" cy="1661427"/>
          </a:xfrm>
          <a:prstGeom prst="rect">
            <a:avLst/>
          </a:prstGeom>
          <a:solidFill>
            <a:schemeClr val="bg1">
              <a:alpha val="8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760945" y="3152069"/>
            <a:ext cx="4194505" cy="611152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1950" b="1" cap="none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760945" y="3763220"/>
            <a:ext cx="4194505" cy="279116"/>
          </a:xfrm>
        </p:spPr>
        <p:txBody>
          <a:bodyPr>
            <a:normAutofit/>
          </a:bodyPr>
          <a:lstStyle>
            <a:lvl1pPr marL="0" indent="0">
              <a:buNone/>
              <a:defRPr sz="1050" b="0" i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date</a:t>
            </a:r>
          </a:p>
        </p:txBody>
      </p:sp>
      <p:pic>
        <p:nvPicPr>
          <p:cNvPr id="7" name="Picture 6" descr="A_symbol_wordm_below_w_rgb-01.png">
            <a:extLst>
              <a:ext uri="{FF2B5EF4-FFF2-40B4-BE49-F238E27FC236}">
                <a16:creationId xmlns:a16="http://schemas.microsoft.com/office/drawing/2014/main" id="{9E010671-E31C-9E4C-8544-E8E1B034989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4153" y="1291588"/>
            <a:ext cx="1011854" cy="1108328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A01F29F-3E4B-A206-4457-686ADE8D042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760944" y="2790973"/>
            <a:ext cx="4194505" cy="357671"/>
          </a:xfrm>
        </p:spPr>
        <p:txBody>
          <a:bodyPr vert="horz" lIns="0" tIns="45720" rIns="91440" bIns="45720" rtlCol="0" anchor="b">
            <a:normAutofit/>
          </a:bodyPr>
          <a:lstStyle>
            <a:lvl1pPr>
              <a:defRPr lang="en-US" sz="1350" b="1" i="0" spc="113" baseline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4B72919-DB7C-B4EC-185F-69B5B171547D}"/>
              </a:ext>
            </a:extLst>
          </p:cNvPr>
          <p:cNvSpPr txBox="1">
            <a:spLocks/>
          </p:cNvSpPr>
          <p:nvPr userDrawn="1"/>
        </p:nvSpPr>
        <p:spPr bwMode="gray">
          <a:xfrm>
            <a:off x="499299" y="4675983"/>
            <a:ext cx="8448979" cy="365125"/>
          </a:xfrm>
          <a:prstGeom prst="rect">
            <a:avLst/>
          </a:prstGeom>
        </p:spPr>
        <p:txBody>
          <a:bodyPr vert="horz" lIns="0" r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1198533" algn="ctr"/>
                <a:tab pos="8229395" algn="r"/>
              </a:tabLst>
            </a:pPr>
            <a:r>
              <a:rPr lang="en-US" sz="1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Proprietary and confidential — do not distribute 	</a:t>
            </a:r>
          </a:p>
        </p:txBody>
      </p:sp>
    </p:spTree>
    <p:extLst>
      <p:ext uri="{BB962C8B-B14F-4D97-AF65-F5344CB8AC3E}">
        <p14:creationId xmlns:p14="http://schemas.microsoft.com/office/powerpoint/2010/main" val="36406009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">
          <p15:clr>
            <a:srgbClr val="FBAE40"/>
          </p15:clr>
        </p15:guide>
        <p15:guide id="2" pos="3940">
          <p15:clr>
            <a:srgbClr val="FBAE4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Closing Slide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oup of people looking at a tablet&#10;&#10;AI-generated content may be incorrect.">
            <a:extLst>
              <a:ext uri="{FF2B5EF4-FFF2-40B4-BE49-F238E27FC236}">
                <a16:creationId xmlns:a16="http://schemas.microsoft.com/office/drawing/2014/main" id="{125D60D6-EAF1-C76C-F289-64340049F2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67" b="6157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A_symbol_wordm_below_w_rgb-01.png">
            <a:extLst>
              <a:ext uri="{FF2B5EF4-FFF2-40B4-BE49-F238E27FC236}">
                <a16:creationId xmlns:a16="http://schemas.microsoft.com/office/drawing/2014/main" id="{1B77479C-2257-C645-A513-C3B568F381A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17441" y="1206347"/>
            <a:ext cx="2509119" cy="2730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523832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41657" y="520337"/>
            <a:ext cx="7835151" cy="432000"/>
          </a:xfrm>
        </p:spPr>
        <p:txBody>
          <a:bodyPr>
            <a:normAutofit/>
          </a:bodyPr>
          <a:lstStyle>
            <a:lvl1pPr>
              <a:defRPr sz="21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idx="1"/>
          </p:nvPr>
        </p:nvSpPr>
        <p:spPr>
          <a:xfrm>
            <a:off x="641657" y="878232"/>
            <a:ext cx="7835151" cy="243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13594B8-0F25-654E-8785-700672F733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833510" y="4899939"/>
            <a:ext cx="2057400" cy="243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Chronicle Display Black" pitchFamily="50" charset="0"/>
              </a:defRPr>
            </a:lvl1pPr>
          </a:lstStyle>
          <a:p>
            <a:fld id="{35CB0838-606E-E04F-B5AA-81534BC4F4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Rectangle 23"/>
          <p:cNvSpPr/>
          <p:nvPr userDrawn="1"/>
        </p:nvSpPr>
        <p:spPr>
          <a:xfrm>
            <a:off x="-536113" y="989706"/>
            <a:ext cx="540000" cy="243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0" rIns="27000" rtlCol="0" anchor="ctr"/>
          <a:lstStyle/>
          <a:p>
            <a:pPr algn="ctr"/>
            <a:endParaRPr lang="en-US" sz="1350">
              <a:latin typeface="Open Sans" panose="020B0606030504020204" pitchFamily="34" charset="0"/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-536113" y="1279439"/>
            <a:ext cx="540000" cy="243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0" rIns="27000" rtlCol="0" anchor="ctr"/>
          <a:lstStyle/>
          <a:p>
            <a:pPr algn="ctr"/>
            <a:endParaRPr lang="en-US" sz="1350">
              <a:latin typeface="Open Sans" panose="020B0606030504020204" pitchFamily="34" charset="0"/>
            </a:endParaRPr>
          </a:p>
        </p:txBody>
      </p:sp>
      <p:sp>
        <p:nvSpPr>
          <p:cNvPr id="26" name="Rectangle 25"/>
          <p:cNvSpPr/>
          <p:nvPr userDrawn="1"/>
        </p:nvSpPr>
        <p:spPr>
          <a:xfrm>
            <a:off x="-536113" y="1569173"/>
            <a:ext cx="540000" cy="243000"/>
          </a:xfrm>
          <a:prstGeom prst="rect">
            <a:avLst/>
          </a:prstGeom>
          <a:solidFill>
            <a:srgbClr val="0051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0" rIns="27000" rtlCol="0" anchor="ctr"/>
          <a:lstStyle/>
          <a:p>
            <a:pPr algn="ctr"/>
            <a:endParaRPr lang="en-US" sz="1350">
              <a:latin typeface="Open Sans" panose="020B0606030504020204" pitchFamily="34" charset="0"/>
            </a:endParaRPr>
          </a:p>
        </p:txBody>
      </p:sp>
      <p:sp>
        <p:nvSpPr>
          <p:cNvPr id="27" name="Rectangle 26"/>
          <p:cNvSpPr/>
          <p:nvPr userDrawn="1"/>
        </p:nvSpPr>
        <p:spPr>
          <a:xfrm>
            <a:off x="-536113" y="2438371"/>
            <a:ext cx="540000" cy="243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0" rIns="27000" rtlCol="0" anchor="ctr"/>
          <a:lstStyle/>
          <a:p>
            <a:pPr algn="ctr"/>
            <a:endParaRPr lang="en-US" sz="1350">
              <a:latin typeface="Open Sans" panose="020B0606030504020204" pitchFamily="34" charset="0"/>
            </a:endParaRPr>
          </a:p>
        </p:txBody>
      </p:sp>
      <p:sp>
        <p:nvSpPr>
          <p:cNvPr id="28" name="Rectangle 27"/>
          <p:cNvSpPr/>
          <p:nvPr userDrawn="1"/>
        </p:nvSpPr>
        <p:spPr>
          <a:xfrm>
            <a:off x="-536113" y="2148639"/>
            <a:ext cx="540000" cy="243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0" rIns="27000" rtlCol="0" anchor="ctr"/>
          <a:lstStyle/>
          <a:p>
            <a:pPr algn="ctr"/>
            <a:endParaRPr lang="en-US" sz="1350">
              <a:latin typeface="Open Sans" panose="020B0606030504020204" pitchFamily="34" charset="0"/>
            </a:endParaRPr>
          </a:p>
        </p:txBody>
      </p:sp>
      <p:sp>
        <p:nvSpPr>
          <p:cNvPr id="29" name="Rectangle 28"/>
          <p:cNvSpPr/>
          <p:nvPr userDrawn="1"/>
        </p:nvSpPr>
        <p:spPr>
          <a:xfrm>
            <a:off x="-536113" y="1858906"/>
            <a:ext cx="540000" cy="243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0" rIns="27000" rtlCol="0" anchor="ctr"/>
          <a:lstStyle/>
          <a:p>
            <a:pPr algn="ctr"/>
            <a:r>
              <a:rPr lang="en-US" sz="750">
                <a:latin typeface="+mj-lt"/>
              </a:rPr>
              <a:t>HIGHLIGHT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33A4B72-25AC-F54A-AAFF-E2009D4F51DF}"/>
              </a:ext>
            </a:extLst>
          </p:cNvPr>
          <p:cNvSpPr txBox="1"/>
          <p:nvPr userDrawn="1"/>
        </p:nvSpPr>
        <p:spPr>
          <a:xfrm>
            <a:off x="-1349115" y="2754510"/>
            <a:ext cx="135300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50" b="1">
                <a:solidFill>
                  <a:schemeClr val="tx1">
                    <a:lumMod val="95000"/>
                    <a:lumOff val="5000"/>
                  </a:schemeClr>
                </a:solidFill>
                <a:latin typeface="Chronicle Display Black" pitchFamily="50" charset="0"/>
              </a:rPr>
              <a:t>Title Font: Georgia</a:t>
            </a:r>
            <a:endParaRPr lang="en-US" sz="750" b="1">
              <a:solidFill>
                <a:schemeClr val="accent1"/>
              </a:solidFill>
              <a:latin typeface="Chronicle Display Black" pitchFamily="50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B40969C-BC53-6E4A-BE79-8F0C49EFFDFA}"/>
              </a:ext>
            </a:extLst>
          </p:cNvPr>
          <p:cNvSpPr txBox="1"/>
          <p:nvPr userDrawn="1"/>
        </p:nvSpPr>
        <p:spPr>
          <a:xfrm>
            <a:off x="-1353002" y="2940367"/>
            <a:ext cx="135300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>
                <a:solidFill>
                  <a:schemeClr val="tx1">
                    <a:lumMod val="95000"/>
                    <a:lumOff val="5000"/>
                  </a:schemeClr>
                </a:solidFill>
                <a:latin typeface="Open Sans" panose="020B0606030504020204" pitchFamily="34" charset="0"/>
              </a:rPr>
              <a:t>Content Font: Calibri</a:t>
            </a:r>
            <a:endParaRPr lang="en-US" sz="900">
              <a:solidFill>
                <a:schemeClr val="accent1"/>
              </a:solidFill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4162674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2920" y="600076"/>
            <a:ext cx="8138160" cy="357188"/>
          </a:xfrm>
        </p:spPr>
        <p:txBody>
          <a:bodyPr/>
          <a:lstStyle>
            <a:lvl1pPr>
              <a:defRPr cap="none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02920" y="1096566"/>
            <a:ext cx="8138160" cy="3566160"/>
          </a:xfrm>
        </p:spPr>
        <p:txBody>
          <a:bodyPr/>
          <a:lstStyle>
            <a:lvl2pPr>
              <a:defRPr sz="1600"/>
            </a:lvl2pPr>
            <a:lvl3pPr marL="349232" indent="-177791">
              <a:tabLst/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First level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6D6E74-3911-4251-9210-E9AF0CB465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2923" y="338465"/>
            <a:ext cx="5241925" cy="261610"/>
          </a:xfrm>
        </p:spPr>
        <p:txBody>
          <a:bodyPr wrap="square">
            <a:spAutoFit/>
          </a:bodyPr>
          <a:lstStyle>
            <a:lvl1pPr>
              <a:defRPr sz="1400" b="0" cap="all" spc="150" baseline="0">
                <a:solidFill>
                  <a:schemeClr val="tx2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D4D9D-1E75-4A41-BFAA-C36E089F00E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DB8860-AC79-4A0F-AF4A-DDD000CDE07E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2AD462-D7C9-2642-BDCE-29B5F74B26F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111AFE-F2F2-AE4D-8711-156C56FBA90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5A13562-9C6B-4D11-9AB0-3E30AB2B1351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49E68A-891A-9224-0436-715608688945}"/>
              </a:ext>
            </a:extLst>
          </p:cNvPr>
          <p:cNvSpPr/>
          <p:nvPr userDrawn="1"/>
        </p:nvSpPr>
        <p:spPr>
          <a:xfrm>
            <a:off x="-685800" y="1120140"/>
            <a:ext cx="685800" cy="274320"/>
          </a:xfrm>
          <a:prstGeom prst="rect">
            <a:avLst/>
          </a:prstGeom>
          <a:solidFill>
            <a:srgbClr val="0696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4411FF-F007-2BC9-070E-FC79015058EB}"/>
              </a:ext>
            </a:extLst>
          </p:cNvPr>
          <p:cNvSpPr/>
          <p:nvPr userDrawn="1"/>
        </p:nvSpPr>
        <p:spPr>
          <a:xfrm>
            <a:off x="-685800" y="1394460"/>
            <a:ext cx="685800" cy="274320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9AE3A50-1EBD-AD17-3524-ABFC0BB514E9}"/>
              </a:ext>
            </a:extLst>
          </p:cNvPr>
          <p:cNvSpPr/>
          <p:nvPr userDrawn="1"/>
        </p:nvSpPr>
        <p:spPr>
          <a:xfrm>
            <a:off x="-685800" y="1668780"/>
            <a:ext cx="685800" cy="274320"/>
          </a:xfrm>
          <a:prstGeom prst="rect">
            <a:avLst/>
          </a:prstGeom>
          <a:solidFill>
            <a:srgbClr val="1B2A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5A4CD74-59AB-3A54-6131-1BEFEF50FB40}"/>
              </a:ext>
            </a:extLst>
          </p:cNvPr>
          <p:cNvSpPr/>
          <p:nvPr userDrawn="1"/>
        </p:nvSpPr>
        <p:spPr>
          <a:xfrm>
            <a:off x="-685800" y="1943100"/>
            <a:ext cx="685800" cy="274320"/>
          </a:xfrm>
          <a:prstGeom prst="rect">
            <a:avLst/>
          </a:prstGeom>
          <a:solidFill>
            <a:srgbClr val="004B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BA3F7B7-512E-63DD-12E5-B2529B6B23AB}"/>
              </a:ext>
            </a:extLst>
          </p:cNvPr>
          <p:cNvSpPr/>
          <p:nvPr userDrawn="1"/>
        </p:nvSpPr>
        <p:spPr>
          <a:xfrm>
            <a:off x="-685800" y="2217420"/>
            <a:ext cx="685800" cy="274320"/>
          </a:xfrm>
          <a:prstGeom prst="rect">
            <a:avLst/>
          </a:prstGeom>
          <a:solidFill>
            <a:srgbClr val="44C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9C8532E-A502-A027-5372-C9DC26D1D10E}"/>
              </a:ext>
            </a:extLst>
          </p:cNvPr>
          <p:cNvSpPr/>
          <p:nvPr userDrawn="1"/>
        </p:nvSpPr>
        <p:spPr>
          <a:xfrm>
            <a:off x="-685800" y="2491740"/>
            <a:ext cx="685800" cy="274320"/>
          </a:xfrm>
          <a:prstGeom prst="rect">
            <a:avLst/>
          </a:prstGeom>
          <a:solidFill>
            <a:srgbClr val="6F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465144459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9660297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963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43.xml"/><Relationship Id="rId18" Type="http://schemas.openxmlformats.org/officeDocument/2006/relationships/slideLayout" Target="../slideLayouts/slideLayout48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42.xml"/><Relationship Id="rId17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46.xml"/><Relationship Id="rId20" Type="http://schemas.openxmlformats.org/officeDocument/2006/relationships/image" Target="../media/image6.jpeg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5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0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4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slideLayout" Target="../slideLayouts/slideLayout61.xml"/><Relationship Id="rId18" Type="http://schemas.openxmlformats.org/officeDocument/2006/relationships/tags" Target="../tags/tag2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17" Type="http://schemas.openxmlformats.org/officeDocument/2006/relationships/tags" Target="../tags/tag1.xml"/><Relationship Id="rId2" Type="http://schemas.openxmlformats.org/officeDocument/2006/relationships/slideLayout" Target="../slideLayouts/slideLayout50.xml"/><Relationship Id="rId16" Type="http://schemas.openxmlformats.org/officeDocument/2006/relationships/theme" Target="../theme/theme3.xml"/><Relationship Id="rId20" Type="http://schemas.openxmlformats.org/officeDocument/2006/relationships/image" Target="../media/image9.emf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5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58.xml"/><Relationship Id="rId19" Type="http://schemas.openxmlformats.org/officeDocument/2006/relationships/oleObject" Target="../embeddings/oleObject1.bin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slideLayout" Target="../slideLayouts/slideLayout6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6.xml"/><Relationship Id="rId18" Type="http://schemas.openxmlformats.org/officeDocument/2006/relationships/slideLayout" Target="../slideLayouts/slideLayout81.xml"/><Relationship Id="rId26" Type="http://schemas.openxmlformats.org/officeDocument/2006/relationships/slideLayout" Target="../slideLayouts/slideLayout89.xml"/><Relationship Id="rId3" Type="http://schemas.openxmlformats.org/officeDocument/2006/relationships/slideLayout" Target="../slideLayouts/slideLayout66.xml"/><Relationship Id="rId21" Type="http://schemas.openxmlformats.org/officeDocument/2006/relationships/slideLayout" Target="../slideLayouts/slideLayout84.xml"/><Relationship Id="rId7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5.xml"/><Relationship Id="rId17" Type="http://schemas.openxmlformats.org/officeDocument/2006/relationships/slideLayout" Target="../slideLayouts/slideLayout80.xml"/><Relationship Id="rId25" Type="http://schemas.openxmlformats.org/officeDocument/2006/relationships/slideLayout" Target="../slideLayouts/slideLayout88.xml"/><Relationship Id="rId2" Type="http://schemas.openxmlformats.org/officeDocument/2006/relationships/slideLayout" Target="../slideLayouts/slideLayout65.xml"/><Relationship Id="rId16" Type="http://schemas.openxmlformats.org/officeDocument/2006/relationships/slideLayout" Target="../slideLayouts/slideLayout79.xml"/><Relationship Id="rId20" Type="http://schemas.openxmlformats.org/officeDocument/2006/relationships/slideLayout" Target="../slideLayouts/slideLayout83.xml"/><Relationship Id="rId29" Type="http://schemas.openxmlformats.org/officeDocument/2006/relationships/slideLayout" Target="../slideLayouts/slideLayout92.xml"/><Relationship Id="rId1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4.xml"/><Relationship Id="rId24" Type="http://schemas.openxmlformats.org/officeDocument/2006/relationships/slideLayout" Target="../slideLayouts/slideLayout87.xml"/><Relationship Id="rId5" Type="http://schemas.openxmlformats.org/officeDocument/2006/relationships/slideLayout" Target="../slideLayouts/slideLayout68.xml"/><Relationship Id="rId15" Type="http://schemas.openxmlformats.org/officeDocument/2006/relationships/slideLayout" Target="../slideLayouts/slideLayout78.xml"/><Relationship Id="rId23" Type="http://schemas.openxmlformats.org/officeDocument/2006/relationships/slideLayout" Target="../slideLayouts/slideLayout86.xml"/><Relationship Id="rId28" Type="http://schemas.openxmlformats.org/officeDocument/2006/relationships/slideLayout" Target="../slideLayouts/slideLayout91.xml"/><Relationship Id="rId10" Type="http://schemas.openxmlformats.org/officeDocument/2006/relationships/slideLayout" Target="../slideLayouts/slideLayout73.xml"/><Relationship Id="rId19" Type="http://schemas.openxmlformats.org/officeDocument/2006/relationships/slideLayout" Target="../slideLayouts/slideLayout82.xml"/><Relationship Id="rId4" Type="http://schemas.openxmlformats.org/officeDocument/2006/relationships/slideLayout" Target="../slideLayouts/slideLayout67.xml"/><Relationship Id="rId9" Type="http://schemas.openxmlformats.org/officeDocument/2006/relationships/slideLayout" Target="../slideLayouts/slideLayout72.xml"/><Relationship Id="rId14" Type="http://schemas.openxmlformats.org/officeDocument/2006/relationships/slideLayout" Target="../slideLayouts/slideLayout77.xml"/><Relationship Id="rId22" Type="http://schemas.openxmlformats.org/officeDocument/2006/relationships/slideLayout" Target="../slideLayouts/slideLayout85.xml"/><Relationship Id="rId27" Type="http://schemas.openxmlformats.org/officeDocument/2006/relationships/slideLayout" Target="../slideLayouts/slideLayout90.xml"/><Relationship Id="rId30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5.xml"/><Relationship Id="rId2" Type="http://schemas.openxmlformats.org/officeDocument/2006/relationships/slideLayout" Target="../slideLayouts/slideLayout94.xml"/><Relationship Id="rId1" Type="http://schemas.openxmlformats.org/officeDocument/2006/relationships/slideLayout" Target="../slideLayouts/slideLayout93.xml"/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96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9.xml"/><Relationship Id="rId2" Type="http://schemas.openxmlformats.org/officeDocument/2006/relationships/slideLayout" Target="../slideLayouts/slideLayout98.xml"/><Relationship Id="rId1" Type="http://schemas.openxmlformats.org/officeDocument/2006/relationships/slideLayout" Target="../slideLayouts/slideLayout97.xml"/><Relationship Id="rId4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2920" y="569594"/>
            <a:ext cx="8138160" cy="390526"/>
          </a:xfrm>
          <a:prstGeom prst="rect">
            <a:avLst/>
          </a:prstGeom>
        </p:spPr>
        <p:txBody>
          <a:bodyPr vert="horz" lIns="0" tIns="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D42C3B-6191-4FCC-892C-38AF4234E0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300" y="1111624"/>
            <a:ext cx="8145780" cy="3520701"/>
          </a:xfrm>
          <a:prstGeom prst="rect">
            <a:avLst/>
          </a:prstGeom>
        </p:spPr>
        <p:txBody>
          <a:bodyPr vert="horz" lIns="0" tIns="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First level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  <a:endParaRPr lang="en-IN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664E22B-AE9E-442B-AA5F-E8AC6B0E3B7D}"/>
              </a:ext>
            </a:extLst>
          </p:cNvPr>
          <p:cNvSpPr txBox="1">
            <a:spLocks/>
          </p:cNvSpPr>
          <p:nvPr userDrawn="1"/>
        </p:nvSpPr>
        <p:spPr bwMode="gray">
          <a:xfrm>
            <a:off x="502920" y="4820603"/>
            <a:ext cx="3057981" cy="219076"/>
          </a:xfrm>
          <a:prstGeom prst="rect">
            <a:avLst/>
          </a:prstGeom>
        </p:spPr>
        <p:txBody>
          <a:bodyPr vert="horz" lIns="0" r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Proprietary and confidential — do not distribute</a:t>
            </a:r>
          </a:p>
        </p:txBody>
      </p:sp>
      <p:sp>
        <p:nvSpPr>
          <p:cNvPr id="9" name="Footer Placeholder 16">
            <a:extLst>
              <a:ext uri="{FF2B5EF4-FFF2-40B4-BE49-F238E27FC236}">
                <a16:creationId xmlns:a16="http://schemas.microsoft.com/office/drawing/2014/main" id="{BCBFA1EE-BECD-4887-AC0A-41F4CAF816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45056" y="4767263"/>
            <a:ext cx="3931921" cy="274637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Special Use Cases  |  </a:t>
            </a:r>
            <a:endParaRPr lang="en-IN"/>
          </a:p>
        </p:txBody>
      </p:sp>
      <p:sp>
        <p:nvSpPr>
          <p:cNvPr id="11" name="Slide Number Placeholder 17">
            <a:extLst>
              <a:ext uri="{FF2B5EF4-FFF2-40B4-BE49-F238E27FC236}">
                <a16:creationId xmlns:a16="http://schemas.microsoft.com/office/drawing/2014/main" id="{B0C0A961-4760-478B-92D9-DFE0D6E830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67058" y="4767263"/>
            <a:ext cx="568102" cy="274637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9D44F0-9262-4CAF-B936-25EE51300E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531511" y="4767263"/>
            <a:ext cx="787879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DAC4D4DE-BA87-45EB-9D49-738C14960654}" type="datetime1">
              <a:rPr lang="en-US" sz="1000" smtClean="0"/>
              <a:t>9/9/2026</a:t>
            </a:fld>
            <a:endParaRPr lang="en-IN" sz="1000"/>
          </a:p>
        </p:txBody>
      </p:sp>
    </p:spTree>
    <p:extLst>
      <p:ext uri="{BB962C8B-B14F-4D97-AF65-F5344CB8AC3E}">
        <p14:creationId xmlns:p14="http://schemas.microsoft.com/office/powerpoint/2010/main" val="303869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810" r:id="rId2"/>
    <p:sldLayoutId id="2147483703" r:id="rId3"/>
    <p:sldLayoutId id="2147483811" r:id="rId4"/>
    <p:sldLayoutId id="2147483748" r:id="rId5"/>
    <p:sldLayoutId id="2147483749" r:id="rId6"/>
    <p:sldLayoutId id="2147483752" r:id="rId7"/>
    <p:sldLayoutId id="2147483753" r:id="rId8"/>
    <p:sldLayoutId id="2147483754" r:id="rId9"/>
    <p:sldLayoutId id="2147483755" r:id="rId10"/>
    <p:sldLayoutId id="2147483804" r:id="rId11"/>
    <p:sldLayoutId id="2147483805" r:id="rId12"/>
    <p:sldLayoutId id="2147483758" r:id="rId13"/>
    <p:sldLayoutId id="2147483798" r:id="rId14"/>
    <p:sldLayoutId id="2147483750" r:id="rId15"/>
    <p:sldLayoutId id="2147483751" r:id="rId16"/>
    <p:sldLayoutId id="2147483756" r:id="rId17"/>
    <p:sldLayoutId id="2147483669" r:id="rId18"/>
    <p:sldLayoutId id="2147483672" r:id="rId19"/>
    <p:sldLayoutId id="2147483675" r:id="rId20"/>
    <p:sldLayoutId id="2147483676" r:id="rId21"/>
    <p:sldLayoutId id="2147483799" r:id="rId22"/>
    <p:sldLayoutId id="2147483678" r:id="rId23"/>
    <p:sldLayoutId id="2147483680" r:id="rId24"/>
    <p:sldLayoutId id="2147483705" r:id="rId25"/>
    <p:sldLayoutId id="2147483800" r:id="rId26"/>
    <p:sldLayoutId id="2147483801" r:id="rId27"/>
    <p:sldLayoutId id="2147483859" r:id="rId28"/>
    <p:sldLayoutId id="2147483893" r:id="rId29"/>
    <p:sldLayoutId id="2147483905" r:id="rId3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b="0" kern="1200" cap="none" spc="0" baseline="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1600" b="0" kern="1200">
          <a:solidFill>
            <a:schemeClr val="tx1"/>
          </a:solidFill>
          <a:latin typeface="+mj-lt"/>
          <a:ea typeface="+mn-ea"/>
          <a:cs typeface="Calibri" panose="020F0502020204030204" pitchFamily="34" charset="0"/>
        </a:defRPr>
      </a:lvl1pPr>
      <a:lvl2pPr marL="169863" indent="-169863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j-lt"/>
          <a:ea typeface="+mn-ea"/>
          <a:cs typeface="+mn-cs"/>
        </a:defRPr>
      </a:lvl2pPr>
      <a:lvl3pPr marL="400050" indent="-17145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–"/>
        <a:defRPr sz="1200" b="0" kern="1200">
          <a:solidFill>
            <a:schemeClr val="tx1"/>
          </a:solidFill>
          <a:latin typeface="+mj-lt"/>
          <a:ea typeface="+mn-ea"/>
          <a:cs typeface="+mn-cs"/>
        </a:defRPr>
      </a:lvl3pPr>
      <a:lvl4pPr marL="576263" indent="-169863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100" b="0" kern="1200">
          <a:solidFill>
            <a:schemeClr val="tx1"/>
          </a:solidFill>
          <a:latin typeface="+mj-lt"/>
          <a:ea typeface="+mn-ea"/>
          <a:cs typeface="+mn-cs"/>
        </a:defRPr>
      </a:lvl4pPr>
      <a:lvl5pPr marL="744538" indent="-17145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»"/>
        <a:defRPr sz="1100" b="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2" userDrawn="1">
          <p15:clr>
            <a:srgbClr val="F26B43"/>
          </p15:clr>
        </p15:guide>
        <p15:guide id="2" pos="5448" userDrawn="1">
          <p15:clr>
            <a:srgbClr val="F26B43"/>
          </p15:clr>
        </p15:guide>
        <p15:guide id="3" orient="horz" pos="168" userDrawn="1">
          <p15:clr>
            <a:srgbClr val="F26B43"/>
          </p15:clr>
        </p15:guide>
        <p15:guide id="4" orient="horz" pos="306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E926830-E451-47A2-936E-E868C74F2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569592"/>
            <a:ext cx="8138160" cy="390527"/>
          </a:xfrm>
          <a:prstGeom prst="rect">
            <a:avLst/>
          </a:prstGeom>
        </p:spPr>
        <p:txBody>
          <a:bodyPr vert="horz" lIns="0" tIns="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88CDD25-57BC-4143-9EE9-D6CC4FB54CDD}"/>
              </a:ext>
            </a:extLst>
          </p:cNvPr>
          <p:cNvSpPr txBox="1">
            <a:spLocks/>
          </p:cNvSpPr>
          <p:nvPr userDrawn="1"/>
        </p:nvSpPr>
        <p:spPr bwMode="gray">
          <a:xfrm>
            <a:off x="502920" y="4820603"/>
            <a:ext cx="3057981" cy="219076"/>
          </a:xfrm>
          <a:prstGeom prst="rect">
            <a:avLst/>
          </a:prstGeom>
        </p:spPr>
        <p:txBody>
          <a:bodyPr vert="horz" lIns="0" r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Proprietary and confidential — do not distribute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BA266860-C8E8-4821-86E8-E590638BCE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300" y="1111624"/>
            <a:ext cx="8145780" cy="3520701"/>
          </a:xfrm>
          <a:prstGeom prst="rect">
            <a:avLst/>
          </a:prstGeom>
        </p:spPr>
        <p:txBody>
          <a:bodyPr vert="horz" lIns="0" tIns="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First level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  <a:endParaRPr lang="en-IN"/>
          </a:p>
        </p:txBody>
      </p:sp>
      <p:sp>
        <p:nvSpPr>
          <p:cNvPr id="8" name="Footer Placeholder 16">
            <a:extLst>
              <a:ext uri="{FF2B5EF4-FFF2-40B4-BE49-F238E27FC236}">
                <a16:creationId xmlns:a16="http://schemas.microsoft.com/office/drawing/2014/main" id="{15264C8D-6D44-47CD-9AB6-2A399BFAE4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45056" y="4767263"/>
            <a:ext cx="3931921" cy="274637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Special Use Cases  |  </a:t>
            </a:r>
            <a:endParaRPr lang="en-IN"/>
          </a:p>
        </p:txBody>
      </p:sp>
      <p:sp>
        <p:nvSpPr>
          <p:cNvPr id="13" name="Slide Number Placeholder 17">
            <a:extLst>
              <a:ext uri="{FF2B5EF4-FFF2-40B4-BE49-F238E27FC236}">
                <a16:creationId xmlns:a16="http://schemas.microsoft.com/office/drawing/2014/main" id="{C76C409B-96C3-4C29-964B-C900205FF9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67058" y="4767263"/>
            <a:ext cx="568102" cy="274637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14" name="Date Placeholder 2">
            <a:extLst>
              <a:ext uri="{FF2B5EF4-FFF2-40B4-BE49-F238E27FC236}">
                <a16:creationId xmlns:a16="http://schemas.microsoft.com/office/drawing/2014/main" id="{C1011042-D3C6-4DF8-8232-9CEDA23921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531511" y="4767263"/>
            <a:ext cx="787879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72A3379B-3401-4109-9BB4-9BCE41A72AB0}" type="datetime1">
              <a:rPr lang="en-US" sz="1000" smtClean="0"/>
              <a:t>9/9/2026</a:t>
            </a:fld>
            <a:endParaRPr lang="en-IN" sz="1000"/>
          </a:p>
        </p:txBody>
      </p:sp>
    </p:spTree>
    <p:extLst>
      <p:ext uri="{BB962C8B-B14F-4D97-AF65-F5344CB8AC3E}">
        <p14:creationId xmlns:p14="http://schemas.microsoft.com/office/powerpoint/2010/main" val="1954397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812" r:id="rId2"/>
    <p:sldLayoutId id="2147483778" r:id="rId3"/>
    <p:sldLayoutId id="2147483779" r:id="rId4"/>
    <p:sldLayoutId id="2147483782" r:id="rId5"/>
    <p:sldLayoutId id="2147483783" r:id="rId6"/>
    <p:sldLayoutId id="2147483784" r:id="rId7"/>
    <p:sldLayoutId id="2147483785" r:id="rId8"/>
    <p:sldLayoutId id="2147483808" r:id="rId9"/>
    <p:sldLayoutId id="2147483809" r:id="rId10"/>
    <p:sldLayoutId id="2147483794" r:id="rId11"/>
    <p:sldLayoutId id="2147483795" r:id="rId12"/>
    <p:sldLayoutId id="2147483786" r:id="rId13"/>
    <p:sldLayoutId id="2147483775" r:id="rId14"/>
    <p:sldLayoutId id="2147483791" r:id="rId15"/>
    <p:sldLayoutId id="2147483796" r:id="rId16"/>
    <p:sldLayoutId id="2147483792" r:id="rId17"/>
    <p:sldLayoutId id="2147483793" r:id="rId1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IN" sz="2600" b="0" kern="1200" cap="none" spc="0" baseline="0" smtClean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1600" b="0" kern="1200">
          <a:solidFill>
            <a:schemeClr val="tx1"/>
          </a:solidFill>
          <a:latin typeface="+mj-lt"/>
          <a:ea typeface="+mn-ea"/>
          <a:cs typeface="Calibri" panose="020F0502020204030204" pitchFamily="34" charset="0"/>
        </a:defRPr>
      </a:lvl1pPr>
      <a:lvl2pPr marL="169863" indent="-169863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j-lt"/>
          <a:ea typeface="+mn-ea"/>
          <a:cs typeface="+mn-cs"/>
        </a:defRPr>
      </a:lvl2pPr>
      <a:lvl3pPr marL="400050" indent="-17145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–"/>
        <a:defRPr sz="1200" b="0" kern="1200">
          <a:solidFill>
            <a:schemeClr val="tx1"/>
          </a:solidFill>
          <a:latin typeface="+mj-lt"/>
          <a:ea typeface="+mn-ea"/>
          <a:cs typeface="+mn-cs"/>
        </a:defRPr>
      </a:lvl3pPr>
      <a:lvl4pPr marL="571500" indent="-169863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100" b="0" kern="1200">
          <a:solidFill>
            <a:schemeClr val="tx1"/>
          </a:solidFill>
          <a:latin typeface="+mj-lt"/>
          <a:ea typeface="+mn-ea"/>
          <a:cs typeface="+mn-cs"/>
        </a:defRPr>
      </a:lvl4pPr>
      <a:lvl5pPr marL="742950" indent="-17145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»"/>
        <a:defRPr sz="1100" b="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2">
          <p15:clr>
            <a:srgbClr val="F26B43"/>
          </p15:clr>
        </p15:guide>
        <p15:guide id="2" pos="5448">
          <p15:clr>
            <a:srgbClr val="F26B43"/>
          </p15:clr>
        </p15:guide>
        <p15:guide id="3" orient="horz" pos="3060" userDrawn="1">
          <p15:clr>
            <a:srgbClr val="F26B43"/>
          </p15:clr>
        </p15:guide>
        <p15:guide id="4" orient="horz" pos="18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82D6F8FC-ACF3-4232-9D6A-626861E10D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7"/>
            </p:custDataLst>
            <p:extLst>
              <p:ext uri="{D42A27DB-BD31-4B8C-83A1-F6EECF244321}">
                <p14:modId xmlns:p14="http://schemas.microsoft.com/office/powerpoint/2010/main" val="3440338264"/>
              </p:ext>
            </p:ext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9" imgW="416" imgH="416" progId="TCLayout.ActiveDocument.1">
                  <p:embed/>
                </p:oleObj>
              </mc:Choice>
              <mc:Fallback>
                <p:oleObj name="think-cell Slide" r:id="rId19" imgW="416" imgH="41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82D6F8FC-ACF3-4232-9D6A-626861E10D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A90454B5-00D4-4D85-8E21-796CE93C192A}"/>
              </a:ext>
            </a:extLst>
          </p:cNvPr>
          <p:cNvSpPr/>
          <p:nvPr userDrawn="1">
            <p:custDataLst>
              <p:tags r:id="rId18"/>
            </p:custDataLst>
          </p:nvPr>
        </p:nvSpPr>
        <p:spPr>
          <a:xfrm>
            <a:off x="1" y="1"/>
            <a:ext cx="158750" cy="15875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2600" b="0" i="0" baseline="0"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2920" y="523239"/>
            <a:ext cx="8138160" cy="366529"/>
          </a:xfrm>
          <a:prstGeom prst="rect">
            <a:avLst/>
          </a:prstGeom>
        </p:spPr>
        <p:txBody>
          <a:bodyPr vert="horz" lIns="0" tIns="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2920" y="1097280"/>
            <a:ext cx="8138160" cy="3566160"/>
          </a:xfrm>
          <a:prstGeom prst="rect">
            <a:avLst/>
          </a:prstGeom>
        </p:spPr>
        <p:txBody>
          <a:bodyPr vert="horz" lIns="0" tIns="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First level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573390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  <p:sldLayoutId id="2147483824" r:id="rId11"/>
    <p:sldLayoutId id="2147483825" r:id="rId12"/>
    <p:sldLayoutId id="2147483826" r:id="rId13"/>
    <p:sldLayoutId id="2147483827" r:id="rId14"/>
    <p:sldLayoutId id="2147483828" r:id="rId15"/>
  </p:sldLayoutIdLst>
  <p:hf sldNum="0" hdr="0" ftr="0" dt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2600" b="0" kern="1200" cap="none" spc="0" baseline="0">
          <a:solidFill>
            <a:schemeClr val="accent5"/>
          </a:solidFill>
          <a:latin typeface="Georgia" panose="02040502050405020303" pitchFamily="18" charset="0"/>
          <a:ea typeface="黑体" panose="02010609060101010101" pitchFamily="49" charset="-122"/>
          <a:cs typeface="+mj-cs"/>
        </a:defRPr>
      </a:lvl1pPr>
    </p:titleStyle>
    <p:bodyStyle>
      <a:lvl1pPr marL="0" indent="0" algn="l" defTabSz="685783" rtl="0" eaLnBrk="1" latinLnBrk="0" hangingPunct="1">
        <a:lnSpc>
          <a:spcPct val="100000"/>
        </a:lnSpc>
        <a:spcBef>
          <a:spcPts val="450"/>
        </a:spcBef>
        <a:buFont typeface="Arial" panose="020B0604020202020204" pitchFamily="34" charset="0"/>
        <a:buNone/>
        <a:defRPr sz="1800" b="1" kern="1200" baseline="0">
          <a:solidFill>
            <a:schemeClr val="accent5"/>
          </a:solidFill>
          <a:latin typeface="Georgia" panose="02040502050405020303" pitchFamily="18" charset="0"/>
          <a:ea typeface="黑体" panose="02010609060101010101" pitchFamily="49" charset="-122"/>
          <a:cs typeface="Calibri" panose="020F0502020204030204" pitchFamily="34" charset="0"/>
        </a:defRPr>
      </a:lvl1pPr>
      <a:lvl2pPr marL="127394" indent="-127394" algn="l" defTabSz="685783" rtl="0" eaLnBrk="1" latinLnBrk="0" hangingPunct="1">
        <a:lnSpc>
          <a:spcPct val="100000"/>
        </a:lnSpc>
        <a:spcBef>
          <a:spcPts val="45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Georgia" panose="02040502050405020303" pitchFamily="18" charset="0"/>
          <a:ea typeface="黑体" panose="02010609060101010101" pitchFamily="49" charset="-122"/>
          <a:cs typeface="+mn-cs"/>
        </a:defRPr>
      </a:lvl2pPr>
      <a:lvl3pPr marL="349241" indent="-177796" algn="l" defTabSz="685783" rtl="0" eaLnBrk="1" latinLnBrk="0" hangingPunct="1">
        <a:lnSpc>
          <a:spcPct val="100000"/>
        </a:lnSpc>
        <a:spcBef>
          <a:spcPts val="450"/>
        </a:spcBef>
        <a:buFont typeface="Arial" panose="020B0604020202020204" pitchFamily="34" charset="0"/>
        <a:buChar char="–"/>
        <a:tabLst/>
        <a:defRPr sz="1400" kern="1200" baseline="0">
          <a:solidFill>
            <a:schemeClr val="tx1"/>
          </a:solidFill>
          <a:latin typeface="Georgia" panose="02040502050405020303" pitchFamily="18" charset="0"/>
          <a:ea typeface="黑体" panose="02010609060101010101" pitchFamily="49" charset="-122"/>
          <a:cs typeface="+mn-cs"/>
        </a:defRPr>
      </a:lvl3pPr>
      <a:lvl4pPr marL="470285" indent="-127394" algn="l" defTabSz="685783" rtl="0" eaLnBrk="1" latinLnBrk="0" hangingPunct="1">
        <a:lnSpc>
          <a:spcPct val="100000"/>
        </a:lnSpc>
        <a:spcBef>
          <a:spcPts val="450"/>
        </a:spcBef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latin typeface="Georgia" panose="02040502050405020303" pitchFamily="18" charset="0"/>
          <a:ea typeface="黑体" panose="02010609060101010101" pitchFamily="49" charset="-122"/>
          <a:cs typeface="+mn-cs"/>
        </a:defRPr>
      </a:lvl4pPr>
      <a:lvl5pPr marL="642922" indent="-128585" algn="l" defTabSz="685783" rtl="0" eaLnBrk="1" latinLnBrk="0" hangingPunct="1">
        <a:lnSpc>
          <a:spcPct val="100000"/>
        </a:lnSpc>
        <a:spcBef>
          <a:spcPts val="450"/>
        </a:spcBef>
        <a:buFont typeface="Arial" panose="020B0604020202020204" pitchFamily="34" charset="0"/>
        <a:buChar char="»"/>
        <a:defRPr sz="1200" kern="1200" baseline="0">
          <a:solidFill>
            <a:schemeClr val="tx1"/>
          </a:solidFill>
          <a:latin typeface="Georgia" panose="02040502050405020303" pitchFamily="18" charset="0"/>
          <a:ea typeface="黑体" panose="02010609060101010101" pitchFamily="49" charset="-122"/>
          <a:cs typeface="+mn-cs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  <p15:guide id="3" orient="horz" pos="4152">
          <p15:clr>
            <a:srgbClr val="F26B43"/>
          </p15:clr>
        </p15:guide>
        <p15:guide id="4" orient="horz" pos="504">
          <p15:clr>
            <a:srgbClr val="F26B43"/>
          </p15:clr>
        </p15:guide>
        <p15:guide id="5" pos="3048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2920" y="569594"/>
            <a:ext cx="8138160" cy="390526"/>
          </a:xfrm>
          <a:prstGeom prst="rect">
            <a:avLst/>
          </a:prstGeom>
        </p:spPr>
        <p:txBody>
          <a:bodyPr vert="horz" lIns="0" tIns="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D42C3B-6191-4FCC-892C-38AF4234E0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300" y="1111624"/>
            <a:ext cx="8145780" cy="3520701"/>
          </a:xfrm>
          <a:prstGeom prst="rect">
            <a:avLst/>
          </a:prstGeom>
        </p:spPr>
        <p:txBody>
          <a:bodyPr vert="horz" lIns="0" tIns="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First level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  <a:endParaRPr lang="en-IN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664E22B-AE9E-442B-AA5F-E8AC6B0E3B7D}"/>
              </a:ext>
            </a:extLst>
          </p:cNvPr>
          <p:cNvSpPr txBox="1">
            <a:spLocks/>
          </p:cNvSpPr>
          <p:nvPr userDrawn="1"/>
        </p:nvSpPr>
        <p:spPr bwMode="gray">
          <a:xfrm>
            <a:off x="502920" y="4820603"/>
            <a:ext cx="3057981" cy="219076"/>
          </a:xfrm>
          <a:prstGeom prst="rect">
            <a:avLst/>
          </a:prstGeom>
        </p:spPr>
        <p:txBody>
          <a:bodyPr vert="horz" lIns="0" r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Proprietary and confidential — do not distribute</a:t>
            </a:r>
          </a:p>
        </p:txBody>
      </p:sp>
      <p:sp>
        <p:nvSpPr>
          <p:cNvPr id="9" name="Footer Placeholder 16">
            <a:extLst>
              <a:ext uri="{FF2B5EF4-FFF2-40B4-BE49-F238E27FC236}">
                <a16:creationId xmlns:a16="http://schemas.microsoft.com/office/drawing/2014/main" id="{BCBFA1EE-BECD-4887-AC0A-41F4CAF816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45056" y="4767263"/>
            <a:ext cx="3931921" cy="274637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BTS Power Apps  |  </a:t>
            </a:r>
            <a:endParaRPr lang="en-IN"/>
          </a:p>
        </p:txBody>
      </p:sp>
      <p:sp>
        <p:nvSpPr>
          <p:cNvPr id="11" name="Slide Number Placeholder 17">
            <a:extLst>
              <a:ext uri="{FF2B5EF4-FFF2-40B4-BE49-F238E27FC236}">
                <a16:creationId xmlns:a16="http://schemas.microsoft.com/office/drawing/2014/main" id="{B0C0A961-4760-478B-92D9-DFE0D6E830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67058" y="4767263"/>
            <a:ext cx="568102" cy="274637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9D44F0-9262-4CAF-B936-25EE51300E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531511" y="4767263"/>
            <a:ext cx="787879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C286573F-8100-40C7-B43C-D7AA3EB3F2F7}" type="datetime1">
              <a:rPr lang="en-US" sz="1000" smtClean="0"/>
              <a:t>9/9/2026</a:t>
            </a:fld>
            <a:endParaRPr lang="en-IN" sz="1000"/>
          </a:p>
        </p:txBody>
      </p:sp>
    </p:spTree>
    <p:extLst>
      <p:ext uri="{BB962C8B-B14F-4D97-AF65-F5344CB8AC3E}">
        <p14:creationId xmlns:p14="http://schemas.microsoft.com/office/powerpoint/2010/main" val="366815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  <p:sldLayoutId id="2147483841" r:id="rId12"/>
    <p:sldLayoutId id="2147483842" r:id="rId13"/>
    <p:sldLayoutId id="2147483843" r:id="rId14"/>
    <p:sldLayoutId id="2147483844" r:id="rId15"/>
    <p:sldLayoutId id="2147483845" r:id="rId16"/>
    <p:sldLayoutId id="2147483846" r:id="rId17"/>
    <p:sldLayoutId id="2147483847" r:id="rId18"/>
    <p:sldLayoutId id="2147483848" r:id="rId19"/>
    <p:sldLayoutId id="2147483849" r:id="rId20"/>
    <p:sldLayoutId id="2147483850" r:id="rId21"/>
    <p:sldLayoutId id="2147483851" r:id="rId22"/>
    <p:sldLayoutId id="2147483852" r:id="rId23"/>
    <p:sldLayoutId id="2147483853" r:id="rId24"/>
    <p:sldLayoutId id="2147483854" r:id="rId25"/>
    <p:sldLayoutId id="2147483855" r:id="rId26"/>
    <p:sldLayoutId id="2147483856" r:id="rId27"/>
    <p:sldLayoutId id="2147483857" r:id="rId28"/>
    <p:sldLayoutId id="2147483858" r:id="rId2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b="0" kern="1200" cap="none" spc="0" baseline="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1600" b="0" kern="1200">
          <a:solidFill>
            <a:schemeClr val="tx1"/>
          </a:solidFill>
          <a:latin typeface="+mj-lt"/>
          <a:ea typeface="+mn-ea"/>
          <a:cs typeface="Calibri" panose="020F0502020204030204" pitchFamily="34" charset="0"/>
        </a:defRPr>
      </a:lvl1pPr>
      <a:lvl2pPr marL="169863" indent="-169863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j-lt"/>
          <a:ea typeface="+mn-ea"/>
          <a:cs typeface="+mn-cs"/>
        </a:defRPr>
      </a:lvl2pPr>
      <a:lvl3pPr marL="400050" indent="-17145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–"/>
        <a:defRPr sz="1200" b="0" kern="1200">
          <a:solidFill>
            <a:schemeClr val="tx1"/>
          </a:solidFill>
          <a:latin typeface="+mj-lt"/>
          <a:ea typeface="+mn-ea"/>
          <a:cs typeface="+mn-cs"/>
        </a:defRPr>
      </a:lvl3pPr>
      <a:lvl4pPr marL="576263" indent="-169863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100" b="0" kern="1200">
          <a:solidFill>
            <a:schemeClr val="tx1"/>
          </a:solidFill>
          <a:latin typeface="+mj-lt"/>
          <a:ea typeface="+mn-ea"/>
          <a:cs typeface="+mn-cs"/>
        </a:defRPr>
      </a:lvl4pPr>
      <a:lvl5pPr marL="744538" indent="-17145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»"/>
        <a:defRPr sz="1100" b="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2">
          <p15:clr>
            <a:srgbClr val="F26B43"/>
          </p15:clr>
        </p15:guide>
        <p15:guide id="2" pos="5448">
          <p15:clr>
            <a:srgbClr val="F26B43"/>
          </p15:clr>
        </p15:guide>
        <p15:guide id="3" orient="horz" pos="168">
          <p15:clr>
            <a:srgbClr val="F26B43"/>
          </p15:clr>
        </p15:guide>
        <p15:guide id="4" orient="horz" pos="306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2920" y="523239"/>
            <a:ext cx="8138160" cy="366529"/>
          </a:xfrm>
          <a:prstGeom prst="rect">
            <a:avLst/>
          </a:prstGeom>
        </p:spPr>
        <p:txBody>
          <a:bodyPr vert="horz" lIns="0" tIns="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2920" y="1097280"/>
            <a:ext cx="8138160" cy="3566160"/>
          </a:xfrm>
          <a:prstGeom prst="rect">
            <a:avLst/>
          </a:prstGeom>
        </p:spPr>
        <p:txBody>
          <a:bodyPr vert="horz" lIns="0" tIns="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First level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DE86C8D-6EF0-DF4C-AC6E-231FCE8968BE}"/>
              </a:ext>
            </a:extLst>
          </p:cNvPr>
          <p:cNvSpPr txBox="1">
            <a:spLocks/>
          </p:cNvSpPr>
          <p:nvPr userDrawn="1"/>
        </p:nvSpPr>
        <p:spPr bwMode="gray">
          <a:xfrm>
            <a:off x="502921" y="4675983"/>
            <a:ext cx="2570786" cy="365125"/>
          </a:xfrm>
          <a:prstGeom prst="rect">
            <a:avLst/>
          </a:prstGeom>
        </p:spPr>
        <p:txBody>
          <a:bodyPr vert="horz" lIns="0" r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1198533" algn="ctr"/>
                <a:tab pos="8229395" algn="r"/>
              </a:tabLst>
            </a:pPr>
            <a:r>
              <a:rPr lang="en-US" sz="1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Proprietary and confidential — do not distribute 	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71E658E2-D601-834F-AA5F-E60CCB8D49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574173" y="4767264"/>
            <a:ext cx="1188720" cy="273844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1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236FC2FE-D9A6-AF48-AD77-930B68553FD2}" type="datetime4">
              <a:rPr lang="en-US" smtClean="0">
                <a:solidFill>
                  <a:srgbClr val="000000"/>
                </a:solidFill>
              </a:rPr>
              <a:t>September 9, 2026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35E0CAD-FD65-974E-BD89-6F35DE2986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14471" y="4767264"/>
            <a:ext cx="4480560" cy="273844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1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>
                <a:solidFill>
                  <a:srgbClr val="000000"/>
                </a:solidFill>
              </a:rPr>
              <a:t>Enter title via "insert&gt;header and footer&gt;footer" |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5681659-E037-1A4E-9A87-8E4DD3E894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6290" y="4767264"/>
            <a:ext cx="292608" cy="273844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ctr">
              <a:defRPr sz="10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A2885E78-1F86-4A3D-9EE1-B0103B1CEF15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0992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8" r:id="rId1"/>
    <p:sldLayoutId id="2147483869" r:id="rId2"/>
    <p:sldLayoutId id="2147483870" r:id="rId3"/>
    <p:sldLayoutId id="2147483871" r:id="rId4"/>
  </p:sldLayoutIdLst>
  <p:hf hdr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2600" b="0" kern="1200" cap="none" spc="0" baseline="0">
          <a:solidFill>
            <a:schemeClr val="accent5"/>
          </a:solidFill>
          <a:latin typeface="+mn-lt"/>
          <a:ea typeface="+mj-ea"/>
          <a:cs typeface="+mj-cs"/>
        </a:defRPr>
      </a:lvl1pPr>
    </p:titleStyle>
    <p:bodyStyle>
      <a:lvl1pPr marL="0" indent="0" algn="l" defTabSz="685783" rtl="0" eaLnBrk="1" latinLnBrk="0" hangingPunct="1">
        <a:lnSpc>
          <a:spcPct val="100000"/>
        </a:lnSpc>
        <a:spcBef>
          <a:spcPts val="450"/>
        </a:spcBef>
        <a:buFont typeface="Arial" panose="020B0604020202020204" pitchFamily="34" charset="0"/>
        <a:buNone/>
        <a:defRPr sz="1800" b="1" kern="1200">
          <a:solidFill>
            <a:schemeClr val="accent5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127394" indent="-127394" algn="l" defTabSz="685783" rtl="0" eaLnBrk="1" latinLnBrk="0" hangingPunct="1">
        <a:lnSpc>
          <a:spcPct val="100000"/>
        </a:lnSpc>
        <a:spcBef>
          <a:spcPts val="45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49241" indent="-177796" algn="l" defTabSz="685783" rtl="0" eaLnBrk="1" latinLnBrk="0" hangingPunct="1">
        <a:lnSpc>
          <a:spcPct val="100000"/>
        </a:lnSpc>
        <a:spcBef>
          <a:spcPts val="450"/>
        </a:spcBef>
        <a:buFont typeface="Arial" panose="020B0604020202020204" pitchFamily="34" charset="0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470285" indent="-127394" algn="l" defTabSz="685783" rtl="0" eaLnBrk="1" latinLnBrk="0" hangingPunct="1">
        <a:lnSpc>
          <a:spcPct val="100000"/>
        </a:lnSpc>
        <a:spcBef>
          <a:spcPts val="45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642922" indent="-128585" algn="l" defTabSz="685783" rtl="0" eaLnBrk="1" latinLnBrk="0" hangingPunct="1">
        <a:lnSpc>
          <a:spcPct val="100000"/>
        </a:lnSpc>
        <a:spcBef>
          <a:spcPts val="450"/>
        </a:spcBef>
        <a:buFont typeface="Arial" panose="020B0604020202020204" pitchFamily="34" charset="0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8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5536">
          <p15:clr>
            <a:srgbClr val="F26B43"/>
          </p15:clr>
        </p15:guide>
        <p15:guide id="4" orient="horz" pos="672">
          <p15:clr>
            <a:srgbClr val="F26B43"/>
          </p15:clr>
        </p15:guide>
        <p15:guide id="5" pos="4064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2920" y="523240"/>
            <a:ext cx="8138160" cy="366529"/>
          </a:xfrm>
          <a:prstGeom prst="rect">
            <a:avLst/>
          </a:prstGeom>
        </p:spPr>
        <p:txBody>
          <a:bodyPr vert="horz" lIns="0" tIns="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2920" y="1097280"/>
            <a:ext cx="8138160" cy="3566160"/>
          </a:xfrm>
          <a:prstGeom prst="rect">
            <a:avLst/>
          </a:prstGeom>
        </p:spPr>
        <p:txBody>
          <a:bodyPr vert="horz" lIns="0" tIns="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First level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DE86C8D-6EF0-DF4C-AC6E-231FCE8968BE}"/>
              </a:ext>
            </a:extLst>
          </p:cNvPr>
          <p:cNvSpPr txBox="1">
            <a:spLocks/>
          </p:cNvSpPr>
          <p:nvPr/>
        </p:nvSpPr>
        <p:spPr bwMode="gray">
          <a:xfrm>
            <a:off x="502921" y="4675984"/>
            <a:ext cx="2570786" cy="365125"/>
          </a:xfrm>
          <a:prstGeom prst="rect">
            <a:avLst/>
          </a:prstGeom>
        </p:spPr>
        <p:txBody>
          <a:bodyPr vert="horz" lIns="0" r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1198503" algn="ctr"/>
                <a:tab pos="8229189" algn="r"/>
              </a:tabLst>
            </a:pPr>
            <a:r>
              <a:rPr lang="en-US" sz="1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Proprietary and confidential — do not distribute 	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71E658E2-D601-834F-AA5F-E60CCB8D49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574173" y="4767264"/>
            <a:ext cx="1188720" cy="273844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1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47DB8860-AC79-4A0F-AF4A-DDD000CDE07E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35E0CAD-FD65-974E-BD89-6F35DE2986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14471" y="4767264"/>
            <a:ext cx="4480560" cy="273844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1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5681659-E037-1A4E-9A87-8E4DD3E894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6290" y="4767264"/>
            <a:ext cx="292608" cy="273844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ctr">
              <a:defRPr sz="10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05A13562-9C6B-4D11-9AB0-3E30AB2B1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8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  <p:sldLayoutId id="2147483874" r:id="rId2"/>
    <p:sldLayoutId id="2147483875" r:id="rId3"/>
  </p:sldLayoutIdLst>
  <p:txStyles>
    <p:titleStyle>
      <a:lvl1pPr algn="l" defTabSz="514337" rtl="0" eaLnBrk="1" latinLnBrk="0" hangingPunct="1">
        <a:lnSpc>
          <a:spcPct val="90000"/>
        </a:lnSpc>
        <a:spcBef>
          <a:spcPct val="0"/>
        </a:spcBef>
        <a:buNone/>
        <a:defRPr sz="1950" b="0" kern="1200" cap="none" spc="0" baseline="0">
          <a:solidFill>
            <a:schemeClr val="accent5"/>
          </a:solidFill>
          <a:latin typeface="+mn-lt"/>
          <a:ea typeface="+mj-ea"/>
          <a:cs typeface="+mj-cs"/>
        </a:defRPr>
      </a:lvl1pPr>
    </p:titleStyle>
    <p:bodyStyle>
      <a:lvl1pPr marL="0" indent="0" algn="l" defTabSz="514337" rtl="0" eaLnBrk="1" latinLnBrk="0" hangingPunct="1">
        <a:lnSpc>
          <a:spcPct val="100000"/>
        </a:lnSpc>
        <a:spcBef>
          <a:spcPts val="338"/>
        </a:spcBef>
        <a:buFont typeface="Arial" panose="020B0604020202020204" pitchFamily="34" charset="0"/>
        <a:buNone/>
        <a:defRPr sz="1350" b="1" kern="1200">
          <a:solidFill>
            <a:schemeClr val="accent5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95546" indent="-95546" algn="l" defTabSz="514337" rtl="0" eaLnBrk="1" latinLnBrk="0" hangingPunct="1">
        <a:lnSpc>
          <a:spcPct val="100000"/>
        </a:lnSpc>
        <a:spcBef>
          <a:spcPts val="338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261931" indent="-133347" algn="l" defTabSz="514337" rtl="0" eaLnBrk="1" latinLnBrk="0" hangingPunct="1">
        <a:lnSpc>
          <a:spcPct val="100000"/>
        </a:lnSpc>
        <a:spcBef>
          <a:spcPts val="338"/>
        </a:spcBef>
        <a:buFont typeface="Arial" panose="020B0604020202020204" pitchFamily="34" charset="0"/>
        <a:buChar char="–"/>
        <a:tabLst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352714" indent="-95546" algn="l" defTabSz="514337" rtl="0" eaLnBrk="1" latinLnBrk="0" hangingPunct="1">
        <a:lnSpc>
          <a:spcPct val="100000"/>
        </a:lnSpc>
        <a:spcBef>
          <a:spcPts val="338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482192" indent="-96439" algn="l" defTabSz="514337" rtl="0" eaLnBrk="1" latinLnBrk="0" hangingPunct="1">
        <a:lnSpc>
          <a:spcPct val="100000"/>
        </a:lnSpc>
        <a:spcBef>
          <a:spcPts val="338"/>
        </a:spcBef>
        <a:buFont typeface="Arial" panose="020B0604020202020204" pitchFamily="34" charset="0"/>
        <a:buChar char="»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414427" indent="-128585" algn="l" defTabSz="514337" rtl="0" eaLnBrk="1" latinLnBrk="0" hangingPunct="1">
        <a:spcBef>
          <a:spcPct val="20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671596" indent="-128585" algn="l" defTabSz="514337" rtl="0" eaLnBrk="1" latinLnBrk="0" hangingPunct="1">
        <a:spcBef>
          <a:spcPct val="20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1928765" indent="-128585" algn="l" defTabSz="514337" rtl="0" eaLnBrk="1" latinLnBrk="0" hangingPunct="1">
        <a:spcBef>
          <a:spcPct val="20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185933" indent="-128585" algn="l" defTabSz="514337" rtl="0" eaLnBrk="1" latinLnBrk="0" hangingPunct="1">
        <a:spcBef>
          <a:spcPct val="20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69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37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06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675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43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11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180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349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8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5536">
          <p15:clr>
            <a:srgbClr val="F26B43"/>
          </p15:clr>
        </p15:guide>
        <p15:guide id="4" orient="horz" pos="672">
          <p15:clr>
            <a:srgbClr val="F26B43"/>
          </p15:clr>
        </p15:guide>
        <p15:guide id="5" pos="40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5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9.svg"/><Relationship Id="rId4" Type="http://schemas.openxmlformats.org/officeDocument/2006/relationships/image" Target="../media/image28.sv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svg"/><Relationship Id="rId7" Type="http://schemas.openxmlformats.org/officeDocument/2006/relationships/image" Target="../media/image34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3.svg"/><Relationship Id="rId5" Type="http://schemas.openxmlformats.org/officeDocument/2006/relationships/image" Target="../media/image32.svg"/><Relationship Id="rId4" Type="http://schemas.openxmlformats.org/officeDocument/2006/relationships/image" Target="../media/image31.svg"/><Relationship Id="rId9" Type="http://schemas.openxmlformats.org/officeDocument/2006/relationships/image" Target="../media/image36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7.svg"/><Relationship Id="rId7" Type="http://schemas.openxmlformats.org/officeDocument/2006/relationships/image" Target="../media/image41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0.svg"/><Relationship Id="rId5" Type="http://schemas.openxmlformats.org/officeDocument/2006/relationships/image" Target="../media/image39.svg"/><Relationship Id="rId4" Type="http://schemas.openxmlformats.org/officeDocument/2006/relationships/image" Target="../media/image38.svg"/><Relationship Id="rId9" Type="http://schemas.openxmlformats.org/officeDocument/2006/relationships/image" Target="../media/image43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44.svg"/><Relationship Id="rId7" Type="http://schemas.openxmlformats.org/officeDocument/2006/relationships/image" Target="../media/image48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7.svg"/><Relationship Id="rId5" Type="http://schemas.openxmlformats.org/officeDocument/2006/relationships/image" Target="../media/image46.svg"/><Relationship Id="rId4" Type="http://schemas.openxmlformats.org/officeDocument/2006/relationships/image" Target="../media/image45.svg"/><Relationship Id="rId9" Type="http://schemas.openxmlformats.org/officeDocument/2006/relationships/image" Target="../media/image50.sv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55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60.png"/><Relationship Id="rId11" Type="http://schemas.openxmlformats.org/officeDocument/2006/relationships/image" Target="../media/image65.png"/><Relationship Id="rId5" Type="http://schemas.openxmlformats.org/officeDocument/2006/relationships/image" Target="../media/image59.png"/><Relationship Id="rId10" Type="http://schemas.openxmlformats.org/officeDocument/2006/relationships/image" Target="../media/image64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9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sv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ctrTitle"/>
          </p:nvPr>
        </p:nvSpPr>
        <p:spPr>
          <a:xfrm>
            <a:off x="502920" y="2330054"/>
            <a:ext cx="8138160" cy="1234440"/>
          </a:xfrm>
        </p:spPr>
        <p:txBody>
          <a:bodyPr/>
          <a:lstStyle/>
          <a:p>
            <a:r>
              <a:rPr lang="en-US"/>
              <a:t>China RIMS Solution Proposal</a:t>
            </a:r>
          </a:p>
        </p:txBody>
      </p:sp>
      <p:sp>
        <p:nvSpPr>
          <p:cNvPr id="13" name="Subtitle 12"/>
          <p:cNvSpPr>
            <a:spLocks noGrp="1"/>
          </p:cNvSpPr>
          <p:nvPr>
            <p:ph type="subTitle" idx="1"/>
          </p:nvPr>
        </p:nvSpPr>
        <p:spPr>
          <a:xfrm>
            <a:off x="502919" y="1749981"/>
            <a:ext cx="8138159" cy="480060"/>
          </a:xfrm>
        </p:spPr>
        <p:txBody>
          <a:bodyPr/>
          <a:lstStyle/>
          <a:p>
            <a:r>
              <a:rPr lang="en-US">
                <a:latin typeface="Georgia (Headings)"/>
              </a:rPr>
              <a:t>BTS China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/>
          </p:nvPr>
        </p:nvSpPr>
        <p:spPr>
          <a:xfrm>
            <a:off x="502920" y="3701654"/>
            <a:ext cx="4846320" cy="480060"/>
          </a:xfrm>
        </p:spPr>
        <p:txBody>
          <a:bodyPr/>
          <a:lstStyle/>
          <a:p>
            <a:r>
              <a:rPr lang="en-US"/>
              <a:t>Sep |  2026</a:t>
            </a:r>
          </a:p>
        </p:txBody>
      </p:sp>
    </p:spTree>
    <p:extLst>
      <p:ext uri="{BB962C8B-B14F-4D97-AF65-F5344CB8AC3E}">
        <p14:creationId xmlns:p14="http://schemas.microsoft.com/office/powerpoint/2010/main" val="2812340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sym typeface="+mn-lt"/>
              </a:rPr>
              <a:t>1. P</a:t>
            </a:r>
            <a:r>
              <a:rPr lang="en-US" altLang="zh-CN">
                <a:sym typeface="+mn-lt"/>
              </a:rPr>
              <a:t>roject Background </a:t>
            </a:r>
            <a:endParaRPr lang="en-US">
              <a:sym typeface="+mn-lt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F3C5704-F2F6-4100-AD73-1F81B0E899C7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>
            <a:normAutofit/>
          </a:bodyPr>
          <a:lstStyle/>
          <a:p>
            <a:r>
              <a:rPr lang="en-US" altLang="zh-CN">
                <a:latin typeface="+mj-lt"/>
                <a:sym typeface="+mn-lt"/>
              </a:rPr>
              <a:t>China RIMS Solution Proposal</a:t>
            </a:r>
            <a:endParaRPr lang="zh-CN" altLang="en-US">
              <a:latin typeface="+mj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31000E-0EDF-F97D-2A3C-85B28D4BB3C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0" tIns="0" rIns="68580" bIns="34290" rtlCol="0" anchor="t">
            <a:normAutofit/>
          </a:bodyPr>
          <a:lstStyle/>
          <a:p>
            <a:r>
              <a:rPr lang="en-US">
                <a:cs typeface="Calibri"/>
              </a:rPr>
              <a:t>Sep 2026</a:t>
            </a:r>
          </a:p>
        </p:txBody>
      </p:sp>
    </p:spTree>
    <p:extLst>
      <p:ext uri="{BB962C8B-B14F-4D97-AF65-F5344CB8AC3E}">
        <p14:creationId xmlns:p14="http://schemas.microsoft.com/office/powerpoint/2010/main" val="1063695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3A138-F4DD-FB29-F59A-53BC80B10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8DA6BAD-6E6F-1667-F49F-CFCC943968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China RIMS Solution Proposal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403D1B9-268B-A71C-AFA4-A1C417E3A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项目背景</a:t>
            </a:r>
            <a:r>
              <a:rPr lang="en-US" altLang="zh-CN"/>
              <a:t>&amp;</a:t>
            </a:r>
            <a:r>
              <a:rPr lang="zh-CN" altLang="en-US"/>
              <a:t>项目目标</a:t>
            </a:r>
            <a:endParaRPr lang="en-US"/>
          </a:p>
        </p:txBody>
      </p:sp>
      <p:grpSp>
        <p:nvGrpSpPr>
          <p:cNvPr id="5" name="组合 24">
            <a:extLst>
              <a:ext uri="{FF2B5EF4-FFF2-40B4-BE49-F238E27FC236}">
                <a16:creationId xmlns:a16="http://schemas.microsoft.com/office/drawing/2014/main" id="{773DD8DA-E376-2507-95F7-91557A4DC82B}"/>
              </a:ext>
            </a:extLst>
          </p:cNvPr>
          <p:cNvGrpSpPr/>
          <p:nvPr/>
        </p:nvGrpSpPr>
        <p:grpSpPr>
          <a:xfrm>
            <a:off x="-3117" y="914871"/>
            <a:ext cx="9147116" cy="3697830"/>
            <a:chOff x="-4155" y="1425911"/>
            <a:chExt cx="12236160" cy="4930440"/>
          </a:xfrm>
          <a:noFill/>
        </p:grpSpPr>
        <p:sp>
          <p:nvSpPr>
            <p:cNvPr id="7" name="文本框 82">
              <a:extLst>
                <a:ext uri="{FF2B5EF4-FFF2-40B4-BE49-F238E27FC236}">
                  <a16:creationId xmlns:a16="http://schemas.microsoft.com/office/drawing/2014/main" id="{F0BFC521-BF95-1016-48B7-9377C0AFD6A1}"/>
                </a:ext>
              </a:extLst>
            </p:cNvPr>
            <p:cNvSpPr txBox="1">
              <a:spLocks/>
            </p:cNvSpPr>
            <p:nvPr/>
          </p:nvSpPr>
          <p:spPr>
            <a:xfrm>
              <a:off x="7109160" y="1425911"/>
              <a:ext cx="5122845" cy="4930427"/>
            </a:xfrm>
            <a:prstGeom prst="rect">
              <a:avLst/>
            </a:prstGeom>
            <a:grpFill/>
          </p:spPr>
          <p:txBody>
            <a:bodyPr wrap="square" rtlCol="0">
              <a:noAutofit/>
            </a:bodyPr>
            <a:lstStyle/>
            <a:p>
              <a:endParaRPr lang="zh-CN" altLang="en-US" sz="1350">
                <a:latin typeface="+mj-lt"/>
              </a:endParaRPr>
            </a:p>
          </p:txBody>
        </p:sp>
        <p:grpSp>
          <p:nvGrpSpPr>
            <p:cNvPr id="8" name="组合 23">
              <a:extLst>
                <a:ext uri="{FF2B5EF4-FFF2-40B4-BE49-F238E27FC236}">
                  <a16:creationId xmlns:a16="http://schemas.microsoft.com/office/drawing/2014/main" id="{71B3E7B4-5CAC-9F8B-F110-A773C155B99E}"/>
                </a:ext>
              </a:extLst>
            </p:cNvPr>
            <p:cNvGrpSpPr/>
            <p:nvPr/>
          </p:nvGrpSpPr>
          <p:grpSpPr>
            <a:xfrm>
              <a:off x="-4155" y="1425924"/>
              <a:ext cx="7326079" cy="4930427"/>
              <a:chOff x="-4155" y="1425924"/>
              <a:chExt cx="7326079" cy="4930427"/>
            </a:xfrm>
            <a:grpFill/>
          </p:grpSpPr>
          <p:sp>
            <p:nvSpPr>
              <p:cNvPr id="14" name="等腰三角形 111">
                <a:extLst>
                  <a:ext uri="{FF2B5EF4-FFF2-40B4-BE49-F238E27FC236}">
                    <a16:creationId xmlns:a16="http://schemas.microsoft.com/office/drawing/2014/main" id="{6FD477B0-132B-6E8B-C493-EC1C877B6E02}"/>
                  </a:ext>
                </a:extLst>
              </p:cNvPr>
              <p:cNvSpPr/>
              <p:nvPr/>
            </p:nvSpPr>
            <p:spPr>
              <a:xfrm rot="5400000">
                <a:off x="7023071" y="3905615"/>
                <a:ext cx="338477" cy="259229"/>
              </a:xfrm>
              <a:prstGeom prst="triangl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500">
                  <a:latin typeface="+mj-lt"/>
                </a:endParaRPr>
              </a:p>
            </p:txBody>
          </p:sp>
          <p:sp>
            <p:nvSpPr>
              <p:cNvPr id="17" name="文本框 81">
                <a:extLst>
                  <a:ext uri="{FF2B5EF4-FFF2-40B4-BE49-F238E27FC236}">
                    <a16:creationId xmlns:a16="http://schemas.microsoft.com/office/drawing/2014/main" id="{F60B0C6F-BDEA-B3E5-B2C8-6BD38137214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4155" y="1425924"/>
                <a:ext cx="7081520" cy="4930427"/>
              </a:xfrm>
              <a:prstGeom prst="rect">
                <a:avLst/>
              </a:prstGeom>
              <a:grpFill/>
            </p:spPr>
            <p:txBody>
              <a:bodyPr wrap="square" rtlCol="0">
                <a:noAutofit/>
              </a:bodyPr>
              <a:lstStyle/>
              <a:p>
                <a:endParaRPr lang="zh-CN" altLang="en-US" sz="1350" err="1">
                  <a:latin typeface="+mj-lt"/>
                </a:endParaRPr>
              </a:p>
            </p:txBody>
          </p:sp>
        </p:grpSp>
      </p:grpSp>
      <p:sp>
        <p:nvSpPr>
          <p:cNvPr id="18" name="Select distribution behind key hypotheses">
            <a:extLst>
              <a:ext uri="{FF2B5EF4-FFF2-40B4-BE49-F238E27FC236}">
                <a16:creationId xmlns:a16="http://schemas.microsoft.com/office/drawing/2014/main" id="{11AB645D-20C2-6C4F-12E5-01A7489C34C5}"/>
              </a:ext>
            </a:extLst>
          </p:cNvPr>
          <p:cNvSpPr txBox="1"/>
          <p:nvPr/>
        </p:nvSpPr>
        <p:spPr>
          <a:xfrm>
            <a:off x="5963927" y="2608481"/>
            <a:ext cx="2571997" cy="2000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200" b="1"/>
            </a:lvl1pPr>
          </a:lstStyle>
          <a:p>
            <a:pPr lvl="0">
              <a:buClr>
                <a:srgbClr val="000000"/>
              </a:buClr>
              <a:defRPr sz="2200" b="1"/>
            </a:pPr>
            <a:r>
              <a:rPr lang="zh-CN" altLang="en-US" sz="1050"/>
              <a:t>搭建标准化境内归档平台</a:t>
            </a:r>
            <a:endParaRPr sz="1050" kern="0">
              <a:solidFill>
                <a:srgbClr val="000000"/>
              </a:solidFill>
              <a:latin typeface="+mj-lt"/>
              <a:cs typeface="Gotham" pitchFamily="50" charset="0"/>
              <a:sym typeface="Arial"/>
            </a:endParaRPr>
          </a:p>
        </p:txBody>
      </p:sp>
      <p:sp>
        <p:nvSpPr>
          <p:cNvPr id="20" name="Square">
            <a:extLst>
              <a:ext uri="{FF2B5EF4-FFF2-40B4-BE49-F238E27FC236}">
                <a16:creationId xmlns:a16="http://schemas.microsoft.com/office/drawing/2014/main" id="{13774905-F462-A682-285A-54F39B580161}"/>
              </a:ext>
            </a:extLst>
          </p:cNvPr>
          <p:cNvSpPr/>
          <p:nvPr/>
        </p:nvSpPr>
        <p:spPr>
          <a:xfrm>
            <a:off x="5634097" y="2596581"/>
            <a:ext cx="223427" cy="223427"/>
          </a:xfrm>
          <a:prstGeom prst="rect">
            <a:avLst/>
          </a:prstGeom>
          <a:solidFill>
            <a:srgbClr val="009CDE"/>
          </a:solidFill>
          <a:ln w="25400" cap="flat">
            <a:solidFill>
              <a:srgbClr val="009CDE"/>
            </a:solidFill>
            <a:prstDash val="solid"/>
            <a:miter lim="400000"/>
          </a:ln>
          <a:effectLst/>
        </p:spPr>
        <p:txBody>
          <a:bodyPr wrap="square" lIns="19050" tIns="19050" rIns="19050" bIns="19050" numCol="1" anchor="ctr">
            <a:noAutofit/>
          </a:bodyPr>
          <a:lstStyle/>
          <a:p>
            <a:pPr algn="ctr" defTabSz="309563">
              <a:buClr>
                <a:srgbClr val="000000"/>
              </a:buClr>
              <a:defRPr sz="3200">
                <a:solidFill>
                  <a:srgbClr val="00AA5B"/>
                </a:solidFill>
              </a:defRPr>
            </a:pPr>
            <a:endParaRPr sz="2700" kern="0">
              <a:solidFill>
                <a:srgbClr val="00AA5B"/>
              </a:solidFill>
              <a:latin typeface="+mj-lt"/>
              <a:cs typeface="Gotham" pitchFamily="50" charset="0"/>
              <a:sym typeface="Arial"/>
            </a:endParaRPr>
          </a:p>
        </p:txBody>
      </p:sp>
      <p:sp>
        <p:nvSpPr>
          <p:cNvPr id="21" name="1">
            <a:extLst>
              <a:ext uri="{FF2B5EF4-FFF2-40B4-BE49-F238E27FC236}">
                <a16:creationId xmlns:a16="http://schemas.microsoft.com/office/drawing/2014/main" id="{A6303AA5-C954-8ECE-22AC-8521DECED554}"/>
              </a:ext>
            </a:extLst>
          </p:cNvPr>
          <p:cNvSpPr/>
          <p:nvPr/>
        </p:nvSpPr>
        <p:spPr>
          <a:xfrm>
            <a:off x="5591496" y="2631369"/>
            <a:ext cx="155954" cy="155954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19050" tIns="19050" rIns="19050" bIns="19050" numCol="1" anchor="ctr">
            <a:noAutofit/>
          </a:bodyPr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400" b="1" i="1"/>
            </a:lvl1pPr>
          </a:lstStyle>
          <a:p>
            <a:pPr defTabSz="619125">
              <a:buClr>
                <a:srgbClr val="000000"/>
              </a:buClr>
              <a:defRPr/>
            </a:pPr>
            <a:r>
              <a:rPr sz="900" b="0" i="0" kern="0">
                <a:solidFill>
                  <a:srgbClr val="000000"/>
                </a:solidFill>
                <a:latin typeface="+mj-lt"/>
                <a:cs typeface="Gotham" pitchFamily="50" charset="0"/>
                <a:sym typeface="Arial"/>
              </a:rPr>
              <a:t>1</a:t>
            </a:r>
          </a:p>
        </p:txBody>
      </p:sp>
      <p:grpSp>
        <p:nvGrpSpPr>
          <p:cNvPr id="24" name="Group">
            <a:extLst>
              <a:ext uri="{FF2B5EF4-FFF2-40B4-BE49-F238E27FC236}">
                <a16:creationId xmlns:a16="http://schemas.microsoft.com/office/drawing/2014/main" id="{D65ED91C-E13B-1298-7AFF-A02E283DAD40}"/>
              </a:ext>
            </a:extLst>
          </p:cNvPr>
          <p:cNvGrpSpPr/>
          <p:nvPr/>
        </p:nvGrpSpPr>
        <p:grpSpPr>
          <a:xfrm>
            <a:off x="5591496" y="3289432"/>
            <a:ext cx="266028" cy="223427"/>
            <a:chOff x="0" y="0"/>
            <a:chExt cx="709404" cy="595801"/>
          </a:xfrm>
        </p:grpSpPr>
        <p:sp>
          <p:nvSpPr>
            <p:cNvPr id="25" name="Square">
              <a:extLst>
                <a:ext uri="{FF2B5EF4-FFF2-40B4-BE49-F238E27FC236}">
                  <a16:creationId xmlns:a16="http://schemas.microsoft.com/office/drawing/2014/main" id="{7D99E208-08F7-9085-9F04-E81D9606150F}"/>
                </a:ext>
              </a:extLst>
            </p:cNvPr>
            <p:cNvSpPr/>
            <p:nvPr/>
          </p:nvSpPr>
          <p:spPr>
            <a:xfrm>
              <a:off x="113603" y="0"/>
              <a:ext cx="595801" cy="595801"/>
            </a:xfrm>
            <a:prstGeom prst="rect">
              <a:avLst/>
            </a:prstGeom>
            <a:solidFill>
              <a:srgbClr val="009CDE"/>
            </a:solidFill>
            <a:ln w="25400" cap="flat">
              <a:solidFill>
                <a:srgbClr val="009CDE"/>
              </a:solidFill>
              <a:prstDash val="solid"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algn="ctr" defTabSz="309563">
                <a:buClr>
                  <a:srgbClr val="000000"/>
                </a:buClr>
              </a:pPr>
              <a:endParaRPr sz="2700" kern="0">
                <a:solidFill>
                  <a:srgbClr val="00AA5B"/>
                </a:solidFill>
                <a:latin typeface="+mj-lt"/>
                <a:cs typeface="Gotham" pitchFamily="50" charset="0"/>
                <a:sym typeface="Arial"/>
              </a:endParaRPr>
            </a:p>
          </p:txBody>
        </p:sp>
        <p:sp>
          <p:nvSpPr>
            <p:cNvPr id="26" name="2">
              <a:extLst>
                <a:ext uri="{FF2B5EF4-FFF2-40B4-BE49-F238E27FC236}">
                  <a16:creationId xmlns:a16="http://schemas.microsoft.com/office/drawing/2014/main" id="{4FBF3501-A8DF-53A1-C2B1-4AC0486D58B3}"/>
                </a:ext>
              </a:extLst>
            </p:cNvPr>
            <p:cNvSpPr/>
            <p:nvPr/>
          </p:nvSpPr>
          <p:spPr>
            <a:xfrm>
              <a:off x="0" y="92767"/>
              <a:ext cx="415875" cy="415876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19050" tIns="19050" rIns="19050" bIns="19050" numCol="1" anchor="ctr">
              <a:noAutofit/>
            </a:bodyPr>
            <a:lstStyle>
              <a:lvl1pPr algn="ctr" defTabSz="825500">
                <a:lnSpc>
                  <a:spcPct val="100000"/>
                </a:lnSpc>
                <a:spcBef>
                  <a:spcPts val="0"/>
                </a:spcBef>
                <a:defRPr sz="2400" b="1" i="1"/>
              </a:lvl1pPr>
            </a:lstStyle>
            <a:p>
              <a:pPr defTabSz="619125">
                <a:buClr>
                  <a:srgbClr val="000000"/>
                </a:buClr>
                <a:defRPr/>
              </a:pPr>
              <a:r>
                <a:rPr sz="900" b="0" i="0" kern="0">
                  <a:solidFill>
                    <a:srgbClr val="000000"/>
                  </a:solidFill>
                  <a:latin typeface="+mj-lt"/>
                  <a:cs typeface="Gotham" pitchFamily="50" charset="0"/>
                  <a:sym typeface="Arial"/>
                </a:rPr>
                <a:t>2</a:t>
              </a:r>
            </a:p>
          </p:txBody>
        </p:sp>
      </p:grpSp>
      <p:grpSp>
        <p:nvGrpSpPr>
          <p:cNvPr id="27" name="Group">
            <a:extLst>
              <a:ext uri="{FF2B5EF4-FFF2-40B4-BE49-F238E27FC236}">
                <a16:creationId xmlns:a16="http://schemas.microsoft.com/office/drawing/2014/main" id="{F6786F18-A25E-B40C-8C52-3C70E82A7AF3}"/>
              </a:ext>
            </a:extLst>
          </p:cNvPr>
          <p:cNvGrpSpPr/>
          <p:nvPr/>
        </p:nvGrpSpPr>
        <p:grpSpPr>
          <a:xfrm>
            <a:off x="5600398" y="3972257"/>
            <a:ext cx="266028" cy="223427"/>
            <a:chOff x="0" y="0"/>
            <a:chExt cx="709405" cy="595801"/>
          </a:xfrm>
        </p:grpSpPr>
        <p:sp>
          <p:nvSpPr>
            <p:cNvPr id="28" name="Square">
              <a:extLst>
                <a:ext uri="{FF2B5EF4-FFF2-40B4-BE49-F238E27FC236}">
                  <a16:creationId xmlns:a16="http://schemas.microsoft.com/office/drawing/2014/main" id="{C844DF6A-7016-D08E-4CE1-A65EB591EF00}"/>
                </a:ext>
              </a:extLst>
            </p:cNvPr>
            <p:cNvSpPr/>
            <p:nvPr/>
          </p:nvSpPr>
          <p:spPr>
            <a:xfrm>
              <a:off x="113603" y="0"/>
              <a:ext cx="595802" cy="595801"/>
            </a:xfrm>
            <a:prstGeom prst="rect">
              <a:avLst/>
            </a:prstGeom>
            <a:solidFill>
              <a:srgbClr val="009CDE"/>
            </a:solidFill>
            <a:ln w="25400" cap="flat">
              <a:solidFill>
                <a:srgbClr val="009CDE"/>
              </a:solidFill>
              <a:prstDash val="solid"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algn="ctr" defTabSz="309563">
                <a:buClr>
                  <a:srgbClr val="000000"/>
                </a:buClr>
              </a:pPr>
              <a:endParaRPr sz="2700" kern="0">
                <a:solidFill>
                  <a:srgbClr val="00AA5B"/>
                </a:solidFill>
                <a:latin typeface="+mj-lt"/>
                <a:cs typeface="Gotham" pitchFamily="50" charset="0"/>
                <a:sym typeface="Arial"/>
              </a:endParaRPr>
            </a:p>
          </p:txBody>
        </p:sp>
        <p:sp>
          <p:nvSpPr>
            <p:cNvPr id="30" name="4">
              <a:extLst>
                <a:ext uri="{FF2B5EF4-FFF2-40B4-BE49-F238E27FC236}">
                  <a16:creationId xmlns:a16="http://schemas.microsoft.com/office/drawing/2014/main" id="{C0A8D9F5-E94E-9CF9-B089-96788C69E82E}"/>
                </a:ext>
              </a:extLst>
            </p:cNvPr>
            <p:cNvSpPr/>
            <p:nvPr/>
          </p:nvSpPr>
          <p:spPr>
            <a:xfrm>
              <a:off x="0" y="92768"/>
              <a:ext cx="415875" cy="415876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19050" tIns="19050" rIns="19050" bIns="19050" numCol="1" anchor="ctr">
              <a:noAutofit/>
            </a:bodyPr>
            <a:lstStyle>
              <a:lvl1pPr algn="ctr" defTabSz="825500">
                <a:lnSpc>
                  <a:spcPct val="100000"/>
                </a:lnSpc>
                <a:spcBef>
                  <a:spcPts val="0"/>
                </a:spcBef>
                <a:defRPr sz="2400" b="1" i="1"/>
              </a:lvl1pPr>
            </a:lstStyle>
            <a:p>
              <a:pPr defTabSz="619125">
                <a:buClr>
                  <a:srgbClr val="000000"/>
                </a:buClr>
                <a:defRPr/>
              </a:pPr>
              <a:r>
                <a:rPr lang="en-US" sz="900" b="0" i="0" kern="0">
                  <a:solidFill>
                    <a:srgbClr val="000000"/>
                  </a:solidFill>
                  <a:latin typeface="+mj-lt"/>
                  <a:cs typeface="Gotham" pitchFamily="50" charset="0"/>
                  <a:sym typeface="Arial"/>
                </a:rPr>
                <a:t>3</a:t>
              </a:r>
              <a:endParaRPr sz="900" b="0" i="0" kern="0">
                <a:solidFill>
                  <a:srgbClr val="000000"/>
                </a:solidFill>
                <a:latin typeface="+mj-lt"/>
                <a:cs typeface="Gotham" pitchFamily="50" charset="0"/>
                <a:sym typeface="Arial"/>
              </a:endParaRPr>
            </a:p>
          </p:txBody>
        </p:sp>
      </p:grpSp>
      <p:sp>
        <p:nvSpPr>
          <p:cNvPr id="31" name="Rectangle">
            <a:extLst>
              <a:ext uri="{FF2B5EF4-FFF2-40B4-BE49-F238E27FC236}">
                <a16:creationId xmlns:a16="http://schemas.microsoft.com/office/drawing/2014/main" id="{26B1A3A0-5476-0CC7-9C0D-7440409BDF7B}"/>
              </a:ext>
            </a:extLst>
          </p:cNvPr>
          <p:cNvSpPr/>
          <p:nvPr/>
        </p:nvSpPr>
        <p:spPr>
          <a:xfrm>
            <a:off x="502920" y="1050605"/>
            <a:ext cx="4701540" cy="320039"/>
          </a:xfrm>
          <a:prstGeom prst="rect">
            <a:avLst/>
          </a:prstGeom>
          <a:solidFill>
            <a:srgbClr val="009CDE"/>
          </a:solidFill>
          <a:ln w="25400">
            <a:solidFill>
              <a:srgbClr val="FFFFFF"/>
            </a:solidFill>
          </a:ln>
        </p:spPr>
        <p:txBody>
          <a:bodyPr lIns="45719" tIns="45719" rIns="45719" bIns="45719">
            <a:noAutofit/>
          </a:bodyPr>
          <a:lstStyle/>
          <a:p>
            <a:pPr algn="ctr" defTabSz="457200">
              <a:spcBef>
                <a:spcPts val="188"/>
              </a:spcBef>
              <a:buClr>
                <a:srgbClr val="000000"/>
              </a:buClr>
              <a:defRPr sz="3400" b="1">
                <a:solidFill>
                  <a:srgbClr val="FFFFFF"/>
                </a:solidFill>
              </a:defRPr>
            </a:pPr>
            <a:r>
              <a:rPr lang="zh-CN" altLang="en-US" sz="1500" b="1" kern="0">
                <a:solidFill>
                  <a:srgbClr val="FFFFFF"/>
                </a:solidFill>
                <a:latin typeface="+mj-lt"/>
                <a:cs typeface="Gotham" pitchFamily="50" charset="0"/>
                <a:sym typeface="Arial"/>
              </a:rPr>
              <a:t>项目背景</a:t>
            </a:r>
          </a:p>
        </p:txBody>
      </p:sp>
      <p:sp>
        <p:nvSpPr>
          <p:cNvPr id="32" name="Rectangle">
            <a:extLst>
              <a:ext uri="{FF2B5EF4-FFF2-40B4-BE49-F238E27FC236}">
                <a16:creationId xmlns:a16="http://schemas.microsoft.com/office/drawing/2014/main" id="{D5F18EDF-E595-CD28-4F41-CB51FED452E2}"/>
              </a:ext>
            </a:extLst>
          </p:cNvPr>
          <p:cNvSpPr/>
          <p:nvPr/>
        </p:nvSpPr>
        <p:spPr>
          <a:xfrm>
            <a:off x="5524500" y="1049523"/>
            <a:ext cx="2979420" cy="320039"/>
          </a:xfrm>
          <a:prstGeom prst="rect">
            <a:avLst/>
          </a:prstGeom>
          <a:solidFill>
            <a:srgbClr val="009CDE"/>
          </a:solidFill>
          <a:ln w="25400">
            <a:solidFill>
              <a:srgbClr val="FFFFFF"/>
            </a:solidFill>
          </a:ln>
        </p:spPr>
        <p:txBody>
          <a:bodyPr lIns="45719" tIns="45719" rIns="45719" bIns="45719">
            <a:noAutofit/>
          </a:bodyPr>
          <a:lstStyle/>
          <a:p>
            <a:pPr algn="ctr" defTabSz="457200">
              <a:spcBef>
                <a:spcPts val="188"/>
              </a:spcBef>
              <a:buClr>
                <a:srgbClr val="000000"/>
              </a:buClr>
              <a:defRPr sz="3400" b="1">
                <a:solidFill>
                  <a:srgbClr val="FFFFFF"/>
                </a:solidFill>
              </a:defRPr>
            </a:pPr>
            <a:r>
              <a:rPr lang="zh-CN" altLang="en-US" sz="1500" b="1" kern="0">
                <a:solidFill>
                  <a:srgbClr val="FFFFFF"/>
                </a:solidFill>
                <a:latin typeface="+mj-lt"/>
                <a:cs typeface="Gotham" pitchFamily="50" charset="0"/>
                <a:sym typeface="Arial"/>
              </a:rPr>
              <a:t>项目目标</a:t>
            </a:r>
          </a:p>
        </p:txBody>
      </p:sp>
      <p:sp>
        <p:nvSpPr>
          <p:cNvPr id="33" name="文本框 84">
            <a:extLst>
              <a:ext uri="{FF2B5EF4-FFF2-40B4-BE49-F238E27FC236}">
                <a16:creationId xmlns:a16="http://schemas.microsoft.com/office/drawing/2014/main" id="{E16BCE32-8874-681F-955E-3824CD52B4EB}"/>
              </a:ext>
            </a:extLst>
          </p:cNvPr>
          <p:cNvSpPr txBox="1"/>
          <p:nvPr/>
        </p:nvSpPr>
        <p:spPr>
          <a:xfrm>
            <a:off x="492126" y="1393375"/>
            <a:ext cx="470153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zh-CN" altLang="en-US" sz="1050"/>
              <a:t>雅培数字化转型过程中，各退役系统沉淀海量历史业务数据，该类数据是企业核心资产，也是满足 </a:t>
            </a:r>
            <a:r>
              <a:rPr lang="en-US" altLang="zh-CN" sz="1050"/>
              <a:t>NMPA </a:t>
            </a:r>
            <a:r>
              <a:rPr lang="zh-CN" altLang="en-US" sz="1050"/>
              <a:t>监管审计、保障业务连续的关键依据。为实现境内历史数据标准化、安全合规统一管理，支撑后续检索复盘与经营决策，需落地 </a:t>
            </a:r>
            <a:r>
              <a:rPr lang="en-US" altLang="zh-CN" sz="1050"/>
              <a:t>China RIMS </a:t>
            </a:r>
            <a:r>
              <a:rPr lang="zh-CN" altLang="en-US" sz="1050"/>
              <a:t>记录与信息管理系统。</a:t>
            </a:r>
            <a:endParaRPr lang="zh-CN" altLang="en-US" sz="1050">
              <a:latin typeface="+mj-lt"/>
            </a:endParaRPr>
          </a:p>
        </p:txBody>
      </p:sp>
      <p:sp>
        <p:nvSpPr>
          <p:cNvPr id="34" name="文本框 92">
            <a:extLst>
              <a:ext uri="{FF2B5EF4-FFF2-40B4-BE49-F238E27FC236}">
                <a16:creationId xmlns:a16="http://schemas.microsoft.com/office/drawing/2014/main" id="{9C7F34FF-0D40-F970-BAE4-39C38BB4F77A}"/>
              </a:ext>
            </a:extLst>
          </p:cNvPr>
          <p:cNvSpPr txBox="1"/>
          <p:nvPr/>
        </p:nvSpPr>
        <p:spPr>
          <a:xfrm>
            <a:off x="5491389" y="1403924"/>
            <a:ext cx="301253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zh-CN" altLang="en-US" sz="1050"/>
              <a:t>通过产品调研、阶段规划、方案选型、架构设计、迁移方案、项目排期六大环节完成系统设计，分三期搭建统一归档平台，实现退役系统历史数据标准化归集、安全管控、合规审计与智能化利用。</a:t>
            </a:r>
            <a:endParaRPr lang="zh-CN" altLang="en-US" sz="1050">
              <a:latin typeface="+mj-lt"/>
            </a:endParaRPr>
          </a:p>
        </p:txBody>
      </p:sp>
      <p:sp>
        <p:nvSpPr>
          <p:cNvPr id="35" name="Select distribution behind key hypotheses">
            <a:extLst>
              <a:ext uri="{FF2B5EF4-FFF2-40B4-BE49-F238E27FC236}">
                <a16:creationId xmlns:a16="http://schemas.microsoft.com/office/drawing/2014/main" id="{84A04E4C-5BA7-B79C-88D8-557A8D6B36A3}"/>
              </a:ext>
            </a:extLst>
          </p:cNvPr>
          <p:cNvSpPr txBox="1"/>
          <p:nvPr/>
        </p:nvSpPr>
        <p:spPr>
          <a:xfrm>
            <a:off x="5963926" y="3286143"/>
            <a:ext cx="2539994" cy="2000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200" b="1"/>
            </a:lvl1pPr>
          </a:lstStyle>
          <a:p>
            <a:pPr lvl="0">
              <a:buClr>
                <a:srgbClr val="000000"/>
              </a:buClr>
              <a:defRPr sz="2200" b="1"/>
            </a:pPr>
            <a:r>
              <a:rPr lang="zh-CN" altLang="en-US" sz="1050"/>
              <a:t>分阶段落地全周期数据管控</a:t>
            </a:r>
            <a:endParaRPr sz="1050" kern="0">
              <a:solidFill>
                <a:srgbClr val="000000"/>
              </a:solidFill>
              <a:latin typeface="+mj-lt"/>
              <a:cs typeface="Gotham" pitchFamily="50" charset="0"/>
              <a:sym typeface="Arial"/>
            </a:endParaRPr>
          </a:p>
        </p:txBody>
      </p:sp>
      <p:sp>
        <p:nvSpPr>
          <p:cNvPr id="37" name="Select distribution behind key hypotheses">
            <a:extLst>
              <a:ext uri="{FF2B5EF4-FFF2-40B4-BE49-F238E27FC236}">
                <a16:creationId xmlns:a16="http://schemas.microsoft.com/office/drawing/2014/main" id="{82DD6723-4D76-887E-2B24-364D72589CBC}"/>
              </a:ext>
            </a:extLst>
          </p:cNvPr>
          <p:cNvSpPr txBox="1"/>
          <p:nvPr/>
        </p:nvSpPr>
        <p:spPr>
          <a:xfrm>
            <a:off x="5963926" y="3983944"/>
            <a:ext cx="2571998" cy="2000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200" b="1"/>
            </a:lvl1pPr>
          </a:lstStyle>
          <a:p>
            <a:pPr lvl="0">
              <a:buClr>
                <a:srgbClr val="000000"/>
              </a:buClr>
              <a:defRPr sz="2200" b="1"/>
            </a:pPr>
            <a:r>
              <a:rPr lang="zh-CN" altLang="en-US" sz="1050"/>
              <a:t>实现可控、可审计的数据资产运营</a:t>
            </a:r>
            <a:endParaRPr lang="en-US" altLang="zh-CN" sz="1050">
              <a:latin typeface="+mj-lt"/>
            </a:endParaRPr>
          </a:p>
        </p:txBody>
      </p:sp>
      <p:sp>
        <p:nvSpPr>
          <p:cNvPr id="38" name="矩形: 圆角 238">
            <a:extLst>
              <a:ext uri="{FF2B5EF4-FFF2-40B4-BE49-F238E27FC236}">
                <a16:creationId xmlns:a16="http://schemas.microsoft.com/office/drawing/2014/main" id="{DD6EB9AD-E2D7-B489-921F-4E4AA925F19E}"/>
              </a:ext>
            </a:extLst>
          </p:cNvPr>
          <p:cNvSpPr/>
          <p:nvPr/>
        </p:nvSpPr>
        <p:spPr>
          <a:xfrm>
            <a:off x="539495" y="2413778"/>
            <a:ext cx="4654169" cy="2055114"/>
          </a:xfrm>
          <a:prstGeom prst="roundRect">
            <a:avLst>
              <a:gd name="adj" fmla="val 6538"/>
            </a:avLst>
          </a:prstGeom>
          <a:solidFill>
            <a:schemeClr val="bg1"/>
          </a:solidFill>
          <a:ln w="19050">
            <a:solidFill>
              <a:srgbClr val="009CDE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0" tIns="27000" rIns="54000" bIns="0" numCol="1" rtlCol="0" anchor="ctr" anchorCtr="0"/>
          <a:lstStyle/>
          <a:p>
            <a:pPr marL="720000" defTabSz="914354">
              <a:spcAft>
                <a:spcPts val="3000"/>
              </a:spcAft>
              <a:defRPr/>
            </a:pPr>
            <a:r>
              <a:rPr lang="zh-CN" altLang="en-US" sz="1050" b="1">
                <a:solidFill>
                  <a:srgbClr val="000000"/>
                </a:solidFill>
                <a:sym typeface="+mn-lt"/>
              </a:rPr>
              <a:t>存量痛点：</a:t>
            </a:r>
            <a:r>
              <a:rPr lang="zh-CN" altLang="en-US" sz="1050">
                <a:solidFill>
                  <a:srgbClr val="000000"/>
                </a:solidFill>
                <a:sym typeface="+mn-lt"/>
              </a:rPr>
              <a:t>现有本地 </a:t>
            </a:r>
            <a:r>
              <a:rPr lang="en-US" altLang="zh-CN" sz="1050">
                <a:solidFill>
                  <a:srgbClr val="000000"/>
                </a:solidFill>
                <a:sym typeface="+mn-lt"/>
              </a:rPr>
              <a:t>Blob </a:t>
            </a:r>
            <a:r>
              <a:rPr lang="zh-CN" altLang="en-US" sz="1050">
                <a:solidFill>
                  <a:srgbClr val="000000"/>
                </a:solidFill>
                <a:sym typeface="+mn-lt"/>
              </a:rPr>
              <a:t>仅做底层文件存储，缺少标准化归档、检索能力；</a:t>
            </a:r>
            <a:endParaRPr lang="en-US" altLang="zh-CN" sz="1050">
              <a:solidFill>
                <a:srgbClr val="000000"/>
              </a:solidFill>
              <a:sym typeface="+mn-lt"/>
            </a:endParaRPr>
          </a:p>
          <a:p>
            <a:pPr marL="720000" defTabSz="914354">
              <a:spcAft>
                <a:spcPts val="3000"/>
              </a:spcAft>
              <a:defRPr/>
            </a:pPr>
            <a:r>
              <a:rPr lang="zh-CN" altLang="en-US" sz="1050" b="1">
                <a:solidFill>
                  <a:srgbClr val="000000"/>
                </a:solidFill>
                <a:sym typeface="+mn-lt"/>
              </a:rPr>
              <a:t>资产价值：</a:t>
            </a:r>
            <a:r>
              <a:rPr lang="zh-CN" altLang="en-US" sz="1050">
                <a:solidFill>
                  <a:srgbClr val="000000"/>
                </a:solidFill>
                <a:sym typeface="+mn-lt"/>
              </a:rPr>
              <a:t>沉淀业务全量历史数据，支撑后续业务查询、复盘与经营分析；</a:t>
            </a:r>
            <a:endParaRPr lang="en-US" altLang="zh-CN" sz="1050">
              <a:solidFill>
                <a:srgbClr val="000000"/>
              </a:solidFill>
              <a:sym typeface="+mn-lt"/>
            </a:endParaRPr>
          </a:p>
          <a:p>
            <a:pPr marL="720000" defTabSz="914354">
              <a:spcAft>
                <a:spcPts val="3000"/>
              </a:spcAft>
              <a:defRPr/>
            </a:pPr>
            <a:r>
              <a:rPr lang="zh-CN" altLang="en-US" sz="1050" b="1">
                <a:solidFill>
                  <a:srgbClr val="000000"/>
                </a:solidFill>
                <a:sym typeface="+mn-lt"/>
              </a:rPr>
              <a:t>合规刚需：</a:t>
            </a:r>
            <a:r>
              <a:rPr lang="zh-CN" altLang="en-US" sz="1050">
                <a:solidFill>
                  <a:srgbClr val="000000"/>
                </a:solidFill>
                <a:sym typeface="+mn-lt"/>
              </a:rPr>
              <a:t>历史记录需长期留存，满足 </a:t>
            </a:r>
            <a:r>
              <a:rPr lang="en-US" altLang="zh-CN" sz="1050">
                <a:solidFill>
                  <a:srgbClr val="000000"/>
                </a:solidFill>
                <a:sym typeface="+mn-lt"/>
              </a:rPr>
              <a:t>NMPA</a:t>
            </a:r>
            <a:r>
              <a:rPr lang="zh-CN" altLang="en-US" sz="1050">
                <a:solidFill>
                  <a:srgbClr val="000000"/>
                </a:solidFill>
                <a:sym typeface="+mn-lt"/>
              </a:rPr>
              <a:t> 监管审计核查要求</a:t>
            </a:r>
            <a:endParaRPr lang="zh-CN" altLang="en-US" sz="1050" u="sng">
              <a:solidFill>
                <a:srgbClr val="000000"/>
              </a:solidFill>
              <a:sym typeface="+mn-lt"/>
            </a:endParaRPr>
          </a:p>
        </p:txBody>
      </p:sp>
      <p:pic>
        <p:nvPicPr>
          <p:cNvPr id="39" name="图形 13">
            <a:extLst>
              <a:ext uri="{FF2B5EF4-FFF2-40B4-BE49-F238E27FC236}">
                <a16:creationId xmlns:a16="http://schemas.microsoft.com/office/drawing/2014/main" id="{AE5F4FB5-4E8A-315D-F8A6-CB967EA42A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865" y="3294479"/>
            <a:ext cx="297000" cy="297000"/>
          </a:xfrm>
          <a:prstGeom prst="rect">
            <a:avLst/>
          </a:prstGeom>
        </p:spPr>
      </p:pic>
      <p:pic>
        <p:nvPicPr>
          <p:cNvPr id="40" name="图形 14">
            <a:extLst>
              <a:ext uri="{FF2B5EF4-FFF2-40B4-BE49-F238E27FC236}">
                <a16:creationId xmlns:a16="http://schemas.microsoft.com/office/drawing/2014/main" id="{CEEAB050-5528-8B41-BA17-2E82ED92E7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0005" y="2591487"/>
            <a:ext cx="297000" cy="297000"/>
          </a:xfrm>
          <a:prstGeom prst="rect">
            <a:avLst/>
          </a:prstGeom>
        </p:spPr>
      </p:pic>
      <p:pic>
        <p:nvPicPr>
          <p:cNvPr id="42" name="图形 15">
            <a:extLst>
              <a:ext uri="{FF2B5EF4-FFF2-40B4-BE49-F238E27FC236}">
                <a16:creationId xmlns:a16="http://schemas.microsoft.com/office/drawing/2014/main" id="{76D6E54A-BA52-C7FB-1273-C25D7A61C2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2865" y="3982890"/>
            <a:ext cx="297000" cy="297000"/>
          </a:xfrm>
          <a:prstGeom prst="rect">
            <a:avLst/>
          </a:prstGeom>
        </p:spPr>
      </p:pic>
      <p:grpSp>
        <p:nvGrpSpPr>
          <p:cNvPr id="45" name="Group 27">
            <a:extLst>
              <a:ext uri="{FF2B5EF4-FFF2-40B4-BE49-F238E27FC236}">
                <a16:creationId xmlns:a16="http://schemas.microsoft.com/office/drawing/2014/main" id="{B2B381D1-81F3-63C0-BC21-C59959B9A65A}"/>
              </a:ext>
            </a:extLst>
          </p:cNvPr>
          <p:cNvGrpSpPr/>
          <p:nvPr/>
        </p:nvGrpSpPr>
        <p:grpSpPr>
          <a:xfrm rot="5400000">
            <a:off x="2762378" y="2152659"/>
            <a:ext cx="182624" cy="214427"/>
            <a:chOff x="3076914" y="3611123"/>
            <a:chExt cx="306062" cy="234354"/>
          </a:xfrm>
        </p:grpSpPr>
        <p:sp>
          <p:nvSpPr>
            <p:cNvPr id="46" name="Chevron 33">
              <a:extLst>
                <a:ext uri="{FF2B5EF4-FFF2-40B4-BE49-F238E27FC236}">
                  <a16:creationId xmlns:a16="http://schemas.microsoft.com/office/drawing/2014/main" id="{CFC75A3B-7331-5EBB-68EB-9C32FA5E992D}"/>
                </a:ext>
              </a:extLst>
            </p:cNvPr>
            <p:cNvSpPr/>
            <p:nvPr/>
          </p:nvSpPr>
          <p:spPr bwMode="gray">
            <a:xfrm>
              <a:off x="3076914" y="3611123"/>
              <a:ext cx="173351" cy="234354"/>
            </a:xfrm>
            <a:prstGeom prst="chevron">
              <a:avLst/>
            </a:prstGeom>
            <a:solidFill>
              <a:srgbClr val="004F71">
                <a:alpha val="60000"/>
              </a:srgbClr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66675" tIns="66675" rIns="66675" bIns="66675" rtlCol="0" anchor="ctr"/>
            <a:lstStyle/>
            <a:p>
              <a:pPr algn="ctr" defTabSz="685800">
                <a:lnSpc>
                  <a:spcPct val="106000"/>
                </a:lnSpc>
                <a:defRPr/>
              </a:pPr>
              <a:endParaRPr lang="en-US" sz="1350" b="1" kern="0">
                <a:solidFill>
                  <a:prstClr val="white"/>
                </a:solidFill>
                <a:latin typeface="+mj-lt"/>
                <a:ea typeface="华文楷体"/>
                <a:sym typeface="华文细黑" panose="02010600040101010101" pitchFamily="2" charset="-122"/>
              </a:endParaRPr>
            </a:p>
          </p:txBody>
        </p:sp>
        <p:sp>
          <p:nvSpPr>
            <p:cNvPr id="47" name="Chevron 33">
              <a:extLst>
                <a:ext uri="{FF2B5EF4-FFF2-40B4-BE49-F238E27FC236}">
                  <a16:creationId xmlns:a16="http://schemas.microsoft.com/office/drawing/2014/main" id="{9A761C9C-A48C-8775-D94E-28E253F2E77B}"/>
                </a:ext>
              </a:extLst>
            </p:cNvPr>
            <p:cNvSpPr/>
            <p:nvPr/>
          </p:nvSpPr>
          <p:spPr bwMode="gray">
            <a:xfrm>
              <a:off x="3209625" y="3611123"/>
              <a:ext cx="173351" cy="234354"/>
            </a:xfrm>
            <a:prstGeom prst="chevron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66675" tIns="66675" rIns="66675" bIns="66675" rtlCol="0" anchor="ctr"/>
            <a:lstStyle/>
            <a:p>
              <a:pPr algn="ctr" defTabSz="685800">
                <a:lnSpc>
                  <a:spcPct val="106000"/>
                </a:lnSpc>
                <a:defRPr/>
              </a:pPr>
              <a:endParaRPr lang="en-US" sz="1350" b="1" kern="0">
                <a:solidFill>
                  <a:prstClr val="white"/>
                </a:solidFill>
                <a:latin typeface="+mj-lt"/>
                <a:ea typeface="华文楷体"/>
                <a:sym typeface="华文细黑" panose="0201060004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00473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36A33-B728-4242-C484-C84694339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0BD1AD7-8C04-5DB3-4642-5B508F6B26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China RIMS Solution Proposal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52B0DF7-B9F7-DC18-A565-538F73C19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整体规划概览</a:t>
            </a:r>
          </a:p>
        </p:txBody>
      </p:sp>
      <p:sp>
        <p:nvSpPr>
          <p:cNvPr id="22" name="c1">
            <a:extLst>
              <a:ext uri="{FF2B5EF4-FFF2-40B4-BE49-F238E27FC236}">
                <a16:creationId xmlns:a16="http://schemas.microsoft.com/office/drawing/2014/main" id="{13DB04C3-EDDC-A5F2-9278-BFFE169ADD40}"/>
              </a:ext>
            </a:extLst>
          </p:cNvPr>
          <p:cNvSpPr/>
          <p:nvPr/>
        </p:nvSpPr>
        <p:spPr>
          <a:xfrm>
            <a:off x="133350" y="1155763"/>
            <a:ext cx="1733550" cy="238949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7CFF6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26" name="c1-hdr">
            <a:extLst>
              <a:ext uri="{FF2B5EF4-FFF2-40B4-BE49-F238E27FC236}">
                <a16:creationId xmlns:a16="http://schemas.microsoft.com/office/drawing/2014/main" id="{6631E614-593B-07AF-4FB7-526DE5DD19CD}"/>
              </a:ext>
            </a:extLst>
          </p:cNvPr>
          <p:cNvSpPr/>
          <p:nvPr/>
        </p:nvSpPr>
        <p:spPr>
          <a:xfrm>
            <a:off x="133350" y="1155763"/>
            <a:ext cx="1733550" cy="390525"/>
          </a:xfrm>
          <a:prstGeom prst="roundRect">
            <a:avLst>
              <a:gd name="adj" fmla="val 24472"/>
            </a:avLst>
          </a:prstGeom>
          <a:solidFill>
            <a:srgbClr val="009CDE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30" name="c1-num">
            <a:extLst>
              <a:ext uri="{FF2B5EF4-FFF2-40B4-BE49-F238E27FC236}">
                <a16:creationId xmlns:a16="http://schemas.microsoft.com/office/drawing/2014/main" id="{8136B674-FB75-7C8C-9052-81A82960BCE8}"/>
              </a:ext>
            </a:extLst>
          </p:cNvPr>
          <p:cNvSpPr/>
          <p:nvPr/>
        </p:nvSpPr>
        <p:spPr>
          <a:xfrm>
            <a:off x="276225" y="1241488"/>
            <a:ext cx="219075" cy="21907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34" name="c1-num-t">
            <a:extLst>
              <a:ext uri="{FF2B5EF4-FFF2-40B4-BE49-F238E27FC236}">
                <a16:creationId xmlns:a16="http://schemas.microsoft.com/office/drawing/2014/main" id="{84138746-1D55-D2FD-30FE-560975642320}"/>
              </a:ext>
            </a:extLst>
          </p:cNvPr>
          <p:cNvSpPr txBox="1"/>
          <p:nvPr/>
        </p:nvSpPr>
        <p:spPr>
          <a:xfrm>
            <a:off x="276225" y="1225390"/>
            <a:ext cx="219075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825" b="1" noProof="1">
                <a:latin typeface="Calibri"/>
                <a:ea typeface="MiSans"/>
              </a:rPr>
              <a:t>01</a:t>
            </a:r>
            <a:endParaRPr lang="en-US" sz="825" noProof="1">
              <a:latin typeface="MiSans"/>
            </a:endParaRPr>
          </a:p>
        </p:txBody>
      </p:sp>
      <p:sp>
        <p:nvSpPr>
          <p:cNvPr id="38" name="c1-title">
            <a:extLst>
              <a:ext uri="{FF2B5EF4-FFF2-40B4-BE49-F238E27FC236}">
                <a16:creationId xmlns:a16="http://schemas.microsoft.com/office/drawing/2014/main" id="{15742D3E-12B8-7433-2426-D62A7F3B8366}"/>
              </a:ext>
            </a:extLst>
          </p:cNvPr>
          <p:cNvSpPr txBox="1"/>
          <p:nvPr/>
        </p:nvSpPr>
        <p:spPr>
          <a:xfrm>
            <a:off x="561975" y="1203388"/>
            <a:ext cx="12573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975" b="1" noProof="1">
                <a:solidFill>
                  <a:schemeClr val="bg1"/>
                </a:solidFill>
                <a:latin typeface="Calibri"/>
                <a:ea typeface="MiSans"/>
              </a:rPr>
              <a:t>现状分析</a:t>
            </a:r>
            <a:endParaRPr lang="en-US" sz="975" noProof="1">
              <a:solidFill>
                <a:schemeClr val="bg1"/>
              </a:solidFill>
              <a:latin typeface="MiSans"/>
            </a:endParaRPr>
          </a:p>
        </p:txBody>
      </p:sp>
      <p:sp>
        <p:nvSpPr>
          <p:cNvPr id="42" name="c1-sub">
            <a:extLst>
              <a:ext uri="{FF2B5EF4-FFF2-40B4-BE49-F238E27FC236}">
                <a16:creationId xmlns:a16="http://schemas.microsoft.com/office/drawing/2014/main" id="{E8D44AC1-A6E6-E9D6-4AE6-3309FF0249DE}"/>
              </a:ext>
            </a:extLst>
          </p:cNvPr>
          <p:cNvSpPr txBox="1"/>
          <p:nvPr/>
        </p:nvSpPr>
        <p:spPr>
          <a:xfrm>
            <a:off x="561975" y="1365313"/>
            <a:ext cx="1179195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675" b="1" noProof="1">
                <a:solidFill>
                  <a:schemeClr val="bg1"/>
                </a:solidFill>
                <a:latin typeface="Calibri"/>
                <a:ea typeface="MiSans"/>
              </a:rPr>
              <a:t>理解现状</a:t>
            </a:r>
            <a:r>
              <a:rPr lang="zh-CN" altLang="en-US" sz="675" b="1" noProof="1">
                <a:solidFill>
                  <a:schemeClr val="bg1"/>
                </a:solidFill>
                <a:latin typeface="Calibri"/>
                <a:ea typeface="MiSans"/>
              </a:rPr>
              <a:t>问题与机遇</a:t>
            </a:r>
            <a:endParaRPr lang="en-US" sz="675" noProof="1">
              <a:solidFill>
                <a:schemeClr val="bg1"/>
              </a:solidFill>
              <a:latin typeface="MiSans"/>
            </a:endParaRPr>
          </a:p>
        </p:txBody>
      </p:sp>
      <p:sp>
        <p:nvSpPr>
          <p:cNvPr id="46" name="c1-icon">
            <a:extLst>
              <a:ext uri="{FF2B5EF4-FFF2-40B4-BE49-F238E27FC236}">
                <a16:creationId xmlns:a16="http://schemas.microsoft.com/office/drawing/2014/main" id="{1E43EFF5-7874-185E-03BB-EE16B04010EB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eyJpY29uTmFtZSI6ImZhczptYWduaWZ5aW5nLWdsYXNzLWNoYXJ0In0</pptd:icon>
              </p:ext>
            </p:extLst>
          </p:nvPr>
        </p:nvSpPr>
        <p:spPr>
          <a:xfrm>
            <a:off x="828675" y="1619725"/>
            <a:ext cx="342900" cy="32385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416" y="208"/>
                </a:moveTo>
                <a:cubicBezTo>
                  <a:pt x="416" y="254"/>
                  <a:pt x="401" y="296"/>
                  <a:pt x="376" y="331"/>
                </a:cubicBezTo>
                <a:lnTo>
                  <a:pt x="503" y="457"/>
                </a:lnTo>
                <a:cubicBezTo>
                  <a:pt x="515" y="470"/>
                  <a:pt x="515" y="490"/>
                  <a:pt x="503" y="503"/>
                </a:cubicBezTo>
                <a:cubicBezTo>
                  <a:pt x="490" y="515"/>
                  <a:pt x="470" y="515"/>
                  <a:pt x="457" y="503"/>
                </a:cubicBezTo>
                <a:lnTo>
                  <a:pt x="331" y="376"/>
                </a:lnTo>
                <a:cubicBezTo>
                  <a:pt x="296" y="401"/>
                  <a:pt x="254" y="416"/>
                  <a:pt x="208" y="416"/>
                </a:cubicBezTo>
                <a:cubicBezTo>
                  <a:pt x="93" y="416"/>
                  <a:pt x="0" y="323"/>
                  <a:pt x="0" y="208"/>
                </a:cubicBezTo>
                <a:cubicBezTo>
                  <a:pt x="0" y="93"/>
                  <a:pt x="93" y="0"/>
                  <a:pt x="208" y="0"/>
                </a:cubicBezTo>
                <a:cubicBezTo>
                  <a:pt x="323" y="0"/>
                  <a:pt x="416" y="93"/>
                  <a:pt x="416" y="208"/>
                </a:cubicBezTo>
                <a:close/>
                <a:moveTo>
                  <a:pt x="104" y="216"/>
                </a:moveTo>
                <a:lnTo>
                  <a:pt x="104" y="280"/>
                </a:lnTo>
                <a:cubicBezTo>
                  <a:pt x="104" y="293"/>
                  <a:pt x="115" y="304"/>
                  <a:pt x="128" y="304"/>
                </a:cubicBezTo>
                <a:cubicBezTo>
                  <a:pt x="141" y="304"/>
                  <a:pt x="152" y="293"/>
                  <a:pt x="152" y="280"/>
                </a:cubicBezTo>
                <a:lnTo>
                  <a:pt x="152" y="216"/>
                </a:lnTo>
                <a:cubicBezTo>
                  <a:pt x="152" y="203"/>
                  <a:pt x="141" y="192"/>
                  <a:pt x="128" y="192"/>
                </a:cubicBezTo>
                <a:cubicBezTo>
                  <a:pt x="115" y="192"/>
                  <a:pt x="104" y="203"/>
                  <a:pt x="104" y="216"/>
                </a:cubicBezTo>
                <a:close/>
                <a:moveTo>
                  <a:pt x="184" y="120"/>
                </a:moveTo>
                <a:lnTo>
                  <a:pt x="184" y="280"/>
                </a:lnTo>
                <a:cubicBezTo>
                  <a:pt x="184" y="293"/>
                  <a:pt x="195" y="304"/>
                  <a:pt x="208" y="304"/>
                </a:cubicBezTo>
                <a:cubicBezTo>
                  <a:pt x="221" y="304"/>
                  <a:pt x="232" y="293"/>
                  <a:pt x="232" y="280"/>
                </a:cubicBezTo>
                <a:lnTo>
                  <a:pt x="232" y="120"/>
                </a:lnTo>
                <a:cubicBezTo>
                  <a:pt x="232" y="107"/>
                  <a:pt x="221" y="96"/>
                  <a:pt x="208" y="96"/>
                </a:cubicBezTo>
                <a:cubicBezTo>
                  <a:pt x="195" y="96"/>
                  <a:pt x="184" y="107"/>
                  <a:pt x="184" y="120"/>
                </a:cubicBezTo>
                <a:close/>
                <a:moveTo>
                  <a:pt x="264" y="184"/>
                </a:moveTo>
                <a:lnTo>
                  <a:pt x="264" y="280"/>
                </a:lnTo>
                <a:cubicBezTo>
                  <a:pt x="264" y="293"/>
                  <a:pt x="275" y="304"/>
                  <a:pt x="288" y="304"/>
                </a:cubicBezTo>
                <a:cubicBezTo>
                  <a:pt x="301" y="304"/>
                  <a:pt x="312" y="293"/>
                  <a:pt x="312" y="280"/>
                </a:cubicBezTo>
                <a:lnTo>
                  <a:pt x="312" y="184"/>
                </a:lnTo>
                <a:cubicBezTo>
                  <a:pt x="312" y="171"/>
                  <a:pt x="301" y="160"/>
                  <a:pt x="288" y="160"/>
                </a:cubicBezTo>
                <a:cubicBezTo>
                  <a:pt x="275" y="160"/>
                  <a:pt x="264" y="171"/>
                  <a:pt x="264" y="184"/>
                </a:cubicBezTo>
                <a:close/>
              </a:path>
            </a:pathLst>
          </a:custGeom>
          <a:solidFill>
            <a:srgbClr val="009CDE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50" name="c1-q">
            <a:extLst>
              <a:ext uri="{FF2B5EF4-FFF2-40B4-BE49-F238E27FC236}">
                <a16:creationId xmlns:a16="http://schemas.microsoft.com/office/drawing/2014/main" id="{9D511914-3AFE-3308-D7EA-2B77E8DAD426}"/>
              </a:ext>
            </a:extLst>
          </p:cNvPr>
          <p:cNvSpPr txBox="1"/>
          <p:nvPr/>
        </p:nvSpPr>
        <p:spPr>
          <a:xfrm>
            <a:off x="190500" y="2037903"/>
            <a:ext cx="1619250" cy="123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zh-CN" altLang="en-US" sz="800" b="1" noProof="1">
                <a:latin typeface="Calibri"/>
                <a:ea typeface="MiSans"/>
              </a:rPr>
              <a:t>当前面临什么挑战与机遇？</a:t>
            </a:r>
            <a:endParaRPr lang="en-US" sz="800" noProof="1">
              <a:latin typeface="MiSans"/>
            </a:endParaRPr>
          </a:p>
        </p:txBody>
      </p:sp>
      <p:sp>
        <p:nvSpPr>
          <p:cNvPr id="54" name="c1-bullets">
            <a:extLst>
              <a:ext uri="{FF2B5EF4-FFF2-40B4-BE49-F238E27FC236}">
                <a16:creationId xmlns:a16="http://schemas.microsoft.com/office/drawing/2014/main" id="{5F0102D4-DBF5-1C5F-6E41-C14B26599BDB}"/>
              </a:ext>
            </a:extLst>
          </p:cNvPr>
          <p:cNvSpPr txBox="1"/>
          <p:nvPr/>
        </p:nvSpPr>
        <p:spPr>
          <a:xfrm>
            <a:off x="190500" y="2237928"/>
            <a:ext cx="1609725" cy="1104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171450" indent="-171450" defTabSz="6858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900" noProof="1">
                <a:latin typeface="Calibri"/>
                <a:ea typeface="MiSans"/>
              </a:rPr>
              <a:t>当前挑战总结</a:t>
            </a:r>
            <a:endParaRPr lang="en-US" altLang="zh-CN" sz="900" noProof="1">
              <a:latin typeface="Calibri"/>
              <a:ea typeface="MiSans"/>
            </a:endParaRPr>
          </a:p>
          <a:p>
            <a:pPr marL="171450" indent="-171450" defTabSz="6858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900" noProof="1">
                <a:latin typeface="Calibri"/>
                <a:ea typeface="MiSans"/>
              </a:rPr>
              <a:t>建设</a:t>
            </a:r>
            <a:r>
              <a:rPr lang="en-US" altLang="zh-CN" sz="900" noProof="1">
                <a:latin typeface="Calibri"/>
                <a:ea typeface="MiSans"/>
              </a:rPr>
              <a:t>China RIMS</a:t>
            </a:r>
            <a:r>
              <a:rPr lang="zh-CN" altLang="en-US" sz="900" noProof="1">
                <a:latin typeface="Calibri"/>
                <a:ea typeface="MiSans"/>
              </a:rPr>
              <a:t>带来的资源释放分析</a:t>
            </a:r>
            <a:endParaRPr lang="en-US" sz="900" noProof="1">
              <a:latin typeface="Calibri"/>
              <a:ea typeface="MiSans"/>
            </a:endParaRPr>
          </a:p>
        </p:txBody>
      </p:sp>
      <p:sp>
        <p:nvSpPr>
          <p:cNvPr id="74" name="sep1">
            <a:extLst>
              <a:ext uri="{FF2B5EF4-FFF2-40B4-BE49-F238E27FC236}">
                <a16:creationId xmlns:a16="http://schemas.microsoft.com/office/drawing/2014/main" id="{2FD10186-F79E-CFE7-FBDA-E41AEA9F5F71}"/>
              </a:ext>
            </a:extLst>
          </p:cNvPr>
          <p:cNvSpPr/>
          <p:nvPr/>
        </p:nvSpPr>
        <p:spPr>
          <a:xfrm>
            <a:off x="1921767" y="2498788"/>
            <a:ext cx="104775" cy="133350"/>
          </a:xfrm>
          <a:prstGeom prst="rightArrow">
            <a:avLst>
              <a:gd name="adj1" fmla="val 60000"/>
              <a:gd name="adj2" fmla="val 40000"/>
            </a:avLst>
          </a:prstGeom>
          <a:solidFill>
            <a:srgbClr val="417EE3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40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78" name="c2">
            <a:extLst>
              <a:ext uri="{FF2B5EF4-FFF2-40B4-BE49-F238E27FC236}">
                <a16:creationId xmlns:a16="http://schemas.microsoft.com/office/drawing/2014/main" id="{B6B53DAB-DAA6-5A2A-107B-96050BA6B5EF}"/>
              </a:ext>
            </a:extLst>
          </p:cNvPr>
          <p:cNvSpPr/>
          <p:nvPr/>
        </p:nvSpPr>
        <p:spPr>
          <a:xfrm>
            <a:off x="1921767" y="1155763"/>
            <a:ext cx="1733550" cy="238949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7CFF6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82" name="c2-hdr">
            <a:extLst>
              <a:ext uri="{FF2B5EF4-FFF2-40B4-BE49-F238E27FC236}">
                <a16:creationId xmlns:a16="http://schemas.microsoft.com/office/drawing/2014/main" id="{3E3795D6-0699-D5B5-8265-3E842D7F423B}"/>
              </a:ext>
            </a:extLst>
          </p:cNvPr>
          <p:cNvSpPr/>
          <p:nvPr/>
        </p:nvSpPr>
        <p:spPr>
          <a:xfrm>
            <a:off x="1921767" y="1155763"/>
            <a:ext cx="1733550" cy="390525"/>
          </a:xfrm>
          <a:prstGeom prst="roundRect">
            <a:avLst>
              <a:gd name="adj" fmla="val 23496"/>
            </a:avLst>
          </a:prstGeom>
          <a:solidFill>
            <a:srgbClr val="009CDE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86" name="c2-num">
            <a:extLst>
              <a:ext uri="{FF2B5EF4-FFF2-40B4-BE49-F238E27FC236}">
                <a16:creationId xmlns:a16="http://schemas.microsoft.com/office/drawing/2014/main" id="{DB842044-6614-A6C8-5697-0AFE1CB10996}"/>
              </a:ext>
            </a:extLst>
          </p:cNvPr>
          <p:cNvSpPr/>
          <p:nvPr/>
        </p:nvSpPr>
        <p:spPr>
          <a:xfrm>
            <a:off x="2064642" y="1241488"/>
            <a:ext cx="219075" cy="21907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90" name="c2-num-t">
            <a:extLst>
              <a:ext uri="{FF2B5EF4-FFF2-40B4-BE49-F238E27FC236}">
                <a16:creationId xmlns:a16="http://schemas.microsoft.com/office/drawing/2014/main" id="{EC20DD19-349A-BF27-FC48-38B3DE4E4AF9}"/>
              </a:ext>
            </a:extLst>
          </p:cNvPr>
          <p:cNvSpPr txBox="1"/>
          <p:nvPr/>
        </p:nvSpPr>
        <p:spPr>
          <a:xfrm>
            <a:off x="2064642" y="1225390"/>
            <a:ext cx="219075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825" b="1" noProof="1">
                <a:latin typeface="Calibri"/>
                <a:ea typeface="MiSans"/>
              </a:rPr>
              <a:t>02</a:t>
            </a:r>
            <a:endParaRPr lang="en-US" sz="825" noProof="1">
              <a:latin typeface="MiSans"/>
            </a:endParaRPr>
          </a:p>
        </p:txBody>
      </p:sp>
      <p:sp>
        <p:nvSpPr>
          <p:cNvPr id="94" name="c2-title">
            <a:extLst>
              <a:ext uri="{FF2B5EF4-FFF2-40B4-BE49-F238E27FC236}">
                <a16:creationId xmlns:a16="http://schemas.microsoft.com/office/drawing/2014/main" id="{E4134DFC-7D1C-1818-F91C-13658680FA91}"/>
              </a:ext>
            </a:extLst>
          </p:cNvPr>
          <p:cNvSpPr txBox="1"/>
          <p:nvPr/>
        </p:nvSpPr>
        <p:spPr>
          <a:xfrm>
            <a:off x="2350392" y="1203388"/>
            <a:ext cx="12573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975" b="1" noProof="1">
                <a:solidFill>
                  <a:schemeClr val="bg1"/>
                </a:solidFill>
                <a:latin typeface="Calibri"/>
                <a:ea typeface="MiSans"/>
              </a:rPr>
              <a:t>产品调研</a:t>
            </a:r>
            <a:endParaRPr lang="en-US" sz="975" noProof="1">
              <a:solidFill>
                <a:schemeClr val="bg1"/>
              </a:solidFill>
              <a:latin typeface="MiSans"/>
            </a:endParaRPr>
          </a:p>
        </p:txBody>
      </p:sp>
      <p:sp>
        <p:nvSpPr>
          <p:cNvPr id="98" name="c2-sub">
            <a:extLst>
              <a:ext uri="{FF2B5EF4-FFF2-40B4-BE49-F238E27FC236}">
                <a16:creationId xmlns:a16="http://schemas.microsoft.com/office/drawing/2014/main" id="{046CA4C0-1C21-EF5D-0221-CB0E74E56BD1}"/>
              </a:ext>
            </a:extLst>
          </p:cNvPr>
          <p:cNvSpPr txBox="1"/>
          <p:nvPr/>
        </p:nvSpPr>
        <p:spPr>
          <a:xfrm>
            <a:off x="2350392" y="1365313"/>
            <a:ext cx="1257300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675" b="1" noProof="1">
                <a:solidFill>
                  <a:schemeClr val="bg1"/>
                </a:solidFill>
                <a:latin typeface="Calibri"/>
                <a:ea typeface="MiSans"/>
              </a:rPr>
              <a:t>借鉴市场最佳实践</a:t>
            </a:r>
            <a:endParaRPr lang="en-US" sz="675" noProof="1">
              <a:solidFill>
                <a:schemeClr val="bg1"/>
              </a:solidFill>
              <a:latin typeface="MiSans"/>
            </a:endParaRPr>
          </a:p>
        </p:txBody>
      </p:sp>
      <p:sp>
        <p:nvSpPr>
          <p:cNvPr id="102" name="c2-icon">
            <a:extLst>
              <a:ext uri="{FF2B5EF4-FFF2-40B4-BE49-F238E27FC236}">
                <a16:creationId xmlns:a16="http://schemas.microsoft.com/office/drawing/2014/main" id="{89F7789E-1A27-7183-B0ED-3C3BD9C53D69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eyJpY29uTmFtZSI6ImZhczpjaGFydC1jb2x1bW4ifQ</pptd:icon>
              </p:ext>
            </p:extLst>
          </p:nvPr>
        </p:nvSpPr>
        <p:spPr>
          <a:xfrm>
            <a:off x="2617092" y="1619725"/>
            <a:ext cx="342900" cy="32385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32" y="32"/>
                </a:moveTo>
                <a:cubicBezTo>
                  <a:pt x="50" y="32"/>
                  <a:pt x="64" y="46"/>
                  <a:pt x="64" y="64"/>
                </a:cubicBezTo>
                <a:lnTo>
                  <a:pt x="64" y="400"/>
                </a:lnTo>
                <a:cubicBezTo>
                  <a:pt x="64" y="409"/>
                  <a:pt x="71" y="416"/>
                  <a:pt x="80" y="416"/>
                </a:cubicBezTo>
                <a:lnTo>
                  <a:pt x="480" y="416"/>
                </a:lnTo>
                <a:cubicBezTo>
                  <a:pt x="498" y="416"/>
                  <a:pt x="512" y="430"/>
                  <a:pt x="512" y="448"/>
                </a:cubicBezTo>
                <a:cubicBezTo>
                  <a:pt x="512" y="466"/>
                  <a:pt x="498" y="480"/>
                  <a:pt x="480" y="480"/>
                </a:cubicBezTo>
                <a:lnTo>
                  <a:pt x="80" y="480"/>
                </a:lnTo>
                <a:cubicBezTo>
                  <a:pt x="36" y="480"/>
                  <a:pt x="0" y="444"/>
                  <a:pt x="0" y="400"/>
                </a:cubicBezTo>
                <a:lnTo>
                  <a:pt x="0" y="64"/>
                </a:lnTo>
                <a:cubicBezTo>
                  <a:pt x="0" y="46"/>
                  <a:pt x="14" y="32"/>
                  <a:pt x="32" y="32"/>
                </a:cubicBezTo>
                <a:close/>
              </a:path>
              <a:path w="512" h="512">
                <a:moveTo>
                  <a:pt x="144" y="224"/>
                </a:moveTo>
                <a:cubicBezTo>
                  <a:pt x="162" y="224"/>
                  <a:pt x="176" y="238"/>
                  <a:pt x="176" y="256"/>
                </a:cubicBezTo>
                <a:lnTo>
                  <a:pt x="176" y="320"/>
                </a:lnTo>
                <a:cubicBezTo>
                  <a:pt x="176" y="338"/>
                  <a:pt x="162" y="352"/>
                  <a:pt x="144" y="352"/>
                </a:cubicBezTo>
                <a:cubicBezTo>
                  <a:pt x="126" y="352"/>
                  <a:pt x="112" y="338"/>
                  <a:pt x="112" y="320"/>
                </a:cubicBezTo>
                <a:lnTo>
                  <a:pt x="112" y="256"/>
                </a:lnTo>
                <a:cubicBezTo>
                  <a:pt x="112" y="238"/>
                  <a:pt x="126" y="224"/>
                  <a:pt x="144" y="224"/>
                </a:cubicBezTo>
                <a:close/>
              </a:path>
              <a:path w="512" h="512">
                <a:moveTo>
                  <a:pt x="288" y="160"/>
                </a:moveTo>
                <a:lnTo>
                  <a:pt x="288" y="320"/>
                </a:lnTo>
                <a:cubicBezTo>
                  <a:pt x="288" y="338"/>
                  <a:pt x="274" y="352"/>
                  <a:pt x="256" y="352"/>
                </a:cubicBezTo>
                <a:cubicBezTo>
                  <a:pt x="238" y="352"/>
                  <a:pt x="224" y="338"/>
                  <a:pt x="224" y="320"/>
                </a:cubicBezTo>
                <a:lnTo>
                  <a:pt x="224" y="160"/>
                </a:lnTo>
                <a:cubicBezTo>
                  <a:pt x="224" y="142"/>
                  <a:pt x="238" y="128"/>
                  <a:pt x="256" y="128"/>
                </a:cubicBezTo>
                <a:cubicBezTo>
                  <a:pt x="274" y="128"/>
                  <a:pt x="288" y="142"/>
                  <a:pt x="288" y="160"/>
                </a:cubicBezTo>
                <a:close/>
              </a:path>
              <a:path w="512" h="512">
                <a:moveTo>
                  <a:pt x="368" y="192"/>
                </a:moveTo>
                <a:cubicBezTo>
                  <a:pt x="386" y="192"/>
                  <a:pt x="400" y="206"/>
                  <a:pt x="400" y="224"/>
                </a:cubicBezTo>
                <a:lnTo>
                  <a:pt x="400" y="320"/>
                </a:lnTo>
                <a:cubicBezTo>
                  <a:pt x="400" y="338"/>
                  <a:pt x="386" y="352"/>
                  <a:pt x="368" y="352"/>
                </a:cubicBezTo>
                <a:cubicBezTo>
                  <a:pt x="350" y="352"/>
                  <a:pt x="336" y="338"/>
                  <a:pt x="336" y="320"/>
                </a:cubicBezTo>
                <a:lnTo>
                  <a:pt x="336" y="224"/>
                </a:lnTo>
                <a:cubicBezTo>
                  <a:pt x="336" y="206"/>
                  <a:pt x="350" y="192"/>
                  <a:pt x="368" y="192"/>
                </a:cubicBezTo>
                <a:close/>
              </a:path>
              <a:path w="512" h="512">
                <a:moveTo>
                  <a:pt x="512" y="96"/>
                </a:moveTo>
                <a:lnTo>
                  <a:pt x="512" y="320"/>
                </a:lnTo>
                <a:cubicBezTo>
                  <a:pt x="512" y="338"/>
                  <a:pt x="498" y="352"/>
                  <a:pt x="480" y="352"/>
                </a:cubicBezTo>
                <a:cubicBezTo>
                  <a:pt x="462" y="352"/>
                  <a:pt x="448" y="338"/>
                  <a:pt x="448" y="320"/>
                </a:cubicBezTo>
                <a:lnTo>
                  <a:pt x="448" y="96"/>
                </a:lnTo>
                <a:cubicBezTo>
                  <a:pt x="448" y="78"/>
                  <a:pt x="462" y="64"/>
                  <a:pt x="480" y="64"/>
                </a:cubicBezTo>
                <a:cubicBezTo>
                  <a:pt x="498" y="64"/>
                  <a:pt x="512" y="78"/>
                  <a:pt x="512" y="96"/>
                </a:cubicBezTo>
                <a:close/>
              </a:path>
            </a:pathLst>
          </a:custGeom>
          <a:solidFill>
            <a:srgbClr val="009CDE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106" name="c2-q">
            <a:extLst>
              <a:ext uri="{FF2B5EF4-FFF2-40B4-BE49-F238E27FC236}">
                <a16:creationId xmlns:a16="http://schemas.microsoft.com/office/drawing/2014/main" id="{577D54A4-CE36-E8FF-A797-8F6B9CACD08F}"/>
              </a:ext>
            </a:extLst>
          </p:cNvPr>
          <p:cNvSpPr txBox="1"/>
          <p:nvPr/>
        </p:nvSpPr>
        <p:spPr>
          <a:xfrm>
            <a:off x="1978917" y="2037903"/>
            <a:ext cx="1619250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800" b="1" noProof="1">
                <a:latin typeface="Calibri"/>
                <a:ea typeface="MiSans"/>
              </a:rPr>
              <a:t>市场成熟方案能提供什么能力?</a:t>
            </a:r>
            <a:endParaRPr lang="en-US" sz="800" noProof="1">
              <a:latin typeface="MiSans"/>
            </a:endParaRPr>
          </a:p>
        </p:txBody>
      </p:sp>
      <p:sp>
        <p:nvSpPr>
          <p:cNvPr id="110" name="c2-bullets">
            <a:extLst>
              <a:ext uri="{FF2B5EF4-FFF2-40B4-BE49-F238E27FC236}">
                <a16:creationId xmlns:a16="http://schemas.microsoft.com/office/drawing/2014/main" id="{C9F06DB6-5384-7F21-5E0E-DA264C0A5A8D}"/>
              </a:ext>
            </a:extLst>
          </p:cNvPr>
          <p:cNvSpPr txBox="1"/>
          <p:nvPr/>
        </p:nvSpPr>
        <p:spPr>
          <a:xfrm>
            <a:off x="2026137" y="2237928"/>
            <a:ext cx="1572030" cy="8823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171450" indent="-171450" defTabSz="6858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900" noProof="1">
                <a:latin typeface="Calibri"/>
                <a:ea typeface="MiSans"/>
              </a:rPr>
              <a:t>OpenText InfoArchive 调研</a:t>
            </a:r>
            <a:endParaRPr lang="en-US" sz="900" noProof="1">
              <a:latin typeface="MiSans"/>
            </a:endParaRPr>
          </a:p>
          <a:p>
            <a:pPr marL="171450" indent="-171450" defTabSz="6858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900" noProof="1">
                <a:latin typeface="Calibri"/>
                <a:ea typeface="MiSans"/>
              </a:rPr>
              <a:t>鸿翼产品调研</a:t>
            </a:r>
            <a:endParaRPr lang="en-US" sz="900" noProof="1">
              <a:latin typeface="MiSans"/>
            </a:endParaRPr>
          </a:p>
        </p:txBody>
      </p:sp>
      <p:sp>
        <p:nvSpPr>
          <p:cNvPr id="134" name="c3">
            <a:extLst>
              <a:ext uri="{FF2B5EF4-FFF2-40B4-BE49-F238E27FC236}">
                <a16:creationId xmlns:a16="http://schemas.microsoft.com/office/drawing/2014/main" id="{69292081-0D89-81AC-4EA8-57AB7E3F1D03}"/>
              </a:ext>
            </a:extLst>
          </p:cNvPr>
          <p:cNvSpPr/>
          <p:nvPr/>
        </p:nvSpPr>
        <p:spPr>
          <a:xfrm>
            <a:off x="3702942" y="1155763"/>
            <a:ext cx="1733550" cy="238949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7CFF6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138" name="c3-hdr">
            <a:extLst>
              <a:ext uri="{FF2B5EF4-FFF2-40B4-BE49-F238E27FC236}">
                <a16:creationId xmlns:a16="http://schemas.microsoft.com/office/drawing/2014/main" id="{0CAD5B72-C2AC-5669-4592-A7A8C8DED1C6}"/>
              </a:ext>
            </a:extLst>
          </p:cNvPr>
          <p:cNvSpPr/>
          <p:nvPr/>
        </p:nvSpPr>
        <p:spPr>
          <a:xfrm>
            <a:off x="3702942" y="1155763"/>
            <a:ext cx="1733550" cy="390525"/>
          </a:xfrm>
          <a:prstGeom prst="roundRect">
            <a:avLst/>
          </a:prstGeom>
          <a:solidFill>
            <a:srgbClr val="009CDE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142" name="c3-num">
            <a:extLst>
              <a:ext uri="{FF2B5EF4-FFF2-40B4-BE49-F238E27FC236}">
                <a16:creationId xmlns:a16="http://schemas.microsoft.com/office/drawing/2014/main" id="{58E6A1AC-6E45-2CFF-CD48-757EC7BA0C5C}"/>
              </a:ext>
            </a:extLst>
          </p:cNvPr>
          <p:cNvSpPr/>
          <p:nvPr/>
        </p:nvSpPr>
        <p:spPr>
          <a:xfrm>
            <a:off x="3845817" y="1241488"/>
            <a:ext cx="219075" cy="21907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146" name="c3-num-t">
            <a:extLst>
              <a:ext uri="{FF2B5EF4-FFF2-40B4-BE49-F238E27FC236}">
                <a16:creationId xmlns:a16="http://schemas.microsoft.com/office/drawing/2014/main" id="{500D68EC-280D-0099-70D9-DAAA9BADF0ED}"/>
              </a:ext>
            </a:extLst>
          </p:cNvPr>
          <p:cNvSpPr txBox="1"/>
          <p:nvPr/>
        </p:nvSpPr>
        <p:spPr>
          <a:xfrm>
            <a:off x="3845817" y="1241488"/>
            <a:ext cx="219075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825" b="1" noProof="1">
                <a:latin typeface="Calibri"/>
                <a:ea typeface="MiSans"/>
              </a:rPr>
              <a:t>03</a:t>
            </a:r>
            <a:endParaRPr lang="en-US" sz="825" noProof="1">
              <a:latin typeface="MiSans"/>
            </a:endParaRPr>
          </a:p>
        </p:txBody>
      </p:sp>
      <p:sp>
        <p:nvSpPr>
          <p:cNvPr id="150" name="c3-title">
            <a:extLst>
              <a:ext uri="{FF2B5EF4-FFF2-40B4-BE49-F238E27FC236}">
                <a16:creationId xmlns:a16="http://schemas.microsoft.com/office/drawing/2014/main" id="{0B5C5BE3-DD9C-2BB0-52B9-A3F3628591F4}"/>
              </a:ext>
            </a:extLst>
          </p:cNvPr>
          <p:cNvSpPr txBox="1"/>
          <p:nvPr/>
        </p:nvSpPr>
        <p:spPr>
          <a:xfrm>
            <a:off x="4131567" y="1203388"/>
            <a:ext cx="12573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975" b="1" noProof="1">
                <a:solidFill>
                  <a:srgbClr val="FFFFFF"/>
                </a:solidFill>
                <a:latin typeface="Calibri"/>
                <a:ea typeface="MiSans"/>
              </a:rPr>
              <a:t>平台蓝图</a:t>
            </a:r>
            <a:endParaRPr lang="en-US" sz="975" noProof="1">
              <a:solidFill>
                <a:srgbClr val="000000"/>
              </a:solidFill>
              <a:latin typeface="MiSans"/>
            </a:endParaRPr>
          </a:p>
        </p:txBody>
      </p:sp>
      <p:sp>
        <p:nvSpPr>
          <p:cNvPr id="154" name="c3-sub">
            <a:extLst>
              <a:ext uri="{FF2B5EF4-FFF2-40B4-BE49-F238E27FC236}">
                <a16:creationId xmlns:a16="http://schemas.microsoft.com/office/drawing/2014/main" id="{73752168-7908-F965-C7A1-98F42742E62A}"/>
              </a:ext>
            </a:extLst>
          </p:cNvPr>
          <p:cNvSpPr txBox="1"/>
          <p:nvPr/>
        </p:nvSpPr>
        <p:spPr>
          <a:xfrm>
            <a:off x="4131567" y="1365313"/>
            <a:ext cx="1257300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675" b="1" noProof="1">
                <a:solidFill>
                  <a:srgbClr val="FFFFFF"/>
                </a:solidFill>
                <a:latin typeface="Calibri"/>
                <a:ea typeface="MiSans"/>
              </a:rPr>
              <a:t>定义平台能力与建设路径</a:t>
            </a:r>
            <a:endParaRPr lang="en-US" sz="675" noProof="1">
              <a:solidFill>
                <a:srgbClr val="000000"/>
              </a:solidFill>
              <a:latin typeface="MiSans"/>
            </a:endParaRPr>
          </a:p>
        </p:txBody>
      </p:sp>
      <p:sp>
        <p:nvSpPr>
          <p:cNvPr id="158" name="c3-icon">
            <a:extLst>
              <a:ext uri="{FF2B5EF4-FFF2-40B4-BE49-F238E27FC236}">
                <a16:creationId xmlns:a16="http://schemas.microsoft.com/office/drawing/2014/main" id="{0E1D5C53-0F9E-0991-8AAD-7682CC735A93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eyJpY29uTmFtZSI6ImZhczpwdXp6bGUtcGllY2UifQ</pptd:icon>
              </p:ext>
            </p:extLst>
          </p:nvPr>
        </p:nvSpPr>
        <p:spPr>
          <a:xfrm>
            <a:off x="4398267" y="1619725"/>
            <a:ext cx="342900" cy="32385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24" y="0"/>
                </a:moveTo>
                <a:cubicBezTo>
                  <a:pt x="259" y="0"/>
                  <a:pt x="288" y="22"/>
                  <a:pt x="288" y="48"/>
                </a:cubicBezTo>
                <a:cubicBezTo>
                  <a:pt x="288" y="58"/>
                  <a:pt x="284" y="68"/>
                  <a:pt x="276" y="76"/>
                </a:cubicBezTo>
                <a:cubicBezTo>
                  <a:pt x="269" y="83"/>
                  <a:pt x="264" y="91"/>
                  <a:pt x="264" y="101"/>
                </a:cubicBezTo>
                <a:cubicBezTo>
                  <a:pt x="264" y="116"/>
                  <a:pt x="276" y="128"/>
                  <a:pt x="291" y="128"/>
                </a:cubicBezTo>
                <a:lnTo>
                  <a:pt x="336" y="128"/>
                </a:lnTo>
                <a:cubicBezTo>
                  <a:pt x="363" y="128"/>
                  <a:pt x="384" y="150"/>
                  <a:pt x="384" y="176"/>
                </a:cubicBezTo>
                <a:lnTo>
                  <a:pt x="384" y="221"/>
                </a:lnTo>
                <a:cubicBezTo>
                  <a:pt x="384" y="236"/>
                  <a:pt x="396" y="248"/>
                  <a:pt x="411" y="248"/>
                </a:cubicBezTo>
                <a:cubicBezTo>
                  <a:pt x="421" y="248"/>
                  <a:pt x="429" y="243"/>
                  <a:pt x="436" y="236"/>
                </a:cubicBezTo>
                <a:cubicBezTo>
                  <a:pt x="444" y="229"/>
                  <a:pt x="454" y="224"/>
                  <a:pt x="464" y="224"/>
                </a:cubicBezTo>
                <a:cubicBezTo>
                  <a:pt x="490" y="224"/>
                  <a:pt x="512" y="253"/>
                  <a:pt x="512" y="288"/>
                </a:cubicBezTo>
                <a:cubicBezTo>
                  <a:pt x="512" y="323"/>
                  <a:pt x="490" y="352"/>
                  <a:pt x="464" y="352"/>
                </a:cubicBezTo>
                <a:cubicBezTo>
                  <a:pt x="454" y="352"/>
                  <a:pt x="444" y="348"/>
                  <a:pt x="436" y="340"/>
                </a:cubicBezTo>
                <a:cubicBezTo>
                  <a:pt x="429" y="333"/>
                  <a:pt x="421" y="328"/>
                  <a:pt x="411" y="328"/>
                </a:cubicBezTo>
                <a:cubicBezTo>
                  <a:pt x="396" y="328"/>
                  <a:pt x="384" y="340"/>
                  <a:pt x="384" y="355"/>
                </a:cubicBezTo>
                <a:lnTo>
                  <a:pt x="384" y="464"/>
                </a:lnTo>
                <a:cubicBezTo>
                  <a:pt x="384" y="491"/>
                  <a:pt x="363" y="512"/>
                  <a:pt x="336" y="512"/>
                </a:cubicBezTo>
                <a:lnTo>
                  <a:pt x="279" y="512"/>
                </a:lnTo>
                <a:cubicBezTo>
                  <a:pt x="266" y="512"/>
                  <a:pt x="256" y="502"/>
                  <a:pt x="256" y="489"/>
                </a:cubicBezTo>
                <a:cubicBezTo>
                  <a:pt x="256" y="480"/>
                  <a:pt x="262" y="472"/>
                  <a:pt x="269" y="466"/>
                </a:cubicBezTo>
                <a:cubicBezTo>
                  <a:pt x="281" y="457"/>
                  <a:pt x="288" y="445"/>
                  <a:pt x="288" y="432"/>
                </a:cubicBezTo>
                <a:cubicBezTo>
                  <a:pt x="288" y="406"/>
                  <a:pt x="259" y="384"/>
                  <a:pt x="224" y="384"/>
                </a:cubicBezTo>
                <a:cubicBezTo>
                  <a:pt x="189" y="384"/>
                  <a:pt x="160" y="406"/>
                  <a:pt x="160" y="432"/>
                </a:cubicBezTo>
                <a:cubicBezTo>
                  <a:pt x="160" y="445"/>
                  <a:pt x="167" y="457"/>
                  <a:pt x="179" y="466"/>
                </a:cubicBezTo>
                <a:cubicBezTo>
                  <a:pt x="186" y="472"/>
                  <a:pt x="192" y="480"/>
                  <a:pt x="192" y="489"/>
                </a:cubicBezTo>
                <a:cubicBezTo>
                  <a:pt x="192" y="502"/>
                  <a:pt x="182" y="512"/>
                  <a:pt x="169" y="512"/>
                </a:cubicBezTo>
                <a:lnTo>
                  <a:pt x="48" y="512"/>
                </a:lnTo>
                <a:cubicBezTo>
                  <a:pt x="22" y="512"/>
                  <a:pt x="0" y="491"/>
                  <a:pt x="0" y="464"/>
                </a:cubicBezTo>
                <a:lnTo>
                  <a:pt x="0" y="343"/>
                </a:lnTo>
                <a:cubicBezTo>
                  <a:pt x="0" y="330"/>
                  <a:pt x="10" y="320"/>
                  <a:pt x="23" y="320"/>
                </a:cubicBezTo>
                <a:cubicBezTo>
                  <a:pt x="32" y="320"/>
                  <a:pt x="41" y="326"/>
                  <a:pt x="46" y="333"/>
                </a:cubicBezTo>
                <a:cubicBezTo>
                  <a:pt x="55" y="345"/>
                  <a:pt x="67" y="352"/>
                  <a:pt x="80" y="352"/>
                </a:cubicBezTo>
                <a:cubicBezTo>
                  <a:pt x="107" y="352"/>
                  <a:pt x="128" y="323"/>
                  <a:pt x="128" y="288"/>
                </a:cubicBezTo>
                <a:cubicBezTo>
                  <a:pt x="128" y="253"/>
                  <a:pt x="107" y="224"/>
                  <a:pt x="80" y="224"/>
                </a:cubicBezTo>
                <a:cubicBezTo>
                  <a:pt x="67" y="224"/>
                  <a:pt x="55" y="231"/>
                  <a:pt x="46" y="243"/>
                </a:cubicBezTo>
                <a:cubicBezTo>
                  <a:pt x="41" y="250"/>
                  <a:pt x="33" y="256"/>
                  <a:pt x="23" y="256"/>
                </a:cubicBezTo>
                <a:cubicBezTo>
                  <a:pt x="10" y="256"/>
                  <a:pt x="0" y="246"/>
                  <a:pt x="0" y="233"/>
                </a:cubicBezTo>
                <a:lnTo>
                  <a:pt x="0" y="176"/>
                </a:lnTo>
                <a:cubicBezTo>
                  <a:pt x="0" y="150"/>
                  <a:pt x="22" y="128"/>
                  <a:pt x="48" y="128"/>
                </a:cubicBezTo>
                <a:lnTo>
                  <a:pt x="157" y="128"/>
                </a:lnTo>
                <a:cubicBezTo>
                  <a:pt x="172" y="128"/>
                  <a:pt x="184" y="116"/>
                  <a:pt x="184" y="101"/>
                </a:cubicBezTo>
                <a:cubicBezTo>
                  <a:pt x="184" y="91"/>
                  <a:pt x="179" y="83"/>
                  <a:pt x="172" y="76"/>
                </a:cubicBezTo>
                <a:cubicBezTo>
                  <a:pt x="165" y="68"/>
                  <a:pt x="160" y="58"/>
                  <a:pt x="160" y="48"/>
                </a:cubicBezTo>
                <a:cubicBezTo>
                  <a:pt x="160" y="22"/>
                  <a:pt x="189" y="0"/>
                  <a:pt x="224" y="0"/>
                </a:cubicBezTo>
                <a:close/>
              </a:path>
            </a:pathLst>
          </a:custGeom>
          <a:solidFill>
            <a:srgbClr val="009CDE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162" name="c3-q">
            <a:extLst>
              <a:ext uri="{FF2B5EF4-FFF2-40B4-BE49-F238E27FC236}">
                <a16:creationId xmlns:a16="http://schemas.microsoft.com/office/drawing/2014/main" id="{79CB3FF9-E5B2-6E92-8F61-C07615E9486B}"/>
              </a:ext>
            </a:extLst>
          </p:cNvPr>
          <p:cNvSpPr txBox="1"/>
          <p:nvPr/>
        </p:nvSpPr>
        <p:spPr>
          <a:xfrm>
            <a:off x="3760092" y="2037903"/>
            <a:ext cx="1619250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800" b="1" noProof="1">
                <a:latin typeface="Calibri"/>
                <a:ea typeface="MiSans"/>
              </a:rPr>
              <a:t>我们要建设什么样的平台?</a:t>
            </a:r>
            <a:endParaRPr lang="en-US" sz="800" noProof="1">
              <a:latin typeface="MiSans"/>
            </a:endParaRPr>
          </a:p>
        </p:txBody>
      </p:sp>
      <p:sp>
        <p:nvSpPr>
          <p:cNvPr id="166" name="c3-bullets">
            <a:extLst>
              <a:ext uri="{FF2B5EF4-FFF2-40B4-BE49-F238E27FC236}">
                <a16:creationId xmlns:a16="http://schemas.microsoft.com/office/drawing/2014/main" id="{BAB1E043-12BF-91DA-D6CB-7D62ACADCBF9}"/>
              </a:ext>
            </a:extLst>
          </p:cNvPr>
          <p:cNvSpPr txBox="1"/>
          <p:nvPr/>
        </p:nvSpPr>
        <p:spPr>
          <a:xfrm>
            <a:off x="3800827" y="2237928"/>
            <a:ext cx="1568990" cy="1104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171450" indent="-171450" defTabSz="6858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900" noProof="1">
                <a:latin typeface="Calibri"/>
                <a:ea typeface="MiSans"/>
              </a:rPr>
              <a:t>平台功能全景图</a:t>
            </a:r>
            <a:endParaRPr lang="en-US" sz="900" noProof="1">
              <a:latin typeface="MiSans"/>
            </a:endParaRPr>
          </a:p>
          <a:p>
            <a:pPr marL="171450" indent="-171450" defTabSz="6858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900" noProof="1">
                <a:latin typeface="Calibri"/>
                <a:ea typeface="MiSans"/>
              </a:rPr>
              <a:t>分阶段建设规划</a:t>
            </a:r>
            <a:endParaRPr lang="en-US" sz="900" noProof="1">
              <a:latin typeface="MiSans"/>
            </a:endParaRPr>
          </a:p>
        </p:txBody>
      </p:sp>
      <p:sp>
        <p:nvSpPr>
          <p:cNvPr id="190" name="c4">
            <a:extLst>
              <a:ext uri="{FF2B5EF4-FFF2-40B4-BE49-F238E27FC236}">
                <a16:creationId xmlns:a16="http://schemas.microsoft.com/office/drawing/2014/main" id="{189EE565-A46A-8629-5F15-2D022C5EB86A}"/>
              </a:ext>
            </a:extLst>
          </p:cNvPr>
          <p:cNvSpPr/>
          <p:nvPr/>
        </p:nvSpPr>
        <p:spPr>
          <a:xfrm>
            <a:off x="5484117" y="1155763"/>
            <a:ext cx="1733550" cy="238949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7CFF6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194" name="c4-hdr">
            <a:extLst>
              <a:ext uri="{FF2B5EF4-FFF2-40B4-BE49-F238E27FC236}">
                <a16:creationId xmlns:a16="http://schemas.microsoft.com/office/drawing/2014/main" id="{0A8CD72C-DA4B-21C0-D920-BCBA494DE7C1}"/>
              </a:ext>
            </a:extLst>
          </p:cNvPr>
          <p:cNvSpPr/>
          <p:nvPr/>
        </p:nvSpPr>
        <p:spPr>
          <a:xfrm>
            <a:off x="5484117" y="1155763"/>
            <a:ext cx="1733550" cy="390525"/>
          </a:xfrm>
          <a:prstGeom prst="roundRect">
            <a:avLst>
              <a:gd name="adj" fmla="val 26911"/>
            </a:avLst>
          </a:prstGeom>
          <a:solidFill>
            <a:srgbClr val="009CDE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198" name="c4-num">
            <a:extLst>
              <a:ext uri="{FF2B5EF4-FFF2-40B4-BE49-F238E27FC236}">
                <a16:creationId xmlns:a16="http://schemas.microsoft.com/office/drawing/2014/main" id="{80F110A8-2318-DCB3-B1F4-4ACF59CAC043}"/>
              </a:ext>
            </a:extLst>
          </p:cNvPr>
          <p:cNvSpPr/>
          <p:nvPr/>
        </p:nvSpPr>
        <p:spPr>
          <a:xfrm>
            <a:off x="5626992" y="1241488"/>
            <a:ext cx="219075" cy="21907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202" name="c4-num-t">
            <a:extLst>
              <a:ext uri="{FF2B5EF4-FFF2-40B4-BE49-F238E27FC236}">
                <a16:creationId xmlns:a16="http://schemas.microsoft.com/office/drawing/2014/main" id="{CECC34AC-1BAD-02CB-11DF-748640781D66}"/>
              </a:ext>
            </a:extLst>
          </p:cNvPr>
          <p:cNvSpPr txBox="1"/>
          <p:nvPr/>
        </p:nvSpPr>
        <p:spPr>
          <a:xfrm>
            <a:off x="5626992" y="1241488"/>
            <a:ext cx="219075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825" b="1" noProof="1">
                <a:latin typeface="Calibri"/>
                <a:ea typeface="MiSans"/>
              </a:rPr>
              <a:t>04</a:t>
            </a:r>
            <a:endParaRPr lang="en-US" sz="825" noProof="1">
              <a:latin typeface="MiSans"/>
            </a:endParaRPr>
          </a:p>
        </p:txBody>
      </p:sp>
      <p:sp>
        <p:nvSpPr>
          <p:cNvPr id="205" name="c4-title">
            <a:extLst>
              <a:ext uri="{FF2B5EF4-FFF2-40B4-BE49-F238E27FC236}">
                <a16:creationId xmlns:a16="http://schemas.microsoft.com/office/drawing/2014/main" id="{12EC343A-8E6C-3195-2A5C-986B07F2F95C}"/>
              </a:ext>
            </a:extLst>
          </p:cNvPr>
          <p:cNvSpPr txBox="1"/>
          <p:nvPr/>
        </p:nvSpPr>
        <p:spPr>
          <a:xfrm>
            <a:off x="5912742" y="1203388"/>
            <a:ext cx="12573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975" b="1" noProof="1">
                <a:solidFill>
                  <a:srgbClr val="FFFFFF"/>
                </a:solidFill>
                <a:latin typeface="Calibri"/>
                <a:ea typeface="MiSans"/>
              </a:rPr>
              <a:t>技术方案</a:t>
            </a:r>
            <a:endParaRPr lang="en-US" sz="975" noProof="1">
              <a:solidFill>
                <a:srgbClr val="000000"/>
              </a:solidFill>
              <a:latin typeface="MiSans"/>
            </a:endParaRPr>
          </a:p>
        </p:txBody>
      </p:sp>
      <p:sp>
        <p:nvSpPr>
          <p:cNvPr id="208" name="c4-sub">
            <a:extLst>
              <a:ext uri="{FF2B5EF4-FFF2-40B4-BE49-F238E27FC236}">
                <a16:creationId xmlns:a16="http://schemas.microsoft.com/office/drawing/2014/main" id="{BECEDB79-BF8A-A94E-B331-0672DC5E3F95}"/>
              </a:ext>
            </a:extLst>
          </p:cNvPr>
          <p:cNvSpPr txBox="1"/>
          <p:nvPr/>
        </p:nvSpPr>
        <p:spPr>
          <a:xfrm>
            <a:off x="5912742" y="1365313"/>
            <a:ext cx="1257300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675" b="1" noProof="1">
                <a:solidFill>
                  <a:srgbClr val="FFFFFF"/>
                </a:solidFill>
                <a:latin typeface="Calibri"/>
                <a:ea typeface="MiSans"/>
              </a:rPr>
              <a:t>设计技术架构与解决方案</a:t>
            </a:r>
            <a:endParaRPr lang="en-US" sz="675" noProof="1">
              <a:solidFill>
                <a:srgbClr val="000000"/>
              </a:solidFill>
              <a:latin typeface="MiSans"/>
            </a:endParaRPr>
          </a:p>
        </p:txBody>
      </p:sp>
      <p:sp>
        <p:nvSpPr>
          <p:cNvPr id="212" name="c4-icon">
            <a:extLst>
              <a:ext uri="{FF2B5EF4-FFF2-40B4-BE49-F238E27FC236}">
                <a16:creationId xmlns:a16="http://schemas.microsoft.com/office/drawing/2014/main" id="{23FD0B3E-E3AE-A6E0-5C2B-66D6C6EEFF27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eyJpY29uTmFtZSI6ImZhczpsYXllci1ncm91cCJ9</pptd:icon>
              </p:ext>
            </p:extLst>
          </p:nvPr>
        </p:nvSpPr>
        <p:spPr>
          <a:xfrm>
            <a:off x="6179442" y="1619725"/>
            <a:ext cx="342900" cy="32385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33" y="5"/>
                </a:moveTo>
                <a:cubicBezTo>
                  <a:pt x="247" y="-2"/>
                  <a:pt x="265" y="-2"/>
                  <a:pt x="280" y="5"/>
                </a:cubicBezTo>
                <a:lnTo>
                  <a:pt x="498" y="106"/>
                </a:lnTo>
                <a:cubicBezTo>
                  <a:pt x="507" y="110"/>
                  <a:pt x="512" y="119"/>
                  <a:pt x="512" y="128"/>
                </a:cubicBezTo>
                <a:cubicBezTo>
                  <a:pt x="512" y="137"/>
                  <a:pt x="507" y="146"/>
                  <a:pt x="498" y="150"/>
                </a:cubicBezTo>
                <a:lnTo>
                  <a:pt x="280" y="251"/>
                </a:lnTo>
                <a:cubicBezTo>
                  <a:pt x="265" y="258"/>
                  <a:pt x="247" y="258"/>
                  <a:pt x="233" y="251"/>
                </a:cubicBezTo>
                <a:lnTo>
                  <a:pt x="14" y="150"/>
                </a:lnTo>
                <a:cubicBezTo>
                  <a:pt x="5" y="146"/>
                  <a:pt x="0" y="137"/>
                  <a:pt x="0" y="128"/>
                </a:cubicBezTo>
                <a:cubicBezTo>
                  <a:pt x="0" y="119"/>
                  <a:pt x="5" y="110"/>
                  <a:pt x="14" y="106"/>
                </a:cubicBezTo>
                <a:lnTo>
                  <a:pt x="233" y="5"/>
                </a:lnTo>
                <a:close/>
              </a:path>
              <a:path w="512" h="512">
                <a:moveTo>
                  <a:pt x="48" y="218"/>
                </a:moveTo>
                <a:lnTo>
                  <a:pt x="212" y="294"/>
                </a:lnTo>
                <a:cubicBezTo>
                  <a:pt x="240" y="307"/>
                  <a:pt x="272" y="307"/>
                  <a:pt x="300" y="294"/>
                </a:cubicBezTo>
                <a:lnTo>
                  <a:pt x="464" y="218"/>
                </a:lnTo>
                <a:lnTo>
                  <a:pt x="498" y="234"/>
                </a:lnTo>
                <a:cubicBezTo>
                  <a:pt x="507" y="238"/>
                  <a:pt x="512" y="247"/>
                  <a:pt x="512" y="256"/>
                </a:cubicBezTo>
                <a:cubicBezTo>
                  <a:pt x="512" y="265"/>
                  <a:pt x="507" y="274"/>
                  <a:pt x="498" y="278"/>
                </a:cubicBezTo>
                <a:lnTo>
                  <a:pt x="280" y="379"/>
                </a:lnTo>
                <a:cubicBezTo>
                  <a:pt x="265" y="386"/>
                  <a:pt x="247" y="386"/>
                  <a:pt x="233" y="379"/>
                </a:cubicBezTo>
                <a:lnTo>
                  <a:pt x="14" y="278"/>
                </a:lnTo>
                <a:cubicBezTo>
                  <a:pt x="5" y="274"/>
                  <a:pt x="0" y="265"/>
                  <a:pt x="0" y="256"/>
                </a:cubicBezTo>
                <a:cubicBezTo>
                  <a:pt x="0" y="247"/>
                  <a:pt x="5" y="238"/>
                  <a:pt x="14" y="234"/>
                </a:cubicBezTo>
                <a:lnTo>
                  <a:pt x="48" y="218"/>
                </a:lnTo>
                <a:close/>
              </a:path>
              <a:path w="512" h="512">
                <a:moveTo>
                  <a:pt x="14" y="362"/>
                </a:moveTo>
                <a:lnTo>
                  <a:pt x="48" y="346"/>
                </a:lnTo>
                <a:lnTo>
                  <a:pt x="212" y="422"/>
                </a:lnTo>
                <a:cubicBezTo>
                  <a:pt x="240" y="435"/>
                  <a:pt x="272" y="435"/>
                  <a:pt x="300" y="422"/>
                </a:cubicBezTo>
                <a:lnTo>
                  <a:pt x="464" y="346"/>
                </a:lnTo>
                <a:lnTo>
                  <a:pt x="498" y="362"/>
                </a:lnTo>
                <a:cubicBezTo>
                  <a:pt x="507" y="366"/>
                  <a:pt x="512" y="375"/>
                  <a:pt x="512" y="384"/>
                </a:cubicBezTo>
                <a:cubicBezTo>
                  <a:pt x="512" y="393"/>
                  <a:pt x="507" y="402"/>
                  <a:pt x="498" y="406"/>
                </a:cubicBezTo>
                <a:lnTo>
                  <a:pt x="279" y="507"/>
                </a:lnTo>
                <a:cubicBezTo>
                  <a:pt x="265" y="514"/>
                  <a:pt x="247" y="514"/>
                  <a:pt x="232" y="507"/>
                </a:cubicBezTo>
                <a:lnTo>
                  <a:pt x="14" y="406"/>
                </a:lnTo>
                <a:cubicBezTo>
                  <a:pt x="5" y="402"/>
                  <a:pt x="0" y="393"/>
                  <a:pt x="0" y="384"/>
                </a:cubicBezTo>
                <a:cubicBezTo>
                  <a:pt x="0" y="375"/>
                  <a:pt x="5" y="366"/>
                  <a:pt x="14" y="362"/>
                </a:cubicBezTo>
                <a:close/>
              </a:path>
            </a:pathLst>
          </a:custGeom>
          <a:solidFill>
            <a:srgbClr val="009CDE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215" name="c4-q">
            <a:extLst>
              <a:ext uri="{FF2B5EF4-FFF2-40B4-BE49-F238E27FC236}">
                <a16:creationId xmlns:a16="http://schemas.microsoft.com/office/drawing/2014/main" id="{5FF46FAC-D014-A8C0-32CD-336F3C764A68}"/>
              </a:ext>
            </a:extLst>
          </p:cNvPr>
          <p:cNvSpPr txBox="1"/>
          <p:nvPr/>
        </p:nvSpPr>
        <p:spPr>
          <a:xfrm>
            <a:off x="5541267" y="2037903"/>
            <a:ext cx="1619250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800" b="1" noProof="1">
                <a:latin typeface="Calibri"/>
                <a:ea typeface="MiSans"/>
              </a:rPr>
              <a:t>如何通过技术实现这些能力?</a:t>
            </a:r>
            <a:endParaRPr lang="en-US" sz="800" noProof="1">
              <a:latin typeface="MiSans"/>
            </a:endParaRPr>
          </a:p>
        </p:txBody>
      </p:sp>
      <p:sp>
        <p:nvSpPr>
          <p:cNvPr id="217" name="c4-bullets">
            <a:extLst>
              <a:ext uri="{FF2B5EF4-FFF2-40B4-BE49-F238E27FC236}">
                <a16:creationId xmlns:a16="http://schemas.microsoft.com/office/drawing/2014/main" id="{8D15B6FD-D3B4-1BA0-3A3D-B2772D743D80}"/>
              </a:ext>
            </a:extLst>
          </p:cNvPr>
          <p:cNvSpPr txBox="1"/>
          <p:nvPr/>
        </p:nvSpPr>
        <p:spPr>
          <a:xfrm>
            <a:off x="5582002" y="2237928"/>
            <a:ext cx="1568990" cy="1104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171450" indent="-171450" defTabSz="6858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900" noProof="1">
                <a:latin typeface="Calibri"/>
                <a:ea typeface="MiSans"/>
              </a:rPr>
              <a:t>架构方案选项（A / B / B2）</a:t>
            </a:r>
            <a:endParaRPr lang="en-US" sz="900" noProof="1">
              <a:latin typeface="MiSans"/>
            </a:endParaRPr>
          </a:p>
          <a:p>
            <a:pPr marL="171450" indent="-171450" defTabSz="6858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900" noProof="1">
                <a:latin typeface="Calibri"/>
                <a:ea typeface="MiSans"/>
              </a:rPr>
              <a:t>评估标准与</a:t>
            </a:r>
            <a:r>
              <a:rPr lang="zh-CN" altLang="en-US" sz="900" noProof="1">
                <a:latin typeface="Calibri"/>
                <a:ea typeface="MiSans"/>
              </a:rPr>
              <a:t>评估结果</a:t>
            </a:r>
            <a:endParaRPr lang="en-US" sz="900" noProof="1">
              <a:latin typeface="MiSans"/>
            </a:endParaRPr>
          </a:p>
          <a:p>
            <a:pPr marL="171450" indent="-171450" defTabSz="6858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900" noProof="1">
                <a:latin typeface="Calibri"/>
                <a:ea typeface="MiSans"/>
              </a:rPr>
              <a:t>四层架构设计</a:t>
            </a:r>
            <a:endParaRPr lang="en-US" sz="900" noProof="1">
              <a:latin typeface="MiSans"/>
            </a:endParaRPr>
          </a:p>
          <a:p>
            <a:pPr marL="171450" indent="-171450" defTabSz="6858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900" noProof="1">
                <a:latin typeface="Calibri"/>
                <a:ea typeface="MiSans"/>
              </a:rPr>
              <a:t>目标应用架构图</a:t>
            </a:r>
            <a:endParaRPr lang="en-US" sz="900" noProof="1">
              <a:latin typeface="MiSans"/>
            </a:endParaRPr>
          </a:p>
        </p:txBody>
      </p:sp>
      <p:sp>
        <p:nvSpPr>
          <p:cNvPr id="229" name="c5">
            <a:extLst>
              <a:ext uri="{FF2B5EF4-FFF2-40B4-BE49-F238E27FC236}">
                <a16:creationId xmlns:a16="http://schemas.microsoft.com/office/drawing/2014/main" id="{54CCC621-C7C7-5154-3332-CFAD05E1037D}"/>
              </a:ext>
            </a:extLst>
          </p:cNvPr>
          <p:cNvSpPr/>
          <p:nvPr/>
        </p:nvSpPr>
        <p:spPr>
          <a:xfrm>
            <a:off x="7265292" y="1155763"/>
            <a:ext cx="1733550" cy="238949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7CFF6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231" name="c5-hdr">
            <a:extLst>
              <a:ext uri="{FF2B5EF4-FFF2-40B4-BE49-F238E27FC236}">
                <a16:creationId xmlns:a16="http://schemas.microsoft.com/office/drawing/2014/main" id="{8C38663E-9159-996D-99C9-F40B1EB99BF8}"/>
              </a:ext>
            </a:extLst>
          </p:cNvPr>
          <p:cNvSpPr/>
          <p:nvPr/>
        </p:nvSpPr>
        <p:spPr>
          <a:xfrm>
            <a:off x="7265292" y="1155763"/>
            <a:ext cx="1733550" cy="390525"/>
          </a:xfrm>
          <a:prstGeom prst="roundRect">
            <a:avLst>
              <a:gd name="adj" fmla="val 27074"/>
            </a:avLst>
          </a:prstGeom>
          <a:solidFill>
            <a:srgbClr val="009CDE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233" name="c5-num">
            <a:extLst>
              <a:ext uri="{FF2B5EF4-FFF2-40B4-BE49-F238E27FC236}">
                <a16:creationId xmlns:a16="http://schemas.microsoft.com/office/drawing/2014/main" id="{0E851453-2270-0902-B3C2-31BD9463A936}"/>
              </a:ext>
            </a:extLst>
          </p:cNvPr>
          <p:cNvSpPr/>
          <p:nvPr/>
        </p:nvSpPr>
        <p:spPr>
          <a:xfrm>
            <a:off x="7408167" y="1241488"/>
            <a:ext cx="219075" cy="21907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235" name="c5-num-t">
            <a:extLst>
              <a:ext uri="{FF2B5EF4-FFF2-40B4-BE49-F238E27FC236}">
                <a16:creationId xmlns:a16="http://schemas.microsoft.com/office/drawing/2014/main" id="{F02892B0-8041-45AA-FBA1-27CCE0B5609A}"/>
              </a:ext>
            </a:extLst>
          </p:cNvPr>
          <p:cNvSpPr txBox="1"/>
          <p:nvPr/>
        </p:nvSpPr>
        <p:spPr>
          <a:xfrm>
            <a:off x="7408167" y="1241488"/>
            <a:ext cx="219075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825" b="1" noProof="1">
                <a:latin typeface="Calibri"/>
                <a:ea typeface="MiSans"/>
              </a:rPr>
              <a:t>05</a:t>
            </a:r>
            <a:endParaRPr lang="en-US" sz="825" noProof="1">
              <a:latin typeface="MiSans"/>
            </a:endParaRPr>
          </a:p>
        </p:txBody>
      </p:sp>
      <p:sp>
        <p:nvSpPr>
          <p:cNvPr id="237" name="c5-title">
            <a:extLst>
              <a:ext uri="{FF2B5EF4-FFF2-40B4-BE49-F238E27FC236}">
                <a16:creationId xmlns:a16="http://schemas.microsoft.com/office/drawing/2014/main" id="{91D592B5-B0C3-274D-81AF-7272DE05FFA9}"/>
              </a:ext>
            </a:extLst>
          </p:cNvPr>
          <p:cNvSpPr txBox="1"/>
          <p:nvPr/>
        </p:nvSpPr>
        <p:spPr>
          <a:xfrm>
            <a:off x="7693917" y="1203388"/>
            <a:ext cx="12573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975" b="1" noProof="1">
                <a:solidFill>
                  <a:srgbClr val="FFFFFF"/>
                </a:solidFill>
                <a:latin typeface="Calibri"/>
                <a:ea typeface="MiSans"/>
              </a:rPr>
              <a:t>实施规划</a:t>
            </a:r>
            <a:endParaRPr lang="en-US" sz="975" noProof="1">
              <a:solidFill>
                <a:srgbClr val="000000"/>
              </a:solidFill>
              <a:latin typeface="MiSans"/>
            </a:endParaRPr>
          </a:p>
        </p:txBody>
      </p:sp>
      <p:sp>
        <p:nvSpPr>
          <p:cNvPr id="239" name="c5-sub">
            <a:extLst>
              <a:ext uri="{FF2B5EF4-FFF2-40B4-BE49-F238E27FC236}">
                <a16:creationId xmlns:a16="http://schemas.microsoft.com/office/drawing/2014/main" id="{D85F05B3-F4DF-B2E3-E3E2-763C16770CE1}"/>
              </a:ext>
            </a:extLst>
          </p:cNvPr>
          <p:cNvSpPr txBox="1"/>
          <p:nvPr/>
        </p:nvSpPr>
        <p:spPr>
          <a:xfrm>
            <a:off x="7693917" y="1365313"/>
            <a:ext cx="1257300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675" b="1" noProof="1">
                <a:solidFill>
                  <a:srgbClr val="FFFFFF"/>
                </a:solidFill>
                <a:latin typeface="Calibri"/>
                <a:ea typeface="MiSans"/>
              </a:rPr>
              <a:t>制定落地计划与投资预算</a:t>
            </a:r>
            <a:endParaRPr lang="en-US" sz="675" noProof="1">
              <a:solidFill>
                <a:srgbClr val="000000"/>
              </a:solidFill>
              <a:latin typeface="MiSans"/>
            </a:endParaRPr>
          </a:p>
        </p:txBody>
      </p:sp>
      <p:sp>
        <p:nvSpPr>
          <p:cNvPr id="241" name="c5-icon">
            <a:extLst>
              <a:ext uri="{FF2B5EF4-FFF2-40B4-BE49-F238E27FC236}">
                <a16:creationId xmlns:a16="http://schemas.microsoft.com/office/drawing/2014/main" id="{AC775BC1-9461-1D16-0BCE-38941B21D397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eyJpY29uTmFtZSI6ImZhcjpjYWxlbmRhci1jaGVjayJ9</pptd:icon>
              </p:ext>
            </p:extLst>
          </p:nvPr>
        </p:nvSpPr>
        <p:spPr>
          <a:xfrm>
            <a:off x="7960617" y="1619725"/>
            <a:ext cx="342900" cy="32385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328" y="0"/>
                </a:moveTo>
                <a:cubicBezTo>
                  <a:pt x="341" y="0"/>
                  <a:pt x="352" y="11"/>
                  <a:pt x="352" y="24"/>
                </a:cubicBezTo>
                <a:lnTo>
                  <a:pt x="352" y="64"/>
                </a:lnTo>
                <a:lnTo>
                  <a:pt x="384" y="64"/>
                </a:lnTo>
                <a:cubicBezTo>
                  <a:pt x="419" y="64"/>
                  <a:pt x="448" y="93"/>
                  <a:pt x="448" y="128"/>
                </a:cubicBezTo>
                <a:lnTo>
                  <a:pt x="448" y="416"/>
                </a:lnTo>
                <a:cubicBezTo>
                  <a:pt x="448" y="451"/>
                  <a:pt x="419" y="480"/>
                  <a:pt x="384" y="480"/>
                </a:cubicBezTo>
                <a:lnTo>
                  <a:pt x="64" y="480"/>
                </a:lnTo>
                <a:cubicBezTo>
                  <a:pt x="29" y="480"/>
                  <a:pt x="0" y="451"/>
                  <a:pt x="0" y="416"/>
                </a:cubicBezTo>
                <a:lnTo>
                  <a:pt x="0" y="128"/>
                </a:lnTo>
                <a:cubicBezTo>
                  <a:pt x="0" y="93"/>
                  <a:pt x="29" y="64"/>
                  <a:pt x="64" y="64"/>
                </a:cubicBezTo>
                <a:lnTo>
                  <a:pt x="96" y="64"/>
                </a:lnTo>
                <a:lnTo>
                  <a:pt x="96" y="24"/>
                </a:lnTo>
                <a:cubicBezTo>
                  <a:pt x="96" y="11"/>
                  <a:pt x="107" y="0"/>
                  <a:pt x="120" y="0"/>
                </a:cubicBezTo>
                <a:cubicBezTo>
                  <a:pt x="133" y="0"/>
                  <a:pt x="144" y="11"/>
                  <a:pt x="144" y="24"/>
                </a:cubicBezTo>
                <a:lnTo>
                  <a:pt x="144" y="64"/>
                </a:lnTo>
                <a:lnTo>
                  <a:pt x="304" y="64"/>
                </a:lnTo>
                <a:lnTo>
                  <a:pt x="304" y="24"/>
                </a:lnTo>
                <a:cubicBezTo>
                  <a:pt x="304" y="11"/>
                  <a:pt x="315" y="0"/>
                  <a:pt x="328" y="0"/>
                </a:cubicBezTo>
                <a:close/>
                <a:moveTo>
                  <a:pt x="64" y="112"/>
                </a:moveTo>
                <a:cubicBezTo>
                  <a:pt x="55" y="112"/>
                  <a:pt x="48" y="119"/>
                  <a:pt x="48" y="128"/>
                </a:cubicBezTo>
                <a:lnTo>
                  <a:pt x="48" y="416"/>
                </a:lnTo>
                <a:cubicBezTo>
                  <a:pt x="48" y="425"/>
                  <a:pt x="55" y="432"/>
                  <a:pt x="64" y="432"/>
                </a:cubicBezTo>
                <a:lnTo>
                  <a:pt x="384" y="432"/>
                </a:lnTo>
                <a:cubicBezTo>
                  <a:pt x="393" y="432"/>
                  <a:pt x="400" y="425"/>
                  <a:pt x="400" y="416"/>
                </a:cubicBezTo>
                <a:lnTo>
                  <a:pt x="400" y="128"/>
                </a:lnTo>
                <a:cubicBezTo>
                  <a:pt x="400" y="119"/>
                  <a:pt x="393" y="112"/>
                  <a:pt x="384" y="112"/>
                </a:cubicBezTo>
                <a:lnTo>
                  <a:pt x="64" y="112"/>
                </a:lnTo>
                <a:close/>
              </a:path>
              <a:path w="448" h="512">
                <a:moveTo>
                  <a:pt x="295" y="178"/>
                </a:moveTo>
                <a:cubicBezTo>
                  <a:pt x="303" y="167"/>
                  <a:pt x="318" y="165"/>
                  <a:pt x="328" y="173"/>
                </a:cubicBezTo>
                <a:cubicBezTo>
                  <a:pt x="339" y="180"/>
                  <a:pt x="341" y="195"/>
                  <a:pt x="334" y="206"/>
                </a:cubicBezTo>
                <a:lnTo>
                  <a:pt x="211" y="374"/>
                </a:lnTo>
                <a:cubicBezTo>
                  <a:pt x="207" y="380"/>
                  <a:pt x="201" y="383"/>
                  <a:pt x="194" y="384"/>
                </a:cubicBezTo>
                <a:cubicBezTo>
                  <a:pt x="187" y="384"/>
                  <a:pt x="180" y="382"/>
                  <a:pt x="175" y="377"/>
                </a:cubicBezTo>
                <a:lnTo>
                  <a:pt x="119" y="321"/>
                </a:lnTo>
                <a:cubicBezTo>
                  <a:pt x="110" y="312"/>
                  <a:pt x="110" y="297"/>
                  <a:pt x="119" y="287"/>
                </a:cubicBezTo>
                <a:cubicBezTo>
                  <a:pt x="129" y="278"/>
                  <a:pt x="144" y="278"/>
                  <a:pt x="153" y="287"/>
                </a:cubicBezTo>
                <a:lnTo>
                  <a:pt x="189" y="323"/>
                </a:lnTo>
                <a:lnTo>
                  <a:pt x="295" y="178"/>
                </a:lnTo>
                <a:close/>
              </a:path>
            </a:pathLst>
          </a:custGeom>
          <a:solidFill>
            <a:srgbClr val="009CDE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243" name="c5-q">
            <a:extLst>
              <a:ext uri="{FF2B5EF4-FFF2-40B4-BE49-F238E27FC236}">
                <a16:creationId xmlns:a16="http://schemas.microsoft.com/office/drawing/2014/main" id="{CE8138F6-222C-6ED6-89F8-44FA738CDC5D}"/>
              </a:ext>
            </a:extLst>
          </p:cNvPr>
          <p:cNvSpPr txBox="1"/>
          <p:nvPr/>
        </p:nvSpPr>
        <p:spPr>
          <a:xfrm>
            <a:off x="7322442" y="2037903"/>
            <a:ext cx="1619250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800" b="1" noProof="1">
                <a:latin typeface="Calibri"/>
                <a:ea typeface="MiSans"/>
              </a:rPr>
              <a:t>如何落地，需要多久、多少投入?</a:t>
            </a:r>
            <a:endParaRPr lang="en-US" sz="800" noProof="1">
              <a:latin typeface="MiSans"/>
            </a:endParaRPr>
          </a:p>
        </p:txBody>
      </p:sp>
      <p:sp>
        <p:nvSpPr>
          <p:cNvPr id="245" name="c5-bullets">
            <a:extLst>
              <a:ext uri="{FF2B5EF4-FFF2-40B4-BE49-F238E27FC236}">
                <a16:creationId xmlns:a16="http://schemas.microsoft.com/office/drawing/2014/main" id="{70C673DA-C53A-5DEB-1D0B-3AB42E8DC2CA}"/>
              </a:ext>
            </a:extLst>
          </p:cNvPr>
          <p:cNvSpPr txBox="1"/>
          <p:nvPr/>
        </p:nvSpPr>
        <p:spPr>
          <a:xfrm>
            <a:off x="7331967" y="2237928"/>
            <a:ext cx="1499614" cy="1104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171450" indent="-171450" defTabSz="6858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900" noProof="1">
                <a:latin typeface="Calibri"/>
                <a:ea typeface="MiSans"/>
              </a:rPr>
              <a:t>SLC + AI 交付方法</a:t>
            </a:r>
            <a:endParaRPr lang="en-US" sz="900" noProof="1">
              <a:latin typeface="MiSans"/>
            </a:endParaRPr>
          </a:p>
          <a:p>
            <a:pPr marL="171450" indent="-171450" defTabSz="6858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900" noProof="1">
                <a:latin typeface="Calibri"/>
                <a:ea typeface="MiSans"/>
              </a:rPr>
              <a:t>SDD（规范驱动开发）</a:t>
            </a:r>
            <a:endParaRPr lang="en-US" sz="900" noProof="1">
              <a:latin typeface="MiSans"/>
            </a:endParaRPr>
          </a:p>
          <a:p>
            <a:pPr marL="171450" indent="-171450" defTabSz="6858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900" noProof="1">
                <a:latin typeface="Calibri"/>
                <a:ea typeface="MiSans"/>
              </a:rPr>
              <a:t>实施时间线（Timeline）</a:t>
            </a:r>
            <a:endParaRPr lang="en-US" sz="900" noProof="1">
              <a:latin typeface="MiSans"/>
            </a:endParaRPr>
          </a:p>
          <a:p>
            <a:pPr marL="171450" indent="-171450" defTabSz="6858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900" noProof="1">
                <a:latin typeface="Calibri"/>
                <a:ea typeface="MiSans"/>
              </a:rPr>
              <a:t>Phase I</a:t>
            </a:r>
            <a:r>
              <a:rPr lang="zh-CN" altLang="en-US" sz="900" noProof="1">
                <a:latin typeface="Calibri"/>
                <a:ea typeface="MiSans"/>
              </a:rPr>
              <a:t>实施、</a:t>
            </a:r>
            <a:r>
              <a:rPr lang="en-US" altLang="zh-CN" sz="900" noProof="1">
                <a:latin typeface="Calibri"/>
                <a:ea typeface="MiSans"/>
              </a:rPr>
              <a:t>AI</a:t>
            </a:r>
            <a:r>
              <a:rPr lang="zh-CN" altLang="en-US" sz="900" noProof="1">
                <a:latin typeface="Calibri"/>
                <a:ea typeface="MiSans"/>
              </a:rPr>
              <a:t>工具与运维成本</a:t>
            </a:r>
            <a:endParaRPr lang="en-US" sz="900" noProof="1">
              <a:latin typeface="Calibri"/>
              <a:ea typeface="MiSans"/>
            </a:endParaRPr>
          </a:p>
          <a:p>
            <a:pPr marL="171450" indent="-171450" defTabSz="6858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900" noProof="1">
                <a:latin typeface="Calibri"/>
                <a:ea typeface="MiSans"/>
              </a:rPr>
              <a:t>云资源成本</a:t>
            </a:r>
            <a:endParaRPr lang="en-US" sz="900" noProof="1">
              <a:latin typeface="Calibri"/>
              <a:ea typeface="MiSans"/>
            </a:endParaRPr>
          </a:p>
        </p:txBody>
      </p:sp>
      <p:sp>
        <p:nvSpPr>
          <p:cNvPr id="255" name="fn-box">
            <a:extLst>
              <a:ext uri="{FF2B5EF4-FFF2-40B4-BE49-F238E27FC236}">
                <a16:creationId xmlns:a16="http://schemas.microsoft.com/office/drawing/2014/main" id="{F4A07636-3961-8CD5-B864-3DC8A1D8423D}"/>
              </a:ext>
            </a:extLst>
          </p:cNvPr>
          <p:cNvSpPr/>
          <p:nvPr/>
        </p:nvSpPr>
        <p:spPr>
          <a:xfrm>
            <a:off x="150117" y="3632060"/>
            <a:ext cx="8848725" cy="80962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A1C1F2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257" name="fn-badge">
            <a:extLst>
              <a:ext uri="{FF2B5EF4-FFF2-40B4-BE49-F238E27FC236}">
                <a16:creationId xmlns:a16="http://schemas.microsoft.com/office/drawing/2014/main" id="{3809E5CD-D340-A5C0-7D3A-1B84DD2B94EA}"/>
              </a:ext>
            </a:extLst>
          </p:cNvPr>
          <p:cNvSpPr/>
          <p:nvPr/>
        </p:nvSpPr>
        <p:spPr>
          <a:xfrm>
            <a:off x="266700" y="3774935"/>
            <a:ext cx="352425" cy="352425"/>
          </a:xfrm>
          <a:prstGeom prst="ellipse">
            <a:avLst/>
          </a:prstGeom>
          <a:solidFill>
            <a:srgbClr val="009CDE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259" name="fn-badge-icon">
            <a:extLst>
              <a:ext uri="{FF2B5EF4-FFF2-40B4-BE49-F238E27FC236}">
                <a16:creationId xmlns:a16="http://schemas.microsoft.com/office/drawing/2014/main" id="{0E59B04B-AB02-1C60-BDB0-F9E293A51836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eyJpY29uTmFtZSI6ImZhczp0cm9waHkifQ</pptd:icon>
              </p:ext>
            </p:extLst>
          </p:nvPr>
        </p:nvSpPr>
        <p:spPr>
          <a:xfrm>
            <a:off x="352425" y="3860660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44" y="0"/>
                </a:moveTo>
                <a:lnTo>
                  <a:pt x="368" y="0"/>
                </a:lnTo>
                <a:cubicBezTo>
                  <a:pt x="395" y="0"/>
                  <a:pt x="416" y="22"/>
                  <a:pt x="415" y="48"/>
                </a:cubicBezTo>
                <a:cubicBezTo>
                  <a:pt x="415" y="54"/>
                  <a:pt x="415" y="59"/>
                  <a:pt x="415" y="64"/>
                </a:cubicBezTo>
                <a:lnTo>
                  <a:pt x="464" y="64"/>
                </a:lnTo>
                <a:cubicBezTo>
                  <a:pt x="490" y="64"/>
                  <a:pt x="513" y="86"/>
                  <a:pt x="511" y="114"/>
                </a:cubicBezTo>
                <a:cubicBezTo>
                  <a:pt x="504" y="218"/>
                  <a:pt x="451" y="275"/>
                  <a:pt x="393" y="304"/>
                </a:cubicBezTo>
                <a:cubicBezTo>
                  <a:pt x="378" y="313"/>
                  <a:pt x="362" y="319"/>
                  <a:pt x="346" y="323"/>
                </a:cubicBezTo>
                <a:cubicBezTo>
                  <a:pt x="326" y="352"/>
                  <a:pt x="305" y="367"/>
                  <a:pt x="288" y="375"/>
                </a:cubicBezTo>
                <a:lnTo>
                  <a:pt x="288" y="448"/>
                </a:lnTo>
                <a:lnTo>
                  <a:pt x="352" y="448"/>
                </a:lnTo>
                <a:cubicBezTo>
                  <a:pt x="370" y="448"/>
                  <a:pt x="384" y="462"/>
                  <a:pt x="384" y="480"/>
                </a:cubicBezTo>
                <a:cubicBezTo>
                  <a:pt x="384" y="498"/>
                  <a:pt x="370" y="512"/>
                  <a:pt x="352" y="512"/>
                </a:cubicBezTo>
                <a:lnTo>
                  <a:pt x="160" y="512"/>
                </a:lnTo>
                <a:cubicBezTo>
                  <a:pt x="143" y="512"/>
                  <a:pt x="128" y="498"/>
                  <a:pt x="128" y="480"/>
                </a:cubicBezTo>
                <a:cubicBezTo>
                  <a:pt x="128" y="462"/>
                  <a:pt x="143" y="448"/>
                  <a:pt x="160" y="448"/>
                </a:cubicBezTo>
                <a:lnTo>
                  <a:pt x="224" y="448"/>
                </a:lnTo>
                <a:lnTo>
                  <a:pt x="224" y="375"/>
                </a:lnTo>
                <a:cubicBezTo>
                  <a:pt x="208" y="367"/>
                  <a:pt x="188" y="353"/>
                  <a:pt x="169" y="327"/>
                </a:cubicBezTo>
                <a:cubicBezTo>
                  <a:pt x="151" y="322"/>
                  <a:pt x="131" y="314"/>
                  <a:pt x="111" y="303"/>
                </a:cubicBezTo>
                <a:cubicBezTo>
                  <a:pt x="57" y="273"/>
                  <a:pt x="8" y="216"/>
                  <a:pt x="1" y="114"/>
                </a:cubicBezTo>
                <a:cubicBezTo>
                  <a:pt x="-1" y="85"/>
                  <a:pt x="22" y="64"/>
                  <a:pt x="48" y="64"/>
                </a:cubicBezTo>
                <a:lnTo>
                  <a:pt x="98" y="64"/>
                </a:lnTo>
                <a:cubicBezTo>
                  <a:pt x="98" y="59"/>
                  <a:pt x="97" y="53"/>
                  <a:pt x="97" y="48"/>
                </a:cubicBezTo>
                <a:cubicBezTo>
                  <a:pt x="96" y="22"/>
                  <a:pt x="118" y="0"/>
                  <a:pt x="144" y="0"/>
                </a:cubicBezTo>
                <a:close/>
                <a:moveTo>
                  <a:pt x="102" y="112"/>
                </a:moveTo>
                <a:lnTo>
                  <a:pt x="49" y="112"/>
                </a:lnTo>
                <a:cubicBezTo>
                  <a:pt x="55" y="197"/>
                  <a:pt x="94" y="239"/>
                  <a:pt x="134" y="262"/>
                </a:cubicBezTo>
                <a:cubicBezTo>
                  <a:pt x="120" y="224"/>
                  <a:pt x="108" y="176"/>
                  <a:pt x="102" y="112"/>
                </a:cubicBezTo>
                <a:close/>
                <a:moveTo>
                  <a:pt x="380" y="257"/>
                </a:moveTo>
                <a:cubicBezTo>
                  <a:pt x="421" y="233"/>
                  <a:pt x="457" y="191"/>
                  <a:pt x="463" y="112"/>
                </a:cubicBezTo>
                <a:lnTo>
                  <a:pt x="411" y="112"/>
                </a:lnTo>
                <a:cubicBezTo>
                  <a:pt x="405" y="173"/>
                  <a:pt x="394" y="220"/>
                  <a:pt x="380" y="25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261" name="fn-label">
            <a:extLst>
              <a:ext uri="{FF2B5EF4-FFF2-40B4-BE49-F238E27FC236}">
                <a16:creationId xmlns:a16="http://schemas.microsoft.com/office/drawing/2014/main" id="{7EE919FF-C588-9A2D-F67B-6E09E8A3B0C3}"/>
              </a:ext>
            </a:extLst>
          </p:cNvPr>
          <p:cNvSpPr txBox="1"/>
          <p:nvPr/>
        </p:nvSpPr>
        <p:spPr>
          <a:xfrm>
            <a:off x="723900" y="3879710"/>
            <a:ext cx="6858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938" b="1" noProof="1">
                <a:latin typeface="Calibri"/>
                <a:ea typeface="MiSans"/>
              </a:rPr>
              <a:t>最终产出</a:t>
            </a:r>
            <a:endParaRPr lang="en-US" sz="938" noProof="1">
              <a:latin typeface="MiSans"/>
            </a:endParaRPr>
          </a:p>
        </p:txBody>
      </p:sp>
      <p:sp>
        <p:nvSpPr>
          <p:cNvPr id="263" name="fn-arrow1">
            <a:extLst>
              <a:ext uri="{FF2B5EF4-FFF2-40B4-BE49-F238E27FC236}">
                <a16:creationId xmlns:a16="http://schemas.microsoft.com/office/drawing/2014/main" id="{6139C491-E5EB-F2C9-100C-0EC2F8AB1F64}"/>
              </a:ext>
            </a:extLst>
          </p:cNvPr>
          <p:cNvSpPr/>
          <p:nvPr/>
        </p:nvSpPr>
        <p:spPr>
          <a:xfrm>
            <a:off x="1428750" y="3851135"/>
            <a:ext cx="114300" cy="171450"/>
          </a:xfrm>
          <a:prstGeom prst="rightArrow">
            <a:avLst>
              <a:gd name="adj1" fmla="val 60000"/>
              <a:gd name="adj2" fmla="val 42000"/>
            </a:avLst>
          </a:prstGeom>
          <a:solidFill>
            <a:srgbClr val="B9C9EA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265" name="fn-arrow2">
            <a:extLst>
              <a:ext uri="{FF2B5EF4-FFF2-40B4-BE49-F238E27FC236}">
                <a16:creationId xmlns:a16="http://schemas.microsoft.com/office/drawing/2014/main" id="{FA250BD6-B389-F0FA-C173-9C0775A4E8D0}"/>
              </a:ext>
            </a:extLst>
          </p:cNvPr>
          <p:cNvSpPr/>
          <p:nvPr/>
        </p:nvSpPr>
        <p:spPr>
          <a:xfrm>
            <a:off x="1495425" y="3851135"/>
            <a:ext cx="114300" cy="171450"/>
          </a:xfrm>
          <a:prstGeom prst="rightArrow">
            <a:avLst>
              <a:gd name="adj1" fmla="val 60000"/>
              <a:gd name="adj2" fmla="val 42000"/>
            </a:avLst>
          </a:prstGeom>
          <a:solidFill>
            <a:srgbClr val="B9C9EA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267" name="fn-i1">
            <a:extLst>
              <a:ext uri="{FF2B5EF4-FFF2-40B4-BE49-F238E27FC236}">
                <a16:creationId xmlns:a16="http://schemas.microsoft.com/office/drawing/2014/main" id="{81A6EBB3-64D9-54E0-D58D-9F6415CC5116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eyJpY29uTmFtZSI6ImZhczpsYW5kbWFyayJ9</pptd:icon>
              </p:ext>
            </p:extLst>
          </p:nvPr>
        </p:nvSpPr>
        <p:spPr>
          <a:xfrm>
            <a:off x="1971675" y="3784460"/>
            <a:ext cx="28575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39" y="5"/>
                </a:moveTo>
                <a:cubicBezTo>
                  <a:pt x="249" y="-2"/>
                  <a:pt x="263" y="-2"/>
                  <a:pt x="273" y="5"/>
                </a:cubicBezTo>
                <a:lnTo>
                  <a:pt x="497" y="149"/>
                </a:lnTo>
                <a:cubicBezTo>
                  <a:pt x="509" y="157"/>
                  <a:pt x="515" y="171"/>
                  <a:pt x="511" y="185"/>
                </a:cubicBezTo>
                <a:cubicBezTo>
                  <a:pt x="507" y="199"/>
                  <a:pt x="494" y="208"/>
                  <a:pt x="480" y="208"/>
                </a:cubicBezTo>
                <a:lnTo>
                  <a:pt x="448" y="208"/>
                </a:lnTo>
                <a:lnTo>
                  <a:pt x="448" y="416"/>
                </a:lnTo>
                <a:lnTo>
                  <a:pt x="499" y="454"/>
                </a:lnTo>
                <a:cubicBezTo>
                  <a:pt x="507" y="460"/>
                  <a:pt x="512" y="470"/>
                  <a:pt x="512" y="480"/>
                </a:cubicBezTo>
                <a:cubicBezTo>
                  <a:pt x="512" y="498"/>
                  <a:pt x="498" y="512"/>
                  <a:pt x="480" y="512"/>
                </a:cubicBezTo>
                <a:lnTo>
                  <a:pt x="32" y="512"/>
                </a:lnTo>
                <a:cubicBezTo>
                  <a:pt x="14" y="512"/>
                  <a:pt x="0" y="498"/>
                  <a:pt x="0" y="480"/>
                </a:cubicBezTo>
                <a:cubicBezTo>
                  <a:pt x="0" y="470"/>
                  <a:pt x="5" y="460"/>
                  <a:pt x="13" y="454"/>
                </a:cubicBezTo>
                <a:lnTo>
                  <a:pt x="64" y="416"/>
                </a:lnTo>
                <a:lnTo>
                  <a:pt x="64" y="416"/>
                </a:lnTo>
                <a:lnTo>
                  <a:pt x="64" y="208"/>
                </a:lnTo>
                <a:lnTo>
                  <a:pt x="32" y="208"/>
                </a:lnTo>
                <a:cubicBezTo>
                  <a:pt x="18" y="208"/>
                  <a:pt x="5" y="199"/>
                  <a:pt x="1" y="185"/>
                </a:cubicBezTo>
                <a:cubicBezTo>
                  <a:pt x="-3" y="171"/>
                  <a:pt x="3" y="157"/>
                  <a:pt x="15" y="149"/>
                </a:cubicBezTo>
                <a:lnTo>
                  <a:pt x="239" y="5"/>
                </a:lnTo>
                <a:close/>
                <a:moveTo>
                  <a:pt x="336" y="208"/>
                </a:moveTo>
                <a:lnTo>
                  <a:pt x="336" y="416"/>
                </a:lnTo>
                <a:lnTo>
                  <a:pt x="400" y="416"/>
                </a:lnTo>
                <a:lnTo>
                  <a:pt x="400" y="208"/>
                </a:lnTo>
                <a:lnTo>
                  <a:pt x="336" y="208"/>
                </a:lnTo>
                <a:close/>
                <a:moveTo>
                  <a:pt x="224" y="416"/>
                </a:moveTo>
                <a:lnTo>
                  <a:pt x="288" y="416"/>
                </a:lnTo>
                <a:lnTo>
                  <a:pt x="288" y="208"/>
                </a:lnTo>
                <a:lnTo>
                  <a:pt x="224" y="208"/>
                </a:lnTo>
                <a:lnTo>
                  <a:pt x="224" y="416"/>
                </a:lnTo>
                <a:close/>
                <a:moveTo>
                  <a:pt x="112" y="208"/>
                </a:moveTo>
                <a:lnTo>
                  <a:pt x="112" y="416"/>
                </a:lnTo>
                <a:lnTo>
                  <a:pt x="176" y="416"/>
                </a:lnTo>
                <a:lnTo>
                  <a:pt x="176" y="208"/>
                </a:lnTo>
                <a:lnTo>
                  <a:pt x="112" y="208"/>
                </a:lnTo>
                <a:close/>
              </a:path>
            </a:pathLst>
          </a:custGeom>
          <a:solidFill>
            <a:srgbClr val="009CDE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269" name="fn-t1">
            <a:extLst>
              <a:ext uri="{FF2B5EF4-FFF2-40B4-BE49-F238E27FC236}">
                <a16:creationId xmlns:a16="http://schemas.microsoft.com/office/drawing/2014/main" id="{6206F9E9-E373-6F3F-7F90-9EEC5809F1EF}"/>
              </a:ext>
            </a:extLst>
          </p:cNvPr>
          <p:cNvSpPr txBox="1"/>
          <p:nvPr/>
        </p:nvSpPr>
        <p:spPr>
          <a:xfrm>
            <a:off x="2343150" y="3746360"/>
            <a:ext cx="1238250" cy="133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800" b="1" noProof="1">
                <a:latin typeface="Calibri"/>
                <a:ea typeface="MiSans"/>
              </a:rPr>
              <a:t>平台蓝图</a:t>
            </a:r>
            <a:endParaRPr lang="en-US" sz="800" noProof="1">
              <a:latin typeface="MiSans"/>
            </a:endParaRPr>
          </a:p>
        </p:txBody>
      </p:sp>
      <p:sp>
        <p:nvSpPr>
          <p:cNvPr id="272" name="fn-b1">
            <a:extLst>
              <a:ext uri="{FF2B5EF4-FFF2-40B4-BE49-F238E27FC236}">
                <a16:creationId xmlns:a16="http://schemas.microsoft.com/office/drawing/2014/main" id="{03C14921-FF98-D53D-93CF-DE0292602417}"/>
              </a:ext>
            </a:extLst>
          </p:cNvPr>
          <p:cNvSpPr txBox="1"/>
          <p:nvPr/>
        </p:nvSpPr>
        <p:spPr>
          <a:xfrm>
            <a:off x="2343151" y="3908285"/>
            <a:ext cx="1072042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defTabSz="685800"/>
            <a:r>
              <a:rPr lang="en-US" sz="700" noProof="1">
                <a:solidFill>
                  <a:srgbClr val="414965"/>
                </a:solidFill>
                <a:latin typeface="Calibri"/>
                <a:ea typeface="MiSans"/>
              </a:rPr>
              <a:t>明确 China RIMS的能力范围与业务价值</a:t>
            </a:r>
            <a:endParaRPr lang="en-US" sz="700" noProof="1">
              <a:solidFill>
                <a:srgbClr val="000000"/>
              </a:solidFill>
              <a:latin typeface="MiSans"/>
            </a:endParaRPr>
          </a:p>
        </p:txBody>
      </p:sp>
      <p:sp>
        <p:nvSpPr>
          <p:cNvPr id="276" name="fn-div1">
            <a:extLst>
              <a:ext uri="{FF2B5EF4-FFF2-40B4-BE49-F238E27FC236}">
                <a16:creationId xmlns:a16="http://schemas.microsoft.com/office/drawing/2014/main" id="{D058E40B-2FEB-12F8-1541-894DEB919A35}"/>
              </a:ext>
            </a:extLst>
          </p:cNvPr>
          <p:cNvSpPr/>
          <p:nvPr/>
        </p:nvSpPr>
        <p:spPr>
          <a:xfrm>
            <a:off x="3592556" y="3755885"/>
            <a:ext cx="9525" cy="419100"/>
          </a:xfrm>
          <a:prstGeom prst="rect">
            <a:avLst/>
          </a:prstGeom>
          <a:solidFill>
            <a:srgbClr val="E3EBF7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279" name="fn-i2">
            <a:extLst>
              <a:ext uri="{FF2B5EF4-FFF2-40B4-BE49-F238E27FC236}">
                <a16:creationId xmlns:a16="http://schemas.microsoft.com/office/drawing/2014/main" id="{6D61F41A-1CAA-55D3-6775-42010D0EA46F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eyJpY29uTmFtZSI6ImZhczpsYXllci1ncm91cCJ9</pptd:icon>
              </p:ext>
            </p:extLst>
          </p:nvPr>
        </p:nvSpPr>
        <p:spPr>
          <a:xfrm>
            <a:off x="3725906" y="3784460"/>
            <a:ext cx="28575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33" y="5"/>
                </a:moveTo>
                <a:cubicBezTo>
                  <a:pt x="247" y="-2"/>
                  <a:pt x="265" y="-2"/>
                  <a:pt x="280" y="5"/>
                </a:cubicBezTo>
                <a:lnTo>
                  <a:pt x="498" y="106"/>
                </a:lnTo>
                <a:cubicBezTo>
                  <a:pt x="507" y="110"/>
                  <a:pt x="512" y="119"/>
                  <a:pt x="512" y="128"/>
                </a:cubicBezTo>
                <a:cubicBezTo>
                  <a:pt x="512" y="137"/>
                  <a:pt x="507" y="146"/>
                  <a:pt x="498" y="150"/>
                </a:cubicBezTo>
                <a:lnTo>
                  <a:pt x="280" y="251"/>
                </a:lnTo>
                <a:cubicBezTo>
                  <a:pt x="265" y="258"/>
                  <a:pt x="247" y="258"/>
                  <a:pt x="233" y="251"/>
                </a:cubicBezTo>
                <a:lnTo>
                  <a:pt x="14" y="150"/>
                </a:lnTo>
                <a:cubicBezTo>
                  <a:pt x="5" y="146"/>
                  <a:pt x="0" y="137"/>
                  <a:pt x="0" y="128"/>
                </a:cubicBezTo>
                <a:cubicBezTo>
                  <a:pt x="0" y="119"/>
                  <a:pt x="5" y="110"/>
                  <a:pt x="14" y="106"/>
                </a:cubicBezTo>
                <a:lnTo>
                  <a:pt x="233" y="5"/>
                </a:lnTo>
                <a:close/>
              </a:path>
              <a:path w="512" h="512">
                <a:moveTo>
                  <a:pt x="48" y="218"/>
                </a:moveTo>
                <a:lnTo>
                  <a:pt x="212" y="294"/>
                </a:lnTo>
                <a:cubicBezTo>
                  <a:pt x="240" y="307"/>
                  <a:pt x="272" y="307"/>
                  <a:pt x="300" y="294"/>
                </a:cubicBezTo>
                <a:lnTo>
                  <a:pt x="464" y="218"/>
                </a:lnTo>
                <a:lnTo>
                  <a:pt x="498" y="234"/>
                </a:lnTo>
                <a:cubicBezTo>
                  <a:pt x="507" y="238"/>
                  <a:pt x="512" y="247"/>
                  <a:pt x="512" y="256"/>
                </a:cubicBezTo>
                <a:cubicBezTo>
                  <a:pt x="512" y="265"/>
                  <a:pt x="507" y="274"/>
                  <a:pt x="498" y="278"/>
                </a:cubicBezTo>
                <a:lnTo>
                  <a:pt x="280" y="379"/>
                </a:lnTo>
                <a:cubicBezTo>
                  <a:pt x="265" y="386"/>
                  <a:pt x="247" y="386"/>
                  <a:pt x="233" y="379"/>
                </a:cubicBezTo>
                <a:lnTo>
                  <a:pt x="14" y="278"/>
                </a:lnTo>
                <a:cubicBezTo>
                  <a:pt x="5" y="274"/>
                  <a:pt x="0" y="265"/>
                  <a:pt x="0" y="256"/>
                </a:cubicBezTo>
                <a:cubicBezTo>
                  <a:pt x="0" y="247"/>
                  <a:pt x="5" y="238"/>
                  <a:pt x="14" y="234"/>
                </a:cubicBezTo>
                <a:lnTo>
                  <a:pt x="48" y="218"/>
                </a:lnTo>
                <a:close/>
              </a:path>
              <a:path w="512" h="512">
                <a:moveTo>
                  <a:pt x="14" y="362"/>
                </a:moveTo>
                <a:lnTo>
                  <a:pt x="48" y="346"/>
                </a:lnTo>
                <a:lnTo>
                  <a:pt x="212" y="422"/>
                </a:lnTo>
                <a:cubicBezTo>
                  <a:pt x="240" y="435"/>
                  <a:pt x="272" y="435"/>
                  <a:pt x="300" y="422"/>
                </a:cubicBezTo>
                <a:lnTo>
                  <a:pt x="464" y="346"/>
                </a:lnTo>
                <a:lnTo>
                  <a:pt x="498" y="362"/>
                </a:lnTo>
                <a:cubicBezTo>
                  <a:pt x="507" y="366"/>
                  <a:pt x="512" y="375"/>
                  <a:pt x="512" y="384"/>
                </a:cubicBezTo>
                <a:cubicBezTo>
                  <a:pt x="512" y="393"/>
                  <a:pt x="507" y="402"/>
                  <a:pt x="498" y="406"/>
                </a:cubicBezTo>
                <a:lnTo>
                  <a:pt x="279" y="507"/>
                </a:lnTo>
                <a:cubicBezTo>
                  <a:pt x="265" y="514"/>
                  <a:pt x="247" y="514"/>
                  <a:pt x="232" y="507"/>
                </a:cubicBezTo>
                <a:lnTo>
                  <a:pt x="14" y="406"/>
                </a:lnTo>
                <a:cubicBezTo>
                  <a:pt x="5" y="402"/>
                  <a:pt x="0" y="393"/>
                  <a:pt x="0" y="384"/>
                </a:cubicBezTo>
                <a:cubicBezTo>
                  <a:pt x="0" y="375"/>
                  <a:pt x="5" y="366"/>
                  <a:pt x="14" y="362"/>
                </a:cubicBezTo>
                <a:close/>
              </a:path>
            </a:pathLst>
          </a:custGeom>
          <a:solidFill>
            <a:srgbClr val="009CDE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282" name="fn-t2">
            <a:extLst>
              <a:ext uri="{FF2B5EF4-FFF2-40B4-BE49-F238E27FC236}">
                <a16:creationId xmlns:a16="http://schemas.microsoft.com/office/drawing/2014/main" id="{078FCAC2-7ED2-307C-C855-E5EDAC861EB8}"/>
              </a:ext>
            </a:extLst>
          </p:cNvPr>
          <p:cNvSpPr txBox="1"/>
          <p:nvPr/>
        </p:nvSpPr>
        <p:spPr>
          <a:xfrm>
            <a:off x="4097381" y="3746360"/>
            <a:ext cx="1238250" cy="133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800" b="1" noProof="1">
                <a:latin typeface="Calibri"/>
                <a:ea typeface="MiSans"/>
              </a:rPr>
              <a:t>目标技术架构</a:t>
            </a:r>
            <a:endParaRPr lang="en-US" sz="800" noProof="1">
              <a:latin typeface="MiSans"/>
            </a:endParaRPr>
          </a:p>
        </p:txBody>
      </p:sp>
      <p:sp>
        <p:nvSpPr>
          <p:cNvPr id="286" name="fn-b2">
            <a:extLst>
              <a:ext uri="{FF2B5EF4-FFF2-40B4-BE49-F238E27FC236}">
                <a16:creationId xmlns:a16="http://schemas.microsoft.com/office/drawing/2014/main" id="{81B8AD3F-24FD-E58F-D31D-EABCBB1ADA91}"/>
              </a:ext>
            </a:extLst>
          </p:cNvPr>
          <p:cNvSpPr txBox="1"/>
          <p:nvPr/>
        </p:nvSpPr>
        <p:spPr>
          <a:xfrm>
            <a:off x="4097381" y="3908285"/>
            <a:ext cx="93608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/>
            <a:r>
              <a:rPr lang="en-US" sz="700" noProof="1">
                <a:solidFill>
                  <a:srgbClr val="414965"/>
                </a:solidFill>
                <a:latin typeface="Calibri"/>
                <a:ea typeface="MiSans"/>
              </a:rPr>
              <a:t>形成推荐架构方案与技术路径</a:t>
            </a:r>
            <a:endParaRPr lang="en-US" sz="700" noProof="1">
              <a:solidFill>
                <a:srgbClr val="000000"/>
              </a:solidFill>
              <a:latin typeface="MiSans"/>
            </a:endParaRPr>
          </a:p>
        </p:txBody>
      </p:sp>
      <p:sp>
        <p:nvSpPr>
          <p:cNvPr id="290" name="fn-div2">
            <a:extLst>
              <a:ext uri="{FF2B5EF4-FFF2-40B4-BE49-F238E27FC236}">
                <a16:creationId xmlns:a16="http://schemas.microsoft.com/office/drawing/2014/main" id="{14AAFB90-EE57-F0A1-155B-694E0763C272}"/>
              </a:ext>
            </a:extLst>
          </p:cNvPr>
          <p:cNvSpPr/>
          <p:nvPr/>
        </p:nvSpPr>
        <p:spPr>
          <a:xfrm>
            <a:off x="5224148" y="3755885"/>
            <a:ext cx="9525" cy="419100"/>
          </a:xfrm>
          <a:prstGeom prst="rect">
            <a:avLst/>
          </a:prstGeom>
          <a:solidFill>
            <a:srgbClr val="E3EBF7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294" name="fn-i3">
            <a:extLst>
              <a:ext uri="{FF2B5EF4-FFF2-40B4-BE49-F238E27FC236}">
                <a16:creationId xmlns:a16="http://schemas.microsoft.com/office/drawing/2014/main" id="{5C2F434A-DDAD-A7C4-A957-E8C2F0F6A830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eyJpY29uTmFtZSI6ImZhczpjb2RlLWJyYW5jaCJ9</pptd:icon>
              </p:ext>
            </p:extLst>
          </p:nvPr>
        </p:nvSpPr>
        <p:spPr>
          <a:xfrm>
            <a:off x="5341268" y="3784460"/>
            <a:ext cx="285750" cy="3048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160" y="80"/>
                </a:moveTo>
                <a:cubicBezTo>
                  <a:pt x="160" y="113"/>
                  <a:pt x="140" y="141"/>
                  <a:pt x="112" y="153"/>
                </a:cubicBezTo>
                <a:lnTo>
                  <a:pt x="112" y="224"/>
                </a:lnTo>
                <a:lnTo>
                  <a:pt x="288" y="224"/>
                </a:lnTo>
                <a:cubicBezTo>
                  <a:pt x="315" y="224"/>
                  <a:pt x="336" y="203"/>
                  <a:pt x="336" y="176"/>
                </a:cubicBezTo>
                <a:lnTo>
                  <a:pt x="336" y="153"/>
                </a:lnTo>
                <a:cubicBezTo>
                  <a:pt x="308" y="141"/>
                  <a:pt x="288" y="113"/>
                  <a:pt x="288" y="80"/>
                </a:cubicBezTo>
                <a:cubicBezTo>
                  <a:pt x="288" y="36"/>
                  <a:pt x="324" y="0"/>
                  <a:pt x="368" y="0"/>
                </a:cubicBezTo>
                <a:cubicBezTo>
                  <a:pt x="412" y="0"/>
                  <a:pt x="448" y="36"/>
                  <a:pt x="448" y="80"/>
                </a:cubicBezTo>
                <a:cubicBezTo>
                  <a:pt x="448" y="113"/>
                  <a:pt x="428" y="141"/>
                  <a:pt x="400" y="153"/>
                </a:cubicBezTo>
                <a:lnTo>
                  <a:pt x="400" y="176"/>
                </a:lnTo>
                <a:cubicBezTo>
                  <a:pt x="400" y="238"/>
                  <a:pt x="350" y="288"/>
                  <a:pt x="288" y="288"/>
                </a:cubicBezTo>
                <a:lnTo>
                  <a:pt x="112" y="288"/>
                </a:lnTo>
                <a:lnTo>
                  <a:pt x="112" y="359"/>
                </a:lnTo>
                <a:cubicBezTo>
                  <a:pt x="140" y="371"/>
                  <a:pt x="160" y="399"/>
                  <a:pt x="160" y="432"/>
                </a:cubicBezTo>
                <a:cubicBezTo>
                  <a:pt x="160" y="476"/>
                  <a:pt x="124" y="512"/>
                  <a:pt x="80" y="512"/>
                </a:cubicBezTo>
                <a:cubicBezTo>
                  <a:pt x="36" y="512"/>
                  <a:pt x="0" y="476"/>
                  <a:pt x="0" y="432"/>
                </a:cubicBezTo>
                <a:cubicBezTo>
                  <a:pt x="0" y="399"/>
                  <a:pt x="20" y="371"/>
                  <a:pt x="48" y="359"/>
                </a:cubicBezTo>
                <a:lnTo>
                  <a:pt x="48" y="153"/>
                </a:lnTo>
                <a:cubicBezTo>
                  <a:pt x="20" y="141"/>
                  <a:pt x="0" y="113"/>
                  <a:pt x="0" y="80"/>
                </a:cubicBezTo>
                <a:cubicBezTo>
                  <a:pt x="0" y="36"/>
                  <a:pt x="36" y="0"/>
                  <a:pt x="80" y="0"/>
                </a:cubicBezTo>
                <a:cubicBezTo>
                  <a:pt x="124" y="0"/>
                  <a:pt x="160" y="36"/>
                  <a:pt x="160" y="80"/>
                </a:cubicBezTo>
                <a:close/>
                <a:moveTo>
                  <a:pt x="80" y="104"/>
                </a:moveTo>
                <a:cubicBezTo>
                  <a:pt x="93" y="104"/>
                  <a:pt x="104" y="93"/>
                  <a:pt x="104" y="80"/>
                </a:cubicBezTo>
                <a:cubicBezTo>
                  <a:pt x="104" y="67"/>
                  <a:pt x="93" y="56"/>
                  <a:pt x="80" y="56"/>
                </a:cubicBezTo>
                <a:cubicBezTo>
                  <a:pt x="67" y="56"/>
                  <a:pt x="56" y="67"/>
                  <a:pt x="56" y="80"/>
                </a:cubicBezTo>
                <a:cubicBezTo>
                  <a:pt x="56" y="93"/>
                  <a:pt x="67" y="104"/>
                  <a:pt x="80" y="104"/>
                </a:cubicBezTo>
                <a:close/>
                <a:moveTo>
                  <a:pt x="392" y="80"/>
                </a:moveTo>
                <a:cubicBezTo>
                  <a:pt x="392" y="67"/>
                  <a:pt x="381" y="56"/>
                  <a:pt x="368" y="56"/>
                </a:cubicBezTo>
                <a:cubicBezTo>
                  <a:pt x="355" y="56"/>
                  <a:pt x="344" y="67"/>
                  <a:pt x="344" y="80"/>
                </a:cubicBezTo>
                <a:cubicBezTo>
                  <a:pt x="344" y="93"/>
                  <a:pt x="355" y="104"/>
                  <a:pt x="368" y="104"/>
                </a:cubicBezTo>
                <a:cubicBezTo>
                  <a:pt x="381" y="104"/>
                  <a:pt x="392" y="93"/>
                  <a:pt x="392" y="80"/>
                </a:cubicBezTo>
                <a:close/>
                <a:moveTo>
                  <a:pt x="80" y="456"/>
                </a:moveTo>
                <a:cubicBezTo>
                  <a:pt x="93" y="456"/>
                  <a:pt x="104" y="445"/>
                  <a:pt x="104" y="432"/>
                </a:cubicBezTo>
                <a:cubicBezTo>
                  <a:pt x="104" y="419"/>
                  <a:pt x="93" y="408"/>
                  <a:pt x="80" y="408"/>
                </a:cubicBezTo>
                <a:cubicBezTo>
                  <a:pt x="67" y="408"/>
                  <a:pt x="56" y="419"/>
                  <a:pt x="56" y="432"/>
                </a:cubicBezTo>
                <a:cubicBezTo>
                  <a:pt x="56" y="445"/>
                  <a:pt x="67" y="456"/>
                  <a:pt x="80" y="456"/>
                </a:cubicBezTo>
                <a:close/>
              </a:path>
            </a:pathLst>
          </a:custGeom>
          <a:solidFill>
            <a:srgbClr val="009CDE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298" name="fn-t3">
            <a:extLst>
              <a:ext uri="{FF2B5EF4-FFF2-40B4-BE49-F238E27FC236}">
                <a16:creationId xmlns:a16="http://schemas.microsoft.com/office/drawing/2014/main" id="{3B12F938-C52A-7E64-F949-086BCF59545B}"/>
              </a:ext>
            </a:extLst>
          </p:cNvPr>
          <p:cNvSpPr txBox="1"/>
          <p:nvPr/>
        </p:nvSpPr>
        <p:spPr>
          <a:xfrm>
            <a:off x="5712743" y="3746360"/>
            <a:ext cx="1238250" cy="133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800" b="1" noProof="1">
                <a:latin typeface="Calibri"/>
                <a:ea typeface="MiSans"/>
              </a:rPr>
              <a:t>实施路线图</a:t>
            </a:r>
            <a:endParaRPr lang="en-US" sz="800" noProof="1">
              <a:latin typeface="MiSans"/>
            </a:endParaRPr>
          </a:p>
        </p:txBody>
      </p:sp>
      <p:sp>
        <p:nvSpPr>
          <p:cNvPr id="302" name="fn-b3">
            <a:extLst>
              <a:ext uri="{FF2B5EF4-FFF2-40B4-BE49-F238E27FC236}">
                <a16:creationId xmlns:a16="http://schemas.microsoft.com/office/drawing/2014/main" id="{82D9890C-F47E-998C-F9A8-287A7C530CE6}"/>
              </a:ext>
            </a:extLst>
          </p:cNvPr>
          <p:cNvSpPr txBox="1"/>
          <p:nvPr/>
        </p:nvSpPr>
        <p:spPr>
          <a:xfrm>
            <a:off x="5712743" y="3908285"/>
            <a:ext cx="128587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/>
            <a:r>
              <a:rPr lang="en-US" sz="700" noProof="1">
                <a:solidFill>
                  <a:srgbClr val="414965"/>
                </a:solidFill>
                <a:latin typeface="Calibri"/>
                <a:ea typeface="MiSans"/>
              </a:rPr>
              <a:t>清晰的阶段计划、里程碑</a:t>
            </a:r>
            <a:endParaRPr lang="en-US" sz="700" noProof="1">
              <a:solidFill>
                <a:srgbClr val="000000"/>
              </a:solidFill>
              <a:latin typeface="MiSans"/>
            </a:endParaRPr>
          </a:p>
          <a:p>
            <a:pPr defTabSz="685800"/>
            <a:r>
              <a:rPr lang="en-US" sz="700" noProof="1">
                <a:solidFill>
                  <a:srgbClr val="414965"/>
                </a:solidFill>
                <a:latin typeface="Calibri"/>
                <a:ea typeface="MiSans"/>
              </a:rPr>
              <a:t>与关键交付成果</a:t>
            </a:r>
            <a:endParaRPr lang="en-US" sz="700" noProof="1">
              <a:solidFill>
                <a:srgbClr val="000000"/>
              </a:solidFill>
              <a:latin typeface="MiSans"/>
            </a:endParaRPr>
          </a:p>
        </p:txBody>
      </p:sp>
      <p:sp>
        <p:nvSpPr>
          <p:cNvPr id="306" name="fn-div3">
            <a:extLst>
              <a:ext uri="{FF2B5EF4-FFF2-40B4-BE49-F238E27FC236}">
                <a16:creationId xmlns:a16="http://schemas.microsoft.com/office/drawing/2014/main" id="{4AB07D68-ED97-9D79-185F-7C9AF633682D}"/>
              </a:ext>
            </a:extLst>
          </p:cNvPr>
          <p:cNvSpPr/>
          <p:nvPr/>
        </p:nvSpPr>
        <p:spPr>
          <a:xfrm>
            <a:off x="6825476" y="3755885"/>
            <a:ext cx="9525" cy="419100"/>
          </a:xfrm>
          <a:prstGeom prst="rect">
            <a:avLst/>
          </a:prstGeom>
          <a:solidFill>
            <a:srgbClr val="E3EBF7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310" name="fn-i4">
            <a:extLst>
              <a:ext uri="{FF2B5EF4-FFF2-40B4-BE49-F238E27FC236}">
                <a16:creationId xmlns:a16="http://schemas.microsoft.com/office/drawing/2014/main" id="{B55BE3BA-AC5C-5BA3-26B4-993C8D096BA2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eyJpY29uTmFtZSI6ImZhczpjb2lucyJ9</pptd:icon>
              </p:ext>
            </p:extLst>
          </p:nvPr>
        </p:nvSpPr>
        <p:spPr>
          <a:xfrm>
            <a:off x="7006451" y="3784460"/>
            <a:ext cx="28575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28" y="96"/>
                </a:moveTo>
                <a:lnTo>
                  <a:pt x="128" y="80"/>
                </a:lnTo>
                <a:cubicBezTo>
                  <a:pt x="128" y="36"/>
                  <a:pt x="214" y="0"/>
                  <a:pt x="320" y="0"/>
                </a:cubicBezTo>
                <a:cubicBezTo>
                  <a:pt x="426" y="0"/>
                  <a:pt x="512" y="36"/>
                  <a:pt x="512" y="80"/>
                </a:cubicBezTo>
                <a:lnTo>
                  <a:pt x="512" y="96"/>
                </a:lnTo>
                <a:cubicBezTo>
                  <a:pt x="512" y="127"/>
                  <a:pt x="471" y="153"/>
                  <a:pt x="410" y="167"/>
                </a:cubicBezTo>
                <a:cubicBezTo>
                  <a:pt x="408" y="164"/>
                  <a:pt x="405" y="161"/>
                  <a:pt x="403" y="159"/>
                </a:cubicBezTo>
                <a:cubicBezTo>
                  <a:pt x="387" y="143"/>
                  <a:pt x="367" y="132"/>
                  <a:pt x="346" y="123"/>
                </a:cubicBezTo>
                <a:cubicBezTo>
                  <a:pt x="304" y="106"/>
                  <a:pt x="250" y="96"/>
                  <a:pt x="192" y="96"/>
                </a:cubicBezTo>
                <a:cubicBezTo>
                  <a:pt x="170" y="96"/>
                  <a:pt x="149" y="98"/>
                  <a:pt x="128" y="100"/>
                </a:cubicBezTo>
                <a:cubicBezTo>
                  <a:pt x="128" y="99"/>
                  <a:pt x="128" y="97"/>
                  <a:pt x="128" y="96"/>
                </a:cubicBezTo>
                <a:close/>
              </a:path>
              <a:path w="512" h="512">
                <a:moveTo>
                  <a:pt x="432" y="353"/>
                </a:moveTo>
                <a:lnTo>
                  <a:pt x="432" y="307"/>
                </a:lnTo>
                <a:cubicBezTo>
                  <a:pt x="447" y="303"/>
                  <a:pt x="461" y="298"/>
                  <a:pt x="474" y="293"/>
                </a:cubicBezTo>
                <a:cubicBezTo>
                  <a:pt x="487" y="287"/>
                  <a:pt x="500" y="281"/>
                  <a:pt x="512" y="273"/>
                </a:cubicBezTo>
                <a:lnTo>
                  <a:pt x="512" y="288"/>
                </a:lnTo>
                <a:cubicBezTo>
                  <a:pt x="512" y="315"/>
                  <a:pt x="481" y="339"/>
                  <a:pt x="432" y="353"/>
                </a:cubicBezTo>
                <a:close/>
              </a:path>
              <a:path w="512" h="512">
                <a:moveTo>
                  <a:pt x="432" y="257"/>
                </a:moveTo>
                <a:lnTo>
                  <a:pt x="432" y="224"/>
                </a:lnTo>
                <a:cubicBezTo>
                  <a:pt x="432" y="220"/>
                  <a:pt x="432" y="215"/>
                  <a:pt x="431" y="211"/>
                </a:cubicBezTo>
                <a:cubicBezTo>
                  <a:pt x="447" y="207"/>
                  <a:pt x="461" y="202"/>
                  <a:pt x="474" y="197"/>
                </a:cubicBezTo>
                <a:cubicBezTo>
                  <a:pt x="487" y="191"/>
                  <a:pt x="500" y="185"/>
                  <a:pt x="512" y="177"/>
                </a:cubicBezTo>
                <a:lnTo>
                  <a:pt x="512" y="192"/>
                </a:lnTo>
                <a:cubicBezTo>
                  <a:pt x="512" y="219"/>
                  <a:pt x="481" y="242"/>
                  <a:pt x="432" y="257"/>
                </a:cubicBezTo>
                <a:close/>
              </a:path>
              <a:path w="512" h="512">
                <a:moveTo>
                  <a:pt x="0" y="240"/>
                </a:moveTo>
                <a:lnTo>
                  <a:pt x="0" y="224"/>
                </a:lnTo>
                <a:cubicBezTo>
                  <a:pt x="0" y="180"/>
                  <a:pt x="86" y="144"/>
                  <a:pt x="192" y="144"/>
                </a:cubicBezTo>
                <a:cubicBezTo>
                  <a:pt x="298" y="144"/>
                  <a:pt x="384" y="180"/>
                  <a:pt x="384" y="224"/>
                </a:cubicBezTo>
                <a:lnTo>
                  <a:pt x="384" y="240"/>
                </a:lnTo>
                <a:cubicBezTo>
                  <a:pt x="384" y="284"/>
                  <a:pt x="298" y="320"/>
                  <a:pt x="192" y="320"/>
                </a:cubicBezTo>
                <a:cubicBezTo>
                  <a:pt x="86" y="320"/>
                  <a:pt x="0" y="284"/>
                  <a:pt x="0" y="240"/>
                </a:cubicBezTo>
                <a:close/>
              </a:path>
              <a:path w="512" h="512">
                <a:moveTo>
                  <a:pt x="384" y="336"/>
                </a:moveTo>
                <a:cubicBezTo>
                  <a:pt x="384" y="380"/>
                  <a:pt x="298" y="416"/>
                  <a:pt x="192" y="416"/>
                </a:cubicBezTo>
                <a:cubicBezTo>
                  <a:pt x="86" y="416"/>
                  <a:pt x="0" y="380"/>
                  <a:pt x="0" y="336"/>
                </a:cubicBezTo>
                <a:lnTo>
                  <a:pt x="0" y="321"/>
                </a:lnTo>
                <a:cubicBezTo>
                  <a:pt x="12" y="329"/>
                  <a:pt x="25" y="335"/>
                  <a:pt x="38" y="341"/>
                </a:cubicBezTo>
                <a:cubicBezTo>
                  <a:pt x="80" y="358"/>
                  <a:pt x="134" y="368"/>
                  <a:pt x="192" y="368"/>
                </a:cubicBezTo>
                <a:cubicBezTo>
                  <a:pt x="250" y="368"/>
                  <a:pt x="304" y="358"/>
                  <a:pt x="346" y="341"/>
                </a:cubicBezTo>
                <a:cubicBezTo>
                  <a:pt x="359" y="335"/>
                  <a:pt x="372" y="329"/>
                  <a:pt x="384" y="321"/>
                </a:cubicBezTo>
                <a:lnTo>
                  <a:pt x="384" y="336"/>
                </a:lnTo>
                <a:close/>
              </a:path>
              <a:path w="512" h="512">
                <a:moveTo>
                  <a:pt x="384" y="417"/>
                </a:moveTo>
                <a:lnTo>
                  <a:pt x="384" y="432"/>
                </a:lnTo>
                <a:cubicBezTo>
                  <a:pt x="384" y="476"/>
                  <a:pt x="298" y="512"/>
                  <a:pt x="192" y="512"/>
                </a:cubicBezTo>
                <a:cubicBezTo>
                  <a:pt x="86" y="512"/>
                  <a:pt x="0" y="476"/>
                  <a:pt x="0" y="432"/>
                </a:cubicBezTo>
                <a:lnTo>
                  <a:pt x="0" y="417"/>
                </a:lnTo>
                <a:cubicBezTo>
                  <a:pt x="12" y="425"/>
                  <a:pt x="25" y="431"/>
                  <a:pt x="38" y="437"/>
                </a:cubicBezTo>
                <a:cubicBezTo>
                  <a:pt x="80" y="454"/>
                  <a:pt x="134" y="464"/>
                  <a:pt x="192" y="464"/>
                </a:cubicBezTo>
                <a:cubicBezTo>
                  <a:pt x="250" y="464"/>
                  <a:pt x="304" y="454"/>
                  <a:pt x="346" y="437"/>
                </a:cubicBezTo>
                <a:cubicBezTo>
                  <a:pt x="359" y="431"/>
                  <a:pt x="372" y="425"/>
                  <a:pt x="384" y="417"/>
                </a:cubicBezTo>
                <a:close/>
              </a:path>
            </a:pathLst>
          </a:custGeom>
          <a:solidFill>
            <a:srgbClr val="009CDE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314" name="fn-t4">
            <a:extLst>
              <a:ext uri="{FF2B5EF4-FFF2-40B4-BE49-F238E27FC236}">
                <a16:creationId xmlns:a16="http://schemas.microsoft.com/office/drawing/2014/main" id="{D66D5F08-71D6-FC16-A947-638E25E58A6F}"/>
              </a:ext>
            </a:extLst>
          </p:cNvPr>
          <p:cNvSpPr txBox="1"/>
          <p:nvPr/>
        </p:nvSpPr>
        <p:spPr>
          <a:xfrm>
            <a:off x="7368401" y="3746360"/>
            <a:ext cx="1238250" cy="133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800" b="1" noProof="1">
                <a:latin typeface="Calibri"/>
                <a:ea typeface="MiSans"/>
              </a:rPr>
              <a:t>投资视图</a:t>
            </a:r>
            <a:endParaRPr lang="en-US" sz="800" noProof="1">
              <a:latin typeface="MiSans"/>
            </a:endParaRPr>
          </a:p>
        </p:txBody>
      </p:sp>
      <p:sp>
        <p:nvSpPr>
          <p:cNvPr id="318" name="fn-b4">
            <a:extLst>
              <a:ext uri="{FF2B5EF4-FFF2-40B4-BE49-F238E27FC236}">
                <a16:creationId xmlns:a16="http://schemas.microsoft.com/office/drawing/2014/main" id="{096BD265-0587-5737-AA76-9F09D4EB3253}"/>
              </a:ext>
            </a:extLst>
          </p:cNvPr>
          <p:cNvSpPr txBox="1"/>
          <p:nvPr/>
        </p:nvSpPr>
        <p:spPr>
          <a:xfrm>
            <a:off x="7368401" y="3908285"/>
            <a:ext cx="128587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/>
            <a:r>
              <a:rPr lang="en-US" sz="700" noProof="1">
                <a:solidFill>
                  <a:srgbClr val="414965"/>
                </a:solidFill>
                <a:latin typeface="Calibri"/>
                <a:ea typeface="MiSans"/>
              </a:rPr>
              <a:t>完整的成本测算</a:t>
            </a:r>
            <a:r>
              <a:rPr lang="zh-CN" altLang="en-US" sz="700" noProof="1">
                <a:solidFill>
                  <a:srgbClr val="414965"/>
                </a:solidFill>
                <a:latin typeface="Calibri"/>
                <a:ea typeface="MiSans"/>
              </a:rPr>
              <a:t>分析</a:t>
            </a:r>
            <a:endParaRPr lang="en-US" sz="700" noProof="1">
              <a:solidFill>
                <a:srgbClr val="000000"/>
              </a:solidFill>
              <a:latin typeface="MiSans"/>
            </a:endParaRPr>
          </a:p>
        </p:txBody>
      </p:sp>
      <p:sp>
        <p:nvSpPr>
          <p:cNvPr id="322" name="fn-banner">
            <a:extLst>
              <a:ext uri="{FF2B5EF4-FFF2-40B4-BE49-F238E27FC236}">
                <a16:creationId xmlns:a16="http://schemas.microsoft.com/office/drawing/2014/main" id="{48CA3908-2443-8BCF-A27A-FA4F54E44BB2}"/>
              </a:ext>
            </a:extLst>
          </p:cNvPr>
          <p:cNvSpPr/>
          <p:nvPr/>
        </p:nvSpPr>
        <p:spPr>
          <a:xfrm>
            <a:off x="209550" y="4232135"/>
            <a:ext cx="8724900" cy="161925"/>
          </a:xfrm>
          <a:prstGeom prst="roundRect">
            <a:avLst>
              <a:gd name="adj" fmla="val 30000"/>
            </a:avLst>
          </a:prstGeom>
          <a:solidFill>
            <a:srgbClr val="EBF2FD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325" name="fn-banner-t">
            <a:extLst>
              <a:ext uri="{FF2B5EF4-FFF2-40B4-BE49-F238E27FC236}">
                <a16:creationId xmlns:a16="http://schemas.microsoft.com/office/drawing/2014/main" id="{73B287EE-2BC9-DD53-92E7-13F7C6429039}"/>
              </a:ext>
            </a:extLst>
          </p:cNvPr>
          <p:cNvSpPr txBox="1"/>
          <p:nvPr/>
        </p:nvSpPr>
        <p:spPr>
          <a:xfrm>
            <a:off x="209550" y="4232135"/>
            <a:ext cx="870585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713" b="1" noProof="1">
                <a:solidFill>
                  <a:srgbClr val="009CDE"/>
                </a:solidFill>
                <a:latin typeface="Calibri"/>
                <a:ea typeface="MiSans"/>
              </a:rPr>
              <a:t>形成可落地、可执行的整体建设方案，为 Phase I 实施决策与后续运营奠定坚实基础</a:t>
            </a:r>
            <a:endParaRPr lang="en-US" sz="713" noProof="1">
              <a:solidFill>
                <a:srgbClr val="009CDE"/>
              </a:solidFill>
              <a:latin typeface="MiSans"/>
            </a:endParaRPr>
          </a:p>
        </p:txBody>
      </p:sp>
    </p:spTree>
    <p:extLst>
      <p:ext uri="{BB962C8B-B14F-4D97-AF65-F5344CB8AC3E}">
        <p14:creationId xmlns:p14="http://schemas.microsoft.com/office/powerpoint/2010/main" val="665241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25EA7-7FB5-47C2-26E3-487D8C8D7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0DD196A1-450D-72A8-4733-A50DE330CC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sym typeface="+mn-lt"/>
              </a:rPr>
              <a:t>2. AS-IS Assessment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662D72B-EC73-1BE3-610A-ACD36C250B0B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>
            <a:normAutofit/>
          </a:bodyPr>
          <a:lstStyle/>
          <a:p>
            <a:r>
              <a:rPr lang="en-US" altLang="zh-CN">
                <a:latin typeface="+mj-lt"/>
                <a:sym typeface="+mn-lt"/>
              </a:rPr>
              <a:t>China RIMS Solution Proposal</a:t>
            </a:r>
            <a:endParaRPr lang="zh-CN" altLang="en-US">
              <a:latin typeface="+mj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8067B1-5446-8920-427B-20895EF4EA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0" tIns="0" rIns="68580" bIns="34290" rtlCol="0" anchor="t">
            <a:normAutofit/>
          </a:bodyPr>
          <a:lstStyle/>
          <a:p>
            <a:r>
              <a:rPr lang="en-US">
                <a:cs typeface="Calibri"/>
              </a:rPr>
              <a:t>Sep 2026</a:t>
            </a:r>
          </a:p>
        </p:txBody>
      </p:sp>
    </p:spTree>
    <p:extLst>
      <p:ext uri="{BB962C8B-B14F-4D97-AF65-F5344CB8AC3E}">
        <p14:creationId xmlns:p14="http://schemas.microsoft.com/office/powerpoint/2010/main" val="3811350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flow-arrow-1">
            <a:extLst>
              <a:ext uri="{FF2B5EF4-FFF2-40B4-BE49-F238E27FC236}">
                <a16:creationId xmlns:a16="http://schemas.microsoft.com/office/drawing/2014/main" id="{9CDA0FCB-1BAA-403B-924D-883204B6CD95}"/>
              </a:ext>
            </a:extLst>
          </p:cNvPr>
          <p:cNvSpPr>
            <a:spLocks noGrp="1"/>
          </p:cNvSpPr>
          <p:nvPr/>
        </p:nvSpPr>
        <p:spPr>
          <a:xfrm>
            <a:off x="3071811" y="2713348"/>
            <a:ext cx="214313" cy="142875"/>
          </a:xfrm>
          <a:prstGeom prst="rightArrow">
            <a:avLst/>
          </a:prstGeom>
          <a:solidFill>
            <a:srgbClr val="DDEEF8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0" name="flow-arrow-2">
            <a:extLst>
              <a:ext uri="{FF2B5EF4-FFF2-40B4-BE49-F238E27FC236}">
                <a16:creationId xmlns:a16="http://schemas.microsoft.com/office/drawing/2014/main" id="{03978AC1-AAB2-47B6-8162-45AEBAC6C8EC}"/>
              </a:ext>
            </a:extLst>
          </p:cNvPr>
          <p:cNvSpPr>
            <a:spLocks noGrp="1"/>
          </p:cNvSpPr>
          <p:nvPr/>
        </p:nvSpPr>
        <p:spPr>
          <a:xfrm>
            <a:off x="6072186" y="2713348"/>
            <a:ext cx="214313" cy="142875"/>
          </a:xfrm>
          <a:prstGeom prst="rightArrow">
            <a:avLst/>
          </a:prstGeom>
          <a:solidFill>
            <a:srgbClr val="DDEEF8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1" name="conclusion-bar">
            <a:extLst>
              <a:ext uri="{FF2B5EF4-FFF2-40B4-BE49-F238E27FC236}">
                <a16:creationId xmlns:a16="http://schemas.microsoft.com/office/drawing/2014/main" id="{84E96828-EF5C-4738-9ED4-4830634B3431}"/>
              </a:ext>
            </a:extLst>
          </p:cNvPr>
          <p:cNvSpPr>
            <a:spLocks noGrp="1"/>
          </p:cNvSpPr>
          <p:nvPr/>
        </p:nvSpPr>
        <p:spPr>
          <a:xfrm>
            <a:off x="585787" y="1220304"/>
            <a:ext cx="7972425" cy="392906"/>
          </a:xfrm>
          <a:prstGeom prst="roundRect">
            <a:avLst>
              <a:gd name="adj" fmla="val 12727"/>
            </a:avLst>
          </a:prstGeom>
          <a:solidFill>
            <a:srgbClr val="EAF4FB"/>
          </a:solidFill>
          <a:ln w="7620">
            <a:solidFill>
              <a:srgbClr val="BFD9EC"/>
            </a:solidFill>
            <a:prstDash val="solid"/>
          </a:ln>
        </p:spPr>
        <p:txBody>
          <a:bodyPr lIns="128588" tIns="50006" rIns="4357688" bIns="42863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73">
                <a:solidFill>
                  <a:srgbClr val="62748A"/>
                </a:solidFill>
                <a:latin typeface="Calibri"/>
                <a:ea typeface="Calibri"/>
                <a:cs typeface="Calibr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173E6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迁移范围已明确，但</a:t>
            </a: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1686C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准备度不一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73">
                <a:solidFill>
                  <a:srgbClr val="62748A"/>
                </a:solidFill>
                <a:latin typeface="Calibri"/>
                <a:ea typeface="Calibri"/>
                <a:cs typeface="Calibri"/>
              </a:defRPr>
            </a:pPr>
            <a:r>
              <a:rPr kumimoji="0" sz="700" b="0" i="0" u="none" strike="noStrike" kern="1200" cap="none" spc="0" normalizeH="0" baseline="0" noProof="0">
                <a:ln>
                  <a:noFill/>
                </a:ln>
                <a:solidFill>
                  <a:srgbClr val="62748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部分系统具备字段结构，部分仍停留在业务分类</a:t>
            </a:r>
          </a:p>
        </p:txBody>
      </p:sp>
      <p:sp>
        <p:nvSpPr>
          <p:cNvPr id="82" name="metric-divider-1">
            <a:extLst>
              <a:ext uri="{FF2B5EF4-FFF2-40B4-BE49-F238E27FC236}">
                <a16:creationId xmlns:a16="http://schemas.microsoft.com/office/drawing/2014/main" id="{C2C9423F-43C4-49E9-B33D-DC3C25A6391D}"/>
              </a:ext>
            </a:extLst>
          </p:cNvPr>
          <p:cNvSpPr>
            <a:spLocks noGrp="1"/>
          </p:cNvSpPr>
          <p:nvPr/>
        </p:nvSpPr>
        <p:spPr>
          <a:xfrm>
            <a:off x="4307681" y="1284598"/>
            <a:ext cx="7144" cy="257175"/>
          </a:xfrm>
          <a:prstGeom prst="line">
            <a:avLst/>
          </a:prstGeom>
          <a:noFill/>
          <a:ln w="9525">
            <a:solidFill>
              <a:srgbClr val="BFD9E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3" name="metric-divider-2">
            <a:extLst>
              <a:ext uri="{FF2B5EF4-FFF2-40B4-BE49-F238E27FC236}">
                <a16:creationId xmlns:a16="http://schemas.microsoft.com/office/drawing/2014/main" id="{4A80C9F9-060B-4A49-AA34-AEE2BC77DF88}"/>
              </a:ext>
            </a:extLst>
          </p:cNvPr>
          <p:cNvSpPr>
            <a:spLocks noGrp="1"/>
          </p:cNvSpPr>
          <p:nvPr/>
        </p:nvSpPr>
        <p:spPr>
          <a:xfrm>
            <a:off x="5700712" y="1284598"/>
            <a:ext cx="7144" cy="257175"/>
          </a:xfrm>
          <a:prstGeom prst="line">
            <a:avLst/>
          </a:prstGeom>
          <a:noFill/>
          <a:ln w="9525">
            <a:solidFill>
              <a:srgbClr val="BFD9E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4" name="metric-divider-3">
            <a:extLst>
              <a:ext uri="{FF2B5EF4-FFF2-40B4-BE49-F238E27FC236}">
                <a16:creationId xmlns:a16="http://schemas.microsoft.com/office/drawing/2014/main" id="{5A1D2C5F-1FC1-466E-92D4-9D926ADCB690}"/>
              </a:ext>
            </a:extLst>
          </p:cNvPr>
          <p:cNvSpPr>
            <a:spLocks noGrp="1"/>
          </p:cNvSpPr>
          <p:nvPr/>
        </p:nvSpPr>
        <p:spPr>
          <a:xfrm>
            <a:off x="7093743" y="1284598"/>
            <a:ext cx="7144" cy="257175"/>
          </a:xfrm>
          <a:prstGeom prst="line">
            <a:avLst/>
          </a:prstGeom>
          <a:noFill/>
          <a:ln w="9525">
            <a:solidFill>
              <a:srgbClr val="BFD9E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5" name="metric-systems-value">
            <a:extLst>
              <a:ext uri="{FF2B5EF4-FFF2-40B4-BE49-F238E27FC236}">
                <a16:creationId xmlns:a16="http://schemas.microsoft.com/office/drawing/2014/main" id="{5DFFC576-F737-446D-9376-51E9F7A837D0}"/>
              </a:ext>
            </a:extLst>
          </p:cNvPr>
          <p:cNvSpPr>
            <a:spLocks noGrp="1"/>
          </p:cNvSpPr>
          <p:nvPr/>
        </p:nvSpPr>
        <p:spPr>
          <a:xfrm>
            <a:off x="4386261" y="1263167"/>
            <a:ext cx="1243013" cy="1928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1686C5"/>
                </a:solidFill>
                <a:latin typeface="Calibri"/>
                <a:ea typeface="Calibri"/>
                <a:cs typeface="Calibri"/>
              </a:defRPr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686C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19</a:t>
            </a: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1686C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个</a:t>
            </a:r>
          </a:p>
        </p:txBody>
      </p:sp>
      <p:sp>
        <p:nvSpPr>
          <p:cNvPr id="86" name="metric-systems-label">
            <a:extLst>
              <a:ext uri="{FF2B5EF4-FFF2-40B4-BE49-F238E27FC236}">
                <a16:creationId xmlns:a16="http://schemas.microsoft.com/office/drawing/2014/main" id="{2D4C0D29-E239-4C4C-9811-81099C8E6807}"/>
              </a:ext>
            </a:extLst>
          </p:cNvPr>
          <p:cNvSpPr>
            <a:spLocks noGrp="1"/>
          </p:cNvSpPr>
          <p:nvPr/>
        </p:nvSpPr>
        <p:spPr>
          <a:xfrm>
            <a:off x="4386261" y="1448904"/>
            <a:ext cx="1243013" cy="1285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88" b="1">
                <a:solidFill>
                  <a:srgbClr val="173E67"/>
                </a:solidFill>
                <a:latin typeface="Calibri"/>
                <a:ea typeface="Calibri"/>
                <a:cs typeface="Calibri"/>
              </a:defRPr>
            </a:pPr>
            <a:r>
              <a:rPr kumimoji="0" lang="zh-CN" altLang="en-US" sz="700" b="1" i="0" u="none" strike="noStrike" kern="1200" cap="none" spc="0" normalizeH="0" baseline="0" noProof="0">
                <a:ln>
                  <a:noFill/>
                </a:ln>
                <a:solidFill>
                  <a:srgbClr val="173E6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已</a:t>
            </a:r>
            <a:r>
              <a:rPr kumimoji="0" sz="700" b="1" i="0" u="none" strike="noStrike" kern="1200" cap="none" spc="0" normalizeH="0" baseline="0" noProof="0">
                <a:ln>
                  <a:noFill/>
                </a:ln>
                <a:solidFill>
                  <a:srgbClr val="173E6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退役系统</a:t>
            </a:r>
          </a:p>
        </p:txBody>
      </p:sp>
      <p:sp>
        <p:nvSpPr>
          <p:cNvPr id="87" name="metric-capacity-value">
            <a:extLst>
              <a:ext uri="{FF2B5EF4-FFF2-40B4-BE49-F238E27FC236}">
                <a16:creationId xmlns:a16="http://schemas.microsoft.com/office/drawing/2014/main" id="{F6BA589F-EF3D-4AD7-AE27-B1DB25E65265}"/>
              </a:ext>
            </a:extLst>
          </p:cNvPr>
          <p:cNvSpPr>
            <a:spLocks noGrp="1"/>
          </p:cNvSpPr>
          <p:nvPr/>
        </p:nvSpPr>
        <p:spPr>
          <a:xfrm>
            <a:off x="5779293" y="1263167"/>
            <a:ext cx="1243013" cy="1928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1686C5"/>
                </a:solidFill>
                <a:latin typeface="Calibri"/>
                <a:ea typeface="Calibri"/>
                <a:cs typeface="Calibri"/>
              </a:defRPr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1686C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7个</a:t>
            </a:r>
          </a:p>
        </p:txBody>
      </p:sp>
      <p:sp>
        <p:nvSpPr>
          <p:cNvPr id="88" name="metric-capacity-label">
            <a:extLst>
              <a:ext uri="{FF2B5EF4-FFF2-40B4-BE49-F238E27FC236}">
                <a16:creationId xmlns:a16="http://schemas.microsoft.com/office/drawing/2014/main" id="{9714B00C-8B1A-4799-9820-81D988334FAF}"/>
              </a:ext>
            </a:extLst>
          </p:cNvPr>
          <p:cNvSpPr>
            <a:spLocks noGrp="1"/>
          </p:cNvSpPr>
          <p:nvPr/>
        </p:nvSpPr>
        <p:spPr>
          <a:xfrm>
            <a:off x="5779293" y="1448904"/>
            <a:ext cx="1243013" cy="1285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88" b="1">
                <a:solidFill>
                  <a:srgbClr val="173E67"/>
                </a:solidFill>
                <a:latin typeface="Calibri"/>
                <a:ea typeface="Calibri"/>
                <a:cs typeface="Calibri"/>
              </a:defRPr>
            </a:pPr>
            <a:r>
              <a:rPr kumimoji="0" lang="zh-CN" altLang="en-US" sz="700" b="1" i="0" u="none" strike="noStrike" kern="1200" cap="none" spc="0" normalizeH="0" baseline="0" noProof="0">
                <a:ln>
                  <a:noFill/>
                </a:ln>
                <a:solidFill>
                  <a:srgbClr val="173E6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待退役系统</a:t>
            </a:r>
            <a:endParaRPr kumimoji="0" sz="700" b="1" i="0" u="none" strike="noStrike" kern="1200" cap="none" spc="0" normalizeH="0" baseline="0" noProof="0">
              <a:ln>
                <a:noFill/>
              </a:ln>
              <a:solidFill>
                <a:srgbClr val="173E67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89" name="metric-volume-value">
            <a:extLst>
              <a:ext uri="{FF2B5EF4-FFF2-40B4-BE49-F238E27FC236}">
                <a16:creationId xmlns:a16="http://schemas.microsoft.com/office/drawing/2014/main" id="{71A9CBAA-5A7E-4E55-A46D-93F0D0A283CB}"/>
              </a:ext>
            </a:extLst>
          </p:cNvPr>
          <p:cNvSpPr>
            <a:spLocks noGrp="1"/>
          </p:cNvSpPr>
          <p:nvPr/>
        </p:nvSpPr>
        <p:spPr>
          <a:xfrm>
            <a:off x="7172324" y="1263167"/>
            <a:ext cx="1300163" cy="1928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1686C5"/>
                </a:solidFill>
                <a:latin typeface="Calibri"/>
                <a:ea typeface="Calibri"/>
                <a:cs typeface="Calibri"/>
              </a:defRPr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686C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4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1686C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个</a:t>
            </a:r>
            <a:endParaRPr kumimoji="0" sz="1400" b="1" i="0" u="none" strike="noStrike" kern="1200" cap="none" spc="0" normalizeH="0" baseline="0" noProof="0">
              <a:ln>
                <a:noFill/>
              </a:ln>
              <a:solidFill>
                <a:srgbClr val="1686C5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90" name="metric-volume-label">
            <a:extLst>
              <a:ext uri="{FF2B5EF4-FFF2-40B4-BE49-F238E27FC236}">
                <a16:creationId xmlns:a16="http://schemas.microsoft.com/office/drawing/2014/main" id="{5E78E837-1C2D-4264-A1D8-AC5D112D43D1}"/>
              </a:ext>
            </a:extLst>
          </p:cNvPr>
          <p:cNvSpPr>
            <a:spLocks noGrp="1"/>
          </p:cNvSpPr>
          <p:nvPr/>
        </p:nvSpPr>
        <p:spPr>
          <a:xfrm>
            <a:off x="7172324" y="1448904"/>
            <a:ext cx="1300163" cy="1285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88" b="1">
                <a:solidFill>
                  <a:srgbClr val="173E67"/>
                </a:solidFill>
                <a:latin typeface="Calibri"/>
                <a:ea typeface="Calibri"/>
                <a:cs typeface="Calibri"/>
              </a:defRPr>
            </a:pPr>
            <a:r>
              <a:rPr kumimoji="0" lang="zh-CN" altLang="en-US" sz="700" b="1" i="0" u="none" strike="noStrike" kern="1200" cap="none" spc="0" normalizeH="0" baseline="0" noProof="0">
                <a:ln>
                  <a:noFill/>
                </a:ln>
                <a:solidFill>
                  <a:srgbClr val="173E6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现存系统</a:t>
            </a:r>
            <a:endParaRPr kumimoji="0" sz="700" b="1" i="0" u="none" strike="noStrike" kern="1200" cap="none" spc="0" normalizeH="0" baseline="0" noProof="0">
              <a:ln>
                <a:noFill/>
              </a:ln>
              <a:solidFill>
                <a:srgbClr val="173E67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91" name="domain-num">
            <a:extLst>
              <a:ext uri="{FF2B5EF4-FFF2-40B4-BE49-F238E27FC236}">
                <a16:creationId xmlns:a16="http://schemas.microsoft.com/office/drawing/2014/main" id="{ABBCD590-9658-401D-B9A1-EC2193A0F2FC}"/>
              </a:ext>
            </a:extLst>
          </p:cNvPr>
          <p:cNvSpPr>
            <a:spLocks noGrp="1"/>
          </p:cNvSpPr>
          <p:nvPr/>
        </p:nvSpPr>
        <p:spPr>
          <a:xfrm>
            <a:off x="585787" y="1720366"/>
            <a:ext cx="2000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1686C5"/>
                </a:solidFill>
                <a:latin typeface="Calibri"/>
                <a:ea typeface="Calibri"/>
                <a:cs typeface="Calibr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1686C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92" name="domain-title">
            <a:extLst>
              <a:ext uri="{FF2B5EF4-FFF2-40B4-BE49-F238E27FC236}">
                <a16:creationId xmlns:a16="http://schemas.microsoft.com/office/drawing/2014/main" id="{8BE94B1D-265A-4E71-B0B2-AF9AA2CD7AD9}"/>
              </a:ext>
            </a:extLst>
          </p:cNvPr>
          <p:cNvSpPr>
            <a:spLocks noGrp="1"/>
          </p:cNvSpPr>
          <p:nvPr/>
        </p:nvSpPr>
        <p:spPr>
          <a:xfrm>
            <a:off x="828674" y="1720366"/>
            <a:ext cx="2243138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173E67"/>
                </a:solidFill>
                <a:latin typeface="Calibri"/>
                <a:ea typeface="Calibri"/>
                <a:cs typeface="Calibri"/>
              </a:defRPr>
            </a:pPr>
            <a:r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173E6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业务领域覆盖</a:t>
            </a:r>
            <a:endParaRPr kumimoji="0" sz="1000" b="1" i="0" u="none" strike="noStrike" kern="1200" cap="none" spc="0" normalizeH="0" baseline="0" noProof="0">
              <a:ln>
                <a:noFill/>
              </a:ln>
              <a:solidFill>
                <a:srgbClr val="173E67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93" name="domain-rule">
            <a:extLst>
              <a:ext uri="{FF2B5EF4-FFF2-40B4-BE49-F238E27FC236}">
                <a16:creationId xmlns:a16="http://schemas.microsoft.com/office/drawing/2014/main" id="{254467C7-ACEB-4C17-83E0-466333E27A7B}"/>
              </a:ext>
            </a:extLst>
          </p:cNvPr>
          <p:cNvSpPr>
            <a:spLocks noGrp="1"/>
          </p:cNvSpPr>
          <p:nvPr/>
        </p:nvSpPr>
        <p:spPr>
          <a:xfrm>
            <a:off x="585787" y="1927535"/>
            <a:ext cx="2486025" cy="7144"/>
          </a:xfrm>
          <a:prstGeom prst="line">
            <a:avLst/>
          </a:prstGeom>
          <a:noFill/>
          <a:ln w="9525">
            <a:solidFill>
              <a:srgbClr val="BFD9E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4" name="domain-1-card">
            <a:extLst>
              <a:ext uri="{FF2B5EF4-FFF2-40B4-BE49-F238E27FC236}">
                <a16:creationId xmlns:a16="http://schemas.microsoft.com/office/drawing/2014/main" id="{311428F1-8CC2-4D28-A14C-E1F0362CA077}"/>
              </a:ext>
            </a:extLst>
          </p:cNvPr>
          <p:cNvSpPr>
            <a:spLocks noGrp="1"/>
          </p:cNvSpPr>
          <p:nvPr/>
        </p:nvSpPr>
        <p:spPr>
          <a:xfrm>
            <a:off x="585787" y="1991829"/>
            <a:ext cx="2486025" cy="350044"/>
          </a:xfrm>
          <a:prstGeom prst="roundRect">
            <a:avLst>
              <a:gd name="adj" fmla="val 14286"/>
            </a:avLst>
          </a:prstGeom>
          <a:solidFill>
            <a:srgbClr val="F4F8FB"/>
          </a:solidFill>
          <a:ln w="7620">
            <a:solidFill>
              <a:srgbClr val="D7E5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5" name="domain-1-stripe">
            <a:extLst>
              <a:ext uri="{FF2B5EF4-FFF2-40B4-BE49-F238E27FC236}">
                <a16:creationId xmlns:a16="http://schemas.microsoft.com/office/drawing/2014/main" id="{B5642BD4-1635-40DE-A913-8586952B7A30}"/>
              </a:ext>
            </a:extLst>
          </p:cNvPr>
          <p:cNvSpPr>
            <a:spLocks noGrp="1"/>
          </p:cNvSpPr>
          <p:nvPr/>
        </p:nvSpPr>
        <p:spPr>
          <a:xfrm>
            <a:off x="585787" y="1991829"/>
            <a:ext cx="35719" cy="350044"/>
          </a:xfrm>
          <a:prstGeom prst="roundRect">
            <a:avLst>
              <a:gd name="adj" fmla="val 50000"/>
            </a:avLst>
          </a:prstGeom>
          <a:solidFill>
            <a:srgbClr val="4B9DD0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6" name="domain-1-number">
            <a:extLst>
              <a:ext uri="{FF2B5EF4-FFF2-40B4-BE49-F238E27FC236}">
                <a16:creationId xmlns:a16="http://schemas.microsoft.com/office/drawing/2014/main" id="{FB93EDCF-AFED-486E-BAFD-17C42F0A311F}"/>
              </a:ext>
            </a:extLst>
          </p:cNvPr>
          <p:cNvSpPr>
            <a:spLocks noGrp="1"/>
          </p:cNvSpPr>
          <p:nvPr/>
        </p:nvSpPr>
        <p:spPr>
          <a:xfrm>
            <a:off x="678655" y="2048979"/>
            <a:ext cx="171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1686C5"/>
                </a:solidFill>
                <a:latin typeface="Calibri"/>
                <a:ea typeface="Calibri"/>
                <a:cs typeface="Calibri"/>
              </a:defRPr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1686C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97" name="domain-1-title">
            <a:extLst>
              <a:ext uri="{FF2B5EF4-FFF2-40B4-BE49-F238E27FC236}">
                <a16:creationId xmlns:a16="http://schemas.microsoft.com/office/drawing/2014/main" id="{58ED24E0-23E2-4DFC-AA29-1C067392D6D8}"/>
              </a:ext>
            </a:extLst>
          </p:cNvPr>
          <p:cNvSpPr>
            <a:spLocks noGrp="1"/>
          </p:cNvSpPr>
          <p:nvPr/>
        </p:nvSpPr>
        <p:spPr>
          <a:xfrm>
            <a:off x="871537" y="2034691"/>
            <a:ext cx="885825" cy="1571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38" b="1">
                <a:solidFill>
                  <a:srgbClr val="173E67"/>
                </a:solidFill>
                <a:latin typeface="Calibri"/>
                <a:ea typeface="Calibri"/>
                <a:cs typeface="Calibri"/>
              </a:defRPr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173E6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客户与会员运营</a:t>
            </a:r>
          </a:p>
        </p:txBody>
      </p:sp>
      <p:sp>
        <p:nvSpPr>
          <p:cNvPr id="98" name="domain-1-systems">
            <a:extLst>
              <a:ext uri="{FF2B5EF4-FFF2-40B4-BE49-F238E27FC236}">
                <a16:creationId xmlns:a16="http://schemas.microsoft.com/office/drawing/2014/main" id="{5A10C55F-84E1-45B0-A77F-6F22C27913FE}"/>
              </a:ext>
            </a:extLst>
          </p:cNvPr>
          <p:cNvSpPr>
            <a:spLocks noGrp="1"/>
          </p:cNvSpPr>
          <p:nvPr/>
        </p:nvSpPr>
        <p:spPr>
          <a:xfrm>
            <a:off x="1771650" y="2041835"/>
            <a:ext cx="1221581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50" b="1">
                <a:solidFill>
                  <a:srgbClr val="1686C5"/>
                </a:solidFill>
                <a:latin typeface="Calibri"/>
                <a:ea typeface="Calibri"/>
                <a:cs typeface="Calibri"/>
              </a:defRPr>
            </a:pPr>
            <a:r>
              <a:rPr kumimoji="0" sz="700" b="1" i="0" u="none" strike="noStrike" kern="1200" cap="none" spc="0" normalizeH="0" baseline="0" noProof="0">
                <a:ln>
                  <a:noFill/>
                </a:ln>
                <a:solidFill>
                  <a:srgbClr val="1686C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CC · NGCRM · ADC MA</a:t>
            </a:r>
          </a:p>
        </p:txBody>
      </p:sp>
      <p:sp>
        <p:nvSpPr>
          <p:cNvPr id="99" name="domain-1-desc">
            <a:extLst>
              <a:ext uri="{FF2B5EF4-FFF2-40B4-BE49-F238E27FC236}">
                <a16:creationId xmlns:a16="http://schemas.microsoft.com/office/drawing/2014/main" id="{5511AE60-688C-453B-BD55-380AC6038824}"/>
              </a:ext>
            </a:extLst>
          </p:cNvPr>
          <p:cNvSpPr>
            <a:spLocks noGrp="1"/>
          </p:cNvSpPr>
          <p:nvPr/>
        </p:nvSpPr>
        <p:spPr>
          <a:xfrm>
            <a:off x="871537" y="2191854"/>
            <a:ext cx="2114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35" b="0">
                <a:solidFill>
                  <a:srgbClr val="62748A"/>
                </a:solidFill>
                <a:latin typeface="Calibri"/>
                <a:ea typeface="Calibri"/>
                <a:cs typeface="Calibri"/>
              </a:defRPr>
            </a:pPr>
            <a:r>
              <a:rPr kumimoji="0" sz="700" b="0" i="0" u="none" strike="noStrike" kern="1200" cap="none" spc="0" normalizeH="0" baseline="0" noProof="0">
                <a:ln>
                  <a:noFill/>
                </a:ln>
                <a:solidFill>
                  <a:srgbClr val="62748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客户、会员、订单、积分、卡券与互动</a:t>
            </a:r>
          </a:p>
        </p:txBody>
      </p:sp>
      <p:sp>
        <p:nvSpPr>
          <p:cNvPr id="100" name="domain-2-card">
            <a:extLst>
              <a:ext uri="{FF2B5EF4-FFF2-40B4-BE49-F238E27FC236}">
                <a16:creationId xmlns:a16="http://schemas.microsoft.com/office/drawing/2014/main" id="{7627A992-D9BB-4AB3-A105-681C1C1E8759}"/>
              </a:ext>
            </a:extLst>
          </p:cNvPr>
          <p:cNvSpPr>
            <a:spLocks noGrp="1"/>
          </p:cNvSpPr>
          <p:nvPr/>
        </p:nvSpPr>
        <p:spPr>
          <a:xfrm>
            <a:off x="585787" y="2391879"/>
            <a:ext cx="2486025" cy="350044"/>
          </a:xfrm>
          <a:prstGeom prst="roundRect">
            <a:avLst>
              <a:gd name="adj" fmla="val 14286"/>
            </a:avLst>
          </a:prstGeom>
          <a:solidFill>
            <a:srgbClr val="F4F8FB"/>
          </a:solidFill>
          <a:ln w="7620">
            <a:solidFill>
              <a:srgbClr val="D7E5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1" name="domain-2-stripe">
            <a:extLst>
              <a:ext uri="{FF2B5EF4-FFF2-40B4-BE49-F238E27FC236}">
                <a16:creationId xmlns:a16="http://schemas.microsoft.com/office/drawing/2014/main" id="{054E6691-7EEB-4739-8E4B-08618647886B}"/>
              </a:ext>
            </a:extLst>
          </p:cNvPr>
          <p:cNvSpPr>
            <a:spLocks noGrp="1"/>
          </p:cNvSpPr>
          <p:nvPr/>
        </p:nvSpPr>
        <p:spPr>
          <a:xfrm>
            <a:off x="585787" y="2391879"/>
            <a:ext cx="35719" cy="350044"/>
          </a:xfrm>
          <a:prstGeom prst="roundRect">
            <a:avLst>
              <a:gd name="adj" fmla="val 50000"/>
            </a:avLst>
          </a:prstGeom>
          <a:solidFill>
            <a:srgbClr val="4B9DD0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2" name="domain-2-number">
            <a:extLst>
              <a:ext uri="{FF2B5EF4-FFF2-40B4-BE49-F238E27FC236}">
                <a16:creationId xmlns:a16="http://schemas.microsoft.com/office/drawing/2014/main" id="{10507A12-FEFF-46E3-AEB4-8C6ECCDBA84B}"/>
              </a:ext>
            </a:extLst>
          </p:cNvPr>
          <p:cNvSpPr>
            <a:spLocks noGrp="1"/>
          </p:cNvSpPr>
          <p:nvPr/>
        </p:nvSpPr>
        <p:spPr>
          <a:xfrm>
            <a:off x="678655" y="2449029"/>
            <a:ext cx="171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1686C5"/>
                </a:solidFill>
                <a:latin typeface="Calibri"/>
                <a:ea typeface="Calibri"/>
                <a:cs typeface="Calibri"/>
              </a:defRPr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1686C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03" name="domain-2-title">
            <a:extLst>
              <a:ext uri="{FF2B5EF4-FFF2-40B4-BE49-F238E27FC236}">
                <a16:creationId xmlns:a16="http://schemas.microsoft.com/office/drawing/2014/main" id="{64893B85-C477-498B-8423-B6EFEFB588F7}"/>
              </a:ext>
            </a:extLst>
          </p:cNvPr>
          <p:cNvSpPr>
            <a:spLocks noGrp="1"/>
          </p:cNvSpPr>
          <p:nvPr/>
        </p:nvSpPr>
        <p:spPr>
          <a:xfrm>
            <a:off x="871537" y="2434741"/>
            <a:ext cx="885825" cy="1571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38" b="1">
                <a:solidFill>
                  <a:srgbClr val="173E67"/>
                </a:solidFill>
                <a:latin typeface="Calibri"/>
                <a:ea typeface="Calibri"/>
                <a:cs typeface="Calibri"/>
              </a:defRPr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173E6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审批与费用管理</a:t>
            </a:r>
          </a:p>
        </p:txBody>
      </p:sp>
      <p:sp>
        <p:nvSpPr>
          <p:cNvPr id="104" name="domain-2-systems">
            <a:extLst>
              <a:ext uri="{FF2B5EF4-FFF2-40B4-BE49-F238E27FC236}">
                <a16:creationId xmlns:a16="http://schemas.microsoft.com/office/drawing/2014/main" id="{24BC7A36-7F6B-4E5A-9842-D5060B7CCE7A}"/>
              </a:ext>
            </a:extLst>
          </p:cNvPr>
          <p:cNvSpPr>
            <a:spLocks noGrp="1"/>
          </p:cNvSpPr>
          <p:nvPr/>
        </p:nvSpPr>
        <p:spPr>
          <a:xfrm>
            <a:off x="1771650" y="2441885"/>
            <a:ext cx="1221581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50" b="1">
                <a:solidFill>
                  <a:srgbClr val="1686C5"/>
                </a:solidFill>
                <a:latin typeface="Calibri"/>
                <a:ea typeface="Calibri"/>
                <a:cs typeface="Calibri"/>
              </a:defRPr>
            </a:pPr>
            <a:r>
              <a:rPr kumimoji="0" sz="700" b="1" i="0" u="none" strike="noStrike" kern="1200" cap="none" spc="0" normalizeH="0" baseline="0" noProof="0">
                <a:ln>
                  <a:noFill/>
                </a:ln>
                <a:solidFill>
                  <a:srgbClr val="1686C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Eflow · BPM / NEXBPM</a:t>
            </a:r>
          </a:p>
        </p:txBody>
      </p:sp>
      <p:sp>
        <p:nvSpPr>
          <p:cNvPr id="105" name="domain-2-desc">
            <a:extLst>
              <a:ext uri="{FF2B5EF4-FFF2-40B4-BE49-F238E27FC236}">
                <a16:creationId xmlns:a16="http://schemas.microsoft.com/office/drawing/2014/main" id="{D610A9E8-F6BA-4B96-9F74-DC16E9FFF2C0}"/>
              </a:ext>
            </a:extLst>
          </p:cNvPr>
          <p:cNvSpPr>
            <a:spLocks noGrp="1"/>
          </p:cNvSpPr>
          <p:nvPr/>
        </p:nvSpPr>
        <p:spPr>
          <a:xfrm>
            <a:off x="871537" y="2591904"/>
            <a:ext cx="2114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35" b="0">
                <a:solidFill>
                  <a:srgbClr val="62748A"/>
                </a:solidFill>
                <a:latin typeface="Calibri"/>
                <a:ea typeface="Calibri"/>
                <a:cs typeface="Calibri"/>
              </a:defRPr>
            </a:pPr>
            <a:r>
              <a:rPr kumimoji="0" sz="700" b="0" i="0" u="none" strike="noStrike" kern="1200" cap="none" spc="0" normalizeH="0" baseline="0" noProof="0">
                <a:ln>
                  <a:noFill/>
                </a:ln>
                <a:solidFill>
                  <a:srgbClr val="62748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交易、预算、费用、HCP、采购与审批</a:t>
            </a:r>
          </a:p>
        </p:txBody>
      </p:sp>
      <p:sp>
        <p:nvSpPr>
          <p:cNvPr id="106" name="domain-3-card">
            <a:extLst>
              <a:ext uri="{FF2B5EF4-FFF2-40B4-BE49-F238E27FC236}">
                <a16:creationId xmlns:a16="http://schemas.microsoft.com/office/drawing/2014/main" id="{1F2BE34D-1721-4474-A245-156815A0B59F}"/>
              </a:ext>
            </a:extLst>
          </p:cNvPr>
          <p:cNvSpPr>
            <a:spLocks noGrp="1"/>
          </p:cNvSpPr>
          <p:nvPr/>
        </p:nvSpPr>
        <p:spPr>
          <a:xfrm>
            <a:off x="585787" y="2791929"/>
            <a:ext cx="2486025" cy="350044"/>
          </a:xfrm>
          <a:prstGeom prst="roundRect">
            <a:avLst>
              <a:gd name="adj" fmla="val 14286"/>
            </a:avLst>
          </a:prstGeom>
          <a:solidFill>
            <a:srgbClr val="F4F8FB"/>
          </a:solidFill>
          <a:ln w="7620">
            <a:solidFill>
              <a:srgbClr val="D7E5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7" name="domain-3-stripe">
            <a:extLst>
              <a:ext uri="{FF2B5EF4-FFF2-40B4-BE49-F238E27FC236}">
                <a16:creationId xmlns:a16="http://schemas.microsoft.com/office/drawing/2014/main" id="{BE282476-095C-416F-8CFF-DAACECC4E276}"/>
              </a:ext>
            </a:extLst>
          </p:cNvPr>
          <p:cNvSpPr>
            <a:spLocks noGrp="1"/>
          </p:cNvSpPr>
          <p:nvPr/>
        </p:nvSpPr>
        <p:spPr>
          <a:xfrm>
            <a:off x="585787" y="2791929"/>
            <a:ext cx="35719" cy="350044"/>
          </a:xfrm>
          <a:prstGeom prst="roundRect">
            <a:avLst>
              <a:gd name="adj" fmla="val 50000"/>
            </a:avLst>
          </a:prstGeom>
          <a:solidFill>
            <a:srgbClr val="4B9DD0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8" name="domain-3-number">
            <a:extLst>
              <a:ext uri="{FF2B5EF4-FFF2-40B4-BE49-F238E27FC236}">
                <a16:creationId xmlns:a16="http://schemas.microsoft.com/office/drawing/2014/main" id="{6C815CD1-5514-4E52-A1C4-39020124B993}"/>
              </a:ext>
            </a:extLst>
          </p:cNvPr>
          <p:cNvSpPr>
            <a:spLocks noGrp="1"/>
          </p:cNvSpPr>
          <p:nvPr/>
        </p:nvSpPr>
        <p:spPr>
          <a:xfrm>
            <a:off x="678655" y="2849079"/>
            <a:ext cx="171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1686C5"/>
                </a:solidFill>
                <a:latin typeface="Calibri"/>
                <a:ea typeface="Calibri"/>
                <a:cs typeface="Calibri"/>
              </a:defRPr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1686C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09" name="domain-3-title">
            <a:extLst>
              <a:ext uri="{FF2B5EF4-FFF2-40B4-BE49-F238E27FC236}">
                <a16:creationId xmlns:a16="http://schemas.microsoft.com/office/drawing/2014/main" id="{5BC5F036-20D3-4622-B718-61654AD99E00}"/>
              </a:ext>
            </a:extLst>
          </p:cNvPr>
          <p:cNvSpPr>
            <a:spLocks noGrp="1"/>
          </p:cNvSpPr>
          <p:nvPr/>
        </p:nvSpPr>
        <p:spPr>
          <a:xfrm>
            <a:off x="871537" y="2834791"/>
            <a:ext cx="885825" cy="1571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38" b="1">
                <a:solidFill>
                  <a:srgbClr val="173E67"/>
                </a:solidFill>
                <a:latin typeface="Calibri"/>
                <a:ea typeface="Calibri"/>
                <a:cs typeface="Calibri"/>
              </a:defRPr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173E6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健康与销售运营</a:t>
            </a:r>
          </a:p>
        </p:txBody>
      </p:sp>
      <p:sp>
        <p:nvSpPr>
          <p:cNvPr id="110" name="domain-3-systems">
            <a:extLst>
              <a:ext uri="{FF2B5EF4-FFF2-40B4-BE49-F238E27FC236}">
                <a16:creationId xmlns:a16="http://schemas.microsoft.com/office/drawing/2014/main" id="{FAE2F407-9564-4828-9182-359F2626DF9D}"/>
              </a:ext>
            </a:extLst>
          </p:cNvPr>
          <p:cNvSpPr>
            <a:spLocks noGrp="1"/>
          </p:cNvSpPr>
          <p:nvPr/>
        </p:nvSpPr>
        <p:spPr>
          <a:xfrm>
            <a:off x="1771650" y="2841935"/>
            <a:ext cx="1221581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50" b="1">
                <a:solidFill>
                  <a:srgbClr val="1686C5"/>
                </a:solidFill>
                <a:latin typeface="Calibri"/>
                <a:ea typeface="Calibri"/>
                <a:cs typeface="Calibri"/>
              </a:defRPr>
            </a:pPr>
            <a:r>
              <a:rPr kumimoji="0" sz="700" b="1" i="0" u="none" strike="noStrike" kern="1200" cap="none" spc="0" normalizeH="0" baseline="0" noProof="0">
                <a:ln>
                  <a:noFill/>
                </a:ln>
                <a:solidFill>
                  <a:srgbClr val="1686C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DHT · AMD SFE · VAS SFE</a:t>
            </a:r>
          </a:p>
        </p:txBody>
      </p:sp>
      <p:sp>
        <p:nvSpPr>
          <p:cNvPr id="111" name="domain-3-desc">
            <a:extLst>
              <a:ext uri="{FF2B5EF4-FFF2-40B4-BE49-F238E27FC236}">
                <a16:creationId xmlns:a16="http://schemas.microsoft.com/office/drawing/2014/main" id="{86E1B88C-82E8-4BDA-974F-3DEE0CE2B15A}"/>
              </a:ext>
            </a:extLst>
          </p:cNvPr>
          <p:cNvSpPr>
            <a:spLocks noGrp="1"/>
          </p:cNvSpPr>
          <p:nvPr/>
        </p:nvSpPr>
        <p:spPr>
          <a:xfrm>
            <a:off x="871537" y="2991954"/>
            <a:ext cx="2114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35" b="0">
                <a:solidFill>
                  <a:srgbClr val="62748A"/>
                </a:solidFill>
                <a:latin typeface="Calibri"/>
                <a:ea typeface="Calibri"/>
                <a:cs typeface="Calibri"/>
              </a:defRPr>
            </a:pPr>
            <a:r>
              <a:rPr kumimoji="0" sz="700" b="0" i="0" u="none" strike="noStrike" kern="1200" cap="none" spc="0" normalizeH="0" baseline="0" noProof="0">
                <a:ln>
                  <a:noFill/>
                </a:ln>
                <a:solidFill>
                  <a:srgbClr val="62748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健康、活动、排期、拜访与经销商</a:t>
            </a:r>
          </a:p>
        </p:txBody>
      </p:sp>
      <p:sp>
        <p:nvSpPr>
          <p:cNvPr id="112" name="domain-4-card">
            <a:extLst>
              <a:ext uri="{FF2B5EF4-FFF2-40B4-BE49-F238E27FC236}">
                <a16:creationId xmlns:a16="http://schemas.microsoft.com/office/drawing/2014/main" id="{BFF54E89-F9D4-4A23-A162-4D4A6E51416F}"/>
              </a:ext>
            </a:extLst>
          </p:cNvPr>
          <p:cNvSpPr>
            <a:spLocks noGrp="1"/>
          </p:cNvSpPr>
          <p:nvPr/>
        </p:nvSpPr>
        <p:spPr>
          <a:xfrm>
            <a:off x="585787" y="3191979"/>
            <a:ext cx="2486025" cy="350044"/>
          </a:xfrm>
          <a:prstGeom prst="roundRect">
            <a:avLst>
              <a:gd name="adj" fmla="val 14286"/>
            </a:avLst>
          </a:prstGeom>
          <a:solidFill>
            <a:srgbClr val="F4F8FB"/>
          </a:solidFill>
          <a:ln w="7620">
            <a:solidFill>
              <a:srgbClr val="D7E5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3" name="domain-4-stripe">
            <a:extLst>
              <a:ext uri="{FF2B5EF4-FFF2-40B4-BE49-F238E27FC236}">
                <a16:creationId xmlns:a16="http://schemas.microsoft.com/office/drawing/2014/main" id="{5C19892F-E5E8-45D1-9B11-77250C60AD5F}"/>
              </a:ext>
            </a:extLst>
          </p:cNvPr>
          <p:cNvSpPr>
            <a:spLocks noGrp="1"/>
          </p:cNvSpPr>
          <p:nvPr/>
        </p:nvSpPr>
        <p:spPr>
          <a:xfrm>
            <a:off x="585787" y="3191979"/>
            <a:ext cx="35719" cy="350044"/>
          </a:xfrm>
          <a:prstGeom prst="roundRect">
            <a:avLst>
              <a:gd name="adj" fmla="val 50000"/>
            </a:avLst>
          </a:prstGeom>
          <a:solidFill>
            <a:srgbClr val="4B9DD0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4" name="domain-4-number">
            <a:extLst>
              <a:ext uri="{FF2B5EF4-FFF2-40B4-BE49-F238E27FC236}">
                <a16:creationId xmlns:a16="http://schemas.microsoft.com/office/drawing/2014/main" id="{4900A720-CB29-49F3-8FD2-B81F66C70CFA}"/>
              </a:ext>
            </a:extLst>
          </p:cNvPr>
          <p:cNvSpPr>
            <a:spLocks noGrp="1"/>
          </p:cNvSpPr>
          <p:nvPr/>
        </p:nvSpPr>
        <p:spPr>
          <a:xfrm>
            <a:off x="678655" y="3249129"/>
            <a:ext cx="171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1686C5"/>
                </a:solidFill>
                <a:latin typeface="Calibri"/>
                <a:ea typeface="Calibri"/>
                <a:cs typeface="Calibri"/>
              </a:defRPr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1686C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15" name="domain-4-title">
            <a:extLst>
              <a:ext uri="{FF2B5EF4-FFF2-40B4-BE49-F238E27FC236}">
                <a16:creationId xmlns:a16="http://schemas.microsoft.com/office/drawing/2014/main" id="{0962AA4E-EE80-4FE0-B086-CDFE0E25C61B}"/>
              </a:ext>
            </a:extLst>
          </p:cNvPr>
          <p:cNvSpPr>
            <a:spLocks noGrp="1"/>
          </p:cNvSpPr>
          <p:nvPr/>
        </p:nvSpPr>
        <p:spPr>
          <a:xfrm>
            <a:off x="871537" y="3234841"/>
            <a:ext cx="885825" cy="1571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38" b="1">
                <a:solidFill>
                  <a:srgbClr val="173E67"/>
                </a:solidFill>
                <a:latin typeface="Calibri"/>
                <a:ea typeface="Calibri"/>
                <a:cs typeface="Calibri"/>
              </a:defRPr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173E6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活动与数字内容</a:t>
            </a:r>
          </a:p>
        </p:txBody>
      </p:sp>
      <p:sp>
        <p:nvSpPr>
          <p:cNvPr id="116" name="domain-4-systems">
            <a:extLst>
              <a:ext uri="{FF2B5EF4-FFF2-40B4-BE49-F238E27FC236}">
                <a16:creationId xmlns:a16="http://schemas.microsoft.com/office/drawing/2014/main" id="{0B026ACC-1793-4C32-BF30-3FFDA505388A}"/>
              </a:ext>
            </a:extLst>
          </p:cNvPr>
          <p:cNvSpPr>
            <a:spLocks noGrp="1"/>
          </p:cNvSpPr>
          <p:nvPr/>
        </p:nvSpPr>
        <p:spPr>
          <a:xfrm>
            <a:off x="1771650" y="3241985"/>
            <a:ext cx="1221581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50" b="1">
                <a:solidFill>
                  <a:srgbClr val="1686C5"/>
                </a:solidFill>
                <a:latin typeface="Calibri"/>
                <a:ea typeface="Calibri"/>
                <a:cs typeface="Calibri"/>
              </a:defRPr>
            </a:pPr>
            <a:r>
              <a:rPr kumimoji="0" sz="700" b="1" i="0" u="none" strike="noStrike" kern="1200" cap="none" spc="0" normalizeH="0" baseline="0" noProof="0">
                <a:ln>
                  <a:noFill/>
                </a:ln>
                <a:solidFill>
                  <a:srgbClr val="1686C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Dspot · HF</a:t>
            </a:r>
          </a:p>
        </p:txBody>
      </p:sp>
      <p:sp>
        <p:nvSpPr>
          <p:cNvPr id="117" name="domain-4-desc">
            <a:extLst>
              <a:ext uri="{FF2B5EF4-FFF2-40B4-BE49-F238E27FC236}">
                <a16:creationId xmlns:a16="http://schemas.microsoft.com/office/drawing/2014/main" id="{54817110-AD4C-48BE-A264-E3422AA997F3}"/>
              </a:ext>
            </a:extLst>
          </p:cNvPr>
          <p:cNvSpPr>
            <a:spLocks noGrp="1"/>
          </p:cNvSpPr>
          <p:nvPr/>
        </p:nvSpPr>
        <p:spPr>
          <a:xfrm>
            <a:off x="871537" y="3392004"/>
            <a:ext cx="2114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35" b="0">
                <a:solidFill>
                  <a:srgbClr val="62748A"/>
                </a:solidFill>
                <a:latin typeface="Calibri"/>
                <a:ea typeface="Calibri"/>
                <a:cs typeface="Calibri"/>
              </a:defRPr>
            </a:pPr>
            <a:r>
              <a:rPr kumimoji="0" sz="700" b="0" i="0" u="none" strike="noStrike" kern="1200" cap="none" spc="0" normalizeH="0" baseline="0" noProof="0">
                <a:ln>
                  <a:noFill/>
                </a:ln>
                <a:solidFill>
                  <a:srgbClr val="62748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会议、签到、合规、培训与内容素材</a:t>
            </a:r>
          </a:p>
        </p:txBody>
      </p:sp>
      <p:sp>
        <p:nvSpPr>
          <p:cNvPr id="118" name="domain-5-card">
            <a:extLst>
              <a:ext uri="{FF2B5EF4-FFF2-40B4-BE49-F238E27FC236}">
                <a16:creationId xmlns:a16="http://schemas.microsoft.com/office/drawing/2014/main" id="{C3C2033F-0958-46DF-B6B6-E3489D30288A}"/>
              </a:ext>
            </a:extLst>
          </p:cNvPr>
          <p:cNvSpPr>
            <a:spLocks noGrp="1"/>
          </p:cNvSpPr>
          <p:nvPr/>
        </p:nvSpPr>
        <p:spPr>
          <a:xfrm>
            <a:off x="585787" y="3592029"/>
            <a:ext cx="2486025" cy="350044"/>
          </a:xfrm>
          <a:prstGeom prst="roundRect">
            <a:avLst>
              <a:gd name="adj" fmla="val 14286"/>
            </a:avLst>
          </a:prstGeom>
          <a:solidFill>
            <a:srgbClr val="F4F8FB"/>
          </a:solidFill>
          <a:ln w="7620">
            <a:solidFill>
              <a:srgbClr val="D7E5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9" name="domain-5-stripe">
            <a:extLst>
              <a:ext uri="{FF2B5EF4-FFF2-40B4-BE49-F238E27FC236}">
                <a16:creationId xmlns:a16="http://schemas.microsoft.com/office/drawing/2014/main" id="{158A6F9C-BA12-4899-85DF-82D7FCD702CB}"/>
              </a:ext>
            </a:extLst>
          </p:cNvPr>
          <p:cNvSpPr>
            <a:spLocks noGrp="1"/>
          </p:cNvSpPr>
          <p:nvPr/>
        </p:nvSpPr>
        <p:spPr>
          <a:xfrm>
            <a:off x="585787" y="3592029"/>
            <a:ext cx="35719" cy="350044"/>
          </a:xfrm>
          <a:prstGeom prst="roundRect">
            <a:avLst>
              <a:gd name="adj" fmla="val 50000"/>
            </a:avLst>
          </a:prstGeom>
          <a:solidFill>
            <a:srgbClr val="4B9DD0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0" name="domain-5-number">
            <a:extLst>
              <a:ext uri="{FF2B5EF4-FFF2-40B4-BE49-F238E27FC236}">
                <a16:creationId xmlns:a16="http://schemas.microsoft.com/office/drawing/2014/main" id="{795F1E64-E078-43DF-B257-57194F1A30CA}"/>
              </a:ext>
            </a:extLst>
          </p:cNvPr>
          <p:cNvSpPr>
            <a:spLocks noGrp="1"/>
          </p:cNvSpPr>
          <p:nvPr/>
        </p:nvSpPr>
        <p:spPr>
          <a:xfrm>
            <a:off x="678655" y="3649179"/>
            <a:ext cx="171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1686C5"/>
                </a:solidFill>
                <a:latin typeface="Calibri"/>
                <a:ea typeface="Calibri"/>
                <a:cs typeface="Calibri"/>
              </a:defRPr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1686C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121" name="domain-5-title">
            <a:extLst>
              <a:ext uri="{FF2B5EF4-FFF2-40B4-BE49-F238E27FC236}">
                <a16:creationId xmlns:a16="http://schemas.microsoft.com/office/drawing/2014/main" id="{BDB29E27-0AF6-486D-9868-60619337082B}"/>
              </a:ext>
            </a:extLst>
          </p:cNvPr>
          <p:cNvSpPr>
            <a:spLocks noGrp="1"/>
          </p:cNvSpPr>
          <p:nvPr/>
        </p:nvSpPr>
        <p:spPr>
          <a:xfrm>
            <a:off x="871537" y="3634891"/>
            <a:ext cx="885825" cy="1571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38" b="1">
                <a:solidFill>
                  <a:srgbClr val="173E67"/>
                </a:solidFill>
                <a:latin typeface="Calibri"/>
                <a:ea typeface="Calibri"/>
                <a:cs typeface="Calibri"/>
              </a:defRPr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173E6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产品追溯与供应链</a:t>
            </a:r>
          </a:p>
        </p:txBody>
      </p:sp>
      <p:sp>
        <p:nvSpPr>
          <p:cNvPr id="122" name="domain-5-systems">
            <a:extLst>
              <a:ext uri="{FF2B5EF4-FFF2-40B4-BE49-F238E27FC236}">
                <a16:creationId xmlns:a16="http://schemas.microsoft.com/office/drawing/2014/main" id="{9B9E78DE-73BA-47DE-9675-DB06483D926A}"/>
              </a:ext>
            </a:extLst>
          </p:cNvPr>
          <p:cNvSpPr>
            <a:spLocks noGrp="1"/>
          </p:cNvSpPr>
          <p:nvPr/>
        </p:nvSpPr>
        <p:spPr>
          <a:xfrm>
            <a:off x="1771650" y="3642035"/>
            <a:ext cx="1221581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50" b="1">
                <a:solidFill>
                  <a:srgbClr val="1686C5"/>
                </a:solidFill>
                <a:latin typeface="Calibri"/>
                <a:ea typeface="Calibri"/>
                <a:cs typeface="Calibri"/>
              </a:defRPr>
            </a:pPr>
            <a:r>
              <a:rPr kumimoji="0" sz="700" b="1" i="0" u="none" strike="noStrike" kern="1200" cap="none" spc="0" normalizeH="0" baseline="0" noProof="0">
                <a:ln>
                  <a:noFill/>
                </a:ln>
                <a:solidFill>
                  <a:srgbClr val="1686C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银河 AN / PND</a:t>
            </a:r>
          </a:p>
        </p:txBody>
      </p:sp>
      <p:sp>
        <p:nvSpPr>
          <p:cNvPr id="123" name="domain-5-desc">
            <a:extLst>
              <a:ext uri="{FF2B5EF4-FFF2-40B4-BE49-F238E27FC236}">
                <a16:creationId xmlns:a16="http://schemas.microsoft.com/office/drawing/2014/main" id="{B31DC40F-7B2D-44FD-A4A4-E92D95A5A0DF}"/>
              </a:ext>
            </a:extLst>
          </p:cNvPr>
          <p:cNvSpPr>
            <a:spLocks noGrp="1"/>
          </p:cNvSpPr>
          <p:nvPr/>
        </p:nvSpPr>
        <p:spPr>
          <a:xfrm>
            <a:off x="871537" y="3792054"/>
            <a:ext cx="2114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35" b="0">
                <a:solidFill>
                  <a:srgbClr val="62748A"/>
                </a:solidFill>
                <a:latin typeface="Calibri"/>
                <a:ea typeface="Calibri"/>
                <a:cs typeface="Calibri"/>
              </a:defRPr>
            </a:pPr>
            <a:r>
              <a:rPr kumimoji="0" sz="700" b="0" i="0" u="none" strike="noStrike" kern="1200" cap="none" spc="0" normalizeH="0" baseline="0" noProof="0">
                <a:ln>
                  <a:noFill/>
                </a:ln>
                <a:solidFill>
                  <a:srgbClr val="62748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编码、批次、箱码/托盘、仓储与物流</a:t>
            </a:r>
          </a:p>
        </p:txBody>
      </p:sp>
      <p:sp>
        <p:nvSpPr>
          <p:cNvPr id="124" name="assets-num">
            <a:extLst>
              <a:ext uri="{FF2B5EF4-FFF2-40B4-BE49-F238E27FC236}">
                <a16:creationId xmlns:a16="http://schemas.microsoft.com/office/drawing/2014/main" id="{3C6F630A-9C90-4AB3-9ABA-045784029C15}"/>
              </a:ext>
            </a:extLst>
          </p:cNvPr>
          <p:cNvSpPr>
            <a:spLocks noGrp="1"/>
          </p:cNvSpPr>
          <p:nvPr/>
        </p:nvSpPr>
        <p:spPr>
          <a:xfrm>
            <a:off x="3286124" y="1720366"/>
            <a:ext cx="2000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1686C5"/>
                </a:solidFill>
                <a:latin typeface="Calibri"/>
                <a:ea typeface="Calibri"/>
                <a:cs typeface="Calibr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1686C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25" name="assets-title">
            <a:extLst>
              <a:ext uri="{FF2B5EF4-FFF2-40B4-BE49-F238E27FC236}">
                <a16:creationId xmlns:a16="http://schemas.microsoft.com/office/drawing/2014/main" id="{53D7FAF9-F510-4BFC-A5F5-0F9D3F71DA19}"/>
              </a:ext>
            </a:extLst>
          </p:cNvPr>
          <p:cNvSpPr>
            <a:spLocks noGrp="1"/>
          </p:cNvSpPr>
          <p:nvPr/>
        </p:nvSpPr>
        <p:spPr>
          <a:xfrm>
            <a:off x="3529012" y="1720366"/>
            <a:ext cx="25431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173E67"/>
                </a:solidFill>
                <a:latin typeface="Calibri"/>
                <a:ea typeface="Calibri"/>
                <a:cs typeface="Calibr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173E6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多形态历史数据资产</a:t>
            </a:r>
          </a:p>
        </p:txBody>
      </p:sp>
      <p:sp>
        <p:nvSpPr>
          <p:cNvPr id="126" name="assets-rule">
            <a:extLst>
              <a:ext uri="{FF2B5EF4-FFF2-40B4-BE49-F238E27FC236}">
                <a16:creationId xmlns:a16="http://schemas.microsoft.com/office/drawing/2014/main" id="{2AB9C707-A32A-44F7-A1EF-A8A7F49FF1C9}"/>
              </a:ext>
            </a:extLst>
          </p:cNvPr>
          <p:cNvSpPr>
            <a:spLocks noGrp="1"/>
          </p:cNvSpPr>
          <p:nvPr/>
        </p:nvSpPr>
        <p:spPr>
          <a:xfrm>
            <a:off x="3286124" y="1927535"/>
            <a:ext cx="2786063" cy="7144"/>
          </a:xfrm>
          <a:prstGeom prst="line">
            <a:avLst/>
          </a:prstGeom>
          <a:noFill/>
          <a:ln w="9525">
            <a:solidFill>
              <a:srgbClr val="BFD9E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7" name="asset-1-card">
            <a:extLst>
              <a:ext uri="{FF2B5EF4-FFF2-40B4-BE49-F238E27FC236}">
                <a16:creationId xmlns:a16="http://schemas.microsoft.com/office/drawing/2014/main" id="{055AB246-1772-4F02-94A5-748A9F92DD8E}"/>
              </a:ext>
            </a:extLst>
          </p:cNvPr>
          <p:cNvSpPr>
            <a:spLocks noGrp="1"/>
          </p:cNvSpPr>
          <p:nvPr/>
        </p:nvSpPr>
        <p:spPr>
          <a:xfrm>
            <a:off x="3286124" y="1991829"/>
            <a:ext cx="1343025" cy="557213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8573">
            <a:solidFill>
              <a:srgbClr val="BFD9E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8" name="asset-1-icon">
            <a:extLst>
              <a:ext uri="{FF2B5EF4-FFF2-40B4-BE49-F238E27FC236}">
                <a16:creationId xmlns:a16="http://schemas.microsoft.com/office/drawing/2014/main" id="{EC570D9B-C6B0-4D30-B227-53B13F374954}"/>
              </a:ext>
            </a:extLst>
          </p:cNvPr>
          <p:cNvSpPr>
            <a:spLocks noGrp="1"/>
          </p:cNvSpPr>
          <p:nvPr/>
        </p:nvSpPr>
        <p:spPr>
          <a:xfrm>
            <a:off x="3357562" y="2063266"/>
            <a:ext cx="200025" cy="200025"/>
          </a:xfrm>
          <a:prstGeom prst="ellipse">
            <a:avLst/>
          </a:prstGeom>
          <a:solidFill>
            <a:srgbClr val="EAF4FB"/>
          </a:solidFill>
          <a:ln w="9525">
            <a:solidFill>
              <a:srgbClr val="4B9DD0"/>
            </a:solidFill>
            <a:prstDash val="solid"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1">
                <a:solidFill>
                  <a:srgbClr val="1686C5"/>
                </a:solidFill>
                <a:latin typeface="Calibri"/>
                <a:ea typeface="Calibri"/>
                <a:cs typeface="Calibr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1686C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○</a:t>
            </a:r>
          </a:p>
        </p:txBody>
      </p:sp>
      <p:sp>
        <p:nvSpPr>
          <p:cNvPr id="129" name="asset-1-title">
            <a:extLst>
              <a:ext uri="{FF2B5EF4-FFF2-40B4-BE49-F238E27FC236}">
                <a16:creationId xmlns:a16="http://schemas.microsoft.com/office/drawing/2014/main" id="{22B50FCD-9D1B-4D6C-B7B6-C1B2E370CD97}"/>
              </a:ext>
            </a:extLst>
          </p:cNvPr>
          <p:cNvSpPr>
            <a:spLocks noGrp="1"/>
          </p:cNvSpPr>
          <p:nvPr/>
        </p:nvSpPr>
        <p:spPr>
          <a:xfrm>
            <a:off x="3621881" y="2048979"/>
            <a:ext cx="935831" cy="1571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38" b="1">
                <a:solidFill>
                  <a:srgbClr val="173E67"/>
                </a:solidFill>
                <a:latin typeface="Calibri"/>
                <a:ea typeface="Calibri"/>
                <a:cs typeface="Calibri"/>
              </a:defRPr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173E6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主数据</a:t>
            </a:r>
          </a:p>
        </p:txBody>
      </p:sp>
      <p:sp>
        <p:nvSpPr>
          <p:cNvPr id="130" name="asset-1-desc">
            <a:extLst>
              <a:ext uri="{FF2B5EF4-FFF2-40B4-BE49-F238E27FC236}">
                <a16:creationId xmlns:a16="http://schemas.microsoft.com/office/drawing/2014/main" id="{F6A63544-C0A9-42D0-8F52-A823AD61787C}"/>
              </a:ext>
            </a:extLst>
          </p:cNvPr>
          <p:cNvSpPr>
            <a:spLocks noGrp="1"/>
          </p:cNvSpPr>
          <p:nvPr/>
        </p:nvSpPr>
        <p:spPr>
          <a:xfrm>
            <a:off x="3621881" y="2252524"/>
            <a:ext cx="935831" cy="2928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13" b="0">
                <a:solidFill>
                  <a:srgbClr val="62748A"/>
                </a:solidFill>
                <a:latin typeface="Calibri"/>
                <a:ea typeface="Calibri"/>
                <a:cs typeface="Calibri"/>
              </a:defRPr>
            </a:pPr>
            <a:r>
              <a:rPr kumimoji="0" sz="600" b="0" i="0" u="none" strike="noStrike" kern="1200" cap="none" spc="0" normalizeH="0" baseline="0" noProof="0">
                <a:ln>
                  <a:noFill/>
                </a:ln>
                <a:solidFill>
                  <a:srgbClr val="62748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客户｜会员｜HCP｜产品</a:t>
            </a:r>
          </a:p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13" b="0">
                <a:solidFill>
                  <a:srgbClr val="62748A"/>
                </a:solidFill>
                <a:latin typeface="Calibri"/>
                <a:ea typeface="Calibri"/>
                <a:cs typeface="Calibri"/>
              </a:defRPr>
            </a:pPr>
            <a:r>
              <a:rPr kumimoji="0" sz="600" b="0" i="0" u="none" strike="noStrike" kern="1200" cap="none" spc="0" normalizeH="0" baseline="0" noProof="0">
                <a:ln>
                  <a:noFill/>
                </a:ln>
                <a:solidFill>
                  <a:srgbClr val="62748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供应商｜经销商｜组织</a:t>
            </a:r>
          </a:p>
        </p:txBody>
      </p:sp>
      <p:sp>
        <p:nvSpPr>
          <p:cNvPr id="131" name="asset-2-card">
            <a:extLst>
              <a:ext uri="{FF2B5EF4-FFF2-40B4-BE49-F238E27FC236}">
                <a16:creationId xmlns:a16="http://schemas.microsoft.com/office/drawing/2014/main" id="{0FC36635-8D54-46C9-94B5-99DDC4489CAF}"/>
              </a:ext>
            </a:extLst>
          </p:cNvPr>
          <p:cNvSpPr>
            <a:spLocks noGrp="1"/>
          </p:cNvSpPr>
          <p:nvPr/>
        </p:nvSpPr>
        <p:spPr>
          <a:xfrm>
            <a:off x="4729162" y="1991829"/>
            <a:ext cx="1343025" cy="557213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8573">
            <a:solidFill>
              <a:srgbClr val="BFD9E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2" name="asset-2-icon">
            <a:extLst>
              <a:ext uri="{FF2B5EF4-FFF2-40B4-BE49-F238E27FC236}">
                <a16:creationId xmlns:a16="http://schemas.microsoft.com/office/drawing/2014/main" id="{B48C410D-5BAE-4224-A531-AAB9AF76DEB2}"/>
              </a:ext>
            </a:extLst>
          </p:cNvPr>
          <p:cNvSpPr>
            <a:spLocks noGrp="1"/>
          </p:cNvSpPr>
          <p:nvPr/>
        </p:nvSpPr>
        <p:spPr>
          <a:xfrm>
            <a:off x="4800599" y="2063266"/>
            <a:ext cx="200025" cy="200025"/>
          </a:xfrm>
          <a:prstGeom prst="ellipse">
            <a:avLst/>
          </a:prstGeom>
          <a:solidFill>
            <a:srgbClr val="EAF4FB"/>
          </a:solidFill>
          <a:ln w="9525">
            <a:solidFill>
              <a:srgbClr val="4B9DD0"/>
            </a:solidFill>
            <a:prstDash val="solid"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1">
                <a:solidFill>
                  <a:srgbClr val="1686C5"/>
                </a:solidFill>
                <a:latin typeface="Calibri"/>
                <a:ea typeface="Calibri"/>
                <a:cs typeface="Calibr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1686C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↻</a:t>
            </a:r>
          </a:p>
        </p:txBody>
      </p:sp>
      <p:sp>
        <p:nvSpPr>
          <p:cNvPr id="133" name="asset-2-title">
            <a:extLst>
              <a:ext uri="{FF2B5EF4-FFF2-40B4-BE49-F238E27FC236}">
                <a16:creationId xmlns:a16="http://schemas.microsoft.com/office/drawing/2014/main" id="{B6813A0F-2858-466D-B125-127423FAC9FA}"/>
              </a:ext>
            </a:extLst>
          </p:cNvPr>
          <p:cNvSpPr>
            <a:spLocks noGrp="1"/>
          </p:cNvSpPr>
          <p:nvPr/>
        </p:nvSpPr>
        <p:spPr>
          <a:xfrm>
            <a:off x="5064918" y="2048979"/>
            <a:ext cx="935831" cy="1571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38" b="1">
                <a:solidFill>
                  <a:srgbClr val="173E67"/>
                </a:solidFill>
                <a:latin typeface="Calibri"/>
                <a:ea typeface="Calibri"/>
                <a:cs typeface="Calibri"/>
              </a:defRPr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173E6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业务过程数据</a:t>
            </a:r>
          </a:p>
        </p:txBody>
      </p:sp>
      <p:sp>
        <p:nvSpPr>
          <p:cNvPr id="134" name="asset-2-desc">
            <a:extLst>
              <a:ext uri="{FF2B5EF4-FFF2-40B4-BE49-F238E27FC236}">
                <a16:creationId xmlns:a16="http://schemas.microsoft.com/office/drawing/2014/main" id="{740E33AF-9236-4661-9271-9811E1315823}"/>
              </a:ext>
            </a:extLst>
          </p:cNvPr>
          <p:cNvSpPr>
            <a:spLocks noGrp="1"/>
          </p:cNvSpPr>
          <p:nvPr/>
        </p:nvSpPr>
        <p:spPr>
          <a:xfrm>
            <a:off x="5064918" y="2252524"/>
            <a:ext cx="935831" cy="2928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13" b="0">
                <a:solidFill>
                  <a:srgbClr val="62748A"/>
                </a:solidFill>
                <a:latin typeface="Calibri"/>
                <a:ea typeface="Calibri"/>
                <a:cs typeface="Calibri"/>
              </a:defRPr>
            </a:pPr>
            <a:r>
              <a:rPr kumimoji="0" sz="600" b="0" i="0" u="none" strike="noStrike" kern="1200" cap="none" spc="0" normalizeH="0" baseline="0" noProof="0">
                <a:ln>
                  <a:noFill/>
                </a:ln>
                <a:solidFill>
                  <a:srgbClr val="62748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工单｜订单｜活动｜费用</a:t>
            </a:r>
          </a:p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13" b="0">
                <a:solidFill>
                  <a:srgbClr val="62748A"/>
                </a:solidFill>
                <a:latin typeface="Calibri"/>
                <a:ea typeface="Calibri"/>
                <a:cs typeface="Calibri"/>
              </a:defRPr>
            </a:pPr>
            <a:r>
              <a:rPr kumimoji="0" sz="600" b="0" i="0" u="none" strike="noStrike" kern="1200" cap="none" spc="0" normalizeH="0" baseline="0" noProof="0">
                <a:ln>
                  <a:noFill/>
                </a:ln>
                <a:solidFill>
                  <a:srgbClr val="62748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审批｜批次｜发货｜拜访</a:t>
            </a:r>
          </a:p>
        </p:txBody>
      </p:sp>
      <p:sp>
        <p:nvSpPr>
          <p:cNvPr id="135" name="asset-3-card">
            <a:extLst>
              <a:ext uri="{FF2B5EF4-FFF2-40B4-BE49-F238E27FC236}">
                <a16:creationId xmlns:a16="http://schemas.microsoft.com/office/drawing/2014/main" id="{D4EE4398-843D-4B78-95D0-DD12862A3916}"/>
              </a:ext>
            </a:extLst>
          </p:cNvPr>
          <p:cNvSpPr>
            <a:spLocks noGrp="1"/>
          </p:cNvSpPr>
          <p:nvPr/>
        </p:nvSpPr>
        <p:spPr>
          <a:xfrm>
            <a:off x="3286124" y="2620479"/>
            <a:ext cx="1343025" cy="557213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8573">
            <a:solidFill>
              <a:srgbClr val="BFD9E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6" name="asset-3-icon">
            <a:extLst>
              <a:ext uri="{FF2B5EF4-FFF2-40B4-BE49-F238E27FC236}">
                <a16:creationId xmlns:a16="http://schemas.microsoft.com/office/drawing/2014/main" id="{31862548-0CB0-4FED-8435-0BD9EB7A481B}"/>
              </a:ext>
            </a:extLst>
          </p:cNvPr>
          <p:cNvSpPr>
            <a:spLocks noGrp="1"/>
          </p:cNvSpPr>
          <p:nvPr/>
        </p:nvSpPr>
        <p:spPr>
          <a:xfrm>
            <a:off x="3357562" y="2691916"/>
            <a:ext cx="200025" cy="200025"/>
          </a:xfrm>
          <a:prstGeom prst="ellipse">
            <a:avLst/>
          </a:prstGeom>
          <a:solidFill>
            <a:srgbClr val="EAF4FB"/>
          </a:solidFill>
          <a:ln w="9525">
            <a:solidFill>
              <a:srgbClr val="4B9DD0"/>
            </a:solidFill>
            <a:prstDash val="solid"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1">
                <a:solidFill>
                  <a:srgbClr val="1686C5"/>
                </a:solidFill>
                <a:latin typeface="Calibri"/>
                <a:ea typeface="Calibri"/>
                <a:cs typeface="Calibr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1686C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137" name="asset-3-title">
            <a:extLst>
              <a:ext uri="{FF2B5EF4-FFF2-40B4-BE49-F238E27FC236}">
                <a16:creationId xmlns:a16="http://schemas.microsoft.com/office/drawing/2014/main" id="{6D241B8D-37E0-4E4A-AED7-6C3A2CDDDE06}"/>
              </a:ext>
            </a:extLst>
          </p:cNvPr>
          <p:cNvSpPr>
            <a:spLocks noGrp="1"/>
          </p:cNvSpPr>
          <p:nvPr/>
        </p:nvSpPr>
        <p:spPr>
          <a:xfrm>
            <a:off x="3621881" y="2677629"/>
            <a:ext cx="935831" cy="1571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38" b="1">
                <a:solidFill>
                  <a:srgbClr val="173E67"/>
                </a:solidFill>
                <a:latin typeface="Calibri"/>
                <a:ea typeface="Calibri"/>
                <a:cs typeface="Calibri"/>
              </a:defRPr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173E6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合规与审计证据</a:t>
            </a:r>
          </a:p>
        </p:txBody>
      </p:sp>
      <p:sp>
        <p:nvSpPr>
          <p:cNvPr id="138" name="asset-3-desc">
            <a:extLst>
              <a:ext uri="{FF2B5EF4-FFF2-40B4-BE49-F238E27FC236}">
                <a16:creationId xmlns:a16="http://schemas.microsoft.com/office/drawing/2014/main" id="{90B02DF4-713B-4EB7-9B72-FAEEB87A2F63}"/>
              </a:ext>
            </a:extLst>
          </p:cNvPr>
          <p:cNvSpPr>
            <a:spLocks noGrp="1"/>
          </p:cNvSpPr>
          <p:nvPr/>
        </p:nvSpPr>
        <p:spPr>
          <a:xfrm>
            <a:off x="3621881" y="2881174"/>
            <a:ext cx="935831" cy="2928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13" b="0">
                <a:solidFill>
                  <a:srgbClr val="62748A"/>
                </a:solidFill>
                <a:latin typeface="Calibri"/>
                <a:ea typeface="Calibri"/>
                <a:cs typeface="Calibri"/>
              </a:defRPr>
            </a:pPr>
            <a:r>
              <a:rPr kumimoji="0" sz="600" b="0" i="0" u="none" strike="noStrike" kern="1200" cap="none" spc="0" normalizeH="0" baseline="0" noProof="0">
                <a:ln>
                  <a:noFill/>
                </a:ln>
                <a:solidFill>
                  <a:srgbClr val="62748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审批｜操作记录｜电子签名</a:t>
            </a:r>
          </a:p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13" b="0">
                <a:solidFill>
                  <a:srgbClr val="62748A"/>
                </a:solidFill>
                <a:latin typeface="Calibri"/>
                <a:ea typeface="Calibri"/>
                <a:cs typeface="Calibri"/>
              </a:defRPr>
            </a:pPr>
            <a:r>
              <a:rPr kumimoji="0" sz="600" b="0" i="0" u="none" strike="noStrike" kern="1200" cap="none" spc="0" normalizeH="0" baseline="0" noProof="0">
                <a:ln>
                  <a:noFill/>
                </a:ln>
                <a:solidFill>
                  <a:srgbClr val="62748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审计日志｜时间戳</a:t>
            </a:r>
          </a:p>
        </p:txBody>
      </p:sp>
      <p:sp>
        <p:nvSpPr>
          <p:cNvPr id="139" name="asset-4-card">
            <a:extLst>
              <a:ext uri="{FF2B5EF4-FFF2-40B4-BE49-F238E27FC236}">
                <a16:creationId xmlns:a16="http://schemas.microsoft.com/office/drawing/2014/main" id="{322FAD79-427C-4171-A8F3-FB3078A3910A}"/>
              </a:ext>
            </a:extLst>
          </p:cNvPr>
          <p:cNvSpPr>
            <a:spLocks noGrp="1"/>
          </p:cNvSpPr>
          <p:nvPr/>
        </p:nvSpPr>
        <p:spPr>
          <a:xfrm>
            <a:off x="4729162" y="2620479"/>
            <a:ext cx="1343025" cy="557213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8573">
            <a:solidFill>
              <a:srgbClr val="BFD9E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0" name="asset-4-icon">
            <a:extLst>
              <a:ext uri="{FF2B5EF4-FFF2-40B4-BE49-F238E27FC236}">
                <a16:creationId xmlns:a16="http://schemas.microsoft.com/office/drawing/2014/main" id="{499F6955-2DD6-49D5-8369-26ADE4E8943B}"/>
              </a:ext>
            </a:extLst>
          </p:cNvPr>
          <p:cNvSpPr>
            <a:spLocks noGrp="1"/>
          </p:cNvSpPr>
          <p:nvPr/>
        </p:nvSpPr>
        <p:spPr>
          <a:xfrm>
            <a:off x="4800599" y="2691916"/>
            <a:ext cx="200025" cy="200025"/>
          </a:xfrm>
          <a:prstGeom prst="ellipse">
            <a:avLst/>
          </a:prstGeom>
          <a:solidFill>
            <a:srgbClr val="EAF4FB"/>
          </a:solidFill>
          <a:ln w="9525">
            <a:solidFill>
              <a:srgbClr val="4B9DD0"/>
            </a:solidFill>
            <a:prstDash val="solid"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1">
                <a:solidFill>
                  <a:srgbClr val="1686C5"/>
                </a:solidFill>
                <a:latin typeface="Calibri"/>
                <a:ea typeface="Calibri"/>
                <a:cs typeface="Calibr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1686C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▱</a:t>
            </a:r>
          </a:p>
        </p:txBody>
      </p:sp>
      <p:sp>
        <p:nvSpPr>
          <p:cNvPr id="141" name="asset-4-title">
            <a:extLst>
              <a:ext uri="{FF2B5EF4-FFF2-40B4-BE49-F238E27FC236}">
                <a16:creationId xmlns:a16="http://schemas.microsoft.com/office/drawing/2014/main" id="{9A8B405C-54B4-4CAB-A392-649913ABA006}"/>
              </a:ext>
            </a:extLst>
          </p:cNvPr>
          <p:cNvSpPr>
            <a:spLocks noGrp="1"/>
          </p:cNvSpPr>
          <p:nvPr/>
        </p:nvSpPr>
        <p:spPr>
          <a:xfrm>
            <a:off x="5064918" y="2677629"/>
            <a:ext cx="935831" cy="1571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38" b="1">
                <a:solidFill>
                  <a:srgbClr val="173E67"/>
                </a:solidFill>
                <a:latin typeface="Calibri"/>
                <a:ea typeface="Calibri"/>
                <a:cs typeface="Calibri"/>
              </a:defRPr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173E6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文档与附件</a:t>
            </a:r>
          </a:p>
        </p:txBody>
      </p:sp>
      <p:sp>
        <p:nvSpPr>
          <p:cNvPr id="142" name="asset-4-desc">
            <a:extLst>
              <a:ext uri="{FF2B5EF4-FFF2-40B4-BE49-F238E27FC236}">
                <a16:creationId xmlns:a16="http://schemas.microsoft.com/office/drawing/2014/main" id="{2082C04C-6FC6-46B1-B1A3-47170F9F1AB7}"/>
              </a:ext>
            </a:extLst>
          </p:cNvPr>
          <p:cNvSpPr>
            <a:spLocks noGrp="1"/>
          </p:cNvSpPr>
          <p:nvPr/>
        </p:nvSpPr>
        <p:spPr>
          <a:xfrm>
            <a:off x="5064918" y="2881174"/>
            <a:ext cx="935831" cy="2928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13" b="0">
                <a:solidFill>
                  <a:srgbClr val="62748A"/>
                </a:solidFill>
                <a:latin typeface="Calibri"/>
                <a:ea typeface="Calibri"/>
                <a:cs typeface="Calibri"/>
              </a:defRPr>
            </a:pPr>
            <a:r>
              <a:rPr kumimoji="0" lang="zh-CN" altLang="en-US" sz="600" b="0" i="0" u="none" strike="noStrike" kern="1200" cap="none" spc="0" normalizeH="0" baseline="0" noProof="0" err="1">
                <a:ln>
                  <a:noFill/>
                </a:ln>
                <a:solidFill>
                  <a:srgbClr val="62748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合同｜发票｜报告｜资质</a:t>
            </a:r>
            <a:endParaRPr kumimoji="0" sz="600" b="0" i="0" u="none" strike="noStrike" kern="1200" cap="none" spc="0" normalizeH="0" baseline="0" noProof="0">
              <a:ln>
                <a:noFill/>
              </a:ln>
              <a:solidFill>
                <a:srgbClr val="62748A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13" b="0">
                <a:solidFill>
                  <a:srgbClr val="62748A"/>
                </a:solidFill>
                <a:latin typeface="Calibri"/>
                <a:ea typeface="Calibri"/>
                <a:cs typeface="Calibri"/>
              </a:defRPr>
            </a:pPr>
            <a:r>
              <a:rPr kumimoji="0" lang="zh-CN" altLang="en-US" sz="600" b="0" i="0" u="none" strike="noStrike" kern="1200" cap="none" spc="0" normalizeH="0" baseline="0" noProof="0" err="1">
                <a:ln>
                  <a:noFill/>
                </a:ln>
                <a:solidFill>
                  <a:srgbClr val="62748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图片｜视频｜录音｜素材</a:t>
            </a:r>
            <a:endParaRPr kumimoji="0" sz="600" b="0" i="0" u="none" strike="noStrike" kern="1200" cap="none" spc="0" normalizeH="0" baseline="0" noProof="0">
              <a:ln>
                <a:noFill/>
              </a:ln>
              <a:solidFill>
                <a:srgbClr val="62748A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43" name="asset-5-card">
            <a:extLst>
              <a:ext uri="{FF2B5EF4-FFF2-40B4-BE49-F238E27FC236}">
                <a16:creationId xmlns:a16="http://schemas.microsoft.com/office/drawing/2014/main" id="{922DEF48-640D-4934-905D-D1AF700C2BB5}"/>
              </a:ext>
            </a:extLst>
          </p:cNvPr>
          <p:cNvSpPr>
            <a:spLocks noGrp="1"/>
          </p:cNvSpPr>
          <p:nvPr/>
        </p:nvSpPr>
        <p:spPr>
          <a:xfrm>
            <a:off x="3286124" y="3249129"/>
            <a:ext cx="1343025" cy="557213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8573">
            <a:solidFill>
              <a:srgbClr val="BFD9E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4" name="asset-5-icon">
            <a:extLst>
              <a:ext uri="{FF2B5EF4-FFF2-40B4-BE49-F238E27FC236}">
                <a16:creationId xmlns:a16="http://schemas.microsoft.com/office/drawing/2014/main" id="{81F5C288-52FD-4501-828D-CC5D06C4828B}"/>
              </a:ext>
            </a:extLst>
          </p:cNvPr>
          <p:cNvSpPr>
            <a:spLocks noGrp="1"/>
          </p:cNvSpPr>
          <p:nvPr/>
        </p:nvSpPr>
        <p:spPr>
          <a:xfrm>
            <a:off x="3357562" y="3320566"/>
            <a:ext cx="200025" cy="200025"/>
          </a:xfrm>
          <a:prstGeom prst="ellipse">
            <a:avLst/>
          </a:prstGeom>
          <a:solidFill>
            <a:srgbClr val="EAF4FB"/>
          </a:solidFill>
          <a:ln w="9525">
            <a:solidFill>
              <a:srgbClr val="4B9DD0"/>
            </a:solidFill>
            <a:prstDash val="solid"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1">
                <a:solidFill>
                  <a:srgbClr val="1686C5"/>
                </a:solidFill>
                <a:latin typeface="Calibri"/>
                <a:ea typeface="Calibri"/>
                <a:cs typeface="Calibr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1686C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⌁</a:t>
            </a:r>
          </a:p>
        </p:txBody>
      </p:sp>
      <p:sp>
        <p:nvSpPr>
          <p:cNvPr id="145" name="asset-5-title">
            <a:extLst>
              <a:ext uri="{FF2B5EF4-FFF2-40B4-BE49-F238E27FC236}">
                <a16:creationId xmlns:a16="http://schemas.microsoft.com/office/drawing/2014/main" id="{7A7FC56F-7A56-4312-A2A4-D9D4BCA57DFD}"/>
              </a:ext>
            </a:extLst>
          </p:cNvPr>
          <p:cNvSpPr>
            <a:spLocks noGrp="1"/>
          </p:cNvSpPr>
          <p:nvPr/>
        </p:nvSpPr>
        <p:spPr>
          <a:xfrm>
            <a:off x="3621881" y="3306279"/>
            <a:ext cx="935831" cy="1571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38" b="1">
                <a:solidFill>
                  <a:srgbClr val="173E67"/>
                </a:solidFill>
                <a:latin typeface="Calibri"/>
                <a:ea typeface="Calibri"/>
                <a:cs typeface="Calibri"/>
              </a:defRPr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173E6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元数据与关联</a:t>
            </a:r>
          </a:p>
        </p:txBody>
      </p:sp>
      <p:sp>
        <p:nvSpPr>
          <p:cNvPr id="146" name="asset-5-desc">
            <a:extLst>
              <a:ext uri="{FF2B5EF4-FFF2-40B4-BE49-F238E27FC236}">
                <a16:creationId xmlns:a16="http://schemas.microsoft.com/office/drawing/2014/main" id="{21420D9D-E565-4E85-B9CB-7ED1D36D999C}"/>
              </a:ext>
            </a:extLst>
          </p:cNvPr>
          <p:cNvSpPr>
            <a:spLocks noGrp="1"/>
          </p:cNvSpPr>
          <p:nvPr/>
        </p:nvSpPr>
        <p:spPr>
          <a:xfrm>
            <a:off x="3621881" y="3509824"/>
            <a:ext cx="935831" cy="2928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13" b="0">
                <a:solidFill>
                  <a:srgbClr val="62748A"/>
                </a:solidFill>
                <a:latin typeface="Calibri"/>
                <a:ea typeface="Calibri"/>
                <a:cs typeface="Calibri"/>
              </a:defRPr>
            </a:pPr>
            <a:r>
              <a:rPr kumimoji="0" lang="zh-CN" altLang="en-US" sz="600" b="0" i="0" u="none" strike="noStrike" kern="1200" cap="none" spc="0" normalizeH="0" baseline="0" noProof="0" err="1">
                <a:ln>
                  <a:noFill/>
                </a:ln>
                <a:solidFill>
                  <a:srgbClr val="62748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来源｜业务</a:t>
            </a:r>
            <a:r>
              <a:rPr kumimoji="0" lang="en-US" altLang="zh-CN" sz="600" b="0" i="0" u="none" strike="noStrike" kern="1200" cap="none" spc="0" normalizeH="0" baseline="0" noProof="0">
                <a:ln>
                  <a:noFill/>
                </a:ln>
                <a:solidFill>
                  <a:srgbClr val="62748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ID</a:t>
            </a:r>
            <a:r>
              <a:rPr kumimoji="0" lang="zh-CN" altLang="en-US" sz="600" b="0" i="0" u="none" strike="noStrike" kern="1200" cap="none" spc="0" normalizeH="0" baseline="0" noProof="0" err="1">
                <a:ln>
                  <a:noFill/>
                </a:ln>
                <a:solidFill>
                  <a:srgbClr val="62748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｜时间</a:t>
            </a:r>
            <a:endParaRPr kumimoji="0" sz="600" b="0" i="0" u="none" strike="noStrike" kern="1200" cap="none" spc="0" normalizeH="0" baseline="0" noProof="0">
              <a:ln>
                <a:noFill/>
              </a:ln>
              <a:solidFill>
                <a:srgbClr val="62748A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13" b="0">
                <a:solidFill>
                  <a:srgbClr val="62748A"/>
                </a:solidFill>
                <a:latin typeface="Calibri"/>
                <a:ea typeface="Calibri"/>
                <a:cs typeface="Calibri"/>
              </a:defRPr>
            </a:pPr>
            <a:r>
              <a:rPr kumimoji="0" lang="zh-CN" altLang="en-US" sz="600" b="0" i="0" u="none" strike="noStrike" kern="1200" cap="none" spc="0" normalizeH="0" baseline="0" noProof="0" err="1">
                <a:ln>
                  <a:noFill/>
                </a:ln>
                <a:solidFill>
                  <a:srgbClr val="62748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状态｜分类｜文件关联</a:t>
            </a:r>
            <a:endParaRPr kumimoji="0" sz="600" b="0" i="0" u="none" strike="noStrike" kern="1200" cap="none" spc="0" normalizeH="0" baseline="0" noProof="0">
              <a:ln>
                <a:noFill/>
              </a:ln>
              <a:solidFill>
                <a:srgbClr val="62748A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47" name="asset-6-card">
            <a:extLst>
              <a:ext uri="{FF2B5EF4-FFF2-40B4-BE49-F238E27FC236}">
                <a16:creationId xmlns:a16="http://schemas.microsoft.com/office/drawing/2014/main" id="{52E97844-977A-4B43-A9C3-3A23FE5839DD}"/>
              </a:ext>
            </a:extLst>
          </p:cNvPr>
          <p:cNvSpPr>
            <a:spLocks noGrp="1"/>
          </p:cNvSpPr>
          <p:nvPr/>
        </p:nvSpPr>
        <p:spPr>
          <a:xfrm>
            <a:off x="4729162" y="3249129"/>
            <a:ext cx="1343025" cy="557213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8573">
            <a:solidFill>
              <a:srgbClr val="BFD9E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8" name="asset-6-icon">
            <a:extLst>
              <a:ext uri="{FF2B5EF4-FFF2-40B4-BE49-F238E27FC236}">
                <a16:creationId xmlns:a16="http://schemas.microsoft.com/office/drawing/2014/main" id="{CAE6EF69-3282-473E-A4EA-00418FDE29F0}"/>
              </a:ext>
            </a:extLst>
          </p:cNvPr>
          <p:cNvSpPr>
            <a:spLocks noGrp="1"/>
          </p:cNvSpPr>
          <p:nvPr/>
        </p:nvSpPr>
        <p:spPr>
          <a:xfrm>
            <a:off x="4800599" y="3320566"/>
            <a:ext cx="200025" cy="200025"/>
          </a:xfrm>
          <a:prstGeom prst="ellipse">
            <a:avLst/>
          </a:prstGeom>
          <a:solidFill>
            <a:srgbClr val="EAF4FB"/>
          </a:solidFill>
          <a:ln w="9525">
            <a:solidFill>
              <a:srgbClr val="4B9DD0"/>
            </a:solidFill>
            <a:prstDash val="solid"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1">
                <a:solidFill>
                  <a:srgbClr val="1686C5"/>
                </a:solidFill>
                <a:latin typeface="Calibri"/>
                <a:ea typeface="Calibri"/>
                <a:cs typeface="Calibr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1686C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⚙</a:t>
            </a:r>
          </a:p>
        </p:txBody>
      </p:sp>
      <p:sp>
        <p:nvSpPr>
          <p:cNvPr id="149" name="asset-6-title">
            <a:extLst>
              <a:ext uri="{FF2B5EF4-FFF2-40B4-BE49-F238E27FC236}">
                <a16:creationId xmlns:a16="http://schemas.microsoft.com/office/drawing/2014/main" id="{A493D0FB-437D-4E2B-9D4C-C9EDE2A9F8AA}"/>
              </a:ext>
            </a:extLst>
          </p:cNvPr>
          <p:cNvSpPr>
            <a:spLocks noGrp="1"/>
          </p:cNvSpPr>
          <p:nvPr/>
        </p:nvSpPr>
        <p:spPr>
          <a:xfrm>
            <a:off x="5064918" y="3306279"/>
            <a:ext cx="935831" cy="1571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38" b="1">
                <a:solidFill>
                  <a:srgbClr val="173E67"/>
                </a:solidFill>
                <a:latin typeface="Calibri"/>
                <a:ea typeface="Calibri"/>
                <a:cs typeface="Calibri"/>
              </a:defRPr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173E6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技术运行数据</a:t>
            </a:r>
          </a:p>
        </p:txBody>
      </p:sp>
      <p:sp>
        <p:nvSpPr>
          <p:cNvPr id="150" name="asset-6-desc">
            <a:extLst>
              <a:ext uri="{FF2B5EF4-FFF2-40B4-BE49-F238E27FC236}">
                <a16:creationId xmlns:a16="http://schemas.microsoft.com/office/drawing/2014/main" id="{9C865FF1-91F0-4E5F-A7B8-CF59F27C6B15}"/>
              </a:ext>
            </a:extLst>
          </p:cNvPr>
          <p:cNvSpPr>
            <a:spLocks noGrp="1"/>
          </p:cNvSpPr>
          <p:nvPr/>
        </p:nvSpPr>
        <p:spPr>
          <a:xfrm>
            <a:off x="5064918" y="3509824"/>
            <a:ext cx="935831" cy="2928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13" b="0">
                <a:solidFill>
                  <a:srgbClr val="62748A"/>
                </a:solidFill>
                <a:latin typeface="Calibri"/>
                <a:ea typeface="Calibri"/>
                <a:cs typeface="Calibri"/>
              </a:defRPr>
            </a:pPr>
            <a:r>
              <a:rPr kumimoji="0" lang="zh-CN" altLang="en-US" sz="600" b="0" i="0" u="none" strike="noStrike" kern="1200" cap="none" spc="0" normalizeH="0" baseline="0" noProof="0" err="1">
                <a:ln>
                  <a:noFill/>
                </a:ln>
                <a:solidFill>
                  <a:srgbClr val="62748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配置｜权限｜任务</a:t>
            </a:r>
            <a:endParaRPr kumimoji="0" sz="600" b="0" i="0" u="none" strike="noStrike" kern="1200" cap="none" spc="0" normalizeH="0" baseline="0" noProof="0">
              <a:ln>
                <a:noFill/>
              </a:ln>
              <a:solidFill>
                <a:srgbClr val="62748A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13" b="0">
                <a:solidFill>
                  <a:srgbClr val="62748A"/>
                </a:solidFill>
                <a:latin typeface="Calibri"/>
                <a:ea typeface="Calibri"/>
                <a:cs typeface="Calibri"/>
              </a:defRPr>
            </a:pPr>
            <a:r>
              <a:rPr kumimoji="0" lang="zh-CN" altLang="en-US" sz="600" b="0" i="0" u="none" strike="noStrike" kern="1200" cap="none" spc="0" normalizeH="0" baseline="0" noProof="0" err="1">
                <a:ln>
                  <a:noFill/>
                </a:ln>
                <a:solidFill>
                  <a:srgbClr val="62748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缓存｜临时</a:t>
            </a:r>
            <a:r>
              <a:rPr kumimoji="0" sz="600" b="0" i="0" u="none" strike="noStrike" kern="1200" cap="none" spc="0" normalizeH="0" baseline="0" noProof="0">
                <a:ln>
                  <a:noFill/>
                </a:ln>
                <a:solidFill>
                  <a:srgbClr val="62748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/</a:t>
            </a:r>
            <a:r>
              <a:rPr kumimoji="0" lang="zh-CN" altLang="en-US" sz="600" b="0" i="0" u="none" strike="noStrike" kern="1200" cap="none" spc="0" normalizeH="0" baseline="0" noProof="0" err="1">
                <a:ln>
                  <a:noFill/>
                </a:ln>
                <a:solidFill>
                  <a:srgbClr val="62748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备份</a:t>
            </a:r>
            <a:r>
              <a:rPr kumimoji="0" sz="600" b="0" i="0" u="none" strike="noStrike" kern="1200" cap="none" spc="0" normalizeH="0" baseline="0" noProof="0">
                <a:ln>
                  <a:noFill/>
                </a:ln>
                <a:solidFill>
                  <a:srgbClr val="62748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/</a:t>
            </a:r>
            <a:r>
              <a:rPr kumimoji="0" lang="zh-CN" altLang="en-US" sz="600" b="0" i="0" u="none" strike="noStrike" kern="1200" cap="none" spc="0" normalizeH="0" baseline="0" noProof="0" err="1">
                <a:ln>
                  <a:noFill/>
                </a:ln>
                <a:solidFill>
                  <a:srgbClr val="62748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测试数据</a:t>
            </a:r>
            <a:endParaRPr kumimoji="0" sz="600" b="0" i="0" u="none" strike="noStrike" kern="1200" cap="none" spc="0" normalizeH="0" baseline="0" noProof="0">
              <a:ln>
                <a:noFill/>
              </a:ln>
              <a:solidFill>
                <a:srgbClr val="62748A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51" name="asset-emphasis">
            <a:extLst>
              <a:ext uri="{FF2B5EF4-FFF2-40B4-BE49-F238E27FC236}">
                <a16:creationId xmlns:a16="http://schemas.microsoft.com/office/drawing/2014/main" id="{07C55F02-30BF-46C9-98C7-F717ABAD5948}"/>
              </a:ext>
            </a:extLst>
          </p:cNvPr>
          <p:cNvSpPr>
            <a:spLocks noGrp="1"/>
          </p:cNvSpPr>
          <p:nvPr/>
        </p:nvSpPr>
        <p:spPr>
          <a:xfrm>
            <a:off x="3286124" y="3842060"/>
            <a:ext cx="2786063" cy="1571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65" b="1">
                <a:solidFill>
                  <a:srgbClr val="1686C5"/>
                </a:solidFill>
                <a:latin typeface="Calibri"/>
                <a:ea typeface="Calibri"/>
                <a:cs typeface="Calibri"/>
              </a:defRPr>
            </a:pPr>
            <a:r>
              <a:rPr kumimoji="0" lang="zh-CN" altLang="en-US" sz="700" b="1" i="0" u="none" strike="noStrike" kern="1200" cap="none" spc="0" normalizeH="0" baseline="0" noProof="0" err="1">
                <a:ln>
                  <a:noFill/>
                </a:ln>
                <a:solidFill>
                  <a:srgbClr val="1686C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数据库记录</a:t>
            </a:r>
            <a:r>
              <a:rPr kumimoji="0" sz="700" b="1" i="0" u="none" strike="noStrike" kern="1200" cap="none" spc="0" normalizeH="0" baseline="0" noProof="0">
                <a:ln>
                  <a:noFill/>
                </a:ln>
                <a:solidFill>
                  <a:srgbClr val="1686C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+ </a:t>
            </a:r>
            <a:r>
              <a:rPr kumimoji="0" lang="zh-CN" altLang="en-US" sz="700" b="1" i="0" u="none" strike="noStrike" kern="1200" cap="none" spc="0" normalizeH="0" baseline="0" noProof="0" err="1">
                <a:ln>
                  <a:noFill/>
                </a:ln>
                <a:solidFill>
                  <a:srgbClr val="1686C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内容文件</a:t>
            </a:r>
            <a:r>
              <a:rPr kumimoji="0" sz="700" b="1" i="0" u="none" strike="noStrike" kern="1200" cap="none" spc="0" normalizeH="0" baseline="0" noProof="0">
                <a:ln>
                  <a:noFill/>
                </a:ln>
                <a:solidFill>
                  <a:srgbClr val="1686C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+ </a:t>
            </a:r>
            <a:r>
              <a:rPr kumimoji="0" lang="zh-CN" altLang="en-US" sz="700" b="1" i="0" u="none" strike="noStrike" kern="1200" cap="none" spc="0" normalizeH="0" baseline="0" noProof="0" err="1">
                <a:ln>
                  <a:noFill/>
                </a:ln>
                <a:solidFill>
                  <a:srgbClr val="1686C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业务关系</a:t>
            </a:r>
            <a:r>
              <a:rPr kumimoji="0" sz="700" b="1" i="0" u="none" strike="noStrike" kern="1200" cap="none" spc="0" normalizeH="0" baseline="0" noProof="0">
                <a:ln>
                  <a:noFill/>
                </a:ln>
                <a:solidFill>
                  <a:srgbClr val="1686C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= </a:t>
            </a:r>
            <a:r>
              <a:rPr kumimoji="0" lang="zh-CN" altLang="en-US" sz="700" b="1" i="0" u="none" strike="noStrike" kern="1200" cap="none" spc="0" normalizeH="0" baseline="0" noProof="0" err="1">
                <a:ln>
                  <a:noFill/>
                </a:ln>
                <a:solidFill>
                  <a:srgbClr val="1686C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完整历史证据</a:t>
            </a:r>
            <a:endParaRPr kumimoji="0" sz="700" b="1" i="0" u="none" strike="noStrike" kern="1200" cap="none" spc="0" normalizeH="0" baseline="0" noProof="0">
              <a:ln>
                <a:noFill/>
              </a:ln>
              <a:solidFill>
                <a:srgbClr val="1686C5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52" name="readiness-num">
            <a:extLst>
              <a:ext uri="{FF2B5EF4-FFF2-40B4-BE49-F238E27FC236}">
                <a16:creationId xmlns:a16="http://schemas.microsoft.com/office/drawing/2014/main" id="{BA3A1B2F-BA23-4967-B27B-A510F848A966}"/>
              </a:ext>
            </a:extLst>
          </p:cNvPr>
          <p:cNvSpPr>
            <a:spLocks noGrp="1"/>
          </p:cNvSpPr>
          <p:nvPr/>
        </p:nvSpPr>
        <p:spPr>
          <a:xfrm>
            <a:off x="6286499" y="1720366"/>
            <a:ext cx="2000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1686C5"/>
                </a:solidFill>
                <a:latin typeface="Calibri"/>
                <a:ea typeface="Calibri"/>
                <a:cs typeface="Calibr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1686C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53" name="readiness-title">
            <a:extLst>
              <a:ext uri="{FF2B5EF4-FFF2-40B4-BE49-F238E27FC236}">
                <a16:creationId xmlns:a16="http://schemas.microsoft.com/office/drawing/2014/main" id="{F2535594-ED0E-42A4-8B52-B7C29EA3FDDE}"/>
              </a:ext>
            </a:extLst>
          </p:cNvPr>
          <p:cNvSpPr>
            <a:spLocks noGrp="1"/>
          </p:cNvSpPr>
          <p:nvPr/>
        </p:nvSpPr>
        <p:spPr>
          <a:xfrm>
            <a:off x="6529387" y="1720366"/>
            <a:ext cx="20288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173E67"/>
                </a:solidFill>
                <a:latin typeface="Calibri"/>
                <a:ea typeface="Calibri"/>
                <a:cs typeface="Calibr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173E6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迁移准备程度不一</a:t>
            </a:r>
          </a:p>
        </p:txBody>
      </p:sp>
      <p:sp>
        <p:nvSpPr>
          <p:cNvPr id="154" name="readiness-rule">
            <a:extLst>
              <a:ext uri="{FF2B5EF4-FFF2-40B4-BE49-F238E27FC236}">
                <a16:creationId xmlns:a16="http://schemas.microsoft.com/office/drawing/2014/main" id="{B70389F1-9143-4923-B4F0-E7970FF69C07}"/>
              </a:ext>
            </a:extLst>
          </p:cNvPr>
          <p:cNvSpPr>
            <a:spLocks noGrp="1"/>
          </p:cNvSpPr>
          <p:nvPr/>
        </p:nvSpPr>
        <p:spPr>
          <a:xfrm>
            <a:off x="6286499" y="1927535"/>
            <a:ext cx="2271713" cy="7144"/>
          </a:xfrm>
          <a:prstGeom prst="line">
            <a:avLst/>
          </a:prstGeom>
          <a:noFill/>
          <a:ln w="9525">
            <a:solidFill>
              <a:srgbClr val="BFD9E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5" name="ready-a-card">
            <a:extLst>
              <a:ext uri="{FF2B5EF4-FFF2-40B4-BE49-F238E27FC236}">
                <a16:creationId xmlns:a16="http://schemas.microsoft.com/office/drawing/2014/main" id="{7181DC17-2682-45B6-AE3C-10921A3D2D58}"/>
              </a:ext>
            </a:extLst>
          </p:cNvPr>
          <p:cNvSpPr>
            <a:spLocks noGrp="1"/>
          </p:cNvSpPr>
          <p:nvPr/>
        </p:nvSpPr>
        <p:spPr>
          <a:xfrm>
            <a:off x="6286499" y="1991829"/>
            <a:ext cx="2271713" cy="585788"/>
          </a:xfrm>
          <a:prstGeom prst="roundRect">
            <a:avLst>
              <a:gd name="adj" fmla="val 8537"/>
            </a:avLst>
          </a:prstGeom>
          <a:solidFill>
            <a:srgbClr val="EAF4FB"/>
          </a:solidFill>
          <a:ln w="12383">
            <a:solidFill>
              <a:srgbClr val="4B9DD0"/>
            </a:solidFill>
            <a:prstDash val="solid"/>
          </a:ln>
        </p:spPr>
        <p:txBody>
          <a:bodyPr lIns="314325" tIns="64294" rIns="85725" bIns="50006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20">
                <a:solidFill>
                  <a:srgbClr val="62748A"/>
                </a:solidFill>
                <a:latin typeface="Calibri"/>
                <a:ea typeface="Calibri"/>
                <a:cs typeface="Calibri"/>
              </a:defRPr>
            </a:pPr>
            <a:r>
              <a:rPr kumimoji="0" lang="zh-CN" altLang="en-US" sz="800" b="1" i="0" u="none" strike="noStrike" kern="1200" cap="none" spc="0" normalizeH="0" baseline="0" noProof="0">
                <a:ln>
                  <a:noFill/>
                </a:ln>
                <a:solidFill>
                  <a:srgbClr val="173E67"/>
                </a:solidFill>
                <a:effectLst/>
                <a:uLnTx/>
                <a:uFillTx/>
                <a:latin typeface="Calibri"/>
                <a:cs typeface="Calibri"/>
              </a:rPr>
              <a:t>已具备字段结构</a:t>
            </a:r>
            <a:endParaRPr kumimoji="0" sz="800" b="1" i="0" u="none" strike="noStrike" kern="1200" cap="none" spc="0" normalizeH="0" baseline="0" noProof="0">
              <a:ln>
                <a:noFill/>
              </a:ln>
              <a:solidFill>
                <a:srgbClr val="173E67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20">
                <a:solidFill>
                  <a:srgbClr val="62748A"/>
                </a:solidFill>
                <a:latin typeface="Calibri"/>
                <a:ea typeface="Calibri"/>
                <a:cs typeface="Calibri"/>
              </a:defRPr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1686C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CC｜MA｜Eflow｜DHT｜BPM｜Dspot｜</a:t>
            </a:r>
            <a:r>
              <a:rPr kumimoji="0" lang="zh-CN" altLang="en-US" sz="700" b="1" i="0" u="none" strike="noStrike" kern="1200" cap="none" spc="0" normalizeH="0" baseline="0" noProof="0">
                <a:ln>
                  <a:noFill/>
                </a:ln>
                <a:solidFill>
                  <a:srgbClr val="1686C5"/>
                </a:solidFill>
                <a:effectLst/>
                <a:uLnTx/>
                <a:uFillTx/>
                <a:latin typeface="Calibri"/>
                <a:cs typeface="Calibri"/>
              </a:rPr>
              <a:t>银河</a:t>
            </a:r>
            <a:endParaRPr kumimoji="0" sz="700" b="1" i="0" u="none" strike="noStrike" kern="1200" cap="none" spc="0" normalizeH="0" baseline="0" noProof="0">
              <a:ln>
                <a:noFill/>
              </a:ln>
              <a:solidFill>
                <a:srgbClr val="1686C5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20">
                <a:solidFill>
                  <a:srgbClr val="62748A"/>
                </a:solidFill>
                <a:latin typeface="Calibri"/>
                <a:ea typeface="Calibri"/>
                <a:cs typeface="Calibri"/>
              </a:defRPr>
            </a:pPr>
            <a:r>
              <a:rPr kumimoji="0" lang="zh-CN" altLang="en-US" sz="600" b="0" i="0" u="none" strike="noStrike" kern="1200" cap="none" spc="0" normalizeH="0" baseline="0" noProof="0">
                <a:ln>
                  <a:noFill/>
                </a:ln>
                <a:solidFill>
                  <a:srgbClr val="62748A"/>
                </a:solidFill>
                <a:effectLst/>
                <a:uLnTx/>
                <a:uFillTx/>
                <a:latin typeface="Calibri"/>
                <a:cs typeface="Calibri"/>
              </a:rPr>
              <a:t>可开展表、字段与业务对象分析</a:t>
            </a:r>
            <a:endParaRPr kumimoji="0" sz="600" b="0" i="0" u="none" strike="noStrike" kern="1200" cap="none" spc="0" normalizeH="0" baseline="0" noProof="0">
              <a:ln>
                <a:noFill/>
              </a:ln>
              <a:solidFill>
                <a:srgbClr val="62748A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56" name="ready-a-label">
            <a:extLst>
              <a:ext uri="{FF2B5EF4-FFF2-40B4-BE49-F238E27FC236}">
                <a16:creationId xmlns:a16="http://schemas.microsoft.com/office/drawing/2014/main" id="{ED8C5837-6FD4-4B63-A2F9-7C3B328905B7}"/>
              </a:ext>
            </a:extLst>
          </p:cNvPr>
          <p:cNvSpPr>
            <a:spLocks noGrp="1"/>
          </p:cNvSpPr>
          <p:nvPr/>
        </p:nvSpPr>
        <p:spPr>
          <a:xfrm>
            <a:off x="6372225" y="2063266"/>
            <a:ext cx="192881" cy="1571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1">
                <a:solidFill>
                  <a:srgbClr val="1686C5"/>
                </a:solidFill>
                <a:latin typeface="Calibri"/>
                <a:ea typeface="Calibri"/>
                <a:cs typeface="Calibr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1686C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157" name="ready-b-card">
            <a:extLst>
              <a:ext uri="{FF2B5EF4-FFF2-40B4-BE49-F238E27FC236}">
                <a16:creationId xmlns:a16="http://schemas.microsoft.com/office/drawing/2014/main" id="{CF9B0CD2-9418-4152-984C-6BEC79236441}"/>
              </a:ext>
            </a:extLst>
          </p:cNvPr>
          <p:cNvSpPr>
            <a:spLocks noGrp="1"/>
          </p:cNvSpPr>
          <p:nvPr/>
        </p:nvSpPr>
        <p:spPr>
          <a:xfrm>
            <a:off x="6286499" y="2641910"/>
            <a:ext cx="2271713" cy="585788"/>
          </a:xfrm>
          <a:prstGeom prst="roundRect">
            <a:avLst>
              <a:gd name="adj" fmla="val 8537"/>
            </a:avLst>
          </a:prstGeom>
          <a:solidFill>
            <a:srgbClr val="F4F8FB"/>
          </a:solidFill>
          <a:ln w="7620">
            <a:solidFill>
              <a:srgbClr val="D7E5EF"/>
            </a:solidFill>
            <a:prstDash val="solid"/>
          </a:ln>
        </p:spPr>
        <p:txBody>
          <a:bodyPr lIns="314325" tIns="64294" rIns="85725" bIns="50006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20">
                <a:solidFill>
                  <a:srgbClr val="62748A"/>
                </a:solidFill>
                <a:latin typeface="Calibri"/>
                <a:ea typeface="Calibri"/>
                <a:cs typeface="Calibri"/>
              </a:defRPr>
            </a:pPr>
            <a:r>
              <a:rPr kumimoji="0" lang="zh-CN" altLang="en-US" sz="800" b="1" i="0" u="none" strike="noStrike" kern="1200" cap="none" spc="0" normalizeH="0" baseline="0" noProof="0" err="1">
                <a:ln>
                  <a:noFill/>
                </a:ln>
                <a:solidFill>
                  <a:srgbClr val="173E67"/>
                </a:solidFill>
                <a:effectLst/>
                <a:uLnTx/>
                <a:uFillTx/>
                <a:latin typeface="Calibri"/>
                <a:cs typeface="Calibri"/>
              </a:rPr>
              <a:t>仍缺迁移级信息</a:t>
            </a:r>
            <a:endParaRPr kumimoji="0" sz="800" b="1" i="0" u="none" strike="noStrike" kern="1200" cap="none" spc="0" normalizeH="0" baseline="0" noProof="0">
              <a:ln>
                <a:noFill/>
              </a:ln>
              <a:solidFill>
                <a:srgbClr val="173E67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20">
                <a:solidFill>
                  <a:srgbClr val="62748A"/>
                </a:solidFill>
                <a:latin typeface="Calibri"/>
                <a:ea typeface="Calibri"/>
                <a:cs typeface="Calibri"/>
              </a:defRPr>
            </a:pPr>
            <a:r>
              <a:rPr kumimoji="0" sz="700" b="1" i="0" u="none" strike="noStrike" kern="1200" cap="none" spc="0" normalizeH="0" baseline="0" noProof="0">
                <a:ln>
                  <a:noFill/>
                </a:ln>
                <a:solidFill>
                  <a:srgbClr val="1686C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NGCRM｜AMD SFE｜HF｜VAS SFE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20">
                <a:solidFill>
                  <a:srgbClr val="62748A"/>
                </a:solidFill>
                <a:latin typeface="Calibri"/>
                <a:ea typeface="Calibri"/>
                <a:cs typeface="Calibri"/>
              </a:defRPr>
            </a:pPr>
            <a:r>
              <a:rPr kumimoji="0" lang="zh-CN" altLang="en-US" sz="600" b="0" i="0" u="none" strike="noStrike" kern="1200" cap="none" spc="0" normalizeH="0" baseline="0" noProof="0" err="1">
                <a:ln>
                  <a:noFill/>
                </a:ln>
                <a:solidFill>
                  <a:srgbClr val="62748A"/>
                </a:solidFill>
                <a:effectLst/>
                <a:uLnTx/>
                <a:uFillTx/>
                <a:latin typeface="Calibri"/>
                <a:cs typeface="Calibri"/>
              </a:rPr>
              <a:t>需补充结构、数据量及附件关联</a:t>
            </a:r>
            <a:endParaRPr kumimoji="0" sz="600" b="0" i="0" u="none" strike="noStrike" kern="1200" cap="none" spc="0" normalizeH="0" baseline="0" noProof="0">
              <a:ln>
                <a:noFill/>
              </a:ln>
              <a:solidFill>
                <a:srgbClr val="62748A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58" name="ready-b-label">
            <a:extLst>
              <a:ext uri="{FF2B5EF4-FFF2-40B4-BE49-F238E27FC236}">
                <a16:creationId xmlns:a16="http://schemas.microsoft.com/office/drawing/2014/main" id="{41311FFA-37BB-425E-8112-4948041A3CB0}"/>
              </a:ext>
            </a:extLst>
          </p:cNvPr>
          <p:cNvSpPr>
            <a:spLocks noGrp="1"/>
          </p:cNvSpPr>
          <p:nvPr/>
        </p:nvSpPr>
        <p:spPr>
          <a:xfrm>
            <a:off x="6372225" y="2713347"/>
            <a:ext cx="192881" cy="1571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1">
                <a:solidFill>
                  <a:srgbClr val="1686C5"/>
                </a:solidFill>
                <a:latin typeface="Calibri"/>
                <a:ea typeface="Calibri"/>
                <a:cs typeface="Calibr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1686C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B</a:t>
            </a:r>
          </a:p>
        </p:txBody>
      </p:sp>
      <p:sp>
        <p:nvSpPr>
          <p:cNvPr id="159" name="judgment-card">
            <a:extLst>
              <a:ext uri="{FF2B5EF4-FFF2-40B4-BE49-F238E27FC236}">
                <a16:creationId xmlns:a16="http://schemas.microsoft.com/office/drawing/2014/main" id="{EA972A7A-1047-4E6A-A621-2554B05D2921}"/>
              </a:ext>
            </a:extLst>
          </p:cNvPr>
          <p:cNvSpPr>
            <a:spLocks noGrp="1"/>
          </p:cNvSpPr>
          <p:nvPr/>
        </p:nvSpPr>
        <p:spPr>
          <a:xfrm>
            <a:off x="6286499" y="3291992"/>
            <a:ext cx="2271713" cy="707231"/>
          </a:xfrm>
          <a:prstGeom prst="roundRect">
            <a:avLst>
              <a:gd name="adj" fmla="val 7071"/>
            </a:avLst>
          </a:prstGeom>
          <a:solidFill>
            <a:srgbClr val="FFFFFF"/>
          </a:solidFill>
          <a:ln w="13335">
            <a:solidFill>
              <a:srgbClr val="1686C5"/>
            </a:solidFill>
            <a:prstDash val="solid"/>
          </a:ln>
        </p:spPr>
        <p:txBody>
          <a:bodyPr lIns="107156" tIns="71438" rIns="107156" bIns="5715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"/>
              </a:spcAft>
              <a:buClrTx/>
              <a:buSzTx/>
              <a:buFontTx/>
              <a:buNone/>
              <a:tabLst/>
              <a:defRPr sz="773">
                <a:solidFill>
                  <a:srgbClr val="173E67"/>
                </a:solidFill>
                <a:latin typeface="Calibri"/>
                <a:ea typeface="Calibri"/>
                <a:cs typeface="Calibri"/>
              </a:defRPr>
            </a:pPr>
            <a:r>
              <a:rPr kumimoji="0" sz="700" b="1" i="0" u="none" strike="noStrike" kern="1200" cap="none" spc="0" normalizeH="0" baseline="0" noProof="0">
                <a:ln>
                  <a:noFill/>
                </a:ln>
                <a:solidFill>
                  <a:srgbClr val="1686C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核心判断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73">
                <a:solidFill>
                  <a:srgbClr val="173E67"/>
                </a:solidFill>
                <a:latin typeface="Calibri"/>
                <a:ea typeface="Calibri"/>
                <a:cs typeface="Calibri"/>
              </a:defRPr>
            </a:pPr>
            <a:r>
              <a:rPr kumimoji="0" sz="700" b="1" i="0" u="none" strike="noStrike" kern="1200" cap="none" spc="0" normalizeH="0" baseline="0" noProof="0">
                <a:ln>
                  <a:noFill/>
                </a:ln>
                <a:solidFill>
                  <a:srgbClr val="173E6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这不是单纯搬库，而是跨业务、跨结构，整合记录与附件的历史归档工程。</a:t>
            </a:r>
          </a:p>
        </p:txBody>
      </p:sp>
      <p:sp>
        <p:nvSpPr>
          <p:cNvPr id="160" name="summary-bar">
            <a:extLst>
              <a:ext uri="{FF2B5EF4-FFF2-40B4-BE49-F238E27FC236}">
                <a16:creationId xmlns:a16="http://schemas.microsoft.com/office/drawing/2014/main" id="{9E810687-3EBB-4DEE-9531-2F4D31722481}"/>
              </a:ext>
            </a:extLst>
          </p:cNvPr>
          <p:cNvSpPr>
            <a:spLocks noGrp="1"/>
          </p:cNvSpPr>
          <p:nvPr/>
        </p:nvSpPr>
        <p:spPr>
          <a:xfrm>
            <a:off x="585787" y="4156386"/>
            <a:ext cx="7972425" cy="307181"/>
          </a:xfrm>
          <a:prstGeom prst="roundRect">
            <a:avLst>
              <a:gd name="adj" fmla="val 16279"/>
            </a:avLst>
          </a:prstGeom>
          <a:solidFill>
            <a:srgbClr val="EAF4FB"/>
          </a:solidFill>
          <a:ln w="7620">
            <a:solidFill>
              <a:srgbClr val="BFD9EC"/>
            </a:solidFill>
            <a:prstDash val="solid"/>
          </a:ln>
        </p:spPr>
        <p:txBody>
          <a:bodyPr lIns="135731" tIns="42863" rIns="135731" bIns="42863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90" b="1">
                <a:solidFill>
                  <a:srgbClr val="173E67"/>
                </a:solidFill>
                <a:latin typeface="Calibri"/>
                <a:ea typeface="Calibri"/>
                <a:cs typeface="Calibri"/>
              </a:defRPr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173E6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Phase 1先完成</a:t>
            </a: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1686C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数据识别、范围确认与标准归档</a:t>
            </a: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173E6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，为</a:t>
            </a: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1686C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统一查询和合规取证</a:t>
            </a: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173E6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打底。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F54E530-487A-F394-4C47-09BA41F15F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China RIMS Solution Proposal</a:t>
            </a:r>
          </a:p>
          <a:p>
            <a:endParaRPr lang="zh-CN" alt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C48D9B0-B12F-8B57-CF2D-DDA15753F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009CDE"/>
                </a:solidFill>
              </a:rPr>
              <a:t>现状分析：多类退役系统形成复杂的历史数据资产</a:t>
            </a:r>
            <a:br>
              <a:rPr lang="zh-CN" altLang="en-US">
                <a:solidFill>
                  <a:srgbClr val="009CDE"/>
                </a:solidFill>
              </a:rPr>
            </a:b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9016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flow-arrow-left">
            <a:extLst>
              <a:ext uri="{FF2B5EF4-FFF2-40B4-BE49-F238E27FC236}">
                <a16:creationId xmlns:a16="http://schemas.microsoft.com/office/drawing/2014/main" id="{2E4B1821-8CDE-4FB8-9E0E-3380AECCDCAB}"/>
              </a:ext>
            </a:extLst>
          </p:cNvPr>
          <p:cNvSpPr>
            <a:spLocks noGrp="1"/>
          </p:cNvSpPr>
          <p:nvPr/>
        </p:nvSpPr>
        <p:spPr>
          <a:xfrm>
            <a:off x="3109852" y="2640458"/>
            <a:ext cx="200025" cy="142875"/>
          </a:xfrm>
          <a:prstGeom prst="rightArrow">
            <a:avLst/>
          </a:prstGeom>
          <a:solidFill>
            <a:srgbClr val="DDEEF8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0" name="flow-arrow-right">
            <a:extLst>
              <a:ext uri="{FF2B5EF4-FFF2-40B4-BE49-F238E27FC236}">
                <a16:creationId xmlns:a16="http://schemas.microsoft.com/office/drawing/2014/main" id="{B90D9382-7739-4182-AF41-9FA30506A1FD}"/>
              </a:ext>
            </a:extLst>
          </p:cNvPr>
          <p:cNvSpPr>
            <a:spLocks noGrp="1"/>
          </p:cNvSpPr>
          <p:nvPr/>
        </p:nvSpPr>
        <p:spPr>
          <a:xfrm>
            <a:off x="6022180" y="2669033"/>
            <a:ext cx="200025" cy="142875"/>
          </a:xfrm>
          <a:prstGeom prst="rightArrow">
            <a:avLst/>
          </a:prstGeom>
          <a:solidFill>
            <a:srgbClr val="DDEEF8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1" name="source-num">
            <a:extLst>
              <a:ext uri="{FF2B5EF4-FFF2-40B4-BE49-F238E27FC236}">
                <a16:creationId xmlns:a16="http://schemas.microsoft.com/office/drawing/2014/main" id="{EBBB2BD2-B990-4EBF-8BF5-AC37A44AFAF6}"/>
              </a:ext>
            </a:extLst>
          </p:cNvPr>
          <p:cNvSpPr>
            <a:spLocks noGrp="1"/>
          </p:cNvSpPr>
          <p:nvPr/>
        </p:nvSpPr>
        <p:spPr>
          <a:xfrm>
            <a:off x="585787" y="1211708"/>
            <a:ext cx="2000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1686C5"/>
                </a:solidFill>
                <a:latin typeface="Calibri"/>
                <a:ea typeface="Calibri"/>
                <a:cs typeface="Calibr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1686C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82" name="source-title">
            <a:extLst>
              <a:ext uri="{FF2B5EF4-FFF2-40B4-BE49-F238E27FC236}">
                <a16:creationId xmlns:a16="http://schemas.microsoft.com/office/drawing/2014/main" id="{4D8511F1-C45C-4D43-91A7-823F63C2B881}"/>
              </a:ext>
            </a:extLst>
          </p:cNvPr>
          <p:cNvSpPr>
            <a:spLocks noGrp="1"/>
          </p:cNvSpPr>
          <p:nvPr/>
        </p:nvSpPr>
        <p:spPr>
          <a:xfrm>
            <a:off x="828675" y="1211708"/>
            <a:ext cx="2221706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173E67"/>
                </a:solidFill>
                <a:latin typeface="Calibri"/>
                <a:ea typeface="Calibri"/>
                <a:cs typeface="Calibr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173E6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源系统数据结构复杂且不统一</a:t>
            </a:r>
          </a:p>
        </p:txBody>
      </p:sp>
      <p:sp>
        <p:nvSpPr>
          <p:cNvPr id="83" name="source-rule">
            <a:extLst>
              <a:ext uri="{FF2B5EF4-FFF2-40B4-BE49-F238E27FC236}">
                <a16:creationId xmlns:a16="http://schemas.microsoft.com/office/drawing/2014/main" id="{93B15BB7-455D-4190-9553-92F4DF454804}"/>
              </a:ext>
            </a:extLst>
          </p:cNvPr>
          <p:cNvSpPr>
            <a:spLocks noGrp="1"/>
          </p:cNvSpPr>
          <p:nvPr/>
        </p:nvSpPr>
        <p:spPr>
          <a:xfrm>
            <a:off x="585787" y="1418877"/>
            <a:ext cx="2464594" cy="7144"/>
          </a:xfrm>
          <a:prstGeom prst="line">
            <a:avLst/>
          </a:prstGeom>
          <a:noFill/>
          <a:ln w="9525">
            <a:solidFill>
              <a:srgbClr val="BFD9E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4" name="problem-1-card">
            <a:extLst>
              <a:ext uri="{FF2B5EF4-FFF2-40B4-BE49-F238E27FC236}">
                <a16:creationId xmlns:a16="http://schemas.microsoft.com/office/drawing/2014/main" id="{4FA36504-C5CB-4888-BD46-A95860E4EF5C}"/>
              </a:ext>
            </a:extLst>
          </p:cNvPr>
          <p:cNvSpPr>
            <a:spLocks noGrp="1"/>
          </p:cNvSpPr>
          <p:nvPr/>
        </p:nvSpPr>
        <p:spPr>
          <a:xfrm>
            <a:off x="585787" y="1490315"/>
            <a:ext cx="2464594" cy="566759"/>
          </a:xfrm>
          <a:prstGeom prst="roundRect">
            <a:avLst>
              <a:gd name="adj" fmla="val 7692"/>
            </a:avLst>
          </a:prstGeom>
          <a:solidFill>
            <a:srgbClr val="F4F8FB"/>
          </a:solidFill>
          <a:ln w="7620">
            <a:solidFill>
              <a:srgbClr val="D7E5EF"/>
            </a:solidFill>
            <a:prstDash val="solid"/>
          </a:ln>
        </p:spPr>
        <p:txBody>
          <a:bodyPr lIns="350044" tIns="64294" rIns="85725" bIns="42863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35">
                <a:solidFill>
                  <a:srgbClr val="62748A"/>
                </a:solidFill>
                <a:latin typeface="Calibri"/>
                <a:ea typeface="Calibri"/>
                <a:cs typeface="Calibr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173E6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数据库与字段不一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35">
                <a:solidFill>
                  <a:srgbClr val="62748A"/>
                </a:solidFill>
                <a:latin typeface="Calibri"/>
                <a:ea typeface="Calibri"/>
                <a:cs typeface="Calibri"/>
              </a:defRPr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62748A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35">
                <a:solidFill>
                  <a:srgbClr val="62748A"/>
                </a:solidFill>
                <a:latin typeface="Calibri"/>
                <a:ea typeface="Calibri"/>
                <a:cs typeface="Calibri"/>
              </a:defRPr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62748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SQL Server / MySQL并存，字段类型各异。</a:t>
            </a:r>
          </a:p>
        </p:txBody>
      </p:sp>
      <p:sp>
        <p:nvSpPr>
          <p:cNvPr id="85" name="problem-1-icon">
            <a:extLst>
              <a:ext uri="{FF2B5EF4-FFF2-40B4-BE49-F238E27FC236}">
                <a16:creationId xmlns:a16="http://schemas.microsoft.com/office/drawing/2014/main" id="{CD720BED-583E-4BF5-AF33-98DB01B9F8C9}"/>
              </a:ext>
            </a:extLst>
          </p:cNvPr>
          <p:cNvSpPr>
            <a:spLocks noGrp="1"/>
          </p:cNvSpPr>
          <p:nvPr/>
        </p:nvSpPr>
        <p:spPr>
          <a:xfrm>
            <a:off x="671512" y="1576040"/>
            <a:ext cx="192881" cy="192881"/>
          </a:xfrm>
          <a:prstGeom prst="ellipse">
            <a:avLst/>
          </a:prstGeom>
          <a:solidFill>
            <a:srgbClr val="EEF3F6"/>
          </a:solidFill>
          <a:ln w="7620">
            <a:solidFill>
              <a:srgbClr val="BFD9EC"/>
            </a:solidFill>
            <a:prstDash val="solid"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63" b="1">
                <a:solidFill>
                  <a:srgbClr val="1686C5"/>
                </a:solidFill>
                <a:latin typeface="Calibri"/>
                <a:ea typeface="Calibri"/>
                <a:cs typeface="Calibri"/>
              </a:defRPr>
            </a:pPr>
            <a:r>
              <a:rPr kumimoji="0" sz="700" b="1" i="0" u="none" strike="noStrike" kern="1200" cap="none" spc="0" normalizeH="0" baseline="0" noProof="0">
                <a:ln>
                  <a:noFill/>
                </a:ln>
                <a:solidFill>
                  <a:srgbClr val="1686C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86" name="problem-2-card">
            <a:extLst>
              <a:ext uri="{FF2B5EF4-FFF2-40B4-BE49-F238E27FC236}">
                <a16:creationId xmlns:a16="http://schemas.microsoft.com/office/drawing/2014/main" id="{F47F4E94-EC71-49B7-9714-A71E1DB19A55}"/>
              </a:ext>
            </a:extLst>
          </p:cNvPr>
          <p:cNvSpPr>
            <a:spLocks noGrp="1"/>
          </p:cNvSpPr>
          <p:nvPr/>
        </p:nvSpPr>
        <p:spPr>
          <a:xfrm>
            <a:off x="585787" y="2152652"/>
            <a:ext cx="2464594" cy="535781"/>
          </a:xfrm>
          <a:prstGeom prst="roundRect">
            <a:avLst>
              <a:gd name="adj" fmla="val 9333"/>
            </a:avLst>
          </a:prstGeom>
          <a:solidFill>
            <a:srgbClr val="F4F8FB"/>
          </a:solidFill>
          <a:ln w="7620">
            <a:solidFill>
              <a:srgbClr val="D7E5EF"/>
            </a:solidFill>
            <a:prstDash val="solid"/>
          </a:ln>
        </p:spPr>
        <p:txBody>
          <a:bodyPr lIns="350044" tIns="64294" rIns="85725" bIns="42863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35">
                <a:solidFill>
                  <a:srgbClr val="62748A"/>
                </a:solidFill>
                <a:latin typeface="Calibri"/>
                <a:ea typeface="Calibri"/>
                <a:cs typeface="Calibr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173E6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业务表、技术表混杂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35">
                <a:solidFill>
                  <a:srgbClr val="62748A"/>
                </a:solidFill>
                <a:latin typeface="Calibri"/>
                <a:ea typeface="Calibri"/>
                <a:cs typeface="Calibri"/>
              </a:defRPr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62748A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35">
                <a:solidFill>
                  <a:srgbClr val="62748A"/>
                </a:solidFill>
                <a:latin typeface="Calibri"/>
                <a:ea typeface="Calibri"/>
                <a:cs typeface="Calibri"/>
              </a:defRPr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62748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核心记录与权限、任务、日志、缓存并存。</a:t>
            </a:r>
          </a:p>
        </p:txBody>
      </p:sp>
      <p:sp>
        <p:nvSpPr>
          <p:cNvPr id="87" name="problem-2-icon">
            <a:extLst>
              <a:ext uri="{FF2B5EF4-FFF2-40B4-BE49-F238E27FC236}">
                <a16:creationId xmlns:a16="http://schemas.microsoft.com/office/drawing/2014/main" id="{374244E6-5392-4242-A6EF-90137F98F54F}"/>
              </a:ext>
            </a:extLst>
          </p:cNvPr>
          <p:cNvSpPr>
            <a:spLocks noGrp="1"/>
          </p:cNvSpPr>
          <p:nvPr/>
        </p:nvSpPr>
        <p:spPr>
          <a:xfrm>
            <a:off x="671512" y="2238377"/>
            <a:ext cx="192881" cy="192881"/>
          </a:xfrm>
          <a:prstGeom prst="ellipse">
            <a:avLst/>
          </a:prstGeom>
          <a:solidFill>
            <a:srgbClr val="EEF3F6"/>
          </a:solidFill>
          <a:ln w="7620">
            <a:solidFill>
              <a:srgbClr val="BFD9EC"/>
            </a:solidFill>
            <a:prstDash val="solid"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63" b="1">
                <a:solidFill>
                  <a:srgbClr val="1686C5"/>
                </a:solidFill>
                <a:latin typeface="Calibri"/>
                <a:ea typeface="Calibri"/>
                <a:cs typeface="Calibri"/>
              </a:defRPr>
            </a:pPr>
            <a:r>
              <a:rPr kumimoji="0" sz="700" b="1" i="0" u="none" strike="noStrike" kern="1200" cap="none" spc="0" normalizeH="0" baseline="0" noProof="0">
                <a:ln>
                  <a:noFill/>
                </a:ln>
                <a:solidFill>
                  <a:srgbClr val="1686C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88" name="problem-3-card">
            <a:extLst>
              <a:ext uri="{FF2B5EF4-FFF2-40B4-BE49-F238E27FC236}">
                <a16:creationId xmlns:a16="http://schemas.microsoft.com/office/drawing/2014/main" id="{A7904DFD-0F6B-4BC4-B081-1442C04A3F98}"/>
              </a:ext>
            </a:extLst>
          </p:cNvPr>
          <p:cNvSpPr>
            <a:spLocks noGrp="1"/>
          </p:cNvSpPr>
          <p:nvPr/>
        </p:nvSpPr>
        <p:spPr>
          <a:xfrm>
            <a:off x="585787" y="2804765"/>
            <a:ext cx="2464594" cy="471487"/>
          </a:xfrm>
          <a:prstGeom prst="roundRect">
            <a:avLst>
              <a:gd name="adj" fmla="val 9333"/>
            </a:avLst>
          </a:prstGeom>
          <a:solidFill>
            <a:srgbClr val="F4F8FB"/>
          </a:solidFill>
          <a:ln w="7620">
            <a:solidFill>
              <a:srgbClr val="D7E5EF"/>
            </a:solidFill>
            <a:prstDash val="solid"/>
          </a:ln>
        </p:spPr>
        <p:txBody>
          <a:bodyPr lIns="350044" tIns="64294" rIns="85725" bIns="42863" anchor="t">
            <a:normAutofit fontScale="92500"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35">
                <a:solidFill>
                  <a:srgbClr val="62748A"/>
                </a:solidFill>
                <a:latin typeface="Calibri"/>
                <a:ea typeface="Calibri"/>
                <a:cs typeface="Calibr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173E6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正式表、历史副本并存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35">
                <a:solidFill>
                  <a:srgbClr val="62748A"/>
                </a:solidFill>
                <a:latin typeface="Calibri"/>
                <a:ea typeface="Calibri"/>
                <a:cs typeface="Calibri"/>
              </a:defRPr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62748A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35">
                <a:solidFill>
                  <a:srgbClr val="62748A"/>
                </a:solidFill>
                <a:latin typeface="Calibri"/>
                <a:ea typeface="Calibri"/>
                <a:cs typeface="Calibri"/>
              </a:defRPr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62748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_bak / _old / _temp / _test易造成重复。</a:t>
            </a:r>
          </a:p>
        </p:txBody>
      </p:sp>
      <p:sp>
        <p:nvSpPr>
          <p:cNvPr id="89" name="problem-3-icon">
            <a:extLst>
              <a:ext uri="{FF2B5EF4-FFF2-40B4-BE49-F238E27FC236}">
                <a16:creationId xmlns:a16="http://schemas.microsoft.com/office/drawing/2014/main" id="{68645728-3A18-49D0-A2E9-74430B0A33A8}"/>
              </a:ext>
            </a:extLst>
          </p:cNvPr>
          <p:cNvSpPr>
            <a:spLocks noGrp="1"/>
          </p:cNvSpPr>
          <p:nvPr/>
        </p:nvSpPr>
        <p:spPr>
          <a:xfrm>
            <a:off x="671512" y="2890490"/>
            <a:ext cx="192881" cy="192881"/>
          </a:xfrm>
          <a:prstGeom prst="ellipse">
            <a:avLst/>
          </a:prstGeom>
          <a:solidFill>
            <a:srgbClr val="EEF3F6"/>
          </a:solidFill>
          <a:ln w="7620">
            <a:solidFill>
              <a:srgbClr val="BFD9EC"/>
            </a:solidFill>
            <a:prstDash val="solid"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63" b="1">
                <a:solidFill>
                  <a:srgbClr val="1686C5"/>
                </a:solidFill>
                <a:latin typeface="Calibri"/>
                <a:ea typeface="Calibri"/>
                <a:cs typeface="Calibri"/>
              </a:defRPr>
            </a:pPr>
            <a:r>
              <a:rPr kumimoji="0" sz="700" b="1" i="0" u="none" strike="noStrike" kern="1200" cap="none" spc="0" normalizeH="0" baseline="0" noProof="0">
                <a:ln>
                  <a:noFill/>
                </a:ln>
                <a:solidFill>
                  <a:srgbClr val="1686C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90" name="problem-4-card">
            <a:extLst>
              <a:ext uri="{FF2B5EF4-FFF2-40B4-BE49-F238E27FC236}">
                <a16:creationId xmlns:a16="http://schemas.microsoft.com/office/drawing/2014/main" id="{A165D4A3-9BFB-4D48-A19E-B49DB0EE0F74}"/>
              </a:ext>
            </a:extLst>
          </p:cNvPr>
          <p:cNvSpPr>
            <a:spLocks noGrp="1"/>
          </p:cNvSpPr>
          <p:nvPr/>
        </p:nvSpPr>
        <p:spPr>
          <a:xfrm>
            <a:off x="585787" y="3404841"/>
            <a:ext cx="2464594" cy="495322"/>
          </a:xfrm>
          <a:prstGeom prst="roundRect">
            <a:avLst>
              <a:gd name="adj" fmla="val 9333"/>
            </a:avLst>
          </a:prstGeom>
          <a:solidFill>
            <a:srgbClr val="F4F8FB"/>
          </a:solidFill>
          <a:ln w="7620">
            <a:solidFill>
              <a:srgbClr val="D7E5EF"/>
            </a:solidFill>
            <a:prstDash val="solid"/>
          </a:ln>
        </p:spPr>
        <p:txBody>
          <a:bodyPr lIns="350044" tIns="64294" rIns="85725" bIns="42863" anchor="t"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35">
                <a:solidFill>
                  <a:srgbClr val="62748A"/>
                </a:solidFill>
                <a:latin typeface="Calibri"/>
                <a:ea typeface="Calibri"/>
                <a:cs typeface="Calibr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173E6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记录依赖外部文件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35">
                <a:solidFill>
                  <a:srgbClr val="62748A"/>
                </a:solidFill>
                <a:latin typeface="Calibri"/>
                <a:ea typeface="Calibri"/>
                <a:cs typeface="Calibri"/>
              </a:defRPr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62748A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35">
                <a:solidFill>
                  <a:srgbClr val="62748A"/>
                </a:solidFill>
                <a:latin typeface="Calibri"/>
                <a:ea typeface="Calibri"/>
                <a:cs typeface="Calibri"/>
              </a:defRPr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62748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只迁数据库会丢失附件证据。</a:t>
            </a:r>
          </a:p>
        </p:txBody>
      </p:sp>
      <p:sp>
        <p:nvSpPr>
          <p:cNvPr id="91" name="problem-4-icon">
            <a:extLst>
              <a:ext uri="{FF2B5EF4-FFF2-40B4-BE49-F238E27FC236}">
                <a16:creationId xmlns:a16="http://schemas.microsoft.com/office/drawing/2014/main" id="{59B5C2A7-8B9B-4CC0-A79D-D501C3C2B366}"/>
              </a:ext>
            </a:extLst>
          </p:cNvPr>
          <p:cNvSpPr>
            <a:spLocks noGrp="1"/>
          </p:cNvSpPr>
          <p:nvPr/>
        </p:nvSpPr>
        <p:spPr>
          <a:xfrm>
            <a:off x="671512" y="3490565"/>
            <a:ext cx="192881" cy="192881"/>
          </a:xfrm>
          <a:prstGeom prst="ellipse">
            <a:avLst/>
          </a:prstGeom>
          <a:solidFill>
            <a:srgbClr val="EEF3F6"/>
          </a:solidFill>
          <a:ln w="7620">
            <a:solidFill>
              <a:srgbClr val="BFD9EC"/>
            </a:solidFill>
            <a:prstDash val="solid"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63" b="1">
                <a:solidFill>
                  <a:srgbClr val="1686C5"/>
                </a:solidFill>
                <a:latin typeface="Calibri"/>
                <a:ea typeface="Calibri"/>
                <a:cs typeface="Calibri"/>
              </a:defRPr>
            </a:pPr>
            <a:r>
              <a:rPr kumimoji="0" sz="700" b="1" i="0" u="none" strike="noStrike" kern="1200" cap="none" spc="0" normalizeH="0" baseline="0" noProof="0">
                <a:ln>
                  <a:noFill/>
                </a:ln>
                <a:solidFill>
                  <a:srgbClr val="1686C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92" name="logic-num">
            <a:extLst>
              <a:ext uri="{FF2B5EF4-FFF2-40B4-BE49-F238E27FC236}">
                <a16:creationId xmlns:a16="http://schemas.microsoft.com/office/drawing/2014/main" id="{FEF41098-0ADB-4384-A14B-3BA26ABB5124}"/>
              </a:ext>
            </a:extLst>
          </p:cNvPr>
          <p:cNvSpPr>
            <a:spLocks noGrp="1"/>
          </p:cNvSpPr>
          <p:nvPr/>
        </p:nvSpPr>
        <p:spPr>
          <a:xfrm>
            <a:off x="3250405" y="1211708"/>
            <a:ext cx="2000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1686C5"/>
                </a:solidFill>
                <a:latin typeface="Calibri"/>
                <a:ea typeface="Calibri"/>
                <a:cs typeface="Calibri"/>
              </a:defRPr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1686C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93" name="logic-title">
            <a:extLst>
              <a:ext uri="{FF2B5EF4-FFF2-40B4-BE49-F238E27FC236}">
                <a16:creationId xmlns:a16="http://schemas.microsoft.com/office/drawing/2014/main" id="{29942BE4-0105-431E-8A96-D0E8CB2936BC}"/>
              </a:ext>
            </a:extLst>
          </p:cNvPr>
          <p:cNvSpPr>
            <a:spLocks noGrp="1"/>
          </p:cNvSpPr>
          <p:nvPr/>
        </p:nvSpPr>
        <p:spPr>
          <a:xfrm>
            <a:off x="3493293" y="1211708"/>
            <a:ext cx="2557463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173E67"/>
                </a:solidFill>
                <a:latin typeface="Calibri"/>
                <a:ea typeface="Calibri"/>
                <a:cs typeface="Calibri"/>
              </a:defRPr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173E6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迁移</a:t>
            </a:r>
            <a:r>
              <a:rPr kumimoji="0" lang="zh-CN" altLang="en-US" sz="1100" b="1" i="0" u="none" strike="noStrike" kern="1200" cap="none" spc="0" normalizeH="0" baseline="0" noProof="0">
                <a:ln>
                  <a:noFill/>
                </a:ln>
                <a:solidFill>
                  <a:srgbClr val="173E6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步骤</a:t>
            </a:r>
            <a:endParaRPr kumimoji="0" sz="1100" b="1" i="0" u="none" strike="noStrike" kern="1200" cap="none" spc="0" normalizeH="0" baseline="0" noProof="0">
              <a:ln>
                <a:noFill/>
              </a:ln>
              <a:solidFill>
                <a:srgbClr val="173E67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94" name="logic-rule">
            <a:extLst>
              <a:ext uri="{FF2B5EF4-FFF2-40B4-BE49-F238E27FC236}">
                <a16:creationId xmlns:a16="http://schemas.microsoft.com/office/drawing/2014/main" id="{532266B9-0413-4273-A5B7-FFDB527B960D}"/>
              </a:ext>
            </a:extLst>
          </p:cNvPr>
          <p:cNvSpPr>
            <a:spLocks noGrp="1"/>
          </p:cNvSpPr>
          <p:nvPr/>
        </p:nvSpPr>
        <p:spPr>
          <a:xfrm>
            <a:off x="3250405" y="1418877"/>
            <a:ext cx="2800350" cy="7144"/>
          </a:xfrm>
          <a:prstGeom prst="line">
            <a:avLst/>
          </a:prstGeom>
          <a:noFill/>
          <a:ln w="9525">
            <a:solidFill>
              <a:srgbClr val="BFD9E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5" name="step-1-rail">
            <a:extLst>
              <a:ext uri="{FF2B5EF4-FFF2-40B4-BE49-F238E27FC236}">
                <a16:creationId xmlns:a16="http://schemas.microsoft.com/office/drawing/2014/main" id="{CCF73CA4-55E1-4723-B369-A5616AD2F40C}"/>
              </a:ext>
            </a:extLst>
          </p:cNvPr>
          <p:cNvSpPr>
            <a:spLocks noGrp="1"/>
          </p:cNvSpPr>
          <p:nvPr/>
        </p:nvSpPr>
        <p:spPr>
          <a:xfrm>
            <a:off x="3393281" y="1768921"/>
            <a:ext cx="7144" cy="450056"/>
          </a:xfrm>
          <a:prstGeom prst="line">
            <a:avLst/>
          </a:prstGeom>
          <a:noFill/>
          <a:ln w="19050">
            <a:solidFill>
              <a:srgbClr val="BFD9E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6" name="step-1-bubble">
            <a:extLst>
              <a:ext uri="{FF2B5EF4-FFF2-40B4-BE49-F238E27FC236}">
                <a16:creationId xmlns:a16="http://schemas.microsoft.com/office/drawing/2014/main" id="{778DF5B0-D015-49D6-8BCA-8A580FDD15D8}"/>
              </a:ext>
            </a:extLst>
          </p:cNvPr>
          <p:cNvSpPr>
            <a:spLocks noGrp="1"/>
          </p:cNvSpPr>
          <p:nvPr/>
        </p:nvSpPr>
        <p:spPr>
          <a:xfrm>
            <a:off x="3250405" y="1490314"/>
            <a:ext cx="285750" cy="285750"/>
          </a:xfrm>
          <a:prstGeom prst="ellipse">
            <a:avLst/>
          </a:prstGeom>
          <a:solidFill>
            <a:srgbClr val="1686C5"/>
          </a:solidFill>
          <a:ln w="0">
            <a:noFill/>
            <a:prstDash val="solid"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97" name="step-1-title">
            <a:extLst>
              <a:ext uri="{FF2B5EF4-FFF2-40B4-BE49-F238E27FC236}">
                <a16:creationId xmlns:a16="http://schemas.microsoft.com/office/drawing/2014/main" id="{991B1D80-6F65-4BBA-A231-3C830CB5A699}"/>
              </a:ext>
            </a:extLst>
          </p:cNvPr>
          <p:cNvSpPr>
            <a:spLocks noGrp="1"/>
          </p:cNvSpPr>
          <p:nvPr/>
        </p:nvSpPr>
        <p:spPr>
          <a:xfrm>
            <a:off x="3636168" y="1542352"/>
            <a:ext cx="2414588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 b="1">
                <a:solidFill>
                  <a:srgbClr val="173E67"/>
                </a:solidFill>
                <a:latin typeface="Calibri"/>
                <a:ea typeface="Calibri"/>
                <a:cs typeface="Calibr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1686C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识别</a:t>
            </a: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173E6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｜锁定业务对象</a:t>
            </a:r>
          </a:p>
        </p:txBody>
      </p:sp>
      <p:sp>
        <p:nvSpPr>
          <p:cNvPr id="98" name="step-1-body">
            <a:extLst>
              <a:ext uri="{FF2B5EF4-FFF2-40B4-BE49-F238E27FC236}">
                <a16:creationId xmlns:a16="http://schemas.microsoft.com/office/drawing/2014/main" id="{C16ECF06-5256-4ED9-BA91-8EA550EC3396}"/>
              </a:ext>
            </a:extLst>
          </p:cNvPr>
          <p:cNvSpPr>
            <a:spLocks noGrp="1"/>
          </p:cNvSpPr>
          <p:nvPr/>
        </p:nvSpPr>
        <p:spPr>
          <a:xfrm>
            <a:off x="3636168" y="1728090"/>
            <a:ext cx="2414588" cy="2357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28" b="0">
                <a:solidFill>
                  <a:srgbClr val="62748A"/>
                </a:solidFill>
                <a:latin typeface="Calibri"/>
                <a:ea typeface="Calibri"/>
                <a:cs typeface="Calibri"/>
              </a:defRPr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62748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锁定客户、会员、HCP、订单等对象及历史范围。</a:t>
            </a:r>
          </a:p>
        </p:txBody>
      </p:sp>
      <p:sp>
        <p:nvSpPr>
          <p:cNvPr id="99" name="step-2-rail">
            <a:extLst>
              <a:ext uri="{FF2B5EF4-FFF2-40B4-BE49-F238E27FC236}">
                <a16:creationId xmlns:a16="http://schemas.microsoft.com/office/drawing/2014/main" id="{761B5302-E504-422C-9E98-C329CFA69E62}"/>
              </a:ext>
            </a:extLst>
          </p:cNvPr>
          <p:cNvSpPr>
            <a:spLocks noGrp="1"/>
          </p:cNvSpPr>
          <p:nvPr/>
        </p:nvSpPr>
        <p:spPr>
          <a:xfrm flipH="1">
            <a:off x="3386137" y="2268984"/>
            <a:ext cx="7144" cy="578644"/>
          </a:xfrm>
          <a:prstGeom prst="line">
            <a:avLst/>
          </a:prstGeom>
          <a:noFill/>
          <a:ln w="19050">
            <a:solidFill>
              <a:srgbClr val="BFD9E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0" name="step-2-bubble">
            <a:extLst>
              <a:ext uri="{FF2B5EF4-FFF2-40B4-BE49-F238E27FC236}">
                <a16:creationId xmlns:a16="http://schemas.microsoft.com/office/drawing/2014/main" id="{54DF4D98-71AA-4FAE-ABFA-DBF10110B36E}"/>
              </a:ext>
            </a:extLst>
          </p:cNvPr>
          <p:cNvSpPr>
            <a:spLocks noGrp="1"/>
          </p:cNvSpPr>
          <p:nvPr/>
        </p:nvSpPr>
        <p:spPr>
          <a:xfrm>
            <a:off x="3250405" y="1990377"/>
            <a:ext cx="285750" cy="285750"/>
          </a:xfrm>
          <a:prstGeom prst="ellipse">
            <a:avLst/>
          </a:prstGeom>
          <a:solidFill>
            <a:srgbClr val="1686C5"/>
          </a:solidFill>
          <a:ln w="0">
            <a:noFill/>
            <a:prstDash val="solid"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01" name="step-2-title">
            <a:extLst>
              <a:ext uri="{FF2B5EF4-FFF2-40B4-BE49-F238E27FC236}">
                <a16:creationId xmlns:a16="http://schemas.microsoft.com/office/drawing/2014/main" id="{5EDA9E1F-2A1B-4E65-9BC4-DBC8728C1091}"/>
              </a:ext>
            </a:extLst>
          </p:cNvPr>
          <p:cNvSpPr>
            <a:spLocks noGrp="1"/>
          </p:cNvSpPr>
          <p:nvPr/>
        </p:nvSpPr>
        <p:spPr>
          <a:xfrm>
            <a:off x="3645633" y="2065039"/>
            <a:ext cx="2414588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 b="1">
                <a:solidFill>
                  <a:srgbClr val="173E67"/>
                </a:solidFill>
                <a:latin typeface="Calibri"/>
                <a:ea typeface="Calibri"/>
                <a:cs typeface="Calibr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1686C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关联</a:t>
            </a: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173E6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｜恢复业务上下文</a:t>
            </a:r>
          </a:p>
        </p:txBody>
      </p:sp>
      <p:sp>
        <p:nvSpPr>
          <p:cNvPr id="102" name="step-2-body">
            <a:extLst>
              <a:ext uri="{FF2B5EF4-FFF2-40B4-BE49-F238E27FC236}">
                <a16:creationId xmlns:a16="http://schemas.microsoft.com/office/drawing/2014/main" id="{B20FBA1B-C9D7-4499-8021-BB8CDFBC89F9}"/>
              </a:ext>
            </a:extLst>
          </p:cNvPr>
          <p:cNvSpPr>
            <a:spLocks noGrp="1"/>
          </p:cNvSpPr>
          <p:nvPr/>
        </p:nvSpPr>
        <p:spPr>
          <a:xfrm>
            <a:off x="3636168" y="2294943"/>
            <a:ext cx="2414588" cy="1571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28" b="0">
                <a:solidFill>
                  <a:srgbClr val="62748A"/>
                </a:solidFill>
                <a:latin typeface="Calibri"/>
                <a:ea typeface="Calibri"/>
                <a:cs typeface="Calibri"/>
              </a:defRPr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62748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保留审批、附件、日志、人员和状态关系。</a:t>
            </a:r>
          </a:p>
        </p:txBody>
      </p:sp>
      <p:sp>
        <p:nvSpPr>
          <p:cNvPr id="106" name="step-3-rail">
            <a:extLst>
              <a:ext uri="{FF2B5EF4-FFF2-40B4-BE49-F238E27FC236}">
                <a16:creationId xmlns:a16="http://schemas.microsoft.com/office/drawing/2014/main" id="{1A2B8CA0-F483-4FB3-9E10-508CCFC56447}"/>
              </a:ext>
            </a:extLst>
          </p:cNvPr>
          <p:cNvSpPr>
            <a:spLocks noGrp="1"/>
          </p:cNvSpPr>
          <p:nvPr/>
        </p:nvSpPr>
        <p:spPr>
          <a:xfrm flipH="1">
            <a:off x="3378993" y="2844055"/>
            <a:ext cx="7144" cy="935831"/>
          </a:xfrm>
          <a:prstGeom prst="line">
            <a:avLst/>
          </a:prstGeom>
          <a:noFill/>
          <a:ln w="19050">
            <a:solidFill>
              <a:srgbClr val="BFD9E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7" name="step-3-bubble">
            <a:extLst>
              <a:ext uri="{FF2B5EF4-FFF2-40B4-BE49-F238E27FC236}">
                <a16:creationId xmlns:a16="http://schemas.microsoft.com/office/drawing/2014/main" id="{B4913671-E0C8-492B-BEF6-76DA2C8418BF}"/>
              </a:ext>
            </a:extLst>
          </p:cNvPr>
          <p:cNvSpPr>
            <a:spLocks noGrp="1"/>
          </p:cNvSpPr>
          <p:nvPr/>
        </p:nvSpPr>
        <p:spPr>
          <a:xfrm>
            <a:off x="3247443" y="2576310"/>
            <a:ext cx="285750" cy="285750"/>
          </a:xfrm>
          <a:prstGeom prst="ellipse">
            <a:avLst/>
          </a:prstGeom>
          <a:solidFill>
            <a:srgbClr val="1686C5"/>
          </a:solidFill>
          <a:ln w="0">
            <a:noFill/>
            <a:prstDash val="solid"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08" name="step-3-title">
            <a:extLst>
              <a:ext uri="{FF2B5EF4-FFF2-40B4-BE49-F238E27FC236}">
                <a16:creationId xmlns:a16="http://schemas.microsoft.com/office/drawing/2014/main" id="{CE8644DB-CC2B-43CD-95A0-87ABA39AFBA5}"/>
              </a:ext>
            </a:extLst>
          </p:cNvPr>
          <p:cNvSpPr>
            <a:spLocks noGrp="1"/>
          </p:cNvSpPr>
          <p:nvPr/>
        </p:nvSpPr>
        <p:spPr>
          <a:xfrm>
            <a:off x="3645633" y="2652713"/>
            <a:ext cx="2414588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 b="1">
                <a:solidFill>
                  <a:srgbClr val="173E67"/>
                </a:solidFill>
                <a:latin typeface="Calibri"/>
                <a:ea typeface="Calibri"/>
                <a:cs typeface="Calibr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1686C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筛选</a:t>
            </a: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173E6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｜明确迁移边界</a:t>
            </a:r>
          </a:p>
        </p:txBody>
      </p:sp>
      <p:sp>
        <p:nvSpPr>
          <p:cNvPr id="109" name="step-3-body">
            <a:extLst>
              <a:ext uri="{FF2B5EF4-FFF2-40B4-BE49-F238E27FC236}">
                <a16:creationId xmlns:a16="http://schemas.microsoft.com/office/drawing/2014/main" id="{7102253F-8699-4C5B-B48D-39B355C0E5EF}"/>
              </a:ext>
            </a:extLst>
          </p:cNvPr>
          <p:cNvSpPr>
            <a:spLocks noGrp="1"/>
          </p:cNvSpPr>
          <p:nvPr/>
        </p:nvSpPr>
        <p:spPr>
          <a:xfrm>
            <a:off x="3645633" y="2853318"/>
            <a:ext cx="2414588" cy="4143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0" name="filter-must">
            <a:extLst>
              <a:ext uri="{FF2B5EF4-FFF2-40B4-BE49-F238E27FC236}">
                <a16:creationId xmlns:a16="http://schemas.microsoft.com/office/drawing/2014/main" id="{A605A138-C340-4ED1-8E67-929D5315C5A4}"/>
              </a:ext>
            </a:extLst>
          </p:cNvPr>
          <p:cNvSpPr>
            <a:spLocks noGrp="1"/>
          </p:cNvSpPr>
          <p:nvPr/>
        </p:nvSpPr>
        <p:spPr>
          <a:xfrm>
            <a:off x="3645633" y="2881894"/>
            <a:ext cx="2328863" cy="135731"/>
          </a:xfrm>
          <a:prstGeom prst="roundRect">
            <a:avLst>
              <a:gd name="adj" fmla="val 21053"/>
            </a:avLst>
          </a:prstGeom>
          <a:solidFill>
            <a:srgbClr val="EAF4FB"/>
          </a:solidFill>
          <a:ln w="5715">
            <a:solidFill>
              <a:srgbClr val="BFD9E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1" name="filter-must-text">
            <a:extLst>
              <a:ext uri="{FF2B5EF4-FFF2-40B4-BE49-F238E27FC236}">
                <a16:creationId xmlns:a16="http://schemas.microsoft.com/office/drawing/2014/main" id="{BB88BB66-69D1-460A-82FE-B85BA22F5161}"/>
              </a:ext>
            </a:extLst>
          </p:cNvPr>
          <p:cNvSpPr>
            <a:spLocks noGrp="1"/>
          </p:cNvSpPr>
          <p:nvPr/>
        </p:nvSpPr>
        <p:spPr>
          <a:xfrm>
            <a:off x="3717070" y="2896181"/>
            <a:ext cx="2185988" cy="1071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60" b="1">
                <a:solidFill>
                  <a:srgbClr val="173E67"/>
                </a:solidFill>
                <a:latin typeface="Calibri"/>
                <a:ea typeface="Calibri"/>
                <a:cs typeface="Calibri"/>
              </a:defRPr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173E6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必迁  主数据｜业务过程｜审计证据｜有效附件</a:t>
            </a:r>
          </a:p>
        </p:txBody>
      </p:sp>
      <p:sp>
        <p:nvSpPr>
          <p:cNvPr id="112" name="filter-cond">
            <a:extLst>
              <a:ext uri="{FF2B5EF4-FFF2-40B4-BE49-F238E27FC236}">
                <a16:creationId xmlns:a16="http://schemas.microsoft.com/office/drawing/2014/main" id="{5644637B-80E1-4AA0-9510-32354F210980}"/>
              </a:ext>
            </a:extLst>
          </p:cNvPr>
          <p:cNvSpPr>
            <a:spLocks noGrp="1"/>
          </p:cNvSpPr>
          <p:nvPr/>
        </p:nvSpPr>
        <p:spPr>
          <a:xfrm>
            <a:off x="3645633" y="3039056"/>
            <a:ext cx="2328863" cy="135731"/>
          </a:xfrm>
          <a:prstGeom prst="roundRect">
            <a:avLst>
              <a:gd name="adj" fmla="val 21053"/>
            </a:avLst>
          </a:prstGeom>
          <a:solidFill>
            <a:srgbClr val="F4F8FB"/>
          </a:solidFill>
          <a:ln w="5715">
            <a:solidFill>
              <a:srgbClr val="D7E5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3" name="filter-cond-text">
            <a:extLst>
              <a:ext uri="{FF2B5EF4-FFF2-40B4-BE49-F238E27FC236}">
                <a16:creationId xmlns:a16="http://schemas.microsoft.com/office/drawing/2014/main" id="{4CD86D38-C57D-4F84-8756-53CF12167710}"/>
              </a:ext>
            </a:extLst>
          </p:cNvPr>
          <p:cNvSpPr>
            <a:spLocks noGrp="1"/>
          </p:cNvSpPr>
          <p:nvPr/>
        </p:nvSpPr>
        <p:spPr>
          <a:xfrm>
            <a:off x="3717070" y="3053344"/>
            <a:ext cx="2185988" cy="1071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60" b="1">
                <a:solidFill>
                  <a:srgbClr val="34495E"/>
                </a:solidFill>
                <a:latin typeface="Calibri"/>
                <a:ea typeface="Calibri"/>
                <a:cs typeface="Calibri"/>
              </a:defRPr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34495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按需  必要配置｜字典｜部分日志/快照</a:t>
            </a:r>
          </a:p>
        </p:txBody>
      </p:sp>
      <p:sp>
        <p:nvSpPr>
          <p:cNvPr id="114" name="filter-no">
            <a:extLst>
              <a:ext uri="{FF2B5EF4-FFF2-40B4-BE49-F238E27FC236}">
                <a16:creationId xmlns:a16="http://schemas.microsoft.com/office/drawing/2014/main" id="{E046716E-BA66-4A5D-B6DD-DDE4747B108D}"/>
              </a:ext>
            </a:extLst>
          </p:cNvPr>
          <p:cNvSpPr>
            <a:spLocks noGrp="1"/>
          </p:cNvSpPr>
          <p:nvPr/>
        </p:nvSpPr>
        <p:spPr>
          <a:xfrm>
            <a:off x="3645633" y="3196219"/>
            <a:ext cx="2328863" cy="135731"/>
          </a:xfrm>
          <a:prstGeom prst="roundRect">
            <a:avLst>
              <a:gd name="adj" fmla="val 21053"/>
            </a:avLst>
          </a:prstGeom>
          <a:solidFill>
            <a:srgbClr val="EEF3F6"/>
          </a:solidFill>
          <a:ln w="5715">
            <a:solidFill>
              <a:srgbClr val="D7E5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5" name="filter-no-text">
            <a:extLst>
              <a:ext uri="{FF2B5EF4-FFF2-40B4-BE49-F238E27FC236}">
                <a16:creationId xmlns:a16="http://schemas.microsoft.com/office/drawing/2014/main" id="{7084AD20-561D-44CC-9373-A580E2FED44A}"/>
              </a:ext>
            </a:extLst>
          </p:cNvPr>
          <p:cNvSpPr>
            <a:spLocks noGrp="1"/>
          </p:cNvSpPr>
          <p:nvPr/>
        </p:nvSpPr>
        <p:spPr>
          <a:xfrm>
            <a:off x="3717070" y="3210506"/>
            <a:ext cx="2185988" cy="1071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60" b="1">
                <a:solidFill>
                  <a:srgbClr val="738292"/>
                </a:solidFill>
                <a:latin typeface="Calibri"/>
                <a:ea typeface="Calibri"/>
                <a:cs typeface="Calibri"/>
              </a:defRPr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738292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不迁  缓存｜临时/测试｜重复备份｜可再生文件</a:t>
            </a:r>
          </a:p>
        </p:txBody>
      </p:sp>
      <p:sp>
        <p:nvSpPr>
          <p:cNvPr id="116" name="step-4-bubble">
            <a:extLst>
              <a:ext uri="{FF2B5EF4-FFF2-40B4-BE49-F238E27FC236}">
                <a16:creationId xmlns:a16="http://schemas.microsoft.com/office/drawing/2014/main" id="{676E54DF-EB31-456C-A2DB-EADA55B0479E}"/>
              </a:ext>
            </a:extLst>
          </p:cNvPr>
          <p:cNvSpPr>
            <a:spLocks noGrp="1"/>
          </p:cNvSpPr>
          <p:nvPr/>
        </p:nvSpPr>
        <p:spPr>
          <a:xfrm>
            <a:off x="3250405" y="3619152"/>
            <a:ext cx="285750" cy="285750"/>
          </a:xfrm>
          <a:prstGeom prst="ellipse">
            <a:avLst/>
          </a:prstGeom>
          <a:solidFill>
            <a:srgbClr val="1686C5"/>
          </a:solidFill>
          <a:ln w="0">
            <a:noFill/>
            <a:prstDash val="solid"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17" name="step-4-title">
            <a:extLst>
              <a:ext uri="{FF2B5EF4-FFF2-40B4-BE49-F238E27FC236}">
                <a16:creationId xmlns:a16="http://schemas.microsoft.com/office/drawing/2014/main" id="{16079C95-704E-4ED2-8FDB-E9542E4553BA}"/>
              </a:ext>
            </a:extLst>
          </p:cNvPr>
          <p:cNvSpPr>
            <a:spLocks noGrp="1"/>
          </p:cNvSpPr>
          <p:nvPr/>
        </p:nvSpPr>
        <p:spPr>
          <a:xfrm>
            <a:off x="3636168" y="3619152"/>
            <a:ext cx="2414588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 b="1">
                <a:solidFill>
                  <a:srgbClr val="173E67"/>
                </a:solidFill>
                <a:latin typeface="Calibri"/>
                <a:ea typeface="Calibri"/>
                <a:cs typeface="Calibr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1686C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校验</a:t>
            </a: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173E6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｜确保完整、可查、可追溯</a:t>
            </a:r>
          </a:p>
        </p:txBody>
      </p:sp>
      <p:sp>
        <p:nvSpPr>
          <p:cNvPr id="118" name="step-4-body">
            <a:extLst>
              <a:ext uri="{FF2B5EF4-FFF2-40B4-BE49-F238E27FC236}">
                <a16:creationId xmlns:a16="http://schemas.microsoft.com/office/drawing/2014/main" id="{C74B64D2-7396-4439-B5CB-4310258AED40}"/>
              </a:ext>
            </a:extLst>
          </p:cNvPr>
          <p:cNvSpPr>
            <a:spLocks noGrp="1"/>
          </p:cNvSpPr>
          <p:nvPr/>
        </p:nvSpPr>
        <p:spPr>
          <a:xfrm>
            <a:off x="3636168" y="3804889"/>
            <a:ext cx="2414588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28" b="0">
                <a:solidFill>
                  <a:srgbClr val="62748A"/>
                </a:solidFill>
                <a:latin typeface="Calibri"/>
                <a:ea typeface="Calibri"/>
                <a:cs typeface="Calibri"/>
              </a:defRPr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62748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核对记录、金额、关联、附件与哈希。</a:t>
            </a:r>
          </a:p>
        </p:txBody>
      </p:sp>
      <p:sp>
        <p:nvSpPr>
          <p:cNvPr id="119" name="target-num">
            <a:extLst>
              <a:ext uri="{FF2B5EF4-FFF2-40B4-BE49-F238E27FC236}">
                <a16:creationId xmlns:a16="http://schemas.microsoft.com/office/drawing/2014/main" id="{4666983F-988F-4DAE-B21F-55B92098238C}"/>
              </a:ext>
            </a:extLst>
          </p:cNvPr>
          <p:cNvSpPr>
            <a:spLocks noGrp="1"/>
          </p:cNvSpPr>
          <p:nvPr/>
        </p:nvSpPr>
        <p:spPr>
          <a:xfrm>
            <a:off x="6250780" y="1211708"/>
            <a:ext cx="2000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1686C5"/>
                </a:solidFill>
                <a:latin typeface="Calibri"/>
                <a:ea typeface="Calibri"/>
                <a:cs typeface="Calibri"/>
              </a:defRPr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1686C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20" name="target-title">
            <a:extLst>
              <a:ext uri="{FF2B5EF4-FFF2-40B4-BE49-F238E27FC236}">
                <a16:creationId xmlns:a16="http://schemas.microsoft.com/office/drawing/2014/main" id="{71C3DC07-7C7B-4706-A53A-A2CD4E3FD912}"/>
              </a:ext>
            </a:extLst>
          </p:cNvPr>
          <p:cNvSpPr>
            <a:spLocks noGrp="1"/>
          </p:cNvSpPr>
          <p:nvPr/>
        </p:nvSpPr>
        <p:spPr>
          <a:xfrm>
            <a:off x="6493668" y="1211708"/>
            <a:ext cx="2064544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173E67"/>
                </a:solidFill>
                <a:latin typeface="Calibri"/>
                <a:ea typeface="Calibri"/>
                <a:cs typeface="Calibri"/>
              </a:defRPr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173E6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China RIMS目标归档结构</a:t>
            </a:r>
          </a:p>
        </p:txBody>
      </p:sp>
      <p:sp>
        <p:nvSpPr>
          <p:cNvPr id="121" name="target-rule">
            <a:extLst>
              <a:ext uri="{FF2B5EF4-FFF2-40B4-BE49-F238E27FC236}">
                <a16:creationId xmlns:a16="http://schemas.microsoft.com/office/drawing/2014/main" id="{056478CF-6C8D-440D-93E4-548CD39F8F92}"/>
              </a:ext>
            </a:extLst>
          </p:cNvPr>
          <p:cNvSpPr>
            <a:spLocks noGrp="1"/>
          </p:cNvSpPr>
          <p:nvPr/>
        </p:nvSpPr>
        <p:spPr>
          <a:xfrm>
            <a:off x="6250781" y="1418877"/>
            <a:ext cx="2307431" cy="7144"/>
          </a:xfrm>
          <a:prstGeom prst="line">
            <a:avLst/>
          </a:prstGeom>
          <a:noFill/>
          <a:ln w="9525">
            <a:solidFill>
              <a:srgbClr val="BFD9E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2" name="archive-frame">
            <a:extLst>
              <a:ext uri="{FF2B5EF4-FFF2-40B4-BE49-F238E27FC236}">
                <a16:creationId xmlns:a16="http://schemas.microsoft.com/office/drawing/2014/main" id="{18783FB6-5128-4820-B563-F0F1489D1CB6}"/>
              </a:ext>
            </a:extLst>
          </p:cNvPr>
          <p:cNvSpPr>
            <a:spLocks noGrp="1"/>
          </p:cNvSpPr>
          <p:nvPr/>
        </p:nvSpPr>
        <p:spPr>
          <a:xfrm>
            <a:off x="6250781" y="1490315"/>
            <a:ext cx="2307431" cy="2450306"/>
          </a:xfrm>
          <a:prstGeom prst="roundRect">
            <a:avLst>
              <a:gd name="adj" fmla="val 2477"/>
            </a:avLst>
          </a:prstGeom>
          <a:solidFill>
            <a:srgbClr val="FFFFFF"/>
          </a:solidFill>
          <a:ln w="13335">
            <a:solidFill>
              <a:srgbClr val="1686C5"/>
            </a:solidFill>
            <a:prstDash val="solid"/>
          </a:ln>
        </p:spPr>
        <p:txBody>
          <a:bodyPr lIns="128588" tIns="71438" rIns="128588" bIns="2143125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88" b="1">
                <a:solidFill>
                  <a:srgbClr val="173E67"/>
                </a:solidFill>
                <a:latin typeface="Calibri"/>
                <a:ea typeface="Calibri"/>
                <a:cs typeface="Calibr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173E6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统一业务归档单元</a:t>
            </a:r>
          </a:p>
        </p:txBody>
      </p:sp>
      <p:sp>
        <p:nvSpPr>
          <p:cNvPr id="123" name="layer-1-layer">
            <a:extLst>
              <a:ext uri="{FF2B5EF4-FFF2-40B4-BE49-F238E27FC236}">
                <a16:creationId xmlns:a16="http://schemas.microsoft.com/office/drawing/2014/main" id="{3FAB2953-3719-44CC-A7DA-4A66594FDEEF}"/>
              </a:ext>
            </a:extLst>
          </p:cNvPr>
          <p:cNvSpPr>
            <a:spLocks noGrp="1"/>
          </p:cNvSpPr>
          <p:nvPr/>
        </p:nvSpPr>
        <p:spPr>
          <a:xfrm>
            <a:off x="6379368" y="1804639"/>
            <a:ext cx="2050256" cy="350044"/>
          </a:xfrm>
          <a:prstGeom prst="roundRect">
            <a:avLst>
              <a:gd name="adj" fmla="val 12245"/>
            </a:avLst>
          </a:prstGeom>
          <a:solidFill>
            <a:srgbClr val="EAF4FB"/>
          </a:solidFill>
          <a:ln w="7620">
            <a:solidFill>
              <a:srgbClr val="BFD9E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4" name="layer-1-index">
            <a:extLst>
              <a:ext uri="{FF2B5EF4-FFF2-40B4-BE49-F238E27FC236}">
                <a16:creationId xmlns:a16="http://schemas.microsoft.com/office/drawing/2014/main" id="{0F02FD07-BA45-4BA3-9551-40F6FA7761BB}"/>
              </a:ext>
            </a:extLst>
          </p:cNvPr>
          <p:cNvSpPr>
            <a:spLocks noGrp="1"/>
          </p:cNvSpPr>
          <p:nvPr/>
        </p:nvSpPr>
        <p:spPr>
          <a:xfrm>
            <a:off x="6465093" y="1861789"/>
            <a:ext cx="171450" cy="2357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63" b="1">
                <a:solidFill>
                  <a:srgbClr val="1686C5"/>
                </a:solidFill>
                <a:latin typeface="Calibri"/>
                <a:ea typeface="Calibri"/>
                <a:cs typeface="Calibri"/>
              </a:defRPr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1686C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5" name="layer-1-title">
            <a:extLst>
              <a:ext uri="{FF2B5EF4-FFF2-40B4-BE49-F238E27FC236}">
                <a16:creationId xmlns:a16="http://schemas.microsoft.com/office/drawing/2014/main" id="{78160798-8646-4553-BA08-9C994D5342CB}"/>
              </a:ext>
            </a:extLst>
          </p:cNvPr>
          <p:cNvSpPr>
            <a:spLocks noGrp="1"/>
          </p:cNvSpPr>
          <p:nvPr/>
        </p:nvSpPr>
        <p:spPr>
          <a:xfrm>
            <a:off x="6686549" y="1847502"/>
            <a:ext cx="16573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63" b="1">
                <a:solidFill>
                  <a:srgbClr val="173E67"/>
                </a:solidFill>
                <a:latin typeface="Calibri"/>
                <a:ea typeface="Calibri"/>
                <a:cs typeface="Calibri"/>
              </a:defRPr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173E6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Business Record</a:t>
            </a:r>
          </a:p>
        </p:txBody>
      </p:sp>
      <p:sp>
        <p:nvSpPr>
          <p:cNvPr id="126" name="layer-1-body">
            <a:extLst>
              <a:ext uri="{FF2B5EF4-FFF2-40B4-BE49-F238E27FC236}">
                <a16:creationId xmlns:a16="http://schemas.microsoft.com/office/drawing/2014/main" id="{0A83D862-8DF2-4837-8FF4-21122E2C4A31}"/>
              </a:ext>
            </a:extLst>
          </p:cNvPr>
          <p:cNvSpPr>
            <a:spLocks noGrp="1"/>
          </p:cNvSpPr>
          <p:nvPr/>
        </p:nvSpPr>
        <p:spPr>
          <a:xfrm>
            <a:off x="6686549" y="1990376"/>
            <a:ext cx="1657350" cy="1285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82" b="0">
                <a:solidFill>
                  <a:srgbClr val="62748A"/>
                </a:solidFill>
                <a:latin typeface="Calibri"/>
                <a:ea typeface="Calibri"/>
                <a:cs typeface="Calibri"/>
              </a:defRPr>
            </a:pPr>
            <a:r>
              <a:rPr kumimoji="0" sz="700" b="0" i="0" u="none" strike="noStrike" kern="1200" cap="none" spc="0" normalizeH="0" baseline="0" noProof="0">
                <a:ln>
                  <a:noFill/>
                </a:ln>
                <a:solidFill>
                  <a:srgbClr val="62748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工单｜订单｜活动｜费用｜审批</a:t>
            </a:r>
          </a:p>
        </p:txBody>
      </p:sp>
      <p:sp>
        <p:nvSpPr>
          <p:cNvPr id="127" name="layer-2-layer">
            <a:extLst>
              <a:ext uri="{FF2B5EF4-FFF2-40B4-BE49-F238E27FC236}">
                <a16:creationId xmlns:a16="http://schemas.microsoft.com/office/drawing/2014/main" id="{D015767D-9E10-493F-A6EE-7B31CA3E05F6}"/>
              </a:ext>
            </a:extLst>
          </p:cNvPr>
          <p:cNvSpPr>
            <a:spLocks noGrp="1"/>
          </p:cNvSpPr>
          <p:nvPr/>
        </p:nvSpPr>
        <p:spPr>
          <a:xfrm>
            <a:off x="6379368" y="2190402"/>
            <a:ext cx="2050256" cy="350044"/>
          </a:xfrm>
          <a:prstGeom prst="roundRect">
            <a:avLst>
              <a:gd name="adj" fmla="val 12245"/>
            </a:avLst>
          </a:prstGeom>
          <a:solidFill>
            <a:srgbClr val="F4F8FB"/>
          </a:solidFill>
          <a:ln w="7620">
            <a:solidFill>
              <a:srgbClr val="BFD9E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8" name="layer-2-index">
            <a:extLst>
              <a:ext uri="{FF2B5EF4-FFF2-40B4-BE49-F238E27FC236}">
                <a16:creationId xmlns:a16="http://schemas.microsoft.com/office/drawing/2014/main" id="{0913830B-8C5B-49B6-87DF-6BF30869DADD}"/>
              </a:ext>
            </a:extLst>
          </p:cNvPr>
          <p:cNvSpPr>
            <a:spLocks noGrp="1"/>
          </p:cNvSpPr>
          <p:nvPr/>
        </p:nvSpPr>
        <p:spPr>
          <a:xfrm>
            <a:off x="6465093" y="2247552"/>
            <a:ext cx="171450" cy="2357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63" b="1">
                <a:solidFill>
                  <a:srgbClr val="1686C5"/>
                </a:solidFill>
                <a:latin typeface="Calibri"/>
                <a:ea typeface="Calibri"/>
                <a:cs typeface="Calibri"/>
              </a:defRPr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1686C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29" name="layer-2-title">
            <a:extLst>
              <a:ext uri="{FF2B5EF4-FFF2-40B4-BE49-F238E27FC236}">
                <a16:creationId xmlns:a16="http://schemas.microsoft.com/office/drawing/2014/main" id="{5024328D-6BB8-4526-80D0-A8D988EF0E8F}"/>
              </a:ext>
            </a:extLst>
          </p:cNvPr>
          <p:cNvSpPr>
            <a:spLocks noGrp="1"/>
          </p:cNvSpPr>
          <p:nvPr/>
        </p:nvSpPr>
        <p:spPr>
          <a:xfrm>
            <a:off x="6686549" y="2233264"/>
            <a:ext cx="16573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63" b="1">
                <a:solidFill>
                  <a:srgbClr val="173E67"/>
                </a:solidFill>
                <a:latin typeface="Calibri"/>
                <a:ea typeface="Calibri"/>
                <a:cs typeface="Calibri"/>
              </a:defRPr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173E6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Master &amp; Reference Data</a:t>
            </a:r>
          </a:p>
        </p:txBody>
      </p:sp>
      <p:sp>
        <p:nvSpPr>
          <p:cNvPr id="130" name="layer-2-body">
            <a:extLst>
              <a:ext uri="{FF2B5EF4-FFF2-40B4-BE49-F238E27FC236}">
                <a16:creationId xmlns:a16="http://schemas.microsoft.com/office/drawing/2014/main" id="{9E68039F-87BB-42AF-84AC-020EB7587AD8}"/>
              </a:ext>
            </a:extLst>
          </p:cNvPr>
          <p:cNvSpPr>
            <a:spLocks noGrp="1"/>
          </p:cNvSpPr>
          <p:nvPr/>
        </p:nvSpPr>
        <p:spPr>
          <a:xfrm>
            <a:off x="6686549" y="2376139"/>
            <a:ext cx="1657350" cy="1285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82" b="0">
                <a:solidFill>
                  <a:srgbClr val="62748A"/>
                </a:solidFill>
                <a:latin typeface="Calibri"/>
                <a:ea typeface="Calibri"/>
                <a:cs typeface="Calibri"/>
              </a:defRPr>
            </a:pPr>
            <a:r>
              <a:rPr kumimoji="0" sz="700" b="0" i="0" u="none" strike="noStrike" kern="1200" cap="none" spc="0" normalizeH="0" baseline="0" noProof="0">
                <a:ln>
                  <a:noFill/>
                </a:ln>
                <a:solidFill>
                  <a:srgbClr val="62748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客户｜会员｜HCP｜产品｜供应商</a:t>
            </a:r>
          </a:p>
        </p:txBody>
      </p:sp>
      <p:sp>
        <p:nvSpPr>
          <p:cNvPr id="131" name="layer-3-layer">
            <a:extLst>
              <a:ext uri="{FF2B5EF4-FFF2-40B4-BE49-F238E27FC236}">
                <a16:creationId xmlns:a16="http://schemas.microsoft.com/office/drawing/2014/main" id="{551901A0-477D-437E-89C2-437981B0C004}"/>
              </a:ext>
            </a:extLst>
          </p:cNvPr>
          <p:cNvSpPr>
            <a:spLocks noGrp="1"/>
          </p:cNvSpPr>
          <p:nvPr/>
        </p:nvSpPr>
        <p:spPr>
          <a:xfrm>
            <a:off x="6379368" y="2576164"/>
            <a:ext cx="2050256" cy="350044"/>
          </a:xfrm>
          <a:prstGeom prst="roundRect">
            <a:avLst>
              <a:gd name="adj" fmla="val 12245"/>
            </a:avLst>
          </a:prstGeom>
          <a:solidFill>
            <a:srgbClr val="EAF4FB"/>
          </a:solidFill>
          <a:ln w="7620">
            <a:solidFill>
              <a:srgbClr val="BFD9E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2" name="layer-3-index">
            <a:extLst>
              <a:ext uri="{FF2B5EF4-FFF2-40B4-BE49-F238E27FC236}">
                <a16:creationId xmlns:a16="http://schemas.microsoft.com/office/drawing/2014/main" id="{72A5CBF1-D5D0-432E-98FA-C8E4142956A6}"/>
              </a:ext>
            </a:extLst>
          </p:cNvPr>
          <p:cNvSpPr>
            <a:spLocks noGrp="1"/>
          </p:cNvSpPr>
          <p:nvPr/>
        </p:nvSpPr>
        <p:spPr>
          <a:xfrm>
            <a:off x="6465093" y="2633314"/>
            <a:ext cx="171450" cy="2357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63" b="1">
                <a:solidFill>
                  <a:srgbClr val="1686C5"/>
                </a:solidFill>
                <a:latin typeface="Calibri"/>
                <a:ea typeface="Calibri"/>
                <a:cs typeface="Calibri"/>
              </a:defRPr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1686C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33" name="layer-3-title">
            <a:extLst>
              <a:ext uri="{FF2B5EF4-FFF2-40B4-BE49-F238E27FC236}">
                <a16:creationId xmlns:a16="http://schemas.microsoft.com/office/drawing/2014/main" id="{6AEAC441-3222-4D06-AD13-01143FF1C7FD}"/>
              </a:ext>
            </a:extLst>
          </p:cNvPr>
          <p:cNvSpPr>
            <a:spLocks noGrp="1"/>
          </p:cNvSpPr>
          <p:nvPr/>
        </p:nvSpPr>
        <p:spPr>
          <a:xfrm>
            <a:off x="6686549" y="2619027"/>
            <a:ext cx="16573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63" b="1">
                <a:solidFill>
                  <a:srgbClr val="173E67"/>
                </a:solidFill>
                <a:latin typeface="Calibri"/>
                <a:ea typeface="Calibri"/>
                <a:cs typeface="Calibri"/>
              </a:defRPr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173E6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Documents &amp; Attachments</a:t>
            </a:r>
          </a:p>
        </p:txBody>
      </p:sp>
      <p:sp>
        <p:nvSpPr>
          <p:cNvPr id="134" name="layer-3-body">
            <a:extLst>
              <a:ext uri="{FF2B5EF4-FFF2-40B4-BE49-F238E27FC236}">
                <a16:creationId xmlns:a16="http://schemas.microsoft.com/office/drawing/2014/main" id="{8EEAFF25-442D-448F-9768-E82AE1B3A3F5}"/>
              </a:ext>
            </a:extLst>
          </p:cNvPr>
          <p:cNvSpPr>
            <a:spLocks noGrp="1"/>
          </p:cNvSpPr>
          <p:nvPr/>
        </p:nvSpPr>
        <p:spPr>
          <a:xfrm>
            <a:off x="6686549" y="2761901"/>
            <a:ext cx="1657350" cy="1285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82" b="0">
                <a:solidFill>
                  <a:srgbClr val="62748A"/>
                </a:solidFill>
                <a:latin typeface="Calibri"/>
                <a:ea typeface="Calibri"/>
                <a:cs typeface="Calibri"/>
              </a:defRPr>
            </a:pPr>
            <a:r>
              <a:rPr kumimoji="0" sz="700" b="0" i="0" u="none" strike="noStrike" kern="1200" cap="none" spc="0" normalizeH="0" baseline="0" noProof="0">
                <a:ln>
                  <a:noFill/>
                </a:ln>
                <a:solidFill>
                  <a:srgbClr val="62748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合同｜发票｜报告｜图片｜签名</a:t>
            </a:r>
          </a:p>
        </p:txBody>
      </p:sp>
      <p:sp>
        <p:nvSpPr>
          <p:cNvPr id="135" name="layer-4-layer">
            <a:extLst>
              <a:ext uri="{FF2B5EF4-FFF2-40B4-BE49-F238E27FC236}">
                <a16:creationId xmlns:a16="http://schemas.microsoft.com/office/drawing/2014/main" id="{3D60F841-785D-4E9C-AF9B-03DA18F8AD61}"/>
              </a:ext>
            </a:extLst>
          </p:cNvPr>
          <p:cNvSpPr>
            <a:spLocks noGrp="1"/>
          </p:cNvSpPr>
          <p:nvPr/>
        </p:nvSpPr>
        <p:spPr>
          <a:xfrm>
            <a:off x="6379368" y="2961927"/>
            <a:ext cx="2050256" cy="350044"/>
          </a:xfrm>
          <a:prstGeom prst="roundRect">
            <a:avLst>
              <a:gd name="adj" fmla="val 12245"/>
            </a:avLst>
          </a:prstGeom>
          <a:solidFill>
            <a:srgbClr val="F4F8FB"/>
          </a:solidFill>
          <a:ln w="7620">
            <a:solidFill>
              <a:srgbClr val="BFD9E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6" name="layer-4-index">
            <a:extLst>
              <a:ext uri="{FF2B5EF4-FFF2-40B4-BE49-F238E27FC236}">
                <a16:creationId xmlns:a16="http://schemas.microsoft.com/office/drawing/2014/main" id="{836AFC7A-1547-4EED-B9DB-073847CF7E4C}"/>
              </a:ext>
            </a:extLst>
          </p:cNvPr>
          <p:cNvSpPr>
            <a:spLocks noGrp="1"/>
          </p:cNvSpPr>
          <p:nvPr/>
        </p:nvSpPr>
        <p:spPr>
          <a:xfrm>
            <a:off x="6465093" y="3019077"/>
            <a:ext cx="171450" cy="2357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63" b="1">
                <a:solidFill>
                  <a:srgbClr val="1686C5"/>
                </a:solidFill>
                <a:latin typeface="Calibri"/>
                <a:ea typeface="Calibri"/>
                <a:cs typeface="Calibri"/>
              </a:defRPr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1686C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37" name="layer-4-title">
            <a:extLst>
              <a:ext uri="{FF2B5EF4-FFF2-40B4-BE49-F238E27FC236}">
                <a16:creationId xmlns:a16="http://schemas.microsoft.com/office/drawing/2014/main" id="{468CEECA-3F76-466E-B06A-5751451FEC8D}"/>
              </a:ext>
            </a:extLst>
          </p:cNvPr>
          <p:cNvSpPr>
            <a:spLocks noGrp="1"/>
          </p:cNvSpPr>
          <p:nvPr/>
        </p:nvSpPr>
        <p:spPr>
          <a:xfrm>
            <a:off x="6686549" y="3004789"/>
            <a:ext cx="16573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63" b="1">
                <a:solidFill>
                  <a:srgbClr val="173E67"/>
                </a:solidFill>
                <a:latin typeface="Calibri"/>
                <a:ea typeface="Calibri"/>
                <a:cs typeface="Calibri"/>
              </a:defRPr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173E6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Metadata &amp; Relationships</a:t>
            </a:r>
          </a:p>
        </p:txBody>
      </p:sp>
      <p:sp>
        <p:nvSpPr>
          <p:cNvPr id="138" name="layer-4-body">
            <a:extLst>
              <a:ext uri="{FF2B5EF4-FFF2-40B4-BE49-F238E27FC236}">
                <a16:creationId xmlns:a16="http://schemas.microsoft.com/office/drawing/2014/main" id="{75496728-1C63-41A4-ACCA-D13F48BED02C}"/>
              </a:ext>
            </a:extLst>
          </p:cNvPr>
          <p:cNvSpPr>
            <a:spLocks noGrp="1"/>
          </p:cNvSpPr>
          <p:nvPr/>
        </p:nvSpPr>
        <p:spPr>
          <a:xfrm>
            <a:off x="6686549" y="3147664"/>
            <a:ext cx="1657350" cy="1285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82" b="0">
                <a:solidFill>
                  <a:srgbClr val="62748A"/>
                </a:solidFill>
                <a:latin typeface="Calibri"/>
                <a:ea typeface="Calibri"/>
                <a:cs typeface="Calibri"/>
              </a:defRPr>
            </a:pPr>
            <a:r>
              <a:rPr kumimoji="0" sz="700" b="0" i="0" u="none" strike="noStrike" kern="1200" cap="none" spc="0" normalizeH="0" baseline="0" noProof="0">
                <a:ln>
                  <a:noFill/>
                </a:ln>
                <a:solidFill>
                  <a:srgbClr val="62748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源系统｜原始ID｜时间｜状态｜关系</a:t>
            </a:r>
          </a:p>
        </p:txBody>
      </p:sp>
      <p:sp>
        <p:nvSpPr>
          <p:cNvPr id="139" name="layer-5-layer">
            <a:extLst>
              <a:ext uri="{FF2B5EF4-FFF2-40B4-BE49-F238E27FC236}">
                <a16:creationId xmlns:a16="http://schemas.microsoft.com/office/drawing/2014/main" id="{3607479F-7262-4DE9-A8CB-6A94E30F4DB6}"/>
              </a:ext>
            </a:extLst>
          </p:cNvPr>
          <p:cNvSpPr>
            <a:spLocks noGrp="1"/>
          </p:cNvSpPr>
          <p:nvPr/>
        </p:nvSpPr>
        <p:spPr>
          <a:xfrm>
            <a:off x="6379368" y="3347689"/>
            <a:ext cx="2050256" cy="350044"/>
          </a:xfrm>
          <a:prstGeom prst="roundRect">
            <a:avLst>
              <a:gd name="adj" fmla="val 12245"/>
            </a:avLst>
          </a:prstGeom>
          <a:solidFill>
            <a:srgbClr val="EAF4FB"/>
          </a:solidFill>
          <a:ln w="7620">
            <a:solidFill>
              <a:srgbClr val="BFD9E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0" name="layer-5-index">
            <a:extLst>
              <a:ext uri="{FF2B5EF4-FFF2-40B4-BE49-F238E27FC236}">
                <a16:creationId xmlns:a16="http://schemas.microsoft.com/office/drawing/2014/main" id="{7058BEA2-5649-4672-B8BC-64E473D385BA}"/>
              </a:ext>
            </a:extLst>
          </p:cNvPr>
          <p:cNvSpPr>
            <a:spLocks noGrp="1"/>
          </p:cNvSpPr>
          <p:nvPr/>
        </p:nvSpPr>
        <p:spPr>
          <a:xfrm>
            <a:off x="6465093" y="3404839"/>
            <a:ext cx="171450" cy="2357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63" b="1">
                <a:solidFill>
                  <a:srgbClr val="1686C5"/>
                </a:solidFill>
                <a:latin typeface="Calibri"/>
                <a:ea typeface="Calibri"/>
                <a:cs typeface="Calibri"/>
              </a:defRPr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1686C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141" name="layer-5-title">
            <a:extLst>
              <a:ext uri="{FF2B5EF4-FFF2-40B4-BE49-F238E27FC236}">
                <a16:creationId xmlns:a16="http://schemas.microsoft.com/office/drawing/2014/main" id="{F2836A1C-B569-466B-8192-2090E09BA4EF}"/>
              </a:ext>
            </a:extLst>
          </p:cNvPr>
          <p:cNvSpPr>
            <a:spLocks noGrp="1"/>
          </p:cNvSpPr>
          <p:nvPr/>
        </p:nvSpPr>
        <p:spPr>
          <a:xfrm>
            <a:off x="6686549" y="3390552"/>
            <a:ext cx="16573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63" b="1">
                <a:solidFill>
                  <a:srgbClr val="173E67"/>
                </a:solidFill>
                <a:latin typeface="Calibri"/>
                <a:ea typeface="Calibri"/>
                <a:cs typeface="Calibri"/>
              </a:defRPr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173E6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Audit &amp; Retention</a:t>
            </a:r>
          </a:p>
        </p:txBody>
      </p:sp>
      <p:sp>
        <p:nvSpPr>
          <p:cNvPr id="142" name="layer-5-body">
            <a:extLst>
              <a:ext uri="{FF2B5EF4-FFF2-40B4-BE49-F238E27FC236}">
                <a16:creationId xmlns:a16="http://schemas.microsoft.com/office/drawing/2014/main" id="{12B3154A-DE28-4CA6-86EE-73AB798CA394}"/>
              </a:ext>
            </a:extLst>
          </p:cNvPr>
          <p:cNvSpPr>
            <a:spLocks noGrp="1"/>
          </p:cNvSpPr>
          <p:nvPr/>
        </p:nvSpPr>
        <p:spPr>
          <a:xfrm>
            <a:off x="6686549" y="3533426"/>
            <a:ext cx="1657350" cy="1285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82" b="0">
                <a:solidFill>
                  <a:srgbClr val="62748A"/>
                </a:solidFill>
                <a:latin typeface="Calibri"/>
                <a:ea typeface="Calibri"/>
                <a:cs typeface="Calibri"/>
              </a:defRPr>
            </a:pPr>
            <a:r>
              <a:rPr kumimoji="0" sz="700" b="0" i="0" u="none" strike="noStrike" kern="1200" cap="none" spc="0" normalizeH="0" baseline="0" noProof="0">
                <a:ln>
                  <a:noFill/>
                </a:ln>
                <a:solidFill>
                  <a:srgbClr val="62748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审批历史｜操作日志｜留存｜权限</a:t>
            </a:r>
          </a:p>
        </p:txBody>
      </p:sp>
      <p:sp>
        <p:nvSpPr>
          <p:cNvPr id="143" name="result-1">
            <a:extLst>
              <a:ext uri="{FF2B5EF4-FFF2-40B4-BE49-F238E27FC236}">
                <a16:creationId xmlns:a16="http://schemas.microsoft.com/office/drawing/2014/main" id="{03AE47CE-F685-4716-8D3F-6F84FDBBBED9}"/>
              </a:ext>
            </a:extLst>
          </p:cNvPr>
          <p:cNvSpPr>
            <a:spLocks noGrp="1"/>
          </p:cNvSpPr>
          <p:nvPr/>
        </p:nvSpPr>
        <p:spPr>
          <a:xfrm>
            <a:off x="6436518" y="3754883"/>
            <a:ext cx="585788" cy="1285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668">
            <a:solidFill>
              <a:srgbClr val="BFD9EC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65" b="1">
                <a:solidFill>
                  <a:srgbClr val="1686C5"/>
                </a:solidFill>
                <a:latin typeface="Calibri"/>
                <a:ea typeface="Calibri"/>
                <a:cs typeface="Calibri"/>
              </a:defRPr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1686C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可查询</a:t>
            </a:r>
          </a:p>
        </p:txBody>
      </p:sp>
      <p:sp>
        <p:nvSpPr>
          <p:cNvPr id="144" name="result-2">
            <a:extLst>
              <a:ext uri="{FF2B5EF4-FFF2-40B4-BE49-F238E27FC236}">
                <a16:creationId xmlns:a16="http://schemas.microsoft.com/office/drawing/2014/main" id="{D860D561-61B6-4B87-BFC8-8C57E5FB0A77}"/>
              </a:ext>
            </a:extLst>
          </p:cNvPr>
          <p:cNvSpPr>
            <a:spLocks noGrp="1"/>
          </p:cNvSpPr>
          <p:nvPr/>
        </p:nvSpPr>
        <p:spPr>
          <a:xfrm>
            <a:off x="7115174" y="3754883"/>
            <a:ext cx="585788" cy="1285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668">
            <a:solidFill>
              <a:srgbClr val="BFD9EC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65" b="1">
                <a:solidFill>
                  <a:srgbClr val="1686C5"/>
                </a:solidFill>
                <a:latin typeface="Calibri"/>
                <a:ea typeface="Calibri"/>
                <a:cs typeface="Calibri"/>
              </a:defRPr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1686C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可追溯</a:t>
            </a:r>
          </a:p>
        </p:txBody>
      </p:sp>
      <p:sp>
        <p:nvSpPr>
          <p:cNvPr id="145" name="result-3">
            <a:extLst>
              <a:ext uri="{FF2B5EF4-FFF2-40B4-BE49-F238E27FC236}">
                <a16:creationId xmlns:a16="http://schemas.microsoft.com/office/drawing/2014/main" id="{049A2BA2-DB31-4881-A99B-C7207C29BA53}"/>
              </a:ext>
            </a:extLst>
          </p:cNvPr>
          <p:cNvSpPr>
            <a:spLocks noGrp="1"/>
          </p:cNvSpPr>
          <p:nvPr/>
        </p:nvSpPr>
        <p:spPr>
          <a:xfrm>
            <a:off x="7793830" y="3754883"/>
            <a:ext cx="585788" cy="1285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668">
            <a:solidFill>
              <a:srgbClr val="BFD9EC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65" b="1">
                <a:solidFill>
                  <a:srgbClr val="1686C5"/>
                </a:solidFill>
                <a:latin typeface="Calibri"/>
                <a:ea typeface="Calibri"/>
                <a:cs typeface="Calibri"/>
              </a:defRPr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1686C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可审计</a:t>
            </a:r>
          </a:p>
        </p:txBody>
      </p:sp>
      <p:sp>
        <p:nvSpPr>
          <p:cNvPr id="146" name="summary-bar">
            <a:extLst>
              <a:ext uri="{FF2B5EF4-FFF2-40B4-BE49-F238E27FC236}">
                <a16:creationId xmlns:a16="http://schemas.microsoft.com/office/drawing/2014/main" id="{2419C39D-59D5-4303-8022-81507DB072C7}"/>
              </a:ext>
            </a:extLst>
          </p:cNvPr>
          <p:cNvSpPr>
            <a:spLocks noGrp="1"/>
          </p:cNvSpPr>
          <p:nvPr/>
        </p:nvSpPr>
        <p:spPr>
          <a:xfrm>
            <a:off x="585787" y="4119215"/>
            <a:ext cx="7972425" cy="307181"/>
          </a:xfrm>
          <a:prstGeom prst="roundRect">
            <a:avLst>
              <a:gd name="adj" fmla="val 16279"/>
            </a:avLst>
          </a:prstGeom>
          <a:solidFill>
            <a:srgbClr val="EAF4FB"/>
          </a:solidFill>
          <a:ln w="7620">
            <a:solidFill>
              <a:srgbClr val="BFD9EC"/>
            </a:solidFill>
            <a:prstDash val="solid"/>
          </a:ln>
        </p:spPr>
        <p:txBody>
          <a:bodyPr lIns="135731" tIns="42863" rIns="135731" bIns="42863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53" b="1">
                <a:solidFill>
                  <a:srgbClr val="173E67"/>
                </a:solidFill>
                <a:latin typeface="Calibri"/>
                <a:ea typeface="Calibri"/>
                <a:cs typeface="Calibri"/>
              </a:defRPr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173E6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Phase 1将记录、附件、审计证据与关系重组为</a:t>
            </a: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1686C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统一归档对象</a:t>
            </a: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173E6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，支撑</a:t>
            </a: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1686C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查询与合规取证</a:t>
            </a: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173E6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。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36FC9E-31A4-3985-E9E1-139E73261E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China RIMS Solution Proposal</a:t>
            </a:r>
          </a:p>
          <a:p>
            <a:endParaRPr lang="zh-CN" altLang="en-US"/>
          </a:p>
          <a:p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1E55A5-E272-6100-040A-2E86752EE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009CDE"/>
                </a:solidFill>
              </a:rPr>
              <a:t>现状分析：数据结构与迁移步骤</a:t>
            </a:r>
            <a:br>
              <a:rPr lang="zh-CN" altLang="en-US">
                <a:solidFill>
                  <a:srgbClr val="009CDE"/>
                </a:solidFill>
              </a:rPr>
            </a:b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055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30DA4-17F9-104D-6502-CE24484CD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ADDFA14-00FB-2821-DAF7-1C2904F71438}"/>
              </a:ext>
            </a:extLst>
          </p:cNvPr>
          <p:cNvSpPr/>
          <p:nvPr/>
        </p:nvSpPr>
        <p:spPr>
          <a:xfrm>
            <a:off x="4610557" y="4434598"/>
            <a:ext cx="4095974" cy="366201"/>
          </a:xfrm>
          <a:prstGeom prst="roundRect">
            <a:avLst>
              <a:gd name="adj" fmla="val 9656"/>
            </a:avLst>
          </a:prstGeom>
          <a:solidFill>
            <a:schemeClr val="bg1"/>
          </a:solidFill>
          <a:ln w="12700">
            <a:solidFill>
              <a:schemeClr val="accent3">
                <a:lumMod val="75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三角形 3">
            <a:extLst>
              <a:ext uri="{FF2B5EF4-FFF2-40B4-BE49-F238E27FC236}">
                <a16:creationId xmlns:a16="http://schemas.microsoft.com/office/drawing/2014/main" id="{BD7FC4D8-861A-80D5-EE39-4D89CE7B5063}"/>
              </a:ext>
            </a:extLst>
          </p:cNvPr>
          <p:cNvSpPr>
            <a:spLocks noGrp="1"/>
          </p:cNvSpPr>
          <p:nvPr/>
        </p:nvSpPr>
        <p:spPr>
          <a:xfrm rot="10800000">
            <a:off x="3933170" y="4285933"/>
            <a:ext cx="100301" cy="90271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  <a:ln w="4763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73" name="表格 72">
            <a:extLst>
              <a:ext uri="{FF2B5EF4-FFF2-40B4-BE49-F238E27FC236}">
                <a16:creationId xmlns:a16="http://schemas.microsoft.com/office/drawing/2014/main" id="{94EF053A-C9F3-7B91-98B1-9B097220B2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62865685"/>
              </p:ext>
            </p:extLst>
          </p:nvPr>
        </p:nvGraphicFramePr>
        <p:xfrm>
          <a:off x="397150" y="976920"/>
          <a:ext cx="8278171" cy="3247041"/>
        </p:xfrm>
        <a:graphic>
          <a:graphicData uri="http://schemas.openxmlformats.org/drawingml/2006/table">
            <a:tbl>
              <a:tblPr/>
              <a:tblGrid>
                <a:gridCol w="13584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42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13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4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0632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53F6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系统状态</a:t>
                      </a:r>
                    </a:p>
                  </a:txBody>
                  <a:tcPr marL="68580" marR="68580" marT="34290" marB="34290" anchor="ctr">
                    <a:solidFill>
                      <a:srgbClr val="EA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53F6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系统名称</a:t>
                      </a:r>
                    </a:p>
                  </a:txBody>
                  <a:tcPr marL="68580" marR="68580" marT="34290" marB="34290" anchor="ctr">
                    <a:solidFill>
                      <a:srgbClr val="EA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53F6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部门名称</a:t>
                      </a:r>
                    </a:p>
                  </a:txBody>
                  <a:tcPr marL="68580" marR="68580" marT="34290" marB="34290" anchor="ctr">
                    <a:solidFill>
                      <a:srgbClr val="EA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err="1">
                          <a:solidFill>
                            <a:srgbClr val="153F6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云资源</a:t>
                      </a:r>
                      <a:r>
                        <a:rPr lang="zh-CN" altLang="en-US" sz="800" b="1">
                          <a:solidFill>
                            <a:srgbClr val="153F6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</a:t>
                      </a:r>
                      <a:endParaRPr sz="800" b="1">
                        <a:solidFill>
                          <a:srgbClr val="153F60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68580" marR="68580" marT="34290" marB="34290" anchor="ctr">
                    <a:solidFill>
                      <a:srgbClr val="EA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359">
                <a:tc rowSpan="5">
                  <a:txBody>
                    <a:bodyPr/>
                    <a:lstStyle/>
                    <a:p>
                      <a:endParaRPr sz="1200"/>
                    </a:p>
                  </a:txBody>
                  <a:tcPr marL="68580" marR="68580" marT="34290" marB="34290" anchor="ctr">
                    <a:solidFill>
                      <a:srgbClr val="F3F9F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315A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银河（</a:t>
                      </a:r>
                      <a:r>
                        <a:rPr lang="en-US" sz="700" b="1">
                          <a:solidFill>
                            <a:srgbClr val="315A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</a:t>
                      </a:r>
                      <a:r>
                        <a:rPr sz="700" b="1">
                          <a:solidFill>
                            <a:srgbClr val="315A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00年</a:t>
                      </a:r>
                      <a:r>
                        <a:rPr lang="zh-CN" altLang="en-US" sz="700" b="1">
                          <a:solidFill>
                            <a:srgbClr val="315A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左右上线</a:t>
                      </a:r>
                      <a:r>
                        <a:rPr sz="700" b="1">
                          <a:solidFill>
                            <a:srgbClr val="315A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15A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ADC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153F60"/>
                          </a:solidFill>
                          <a:latin typeface="Arial"/>
                          <a:ea typeface="Arial"/>
                          <a:cs typeface="Arial"/>
                        </a:rPr>
                        <a:t>1.3</a:t>
                      </a:r>
                      <a:r>
                        <a:rPr sz="800" b="1">
                          <a:solidFill>
                            <a:srgbClr val="153F60"/>
                          </a:solidFill>
                          <a:latin typeface="Arial"/>
                          <a:ea typeface="Arial"/>
                          <a:cs typeface="Arial"/>
                        </a:rPr>
                        <a:t>w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35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/>
                      <a:endParaRPr sz="700" b="1">
                        <a:solidFill>
                          <a:srgbClr val="315A72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700" b="0">
                          <a:solidFill>
                            <a:srgbClr val="315A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MND</a:t>
                      </a:r>
                      <a:endParaRPr sz="700" b="0">
                        <a:solidFill>
                          <a:srgbClr val="315A72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>
                          <a:solidFill>
                            <a:srgbClr val="153F60"/>
                          </a:solidFill>
                          <a:latin typeface="Arial"/>
                          <a:ea typeface="Arial"/>
                          <a:cs typeface="Arial"/>
                        </a:rPr>
                        <a:t>43w</a:t>
                      </a:r>
                      <a:endParaRPr sz="800" b="1">
                        <a:solidFill>
                          <a:srgbClr val="153F6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4093278"/>
                  </a:ext>
                </a:extLst>
              </a:tr>
              <a:tr h="25135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315A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DHT（</a:t>
                      </a:r>
                      <a:r>
                        <a:rPr lang="en-US" sz="700" b="1">
                          <a:solidFill>
                            <a:srgbClr val="315A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</a:t>
                      </a:r>
                      <a:r>
                        <a:rPr sz="700" b="1">
                          <a:solidFill>
                            <a:srgbClr val="315A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23年上线）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15A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ADC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>
                          <a:solidFill>
                            <a:srgbClr val="153F60"/>
                          </a:solidFill>
                          <a:latin typeface="Arial"/>
                          <a:ea typeface="Arial"/>
                          <a:cs typeface="Arial"/>
                        </a:rPr>
                        <a:t>33</a:t>
                      </a:r>
                      <a:r>
                        <a:rPr sz="800" b="1">
                          <a:solidFill>
                            <a:srgbClr val="153F60"/>
                          </a:solidFill>
                          <a:latin typeface="Arial"/>
                          <a:ea typeface="Arial"/>
                          <a:cs typeface="Arial"/>
                        </a:rPr>
                        <a:t>w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35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315A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NEXBPM（2023年上线）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15A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财务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>
                          <a:solidFill>
                            <a:srgbClr val="153F60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  <a:r>
                        <a:rPr sz="800" b="1">
                          <a:solidFill>
                            <a:srgbClr val="153F60"/>
                          </a:solidFill>
                          <a:latin typeface="Arial"/>
                          <a:ea typeface="Arial"/>
                          <a:cs typeface="Arial"/>
                        </a:rPr>
                        <a:t>w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35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315A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Dspot（2022年上线）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15A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OEC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>
                          <a:solidFill>
                            <a:srgbClr val="153F60"/>
                          </a:solidFill>
                          <a:latin typeface="Arial"/>
                          <a:ea typeface="Arial"/>
                          <a:cs typeface="Arial"/>
                        </a:rPr>
                        <a:t>19</a:t>
                      </a:r>
                      <a:r>
                        <a:rPr sz="800" b="1">
                          <a:solidFill>
                            <a:srgbClr val="153F60"/>
                          </a:solidFill>
                          <a:latin typeface="Arial"/>
                          <a:ea typeface="Arial"/>
                          <a:cs typeface="Arial"/>
                        </a:rPr>
                        <a:t>w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359">
                <a:tc rowSpan="7">
                  <a:txBody>
                    <a:bodyPr/>
                    <a:lstStyle/>
                    <a:p>
                      <a:endParaRPr sz="1200"/>
                    </a:p>
                  </a:txBody>
                  <a:tcPr marL="68580" marR="68580" marT="34290" marB="34290" anchor="ctr">
                    <a:solidFill>
                      <a:srgbClr val="E6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315A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CC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15A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MND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>
                          <a:solidFill>
                            <a:srgbClr val="153F60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  <a:r>
                        <a:rPr sz="800" b="1">
                          <a:solidFill>
                            <a:srgbClr val="153F60"/>
                          </a:solidFill>
                          <a:latin typeface="Arial"/>
                          <a:ea typeface="Arial"/>
                          <a:cs typeface="Arial"/>
                        </a:rPr>
                        <a:t>w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35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315A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NGCRM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15A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MND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800" b="1">
                          <a:solidFill>
                            <a:srgbClr val="153F60"/>
                          </a:solidFill>
                          <a:latin typeface="Arial"/>
                          <a:ea typeface="Arial"/>
                          <a:cs typeface="Arial"/>
                        </a:rPr>
                        <a:t>59</a:t>
                      </a:r>
                      <a:r>
                        <a:rPr sz="800" b="1">
                          <a:solidFill>
                            <a:srgbClr val="153F60"/>
                          </a:solidFill>
                          <a:latin typeface="Arial"/>
                          <a:ea typeface="Arial"/>
                          <a:cs typeface="Arial"/>
                        </a:rPr>
                        <a:t>w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35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315A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ADC MA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15A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ADC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sz="1200"/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35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315A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Eflow</a:t>
                      </a:r>
                    </a:p>
                  </a:txBody>
                  <a:tcPr marL="68580" marR="68580" marT="34290" marB="3429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15A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MND</a:t>
                      </a:r>
                    </a:p>
                  </a:txBody>
                  <a:tcPr marL="68580" marR="68580" marT="34290" marB="3429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200"/>
                    </a:p>
                  </a:txBody>
                  <a:tcPr marL="68580" marR="68580" marT="34290" marB="3429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35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315A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AMD SFE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15A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AMD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53F60"/>
                          </a:solidFill>
                          <a:latin typeface="Arial"/>
                          <a:ea typeface="Arial"/>
                          <a:cs typeface="Arial"/>
                        </a:rPr>
                        <a:t>12w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135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315A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VAS SFE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15A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MD VAS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53F60"/>
                          </a:solidFill>
                          <a:latin typeface="Arial"/>
                          <a:ea typeface="Arial"/>
                          <a:cs typeface="Arial"/>
                        </a:rPr>
                        <a:t>4.6w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35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315A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HF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15A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MD HF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53F60"/>
                          </a:solidFill>
                          <a:latin typeface="Arial"/>
                          <a:ea typeface="Arial"/>
                          <a:cs typeface="Arial"/>
                        </a:rPr>
                        <a:t>4.7w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8" name="矩形 17">
            <a:extLst>
              <a:ext uri="{FF2B5EF4-FFF2-40B4-BE49-F238E27FC236}">
                <a16:creationId xmlns:a16="http://schemas.microsoft.com/office/drawing/2014/main" id="{78B7BEF5-16BC-5A64-259A-C982C7FC88F6}"/>
              </a:ext>
            </a:extLst>
          </p:cNvPr>
          <p:cNvSpPr>
            <a:spLocks noGrp="1"/>
          </p:cNvSpPr>
          <p:nvPr/>
        </p:nvSpPr>
        <p:spPr>
          <a:xfrm>
            <a:off x="604838" y="1519176"/>
            <a:ext cx="914400" cy="2214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153F60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1181" b="1" i="0" u="none" strike="noStrike" kern="1200" cap="none" spc="0" normalizeH="0" baseline="0" noProof="0">
                <a:ln>
                  <a:noFill/>
                </a:ln>
                <a:solidFill>
                  <a:srgbClr val="153F6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现存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BC80B29-0BE6-ECC9-B395-B112231AAD7B}"/>
              </a:ext>
            </a:extLst>
          </p:cNvPr>
          <p:cNvSpPr>
            <a:spLocks noGrp="1"/>
          </p:cNvSpPr>
          <p:nvPr/>
        </p:nvSpPr>
        <p:spPr>
          <a:xfrm>
            <a:off x="604838" y="1747776"/>
            <a:ext cx="914400" cy="1214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75" b="1">
                <a:solidFill>
                  <a:srgbClr val="708A99"/>
                </a:solidFill>
                <a:latin typeface="Arial"/>
                <a:ea typeface="Arial"/>
                <a:cs typeface="Arial"/>
              </a:defRPr>
            </a:pPr>
            <a:r>
              <a:rPr kumimoji="0" sz="506" b="1" i="0" u="none" strike="noStrike" kern="1200" cap="none" spc="0" normalizeH="0" baseline="0" noProof="0">
                <a:ln>
                  <a:noFill/>
                </a:ln>
                <a:solidFill>
                  <a:srgbClr val="708A99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CURRENT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BBCDF93-A938-E89A-3703-D5FE73D1AF03}"/>
              </a:ext>
            </a:extLst>
          </p:cNvPr>
          <p:cNvSpPr>
            <a:spLocks noGrp="1"/>
          </p:cNvSpPr>
          <p:nvPr/>
        </p:nvSpPr>
        <p:spPr>
          <a:xfrm>
            <a:off x="604838" y="3025555"/>
            <a:ext cx="914400" cy="2214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153F60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1181" b="1" i="0" u="none" strike="noStrike" kern="1200" cap="none" spc="0" normalizeH="0" baseline="0" noProof="0">
                <a:ln>
                  <a:noFill/>
                </a:ln>
                <a:solidFill>
                  <a:srgbClr val="153F6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待退役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AB0BF50-7D70-3955-C25B-CBD26FD368D7}"/>
              </a:ext>
            </a:extLst>
          </p:cNvPr>
          <p:cNvSpPr>
            <a:spLocks noGrp="1"/>
          </p:cNvSpPr>
          <p:nvPr/>
        </p:nvSpPr>
        <p:spPr>
          <a:xfrm>
            <a:off x="604838" y="3261299"/>
            <a:ext cx="914400" cy="1214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38" b="1">
                <a:solidFill>
                  <a:srgbClr val="708A99"/>
                </a:solidFill>
                <a:latin typeface="Arial"/>
                <a:ea typeface="Arial"/>
                <a:cs typeface="Arial"/>
              </a:defRPr>
            </a:pPr>
            <a:r>
              <a:rPr kumimoji="0" sz="479" b="1" i="0" u="none" strike="noStrike" kern="1200" cap="none" spc="0" normalizeH="0" baseline="0" noProof="0">
                <a:ln>
                  <a:noFill/>
                </a:ln>
                <a:solidFill>
                  <a:srgbClr val="708A99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TO BE RETIRED</a:t>
            </a:r>
          </a:p>
        </p:txBody>
      </p:sp>
      <p:sp>
        <p:nvSpPr>
          <p:cNvPr id="40" name="partial-saving-highlight">
            <a:extLst>
              <a:ext uri="{FF2B5EF4-FFF2-40B4-BE49-F238E27FC236}">
                <a16:creationId xmlns:a16="http://schemas.microsoft.com/office/drawing/2014/main" id="{BB6D450E-3ACC-27E6-F998-421E450683E2}"/>
              </a:ext>
            </a:extLst>
          </p:cNvPr>
          <p:cNvSpPr>
            <a:spLocks noGrp="1"/>
          </p:cNvSpPr>
          <p:nvPr/>
        </p:nvSpPr>
        <p:spPr>
          <a:xfrm>
            <a:off x="4619788" y="1205316"/>
            <a:ext cx="4035317" cy="1223650"/>
          </a:xfrm>
          <a:prstGeom prst="roundRect">
            <a:avLst>
              <a:gd name="adj" fmla="val 6786"/>
            </a:avLst>
          </a:prstGeom>
          <a:solidFill>
            <a:srgbClr val="68B4D8">
              <a:alpha val="4000"/>
            </a:srgbClr>
          </a:solidFill>
          <a:ln w="28575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full-saving-highlight">
            <a:extLst>
              <a:ext uri="{FF2B5EF4-FFF2-40B4-BE49-F238E27FC236}">
                <a16:creationId xmlns:a16="http://schemas.microsoft.com/office/drawing/2014/main" id="{A42D1677-E4CC-0B8C-E4E2-7444438FCAAE}"/>
              </a:ext>
            </a:extLst>
          </p:cNvPr>
          <p:cNvSpPr>
            <a:spLocks noGrp="1"/>
          </p:cNvSpPr>
          <p:nvPr/>
        </p:nvSpPr>
        <p:spPr>
          <a:xfrm>
            <a:off x="4630053" y="2506466"/>
            <a:ext cx="4014788" cy="1744956"/>
          </a:xfrm>
          <a:prstGeom prst="roundRect">
            <a:avLst>
              <a:gd name="adj" fmla="val 5263"/>
            </a:avLst>
          </a:prstGeom>
          <a:solidFill>
            <a:srgbClr val="68B4D8">
              <a:alpha val="5000"/>
            </a:srgbClr>
          </a:solidFill>
          <a:ln w="28575">
            <a:solidFill>
              <a:schemeClr val="accent3">
                <a:lumMod val="75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圆角矩形 41">
            <a:extLst>
              <a:ext uri="{FF2B5EF4-FFF2-40B4-BE49-F238E27FC236}">
                <a16:creationId xmlns:a16="http://schemas.microsoft.com/office/drawing/2014/main" id="{9EADC959-B4AD-D4AA-E6E6-AFB43FABC502}"/>
              </a:ext>
            </a:extLst>
          </p:cNvPr>
          <p:cNvSpPr>
            <a:spLocks noGrp="1"/>
          </p:cNvSpPr>
          <p:nvPr/>
        </p:nvSpPr>
        <p:spPr>
          <a:xfrm>
            <a:off x="7901319" y="4160026"/>
            <a:ext cx="721519" cy="142875"/>
          </a:xfrm>
          <a:prstGeom prst="roundRect">
            <a:avLst>
              <a:gd name="adj" fmla="val 50000"/>
            </a:avLst>
          </a:prstGeom>
          <a:solidFill>
            <a:srgbClr val="E6F2F8"/>
          </a:solidFill>
          <a:ln w="9525">
            <a:solidFill>
              <a:srgbClr val="3694CA"/>
            </a:solidFill>
            <a:prstDash val="solid"/>
          </a:ln>
        </p:spPr>
        <p:txBody>
          <a:bodyPr wrap="none" lIns="35719" tIns="7144" rIns="35719" bIns="7144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90" b="1">
                <a:solidFill>
                  <a:srgbClr val="153F60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153F6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全部可释放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BC4F1F15-0AFD-82E9-157E-67D1785DCFB7}"/>
              </a:ext>
            </a:extLst>
          </p:cNvPr>
          <p:cNvSpPr>
            <a:spLocks noGrp="1"/>
          </p:cNvSpPr>
          <p:nvPr/>
        </p:nvSpPr>
        <p:spPr>
          <a:xfrm>
            <a:off x="7886351" y="4443666"/>
            <a:ext cx="736487" cy="1388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13" b="1">
                <a:solidFill>
                  <a:srgbClr val="3694CA"/>
                </a:solidFill>
                <a:latin typeface="Arial"/>
                <a:ea typeface="Arial"/>
                <a:cs typeface="Arial"/>
              </a:defRPr>
            </a:pPr>
            <a:r>
              <a:rPr kumimoji="0" sz="675" b="1" i="0" u="none" strike="noStrike" kern="1200" cap="none" spc="0" normalizeH="0" baseline="0" noProof="0">
                <a:ln>
                  <a:noFill/>
                </a:ln>
                <a:solidFill>
                  <a:srgbClr val="3694CA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02 · FULL SAVING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A82F73F6-7911-0AF9-AF1C-71293F14EBAF}"/>
              </a:ext>
            </a:extLst>
          </p:cNvPr>
          <p:cNvSpPr>
            <a:spLocks noGrp="1"/>
          </p:cNvSpPr>
          <p:nvPr/>
        </p:nvSpPr>
        <p:spPr>
          <a:xfrm>
            <a:off x="4836650" y="4439457"/>
            <a:ext cx="1214438" cy="2071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50" b="1">
                <a:solidFill>
                  <a:srgbClr val="153F60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153F6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全部节省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F04D7F8D-60CA-6843-322B-7990883ED96D}"/>
              </a:ext>
            </a:extLst>
          </p:cNvPr>
          <p:cNvSpPr>
            <a:spLocks noGrp="1"/>
          </p:cNvSpPr>
          <p:nvPr/>
        </p:nvSpPr>
        <p:spPr>
          <a:xfrm>
            <a:off x="4843684" y="4597986"/>
            <a:ext cx="3643313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35" b="0">
                <a:solidFill>
                  <a:srgbClr val="315A72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776" b="0" i="0" u="none" strike="noStrike" kern="1200" cap="none" spc="0" normalizeH="0" baseline="0" noProof="0" err="1">
                <a:ln>
                  <a:noFill/>
                </a:ln>
                <a:solidFill>
                  <a:srgbClr val="315A72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系统完成退役后，</a:t>
            </a:r>
            <a:r>
              <a:rPr kumimoji="0" sz="776" b="1" i="0" u="none" strike="noStrike" kern="1200" cap="none" spc="0" normalizeH="0" baseline="0" noProof="0" err="1">
                <a:ln>
                  <a:noFill/>
                </a:ln>
                <a:solidFill>
                  <a:srgbClr val="153F6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云资源成本全部释放</a:t>
            </a:r>
            <a:r>
              <a:rPr kumimoji="0" sz="776" b="0" i="0" u="none" strike="noStrike" kern="1200" cap="none" spc="0" normalizeH="0" baseline="0" noProof="0">
                <a:ln>
                  <a:noFill/>
                </a:ln>
                <a:solidFill>
                  <a:srgbClr val="315A72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7" name="直线连接符 16">
            <a:extLst>
              <a:ext uri="{FF2B5EF4-FFF2-40B4-BE49-F238E27FC236}">
                <a16:creationId xmlns:a16="http://schemas.microsoft.com/office/drawing/2014/main" id="{E709FCE6-2DF2-AE5D-2D74-018C60B07AA1}"/>
              </a:ext>
            </a:extLst>
          </p:cNvPr>
          <p:cNvSpPr>
            <a:spLocks noGrp="1"/>
          </p:cNvSpPr>
          <p:nvPr/>
        </p:nvSpPr>
        <p:spPr>
          <a:xfrm>
            <a:off x="3967618" y="1580473"/>
            <a:ext cx="642938" cy="0"/>
          </a:xfrm>
          <a:prstGeom prst="line">
            <a:avLst/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直线连接符 57">
            <a:extLst>
              <a:ext uri="{FF2B5EF4-FFF2-40B4-BE49-F238E27FC236}">
                <a16:creationId xmlns:a16="http://schemas.microsoft.com/office/drawing/2014/main" id="{FE59B243-8057-F81C-4A45-3162F54FB932}"/>
              </a:ext>
            </a:extLst>
          </p:cNvPr>
          <p:cNvSpPr>
            <a:spLocks noGrp="1"/>
          </p:cNvSpPr>
          <p:nvPr/>
        </p:nvSpPr>
        <p:spPr>
          <a:xfrm>
            <a:off x="3966904" y="1569244"/>
            <a:ext cx="16417" cy="2733657"/>
          </a:xfrm>
          <a:prstGeom prst="line">
            <a:avLst/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9653A44-81EA-3F1E-01E3-3CE0A89EF508}"/>
              </a:ext>
            </a:extLst>
          </p:cNvPr>
          <p:cNvSpPr/>
          <p:nvPr/>
        </p:nvSpPr>
        <p:spPr>
          <a:xfrm>
            <a:off x="380323" y="4438176"/>
            <a:ext cx="4054244" cy="359789"/>
          </a:xfrm>
          <a:prstGeom prst="roundRect">
            <a:avLst>
              <a:gd name="adj" fmla="val 9656"/>
            </a:avLst>
          </a:prstGeom>
          <a:solidFill>
            <a:schemeClr val="bg1"/>
          </a:solidFill>
          <a:ln w="1270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矩形 45">
            <a:extLst>
              <a:ext uri="{FF2B5EF4-FFF2-40B4-BE49-F238E27FC236}">
                <a16:creationId xmlns:a16="http://schemas.microsoft.com/office/drawing/2014/main" id="{7FA4F158-A43B-A1B7-CD09-222A9D047177}"/>
              </a:ext>
            </a:extLst>
          </p:cNvPr>
          <p:cNvSpPr>
            <a:spLocks noGrp="1"/>
          </p:cNvSpPr>
          <p:nvPr/>
        </p:nvSpPr>
        <p:spPr>
          <a:xfrm>
            <a:off x="585787" y="4434334"/>
            <a:ext cx="1214438" cy="2071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50" b="1">
                <a:solidFill>
                  <a:srgbClr val="153F60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153F6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部分节省</a:t>
            </a:r>
          </a:p>
        </p:txBody>
      </p:sp>
      <p:sp>
        <p:nvSpPr>
          <p:cNvPr id="5" name="矩形 46">
            <a:extLst>
              <a:ext uri="{FF2B5EF4-FFF2-40B4-BE49-F238E27FC236}">
                <a16:creationId xmlns:a16="http://schemas.microsoft.com/office/drawing/2014/main" id="{77A6D823-79D2-7BB5-178F-CB68BFFDBEBB}"/>
              </a:ext>
            </a:extLst>
          </p:cNvPr>
          <p:cNvSpPr>
            <a:spLocks noGrp="1"/>
          </p:cNvSpPr>
          <p:nvPr/>
        </p:nvSpPr>
        <p:spPr>
          <a:xfrm>
            <a:off x="585787" y="4588486"/>
            <a:ext cx="3643313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35" b="0">
                <a:solidFill>
                  <a:srgbClr val="315A72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776" b="0" i="0" u="none" strike="noStrike" kern="1200" cap="none" spc="0" normalizeH="0" baseline="0" noProof="0">
                <a:ln>
                  <a:noFill/>
                </a:ln>
                <a:solidFill>
                  <a:srgbClr val="315A72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现存系统继续运行，仅释放历史数据迁出后对应的</a:t>
            </a:r>
            <a:r>
              <a:rPr kumimoji="0" sz="776" b="1" i="0" u="none" strike="noStrike" kern="1200" cap="none" spc="0" normalizeH="0" baseline="0" noProof="0">
                <a:ln>
                  <a:noFill/>
                </a:ln>
                <a:solidFill>
                  <a:srgbClr val="153F6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部分云资源成本</a:t>
            </a:r>
            <a:r>
              <a:rPr kumimoji="0" sz="776" b="0" i="0" u="none" strike="noStrike" kern="1200" cap="none" spc="0" normalizeH="0" baseline="0" noProof="0">
                <a:ln>
                  <a:noFill/>
                </a:ln>
                <a:solidFill>
                  <a:srgbClr val="315A72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3" name="title-rule">
            <a:extLst>
              <a:ext uri="{FF2B5EF4-FFF2-40B4-BE49-F238E27FC236}">
                <a16:creationId xmlns:a16="http://schemas.microsoft.com/office/drawing/2014/main" id="{837FEB70-500E-B878-13C6-2B9ABB45047B}"/>
              </a:ext>
            </a:extLst>
          </p:cNvPr>
          <p:cNvSpPr>
            <a:spLocks noGrp="1"/>
          </p:cNvSpPr>
          <p:nvPr/>
        </p:nvSpPr>
        <p:spPr>
          <a:xfrm>
            <a:off x="214312" y="997318"/>
            <a:ext cx="8401050" cy="0"/>
          </a:xfrm>
          <a:prstGeom prst="line">
            <a:avLst/>
          </a:prstGeom>
          <a:noFill/>
          <a:ln w="9525">
            <a:solidFill>
              <a:srgbClr val="E7EF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itle 5">
            <a:extLst>
              <a:ext uri="{FF2B5EF4-FFF2-40B4-BE49-F238E27FC236}">
                <a16:creationId xmlns:a16="http://schemas.microsoft.com/office/drawing/2014/main" id="{95211826-6007-16E2-6D6D-B8188B25D633}"/>
              </a:ext>
            </a:extLst>
          </p:cNvPr>
          <p:cNvSpPr txBox="1">
            <a:spLocks/>
          </p:cNvSpPr>
          <p:nvPr/>
        </p:nvSpPr>
        <p:spPr>
          <a:xfrm>
            <a:off x="405985" y="385114"/>
            <a:ext cx="8138160" cy="390526"/>
          </a:xfrm>
          <a:prstGeom prst="rect">
            <a:avLst/>
          </a:prstGeom>
          <a:effectLst/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0" kern="1200" cap="none" spc="0" baseline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600" b="0" i="0" u="none" strike="noStrike" kern="1200" cap="none" spc="0" normalizeH="0" baseline="0" noProof="0">
              <a:ln>
                <a:noFill/>
              </a:ln>
              <a:solidFill>
                <a:srgbClr val="009CDE"/>
              </a:solidFill>
              <a:effectLst/>
              <a:uLnTx/>
              <a:uFillTx/>
              <a:latin typeface="Georgia"/>
              <a:ea typeface="+mj-ea"/>
              <a:cs typeface="+mj-cs"/>
            </a:endParaRPr>
          </a:p>
        </p:txBody>
      </p:sp>
      <p:sp>
        <p:nvSpPr>
          <p:cNvPr id="16" name="矩形 44">
            <a:extLst>
              <a:ext uri="{FF2B5EF4-FFF2-40B4-BE49-F238E27FC236}">
                <a16:creationId xmlns:a16="http://schemas.microsoft.com/office/drawing/2014/main" id="{86C29345-FC9B-A81C-2F8C-938E69CA6A93}"/>
              </a:ext>
            </a:extLst>
          </p:cNvPr>
          <p:cNvSpPr>
            <a:spLocks noGrp="1"/>
          </p:cNvSpPr>
          <p:nvPr/>
        </p:nvSpPr>
        <p:spPr>
          <a:xfrm>
            <a:off x="3471759" y="4442218"/>
            <a:ext cx="962807" cy="15576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13" b="1">
                <a:solidFill>
                  <a:srgbClr val="3694CA"/>
                </a:solidFill>
                <a:latin typeface="Arial"/>
                <a:ea typeface="Arial"/>
                <a:cs typeface="Arial"/>
              </a:defRPr>
            </a:pPr>
            <a:r>
              <a:rPr kumimoji="0" sz="675" b="1" i="0" u="none" strike="noStrike" kern="1200" cap="none" spc="0" normalizeH="0" baseline="0" noProof="0">
                <a:ln>
                  <a:noFill/>
                </a:ln>
                <a:solidFill>
                  <a:srgbClr val="3694CA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01 · PARTIAL SAVING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CEA376E-1D2F-453C-49DB-483653133CA1}"/>
              </a:ext>
            </a:extLst>
          </p:cNvPr>
          <p:cNvCxnSpPr>
            <a:cxnSpLocks/>
            <a:stCxn id="41" idx="2"/>
            <a:endCxn id="12" idx="0"/>
          </p:cNvCxnSpPr>
          <p:nvPr/>
        </p:nvCxnSpPr>
        <p:spPr>
          <a:xfrm>
            <a:off x="6637447" y="4251422"/>
            <a:ext cx="0" cy="183176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6896C330-33F6-0D78-75E8-8C8F80987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009CDE"/>
                </a:solidFill>
              </a:rPr>
              <a:t>现状分析：各系统成本分析</a:t>
            </a:r>
            <a:br>
              <a:rPr lang="zh-CN" altLang="en-US">
                <a:solidFill>
                  <a:srgbClr val="009CDE"/>
                </a:solidFill>
              </a:rPr>
            </a:br>
            <a:endParaRPr lang="zh-CN" alt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B30A587-19E6-5296-5E0A-8DFABC961E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2921" y="266700"/>
            <a:ext cx="5241925" cy="261610"/>
          </a:xfrm>
        </p:spPr>
        <p:txBody>
          <a:bodyPr/>
          <a:lstStyle/>
          <a:p>
            <a:r>
              <a:rPr lang="en-US" altLang="zh-CN"/>
              <a:t>China RIMS Solution Proposal</a:t>
            </a:r>
          </a:p>
          <a:p>
            <a:endParaRPr lang="zh-CN" altLang="en-US"/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6605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C25EC25D-D974-CE7B-92C6-DC64AC845162}"/>
              </a:ext>
            </a:extLst>
          </p:cNvPr>
          <p:cNvSpPr/>
          <p:nvPr/>
        </p:nvSpPr>
        <p:spPr>
          <a:xfrm>
            <a:off x="5982155" y="2352659"/>
            <a:ext cx="496102" cy="1255109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Historical data offload-line">
            <a:extLst>
              <a:ext uri="{FF2B5EF4-FFF2-40B4-BE49-F238E27FC236}">
                <a16:creationId xmlns:a16="http://schemas.microsoft.com/office/drawing/2014/main" id="{3E8FCA78-F1E4-4FD3-A143-6B551D4FB6C9}"/>
              </a:ext>
            </a:extLst>
          </p:cNvPr>
          <p:cNvSpPr>
            <a:spLocks noGrp="1"/>
          </p:cNvSpPr>
          <p:nvPr/>
        </p:nvSpPr>
        <p:spPr>
          <a:xfrm>
            <a:off x="2286000" y="1141632"/>
            <a:ext cx="171450" cy="0"/>
          </a:xfrm>
          <a:prstGeom prst="line">
            <a:avLst/>
          </a:prstGeom>
          <a:noFill/>
          <a:ln w="12383">
            <a:solidFill>
              <a:srgbClr val="4D9F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Historical data offload-arrow">
            <a:extLst>
              <a:ext uri="{FF2B5EF4-FFF2-40B4-BE49-F238E27FC236}">
                <a16:creationId xmlns:a16="http://schemas.microsoft.com/office/drawing/2014/main" id="{6C037C8F-979E-47E2-A2E6-0F41886B965C}"/>
              </a:ext>
            </a:extLst>
          </p:cNvPr>
          <p:cNvSpPr>
            <a:spLocks noGrp="1"/>
          </p:cNvSpPr>
          <p:nvPr/>
        </p:nvSpPr>
        <p:spPr>
          <a:xfrm rot="5400000">
            <a:off x="2450306" y="1113057"/>
            <a:ext cx="57150" cy="57150"/>
          </a:xfrm>
          <a:prstGeom prst="triangle">
            <a:avLst/>
          </a:prstGeom>
          <a:solidFill>
            <a:srgbClr val="4D9FE8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Historical data offload-label">
            <a:extLst>
              <a:ext uri="{FF2B5EF4-FFF2-40B4-BE49-F238E27FC236}">
                <a16:creationId xmlns:a16="http://schemas.microsoft.com/office/drawing/2014/main" id="{47E16A53-5647-4653-8B7C-FB24591E157B}"/>
              </a:ext>
            </a:extLst>
          </p:cNvPr>
          <p:cNvSpPr>
            <a:spLocks noGrp="1"/>
          </p:cNvSpPr>
          <p:nvPr/>
        </p:nvSpPr>
        <p:spPr>
          <a:xfrm>
            <a:off x="1989535" y="1005902"/>
            <a:ext cx="814388" cy="1071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4288" tIns="7144" rIns="14288" bIns="7144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1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608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历史数据归档</a:t>
            </a:r>
          </a:p>
        </p:txBody>
      </p:sp>
      <p:sp>
        <p:nvSpPr>
          <p:cNvPr id="9" name="Potential to trigger-line">
            <a:extLst>
              <a:ext uri="{FF2B5EF4-FFF2-40B4-BE49-F238E27FC236}">
                <a16:creationId xmlns:a16="http://schemas.microsoft.com/office/drawing/2014/main" id="{89573014-B4AF-4E8E-AD82-064BDDEE1A32}"/>
              </a:ext>
            </a:extLst>
          </p:cNvPr>
          <p:cNvSpPr>
            <a:spLocks noGrp="1"/>
          </p:cNvSpPr>
          <p:nvPr/>
        </p:nvSpPr>
        <p:spPr>
          <a:xfrm>
            <a:off x="6478256" y="1134647"/>
            <a:ext cx="157163" cy="0"/>
          </a:xfrm>
          <a:prstGeom prst="line">
            <a:avLst/>
          </a:prstGeom>
          <a:noFill/>
          <a:ln w="12383">
            <a:solidFill>
              <a:srgbClr val="78B8EE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Potential to trigger-arrow">
            <a:extLst>
              <a:ext uri="{FF2B5EF4-FFF2-40B4-BE49-F238E27FC236}">
                <a16:creationId xmlns:a16="http://schemas.microsoft.com/office/drawing/2014/main" id="{F12334BE-D97F-4DF4-8F12-3F183ADCF9BD}"/>
              </a:ext>
            </a:extLst>
          </p:cNvPr>
          <p:cNvSpPr>
            <a:spLocks noGrp="1"/>
          </p:cNvSpPr>
          <p:nvPr/>
        </p:nvSpPr>
        <p:spPr>
          <a:xfrm rot="5400000">
            <a:off x="6656968" y="1111147"/>
            <a:ext cx="57150" cy="57150"/>
          </a:xfrm>
          <a:prstGeom prst="triangle">
            <a:avLst/>
          </a:prstGeom>
          <a:solidFill>
            <a:srgbClr val="78B8EE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Potential to trigger-label">
            <a:extLst>
              <a:ext uri="{FF2B5EF4-FFF2-40B4-BE49-F238E27FC236}">
                <a16:creationId xmlns:a16="http://schemas.microsoft.com/office/drawing/2014/main" id="{80DB67EA-8B9A-4903-B906-403319586C77}"/>
              </a:ext>
            </a:extLst>
          </p:cNvPr>
          <p:cNvSpPr>
            <a:spLocks noGrp="1"/>
          </p:cNvSpPr>
          <p:nvPr/>
        </p:nvSpPr>
        <p:spPr>
          <a:xfrm>
            <a:off x="6174647" y="998917"/>
            <a:ext cx="814388" cy="1071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4288" tIns="7144" rIns="14288" bIns="7144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1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608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可能触发</a:t>
            </a:r>
          </a:p>
        </p:txBody>
      </p:sp>
      <p:sp>
        <p:nvSpPr>
          <p:cNvPr id="12" name="chain-node-1">
            <a:extLst>
              <a:ext uri="{FF2B5EF4-FFF2-40B4-BE49-F238E27FC236}">
                <a16:creationId xmlns:a16="http://schemas.microsoft.com/office/drawing/2014/main" id="{254E4E8B-E640-4473-BFCF-A3A04041307C}"/>
              </a:ext>
            </a:extLst>
          </p:cNvPr>
          <p:cNvSpPr>
            <a:spLocks noGrp="1"/>
          </p:cNvSpPr>
          <p:nvPr/>
        </p:nvSpPr>
        <p:spPr>
          <a:xfrm>
            <a:off x="2229345" y="1106073"/>
            <a:ext cx="57150" cy="57150"/>
          </a:xfrm>
          <a:prstGeom prst="ellipse">
            <a:avLst/>
          </a:prstGeom>
          <a:solidFill>
            <a:srgbClr val="4D9FE8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chain-node-2">
            <a:extLst>
              <a:ext uri="{FF2B5EF4-FFF2-40B4-BE49-F238E27FC236}">
                <a16:creationId xmlns:a16="http://schemas.microsoft.com/office/drawing/2014/main" id="{5D2ECF44-9E92-4976-BF1E-AEA5C9781AAC}"/>
              </a:ext>
            </a:extLst>
          </p:cNvPr>
          <p:cNvSpPr>
            <a:spLocks noGrp="1"/>
          </p:cNvSpPr>
          <p:nvPr/>
        </p:nvSpPr>
        <p:spPr>
          <a:xfrm>
            <a:off x="6449681" y="1106072"/>
            <a:ext cx="57150" cy="57150"/>
          </a:xfrm>
          <a:prstGeom prst="ellipse">
            <a:avLst/>
          </a:prstGeom>
          <a:solidFill>
            <a:srgbClr val="78B8EE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divider-1">
            <a:extLst>
              <a:ext uri="{FF2B5EF4-FFF2-40B4-BE49-F238E27FC236}">
                <a16:creationId xmlns:a16="http://schemas.microsoft.com/office/drawing/2014/main" id="{291939E0-E177-4C36-A169-5C5F8166A9E4}"/>
              </a:ext>
            </a:extLst>
          </p:cNvPr>
          <p:cNvSpPr>
            <a:spLocks noGrp="1"/>
          </p:cNvSpPr>
          <p:nvPr/>
        </p:nvSpPr>
        <p:spPr>
          <a:xfrm>
            <a:off x="2364581" y="1148937"/>
            <a:ext cx="0" cy="3228975"/>
          </a:xfrm>
          <a:prstGeom prst="line">
            <a:avLst/>
          </a:prstGeom>
          <a:noFill/>
          <a:ln w="9525">
            <a:solidFill>
              <a:srgbClr val="E7EF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divider-2">
            <a:extLst>
              <a:ext uri="{FF2B5EF4-FFF2-40B4-BE49-F238E27FC236}">
                <a16:creationId xmlns:a16="http://schemas.microsoft.com/office/drawing/2014/main" id="{8B53C545-27A7-47E1-BEA0-13B0043816AA}"/>
              </a:ext>
            </a:extLst>
          </p:cNvPr>
          <p:cNvSpPr>
            <a:spLocks noGrp="1"/>
          </p:cNvSpPr>
          <p:nvPr/>
        </p:nvSpPr>
        <p:spPr>
          <a:xfrm>
            <a:off x="6586201" y="1170207"/>
            <a:ext cx="0" cy="3228975"/>
          </a:xfrm>
          <a:prstGeom prst="line">
            <a:avLst/>
          </a:prstGeom>
          <a:noFill/>
          <a:ln w="9525">
            <a:solidFill>
              <a:srgbClr val="E7EF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pillar-01-number">
            <a:extLst>
              <a:ext uri="{FF2B5EF4-FFF2-40B4-BE49-F238E27FC236}">
                <a16:creationId xmlns:a16="http://schemas.microsoft.com/office/drawing/2014/main" id="{A0A29B7F-B3CB-4A8C-856D-9BD06199BF3C}"/>
              </a:ext>
            </a:extLst>
          </p:cNvPr>
          <p:cNvSpPr>
            <a:spLocks noGrp="1"/>
          </p:cNvSpPr>
          <p:nvPr/>
        </p:nvSpPr>
        <p:spPr>
          <a:xfrm>
            <a:off x="343395" y="1259584"/>
            <a:ext cx="3429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4288" tIns="7144" rIns="14288" bIns="7144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DCEEFF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1575" b="1" i="0" u="none" strike="noStrike" kern="1200" cap="none" spc="0" normalizeH="0" baseline="0" noProof="0">
                <a:ln>
                  <a:solidFill>
                    <a:srgbClr val="009CDE">
                      <a:lumMod val="50000"/>
                    </a:srgbClr>
                  </a:solidFill>
                </a:ln>
                <a:solidFill>
                  <a:srgbClr val="009CDE">
                    <a:lumMod val="5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7" name="pillar-01-title">
            <a:extLst>
              <a:ext uri="{FF2B5EF4-FFF2-40B4-BE49-F238E27FC236}">
                <a16:creationId xmlns:a16="http://schemas.microsoft.com/office/drawing/2014/main" id="{8FD22897-D61F-4DDE-B2A4-0C327CE9878D}"/>
              </a:ext>
            </a:extLst>
          </p:cNvPr>
          <p:cNvSpPr>
            <a:spLocks noGrp="1"/>
          </p:cNvSpPr>
          <p:nvPr/>
        </p:nvSpPr>
        <p:spPr>
          <a:xfrm>
            <a:off x="664864" y="1273871"/>
            <a:ext cx="1571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4288" tIns="7144" rIns="14288" bIns="7144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63" b="1">
                <a:solidFill>
                  <a:srgbClr val="005EB8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05EB8"/>
                </a:solidFill>
                <a:effectLst/>
                <a:uLnTx/>
                <a:uFillTx/>
                <a:latin typeface="Microsoft YaHei"/>
                <a:ea typeface="Microsoft YaHei"/>
              </a:rPr>
              <a:t>范围内的现存系统</a:t>
            </a:r>
          </a:p>
        </p:txBody>
      </p:sp>
      <p:sp>
        <p:nvSpPr>
          <p:cNvPr id="18" name="pillar-01-accent">
            <a:extLst>
              <a:ext uri="{FF2B5EF4-FFF2-40B4-BE49-F238E27FC236}">
                <a16:creationId xmlns:a16="http://schemas.microsoft.com/office/drawing/2014/main" id="{B436AFE3-B90F-4218-B70B-95290A0DE4AC}"/>
              </a:ext>
            </a:extLst>
          </p:cNvPr>
          <p:cNvSpPr>
            <a:spLocks noGrp="1"/>
          </p:cNvSpPr>
          <p:nvPr/>
        </p:nvSpPr>
        <p:spPr>
          <a:xfrm>
            <a:off x="664864" y="1484692"/>
            <a:ext cx="442913" cy="0"/>
          </a:xfrm>
          <a:prstGeom prst="line">
            <a:avLst/>
          </a:prstGeom>
          <a:noFill/>
          <a:ln w="19050">
            <a:solidFill>
              <a:srgbClr val="4D9F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galaxy-node">
            <a:extLst>
              <a:ext uri="{FF2B5EF4-FFF2-40B4-BE49-F238E27FC236}">
                <a16:creationId xmlns:a16="http://schemas.microsoft.com/office/drawing/2014/main" id="{614FCD1B-9659-46F4-A1B5-A40B2862E37E}"/>
              </a:ext>
            </a:extLst>
          </p:cNvPr>
          <p:cNvSpPr>
            <a:spLocks noGrp="1"/>
          </p:cNvSpPr>
          <p:nvPr/>
        </p:nvSpPr>
        <p:spPr>
          <a:xfrm>
            <a:off x="589358" y="1881171"/>
            <a:ext cx="721519" cy="41433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9525">
            <a:solidFill>
              <a:srgbClr val="D5E4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galaxy-node-icon">
            <a:extLst>
              <a:ext uri="{FF2B5EF4-FFF2-40B4-BE49-F238E27FC236}">
                <a16:creationId xmlns:a16="http://schemas.microsoft.com/office/drawing/2014/main" id="{8FF0EC1A-D88D-45B5-B8D0-0661A6001E23}"/>
              </a:ext>
            </a:extLst>
          </p:cNvPr>
          <p:cNvSpPr>
            <a:spLocks noGrp="1"/>
          </p:cNvSpPr>
          <p:nvPr/>
        </p:nvSpPr>
        <p:spPr>
          <a:xfrm>
            <a:off x="653652" y="1988328"/>
            <a:ext cx="171450" cy="192881"/>
          </a:xfrm>
          <a:prstGeom prst="roundRect">
            <a:avLst>
              <a:gd name="adj" fmla="val 21739"/>
            </a:avLst>
          </a:prstGeom>
          <a:solidFill>
            <a:srgbClr val="EAF5FC"/>
          </a:solidFill>
          <a:ln w="7620">
            <a:solidFill>
              <a:srgbClr val="78B8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galaxy-node-icon-line-1">
            <a:extLst>
              <a:ext uri="{FF2B5EF4-FFF2-40B4-BE49-F238E27FC236}">
                <a16:creationId xmlns:a16="http://schemas.microsoft.com/office/drawing/2014/main" id="{AD940185-BBA0-4E17-81A1-7D8158E39752}"/>
              </a:ext>
            </a:extLst>
          </p:cNvPr>
          <p:cNvSpPr>
            <a:spLocks noGrp="1"/>
          </p:cNvSpPr>
          <p:nvPr/>
        </p:nvSpPr>
        <p:spPr>
          <a:xfrm>
            <a:off x="689370" y="2038333"/>
            <a:ext cx="100013" cy="0"/>
          </a:xfrm>
          <a:prstGeom prst="line">
            <a:avLst/>
          </a:prstGeom>
          <a:noFill/>
          <a:ln w="10478">
            <a:solidFill>
              <a:srgbClr val="4D9F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galaxy-node-icon-line-2">
            <a:extLst>
              <a:ext uri="{FF2B5EF4-FFF2-40B4-BE49-F238E27FC236}">
                <a16:creationId xmlns:a16="http://schemas.microsoft.com/office/drawing/2014/main" id="{DF85BCF7-74D2-48F9-BF72-F89CF36880ED}"/>
              </a:ext>
            </a:extLst>
          </p:cNvPr>
          <p:cNvSpPr>
            <a:spLocks noGrp="1"/>
          </p:cNvSpPr>
          <p:nvPr/>
        </p:nvSpPr>
        <p:spPr>
          <a:xfrm>
            <a:off x="689370" y="2088340"/>
            <a:ext cx="100013" cy="0"/>
          </a:xfrm>
          <a:prstGeom prst="line">
            <a:avLst/>
          </a:prstGeom>
          <a:noFill/>
          <a:ln w="10478">
            <a:solidFill>
              <a:srgbClr val="4D9F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galaxy-node-icon-line-3">
            <a:extLst>
              <a:ext uri="{FF2B5EF4-FFF2-40B4-BE49-F238E27FC236}">
                <a16:creationId xmlns:a16="http://schemas.microsoft.com/office/drawing/2014/main" id="{8491404A-FFCB-4434-94BF-1EB98F42E6C7}"/>
              </a:ext>
            </a:extLst>
          </p:cNvPr>
          <p:cNvSpPr>
            <a:spLocks noGrp="1"/>
          </p:cNvSpPr>
          <p:nvPr/>
        </p:nvSpPr>
        <p:spPr>
          <a:xfrm>
            <a:off x="689370" y="2138346"/>
            <a:ext cx="100013" cy="0"/>
          </a:xfrm>
          <a:prstGeom prst="line">
            <a:avLst/>
          </a:prstGeom>
          <a:noFill/>
          <a:ln w="10478">
            <a:solidFill>
              <a:srgbClr val="4D9F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galaxy-node-label">
            <a:extLst>
              <a:ext uri="{FF2B5EF4-FFF2-40B4-BE49-F238E27FC236}">
                <a16:creationId xmlns:a16="http://schemas.microsoft.com/office/drawing/2014/main" id="{1CD08BA4-F20B-4E02-957F-9E7C15BA5187}"/>
              </a:ext>
            </a:extLst>
          </p:cNvPr>
          <p:cNvSpPr>
            <a:spLocks noGrp="1"/>
          </p:cNvSpPr>
          <p:nvPr/>
        </p:nvSpPr>
        <p:spPr>
          <a:xfrm>
            <a:off x="839390" y="1924033"/>
            <a:ext cx="450056" cy="3286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4288" tIns="7144" rIns="14288" bIns="7144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6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799" b="1" i="0" u="none" strike="noStrike" kern="1200" cap="none" spc="0" normalizeH="0" baseline="0" noProof="0">
                <a:ln>
                  <a:noFill/>
                </a:ln>
                <a:solidFill>
                  <a:srgbClr val="263238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银河</a:t>
            </a:r>
            <a:endParaRPr kumimoji="0" lang="en-US" sz="799" b="1" i="0" u="none" strike="noStrike" kern="1200" cap="none" spc="0" normalizeH="0" baseline="0" noProof="0">
              <a:ln>
                <a:noFill/>
              </a:ln>
              <a:solidFill>
                <a:srgbClr val="263238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6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lang="zh-CN" altLang="en-US" sz="700" b="1" i="0" u="none" strike="noStrike" kern="1200" cap="none" spc="0" normalizeH="0" baseline="0" noProof="0">
                <a:ln>
                  <a:noFill/>
                </a:ln>
                <a:solidFill>
                  <a:srgbClr val="D9D9D6">
                    <a:lumMod val="50000"/>
                  </a:srgbClr>
                </a:solidFill>
                <a:effectLst/>
                <a:uLnTx/>
                <a:uFillTx/>
                <a:latin typeface="Microsoft YaHei"/>
                <a:ea typeface="Microsoft YaHei"/>
              </a:rPr>
              <a:t>数据总量：</a:t>
            </a:r>
            <a:r>
              <a:rPr kumimoji="0" lang="en-US" altLang="zh-CN" sz="700" b="1" i="0" u="none" strike="noStrike" kern="1200" cap="none" spc="0" normalizeH="0" baseline="0" noProof="0">
                <a:ln>
                  <a:noFill/>
                </a:ln>
                <a:solidFill>
                  <a:srgbClr val="D9D9D6">
                    <a:lumMod val="50000"/>
                  </a:srgbClr>
                </a:solidFill>
                <a:effectLst/>
                <a:uLnTx/>
                <a:uFillTx/>
                <a:latin typeface="Microsoft YaHei"/>
                <a:ea typeface="Microsoft YaHei"/>
              </a:rPr>
              <a:t>1.5T</a:t>
            </a:r>
            <a:endParaRPr kumimoji="0" sz="700" b="1" i="0" u="none" strike="noStrike" kern="1200" cap="none" spc="0" normalizeH="0" baseline="0" noProof="0">
              <a:ln>
                <a:noFill/>
              </a:ln>
              <a:solidFill>
                <a:srgbClr val="D9D9D6">
                  <a:lumMod val="50000"/>
                </a:srgbClr>
              </a:solidFill>
              <a:effectLst/>
              <a:uLnTx/>
              <a:uFillTx/>
              <a:latin typeface="Microsoft YaHei"/>
              <a:ea typeface="Microsoft YaHei"/>
            </a:endParaRPr>
          </a:p>
        </p:txBody>
      </p:sp>
      <p:sp>
        <p:nvSpPr>
          <p:cNvPr id="25" name="dht-node">
            <a:extLst>
              <a:ext uri="{FF2B5EF4-FFF2-40B4-BE49-F238E27FC236}">
                <a16:creationId xmlns:a16="http://schemas.microsoft.com/office/drawing/2014/main" id="{6F069A30-67CB-4BE2-B847-25EDFAAA3483}"/>
              </a:ext>
            </a:extLst>
          </p:cNvPr>
          <p:cNvSpPr>
            <a:spLocks noGrp="1"/>
          </p:cNvSpPr>
          <p:nvPr/>
        </p:nvSpPr>
        <p:spPr>
          <a:xfrm>
            <a:off x="1360883" y="1881171"/>
            <a:ext cx="721519" cy="41433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9525">
            <a:solidFill>
              <a:srgbClr val="D5E4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dht-node-icon">
            <a:extLst>
              <a:ext uri="{FF2B5EF4-FFF2-40B4-BE49-F238E27FC236}">
                <a16:creationId xmlns:a16="http://schemas.microsoft.com/office/drawing/2014/main" id="{9A73D9DE-D641-490F-8E83-209352AC6E68}"/>
              </a:ext>
            </a:extLst>
          </p:cNvPr>
          <p:cNvSpPr>
            <a:spLocks noGrp="1"/>
          </p:cNvSpPr>
          <p:nvPr/>
        </p:nvSpPr>
        <p:spPr>
          <a:xfrm>
            <a:off x="1425177" y="1988328"/>
            <a:ext cx="171450" cy="192881"/>
          </a:xfrm>
          <a:prstGeom prst="roundRect">
            <a:avLst>
              <a:gd name="adj" fmla="val 21739"/>
            </a:avLst>
          </a:prstGeom>
          <a:solidFill>
            <a:srgbClr val="EAF5FC"/>
          </a:solidFill>
          <a:ln w="7620">
            <a:solidFill>
              <a:srgbClr val="78B8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dht-node-icon-line-1">
            <a:extLst>
              <a:ext uri="{FF2B5EF4-FFF2-40B4-BE49-F238E27FC236}">
                <a16:creationId xmlns:a16="http://schemas.microsoft.com/office/drawing/2014/main" id="{2708700B-028E-4550-BE07-FC0601454DC1}"/>
              </a:ext>
            </a:extLst>
          </p:cNvPr>
          <p:cNvSpPr>
            <a:spLocks noGrp="1"/>
          </p:cNvSpPr>
          <p:nvPr/>
        </p:nvSpPr>
        <p:spPr>
          <a:xfrm>
            <a:off x="1460895" y="2038333"/>
            <a:ext cx="100013" cy="0"/>
          </a:xfrm>
          <a:prstGeom prst="line">
            <a:avLst/>
          </a:prstGeom>
          <a:noFill/>
          <a:ln w="10478">
            <a:solidFill>
              <a:srgbClr val="4D9F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dht-node-icon-line-2">
            <a:extLst>
              <a:ext uri="{FF2B5EF4-FFF2-40B4-BE49-F238E27FC236}">
                <a16:creationId xmlns:a16="http://schemas.microsoft.com/office/drawing/2014/main" id="{736F80FA-FD86-4485-BBC9-F27C42215EEE}"/>
              </a:ext>
            </a:extLst>
          </p:cNvPr>
          <p:cNvSpPr>
            <a:spLocks noGrp="1"/>
          </p:cNvSpPr>
          <p:nvPr/>
        </p:nvSpPr>
        <p:spPr>
          <a:xfrm>
            <a:off x="1460895" y="2088340"/>
            <a:ext cx="100013" cy="0"/>
          </a:xfrm>
          <a:prstGeom prst="line">
            <a:avLst/>
          </a:prstGeom>
          <a:noFill/>
          <a:ln w="10478">
            <a:solidFill>
              <a:srgbClr val="4D9F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dht-node-icon-line-3">
            <a:extLst>
              <a:ext uri="{FF2B5EF4-FFF2-40B4-BE49-F238E27FC236}">
                <a16:creationId xmlns:a16="http://schemas.microsoft.com/office/drawing/2014/main" id="{E9B34C6F-57CB-48A3-8092-257959707746}"/>
              </a:ext>
            </a:extLst>
          </p:cNvPr>
          <p:cNvSpPr>
            <a:spLocks noGrp="1"/>
          </p:cNvSpPr>
          <p:nvPr/>
        </p:nvSpPr>
        <p:spPr>
          <a:xfrm>
            <a:off x="1460895" y="2138346"/>
            <a:ext cx="100013" cy="0"/>
          </a:xfrm>
          <a:prstGeom prst="line">
            <a:avLst/>
          </a:prstGeom>
          <a:noFill/>
          <a:ln w="10478">
            <a:solidFill>
              <a:srgbClr val="4D9F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dht-node-label">
            <a:extLst>
              <a:ext uri="{FF2B5EF4-FFF2-40B4-BE49-F238E27FC236}">
                <a16:creationId xmlns:a16="http://schemas.microsoft.com/office/drawing/2014/main" id="{5F69CD7D-E078-484A-8DEF-A3B151D6DC07}"/>
              </a:ext>
            </a:extLst>
          </p:cNvPr>
          <p:cNvSpPr>
            <a:spLocks noGrp="1"/>
          </p:cNvSpPr>
          <p:nvPr/>
        </p:nvSpPr>
        <p:spPr>
          <a:xfrm>
            <a:off x="1610915" y="1924033"/>
            <a:ext cx="450056" cy="3286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4288" tIns="7144" rIns="14288" bIns="7144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28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771" b="1" i="0" u="none" strike="noStrike" kern="1200" cap="none" spc="0" normalizeH="0" baseline="0" noProof="0">
                <a:ln>
                  <a:noFill/>
                </a:ln>
                <a:solidFill>
                  <a:srgbClr val="263238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DHT</a:t>
            </a:r>
            <a:endParaRPr kumimoji="0" lang="en-US" sz="771" b="1" i="0" u="none" strike="noStrike" kern="1200" cap="none" spc="0" normalizeH="0" baseline="0" noProof="0">
              <a:ln>
                <a:noFill/>
              </a:ln>
              <a:solidFill>
                <a:srgbClr val="263238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28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lang="zh-CN" altLang="en-US" sz="700" b="1" i="0" u="none" strike="noStrike" kern="1200" cap="none" spc="0" normalizeH="0" baseline="0" noProof="0">
                <a:ln>
                  <a:noFill/>
                </a:ln>
                <a:solidFill>
                  <a:srgbClr val="D9D9D6">
                    <a:lumMod val="5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数据总量：</a:t>
            </a:r>
            <a:r>
              <a:rPr kumimoji="0" lang="en-US" altLang="zh-CN" sz="700" b="1" i="0" u="none" strike="noStrike" kern="1200" cap="none" spc="0" normalizeH="0" baseline="0" noProof="0">
                <a:ln>
                  <a:noFill/>
                </a:ln>
                <a:solidFill>
                  <a:srgbClr val="D9D9D6">
                    <a:lumMod val="5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1.8T</a:t>
            </a:r>
          </a:p>
        </p:txBody>
      </p:sp>
      <p:sp>
        <p:nvSpPr>
          <p:cNvPr id="31" name="nexbpm-node">
            <a:extLst>
              <a:ext uri="{FF2B5EF4-FFF2-40B4-BE49-F238E27FC236}">
                <a16:creationId xmlns:a16="http://schemas.microsoft.com/office/drawing/2014/main" id="{1E6458BB-003C-456F-970C-385F49AFB3C1}"/>
              </a:ext>
            </a:extLst>
          </p:cNvPr>
          <p:cNvSpPr>
            <a:spLocks noGrp="1"/>
          </p:cNvSpPr>
          <p:nvPr/>
        </p:nvSpPr>
        <p:spPr>
          <a:xfrm>
            <a:off x="589358" y="2459814"/>
            <a:ext cx="721519" cy="41433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9525">
            <a:solidFill>
              <a:srgbClr val="D5E4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nexbpm-node-icon">
            <a:extLst>
              <a:ext uri="{FF2B5EF4-FFF2-40B4-BE49-F238E27FC236}">
                <a16:creationId xmlns:a16="http://schemas.microsoft.com/office/drawing/2014/main" id="{C3697C63-A1F2-4890-84FF-BB2BF6C28F2F}"/>
              </a:ext>
            </a:extLst>
          </p:cNvPr>
          <p:cNvSpPr>
            <a:spLocks noGrp="1"/>
          </p:cNvSpPr>
          <p:nvPr/>
        </p:nvSpPr>
        <p:spPr>
          <a:xfrm>
            <a:off x="653652" y="2566971"/>
            <a:ext cx="171450" cy="192881"/>
          </a:xfrm>
          <a:prstGeom prst="roundRect">
            <a:avLst>
              <a:gd name="adj" fmla="val 21739"/>
            </a:avLst>
          </a:prstGeom>
          <a:solidFill>
            <a:srgbClr val="EAF5FC"/>
          </a:solidFill>
          <a:ln w="7620">
            <a:solidFill>
              <a:srgbClr val="78B8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nexbpm-node-icon-line-1">
            <a:extLst>
              <a:ext uri="{FF2B5EF4-FFF2-40B4-BE49-F238E27FC236}">
                <a16:creationId xmlns:a16="http://schemas.microsoft.com/office/drawing/2014/main" id="{C728A1EE-51F5-4472-B1F1-5A96698F12C4}"/>
              </a:ext>
            </a:extLst>
          </p:cNvPr>
          <p:cNvSpPr>
            <a:spLocks noGrp="1"/>
          </p:cNvSpPr>
          <p:nvPr/>
        </p:nvSpPr>
        <p:spPr>
          <a:xfrm>
            <a:off x="689370" y="2616977"/>
            <a:ext cx="100013" cy="0"/>
          </a:xfrm>
          <a:prstGeom prst="line">
            <a:avLst/>
          </a:prstGeom>
          <a:noFill/>
          <a:ln w="10478">
            <a:solidFill>
              <a:srgbClr val="4D9F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nexbpm-node-icon-line-2">
            <a:extLst>
              <a:ext uri="{FF2B5EF4-FFF2-40B4-BE49-F238E27FC236}">
                <a16:creationId xmlns:a16="http://schemas.microsoft.com/office/drawing/2014/main" id="{A640F8DD-3ECD-490E-BF46-F1AFF2311075}"/>
              </a:ext>
            </a:extLst>
          </p:cNvPr>
          <p:cNvSpPr>
            <a:spLocks noGrp="1"/>
          </p:cNvSpPr>
          <p:nvPr/>
        </p:nvSpPr>
        <p:spPr>
          <a:xfrm>
            <a:off x="689370" y="2666983"/>
            <a:ext cx="100013" cy="0"/>
          </a:xfrm>
          <a:prstGeom prst="line">
            <a:avLst/>
          </a:prstGeom>
          <a:noFill/>
          <a:ln w="10478">
            <a:solidFill>
              <a:srgbClr val="4D9F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nexbpm-node-icon-line-3">
            <a:extLst>
              <a:ext uri="{FF2B5EF4-FFF2-40B4-BE49-F238E27FC236}">
                <a16:creationId xmlns:a16="http://schemas.microsoft.com/office/drawing/2014/main" id="{6149BB24-6EA8-4ECE-9A46-0EFCEDE4C637}"/>
              </a:ext>
            </a:extLst>
          </p:cNvPr>
          <p:cNvSpPr>
            <a:spLocks noGrp="1"/>
          </p:cNvSpPr>
          <p:nvPr/>
        </p:nvSpPr>
        <p:spPr>
          <a:xfrm>
            <a:off x="689370" y="2716990"/>
            <a:ext cx="100013" cy="0"/>
          </a:xfrm>
          <a:prstGeom prst="line">
            <a:avLst/>
          </a:prstGeom>
          <a:noFill/>
          <a:ln w="10478">
            <a:solidFill>
              <a:srgbClr val="4D9F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nexbpm-node-label">
            <a:extLst>
              <a:ext uri="{FF2B5EF4-FFF2-40B4-BE49-F238E27FC236}">
                <a16:creationId xmlns:a16="http://schemas.microsoft.com/office/drawing/2014/main" id="{04B2EC92-0608-407B-97AA-8889376F643B}"/>
              </a:ext>
            </a:extLst>
          </p:cNvPr>
          <p:cNvSpPr>
            <a:spLocks noGrp="1"/>
          </p:cNvSpPr>
          <p:nvPr/>
        </p:nvSpPr>
        <p:spPr>
          <a:xfrm>
            <a:off x="839390" y="2502677"/>
            <a:ext cx="450056" cy="3286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4288" tIns="7144" rIns="14288" bIns="7144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1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608" b="1" i="0" u="none" strike="noStrike" kern="1200" cap="none" spc="0" normalizeH="0" baseline="0" noProof="0">
                <a:ln>
                  <a:noFill/>
                </a:ln>
                <a:solidFill>
                  <a:srgbClr val="263238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NEXBPM</a:t>
            </a:r>
            <a:endParaRPr kumimoji="0" lang="en-US" sz="608" b="1" i="0" u="none" strike="noStrike" kern="1200" cap="none" spc="0" normalizeH="0" baseline="0" noProof="0">
              <a:ln>
                <a:noFill/>
              </a:ln>
              <a:solidFill>
                <a:srgbClr val="263238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1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lang="zh-CN" altLang="en-US" sz="700" b="1" i="0" u="none" strike="noStrike" kern="1200" cap="none" spc="0" normalizeH="0" baseline="0" noProof="0">
                <a:ln>
                  <a:noFill/>
                </a:ln>
                <a:solidFill>
                  <a:srgbClr val="D9D9D6">
                    <a:lumMod val="5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数据总量：</a:t>
            </a:r>
            <a:r>
              <a:rPr kumimoji="0" lang="en-US" altLang="zh-CN" sz="700" b="1" i="0" u="none" strike="noStrike" kern="1200" cap="none" spc="0" normalizeH="0" baseline="0" noProof="0">
                <a:ln>
                  <a:noFill/>
                </a:ln>
                <a:solidFill>
                  <a:srgbClr val="D9D9D6">
                    <a:lumMod val="5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150G</a:t>
            </a:r>
          </a:p>
        </p:txBody>
      </p:sp>
      <p:sp>
        <p:nvSpPr>
          <p:cNvPr id="37" name="dspot-node">
            <a:extLst>
              <a:ext uri="{FF2B5EF4-FFF2-40B4-BE49-F238E27FC236}">
                <a16:creationId xmlns:a16="http://schemas.microsoft.com/office/drawing/2014/main" id="{7790DC62-825B-4B4F-BAB1-9AD8BAE10DF7}"/>
              </a:ext>
            </a:extLst>
          </p:cNvPr>
          <p:cNvSpPr>
            <a:spLocks noGrp="1"/>
          </p:cNvSpPr>
          <p:nvPr/>
        </p:nvSpPr>
        <p:spPr>
          <a:xfrm>
            <a:off x="1360883" y="2459814"/>
            <a:ext cx="721519" cy="41433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9525">
            <a:solidFill>
              <a:srgbClr val="D5E4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dspot-node-icon">
            <a:extLst>
              <a:ext uri="{FF2B5EF4-FFF2-40B4-BE49-F238E27FC236}">
                <a16:creationId xmlns:a16="http://schemas.microsoft.com/office/drawing/2014/main" id="{A8AE7550-59E9-49A3-ADEF-D9E5BA30C045}"/>
              </a:ext>
            </a:extLst>
          </p:cNvPr>
          <p:cNvSpPr>
            <a:spLocks noGrp="1"/>
          </p:cNvSpPr>
          <p:nvPr/>
        </p:nvSpPr>
        <p:spPr>
          <a:xfrm>
            <a:off x="1425177" y="2566971"/>
            <a:ext cx="171450" cy="192881"/>
          </a:xfrm>
          <a:prstGeom prst="roundRect">
            <a:avLst>
              <a:gd name="adj" fmla="val 21739"/>
            </a:avLst>
          </a:prstGeom>
          <a:solidFill>
            <a:srgbClr val="EAF5FC"/>
          </a:solidFill>
          <a:ln w="7620">
            <a:solidFill>
              <a:srgbClr val="78B8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dspot-node-icon-line-1">
            <a:extLst>
              <a:ext uri="{FF2B5EF4-FFF2-40B4-BE49-F238E27FC236}">
                <a16:creationId xmlns:a16="http://schemas.microsoft.com/office/drawing/2014/main" id="{03F3EDA0-580D-402E-9B59-2F22D2CD5A98}"/>
              </a:ext>
            </a:extLst>
          </p:cNvPr>
          <p:cNvSpPr>
            <a:spLocks noGrp="1"/>
          </p:cNvSpPr>
          <p:nvPr/>
        </p:nvSpPr>
        <p:spPr>
          <a:xfrm>
            <a:off x="1460895" y="2616977"/>
            <a:ext cx="100013" cy="0"/>
          </a:xfrm>
          <a:prstGeom prst="line">
            <a:avLst/>
          </a:prstGeom>
          <a:noFill/>
          <a:ln w="10478">
            <a:solidFill>
              <a:srgbClr val="4D9F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dspot-node-icon-line-2">
            <a:extLst>
              <a:ext uri="{FF2B5EF4-FFF2-40B4-BE49-F238E27FC236}">
                <a16:creationId xmlns:a16="http://schemas.microsoft.com/office/drawing/2014/main" id="{9DA5E3E7-825F-4131-B64E-5ACF49C2FD5A}"/>
              </a:ext>
            </a:extLst>
          </p:cNvPr>
          <p:cNvSpPr>
            <a:spLocks noGrp="1"/>
          </p:cNvSpPr>
          <p:nvPr/>
        </p:nvSpPr>
        <p:spPr>
          <a:xfrm>
            <a:off x="1460895" y="2666983"/>
            <a:ext cx="100013" cy="0"/>
          </a:xfrm>
          <a:prstGeom prst="line">
            <a:avLst/>
          </a:prstGeom>
          <a:noFill/>
          <a:ln w="10478">
            <a:solidFill>
              <a:srgbClr val="4D9F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dspot-node-icon-line-3">
            <a:extLst>
              <a:ext uri="{FF2B5EF4-FFF2-40B4-BE49-F238E27FC236}">
                <a16:creationId xmlns:a16="http://schemas.microsoft.com/office/drawing/2014/main" id="{42D8CE8E-1BC2-4367-89C1-B313539A2C1C}"/>
              </a:ext>
            </a:extLst>
          </p:cNvPr>
          <p:cNvSpPr>
            <a:spLocks noGrp="1"/>
          </p:cNvSpPr>
          <p:nvPr/>
        </p:nvSpPr>
        <p:spPr>
          <a:xfrm>
            <a:off x="1460895" y="2716990"/>
            <a:ext cx="100013" cy="0"/>
          </a:xfrm>
          <a:prstGeom prst="line">
            <a:avLst/>
          </a:prstGeom>
          <a:noFill/>
          <a:ln w="10478">
            <a:solidFill>
              <a:srgbClr val="4D9F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dspot-node-label">
            <a:extLst>
              <a:ext uri="{FF2B5EF4-FFF2-40B4-BE49-F238E27FC236}">
                <a16:creationId xmlns:a16="http://schemas.microsoft.com/office/drawing/2014/main" id="{A5C984E6-D905-41F4-8482-EEC1A7B6CF4E}"/>
              </a:ext>
            </a:extLst>
          </p:cNvPr>
          <p:cNvSpPr>
            <a:spLocks noGrp="1"/>
          </p:cNvSpPr>
          <p:nvPr/>
        </p:nvSpPr>
        <p:spPr>
          <a:xfrm>
            <a:off x="1610915" y="2502677"/>
            <a:ext cx="450056" cy="3286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4288" tIns="7144" rIns="14288" bIns="7144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9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743" b="1" i="0" u="none" strike="noStrike" kern="1200" cap="none" spc="0" normalizeH="0" baseline="0" noProof="0">
                <a:ln>
                  <a:noFill/>
                </a:ln>
                <a:solidFill>
                  <a:srgbClr val="263238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Dspot</a:t>
            </a:r>
            <a:endParaRPr kumimoji="0" lang="en-US" sz="743" b="1" i="0" u="none" strike="noStrike" kern="1200" cap="none" spc="0" normalizeH="0" baseline="0" noProof="0">
              <a:ln>
                <a:noFill/>
              </a:ln>
              <a:solidFill>
                <a:srgbClr val="263238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9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lang="zh-CN" altLang="en-US" sz="700" b="1" i="0" u="none" strike="noStrike" kern="1200" cap="none" spc="0" normalizeH="0" baseline="0" noProof="0">
                <a:ln>
                  <a:noFill/>
                </a:ln>
                <a:solidFill>
                  <a:srgbClr val="D9D9D6">
                    <a:lumMod val="5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数据总量：</a:t>
            </a:r>
            <a:r>
              <a:rPr kumimoji="0" lang="en-US" altLang="zh-CN" sz="700" b="1" i="0" u="none" strike="noStrike" kern="1200" cap="none" spc="0" normalizeH="0" baseline="0" noProof="0">
                <a:ln>
                  <a:noFill/>
                </a:ln>
                <a:solidFill>
                  <a:srgbClr val="D9D9D6">
                    <a:lumMod val="5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20G</a:t>
            </a:r>
          </a:p>
        </p:txBody>
      </p:sp>
      <p:sp>
        <p:nvSpPr>
          <p:cNvPr id="53" name="network-spine">
            <a:extLst>
              <a:ext uri="{FF2B5EF4-FFF2-40B4-BE49-F238E27FC236}">
                <a16:creationId xmlns:a16="http://schemas.microsoft.com/office/drawing/2014/main" id="{4309F596-70CE-4A2E-8CBD-3DC3E4256290}"/>
              </a:ext>
            </a:extLst>
          </p:cNvPr>
          <p:cNvSpPr>
            <a:spLocks noGrp="1"/>
          </p:cNvSpPr>
          <p:nvPr/>
        </p:nvSpPr>
        <p:spPr>
          <a:xfrm flipH="1">
            <a:off x="1313645" y="2995312"/>
            <a:ext cx="7144" cy="612456"/>
          </a:xfrm>
          <a:prstGeom prst="line">
            <a:avLst/>
          </a:prstGeom>
          <a:noFill/>
          <a:ln w="11430">
            <a:solidFill>
              <a:srgbClr val="78B8EE"/>
            </a:solidFill>
            <a:prstDash val="dashDot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offload-label-bg">
            <a:extLst>
              <a:ext uri="{FF2B5EF4-FFF2-40B4-BE49-F238E27FC236}">
                <a16:creationId xmlns:a16="http://schemas.microsoft.com/office/drawing/2014/main" id="{95235C8A-4CCE-47C9-B5C7-0C128EE11C26}"/>
              </a:ext>
            </a:extLst>
          </p:cNvPr>
          <p:cNvSpPr>
            <a:spLocks noGrp="1"/>
          </p:cNvSpPr>
          <p:nvPr/>
        </p:nvSpPr>
        <p:spPr>
          <a:xfrm>
            <a:off x="834792" y="3080938"/>
            <a:ext cx="942975" cy="200025"/>
          </a:xfrm>
          <a:prstGeom prst="roundRect">
            <a:avLst>
              <a:gd name="adj" fmla="val 48000"/>
            </a:avLst>
          </a:prstGeom>
          <a:solidFill>
            <a:srgbClr val="FFFFFF"/>
          </a:solidFill>
          <a:ln w="9525">
            <a:solidFill>
              <a:srgbClr val="DCEE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9" name="offload-label">
            <a:extLst>
              <a:ext uri="{FF2B5EF4-FFF2-40B4-BE49-F238E27FC236}">
                <a16:creationId xmlns:a16="http://schemas.microsoft.com/office/drawing/2014/main" id="{90C1B1E6-E888-4205-B3A8-416029F24921}"/>
              </a:ext>
            </a:extLst>
          </p:cNvPr>
          <p:cNvSpPr>
            <a:spLocks noGrp="1"/>
          </p:cNvSpPr>
          <p:nvPr/>
        </p:nvSpPr>
        <p:spPr>
          <a:xfrm>
            <a:off x="856223" y="3095226"/>
            <a:ext cx="900113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4288" tIns="7144" rIns="14288" bIns="7144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63" b="1">
                <a:solidFill>
                  <a:srgbClr val="005EB8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647" b="1" i="0" u="none" strike="noStrike" kern="1200" cap="none" spc="0" normalizeH="0" baseline="0" noProof="0">
                <a:ln>
                  <a:noFill/>
                </a:ln>
                <a:solidFill>
                  <a:srgbClr val="005EB8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历史数据归档</a:t>
            </a:r>
          </a:p>
        </p:txBody>
      </p:sp>
      <p:sp>
        <p:nvSpPr>
          <p:cNvPr id="60" name="active-status">
            <a:extLst>
              <a:ext uri="{FF2B5EF4-FFF2-40B4-BE49-F238E27FC236}">
                <a16:creationId xmlns:a16="http://schemas.microsoft.com/office/drawing/2014/main" id="{AE45CBCC-9B71-4148-B24A-7D6C53835410}"/>
              </a:ext>
            </a:extLst>
          </p:cNvPr>
          <p:cNvSpPr>
            <a:spLocks noGrp="1"/>
          </p:cNvSpPr>
          <p:nvPr/>
        </p:nvSpPr>
        <p:spPr>
          <a:xfrm>
            <a:off x="514845" y="1548984"/>
            <a:ext cx="1571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4288" tIns="7144" rIns="14288" bIns="7144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5" b="1">
                <a:solidFill>
                  <a:srgbClr val="005EB8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641" b="1" i="0" u="none" strike="noStrike" kern="1200" cap="none" spc="0" normalizeH="0" baseline="0" noProof="0">
                <a:ln>
                  <a:noFill/>
                </a:ln>
                <a:solidFill>
                  <a:srgbClr val="005EB8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全部保持运行，不退役</a:t>
            </a:r>
          </a:p>
        </p:txBody>
      </p:sp>
      <p:sp>
        <p:nvSpPr>
          <p:cNvPr id="61" name="active-status-dot">
            <a:extLst>
              <a:ext uri="{FF2B5EF4-FFF2-40B4-BE49-F238E27FC236}">
                <a16:creationId xmlns:a16="http://schemas.microsoft.com/office/drawing/2014/main" id="{EC9D51B3-5218-4CD9-9522-E72AFCE395A0}"/>
              </a:ext>
            </a:extLst>
          </p:cNvPr>
          <p:cNvSpPr>
            <a:spLocks noGrp="1"/>
          </p:cNvSpPr>
          <p:nvPr/>
        </p:nvSpPr>
        <p:spPr>
          <a:xfrm>
            <a:off x="414338" y="1604325"/>
            <a:ext cx="64294" cy="64294"/>
          </a:xfrm>
          <a:prstGeom prst="ellipse">
            <a:avLst/>
          </a:prstGeom>
          <a:solidFill>
            <a:srgbClr val="3BA272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2" name="p1-note">
            <a:extLst>
              <a:ext uri="{FF2B5EF4-FFF2-40B4-BE49-F238E27FC236}">
                <a16:creationId xmlns:a16="http://schemas.microsoft.com/office/drawing/2014/main" id="{3AFB2A83-44D2-4E3B-87A7-14B300516FDF}"/>
              </a:ext>
            </a:extLst>
          </p:cNvPr>
          <p:cNvSpPr>
            <a:spLocks noGrp="1"/>
          </p:cNvSpPr>
          <p:nvPr/>
        </p:nvSpPr>
        <p:spPr>
          <a:xfrm>
            <a:off x="428352" y="4102494"/>
            <a:ext cx="1821656" cy="300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4288" tIns="7144" rIns="14288" bIns="7144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704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系统继续运行；历史数据归档至China RIMS</a:t>
            </a:r>
          </a:p>
        </p:txBody>
      </p:sp>
      <p:sp>
        <p:nvSpPr>
          <p:cNvPr id="63" name="pillar-02-number">
            <a:extLst>
              <a:ext uri="{FF2B5EF4-FFF2-40B4-BE49-F238E27FC236}">
                <a16:creationId xmlns:a16="http://schemas.microsoft.com/office/drawing/2014/main" id="{55F870A1-B247-413A-AC8F-B6A2C071C473}"/>
              </a:ext>
            </a:extLst>
          </p:cNvPr>
          <p:cNvSpPr>
            <a:spLocks noGrp="1"/>
          </p:cNvSpPr>
          <p:nvPr/>
        </p:nvSpPr>
        <p:spPr>
          <a:xfrm>
            <a:off x="2507456" y="1262905"/>
            <a:ext cx="470142" cy="2505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4288" tIns="7144" rIns="14288" bIns="7144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DCEEFF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1575" b="1" i="0" u="none" strike="noStrike" kern="1200" cap="none" spc="0" normalizeH="0" baseline="0" noProof="0">
                <a:ln>
                  <a:solidFill>
                    <a:srgbClr val="009CDE">
                      <a:lumMod val="50000"/>
                    </a:srgbClr>
                  </a:solidFill>
                </a:ln>
                <a:solidFill>
                  <a:srgbClr val="009CDE">
                    <a:lumMod val="50000"/>
                  </a:srgbClr>
                </a:solidFill>
                <a:effectLst/>
                <a:uLnTx/>
                <a:uFillTx/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64" name="pillar-02-title">
            <a:extLst>
              <a:ext uri="{FF2B5EF4-FFF2-40B4-BE49-F238E27FC236}">
                <a16:creationId xmlns:a16="http://schemas.microsoft.com/office/drawing/2014/main" id="{E2033E9B-61A1-4670-A609-BF4517388D0A}"/>
              </a:ext>
            </a:extLst>
          </p:cNvPr>
          <p:cNvSpPr>
            <a:spLocks noGrp="1"/>
          </p:cNvSpPr>
          <p:nvPr/>
        </p:nvSpPr>
        <p:spPr>
          <a:xfrm>
            <a:off x="2893219" y="1276824"/>
            <a:ext cx="3428122" cy="222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4288" tIns="7144" rIns="14288" bIns="7144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85" b="1">
                <a:solidFill>
                  <a:srgbClr val="005EB8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05EB8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预计存储占用缩减</a:t>
            </a:r>
          </a:p>
        </p:txBody>
      </p:sp>
      <p:sp>
        <p:nvSpPr>
          <p:cNvPr id="65" name="pillar-02-accent">
            <a:extLst>
              <a:ext uri="{FF2B5EF4-FFF2-40B4-BE49-F238E27FC236}">
                <a16:creationId xmlns:a16="http://schemas.microsoft.com/office/drawing/2014/main" id="{38540E5C-0C01-4052-9812-5539165E2FC8}"/>
              </a:ext>
            </a:extLst>
          </p:cNvPr>
          <p:cNvSpPr>
            <a:spLocks noGrp="1"/>
          </p:cNvSpPr>
          <p:nvPr/>
        </p:nvSpPr>
        <p:spPr>
          <a:xfrm>
            <a:off x="2828925" y="1491676"/>
            <a:ext cx="607268" cy="0"/>
          </a:xfrm>
          <a:prstGeom prst="line">
            <a:avLst/>
          </a:prstGeom>
          <a:noFill/>
          <a:ln w="19050">
            <a:solidFill>
              <a:srgbClr val="4D9F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6" name="range-axis-0">
            <a:extLst>
              <a:ext uri="{FF2B5EF4-FFF2-40B4-BE49-F238E27FC236}">
                <a16:creationId xmlns:a16="http://schemas.microsoft.com/office/drawing/2014/main" id="{7228E6AE-F795-4897-A5FE-D4B1B8101E27}"/>
              </a:ext>
            </a:extLst>
          </p:cNvPr>
          <p:cNvSpPr>
            <a:spLocks noGrp="1"/>
          </p:cNvSpPr>
          <p:nvPr/>
        </p:nvSpPr>
        <p:spPr>
          <a:xfrm>
            <a:off x="3021806" y="2376208"/>
            <a:ext cx="287718" cy="1269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4288" tIns="7144" rIns="14288" bIns="7144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1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608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0%</a:t>
            </a:r>
          </a:p>
        </p:txBody>
      </p:sp>
      <p:sp>
        <p:nvSpPr>
          <p:cNvPr id="67" name="range-axis-50">
            <a:extLst>
              <a:ext uri="{FF2B5EF4-FFF2-40B4-BE49-F238E27FC236}">
                <a16:creationId xmlns:a16="http://schemas.microsoft.com/office/drawing/2014/main" id="{5E736064-8DC9-4CCD-BF33-A60F243E66AB}"/>
              </a:ext>
            </a:extLst>
          </p:cNvPr>
          <p:cNvSpPr>
            <a:spLocks noGrp="1"/>
          </p:cNvSpPr>
          <p:nvPr/>
        </p:nvSpPr>
        <p:spPr>
          <a:xfrm>
            <a:off x="4029495" y="2381673"/>
            <a:ext cx="369923" cy="1269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4288" tIns="7144" rIns="14288" bIns="7144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1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608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50%</a:t>
            </a:r>
          </a:p>
        </p:txBody>
      </p:sp>
      <p:sp>
        <p:nvSpPr>
          <p:cNvPr id="68" name="range-axis-100">
            <a:extLst>
              <a:ext uri="{FF2B5EF4-FFF2-40B4-BE49-F238E27FC236}">
                <a16:creationId xmlns:a16="http://schemas.microsoft.com/office/drawing/2014/main" id="{96CC3985-82A3-42F8-838E-2331554F2DA8}"/>
              </a:ext>
            </a:extLst>
          </p:cNvPr>
          <p:cNvSpPr>
            <a:spLocks noGrp="1"/>
          </p:cNvSpPr>
          <p:nvPr/>
        </p:nvSpPr>
        <p:spPr>
          <a:xfrm>
            <a:off x="4950946" y="2381673"/>
            <a:ext cx="431578" cy="1269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4288" tIns="7144" rIns="14288" bIns="7144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1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608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69" name="range-ref-0">
            <a:extLst>
              <a:ext uri="{FF2B5EF4-FFF2-40B4-BE49-F238E27FC236}">
                <a16:creationId xmlns:a16="http://schemas.microsoft.com/office/drawing/2014/main" id="{5A53F81D-6303-4923-BD2E-457F356FE6CE}"/>
              </a:ext>
            </a:extLst>
          </p:cNvPr>
          <p:cNvSpPr>
            <a:spLocks noGrp="1"/>
          </p:cNvSpPr>
          <p:nvPr/>
        </p:nvSpPr>
        <p:spPr>
          <a:xfrm>
            <a:off x="3071813" y="2490507"/>
            <a:ext cx="0" cy="1205797"/>
          </a:xfrm>
          <a:prstGeom prst="line">
            <a:avLst/>
          </a:prstGeom>
          <a:noFill/>
          <a:ln w="6668">
            <a:solidFill>
              <a:srgbClr val="E7EFF5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0" name="range-ref-50">
            <a:extLst>
              <a:ext uri="{FF2B5EF4-FFF2-40B4-BE49-F238E27FC236}">
                <a16:creationId xmlns:a16="http://schemas.microsoft.com/office/drawing/2014/main" id="{69CA0D68-CE60-4510-A60F-01625A22ACA9}"/>
              </a:ext>
            </a:extLst>
          </p:cNvPr>
          <p:cNvSpPr>
            <a:spLocks noGrp="1"/>
          </p:cNvSpPr>
          <p:nvPr/>
        </p:nvSpPr>
        <p:spPr>
          <a:xfrm>
            <a:off x="4133079" y="2495972"/>
            <a:ext cx="0" cy="1205797"/>
          </a:xfrm>
          <a:prstGeom prst="line">
            <a:avLst/>
          </a:prstGeom>
          <a:noFill/>
          <a:ln w="6668">
            <a:solidFill>
              <a:srgbClr val="E7EFF5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1" name="range-ref-100">
            <a:extLst>
              <a:ext uri="{FF2B5EF4-FFF2-40B4-BE49-F238E27FC236}">
                <a16:creationId xmlns:a16="http://schemas.microsoft.com/office/drawing/2014/main" id="{9918641E-84BA-4094-B9C4-4F2170823AA5}"/>
              </a:ext>
            </a:extLst>
          </p:cNvPr>
          <p:cNvSpPr>
            <a:spLocks noGrp="1"/>
          </p:cNvSpPr>
          <p:nvPr/>
        </p:nvSpPr>
        <p:spPr>
          <a:xfrm>
            <a:off x="5175740" y="2475958"/>
            <a:ext cx="0" cy="1205797"/>
          </a:xfrm>
          <a:prstGeom prst="line">
            <a:avLst/>
          </a:prstGeom>
          <a:noFill/>
          <a:ln w="6668">
            <a:solidFill>
              <a:srgbClr val="E7EFF5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2" name="galaxy-range-label">
            <a:extLst>
              <a:ext uri="{FF2B5EF4-FFF2-40B4-BE49-F238E27FC236}">
                <a16:creationId xmlns:a16="http://schemas.microsoft.com/office/drawing/2014/main" id="{7BAB87D6-E7BF-452F-B1CA-0407AC63A64E}"/>
              </a:ext>
            </a:extLst>
          </p:cNvPr>
          <p:cNvSpPr>
            <a:spLocks noGrp="1"/>
          </p:cNvSpPr>
          <p:nvPr/>
        </p:nvSpPr>
        <p:spPr>
          <a:xfrm>
            <a:off x="2557462" y="2461933"/>
            <a:ext cx="719296" cy="3252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4288" tIns="7144" rIns="14288" bIns="7144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13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760" b="1" i="0" u="none" strike="noStrike" kern="1200" cap="none" spc="0" normalizeH="0" baseline="0" noProof="0">
                <a:ln>
                  <a:noFill/>
                </a:ln>
                <a:solidFill>
                  <a:srgbClr val="263238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银河</a:t>
            </a:r>
          </a:p>
        </p:txBody>
      </p:sp>
      <p:sp>
        <p:nvSpPr>
          <p:cNvPr id="73" name="galaxy-track">
            <a:extLst>
              <a:ext uri="{FF2B5EF4-FFF2-40B4-BE49-F238E27FC236}">
                <a16:creationId xmlns:a16="http://schemas.microsoft.com/office/drawing/2014/main" id="{115FFD62-82C7-4A72-95CD-49CA5DEE3ED1}"/>
              </a:ext>
            </a:extLst>
          </p:cNvPr>
          <p:cNvSpPr>
            <a:spLocks noGrp="1"/>
          </p:cNvSpPr>
          <p:nvPr/>
        </p:nvSpPr>
        <p:spPr>
          <a:xfrm>
            <a:off x="3071813" y="2619095"/>
            <a:ext cx="2106508" cy="63463"/>
          </a:xfrm>
          <a:prstGeom prst="roundRect">
            <a:avLst>
              <a:gd name="adj" fmla="val 50000"/>
            </a:avLst>
          </a:prstGeom>
          <a:solidFill>
            <a:srgbClr val="EDF3F8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4" name="galaxy-lower-fill">
            <a:extLst>
              <a:ext uri="{FF2B5EF4-FFF2-40B4-BE49-F238E27FC236}">
                <a16:creationId xmlns:a16="http://schemas.microsoft.com/office/drawing/2014/main" id="{91423114-4533-469D-B948-98CE0B9B307D}"/>
              </a:ext>
            </a:extLst>
          </p:cNvPr>
          <p:cNvSpPr>
            <a:spLocks noGrp="1"/>
          </p:cNvSpPr>
          <p:nvPr/>
        </p:nvSpPr>
        <p:spPr>
          <a:xfrm>
            <a:off x="3071813" y="2619095"/>
            <a:ext cx="1086958" cy="63463"/>
          </a:xfrm>
          <a:prstGeom prst="roundRect">
            <a:avLst>
              <a:gd name="adj" fmla="val 50000"/>
            </a:avLst>
          </a:prstGeom>
          <a:solidFill>
            <a:srgbClr val="4D9FE8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5" name="galaxy-range-fill">
            <a:extLst>
              <a:ext uri="{FF2B5EF4-FFF2-40B4-BE49-F238E27FC236}">
                <a16:creationId xmlns:a16="http://schemas.microsoft.com/office/drawing/2014/main" id="{D6DB8072-1329-4F43-8A46-6F78F2CCC5F7}"/>
              </a:ext>
            </a:extLst>
          </p:cNvPr>
          <p:cNvSpPr>
            <a:spLocks noGrp="1"/>
          </p:cNvSpPr>
          <p:nvPr/>
        </p:nvSpPr>
        <p:spPr>
          <a:xfrm>
            <a:off x="3827479" y="2619095"/>
            <a:ext cx="1035844" cy="71278"/>
          </a:xfrm>
          <a:prstGeom prst="roundRect">
            <a:avLst>
              <a:gd name="adj" fmla="val 50000"/>
            </a:avLst>
          </a:prstGeom>
          <a:solidFill>
            <a:srgbClr val="78B8EE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6" name="galaxy-lower-end">
            <a:extLst>
              <a:ext uri="{FF2B5EF4-FFF2-40B4-BE49-F238E27FC236}">
                <a16:creationId xmlns:a16="http://schemas.microsoft.com/office/drawing/2014/main" id="{99D06889-DB2B-41AD-A1DE-38407B03EE14}"/>
              </a:ext>
            </a:extLst>
          </p:cNvPr>
          <p:cNvSpPr>
            <a:spLocks noGrp="1"/>
          </p:cNvSpPr>
          <p:nvPr/>
        </p:nvSpPr>
        <p:spPr>
          <a:xfrm>
            <a:off x="3798904" y="2596993"/>
            <a:ext cx="92172" cy="100843"/>
          </a:xfrm>
          <a:prstGeom prst="ellipse">
            <a:avLst/>
          </a:prstGeom>
          <a:solidFill>
            <a:srgbClr val="4D9FE8"/>
          </a:solidFill>
          <a:ln w="12383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7" name="galaxy-upper-end">
            <a:extLst>
              <a:ext uri="{FF2B5EF4-FFF2-40B4-BE49-F238E27FC236}">
                <a16:creationId xmlns:a16="http://schemas.microsoft.com/office/drawing/2014/main" id="{C7D2E124-CDFA-4C69-BD42-DAB11B76D3E5}"/>
              </a:ext>
            </a:extLst>
          </p:cNvPr>
          <p:cNvSpPr>
            <a:spLocks noGrp="1"/>
          </p:cNvSpPr>
          <p:nvPr/>
        </p:nvSpPr>
        <p:spPr>
          <a:xfrm>
            <a:off x="4305617" y="2596993"/>
            <a:ext cx="92172" cy="100843"/>
          </a:xfrm>
          <a:prstGeom prst="ellipse">
            <a:avLst/>
          </a:prstGeom>
          <a:solidFill>
            <a:srgbClr val="005EB8"/>
          </a:solidFill>
          <a:ln w="12383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8" name="galaxy-range-value">
            <a:extLst>
              <a:ext uri="{FF2B5EF4-FFF2-40B4-BE49-F238E27FC236}">
                <a16:creationId xmlns:a16="http://schemas.microsoft.com/office/drawing/2014/main" id="{8F35D397-DC5A-43DD-B5A8-5F4B1A8C6C7A}"/>
              </a:ext>
            </a:extLst>
          </p:cNvPr>
          <p:cNvSpPr>
            <a:spLocks noGrp="1"/>
          </p:cNvSpPr>
          <p:nvPr/>
        </p:nvSpPr>
        <p:spPr>
          <a:xfrm>
            <a:off x="4909402" y="2461934"/>
            <a:ext cx="1035844" cy="3071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4288" tIns="7144" rIns="14288" bIns="7144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40" b="1">
                <a:solidFill>
                  <a:srgbClr val="005EB8"/>
                </a:solidFill>
                <a:latin typeface="Arial"/>
                <a:ea typeface="Arial"/>
                <a:cs typeface="Arial"/>
              </a:defRPr>
            </a:pPr>
            <a:r>
              <a:rPr kumimoji="0" sz="1080" b="1" i="0" u="none" strike="noStrike" kern="1200" cap="none" spc="0" normalizeH="0" baseline="0" noProof="0">
                <a:ln>
                  <a:noFill/>
                </a:ln>
                <a:solidFill>
                  <a:srgbClr val="005EB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5</a:t>
            </a:r>
            <a:r>
              <a:rPr kumimoji="0" lang="en-US" sz="1080" b="1" i="0" u="none" strike="noStrike" kern="1200" cap="none" spc="0" normalizeH="0" baseline="0" noProof="0">
                <a:ln>
                  <a:noFill/>
                </a:ln>
                <a:solidFill>
                  <a:srgbClr val="005EB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2</a:t>
            </a:r>
            <a:r>
              <a:rPr kumimoji="0" sz="1080" b="1" i="0" u="none" strike="noStrike" kern="1200" cap="none" spc="0" normalizeH="0" baseline="0" noProof="0">
                <a:ln>
                  <a:noFill/>
                </a:ln>
                <a:solidFill>
                  <a:srgbClr val="005EB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%–7</a:t>
            </a:r>
            <a:r>
              <a:rPr kumimoji="0" lang="en-US" sz="1080" b="1" i="0" u="none" strike="noStrike" kern="1200" cap="none" spc="0" normalizeH="0" baseline="0" noProof="0">
                <a:ln>
                  <a:noFill/>
                </a:ln>
                <a:solidFill>
                  <a:srgbClr val="005EB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8</a:t>
            </a:r>
            <a:r>
              <a:rPr kumimoji="0" sz="1080" b="1" i="0" u="none" strike="noStrike" kern="1200" cap="none" spc="0" normalizeH="0" baseline="0" noProof="0">
                <a:ln>
                  <a:noFill/>
                </a:ln>
                <a:solidFill>
                  <a:srgbClr val="005EB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%</a:t>
            </a:r>
          </a:p>
        </p:txBody>
      </p:sp>
      <p:sp>
        <p:nvSpPr>
          <p:cNvPr id="79" name="dht-range-label">
            <a:extLst>
              <a:ext uri="{FF2B5EF4-FFF2-40B4-BE49-F238E27FC236}">
                <a16:creationId xmlns:a16="http://schemas.microsoft.com/office/drawing/2014/main" id="{3D8889E2-3F67-4E7B-BC5E-C822CD9A7B0E}"/>
              </a:ext>
            </a:extLst>
          </p:cNvPr>
          <p:cNvSpPr>
            <a:spLocks noGrp="1"/>
          </p:cNvSpPr>
          <p:nvPr/>
        </p:nvSpPr>
        <p:spPr>
          <a:xfrm>
            <a:off x="2557462" y="2747683"/>
            <a:ext cx="719296" cy="3252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4288" tIns="7144" rIns="14288" bIns="7144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13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760" b="1" i="0" u="none" strike="noStrike" kern="1200" cap="none" spc="0" normalizeH="0" baseline="0" noProof="0">
                <a:ln>
                  <a:noFill/>
                </a:ln>
                <a:solidFill>
                  <a:srgbClr val="263238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DHT</a:t>
            </a:r>
          </a:p>
        </p:txBody>
      </p:sp>
      <p:sp>
        <p:nvSpPr>
          <p:cNvPr id="80" name="dht-track">
            <a:extLst>
              <a:ext uri="{FF2B5EF4-FFF2-40B4-BE49-F238E27FC236}">
                <a16:creationId xmlns:a16="http://schemas.microsoft.com/office/drawing/2014/main" id="{F69BA603-657E-4E93-83C9-30A85B9CA269}"/>
              </a:ext>
            </a:extLst>
          </p:cNvPr>
          <p:cNvSpPr>
            <a:spLocks noGrp="1"/>
          </p:cNvSpPr>
          <p:nvPr/>
        </p:nvSpPr>
        <p:spPr>
          <a:xfrm>
            <a:off x="3071813" y="2904845"/>
            <a:ext cx="2106508" cy="63463"/>
          </a:xfrm>
          <a:prstGeom prst="roundRect">
            <a:avLst>
              <a:gd name="adj" fmla="val 50000"/>
            </a:avLst>
          </a:prstGeom>
          <a:solidFill>
            <a:srgbClr val="EDF3F8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1" name="dht-lower-fill">
            <a:extLst>
              <a:ext uri="{FF2B5EF4-FFF2-40B4-BE49-F238E27FC236}">
                <a16:creationId xmlns:a16="http://schemas.microsoft.com/office/drawing/2014/main" id="{BC362631-CB1B-41F7-9D89-48651F40A82C}"/>
              </a:ext>
            </a:extLst>
          </p:cNvPr>
          <p:cNvSpPr>
            <a:spLocks noGrp="1"/>
          </p:cNvSpPr>
          <p:nvPr/>
        </p:nvSpPr>
        <p:spPr>
          <a:xfrm>
            <a:off x="3071813" y="2904845"/>
            <a:ext cx="301231" cy="63463"/>
          </a:xfrm>
          <a:prstGeom prst="roundRect">
            <a:avLst>
              <a:gd name="adj" fmla="val 50000"/>
            </a:avLst>
          </a:prstGeom>
          <a:solidFill>
            <a:srgbClr val="4D9FE8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2" name="dht-range-fill">
            <a:extLst>
              <a:ext uri="{FF2B5EF4-FFF2-40B4-BE49-F238E27FC236}">
                <a16:creationId xmlns:a16="http://schemas.microsoft.com/office/drawing/2014/main" id="{9759090A-2738-4D81-B940-ED1D54D7C1F6}"/>
              </a:ext>
            </a:extLst>
          </p:cNvPr>
          <p:cNvSpPr>
            <a:spLocks noGrp="1"/>
          </p:cNvSpPr>
          <p:nvPr/>
        </p:nvSpPr>
        <p:spPr>
          <a:xfrm>
            <a:off x="3281231" y="2904845"/>
            <a:ext cx="633209" cy="56639"/>
          </a:xfrm>
          <a:prstGeom prst="roundRect">
            <a:avLst>
              <a:gd name="adj" fmla="val 50000"/>
            </a:avLst>
          </a:prstGeom>
          <a:solidFill>
            <a:srgbClr val="78B8EE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3" name="dht-lower-end">
            <a:extLst>
              <a:ext uri="{FF2B5EF4-FFF2-40B4-BE49-F238E27FC236}">
                <a16:creationId xmlns:a16="http://schemas.microsoft.com/office/drawing/2014/main" id="{1C307534-CEB8-49C5-821D-DDDD768B050C}"/>
              </a:ext>
            </a:extLst>
          </p:cNvPr>
          <p:cNvSpPr>
            <a:spLocks noGrp="1"/>
          </p:cNvSpPr>
          <p:nvPr/>
        </p:nvSpPr>
        <p:spPr>
          <a:xfrm>
            <a:off x="3291731" y="2882743"/>
            <a:ext cx="92172" cy="100843"/>
          </a:xfrm>
          <a:prstGeom prst="ellipse">
            <a:avLst/>
          </a:prstGeom>
          <a:solidFill>
            <a:srgbClr val="4D9FE8"/>
          </a:solidFill>
          <a:ln w="12383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4" name="dht-upper-end">
            <a:extLst>
              <a:ext uri="{FF2B5EF4-FFF2-40B4-BE49-F238E27FC236}">
                <a16:creationId xmlns:a16="http://schemas.microsoft.com/office/drawing/2014/main" id="{0B6DA239-DFE4-4123-880D-772C8EE19AEF}"/>
              </a:ext>
            </a:extLst>
          </p:cNvPr>
          <p:cNvSpPr>
            <a:spLocks noGrp="1"/>
          </p:cNvSpPr>
          <p:nvPr/>
        </p:nvSpPr>
        <p:spPr>
          <a:xfrm>
            <a:off x="3839138" y="2882743"/>
            <a:ext cx="92172" cy="100843"/>
          </a:xfrm>
          <a:prstGeom prst="ellipse">
            <a:avLst/>
          </a:prstGeom>
          <a:solidFill>
            <a:srgbClr val="005EB8"/>
          </a:solidFill>
          <a:ln w="12383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5" name="dht-range-value">
            <a:extLst>
              <a:ext uri="{FF2B5EF4-FFF2-40B4-BE49-F238E27FC236}">
                <a16:creationId xmlns:a16="http://schemas.microsoft.com/office/drawing/2014/main" id="{54D99D68-81EF-48A1-9BB3-0DB806D57B0B}"/>
              </a:ext>
            </a:extLst>
          </p:cNvPr>
          <p:cNvSpPr>
            <a:spLocks noGrp="1"/>
          </p:cNvSpPr>
          <p:nvPr/>
        </p:nvSpPr>
        <p:spPr>
          <a:xfrm>
            <a:off x="4909402" y="2747684"/>
            <a:ext cx="1035844" cy="3071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4288" tIns="7144" rIns="14288" bIns="7144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40" b="1">
                <a:solidFill>
                  <a:srgbClr val="005EB8"/>
                </a:solidFill>
                <a:latin typeface="Arial"/>
                <a:ea typeface="Arial"/>
                <a:cs typeface="Arial"/>
              </a:defRPr>
            </a:pPr>
            <a:r>
              <a:rPr kumimoji="0" sz="1080" b="1" i="0" u="none" strike="noStrike" kern="1200" cap="none" spc="0" normalizeH="0" baseline="0" noProof="0">
                <a:ln>
                  <a:noFill/>
                </a:ln>
                <a:solidFill>
                  <a:srgbClr val="005EB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14%–31%</a:t>
            </a:r>
          </a:p>
        </p:txBody>
      </p:sp>
      <p:sp>
        <p:nvSpPr>
          <p:cNvPr id="86" name="nexbpm-range-label">
            <a:extLst>
              <a:ext uri="{FF2B5EF4-FFF2-40B4-BE49-F238E27FC236}">
                <a16:creationId xmlns:a16="http://schemas.microsoft.com/office/drawing/2014/main" id="{65A311DA-B2B1-425C-983D-BBBEC5E46BB1}"/>
              </a:ext>
            </a:extLst>
          </p:cNvPr>
          <p:cNvSpPr>
            <a:spLocks noGrp="1"/>
          </p:cNvSpPr>
          <p:nvPr/>
        </p:nvSpPr>
        <p:spPr>
          <a:xfrm>
            <a:off x="2557462" y="3033433"/>
            <a:ext cx="719296" cy="3252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4288" tIns="7144" rIns="14288" bIns="7144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48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636" b="1" i="0" u="none" strike="noStrike" kern="1200" cap="none" spc="0" normalizeH="0" baseline="0" noProof="0">
                <a:ln>
                  <a:noFill/>
                </a:ln>
                <a:solidFill>
                  <a:srgbClr val="263238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NEXBPM</a:t>
            </a:r>
          </a:p>
        </p:txBody>
      </p:sp>
      <p:sp>
        <p:nvSpPr>
          <p:cNvPr id="87" name="nexbpm-track">
            <a:extLst>
              <a:ext uri="{FF2B5EF4-FFF2-40B4-BE49-F238E27FC236}">
                <a16:creationId xmlns:a16="http://schemas.microsoft.com/office/drawing/2014/main" id="{04067AC0-93F1-4E58-AC05-A568351FF5DC}"/>
              </a:ext>
            </a:extLst>
          </p:cNvPr>
          <p:cNvSpPr>
            <a:spLocks noGrp="1"/>
          </p:cNvSpPr>
          <p:nvPr/>
        </p:nvSpPr>
        <p:spPr>
          <a:xfrm>
            <a:off x="3071813" y="3190595"/>
            <a:ext cx="2106508" cy="63463"/>
          </a:xfrm>
          <a:prstGeom prst="roundRect">
            <a:avLst>
              <a:gd name="adj" fmla="val 50000"/>
            </a:avLst>
          </a:prstGeom>
          <a:solidFill>
            <a:srgbClr val="EDF3F8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8" name="nexbpm-lower-fill">
            <a:extLst>
              <a:ext uri="{FF2B5EF4-FFF2-40B4-BE49-F238E27FC236}">
                <a16:creationId xmlns:a16="http://schemas.microsoft.com/office/drawing/2014/main" id="{ACC76BFF-3179-4EA1-B26D-F3CF7FC832E7}"/>
              </a:ext>
            </a:extLst>
          </p:cNvPr>
          <p:cNvSpPr>
            <a:spLocks noGrp="1"/>
          </p:cNvSpPr>
          <p:nvPr/>
        </p:nvSpPr>
        <p:spPr>
          <a:xfrm>
            <a:off x="3071811" y="3190595"/>
            <a:ext cx="639927" cy="63463"/>
          </a:xfrm>
          <a:prstGeom prst="roundRect">
            <a:avLst>
              <a:gd name="adj" fmla="val 50000"/>
            </a:avLst>
          </a:prstGeom>
          <a:solidFill>
            <a:srgbClr val="4D9FE8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9" name="nexbpm-range-fill">
            <a:extLst>
              <a:ext uri="{FF2B5EF4-FFF2-40B4-BE49-F238E27FC236}">
                <a16:creationId xmlns:a16="http://schemas.microsoft.com/office/drawing/2014/main" id="{6BA3FB13-21C6-46E9-BBA3-A518DDD1B776}"/>
              </a:ext>
            </a:extLst>
          </p:cNvPr>
          <p:cNvSpPr>
            <a:spLocks noGrp="1"/>
          </p:cNvSpPr>
          <p:nvPr/>
        </p:nvSpPr>
        <p:spPr>
          <a:xfrm>
            <a:off x="3665587" y="3190595"/>
            <a:ext cx="569011" cy="63463"/>
          </a:xfrm>
          <a:prstGeom prst="roundRect">
            <a:avLst>
              <a:gd name="adj" fmla="val 50000"/>
            </a:avLst>
          </a:prstGeom>
          <a:solidFill>
            <a:srgbClr val="78B8EE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0" name="nexbpm-lower-end">
            <a:extLst>
              <a:ext uri="{FF2B5EF4-FFF2-40B4-BE49-F238E27FC236}">
                <a16:creationId xmlns:a16="http://schemas.microsoft.com/office/drawing/2014/main" id="{EE4BFDD1-742F-4606-B854-8F5A3D941D48}"/>
              </a:ext>
            </a:extLst>
          </p:cNvPr>
          <p:cNvSpPr>
            <a:spLocks noGrp="1"/>
          </p:cNvSpPr>
          <p:nvPr/>
        </p:nvSpPr>
        <p:spPr>
          <a:xfrm>
            <a:off x="3669187" y="3168493"/>
            <a:ext cx="92172" cy="100843"/>
          </a:xfrm>
          <a:prstGeom prst="ellipse">
            <a:avLst/>
          </a:prstGeom>
          <a:solidFill>
            <a:srgbClr val="4D9FE8"/>
          </a:solidFill>
          <a:ln w="12383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1" name="nexbpm-upper-end">
            <a:extLst>
              <a:ext uri="{FF2B5EF4-FFF2-40B4-BE49-F238E27FC236}">
                <a16:creationId xmlns:a16="http://schemas.microsoft.com/office/drawing/2014/main" id="{D7285789-517A-430E-A56C-2CB49EB218BF}"/>
              </a:ext>
            </a:extLst>
          </p:cNvPr>
          <p:cNvSpPr>
            <a:spLocks noGrp="1"/>
          </p:cNvSpPr>
          <p:nvPr/>
        </p:nvSpPr>
        <p:spPr>
          <a:xfrm>
            <a:off x="4150106" y="3168493"/>
            <a:ext cx="92172" cy="100843"/>
          </a:xfrm>
          <a:prstGeom prst="ellipse">
            <a:avLst/>
          </a:prstGeom>
          <a:solidFill>
            <a:srgbClr val="005EB8"/>
          </a:solidFill>
          <a:ln w="12383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2" name="nexbpm-range-value">
            <a:extLst>
              <a:ext uri="{FF2B5EF4-FFF2-40B4-BE49-F238E27FC236}">
                <a16:creationId xmlns:a16="http://schemas.microsoft.com/office/drawing/2014/main" id="{C8B1E09A-50D9-4F22-B2FE-74158B488742}"/>
              </a:ext>
            </a:extLst>
          </p:cNvPr>
          <p:cNvSpPr>
            <a:spLocks noGrp="1"/>
          </p:cNvSpPr>
          <p:nvPr/>
        </p:nvSpPr>
        <p:spPr>
          <a:xfrm>
            <a:off x="4909402" y="3033434"/>
            <a:ext cx="1035844" cy="3071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4288" tIns="7144" rIns="14288" bIns="7144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40" b="1">
                <a:solidFill>
                  <a:srgbClr val="005EB8"/>
                </a:solidFill>
                <a:latin typeface="Arial"/>
                <a:ea typeface="Arial"/>
                <a:cs typeface="Arial"/>
              </a:defRPr>
            </a:pPr>
            <a:r>
              <a:rPr kumimoji="0" sz="1080" b="1" i="0" u="none" strike="noStrike" kern="1200" cap="none" spc="0" normalizeH="0" baseline="0" noProof="0">
                <a:ln>
                  <a:noFill/>
                </a:ln>
                <a:solidFill>
                  <a:srgbClr val="005EB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2</a:t>
            </a:r>
            <a:r>
              <a:rPr kumimoji="0" lang="en-US" sz="1080" b="1" i="0" u="none" strike="noStrike" kern="1200" cap="none" spc="0" normalizeH="0" baseline="0" noProof="0">
                <a:ln>
                  <a:noFill/>
                </a:ln>
                <a:solidFill>
                  <a:srgbClr val="005EB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8</a:t>
            </a:r>
            <a:r>
              <a:rPr kumimoji="0" sz="1080" b="1" i="0" u="none" strike="noStrike" kern="1200" cap="none" spc="0" normalizeH="0" baseline="0" noProof="0">
                <a:ln>
                  <a:noFill/>
                </a:ln>
                <a:solidFill>
                  <a:srgbClr val="005EB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%–5</a:t>
            </a:r>
            <a:r>
              <a:rPr kumimoji="0" lang="en-US" sz="1080" b="1" i="0" u="none" strike="noStrike" kern="1200" cap="none" spc="0" normalizeH="0" baseline="0" noProof="0">
                <a:ln>
                  <a:noFill/>
                </a:ln>
                <a:solidFill>
                  <a:srgbClr val="005EB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1</a:t>
            </a:r>
            <a:r>
              <a:rPr kumimoji="0" sz="1080" b="1" i="0" u="none" strike="noStrike" kern="1200" cap="none" spc="0" normalizeH="0" baseline="0" noProof="0">
                <a:ln>
                  <a:noFill/>
                </a:ln>
                <a:solidFill>
                  <a:srgbClr val="005EB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%</a:t>
            </a:r>
          </a:p>
        </p:txBody>
      </p:sp>
      <p:sp>
        <p:nvSpPr>
          <p:cNvPr id="93" name="dspot-range-label">
            <a:extLst>
              <a:ext uri="{FF2B5EF4-FFF2-40B4-BE49-F238E27FC236}">
                <a16:creationId xmlns:a16="http://schemas.microsoft.com/office/drawing/2014/main" id="{4F4DEC7F-073D-4A7F-8AEE-F2C048D15A86}"/>
              </a:ext>
            </a:extLst>
          </p:cNvPr>
          <p:cNvSpPr>
            <a:spLocks noGrp="1"/>
          </p:cNvSpPr>
          <p:nvPr/>
        </p:nvSpPr>
        <p:spPr>
          <a:xfrm>
            <a:off x="2557462" y="3319183"/>
            <a:ext cx="719296" cy="3252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4288" tIns="7144" rIns="14288" bIns="7144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13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760" b="1" i="0" u="none" strike="noStrike" kern="1200" cap="none" spc="0" normalizeH="0" baseline="0" noProof="0">
                <a:ln>
                  <a:noFill/>
                </a:ln>
                <a:solidFill>
                  <a:srgbClr val="263238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Dspot</a:t>
            </a:r>
          </a:p>
        </p:txBody>
      </p:sp>
      <p:sp>
        <p:nvSpPr>
          <p:cNvPr id="94" name="dspot-track">
            <a:extLst>
              <a:ext uri="{FF2B5EF4-FFF2-40B4-BE49-F238E27FC236}">
                <a16:creationId xmlns:a16="http://schemas.microsoft.com/office/drawing/2014/main" id="{7A6434D0-A7E6-4EA1-A336-0378E165DA4B}"/>
              </a:ext>
            </a:extLst>
          </p:cNvPr>
          <p:cNvSpPr>
            <a:spLocks noGrp="1"/>
          </p:cNvSpPr>
          <p:nvPr/>
        </p:nvSpPr>
        <p:spPr>
          <a:xfrm>
            <a:off x="3071813" y="3476345"/>
            <a:ext cx="2106508" cy="63463"/>
          </a:xfrm>
          <a:prstGeom prst="roundRect">
            <a:avLst>
              <a:gd name="adj" fmla="val 50000"/>
            </a:avLst>
          </a:prstGeom>
          <a:solidFill>
            <a:srgbClr val="EDF3F8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5" name="dspot-lower-fill">
            <a:extLst>
              <a:ext uri="{FF2B5EF4-FFF2-40B4-BE49-F238E27FC236}">
                <a16:creationId xmlns:a16="http://schemas.microsoft.com/office/drawing/2014/main" id="{6B06E5F5-046D-48BD-ADB0-2A97E21CC68C}"/>
              </a:ext>
            </a:extLst>
          </p:cNvPr>
          <p:cNvSpPr>
            <a:spLocks noGrp="1"/>
          </p:cNvSpPr>
          <p:nvPr/>
        </p:nvSpPr>
        <p:spPr>
          <a:xfrm>
            <a:off x="3071812" y="3476345"/>
            <a:ext cx="1233805" cy="59413"/>
          </a:xfrm>
          <a:prstGeom prst="roundRect">
            <a:avLst>
              <a:gd name="adj" fmla="val 50000"/>
            </a:avLst>
          </a:prstGeom>
          <a:solidFill>
            <a:srgbClr val="4D9FE8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7" name="dspot-lower-end">
            <a:extLst>
              <a:ext uri="{FF2B5EF4-FFF2-40B4-BE49-F238E27FC236}">
                <a16:creationId xmlns:a16="http://schemas.microsoft.com/office/drawing/2014/main" id="{53D2F7A2-38BB-48CA-9CCE-D6B95386F999}"/>
              </a:ext>
            </a:extLst>
          </p:cNvPr>
          <p:cNvSpPr>
            <a:spLocks noGrp="1"/>
          </p:cNvSpPr>
          <p:nvPr/>
        </p:nvSpPr>
        <p:spPr>
          <a:xfrm>
            <a:off x="4084666" y="3454243"/>
            <a:ext cx="92172" cy="100843"/>
          </a:xfrm>
          <a:prstGeom prst="ellipse">
            <a:avLst/>
          </a:prstGeom>
          <a:solidFill>
            <a:srgbClr val="4D9FE8"/>
          </a:solidFill>
          <a:ln w="12383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8" name="dspot-upper-end">
            <a:extLst>
              <a:ext uri="{FF2B5EF4-FFF2-40B4-BE49-F238E27FC236}">
                <a16:creationId xmlns:a16="http://schemas.microsoft.com/office/drawing/2014/main" id="{83CFD75B-264A-44A4-8D07-2577971C1EA6}"/>
              </a:ext>
            </a:extLst>
          </p:cNvPr>
          <p:cNvSpPr>
            <a:spLocks noGrp="1"/>
          </p:cNvSpPr>
          <p:nvPr/>
        </p:nvSpPr>
        <p:spPr>
          <a:xfrm>
            <a:off x="4240941" y="3454243"/>
            <a:ext cx="92172" cy="100843"/>
          </a:xfrm>
          <a:prstGeom prst="ellipse">
            <a:avLst/>
          </a:prstGeom>
          <a:solidFill>
            <a:srgbClr val="005EB8"/>
          </a:solidFill>
          <a:ln w="12383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9" name="dspot-range-value">
            <a:extLst>
              <a:ext uri="{FF2B5EF4-FFF2-40B4-BE49-F238E27FC236}">
                <a16:creationId xmlns:a16="http://schemas.microsoft.com/office/drawing/2014/main" id="{9F8D2F13-F13C-4B12-B4E0-1554AF20E989}"/>
              </a:ext>
            </a:extLst>
          </p:cNvPr>
          <p:cNvSpPr>
            <a:spLocks noGrp="1"/>
          </p:cNvSpPr>
          <p:nvPr/>
        </p:nvSpPr>
        <p:spPr>
          <a:xfrm>
            <a:off x="4909402" y="3319184"/>
            <a:ext cx="1035844" cy="3071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4288" tIns="7144" rIns="14288" bIns="7144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40" b="1">
                <a:solidFill>
                  <a:srgbClr val="005EB8"/>
                </a:solidFill>
                <a:latin typeface="Arial"/>
                <a:ea typeface="Arial"/>
                <a:cs typeface="Arial"/>
              </a:defRPr>
            </a:pPr>
            <a:r>
              <a:rPr kumimoji="0" sz="1080" b="1" i="0" u="none" strike="noStrike" kern="1200" cap="none" spc="0" normalizeH="0" baseline="0" noProof="0">
                <a:ln>
                  <a:noFill/>
                </a:ln>
                <a:solidFill>
                  <a:srgbClr val="005EB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50%–5</a:t>
            </a:r>
            <a:r>
              <a:rPr kumimoji="0" lang="en-US" sz="1080" b="1" i="0" u="none" strike="noStrike" kern="1200" cap="none" spc="0" normalizeH="0" baseline="0" noProof="0">
                <a:ln>
                  <a:noFill/>
                </a:ln>
                <a:solidFill>
                  <a:srgbClr val="005EB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4</a:t>
            </a:r>
            <a:r>
              <a:rPr kumimoji="0" sz="1080" b="1" i="0" u="none" strike="noStrike" kern="1200" cap="none" spc="0" normalizeH="0" baseline="0" noProof="0">
                <a:ln>
                  <a:noFill/>
                </a:ln>
                <a:solidFill>
                  <a:srgbClr val="005EB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%</a:t>
            </a:r>
          </a:p>
        </p:txBody>
      </p:sp>
      <p:sp>
        <p:nvSpPr>
          <p:cNvPr id="100" name="weighted-summary">
            <a:extLst>
              <a:ext uri="{FF2B5EF4-FFF2-40B4-BE49-F238E27FC236}">
                <a16:creationId xmlns:a16="http://schemas.microsoft.com/office/drawing/2014/main" id="{96FE3794-EA39-4891-9418-535B766F35F3}"/>
              </a:ext>
            </a:extLst>
          </p:cNvPr>
          <p:cNvSpPr>
            <a:spLocks noGrp="1"/>
          </p:cNvSpPr>
          <p:nvPr/>
        </p:nvSpPr>
        <p:spPr>
          <a:xfrm>
            <a:off x="2564607" y="3736525"/>
            <a:ext cx="3878712" cy="557213"/>
          </a:xfrm>
          <a:prstGeom prst="roundRect">
            <a:avLst>
              <a:gd name="adj" fmla="val 22449"/>
            </a:avLst>
          </a:prstGeom>
          <a:solidFill>
            <a:srgbClr val="EAF5FC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1" name="weighted-kicker">
            <a:extLst>
              <a:ext uri="{FF2B5EF4-FFF2-40B4-BE49-F238E27FC236}">
                <a16:creationId xmlns:a16="http://schemas.microsoft.com/office/drawing/2014/main" id="{9E7270CA-2C35-4B1D-9C81-200A4630B9FF}"/>
              </a:ext>
            </a:extLst>
          </p:cNvPr>
          <p:cNvSpPr>
            <a:spLocks noGrp="1"/>
          </p:cNvSpPr>
          <p:nvPr/>
        </p:nvSpPr>
        <p:spPr>
          <a:xfrm>
            <a:off x="3150203" y="3767708"/>
            <a:ext cx="2814638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4288" tIns="7144" rIns="14288" bIns="7144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63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825" b="1" i="0" u="none" strike="noStrike" kern="1200" cap="none" spc="0" normalizeH="0" baseline="0" noProof="0">
                <a:ln>
                  <a:noFill/>
                </a:ln>
                <a:solidFill>
                  <a:srgbClr val="263238"/>
                </a:solidFill>
                <a:effectLst/>
                <a:uLnTx/>
                <a:uFillTx/>
                <a:latin typeface="Microsoft YaHei"/>
                <a:ea typeface="Microsoft YaHei"/>
              </a:rPr>
              <a:t>四个现存系统</a:t>
            </a:r>
            <a:r>
              <a:rPr kumimoji="0" lang="zh-CN" altLang="en-US" sz="825" b="1" i="0" u="none" strike="noStrike" kern="1200" cap="none" spc="0" normalizeH="0" baseline="0" noProof="0">
                <a:ln>
                  <a:noFill/>
                </a:ln>
                <a:solidFill>
                  <a:srgbClr val="263238"/>
                </a:solidFill>
                <a:effectLst/>
                <a:uLnTx/>
                <a:uFillTx/>
                <a:latin typeface="Microsoft YaHei"/>
                <a:ea typeface="Microsoft YaHei"/>
              </a:rPr>
              <a:t>预估存储占用比例节省</a:t>
            </a:r>
            <a:endParaRPr kumimoji="0" sz="825" b="1" i="0" u="none" strike="noStrike" kern="1200" cap="none" spc="0" normalizeH="0" baseline="0" noProof="0">
              <a:ln>
                <a:noFill/>
              </a:ln>
              <a:solidFill>
                <a:srgbClr val="263238"/>
              </a:solidFill>
              <a:effectLst/>
              <a:uLnTx/>
              <a:uFillTx/>
              <a:latin typeface="Microsoft YaHei"/>
              <a:ea typeface="Microsoft YaHei"/>
            </a:endParaRPr>
          </a:p>
        </p:txBody>
      </p:sp>
      <p:sp>
        <p:nvSpPr>
          <p:cNvPr id="102" name="weighted-value">
            <a:extLst>
              <a:ext uri="{FF2B5EF4-FFF2-40B4-BE49-F238E27FC236}">
                <a16:creationId xmlns:a16="http://schemas.microsoft.com/office/drawing/2014/main" id="{E63DA6EB-8B77-4875-8F4B-CDF6EE901370}"/>
              </a:ext>
            </a:extLst>
          </p:cNvPr>
          <p:cNvSpPr>
            <a:spLocks noGrp="1"/>
          </p:cNvSpPr>
          <p:nvPr/>
        </p:nvSpPr>
        <p:spPr>
          <a:xfrm>
            <a:off x="3083999" y="3954953"/>
            <a:ext cx="2900363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4288" tIns="7144" rIns="14288" bIns="7144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63" b="1">
                <a:solidFill>
                  <a:srgbClr val="005EB8"/>
                </a:solidFill>
                <a:latin typeface="Arial"/>
                <a:ea typeface="Arial"/>
                <a:cs typeface="Arial"/>
              </a:defRPr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005EB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23</a:t>
            </a: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05EB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%–</a:t>
            </a: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005EB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65</a:t>
            </a: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05EB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%</a:t>
            </a:r>
          </a:p>
        </p:txBody>
      </p:sp>
      <p:sp>
        <p:nvSpPr>
          <p:cNvPr id="105" name="pillar-03-number">
            <a:extLst>
              <a:ext uri="{FF2B5EF4-FFF2-40B4-BE49-F238E27FC236}">
                <a16:creationId xmlns:a16="http://schemas.microsoft.com/office/drawing/2014/main" id="{6B7F8DE1-1861-4183-AFD4-36AA572183B5}"/>
              </a:ext>
            </a:extLst>
          </p:cNvPr>
          <p:cNvSpPr>
            <a:spLocks noGrp="1"/>
          </p:cNvSpPr>
          <p:nvPr/>
        </p:nvSpPr>
        <p:spPr>
          <a:xfrm>
            <a:off x="6747665" y="1259584"/>
            <a:ext cx="3429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4288" tIns="7144" rIns="14288" bIns="7144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DCEEFF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1575" b="1" i="0" u="none" strike="noStrike" kern="1200" cap="none" spc="0" normalizeH="0" baseline="0" noProof="0">
                <a:ln>
                  <a:solidFill>
                    <a:srgbClr val="009CDE">
                      <a:lumMod val="50000"/>
                    </a:srgbClr>
                  </a:solidFill>
                </a:ln>
                <a:solidFill>
                  <a:srgbClr val="009CDE">
                    <a:lumMod val="5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6" name="pillar-03-title">
            <a:extLst>
              <a:ext uri="{FF2B5EF4-FFF2-40B4-BE49-F238E27FC236}">
                <a16:creationId xmlns:a16="http://schemas.microsoft.com/office/drawing/2014/main" id="{00F9F5AF-B2A1-45EA-B0F5-295D34104197}"/>
              </a:ext>
            </a:extLst>
          </p:cNvPr>
          <p:cNvSpPr>
            <a:spLocks noGrp="1"/>
          </p:cNvSpPr>
          <p:nvPr/>
        </p:nvSpPr>
        <p:spPr>
          <a:xfrm>
            <a:off x="7054574" y="1273871"/>
            <a:ext cx="2011272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4288" tIns="7144" rIns="14288" bIns="7144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40" b="1">
                <a:solidFill>
                  <a:srgbClr val="005EB8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05EB8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条件性计算资源规格优化</a:t>
            </a:r>
          </a:p>
        </p:txBody>
      </p:sp>
      <p:sp>
        <p:nvSpPr>
          <p:cNvPr id="107" name="pillar-03-accent">
            <a:extLst>
              <a:ext uri="{FF2B5EF4-FFF2-40B4-BE49-F238E27FC236}">
                <a16:creationId xmlns:a16="http://schemas.microsoft.com/office/drawing/2014/main" id="{A60EED81-9A5A-4EFE-823C-3A57C56B64E1}"/>
              </a:ext>
            </a:extLst>
          </p:cNvPr>
          <p:cNvSpPr>
            <a:spLocks noGrp="1"/>
          </p:cNvSpPr>
          <p:nvPr/>
        </p:nvSpPr>
        <p:spPr>
          <a:xfrm>
            <a:off x="7090291" y="1505396"/>
            <a:ext cx="442913" cy="0"/>
          </a:xfrm>
          <a:prstGeom prst="line">
            <a:avLst/>
          </a:prstGeom>
          <a:noFill/>
          <a:ln w="19050">
            <a:solidFill>
              <a:srgbClr val="4D9F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2" name="galaxy-primary-scenario">
            <a:extLst>
              <a:ext uri="{FF2B5EF4-FFF2-40B4-BE49-F238E27FC236}">
                <a16:creationId xmlns:a16="http://schemas.microsoft.com/office/drawing/2014/main" id="{F184F21D-8F0A-4B0A-93C7-BFF15310795A}"/>
              </a:ext>
            </a:extLst>
          </p:cNvPr>
          <p:cNvSpPr>
            <a:spLocks noGrp="1"/>
          </p:cNvSpPr>
          <p:nvPr/>
        </p:nvSpPr>
        <p:spPr>
          <a:xfrm>
            <a:off x="6804910" y="1641288"/>
            <a:ext cx="1528763" cy="1571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4288" tIns="7144" rIns="14288" bIns="7144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63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263238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银河</a:t>
            </a:r>
            <a:endParaRPr kumimoji="0" sz="1000" b="1" i="0" u="none" strike="noStrike" kern="1200" cap="none" spc="0" normalizeH="0" baseline="0" noProof="0">
              <a:ln>
                <a:noFill/>
              </a:ln>
              <a:solidFill>
                <a:srgbClr val="263238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3" name="galaxy-primary-service">
            <a:extLst>
              <a:ext uri="{FF2B5EF4-FFF2-40B4-BE49-F238E27FC236}">
                <a16:creationId xmlns:a16="http://schemas.microsoft.com/office/drawing/2014/main" id="{4275DFD2-1F82-4CA7-BCA6-234078EF42FE}"/>
              </a:ext>
            </a:extLst>
          </p:cNvPr>
          <p:cNvSpPr>
            <a:spLocks noGrp="1"/>
          </p:cNvSpPr>
          <p:nvPr/>
        </p:nvSpPr>
        <p:spPr>
          <a:xfrm>
            <a:off x="6804910" y="1836854"/>
            <a:ext cx="1528763" cy="1285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4288" tIns="7144" rIns="14288" bIns="7144" anchor="ctr"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7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MySQL 灵活服务器</a:t>
            </a:r>
          </a:p>
        </p:txBody>
      </p:sp>
      <p:sp>
        <p:nvSpPr>
          <p:cNvPr id="114" name="galaxy-primary-current-label">
            <a:extLst>
              <a:ext uri="{FF2B5EF4-FFF2-40B4-BE49-F238E27FC236}">
                <a16:creationId xmlns:a16="http://schemas.microsoft.com/office/drawing/2014/main" id="{C1AFDFA1-1FCC-4838-8173-AE4593E13E69}"/>
              </a:ext>
            </a:extLst>
          </p:cNvPr>
          <p:cNvSpPr>
            <a:spLocks noGrp="1"/>
          </p:cNvSpPr>
          <p:nvPr/>
        </p:nvSpPr>
        <p:spPr>
          <a:xfrm>
            <a:off x="6804910" y="2061667"/>
            <a:ext cx="400050" cy="1071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4288" tIns="7144" rIns="14288" bIns="7144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4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当前</a:t>
            </a:r>
          </a:p>
        </p:txBody>
      </p:sp>
      <p:sp>
        <p:nvSpPr>
          <p:cNvPr id="115" name="galaxy-primary-current-dot-1">
            <a:extLst>
              <a:ext uri="{FF2B5EF4-FFF2-40B4-BE49-F238E27FC236}">
                <a16:creationId xmlns:a16="http://schemas.microsoft.com/office/drawing/2014/main" id="{464D1FE5-CCA4-4E77-B363-4497309481C2}"/>
              </a:ext>
            </a:extLst>
          </p:cNvPr>
          <p:cNvSpPr>
            <a:spLocks noGrp="1"/>
          </p:cNvSpPr>
          <p:nvPr/>
        </p:nvSpPr>
        <p:spPr>
          <a:xfrm>
            <a:off x="6812053" y="2213028"/>
            <a:ext cx="71438" cy="71438"/>
          </a:xfrm>
          <a:prstGeom prst="ellipse">
            <a:avLst/>
          </a:prstGeom>
          <a:solidFill>
            <a:srgbClr val="4D9FE8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6" name="galaxy-primary-current-dot-2">
            <a:extLst>
              <a:ext uri="{FF2B5EF4-FFF2-40B4-BE49-F238E27FC236}">
                <a16:creationId xmlns:a16="http://schemas.microsoft.com/office/drawing/2014/main" id="{11E43CEB-F533-45B8-A459-240EA02300A9}"/>
              </a:ext>
            </a:extLst>
          </p:cNvPr>
          <p:cNvSpPr>
            <a:spLocks noGrp="1"/>
          </p:cNvSpPr>
          <p:nvPr/>
        </p:nvSpPr>
        <p:spPr>
          <a:xfrm>
            <a:off x="6919210" y="2213028"/>
            <a:ext cx="71438" cy="71438"/>
          </a:xfrm>
          <a:prstGeom prst="ellipse">
            <a:avLst/>
          </a:prstGeom>
          <a:solidFill>
            <a:srgbClr val="4D9FE8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7" name="galaxy-primary-current-dot-3">
            <a:extLst>
              <a:ext uri="{FF2B5EF4-FFF2-40B4-BE49-F238E27FC236}">
                <a16:creationId xmlns:a16="http://schemas.microsoft.com/office/drawing/2014/main" id="{72CA5999-D084-4820-B9EB-A4ABE56D0BBD}"/>
              </a:ext>
            </a:extLst>
          </p:cNvPr>
          <p:cNvSpPr>
            <a:spLocks noGrp="1"/>
          </p:cNvSpPr>
          <p:nvPr/>
        </p:nvSpPr>
        <p:spPr>
          <a:xfrm>
            <a:off x="7026366" y="2213028"/>
            <a:ext cx="71438" cy="71438"/>
          </a:xfrm>
          <a:prstGeom prst="ellipse">
            <a:avLst/>
          </a:prstGeom>
          <a:solidFill>
            <a:srgbClr val="4D9FE8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8" name="galaxy-primary-current-dot-4">
            <a:extLst>
              <a:ext uri="{FF2B5EF4-FFF2-40B4-BE49-F238E27FC236}">
                <a16:creationId xmlns:a16="http://schemas.microsoft.com/office/drawing/2014/main" id="{E465EDEC-A134-4DF4-BDED-57CC48861EA5}"/>
              </a:ext>
            </a:extLst>
          </p:cNvPr>
          <p:cNvSpPr>
            <a:spLocks noGrp="1"/>
          </p:cNvSpPr>
          <p:nvPr/>
        </p:nvSpPr>
        <p:spPr>
          <a:xfrm>
            <a:off x="7133522" y="2213028"/>
            <a:ext cx="71438" cy="71438"/>
          </a:xfrm>
          <a:prstGeom prst="ellipse">
            <a:avLst/>
          </a:prstGeom>
          <a:solidFill>
            <a:srgbClr val="4D9FE8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9" name="galaxy-primary-current-value">
            <a:extLst>
              <a:ext uri="{FF2B5EF4-FFF2-40B4-BE49-F238E27FC236}">
                <a16:creationId xmlns:a16="http://schemas.microsoft.com/office/drawing/2014/main" id="{FD4A8858-3423-41BB-BBAB-D9F83EF131B3}"/>
              </a:ext>
            </a:extLst>
          </p:cNvPr>
          <p:cNvSpPr>
            <a:spLocks noGrp="1"/>
          </p:cNvSpPr>
          <p:nvPr/>
        </p:nvSpPr>
        <p:spPr>
          <a:xfrm>
            <a:off x="6804910" y="2305897"/>
            <a:ext cx="500063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4288" tIns="7144" rIns="14288" bIns="7144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3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4 vCore</a:t>
            </a:r>
          </a:p>
        </p:txBody>
      </p:sp>
      <p:sp>
        <p:nvSpPr>
          <p:cNvPr id="120" name="galaxy-primary-transition-line">
            <a:extLst>
              <a:ext uri="{FF2B5EF4-FFF2-40B4-BE49-F238E27FC236}">
                <a16:creationId xmlns:a16="http://schemas.microsoft.com/office/drawing/2014/main" id="{BA7BE240-9B7E-4FC7-8A83-79280C200D88}"/>
              </a:ext>
            </a:extLst>
          </p:cNvPr>
          <p:cNvSpPr>
            <a:spLocks noGrp="1"/>
          </p:cNvSpPr>
          <p:nvPr/>
        </p:nvSpPr>
        <p:spPr>
          <a:xfrm>
            <a:off x="7319260" y="2241603"/>
            <a:ext cx="242888" cy="0"/>
          </a:xfrm>
          <a:prstGeom prst="line">
            <a:avLst/>
          </a:prstGeom>
          <a:noFill/>
          <a:ln w="12383">
            <a:solidFill>
              <a:srgbClr val="D5E4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1" name="galaxy-primary-transition-arrow">
            <a:extLst>
              <a:ext uri="{FF2B5EF4-FFF2-40B4-BE49-F238E27FC236}">
                <a16:creationId xmlns:a16="http://schemas.microsoft.com/office/drawing/2014/main" id="{FBD04033-24DE-473F-8090-C91784F837BE}"/>
              </a:ext>
            </a:extLst>
          </p:cNvPr>
          <p:cNvSpPr>
            <a:spLocks noGrp="1"/>
          </p:cNvSpPr>
          <p:nvPr/>
        </p:nvSpPr>
        <p:spPr>
          <a:xfrm rot="5400000">
            <a:off x="7540716" y="2213028"/>
            <a:ext cx="57150" cy="57150"/>
          </a:xfrm>
          <a:prstGeom prst="triangle">
            <a:avLst/>
          </a:prstGeom>
          <a:solidFill>
            <a:srgbClr val="4D9FE8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2" name="galaxy-primary-target-label">
            <a:extLst>
              <a:ext uri="{FF2B5EF4-FFF2-40B4-BE49-F238E27FC236}">
                <a16:creationId xmlns:a16="http://schemas.microsoft.com/office/drawing/2014/main" id="{4F4E2ED6-C187-493A-B086-78986C17A0B9}"/>
              </a:ext>
            </a:extLst>
          </p:cNvPr>
          <p:cNvSpPr>
            <a:spLocks noGrp="1"/>
          </p:cNvSpPr>
          <p:nvPr/>
        </p:nvSpPr>
        <p:spPr>
          <a:xfrm>
            <a:off x="7669304" y="2061667"/>
            <a:ext cx="371475" cy="1071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4288" tIns="7144" rIns="14288" bIns="7144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4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123" name="galaxy-primary-target-dot-1">
            <a:extLst>
              <a:ext uri="{FF2B5EF4-FFF2-40B4-BE49-F238E27FC236}">
                <a16:creationId xmlns:a16="http://schemas.microsoft.com/office/drawing/2014/main" id="{2BFE876A-4F31-4A39-8B5A-95EEBB10E392}"/>
              </a:ext>
            </a:extLst>
          </p:cNvPr>
          <p:cNvSpPr>
            <a:spLocks noGrp="1"/>
          </p:cNvSpPr>
          <p:nvPr/>
        </p:nvSpPr>
        <p:spPr>
          <a:xfrm>
            <a:off x="7676447" y="2213028"/>
            <a:ext cx="71438" cy="71438"/>
          </a:xfrm>
          <a:prstGeom prst="ellipse">
            <a:avLst/>
          </a:prstGeom>
          <a:solidFill>
            <a:srgbClr val="005EB8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4" name="galaxy-primary-target-dot-2">
            <a:extLst>
              <a:ext uri="{FF2B5EF4-FFF2-40B4-BE49-F238E27FC236}">
                <a16:creationId xmlns:a16="http://schemas.microsoft.com/office/drawing/2014/main" id="{7B0E1EC8-CF5A-4106-816E-9A1DD6827E2E}"/>
              </a:ext>
            </a:extLst>
          </p:cNvPr>
          <p:cNvSpPr>
            <a:spLocks noGrp="1"/>
          </p:cNvSpPr>
          <p:nvPr/>
        </p:nvSpPr>
        <p:spPr>
          <a:xfrm>
            <a:off x="7783603" y="2213028"/>
            <a:ext cx="71438" cy="71438"/>
          </a:xfrm>
          <a:prstGeom prst="ellipse">
            <a:avLst/>
          </a:prstGeom>
          <a:solidFill>
            <a:srgbClr val="005EB8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5" name="galaxy-primary-target-value">
            <a:extLst>
              <a:ext uri="{FF2B5EF4-FFF2-40B4-BE49-F238E27FC236}">
                <a16:creationId xmlns:a16="http://schemas.microsoft.com/office/drawing/2014/main" id="{E58EFF87-274B-462A-9FF7-182F37E85976}"/>
              </a:ext>
            </a:extLst>
          </p:cNvPr>
          <p:cNvSpPr>
            <a:spLocks noGrp="1"/>
          </p:cNvSpPr>
          <p:nvPr/>
        </p:nvSpPr>
        <p:spPr>
          <a:xfrm>
            <a:off x="7669303" y="2305897"/>
            <a:ext cx="500063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4288" tIns="7144" rIns="14288" bIns="7144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3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2 vCore</a:t>
            </a:r>
          </a:p>
        </p:txBody>
      </p:sp>
      <p:sp>
        <p:nvSpPr>
          <p:cNvPr id="126" name="galaxy-primary-reduction">
            <a:extLst>
              <a:ext uri="{FF2B5EF4-FFF2-40B4-BE49-F238E27FC236}">
                <a16:creationId xmlns:a16="http://schemas.microsoft.com/office/drawing/2014/main" id="{B952AB92-5013-4E21-BE7B-E2F91FDE435B}"/>
              </a:ext>
            </a:extLst>
          </p:cNvPr>
          <p:cNvSpPr>
            <a:spLocks noGrp="1"/>
          </p:cNvSpPr>
          <p:nvPr/>
        </p:nvSpPr>
        <p:spPr>
          <a:xfrm>
            <a:off x="7994073" y="2013330"/>
            <a:ext cx="842963" cy="2500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4288" tIns="7144" rIns="14288" bIns="7144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5EB8"/>
                </a:solidFill>
                <a:latin typeface="Arial"/>
                <a:ea typeface="Arial"/>
                <a:cs typeface="Arial"/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005EB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−50%</a:t>
            </a:r>
          </a:p>
        </p:txBody>
      </p:sp>
      <p:sp>
        <p:nvSpPr>
          <p:cNvPr id="127" name="galaxy-primary-allocated">
            <a:extLst>
              <a:ext uri="{FF2B5EF4-FFF2-40B4-BE49-F238E27FC236}">
                <a16:creationId xmlns:a16="http://schemas.microsoft.com/office/drawing/2014/main" id="{909770F1-6FC6-4807-A744-7A1BC10D8DEA}"/>
              </a:ext>
            </a:extLst>
          </p:cNvPr>
          <p:cNvSpPr>
            <a:spLocks noGrp="1"/>
          </p:cNvSpPr>
          <p:nvPr/>
        </p:nvSpPr>
        <p:spPr>
          <a:xfrm>
            <a:off x="7897903" y="2296284"/>
            <a:ext cx="964406" cy="1214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4288" tIns="7144" rIns="14288" bIns="7144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4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已分配 vCore</a:t>
            </a:r>
          </a:p>
        </p:txBody>
      </p:sp>
      <p:sp>
        <p:nvSpPr>
          <p:cNvPr id="128" name="scenario-divider-1">
            <a:extLst>
              <a:ext uri="{FF2B5EF4-FFF2-40B4-BE49-F238E27FC236}">
                <a16:creationId xmlns:a16="http://schemas.microsoft.com/office/drawing/2014/main" id="{EAD2C43B-175A-4280-B12D-AAB394FEFF05}"/>
              </a:ext>
            </a:extLst>
          </p:cNvPr>
          <p:cNvSpPr>
            <a:spLocks noGrp="1"/>
          </p:cNvSpPr>
          <p:nvPr/>
        </p:nvSpPr>
        <p:spPr>
          <a:xfrm>
            <a:off x="6740615" y="2569314"/>
            <a:ext cx="2100264" cy="7939"/>
          </a:xfrm>
          <a:prstGeom prst="line">
            <a:avLst/>
          </a:prstGeom>
          <a:noFill/>
          <a:ln w="9525">
            <a:solidFill>
              <a:srgbClr val="E7EF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8" name="dht-production-scenario">
            <a:extLst>
              <a:ext uri="{FF2B5EF4-FFF2-40B4-BE49-F238E27FC236}">
                <a16:creationId xmlns:a16="http://schemas.microsoft.com/office/drawing/2014/main" id="{822F1A72-BE43-456F-869B-5FEF516CF60F}"/>
              </a:ext>
            </a:extLst>
          </p:cNvPr>
          <p:cNvSpPr>
            <a:spLocks noGrp="1"/>
          </p:cNvSpPr>
          <p:nvPr/>
        </p:nvSpPr>
        <p:spPr>
          <a:xfrm>
            <a:off x="6814089" y="2722463"/>
            <a:ext cx="1528763" cy="1571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4288" tIns="7144" rIns="14288" bIns="7144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63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263238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DHT</a:t>
            </a:r>
            <a:endParaRPr kumimoji="0" sz="1000" b="1" i="0" u="none" strike="noStrike" kern="1200" cap="none" spc="0" normalizeH="0" baseline="0" noProof="0">
              <a:ln>
                <a:noFill/>
              </a:ln>
              <a:solidFill>
                <a:srgbClr val="263238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9" name="dht-production-service">
            <a:extLst>
              <a:ext uri="{FF2B5EF4-FFF2-40B4-BE49-F238E27FC236}">
                <a16:creationId xmlns:a16="http://schemas.microsoft.com/office/drawing/2014/main" id="{4DFD741B-A7D9-4102-8D18-3E9A19B69EE8}"/>
              </a:ext>
            </a:extLst>
          </p:cNvPr>
          <p:cNvSpPr>
            <a:spLocks noGrp="1"/>
          </p:cNvSpPr>
          <p:nvPr/>
        </p:nvSpPr>
        <p:spPr>
          <a:xfrm>
            <a:off x="6814089" y="2910214"/>
            <a:ext cx="1528763" cy="1285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4288" tIns="7144" rIns="14288" bIns="7144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7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SQL 托管实例</a:t>
            </a:r>
          </a:p>
        </p:txBody>
      </p:sp>
      <p:sp>
        <p:nvSpPr>
          <p:cNvPr id="150" name="dht-production-current-label">
            <a:extLst>
              <a:ext uri="{FF2B5EF4-FFF2-40B4-BE49-F238E27FC236}">
                <a16:creationId xmlns:a16="http://schemas.microsoft.com/office/drawing/2014/main" id="{12A16FC4-E175-4B03-B412-025D946BDCA8}"/>
              </a:ext>
            </a:extLst>
          </p:cNvPr>
          <p:cNvSpPr>
            <a:spLocks noGrp="1"/>
          </p:cNvSpPr>
          <p:nvPr/>
        </p:nvSpPr>
        <p:spPr>
          <a:xfrm>
            <a:off x="6814089" y="3103768"/>
            <a:ext cx="400050" cy="1071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4288" tIns="7144" rIns="14288" bIns="7144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4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当前</a:t>
            </a:r>
          </a:p>
        </p:txBody>
      </p:sp>
      <p:sp>
        <p:nvSpPr>
          <p:cNvPr id="151" name="dht-production-current-dot-1">
            <a:extLst>
              <a:ext uri="{FF2B5EF4-FFF2-40B4-BE49-F238E27FC236}">
                <a16:creationId xmlns:a16="http://schemas.microsoft.com/office/drawing/2014/main" id="{24B0437C-18BD-4E1F-8CBF-E301B9FA588D}"/>
              </a:ext>
            </a:extLst>
          </p:cNvPr>
          <p:cNvSpPr>
            <a:spLocks noGrp="1"/>
          </p:cNvSpPr>
          <p:nvPr/>
        </p:nvSpPr>
        <p:spPr>
          <a:xfrm>
            <a:off x="6821232" y="3255128"/>
            <a:ext cx="71438" cy="71438"/>
          </a:xfrm>
          <a:prstGeom prst="ellipse">
            <a:avLst/>
          </a:prstGeom>
          <a:solidFill>
            <a:srgbClr val="4D9FE8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2" name="dht-production-current-dot-2">
            <a:extLst>
              <a:ext uri="{FF2B5EF4-FFF2-40B4-BE49-F238E27FC236}">
                <a16:creationId xmlns:a16="http://schemas.microsoft.com/office/drawing/2014/main" id="{EE016373-BAC7-4E18-ACF6-B2B398D3B465}"/>
              </a:ext>
            </a:extLst>
          </p:cNvPr>
          <p:cNvSpPr>
            <a:spLocks noGrp="1"/>
          </p:cNvSpPr>
          <p:nvPr/>
        </p:nvSpPr>
        <p:spPr>
          <a:xfrm>
            <a:off x="6928389" y="3255128"/>
            <a:ext cx="71438" cy="71438"/>
          </a:xfrm>
          <a:prstGeom prst="ellipse">
            <a:avLst/>
          </a:prstGeom>
          <a:solidFill>
            <a:srgbClr val="4D9FE8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3" name="dht-production-current-dot-3">
            <a:extLst>
              <a:ext uri="{FF2B5EF4-FFF2-40B4-BE49-F238E27FC236}">
                <a16:creationId xmlns:a16="http://schemas.microsoft.com/office/drawing/2014/main" id="{A2F41387-0016-46FA-97BB-5912AA09067E}"/>
              </a:ext>
            </a:extLst>
          </p:cNvPr>
          <p:cNvSpPr>
            <a:spLocks noGrp="1"/>
          </p:cNvSpPr>
          <p:nvPr/>
        </p:nvSpPr>
        <p:spPr>
          <a:xfrm>
            <a:off x="7035545" y="3255128"/>
            <a:ext cx="71438" cy="71438"/>
          </a:xfrm>
          <a:prstGeom prst="ellipse">
            <a:avLst/>
          </a:prstGeom>
          <a:solidFill>
            <a:srgbClr val="4D9FE8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4" name="dht-production-current-dot-4">
            <a:extLst>
              <a:ext uri="{FF2B5EF4-FFF2-40B4-BE49-F238E27FC236}">
                <a16:creationId xmlns:a16="http://schemas.microsoft.com/office/drawing/2014/main" id="{9E7C1612-05D8-48B1-B368-67E339EF9F1D}"/>
              </a:ext>
            </a:extLst>
          </p:cNvPr>
          <p:cNvSpPr>
            <a:spLocks noGrp="1"/>
          </p:cNvSpPr>
          <p:nvPr/>
        </p:nvSpPr>
        <p:spPr>
          <a:xfrm>
            <a:off x="7142701" y="3255128"/>
            <a:ext cx="71438" cy="71438"/>
          </a:xfrm>
          <a:prstGeom prst="ellipse">
            <a:avLst/>
          </a:prstGeom>
          <a:solidFill>
            <a:srgbClr val="4D9FE8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5" name="dht-production-current-value">
            <a:extLst>
              <a:ext uri="{FF2B5EF4-FFF2-40B4-BE49-F238E27FC236}">
                <a16:creationId xmlns:a16="http://schemas.microsoft.com/office/drawing/2014/main" id="{F9D2AC82-6F09-4A25-AFB3-3DB28094B85D}"/>
              </a:ext>
            </a:extLst>
          </p:cNvPr>
          <p:cNvSpPr>
            <a:spLocks noGrp="1"/>
          </p:cNvSpPr>
          <p:nvPr/>
        </p:nvSpPr>
        <p:spPr>
          <a:xfrm>
            <a:off x="6814089" y="3347997"/>
            <a:ext cx="500063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4288" tIns="7144" rIns="14288" bIns="7144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3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4 vCore</a:t>
            </a:r>
          </a:p>
        </p:txBody>
      </p:sp>
      <p:sp>
        <p:nvSpPr>
          <p:cNvPr id="156" name="dht-production-transition-line">
            <a:extLst>
              <a:ext uri="{FF2B5EF4-FFF2-40B4-BE49-F238E27FC236}">
                <a16:creationId xmlns:a16="http://schemas.microsoft.com/office/drawing/2014/main" id="{F8A04BA3-5B85-4917-9153-8AECDCA0801D}"/>
              </a:ext>
            </a:extLst>
          </p:cNvPr>
          <p:cNvSpPr>
            <a:spLocks noGrp="1"/>
          </p:cNvSpPr>
          <p:nvPr/>
        </p:nvSpPr>
        <p:spPr>
          <a:xfrm>
            <a:off x="7328439" y="3283703"/>
            <a:ext cx="242888" cy="0"/>
          </a:xfrm>
          <a:prstGeom prst="line">
            <a:avLst/>
          </a:prstGeom>
          <a:noFill/>
          <a:ln w="12383">
            <a:solidFill>
              <a:srgbClr val="D5E4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7" name="dht-production-transition-arrow">
            <a:extLst>
              <a:ext uri="{FF2B5EF4-FFF2-40B4-BE49-F238E27FC236}">
                <a16:creationId xmlns:a16="http://schemas.microsoft.com/office/drawing/2014/main" id="{9D6A1DB4-48A0-4D6D-80D8-4B6ED06AEAB4}"/>
              </a:ext>
            </a:extLst>
          </p:cNvPr>
          <p:cNvSpPr>
            <a:spLocks noGrp="1"/>
          </p:cNvSpPr>
          <p:nvPr/>
        </p:nvSpPr>
        <p:spPr>
          <a:xfrm rot="5400000">
            <a:off x="7549895" y="3255128"/>
            <a:ext cx="57150" cy="57150"/>
          </a:xfrm>
          <a:prstGeom prst="triangle">
            <a:avLst/>
          </a:prstGeom>
          <a:solidFill>
            <a:srgbClr val="4D9FE8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8" name="dht-production-target-label">
            <a:extLst>
              <a:ext uri="{FF2B5EF4-FFF2-40B4-BE49-F238E27FC236}">
                <a16:creationId xmlns:a16="http://schemas.microsoft.com/office/drawing/2014/main" id="{D11F776E-D6C4-4049-9304-08CC181810CC}"/>
              </a:ext>
            </a:extLst>
          </p:cNvPr>
          <p:cNvSpPr>
            <a:spLocks noGrp="1"/>
          </p:cNvSpPr>
          <p:nvPr/>
        </p:nvSpPr>
        <p:spPr>
          <a:xfrm>
            <a:off x="7678483" y="3103768"/>
            <a:ext cx="371475" cy="1071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4288" tIns="7144" rIns="14288" bIns="7144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4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159" name="dht-production-target-dot-1">
            <a:extLst>
              <a:ext uri="{FF2B5EF4-FFF2-40B4-BE49-F238E27FC236}">
                <a16:creationId xmlns:a16="http://schemas.microsoft.com/office/drawing/2014/main" id="{63991654-DE60-4E4F-AB57-1DE9D0DBA6D8}"/>
              </a:ext>
            </a:extLst>
          </p:cNvPr>
          <p:cNvSpPr>
            <a:spLocks noGrp="1"/>
          </p:cNvSpPr>
          <p:nvPr/>
        </p:nvSpPr>
        <p:spPr>
          <a:xfrm>
            <a:off x="7685626" y="3255128"/>
            <a:ext cx="71438" cy="71438"/>
          </a:xfrm>
          <a:prstGeom prst="ellipse">
            <a:avLst/>
          </a:prstGeom>
          <a:solidFill>
            <a:srgbClr val="005EB8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0" name="dht-production-target-dot-2">
            <a:extLst>
              <a:ext uri="{FF2B5EF4-FFF2-40B4-BE49-F238E27FC236}">
                <a16:creationId xmlns:a16="http://schemas.microsoft.com/office/drawing/2014/main" id="{47850271-328C-4F90-807A-E54F8319D5C1}"/>
              </a:ext>
            </a:extLst>
          </p:cNvPr>
          <p:cNvSpPr>
            <a:spLocks noGrp="1"/>
          </p:cNvSpPr>
          <p:nvPr/>
        </p:nvSpPr>
        <p:spPr>
          <a:xfrm>
            <a:off x="7792782" y="3255128"/>
            <a:ext cx="71438" cy="71438"/>
          </a:xfrm>
          <a:prstGeom prst="ellipse">
            <a:avLst/>
          </a:prstGeom>
          <a:solidFill>
            <a:srgbClr val="005EB8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1" name="dht-production-target-value">
            <a:extLst>
              <a:ext uri="{FF2B5EF4-FFF2-40B4-BE49-F238E27FC236}">
                <a16:creationId xmlns:a16="http://schemas.microsoft.com/office/drawing/2014/main" id="{DF764C9A-9363-4BE8-8F89-BF62BDE8A19F}"/>
              </a:ext>
            </a:extLst>
          </p:cNvPr>
          <p:cNvSpPr>
            <a:spLocks noGrp="1"/>
          </p:cNvSpPr>
          <p:nvPr/>
        </p:nvSpPr>
        <p:spPr>
          <a:xfrm>
            <a:off x="7678482" y="3347997"/>
            <a:ext cx="500063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4288" tIns="7144" rIns="14288" bIns="7144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3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2 vCore</a:t>
            </a:r>
          </a:p>
        </p:txBody>
      </p:sp>
      <p:sp>
        <p:nvSpPr>
          <p:cNvPr id="162" name="dht-production-reduction">
            <a:extLst>
              <a:ext uri="{FF2B5EF4-FFF2-40B4-BE49-F238E27FC236}">
                <a16:creationId xmlns:a16="http://schemas.microsoft.com/office/drawing/2014/main" id="{80A20DEC-3E28-4A85-9C5C-48E35EF47313}"/>
              </a:ext>
            </a:extLst>
          </p:cNvPr>
          <p:cNvSpPr>
            <a:spLocks noGrp="1"/>
          </p:cNvSpPr>
          <p:nvPr/>
        </p:nvSpPr>
        <p:spPr>
          <a:xfrm>
            <a:off x="7983627" y="3070404"/>
            <a:ext cx="842963" cy="2500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4288" tIns="7144" rIns="14288" bIns="7144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5EB8"/>
                </a:solidFill>
                <a:latin typeface="Arial"/>
                <a:ea typeface="Arial"/>
                <a:cs typeface="Arial"/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005EB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−50%</a:t>
            </a:r>
          </a:p>
        </p:txBody>
      </p:sp>
      <p:sp>
        <p:nvSpPr>
          <p:cNvPr id="163" name="dht-production-allocated">
            <a:extLst>
              <a:ext uri="{FF2B5EF4-FFF2-40B4-BE49-F238E27FC236}">
                <a16:creationId xmlns:a16="http://schemas.microsoft.com/office/drawing/2014/main" id="{1522B7DA-333B-4798-88A1-A85672EDCC97}"/>
              </a:ext>
            </a:extLst>
          </p:cNvPr>
          <p:cNvSpPr>
            <a:spLocks noGrp="1"/>
          </p:cNvSpPr>
          <p:nvPr/>
        </p:nvSpPr>
        <p:spPr>
          <a:xfrm>
            <a:off x="7858887" y="3348032"/>
            <a:ext cx="964406" cy="1214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4288" tIns="7144" rIns="14288" bIns="7144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4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已分配 vCore</a:t>
            </a:r>
          </a:p>
        </p:txBody>
      </p:sp>
      <p:sp>
        <p:nvSpPr>
          <p:cNvPr id="164" name="p3-note">
            <a:extLst>
              <a:ext uri="{FF2B5EF4-FFF2-40B4-BE49-F238E27FC236}">
                <a16:creationId xmlns:a16="http://schemas.microsoft.com/office/drawing/2014/main" id="{636FB021-2FAE-443C-AF59-201904638748}"/>
              </a:ext>
            </a:extLst>
          </p:cNvPr>
          <p:cNvSpPr>
            <a:spLocks noGrp="1"/>
          </p:cNvSpPr>
          <p:nvPr/>
        </p:nvSpPr>
        <p:spPr>
          <a:xfrm>
            <a:off x="6870547" y="3670285"/>
            <a:ext cx="1737911" cy="300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4288" tIns="7144" rIns="14288" bIns="7144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4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不同 Azure 数据库服务的相同 vCore 降幅，并不代表相同的成本节约。</a:t>
            </a:r>
          </a:p>
        </p:txBody>
      </p:sp>
      <p:sp>
        <p:nvSpPr>
          <p:cNvPr id="165" name="conclusion-strip">
            <a:extLst>
              <a:ext uri="{FF2B5EF4-FFF2-40B4-BE49-F238E27FC236}">
                <a16:creationId xmlns:a16="http://schemas.microsoft.com/office/drawing/2014/main" id="{D7CA37A2-BBBF-46CF-B77A-0E11C20D5307}"/>
              </a:ext>
            </a:extLst>
          </p:cNvPr>
          <p:cNvSpPr>
            <a:spLocks noGrp="1"/>
          </p:cNvSpPr>
          <p:nvPr/>
        </p:nvSpPr>
        <p:spPr>
          <a:xfrm>
            <a:off x="371475" y="4514082"/>
            <a:ext cx="8401050" cy="478631"/>
          </a:xfrm>
          <a:prstGeom prst="roundRect">
            <a:avLst>
              <a:gd name="adj" fmla="val 17910"/>
            </a:avLst>
          </a:prstGeom>
          <a:solidFill>
            <a:srgbClr val="F3F9FD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6" name="conclusion-icon">
            <a:extLst>
              <a:ext uri="{FF2B5EF4-FFF2-40B4-BE49-F238E27FC236}">
                <a16:creationId xmlns:a16="http://schemas.microsoft.com/office/drawing/2014/main" id="{73DD28F6-05D1-42C6-B73A-59B50BB62912}"/>
              </a:ext>
            </a:extLst>
          </p:cNvPr>
          <p:cNvSpPr>
            <a:spLocks noGrp="1"/>
          </p:cNvSpPr>
          <p:nvPr/>
        </p:nvSpPr>
        <p:spPr>
          <a:xfrm>
            <a:off x="500062" y="4635525"/>
            <a:ext cx="242888" cy="242888"/>
          </a:xfrm>
          <a:prstGeom prst="ellipse">
            <a:avLst/>
          </a:prstGeom>
          <a:solidFill>
            <a:srgbClr val="005EB8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7" name="conclusion-icon-text">
            <a:extLst>
              <a:ext uri="{FF2B5EF4-FFF2-40B4-BE49-F238E27FC236}">
                <a16:creationId xmlns:a16="http://schemas.microsoft.com/office/drawing/2014/main" id="{6C8BD6D5-1A7F-4E8C-84CD-A232E2414C95}"/>
              </a:ext>
            </a:extLst>
          </p:cNvPr>
          <p:cNvSpPr>
            <a:spLocks noGrp="1"/>
          </p:cNvSpPr>
          <p:nvPr/>
        </p:nvSpPr>
        <p:spPr>
          <a:xfrm>
            <a:off x="500062" y="4628382"/>
            <a:ext cx="242888" cy="242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4288" tIns="7144" rIns="14288" bIns="7144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1069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68" name="conclusion-label">
            <a:extLst>
              <a:ext uri="{FF2B5EF4-FFF2-40B4-BE49-F238E27FC236}">
                <a16:creationId xmlns:a16="http://schemas.microsoft.com/office/drawing/2014/main" id="{C0B193C2-04A0-4D5E-9AFA-0EA8F49F2C44}"/>
              </a:ext>
            </a:extLst>
          </p:cNvPr>
          <p:cNvSpPr>
            <a:spLocks noGrp="1"/>
          </p:cNvSpPr>
          <p:nvPr/>
        </p:nvSpPr>
        <p:spPr>
          <a:xfrm>
            <a:off x="828675" y="4571232"/>
            <a:ext cx="714375" cy="15001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4288" tIns="7144" rIns="14288" bIns="7144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63" b="1">
                <a:solidFill>
                  <a:srgbClr val="005EB8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05EB8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169" name="conclusion-copy">
            <a:extLst>
              <a:ext uri="{FF2B5EF4-FFF2-40B4-BE49-F238E27FC236}">
                <a16:creationId xmlns:a16="http://schemas.microsoft.com/office/drawing/2014/main" id="{D6A69D87-5F1F-4870-B0D9-4B17C3314599}"/>
              </a:ext>
            </a:extLst>
          </p:cNvPr>
          <p:cNvSpPr>
            <a:spLocks noGrp="1"/>
          </p:cNvSpPr>
          <p:nvPr/>
        </p:nvSpPr>
        <p:spPr>
          <a:xfrm>
            <a:off x="828675" y="4714107"/>
            <a:ext cx="7800975" cy="2143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4288" tIns="7144" rIns="14288" bIns="7144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63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872" b="0" i="0" u="none" strike="noStrike" kern="1200" cap="none" spc="0" normalizeH="0" baseline="0" noProof="0">
                <a:ln>
                  <a:noFill/>
                </a:ln>
                <a:solidFill>
                  <a:srgbClr val="263238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历史数据归档可减少四个现存系统当前数据占用的 </a:t>
            </a:r>
            <a:r>
              <a:rPr kumimoji="0" lang="en-US" sz="872" b="1" i="0" u="none" strike="noStrike" kern="1200" cap="none" spc="0" normalizeH="0" baseline="0" noProof="0">
                <a:ln>
                  <a:noFill/>
                </a:ln>
                <a:solidFill>
                  <a:srgbClr val="263238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23</a:t>
            </a:r>
            <a:r>
              <a:rPr kumimoji="0" sz="872" b="1" i="0" u="none" strike="noStrike" kern="1200" cap="none" spc="0" normalizeH="0" baseline="0" noProof="0">
                <a:ln>
                  <a:noFill/>
                </a:ln>
                <a:solidFill>
                  <a:srgbClr val="263238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%–</a:t>
            </a:r>
            <a:r>
              <a:rPr kumimoji="0" lang="en-US" sz="872" b="1" i="0" u="none" strike="noStrike" kern="1200" cap="none" spc="0" normalizeH="0" baseline="0" noProof="0">
                <a:ln>
                  <a:noFill/>
                </a:ln>
                <a:solidFill>
                  <a:srgbClr val="263238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65</a:t>
            </a:r>
            <a:r>
              <a:rPr kumimoji="0" sz="872" b="1" i="0" u="none" strike="noStrike" kern="1200" cap="none" spc="0" normalizeH="0" baseline="0" noProof="0">
                <a:ln>
                  <a:noFill/>
                </a:ln>
                <a:solidFill>
                  <a:srgbClr val="263238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%</a:t>
            </a:r>
            <a:r>
              <a:rPr kumimoji="0" sz="872" b="0" i="0" u="none" strike="noStrike" kern="1200" cap="none" spc="0" normalizeH="0" baseline="0" noProof="0">
                <a:ln>
                  <a:noFill/>
                </a:ln>
                <a:solidFill>
                  <a:srgbClr val="263238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；</a:t>
            </a:r>
            <a:r>
              <a:rPr kumimoji="0" sz="872" b="1" i="0" u="none" strike="noStrike" kern="1200" cap="none" spc="0" normalizeH="0" baseline="0" noProof="0">
                <a:ln>
                  <a:noFill/>
                </a:ln>
                <a:solidFill>
                  <a:srgbClr val="263238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银河</a:t>
            </a:r>
            <a:r>
              <a:rPr kumimoji="0" sz="872" b="0" i="0" u="none" strike="noStrike" kern="1200" cap="none" spc="0" normalizeH="0" baseline="0" noProof="0">
                <a:ln>
                  <a:noFill/>
                </a:ln>
                <a:solidFill>
                  <a:srgbClr val="263238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和 </a:t>
            </a:r>
            <a:r>
              <a:rPr kumimoji="0" sz="872" b="1" i="0" u="none" strike="noStrike" kern="1200" cap="none" spc="0" normalizeH="0" baseline="0" noProof="0">
                <a:ln>
                  <a:noFill/>
                </a:ln>
                <a:solidFill>
                  <a:srgbClr val="263238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DHT</a:t>
            </a:r>
            <a:r>
              <a:rPr kumimoji="0" sz="872" b="0" i="0" u="none" strike="noStrike" kern="1200" cap="none" spc="0" normalizeH="0" baseline="0" noProof="0">
                <a:ln>
                  <a:noFill/>
                </a:ln>
                <a:solidFill>
                  <a:srgbClr val="263238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 可能进一步释放 </a:t>
            </a:r>
            <a:r>
              <a:rPr kumimoji="0" sz="872" b="1" i="0" u="none" strike="noStrike" kern="1200" cap="none" spc="0" normalizeH="0" baseline="0" noProof="0">
                <a:ln>
                  <a:noFill/>
                </a:ln>
                <a:solidFill>
                  <a:srgbClr val="263238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vCore 规格优化</a:t>
            </a:r>
            <a:r>
              <a:rPr kumimoji="0" sz="872" b="0" i="0" u="none" strike="noStrike" kern="1200" cap="none" spc="0" normalizeH="0" baseline="0" noProof="0">
                <a:ln>
                  <a:noFill/>
                </a:ln>
                <a:solidFill>
                  <a:srgbClr val="263238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机会。</a:t>
            </a:r>
          </a:p>
        </p:txBody>
      </p:sp>
      <p:sp>
        <p:nvSpPr>
          <p:cNvPr id="171" name="methodology-guide">
            <a:extLst>
              <a:ext uri="{FF2B5EF4-FFF2-40B4-BE49-F238E27FC236}">
                <a16:creationId xmlns:a16="http://schemas.microsoft.com/office/drawing/2014/main" id="{9DF517E8-182D-4BCF-BD9F-860C95F390F1}"/>
              </a:ext>
            </a:extLst>
          </p:cNvPr>
          <p:cNvSpPr>
            <a:spLocks noGrp="1"/>
          </p:cNvSpPr>
          <p:nvPr/>
        </p:nvSpPr>
        <p:spPr>
          <a:xfrm>
            <a:off x="2377710" y="2309613"/>
            <a:ext cx="4192103" cy="0"/>
          </a:xfrm>
          <a:prstGeom prst="line">
            <a:avLst/>
          </a:prstGeom>
          <a:noFill/>
          <a:ln w="7620">
            <a:solidFill>
              <a:srgbClr val="E7EF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8" name="methodology-step1-title">
            <a:extLst>
              <a:ext uri="{FF2B5EF4-FFF2-40B4-BE49-F238E27FC236}">
                <a16:creationId xmlns:a16="http://schemas.microsoft.com/office/drawing/2014/main" id="{9D07EA8F-841F-4C1C-99C1-D600410626E5}"/>
              </a:ext>
            </a:extLst>
          </p:cNvPr>
          <p:cNvSpPr>
            <a:spLocks noGrp="1"/>
          </p:cNvSpPr>
          <p:nvPr/>
        </p:nvSpPr>
        <p:spPr>
          <a:xfrm>
            <a:off x="2690395" y="1589221"/>
            <a:ext cx="846206" cy="16474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>
                <a:ln>
                  <a:noFill/>
                </a:ln>
                <a:solidFill>
                  <a:srgbClr val="0067B9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数据结构</a:t>
            </a:r>
          </a:p>
        </p:txBody>
      </p:sp>
      <p:sp>
        <p:nvSpPr>
          <p:cNvPr id="179" name="methodology-step1-body">
            <a:extLst>
              <a:ext uri="{FF2B5EF4-FFF2-40B4-BE49-F238E27FC236}">
                <a16:creationId xmlns:a16="http://schemas.microsoft.com/office/drawing/2014/main" id="{EB70C86B-56EC-416A-9D85-200B7DA18832}"/>
              </a:ext>
            </a:extLst>
          </p:cNvPr>
          <p:cNvSpPr>
            <a:spLocks noGrp="1"/>
          </p:cNvSpPr>
          <p:nvPr/>
        </p:nvSpPr>
        <p:spPr>
          <a:xfrm>
            <a:off x="2687074" y="1776996"/>
            <a:ext cx="850763" cy="2226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6323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识别数据的归档</a:t>
            </a:r>
            <a:endParaRPr kumimoji="0" lang="en-US" altLang="zh-CN" sz="800" b="0" i="0" u="none" strike="noStrike" kern="1200" cap="none" spc="0" normalizeH="0" baseline="0" noProof="0">
              <a:ln>
                <a:noFill/>
              </a:ln>
              <a:solidFill>
                <a:srgbClr val="263238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6323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相关性</a:t>
            </a:r>
          </a:p>
        </p:txBody>
      </p:sp>
      <p:sp>
        <p:nvSpPr>
          <p:cNvPr id="180" name="methodology-step1-note">
            <a:extLst>
              <a:ext uri="{FF2B5EF4-FFF2-40B4-BE49-F238E27FC236}">
                <a16:creationId xmlns:a16="http://schemas.microsoft.com/office/drawing/2014/main" id="{1557197E-7A12-4864-AB8A-C3FBABE2AEE9}"/>
              </a:ext>
            </a:extLst>
          </p:cNvPr>
          <p:cNvSpPr>
            <a:spLocks noGrp="1"/>
          </p:cNvSpPr>
          <p:nvPr/>
        </p:nvSpPr>
        <p:spPr>
          <a:xfrm>
            <a:off x="2685207" y="1988387"/>
            <a:ext cx="814031" cy="28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2947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归档数据 </a:t>
            </a:r>
            <a:r>
              <a:rPr kumimoji="0" lang="en-US" altLang="zh-CN" sz="6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/ </a:t>
            </a:r>
            <a:r>
              <a:rPr kumimoji="0" lang="zh-CN" altLang="en-US" sz="6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运营数据 </a:t>
            </a:r>
            <a:r>
              <a:rPr kumimoji="0" lang="en-US" altLang="zh-CN" sz="6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/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技术数据 </a:t>
            </a:r>
            <a:r>
              <a:rPr kumimoji="0" lang="en-US" altLang="zh-CN" sz="6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/ </a:t>
            </a:r>
            <a:r>
              <a:rPr kumimoji="0" lang="zh-CN" altLang="en-US" sz="6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未分类数据</a:t>
            </a:r>
          </a:p>
        </p:txBody>
      </p:sp>
      <p:sp>
        <p:nvSpPr>
          <p:cNvPr id="181" name="methodology-times">
            <a:extLst>
              <a:ext uri="{FF2B5EF4-FFF2-40B4-BE49-F238E27FC236}">
                <a16:creationId xmlns:a16="http://schemas.microsoft.com/office/drawing/2014/main" id="{79C34800-55CB-4F98-A3A2-9EE41EEFBF7B}"/>
              </a:ext>
            </a:extLst>
          </p:cNvPr>
          <p:cNvSpPr>
            <a:spLocks noGrp="1"/>
          </p:cNvSpPr>
          <p:nvPr/>
        </p:nvSpPr>
        <p:spPr>
          <a:xfrm>
            <a:off x="3507405" y="1650273"/>
            <a:ext cx="166509" cy="15310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0">
                <a:solidFill>
                  <a:srgbClr val="0067B9"/>
                </a:solidFill>
                <a:latin typeface="Calibri"/>
                <a:ea typeface="Calibri"/>
                <a:cs typeface="Calibri"/>
              </a:defRPr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0067B9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×</a:t>
            </a:r>
          </a:p>
        </p:txBody>
      </p:sp>
      <p:sp>
        <p:nvSpPr>
          <p:cNvPr id="188" name="methodology-equals">
            <a:extLst>
              <a:ext uri="{FF2B5EF4-FFF2-40B4-BE49-F238E27FC236}">
                <a16:creationId xmlns:a16="http://schemas.microsoft.com/office/drawing/2014/main" id="{0B428977-C7A6-41F2-AA86-647CF1923582}"/>
              </a:ext>
            </a:extLst>
          </p:cNvPr>
          <p:cNvSpPr>
            <a:spLocks noGrp="1"/>
          </p:cNvSpPr>
          <p:nvPr/>
        </p:nvSpPr>
        <p:spPr>
          <a:xfrm>
            <a:off x="4945492" y="1650273"/>
            <a:ext cx="166509" cy="15310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0067B9"/>
                </a:solidFill>
                <a:latin typeface="Calibri"/>
                <a:ea typeface="Calibri"/>
                <a:cs typeface="Calibri"/>
              </a:defRPr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0067B9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=</a:t>
            </a:r>
          </a:p>
        </p:txBody>
      </p:sp>
      <p:pic>
        <p:nvPicPr>
          <p:cNvPr id="195" name="图形 194" descr="列表 纯色填充">
            <a:extLst>
              <a:ext uri="{FF2B5EF4-FFF2-40B4-BE49-F238E27FC236}">
                <a16:creationId xmlns:a16="http://schemas.microsoft.com/office/drawing/2014/main" id="{1B002D39-8A9C-6A6D-D54C-416502CC2E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47648" y="1608533"/>
            <a:ext cx="210740" cy="210740"/>
          </a:xfrm>
          <a:prstGeom prst="rect">
            <a:avLst/>
          </a:prstGeom>
        </p:spPr>
      </p:pic>
      <p:pic>
        <p:nvPicPr>
          <p:cNvPr id="197" name="图形 196" descr="沙漏 90% 纯色填充">
            <a:extLst>
              <a:ext uri="{FF2B5EF4-FFF2-40B4-BE49-F238E27FC236}">
                <a16:creationId xmlns:a16="http://schemas.microsoft.com/office/drawing/2014/main" id="{F1B0B7F4-D3B8-4EA1-0FDC-8D4D3755B8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21630" y="1599148"/>
            <a:ext cx="288941" cy="288941"/>
          </a:xfrm>
          <a:prstGeom prst="rect">
            <a:avLst/>
          </a:prstGeom>
        </p:spPr>
      </p:pic>
      <p:pic>
        <p:nvPicPr>
          <p:cNvPr id="199" name="图形 198" descr="重量不均匀 纯色填充">
            <a:extLst>
              <a:ext uri="{FF2B5EF4-FFF2-40B4-BE49-F238E27FC236}">
                <a16:creationId xmlns:a16="http://schemas.microsoft.com/office/drawing/2014/main" id="{FCA5AF82-3561-BFC9-ABA9-20E15A16F3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77894" y="1592230"/>
            <a:ext cx="288941" cy="288941"/>
          </a:xfrm>
          <a:prstGeom prst="rect">
            <a:avLst/>
          </a:prstGeom>
        </p:spPr>
      </p:pic>
      <p:sp>
        <p:nvSpPr>
          <p:cNvPr id="205" name="methodology-step1-title">
            <a:extLst>
              <a:ext uri="{FF2B5EF4-FFF2-40B4-BE49-F238E27FC236}">
                <a16:creationId xmlns:a16="http://schemas.microsoft.com/office/drawing/2014/main" id="{DFA42390-8044-555D-FDFF-31680E3FF390}"/>
              </a:ext>
            </a:extLst>
          </p:cNvPr>
          <p:cNvSpPr>
            <a:spLocks noGrp="1"/>
          </p:cNvSpPr>
          <p:nvPr/>
        </p:nvSpPr>
        <p:spPr>
          <a:xfrm>
            <a:off x="4065338" y="1596683"/>
            <a:ext cx="846206" cy="16474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>
                <a:ln>
                  <a:noFill/>
                </a:ln>
                <a:solidFill>
                  <a:srgbClr val="0067B9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系统成熟度</a:t>
            </a:r>
          </a:p>
        </p:txBody>
      </p:sp>
      <p:sp>
        <p:nvSpPr>
          <p:cNvPr id="206" name="methodology-step1-body">
            <a:extLst>
              <a:ext uri="{FF2B5EF4-FFF2-40B4-BE49-F238E27FC236}">
                <a16:creationId xmlns:a16="http://schemas.microsoft.com/office/drawing/2014/main" id="{8F755206-C07D-0F9E-7861-B0F7D6DDF639}"/>
              </a:ext>
            </a:extLst>
          </p:cNvPr>
          <p:cNvSpPr>
            <a:spLocks noGrp="1"/>
          </p:cNvSpPr>
          <p:nvPr/>
        </p:nvSpPr>
        <p:spPr>
          <a:xfrm>
            <a:off x="4063105" y="1776996"/>
            <a:ext cx="850763" cy="2226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6323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基于系统年限应用</a:t>
            </a:r>
            <a:endParaRPr kumimoji="0" lang="en-US" altLang="zh-CN" sz="800" b="0" i="0" u="none" strike="noStrike" kern="1200" cap="none" spc="0" normalizeH="0" baseline="0" noProof="0">
              <a:ln>
                <a:noFill/>
              </a:ln>
              <a:solidFill>
                <a:srgbClr val="263238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6323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调整系数</a:t>
            </a:r>
          </a:p>
        </p:txBody>
      </p:sp>
      <p:sp>
        <p:nvSpPr>
          <p:cNvPr id="207" name="methodology-step1-note">
            <a:extLst>
              <a:ext uri="{FF2B5EF4-FFF2-40B4-BE49-F238E27FC236}">
                <a16:creationId xmlns:a16="http://schemas.microsoft.com/office/drawing/2014/main" id="{F9BB020C-575A-7BCB-0EFD-5B5172C8C386}"/>
              </a:ext>
            </a:extLst>
          </p:cNvPr>
          <p:cNvSpPr>
            <a:spLocks noGrp="1"/>
          </p:cNvSpPr>
          <p:nvPr/>
        </p:nvSpPr>
        <p:spPr>
          <a:xfrm>
            <a:off x="4036057" y="1988387"/>
            <a:ext cx="1096622" cy="28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2947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系统使用年限 </a:t>
            </a:r>
            <a:r>
              <a:rPr kumimoji="0" lang="en-US" altLang="zh-CN" sz="6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+ </a:t>
            </a:r>
            <a:r>
              <a:rPr kumimoji="0" lang="zh-CN" altLang="en-US" sz="6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近 </a:t>
            </a:r>
            <a:r>
              <a:rPr kumimoji="0" lang="en-US" altLang="zh-CN" sz="6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1 </a:t>
            </a:r>
            <a:r>
              <a:rPr kumimoji="0" lang="zh-CN" altLang="en-US" sz="6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年活跃情况</a:t>
            </a:r>
          </a:p>
        </p:txBody>
      </p:sp>
      <p:sp>
        <p:nvSpPr>
          <p:cNvPr id="209" name="methodology-step1-title">
            <a:extLst>
              <a:ext uri="{FF2B5EF4-FFF2-40B4-BE49-F238E27FC236}">
                <a16:creationId xmlns:a16="http://schemas.microsoft.com/office/drawing/2014/main" id="{F5873C03-40A3-86E2-1B1E-EC3F62E53E78}"/>
              </a:ext>
            </a:extLst>
          </p:cNvPr>
          <p:cNvSpPr>
            <a:spLocks noGrp="1"/>
          </p:cNvSpPr>
          <p:nvPr/>
        </p:nvSpPr>
        <p:spPr>
          <a:xfrm>
            <a:off x="5522143" y="1589221"/>
            <a:ext cx="846206" cy="16474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>
                <a:ln>
                  <a:noFill/>
                </a:ln>
                <a:solidFill>
                  <a:srgbClr val="0067B9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归档比例</a:t>
            </a:r>
          </a:p>
        </p:txBody>
      </p:sp>
      <p:sp>
        <p:nvSpPr>
          <p:cNvPr id="210" name="methodology-step1-body">
            <a:extLst>
              <a:ext uri="{FF2B5EF4-FFF2-40B4-BE49-F238E27FC236}">
                <a16:creationId xmlns:a16="http://schemas.microsoft.com/office/drawing/2014/main" id="{0BA69071-3B2E-9FF0-6099-E84E7797CECE}"/>
              </a:ext>
            </a:extLst>
          </p:cNvPr>
          <p:cNvSpPr>
            <a:spLocks noGrp="1"/>
          </p:cNvSpPr>
          <p:nvPr/>
        </p:nvSpPr>
        <p:spPr>
          <a:xfrm>
            <a:off x="5507438" y="1776996"/>
            <a:ext cx="850763" cy="2226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6323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结构可归档比例 </a:t>
            </a:r>
            <a:r>
              <a:rPr kumimoji="0" lang="en-US" altLang="zh-CN" sz="800" b="0" i="0" u="none" strike="noStrike" kern="1200" cap="none" spc="0" normalizeH="0" baseline="0" noProof="0">
                <a:ln>
                  <a:noFill/>
                </a:ln>
                <a:solidFill>
                  <a:srgbClr val="26323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×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6323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系统成熟度系数</a:t>
            </a:r>
          </a:p>
        </p:txBody>
      </p:sp>
      <p:sp>
        <p:nvSpPr>
          <p:cNvPr id="3" name="Title 5">
            <a:extLst>
              <a:ext uri="{FF2B5EF4-FFF2-40B4-BE49-F238E27FC236}">
                <a16:creationId xmlns:a16="http://schemas.microsoft.com/office/drawing/2014/main" id="{6477A6BC-9560-6523-CDFA-F0C28354C87C}"/>
              </a:ext>
            </a:extLst>
          </p:cNvPr>
          <p:cNvSpPr txBox="1">
            <a:spLocks/>
          </p:cNvSpPr>
          <p:nvPr/>
        </p:nvSpPr>
        <p:spPr>
          <a:xfrm>
            <a:off x="345757" y="488431"/>
            <a:ext cx="8138160" cy="390526"/>
          </a:xfrm>
          <a:prstGeom prst="rect">
            <a:avLst/>
          </a:prstGeom>
          <a:effectLst/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0" kern="1200" cap="none" spc="0" baseline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600" b="0" i="0" u="none" strike="noStrike" kern="1200" cap="none" spc="0" normalizeH="0" baseline="0" noProof="0">
              <a:ln>
                <a:noFill/>
              </a:ln>
              <a:solidFill>
                <a:srgbClr val="009CDE"/>
              </a:solidFill>
              <a:effectLst/>
              <a:uLnTx/>
              <a:uFillTx/>
              <a:latin typeface="Georgia"/>
              <a:ea typeface="+mj-ea"/>
              <a:cs typeface="+mj-cs"/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40EC9145-7894-63C2-C203-9481B581878B}"/>
              </a:ext>
            </a:extLst>
          </p:cNvPr>
          <p:cNvSpPr/>
          <p:nvPr/>
        </p:nvSpPr>
        <p:spPr>
          <a:xfrm>
            <a:off x="499442" y="1827473"/>
            <a:ext cx="1660014" cy="1147793"/>
          </a:xfrm>
          <a:prstGeom prst="rect">
            <a:avLst/>
          </a:prstGeom>
          <a:noFill/>
          <a:ln w="11430">
            <a:solidFill>
              <a:srgbClr val="78B8EE"/>
            </a:solidFill>
            <a:prstDash val="dashDot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china-rims-node">
            <a:extLst>
              <a:ext uri="{FF2B5EF4-FFF2-40B4-BE49-F238E27FC236}">
                <a16:creationId xmlns:a16="http://schemas.microsoft.com/office/drawing/2014/main" id="{A1E2F18A-9DB9-9F21-A201-1A5641B412E8}"/>
              </a:ext>
            </a:extLst>
          </p:cNvPr>
          <p:cNvSpPr>
            <a:spLocks noGrp="1"/>
          </p:cNvSpPr>
          <p:nvPr/>
        </p:nvSpPr>
        <p:spPr>
          <a:xfrm>
            <a:off x="907255" y="3388119"/>
            <a:ext cx="807244" cy="600075"/>
          </a:xfrm>
          <a:prstGeom prst="roundRect">
            <a:avLst>
              <a:gd name="adj" fmla="val 16667"/>
            </a:avLst>
          </a:prstGeom>
          <a:solidFill>
            <a:srgbClr val="DCEEFF"/>
          </a:solidFill>
          <a:ln w="11430">
            <a:solidFill>
              <a:srgbClr val="4D9F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rims-db-icon">
            <a:extLst>
              <a:ext uri="{FF2B5EF4-FFF2-40B4-BE49-F238E27FC236}">
                <a16:creationId xmlns:a16="http://schemas.microsoft.com/office/drawing/2014/main" id="{71461035-E7E2-65A9-6F98-DEC0FEA16839}"/>
              </a:ext>
            </a:extLst>
          </p:cNvPr>
          <p:cNvSpPr>
            <a:spLocks noGrp="1"/>
          </p:cNvSpPr>
          <p:nvPr/>
        </p:nvSpPr>
        <p:spPr>
          <a:xfrm>
            <a:off x="1200148" y="3466700"/>
            <a:ext cx="235744" cy="235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4D9F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" name="rims-icon-line-1">
            <a:extLst>
              <a:ext uri="{FF2B5EF4-FFF2-40B4-BE49-F238E27FC236}">
                <a16:creationId xmlns:a16="http://schemas.microsoft.com/office/drawing/2014/main" id="{4323CFB8-470A-D868-0CA5-11E6084E60FF}"/>
              </a:ext>
            </a:extLst>
          </p:cNvPr>
          <p:cNvSpPr>
            <a:spLocks noGrp="1"/>
          </p:cNvSpPr>
          <p:nvPr/>
        </p:nvSpPr>
        <p:spPr>
          <a:xfrm>
            <a:off x="1257298" y="3530994"/>
            <a:ext cx="121444" cy="0"/>
          </a:xfrm>
          <a:prstGeom prst="line">
            <a:avLst/>
          </a:prstGeom>
          <a:noFill/>
          <a:ln w="11430">
            <a:solidFill>
              <a:srgbClr val="4D9F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9" name="rims-icon-line-2">
            <a:extLst>
              <a:ext uri="{FF2B5EF4-FFF2-40B4-BE49-F238E27FC236}">
                <a16:creationId xmlns:a16="http://schemas.microsoft.com/office/drawing/2014/main" id="{A99347E7-612B-9B6F-1DB3-1F73E26FF638}"/>
              </a:ext>
            </a:extLst>
          </p:cNvPr>
          <p:cNvSpPr>
            <a:spLocks noGrp="1"/>
          </p:cNvSpPr>
          <p:nvPr/>
        </p:nvSpPr>
        <p:spPr>
          <a:xfrm>
            <a:off x="1257298" y="3573856"/>
            <a:ext cx="121444" cy="0"/>
          </a:xfrm>
          <a:prstGeom prst="line">
            <a:avLst/>
          </a:prstGeom>
          <a:noFill/>
          <a:ln w="11430">
            <a:solidFill>
              <a:srgbClr val="4D9F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0" name="rims-icon-line-3">
            <a:extLst>
              <a:ext uri="{FF2B5EF4-FFF2-40B4-BE49-F238E27FC236}">
                <a16:creationId xmlns:a16="http://schemas.microsoft.com/office/drawing/2014/main" id="{66E84D4E-1AF4-8E91-B433-4C0F421AF0B5}"/>
              </a:ext>
            </a:extLst>
          </p:cNvPr>
          <p:cNvSpPr>
            <a:spLocks noGrp="1"/>
          </p:cNvSpPr>
          <p:nvPr/>
        </p:nvSpPr>
        <p:spPr>
          <a:xfrm>
            <a:off x="1257298" y="3616719"/>
            <a:ext cx="121444" cy="0"/>
          </a:xfrm>
          <a:prstGeom prst="line">
            <a:avLst/>
          </a:prstGeom>
          <a:noFill/>
          <a:ln w="11430">
            <a:solidFill>
              <a:srgbClr val="4D9F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2" name="rims-label">
            <a:extLst>
              <a:ext uri="{FF2B5EF4-FFF2-40B4-BE49-F238E27FC236}">
                <a16:creationId xmlns:a16="http://schemas.microsoft.com/office/drawing/2014/main" id="{BA629889-517D-1312-F6E7-A5C1AB972C3E}"/>
              </a:ext>
            </a:extLst>
          </p:cNvPr>
          <p:cNvSpPr>
            <a:spLocks noGrp="1"/>
          </p:cNvSpPr>
          <p:nvPr/>
        </p:nvSpPr>
        <p:spPr>
          <a:xfrm>
            <a:off x="978692" y="3731019"/>
            <a:ext cx="664369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4288" tIns="7144" rIns="14288" bIns="7144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13" b="1">
                <a:solidFill>
                  <a:srgbClr val="005EB8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760" b="1" i="0" u="none" strike="noStrike" kern="1200" cap="none" spc="0" normalizeH="0" baseline="0" noProof="0">
                <a:ln>
                  <a:noFill/>
                </a:ln>
                <a:solidFill>
                  <a:srgbClr val="005EB8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China RIMS</a:t>
            </a:r>
          </a:p>
        </p:txBody>
      </p:sp>
      <p:sp>
        <p:nvSpPr>
          <p:cNvPr id="5" name="scenario-divider-1">
            <a:extLst>
              <a:ext uri="{FF2B5EF4-FFF2-40B4-BE49-F238E27FC236}">
                <a16:creationId xmlns:a16="http://schemas.microsoft.com/office/drawing/2014/main" id="{9812C138-8E7D-9E0E-F039-591598D6A84B}"/>
              </a:ext>
            </a:extLst>
          </p:cNvPr>
          <p:cNvSpPr>
            <a:spLocks noGrp="1"/>
          </p:cNvSpPr>
          <p:nvPr/>
        </p:nvSpPr>
        <p:spPr>
          <a:xfrm>
            <a:off x="6808755" y="3607676"/>
            <a:ext cx="2100264" cy="7939"/>
          </a:xfrm>
          <a:prstGeom prst="line">
            <a:avLst/>
          </a:prstGeom>
          <a:noFill/>
          <a:ln w="9525">
            <a:solidFill>
              <a:srgbClr val="E7EF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" name="galaxy-range-value">
            <a:extLst>
              <a:ext uri="{FF2B5EF4-FFF2-40B4-BE49-F238E27FC236}">
                <a16:creationId xmlns:a16="http://schemas.microsoft.com/office/drawing/2014/main" id="{52E60D72-A11A-9104-6E92-1B3ECB86472C}"/>
              </a:ext>
            </a:extLst>
          </p:cNvPr>
          <p:cNvSpPr>
            <a:spLocks noGrp="1"/>
          </p:cNvSpPr>
          <p:nvPr/>
        </p:nvSpPr>
        <p:spPr>
          <a:xfrm>
            <a:off x="6003984" y="2460023"/>
            <a:ext cx="380154" cy="3071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4288" tIns="7144" rIns="14288" bIns="7144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40" b="1">
                <a:solidFill>
                  <a:srgbClr val="005EB8"/>
                </a:solidFill>
                <a:latin typeface="Arial"/>
                <a:ea typeface="Arial"/>
                <a:cs typeface="Arial"/>
              </a:defRPr>
            </a:pPr>
            <a:r>
              <a:rPr kumimoji="0" lang="en-US" altLang="zh-CN" sz="1080" b="1" i="0" u="none" strike="noStrike" kern="1200" cap="none" spc="0" normalizeH="0" baseline="0" noProof="0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65%</a:t>
            </a:r>
            <a:endParaRPr kumimoji="0" sz="1080" b="1" i="0" u="none" strike="noStrike" kern="1200" cap="none" spc="0" normalizeH="0" baseline="0" noProof="0">
              <a:ln>
                <a:noFill/>
              </a:ln>
              <a:solidFill>
                <a:srgbClr val="009CDE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44" name="galaxy-range-value">
            <a:extLst>
              <a:ext uri="{FF2B5EF4-FFF2-40B4-BE49-F238E27FC236}">
                <a16:creationId xmlns:a16="http://schemas.microsoft.com/office/drawing/2014/main" id="{F8575AB2-9B73-E927-4E7E-6050BEF8C58D}"/>
              </a:ext>
            </a:extLst>
          </p:cNvPr>
          <p:cNvSpPr>
            <a:spLocks noGrp="1"/>
          </p:cNvSpPr>
          <p:nvPr/>
        </p:nvSpPr>
        <p:spPr>
          <a:xfrm>
            <a:off x="6003984" y="2737820"/>
            <a:ext cx="380154" cy="3071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4288" tIns="7144" rIns="14288" bIns="7144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40" b="1">
                <a:solidFill>
                  <a:srgbClr val="005EB8"/>
                </a:solidFill>
                <a:latin typeface="Arial"/>
                <a:ea typeface="Arial"/>
                <a:cs typeface="Arial"/>
              </a:defRPr>
            </a:pPr>
            <a:r>
              <a:rPr kumimoji="0" lang="en-US" altLang="zh-CN" sz="1080" b="1" i="0" u="none" strike="noStrike" kern="1200" cap="none" spc="0" normalizeH="0" baseline="0" noProof="0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23%</a:t>
            </a:r>
            <a:endParaRPr kumimoji="0" sz="1080" b="1" i="0" u="none" strike="noStrike" kern="1200" cap="none" spc="0" normalizeH="0" baseline="0" noProof="0">
              <a:ln>
                <a:noFill/>
              </a:ln>
              <a:solidFill>
                <a:srgbClr val="009CDE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45" name="galaxy-range-value">
            <a:extLst>
              <a:ext uri="{FF2B5EF4-FFF2-40B4-BE49-F238E27FC236}">
                <a16:creationId xmlns:a16="http://schemas.microsoft.com/office/drawing/2014/main" id="{D0A86A2D-520F-F9B2-3E9C-31F33CE804F0}"/>
              </a:ext>
            </a:extLst>
          </p:cNvPr>
          <p:cNvSpPr>
            <a:spLocks noGrp="1"/>
          </p:cNvSpPr>
          <p:nvPr/>
        </p:nvSpPr>
        <p:spPr>
          <a:xfrm>
            <a:off x="6003984" y="3322755"/>
            <a:ext cx="380154" cy="3071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4288" tIns="7144" rIns="14288" bIns="7144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40" b="1">
                <a:solidFill>
                  <a:srgbClr val="005EB8"/>
                </a:solidFill>
                <a:latin typeface="Arial"/>
                <a:ea typeface="Arial"/>
                <a:cs typeface="Arial"/>
              </a:defRPr>
            </a:pPr>
            <a:r>
              <a:rPr kumimoji="0" lang="en-US" altLang="zh-CN" sz="1080" b="1" i="0" u="none" strike="noStrike" kern="1200" cap="none" spc="0" normalizeH="0" baseline="0" noProof="0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52%</a:t>
            </a:r>
            <a:endParaRPr kumimoji="0" sz="1080" b="1" i="0" u="none" strike="noStrike" kern="1200" cap="none" spc="0" normalizeH="0" baseline="0" noProof="0">
              <a:ln>
                <a:noFill/>
              </a:ln>
              <a:solidFill>
                <a:srgbClr val="009CDE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46" name="galaxy-range-value">
            <a:extLst>
              <a:ext uri="{FF2B5EF4-FFF2-40B4-BE49-F238E27FC236}">
                <a16:creationId xmlns:a16="http://schemas.microsoft.com/office/drawing/2014/main" id="{E3964578-94D6-6F17-2673-D41A94DD93B3}"/>
              </a:ext>
            </a:extLst>
          </p:cNvPr>
          <p:cNvSpPr>
            <a:spLocks noGrp="1"/>
          </p:cNvSpPr>
          <p:nvPr/>
        </p:nvSpPr>
        <p:spPr>
          <a:xfrm>
            <a:off x="6003984" y="3030470"/>
            <a:ext cx="380154" cy="3071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4288" tIns="7144" rIns="14288" bIns="7144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40" b="1">
                <a:solidFill>
                  <a:srgbClr val="005EB8"/>
                </a:solidFill>
                <a:latin typeface="Arial"/>
                <a:ea typeface="Arial"/>
                <a:cs typeface="Arial"/>
              </a:defRPr>
            </a:pPr>
            <a:r>
              <a:rPr kumimoji="0" lang="en-US" altLang="zh-CN" sz="1080" b="1" i="0" u="none" strike="noStrike" kern="1200" cap="none" spc="0" normalizeH="0" baseline="0" noProof="0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40%</a:t>
            </a:r>
            <a:endParaRPr kumimoji="0" sz="1080" b="1" i="0" u="none" strike="noStrike" kern="1200" cap="none" spc="0" normalizeH="0" baseline="0" noProof="0">
              <a:ln>
                <a:noFill/>
              </a:ln>
              <a:solidFill>
                <a:srgbClr val="009CDE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48" name="range-axis-100">
            <a:extLst>
              <a:ext uri="{FF2B5EF4-FFF2-40B4-BE49-F238E27FC236}">
                <a16:creationId xmlns:a16="http://schemas.microsoft.com/office/drawing/2014/main" id="{532FCD8B-4CA2-E7E2-D5D7-F0200744F0F8}"/>
              </a:ext>
            </a:extLst>
          </p:cNvPr>
          <p:cNvSpPr>
            <a:spLocks noGrp="1"/>
          </p:cNvSpPr>
          <p:nvPr/>
        </p:nvSpPr>
        <p:spPr>
          <a:xfrm>
            <a:off x="6018069" y="2375751"/>
            <a:ext cx="431578" cy="1269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4288" tIns="7144" rIns="14288" bIns="7144" anchor="ctr">
            <a:normAutofit fontScale="85000"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1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lang="zh-CN" altLang="en-US" sz="608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预估节省比例</a:t>
            </a:r>
            <a:endParaRPr kumimoji="0" sz="608" b="0" i="0" u="none" strike="noStrike" kern="1200" cap="none" spc="0" normalizeH="0" baseline="0" noProof="0">
              <a:ln>
                <a:noFill/>
              </a:ln>
              <a:solidFill>
                <a:srgbClr val="94A3B8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00E82F04-91D8-BDCA-D459-CEE4C51083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>
                <a:solidFill>
                  <a:srgbClr val="004F71"/>
                </a:solidFill>
              </a:rPr>
              <a:t>China RIMS Solution Proposal</a:t>
            </a:r>
          </a:p>
          <a:p>
            <a:endParaRPr lang="zh-CN" altLang="en-US"/>
          </a:p>
        </p:txBody>
      </p:sp>
      <p:sp>
        <p:nvSpPr>
          <p:cNvPr id="49" name="Title 48">
            <a:extLst>
              <a:ext uri="{FF2B5EF4-FFF2-40B4-BE49-F238E27FC236}">
                <a16:creationId xmlns:a16="http://schemas.microsoft.com/office/drawing/2014/main" id="{5336AB64-83D9-8E93-5388-77A018CE0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009CDE"/>
                </a:solidFill>
              </a:rPr>
              <a:t>现状分析：</a:t>
            </a:r>
            <a:r>
              <a:rPr lang="en-US" altLang="zh-CN">
                <a:solidFill>
                  <a:srgbClr val="009CDE"/>
                </a:solidFill>
              </a:rPr>
              <a:t>China RIMS</a:t>
            </a:r>
            <a:r>
              <a:rPr lang="zh-CN" altLang="en-US">
                <a:solidFill>
                  <a:srgbClr val="009CDE"/>
                </a:solidFill>
              </a:rPr>
              <a:t>对现存系统的资源释放潜力</a:t>
            </a:r>
            <a:br>
              <a:rPr lang="zh-CN" altLang="en-US">
                <a:solidFill>
                  <a:srgbClr val="009CDE"/>
                </a:solidFill>
              </a:rPr>
            </a:b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7527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47AF2-31C4-A1EF-36AB-38AE06410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aving-container">
            <a:extLst>
              <a:ext uri="{FF2B5EF4-FFF2-40B4-BE49-F238E27FC236}">
                <a16:creationId xmlns:a16="http://schemas.microsoft.com/office/drawing/2014/main" id="{D288CD11-CFE7-580B-9CD8-BAEC6F5D72B1}"/>
              </a:ext>
            </a:extLst>
          </p:cNvPr>
          <p:cNvSpPr>
            <a:spLocks noGrp="1"/>
          </p:cNvSpPr>
          <p:nvPr/>
        </p:nvSpPr>
        <p:spPr>
          <a:xfrm>
            <a:off x="263354" y="1022564"/>
            <a:ext cx="8617291" cy="1927975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1430">
            <a:solidFill>
              <a:srgbClr val="B9D9E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8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section-saving">
            <a:extLst>
              <a:ext uri="{FF2B5EF4-FFF2-40B4-BE49-F238E27FC236}">
                <a16:creationId xmlns:a16="http://schemas.microsoft.com/office/drawing/2014/main" id="{0579EAE9-2C36-E83A-415B-71ACC04B730E}"/>
              </a:ext>
            </a:extLst>
          </p:cNvPr>
          <p:cNvSpPr>
            <a:spLocks noGrp="1"/>
          </p:cNvSpPr>
          <p:nvPr/>
        </p:nvSpPr>
        <p:spPr>
          <a:xfrm>
            <a:off x="263354" y="1029305"/>
            <a:ext cx="948688" cy="161015"/>
          </a:xfrm>
          <a:prstGeom prst="roundRect">
            <a:avLst>
              <a:gd name="adj" fmla="val 21053"/>
            </a:avLst>
          </a:prstGeom>
          <a:solidFill>
            <a:srgbClr val="0070C0"/>
          </a:solidFill>
          <a:ln w="7620">
            <a:solidFill>
              <a:srgbClr val="3F8FC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8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C4FB765-9FF2-AAC1-D48C-AB1011A96CBA}"/>
              </a:ext>
            </a:extLst>
          </p:cNvPr>
          <p:cNvSpPr>
            <a:spLocks noGrp="1"/>
          </p:cNvSpPr>
          <p:nvPr/>
        </p:nvSpPr>
        <p:spPr>
          <a:xfrm>
            <a:off x="480524" y="1023003"/>
            <a:ext cx="731520" cy="17611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SAVING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8D20870-B0E5-1073-3296-6362D4F28A0D}"/>
              </a:ext>
            </a:extLst>
          </p:cNvPr>
          <p:cNvSpPr>
            <a:spLocks noGrp="1"/>
          </p:cNvSpPr>
          <p:nvPr/>
        </p:nvSpPr>
        <p:spPr>
          <a:xfrm>
            <a:off x="423374" y="1233139"/>
            <a:ext cx="154305" cy="135860"/>
          </a:xfrm>
          <a:prstGeom prst="ellipse">
            <a:avLst/>
          </a:prstGeom>
          <a:solidFill>
            <a:srgbClr val="EAF4FA"/>
          </a:solidFill>
          <a:ln w="7620">
            <a:solidFill>
              <a:srgbClr val="B9D9E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8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直角三角形 7">
            <a:extLst>
              <a:ext uri="{FF2B5EF4-FFF2-40B4-BE49-F238E27FC236}">
                <a16:creationId xmlns:a16="http://schemas.microsoft.com/office/drawing/2014/main" id="{ABCEAD27-6CBD-F0B4-B6DB-34F89FE5F574}"/>
              </a:ext>
            </a:extLst>
          </p:cNvPr>
          <p:cNvSpPr>
            <a:spLocks noGrp="1"/>
          </p:cNvSpPr>
          <p:nvPr/>
        </p:nvSpPr>
        <p:spPr>
          <a:xfrm>
            <a:off x="474809" y="1270878"/>
            <a:ext cx="57150" cy="60382"/>
          </a:xfrm>
          <a:prstGeom prst="rtTriangle">
            <a:avLst/>
          </a:prstGeom>
          <a:solidFill>
            <a:srgbClr val="3F8FC4"/>
          </a:solidFill>
          <a:ln w="4763">
            <a:solidFill>
              <a:srgbClr val="3F8FC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8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8CA9D0A-6A6B-0E77-007F-F7C4399DC95C}"/>
              </a:ext>
            </a:extLst>
          </p:cNvPr>
          <p:cNvSpPr>
            <a:spLocks noGrp="1"/>
          </p:cNvSpPr>
          <p:nvPr/>
        </p:nvSpPr>
        <p:spPr>
          <a:xfrm>
            <a:off x="654612" y="1223076"/>
            <a:ext cx="2514600" cy="1559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65" b="1">
                <a:solidFill>
                  <a:srgbClr val="174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1000" b="1" i="0" u="none" strike="noStrike" kern="1200" cap="none" spc="0" normalizeH="0" baseline="0" noProof="0" err="1">
                <a:ln>
                  <a:noFill/>
                </a:ln>
                <a:solidFill>
                  <a:srgbClr val="174F73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运行中的系统（部分节省</a:t>
            </a: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174F73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）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12CF41E6-6AF6-57D6-6FD2-975E9F4781A5}"/>
              </a:ext>
            </a:extLst>
          </p:cNvPr>
          <p:cNvSpPr>
            <a:spLocks noGrp="1"/>
          </p:cNvSpPr>
          <p:nvPr/>
        </p:nvSpPr>
        <p:spPr>
          <a:xfrm>
            <a:off x="3818084" y="1248727"/>
            <a:ext cx="154305" cy="135860"/>
          </a:xfrm>
          <a:prstGeom prst="ellipse">
            <a:avLst/>
          </a:prstGeom>
          <a:solidFill>
            <a:srgbClr val="EAF4FA"/>
          </a:solidFill>
          <a:ln w="7620">
            <a:solidFill>
              <a:srgbClr val="B9D9E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8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A3B93B0-BEAE-052B-7958-F6D049C79C90}"/>
              </a:ext>
            </a:extLst>
          </p:cNvPr>
          <p:cNvSpPr>
            <a:spLocks noGrp="1"/>
          </p:cNvSpPr>
          <p:nvPr/>
        </p:nvSpPr>
        <p:spPr>
          <a:xfrm>
            <a:off x="3869519" y="1291498"/>
            <a:ext cx="57150" cy="50318"/>
          </a:xfrm>
          <a:prstGeom prst="rect">
            <a:avLst/>
          </a:prstGeom>
          <a:solidFill>
            <a:srgbClr val="3F8FC4"/>
          </a:solidFill>
          <a:ln w="4763">
            <a:solidFill>
              <a:srgbClr val="3F8FC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8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078D22F-3D4F-54F5-5EFA-F2E301A4C1E3}"/>
              </a:ext>
            </a:extLst>
          </p:cNvPr>
          <p:cNvSpPr>
            <a:spLocks noGrp="1"/>
          </p:cNvSpPr>
          <p:nvPr/>
        </p:nvSpPr>
        <p:spPr>
          <a:xfrm>
            <a:off x="4049322" y="1238664"/>
            <a:ext cx="2514600" cy="1559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65" b="1">
                <a:solidFill>
                  <a:srgbClr val="174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1000" b="1" i="0" u="none" strike="noStrike" kern="1200" cap="none" spc="0" normalizeH="0" baseline="0" noProof="0" err="1">
                <a:ln>
                  <a:noFill/>
                </a:ln>
                <a:solidFill>
                  <a:srgbClr val="174F73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待退役的系统（全部节省</a:t>
            </a: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174F73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）</a:t>
            </a:r>
          </a:p>
        </p:txBody>
      </p:sp>
      <p:graphicFrame>
        <p:nvGraphicFramePr>
          <p:cNvPr id="102" name="表格 101">
            <a:extLst>
              <a:ext uri="{FF2B5EF4-FFF2-40B4-BE49-F238E27FC236}">
                <a16:creationId xmlns:a16="http://schemas.microsoft.com/office/drawing/2014/main" id="{4B5390F7-74B3-7690-98EE-D9F367543518}"/>
              </a:ext>
            </a:extLst>
          </p:cNvPr>
          <p:cNvGraphicFramePr/>
          <p:nvPr/>
        </p:nvGraphicFramePr>
        <p:xfrm>
          <a:off x="424303" y="1419411"/>
          <a:ext cx="3257551" cy="1009610"/>
        </p:xfrm>
        <a:graphic>
          <a:graphicData uri="http://schemas.openxmlformats.org/drawingml/2006/table">
            <a:tbl>
              <a:tblPr/>
              <a:tblGrid>
                <a:gridCol w="676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84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6117">
                  <a:extLst>
                    <a:ext uri="{9D8B030D-6E8A-4147-A177-3AD203B41FA5}">
                      <a16:colId xmlns:a16="http://schemas.microsoft.com/office/drawing/2014/main" val="1477251244"/>
                    </a:ext>
                  </a:extLst>
                </a:gridCol>
                <a:gridCol w="8461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1922">
                <a:tc>
                  <a:txBody>
                    <a:bodyPr/>
                    <a:lstStyle/>
                    <a:p>
                      <a:pPr algn="ctr"/>
                      <a:r>
                        <a:rPr sz="800" b="1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系统名称</a:t>
                      </a:r>
                      <a:endParaRPr sz="800" b="1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22860" marR="22860" marT="11430" marB="11430" anchor="ctr">
                    <a:lnL w="7144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7144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云资源成本</a:t>
                      </a:r>
                    </a:p>
                  </a:txBody>
                  <a:tcPr marL="22860" marR="22860" marT="11430" marB="11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7144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预估节省比例</a:t>
                      </a:r>
                    </a:p>
                  </a:txBody>
                  <a:tcPr marL="22860" marR="22860" marT="11430" marB="11430" anchor="ctr">
                    <a:lnL w="12700" cmpd="sng">
                      <a:noFill/>
                      <a:prstDash val="solid"/>
                    </a:lnL>
                    <a:lnR w="7144">
                      <a:noFill/>
                      <a:prstDash val="solid"/>
                    </a:lnR>
                    <a:lnT w="7144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节省金额</a:t>
                      </a:r>
                      <a:endParaRPr sz="800" b="1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22860" marR="22860" marT="11430" marB="11430" anchor="ctr">
                    <a:lnL w="12700" cmpd="sng">
                      <a:noFill/>
                      <a:prstDash val="solid"/>
                    </a:lnL>
                    <a:lnR w="7144">
                      <a:noFill/>
                      <a:prstDash val="solid"/>
                    </a:lnR>
                    <a:lnT w="7144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922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4A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银河</a:t>
                      </a:r>
                    </a:p>
                  </a:txBody>
                  <a:tcPr marL="28575" marR="28575" marT="11430" marB="11430" anchor="ctr">
                    <a:lnL w="7144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4A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44.3</a:t>
                      </a:r>
                    </a:p>
                  </a:txBody>
                  <a:tcPr marL="28575" marR="28575" marT="11430" marB="11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334A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65%</a:t>
                      </a:r>
                      <a:endParaRPr sz="800" b="0">
                        <a:solidFill>
                          <a:srgbClr val="334A58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28575" marR="28575" marT="11430" marB="11430" anchor="ctr">
                    <a:lnL w="12700" cmpd="sng">
                      <a:noFill/>
                      <a:prstDash val="solid"/>
                    </a:lnL>
                    <a:lnR w="7144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4A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28.8</a:t>
                      </a:r>
                    </a:p>
                  </a:txBody>
                  <a:tcPr marL="28575" marR="28575" marT="11430" marB="11430" anchor="ctr">
                    <a:lnL w="12700" cmpd="sng">
                      <a:noFill/>
                      <a:prstDash val="solid"/>
                    </a:lnL>
                    <a:lnR w="7144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922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4A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DHT</a:t>
                      </a:r>
                    </a:p>
                  </a:txBody>
                  <a:tcPr marL="28575" marR="28575" marT="11430" marB="11430" anchor="ctr">
                    <a:lnL w="7144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4A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</a:t>
                      </a:r>
                    </a:p>
                  </a:txBody>
                  <a:tcPr marL="28575" marR="28575" marT="11430" marB="11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334A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23%</a:t>
                      </a:r>
                      <a:endParaRPr sz="800" b="0">
                        <a:solidFill>
                          <a:srgbClr val="334A58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28575" marR="28575" marT="11430" marB="11430" anchor="ctr">
                    <a:lnL w="12700" cmpd="sng">
                      <a:noFill/>
                      <a:prstDash val="solid"/>
                    </a:lnL>
                    <a:lnR w="7144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4A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7.6</a:t>
                      </a:r>
                    </a:p>
                  </a:txBody>
                  <a:tcPr marL="28575" marR="28575" marT="11430" marB="11430" anchor="ctr">
                    <a:lnL w="12700" cmpd="sng">
                      <a:noFill/>
                      <a:prstDash val="solid"/>
                    </a:lnL>
                    <a:lnR w="7144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922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4A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NEXBPM</a:t>
                      </a:r>
                    </a:p>
                  </a:txBody>
                  <a:tcPr marL="28575" marR="28575" marT="11430" marB="11430" anchor="ctr">
                    <a:lnL w="7144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4A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</a:t>
                      </a:r>
                    </a:p>
                  </a:txBody>
                  <a:tcPr marL="28575" marR="28575" marT="11430" marB="11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334A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40%</a:t>
                      </a:r>
                      <a:endParaRPr sz="800" b="0">
                        <a:solidFill>
                          <a:srgbClr val="334A58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28575" marR="28575" marT="11430" marB="11430" anchor="ctr">
                    <a:lnL w="12700" cmpd="sng">
                      <a:noFill/>
                      <a:prstDash val="solid"/>
                    </a:lnL>
                    <a:lnR w="7144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4A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6.4</a:t>
                      </a:r>
                    </a:p>
                  </a:txBody>
                  <a:tcPr marL="28575" marR="28575" marT="11430" marB="11430" anchor="ctr">
                    <a:lnL w="12700" cmpd="sng">
                      <a:noFill/>
                      <a:prstDash val="solid"/>
                    </a:lnL>
                    <a:lnR w="7144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922">
                <a:tc>
                  <a:txBody>
                    <a:bodyPr/>
                    <a:lstStyle/>
                    <a:p>
                      <a:pPr algn="ctr"/>
                      <a:r>
                        <a:rPr sz="800" b="0" err="1">
                          <a:solidFill>
                            <a:srgbClr val="334A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Dspot</a:t>
                      </a:r>
                      <a:endParaRPr sz="800" b="0">
                        <a:solidFill>
                          <a:srgbClr val="334A58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28575" marR="28575" marT="11430" marB="11430" anchor="ctr">
                    <a:lnL w="7144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7144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4A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</a:t>
                      </a:r>
                    </a:p>
                  </a:txBody>
                  <a:tcPr marL="28575" marR="28575" marT="11430" marB="11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7144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334A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52%</a:t>
                      </a:r>
                      <a:endParaRPr sz="800" b="0">
                        <a:solidFill>
                          <a:srgbClr val="334A58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28575" marR="28575" marT="11430" marB="11430" anchor="ctr">
                    <a:lnL w="12700" cmpd="sng">
                      <a:noFill/>
                      <a:prstDash val="solid"/>
                    </a:lnL>
                    <a:lnR w="7144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7144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4A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9.9</a:t>
                      </a:r>
                    </a:p>
                  </a:txBody>
                  <a:tcPr marL="28575" marR="28575" marT="11430" marB="11430" anchor="ctr">
                    <a:lnL w="12700" cmpd="sng">
                      <a:noFill/>
                      <a:prstDash val="solid"/>
                    </a:lnL>
                    <a:lnR w="7144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7144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3" name="表格 112">
            <a:extLst>
              <a:ext uri="{FF2B5EF4-FFF2-40B4-BE49-F238E27FC236}">
                <a16:creationId xmlns:a16="http://schemas.microsoft.com/office/drawing/2014/main" id="{7D5162D2-A9B3-424B-B90E-32A7752E079E}"/>
              </a:ext>
            </a:extLst>
          </p:cNvPr>
          <p:cNvGraphicFramePr/>
          <p:nvPr/>
        </p:nvGraphicFramePr>
        <p:xfrm>
          <a:off x="3818084" y="1415561"/>
          <a:ext cx="3257550" cy="1013460"/>
        </p:xfrm>
        <a:graphic>
          <a:graphicData uri="http://schemas.openxmlformats.org/drawingml/2006/table">
            <a:tbl>
              <a:tblPr/>
              <a:tblGrid>
                <a:gridCol w="11315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2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29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6952">
                <a:tc>
                  <a:txBody>
                    <a:bodyPr/>
                    <a:lstStyle/>
                    <a:p>
                      <a:pPr algn="ctr"/>
                      <a:r>
                        <a:rPr sz="800" b="1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系统名称</a:t>
                      </a:r>
                      <a:endParaRPr sz="800" b="1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22860" marR="22860" marT="11430" marB="11430" anchor="ctr">
                    <a:lnL w="7144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7144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云资源成本</a:t>
                      </a:r>
                    </a:p>
                  </a:txBody>
                  <a:tcPr marL="22860" marR="22860" marT="11430" marB="11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7144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节省金额</a:t>
                      </a:r>
                    </a:p>
                  </a:txBody>
                  <a:tcPr marL="22860" marR="22860" marT="11430" marB="11430" anchor="ctr">
                    <a:lnL w="12700" cmpd="sng">
                      <a:noFill/>
                      <a:prstDash val="solid"/>
                    </a:lnL>
                    <a:lnR w="7144">
                      <a:noFill/>
                      <a:prstDash val="solid"/>
                    </a:lnR>
                    <a:lnT w="7144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952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4A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CC</a:t>
                      </a:r>
                    </a:p>
                  </a:txBody>
                  <a:tcPr marL="28575" marR="28575" marT="11430" marB="11430" anchor="ctr">
                    <a:lnL w="7144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4A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</a:t>
                      </a:r>
                    </a:p>
                  </a:txBody>
                  <a:tcPr marL="28575" marR="28575" marT="11430" marB="11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4A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</a:t>
                      </a:r>
                    </a:p>
                  </a:txBody>
                  <a:tcPr marL="28575" marR="28575" marT="11430" marB="11430" anchor="ctr">
                    <a:lnL w="12700" cmpd="sng">
                      <a:noFill/>
                      <a:prstDash val="solid"/>
                    </a:lnL>
                    <a:lnR w="7144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952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4A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NGCRM </a:t>
                      </a:r>
                      <a:r>
                        <a:rPr lang="en-US" sz="800" b="0">
                          <a:solidFill>
                            <a:srgbClr val="334A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/ </a:t>
                      </a:r>
                      <a:r>
                        <a:rPr sz="800" b="0">
                          <a:solidFill>
                            <a:srgbClr val="334A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ADC MA</a:t>
                      </a:r>
                    </a:p>
                  </a:txBody>
                  <a:tcPr marL="28575" marR="28575" marT="11430" marB="11430" anchor="ctr">
                    <a:lnL w="7144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4A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59</a:t>
                      </a:r>
                    </a:p>
                  </a:txBody>
                  <a:tcPr marL="28575" marR="28575" marT="11430" marB="11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4A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59</a:t>
                      </a:r>
                    </a:p>
                  </a:txBody>
                  <a:tcPr marL="28575" marR="28575" marT="11430" marB="11430" anchor="ctr">
                    <a:lnL w="12700" cmpd="sng">
                      <a:noFill/>
                      <a:prstDash val="solid"/>
                    </a:lnL>
                    <a:lnR w="7144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6952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4A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Eflow</a:t>
                      </a:r>
                    </a:p>
                  </a:txBody>
                  <a:tcPr marL="28575" marR="28575" marT="11430" marB="11430" anchor="ctr">
                    <a:lnL w="7144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4A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</a:t>
                      </a:r>
                    </a:p>
                  </a:txBody>
                  <a:tcPr marL="28575" marR="28575" marT="11430" marB="11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4A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</a:t>
                      </a:r>
                    </a:p>
                  </a:txBody>
                  <a:tcPr marL="28575" marR="28575" marT="11430" marB="11430" anchor="ctr">
                    <a:lnL w="12700" cmpd="sng">
                      <a:noFill/>
                      <a:prstDash val="solid"/>
                    </a:lnL>
                    <a:lnR w="7144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6952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4A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AMD SFE</a:t>
                      </a:r>
                    </a:p>
                  </a:txBody>
                  <a:tcPr marL="28575" marR="28575" marT="11430" marB="11430" anchor="ctr">
                    <a:lnL w="7144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4A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</a:t>
                      </a:r>
                    </a:p>
                  </a:txBody>
                  <a:tcPr marL="28575" marR="28575" marT="11430" marB="11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4A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</a:t>
                      </a:r>
                    </a:p>
                  </a:txBody>
                  <a:tcPr marL="28575" marR="28575" marT="11430" marB="11430" anchor="ctr">
                    <a:lnL w="12700" cmpd="sng">
                      <a:noFill/>
                      <a:prstDash val="solid"/>
                    </a:lnL>
                    <a:lnR w="7144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6952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4A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VAS SFE</a:t>
                      </a:r>
                    </a:p>
                  </a:txBody>
                  <a:tcPr marL="28575" marR="28575" marT="11430" marB="11430" anchor="ctr">
                    <a:lnL w="7144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4A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4.6</a:t>
                      </a:r>
                    </a:p>
                  </a:txBody>
                  <a:tcPr marL="28575" marR="28575" marT="11430" marB="11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4A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4.6</a:t>
                      </a:r>
                    </a:p>
                  </a:txBody>
                  <a:tcPr marL="28575" marR="28575" marT="11430" marB="11430" anchor="ctr">
                    <a:lnL w="12700" cmpd="sng">
                      <a:noFill/>
                      <a:prstDash val="solid"/>
                    </a:lnL>
                    <a:lnR w="7144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6952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4A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HF</a:t>
                      </a:r>
                    </a:p>
                  </a:txBody>
                  <a:tcPr marL="28575" marR="28575" marT="11430" marB="11430" anchor="ctr">
                    <a:lnL w="7144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7144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4A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4.7</a:t>
                      </a:r>
                    </a:p>
                  </a:txBody>
                  <a:tcPr marL="28575" marR="28575" marT="11430" marB="11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7144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4A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4.7</a:t>
                      </a:r>
                    </a:p>
                  </a:txBody>
                  <a:tcPr marL="28575" marR="28575" marT="11430" marB="11430" anchor="ctr">
                    <a:lnL w="12700" cmpd="sng">
                      <a:noFill/>
                      <a:prstDash val="solid"/>
                    </a:lnL>
                    <a:lnR w="7144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7144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7" name="圆角矩形 36">
            <a:extLst>
              <a:ext uri="{FF2B5EF4-FFF2-40B4-BE49-F238E27FC236}">
                <a16:creationId xmlns:a16="http://schemas.microsoft.com/office/drawing/2014/main" id="{C4B3AEFA-0AB7-AC5D-AB2D-4B8EBDC178F3}"/>
              </a:ext>
            </a:extLst>
          </p:cNvPr>
          <p:cNvSpPr>
            <a:spLocks noGrp="1"/>
          </p:cNvSpPr>
          <p:nvPr/>
        </p:nvSpPr>
        <p:spPr>
          <a:xfrm>
            <a:off x="423374" y="2491849"/>
            <a:ext cx="3257550" cy="181146"/>
          </a:xfrm>
          <a:prstGeom prst="roundRect">
            <a:avLst>
              <a:gd name="adj" fmla="val 11111"/>
            </a:avLst>
          </a:prstGeom>
          <a:solidFill>
            <a:srgbClr val="EAF4FA"/>
          </a:solidFill>
          <a:ln w="8573">
            <a:solidFill>
              <a:srgbClr val="B9D9E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8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3DDC61D-26A7-3468-323A-5D7EC17C304A}"/>
              </a:ext>
            </a:extLst>
          </p:cNvPr>
          <p:cNvSpPr>
            <a:spLocks noGrp="1"/>
          </p:cNvSpPr>
          <p:nvPr/>
        </p:nvSpPr>
        <p:spPr>
          <a:xfrm>
            <a:off x="480524" y="2491849"/>
            <a:ext cx="2247709" cy="18114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174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lang="zh-CN" altLang="en-US" sz="900" b="1" i="0" u="none" strike="noStrike" kern="1200" cap="none" spc="0" normalizeH="0" baseline="0" noProof="0">
                <a:ln>
                  <a:noFill/>
                </a:ln>
                <a:solidFill>
                  <a:srgbClr val="174F73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总</a:t>
            </a: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174F73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计</a:t>
            </a:r>
          </a:p>
        </p:txBody>
      </p:sp>
      <p:sp>
        <p:nvSpPr>
          <p:cNvPr id="39" name="直线连接符 38">
            <a:extLst>
              <a:ext uri="{FF2B5EF4-FFF2-40B4-BE49-F238E27FC236}">
                <a16:creationId xmlns:a16="http://schemas.microsoft.com/office/drawing/2014/main" id="{B035C6B8-1C18-C87A-ACBC-0A894EF19692}"/>
              </a:ext>
            </a:extLst>
          </p:cNvPr>
          <p:cNvSpPr>
            <a:spLocks noGrp="1"/>
          </p:cNvSpPr>
          <p:nvPr/>
        </p:nvSpPr>
        <p:spPr>
          <a:xfrm>
            <a:off x="2671084" y="2496196"/>
            <a:ext cx="0" cy="171083"/>
          </a:xfrm>
          <a:prstGeom prst="line">
            <a:avLst/>
          </a:prstGeom>
          <a:noFill/>
          <a:ln w="7620">
            <a:solidFill>
              <a:srgbClr val="B9D9E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8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8E35365-36A2-976D-D67B-1DD9EA71456E}"/>
              </a:ext>
            </a:extLst>
          </p:cNvPr>
          <p:cNvSpPr>
            <a:spLocks noGrp="1"/>
          </p:cNvSpPr>
          <p:nvPr/>
        </p:nvSpPr>
        <p:spPr>
          <a:xfrm>
            <a:off x="2671084" y="2491849"/>
            <a:ext cx="1009841" cy="18114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38" b="1">
                <a:solidFill>
                  <a:srgbClr val="2F78A7"/>
                </a:solidFill>
                <a:latin typeface="Arial"/>
                <a:ea typeface="Arial"/>
                <a:cs typeface="Arial"/>
              </a:defRPr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2F78A7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52.7w</a:t>
            </a:r>
          </a:p>
        </p:txBody>
      </p:sp>
      <p:sp>
        <p:nvSpPr>
          <p:cNvPr id="41" name="圆角矩形 40">
            <a:extLst>
              <a:ext uri="{FF2B5EF4-FFF2-40B4-BE49-F238E27FC236}">
                <a16:creationId xmlns:a16="http://schemas.microsoft.com/office/drawing/2014/main" id="{6F66E0E6-6C2F-C2F1-FB6C-699E61C0B120}"/>
              </a:ext>
            </a:extLst>
          </p:cNvPr>
          <p:cNvSpPr>
            <a:spLocks noGrp="1"/>
          </p:cNvSpPr>
          <p:nvPr/>
        </p:nvSpPr>
        <p:spPr>
          <a:xfrm>
            <a:off x="3818084" y="2491849"/>
            <a:ext cx="3257550" cy="181146"/>
          </a:xfrm>
          <a:prstGeom prst="roundRect">
            <a:avLst>
              <a:gd name="adj" fmla="val 11111"/>
            </a:avLst>
          </a:prstGeom>
          <a:solidFill>
            <a:srgbClr val="EAF4FA"/>
          </a:solidFill>
          <a:ln w="8573">
            <a:solidFill>
              <a:srgbClr val="B9D9E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8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C167CD01-DB57-9746-609C-E61707D9BB38}"/>
              </a:ext>
            </a:extLst>
          </p:cNvPr>
          <p:cNvSpPr>
            <a:spLocks noGrp="1"/>
          </p:cNvSpPr>
          <p:nvPr/>
        </p:nvSpPr>
        <p:spPr>
          <a:xfrm>
            <a:off x="3875234" y="2491849"/>
            <a:ext cx="2247709" cy="18114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174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lang="zh-CN" altLang="en-US" sz="900" b="1" i="0" u="none" strike="noStrike" kern="1200" cap="none" spc="0" normalizeH="0" baseline="0" noProof="0">
                <a:ln>
                  <a:noFill/>
                </a:ln>
                <a:solidFill>
                  <a:srgbClr val="174F73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总</a:t>
            </a: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174F73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计</a:t>
            </a:r>
          </a:p>
        </p:txBody>
      </p:sp>
      <p:sp>
        <p:nvSpPr>
          <p:cNvPr id="43" name="直线连接符 42">
            <a:extLst>
              <a:ext uri="{FF2B5EF4-FFF2-40B4-BE49-F238E27FC236}">
                <a16:creationId xmlns:a16="http://schemas.microsoft.com/office/drawing/2014/main" id="{BC94B4D9-1DA0-DB24-1979-E417A9989618}"/>
              </a:ext>
            </a:extLst>
          </p:cNvPr>
          <p:cNvSpPr>
            <a:spLocks noGrp="1"/>
          </p:cNvSpPr>
          <p:nvPr/>
        </p:nvSpPr>
        <p:spPr>
          <a:xfrm>
            <a:off x="6065794" y="2496196"/>
            <a:ext cx="0" cy="171083"/>
          </a:xfrm>
          <a:prstGeom prst="line">
            <a:avLst/>
          </a:prstGeom>
          <a:noFill/>
          <a:ln w="7620">
            <a:solidFill>
              <a:srgbClr val="B9D9E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8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FC42BAD2-4A42-FA96-6ABF-446197B4F087}"/>
              </a:ext>
            </a:extLst>
          </p:cNvPr>
          <p:cNvSpPr>
            <a:spLocks noGrp="1"/>
          </p:cNvSpPr>
          <p:nvPr/>
        </p:nvSpPr>
        <p:spPr>
          <a:xfrm>
            <a:off x="6065794" y="2491849"/>
            <a:ext cx="1009841" cy="18114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38" b="1">
                <a:solidFill>
                  <a:srgbClr val="2F78A7"/>
                </a:solidFill>
                <a:latin typeface="Arial"/>
                <a:ea typeface="Arial"/>
                <a:cs typeface="Arial"/>
              </a:defRPr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2F78A7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91.3w</a:t>
            </a:r>
          </a:p>
        </p:txBody>
      </p:sp>
      <p:sp>
        <p:nvSpPr>
          <p:cNvPr id="45" name="total-saving-card">
            <a:extLst>
              <a:ext uri="{FF2B5EF4-FFF2-40B4-BE49-F238E27FC236}">
                <a16:creationId xmlns:a16="http://schemas.microsoft.com/office/drawing/2014/main" id="{B07D6D38-4273-6ED6-5183-B8C95104337C}"/>
              </a:ext>
            </a:extLst>
          </p:cNvPr>
          <p:cNvSpPr>
            <a:spLocks noGrp="1"/>
          </p:cNvSpPr>
          <p:nvPr/>
        </p:nvSpPr>
        <p:spPr>
          <a:xfrm>
            <a:off x="7212794" y="1333159"/>
            <a:ext cx="1554480" cy="1328405"/>
          </a:xfrm>
          <a:prstGeom prst="roundRect">
            <a:avLst>
              <a:gd name="adj" fmla="val 3788"/>
            </a:avLst>
          </a:prstGeom>
          <a:solidFill>
            <a:srgbClr val="F5F9FC"/>
          </a:solidFill>
          <a:ln w="10478">
            <a:solidFill>
              <a:srgbClr val="B9D9E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8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4F58E84A-5936-6561-5038-88A649AA7E3D}"/>
              </a:ext>
            </a:extLst>
          </p:cNvPr>
          <p:cNvSpPr>
            <a:spLocks noGrp="1"/>
          </p:cNvSpPr>
          <p:nvPr/>
        </p:nvSpPr>
        <p:spPr>
          <a:xfrm>
            <a:off x="7327094" y="1419906"/>
            <a:ext cx="1325880" cy="14089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25" b="1">
                <a:solidFill>
                  <a:srgbClr val="2F78A7"/>
                </a:solidFill>
                <a:latin typeface="Arial"/>
                <a:ea typeface="Arial"/>
                <a:cs typeface="Arial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2F78A7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TOTAL SAVING</a:t>
            </a:r>
          </a:p>
        </p:txBody>
      </p:sp>
      <p:sp>
        <p:nvSpPr>
          <p:cNvPr id="47" name="圆柱体 46">
            <a:extLst>
              <a:ext uri="{FF2B5EF4-FFF2-40B4-BE49-F238E27FC236}">
                <a16:creationId xmlns:a16="http://schemas.microsoft.com/office/drawing/2014/main" id="{3E5D1F6B-ED9E-D72D-2BE7-F9643F52E467}"/>
              </a:ext>
            </a:extLst>
          </p:cNvPr>
          <p:cNvSpPr>
            <a:spLocks noGrp="1"/>
          </p:cNvSpPr>
          <p:nvPr/>
        </p:nvSpPr>
        <p:spPr>
          <a:xfrm>
            <a:off x="7807154" y="1697261"/>
            <a:ext cx="238658" cy="291847"/>
          </a:xfrm>
          <a:prstGeom prst="can">
            <a:avLst/>
          </a:prstGeom>
          <a:solidFill>
            <a:srgbClr val="F5F9FC"/>
          </a:solidFill>
          <a:ln w="24860">
            <a:solidFill>
              <a:srgbClr val="2F78A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8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下箭头 47">
            <a:extLst>
              <a:ext uri="{FF2B5EF4-FFF2-40B4-BE49-F238E27FC236}">
                <a16:creationId xmlns:a16="http://schemas.microsoft.com/office/drawing/2014/main" id="{24FC4F1D-195C-2B42-4A2C-A79B8AA6AF5B}"/>
              </a:ext>
            </a:extLst>
          </p:cNvPr>
          <p:cNvSpPr>
            <a:spLocks noGrp="1"/>
          </p:cNvSpPr>
          <p:nvPr/>
        </p:nvSpPr>
        <p:spPr>
          <a:xfrm>
            <a:off x="7966260" y="1830719"/>
            <a:ext cx="125959" cy="151760"/>
          </a:xfrm>
          <a:prstGeom prst="downArrow">
            <a:avLst/>
          </a:prstGeom>
          <a:solidFill>
            <a:srgbClr val="2F78A7"/>
          </a:solidFill>
          <a:ln w="5715">
            <a:solidFill>
              <a:srgbClr val="2F78A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8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DB56DB1F-28E2-C0BB-9CC7-7196B058D4DA}"/>
              </a:ext>
            </a:extLst>
          </p:cNvPr>
          <p:cNvSpPr>
            <a:spLocks noGrp="1"/>
          </p:cNvSpPr>
          <p:nvPr/>
        </p:nvSpPr>
        <p:spPr>
          <a:xfrm>
            <a:off x="7315664" y="2052228"/>
            <a:ext cx="1348740" cy="29184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2F78A7"/>
                </a:solidFill>
                <a:latin typeface="Arial"/>
                <a:ea typeface="Arial"/>
                <a:cs typeface="Arial"/>
              </a:defRPr>
            </a:pPr>
            <a:r>
              <a:rPr kumimoji="0" sz="1890" b="1" i="0" u="none" strike="noStrike" kern="1200" cap="none" spc="0" normalizeH="0" baseline="0" noProof="0">
                <a:ln>
                  <a:noFill/>
                </a:ln>
                <a:solidFill>
                  <a:srgbClr val="2F78A7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144w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3022BAFA-A974-75A3-BFB1-9E820560A2F7}"/>
              </a:ext>
            </a:extLst>
          </p:cNvPr>
          <p:cNvSpPr>
            <a:spLocks noGrp="1"/>
          </p:cNvSpPr>
          <p:nvPr/>
        </p:nvSpPr>
        <p:spPr>
          <a:xfrm>
            <a:off x="7315664" y="2345619"/>
            <a:ext cx="1348740" cy="1459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63" b="1">
                <a:solidFill>
                  <a:srgbClr val="174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lang="zh-CN" altLang="en-US" sz="700" b="1" i="0" u="none" strike="noStrike" kern="1200" cap="none" spc="0" normalizeH="0" baseline="0" noProof="0">
                <a:ln>
                  <a:noFill/>
                </a:ln>
                <a:solidFill>
                  <a:srgbClr val="174F73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每年</a:t>
            </a:r>
            <a:r>
              <a:rPr kumimoji="0" sz="700" b="1" i="0" u="none" strike="noStrike" kern="1200" cap="none" spc="0" normalizeH="0" baseline="0" noProof="0">
                <a:ln>
                  <a:noFill/>
                </a:ln>
                <a:solidFill>
                  <a:srgbClr val="174F73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合计节省金额（</a:t>
            </a:r>
            <a:r>
              <a:rPr kumimoji="0" lang="zh-CN" altLang="en-US" sz="700" b="1" i="0" u="none" strike="noStrike" kern="1200" cap="none" spc="0" normalizeH="0" baseline="0" noProof="0">
                <a:ln>
                  <a:noFill/>
                </a:ln>
                <a:solidFill>
                  <a:srgbClr val="174F73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预估</a:t>
            </a:r>
            <a:r>
              <a:rPr kumimoji="0" sz="700" b="1" i="0" u="none" strike="noStrike" kern="1200" cap="none" spc="0" normalizeH="0" baseline="0" noProof="0">
                <a:ln>
                  <a:noFill/>
                </a:ln>
                <a:solidFill>
                  <a:srgbClr val="174F73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）</a:t>
            </a:r>
          </a:p>
        </p:txBody>
      </p:sp>
      <p:sp>
        <p:nvSpPr>
          <p:cNvPr id="51" name="assumption-bar">
            <a:extLst>
              <a:ext uri="{FF2B5EF4-FFF2-40B4-BE49-F238E27FC236}">
                <a16:creationId xmlns:a16="http://schemas.microsoft.com/office/drawing/2014/main" id="{95522D4D-4AD0-E5ED-CEB6-4429A83E20CD}"/>
              </a:ext>
            </a:extLst>
          </p:cNvPr>
          <p:cNvSpPr>
            <a:spLocks noGrp="1"/>
          </p:cNvSpPr>
          <p:nvPr/>
        </p:nvSpPr>
        <p:spPr>
          <a:xfrm>
            <a:off x="423374" y="2756985"/>
            <a:ext cx="8343900" cy="161019"/>
          </a:xfrm>
          <a:prstGeom prst="roundRect">
            <a:avLst>
              <a:gd name="adj" fmla="val 8571"/>
            </a:avLst>
          </a:prstGeom>
          <a:solidFill>
            <a:srgbClr val="EAF4FA"/>
          </a:solidFill>
          <a:ln w="4763">
            <a:solidFill>
              <a:srgbClr val="EAF4F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8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FC911F83-E407-F70F-52FF-44811FB60C6F}"/>
              </a:ext>
            </a:extLst>
          </p:cNvPr>
          <p:cNvSpPr>
            <a:spLocks noGrp="1"/>
          </p:cNvSpPr>
          <p:nvPr/>
        </p:nvSpPr>
        <p:spPr>
          <a:xfrm>
            <a:off x="784333" y="2762810"/>
            <a:ext cx="1428750" cy="1509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48" b="1">
                <a:solidFill>
                  <a:srgbClr val="2F78A7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689" b="1" i="0" u="none" strike="noStrike" kern="1200" cap="none" spc="0" normalizeH="0" baseline="0" noProof="0" err="1">
                <a:ln>
                  <a:noFill/>
                </a:ln>
                <a:solidFill>
                  <a:srgbClr val="2F78A7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ASSUMPTION（计算方法</a:t>
            </a:r>
            <a:r>
              <a:rPr kumimoji="0" sz="689" b="1" i="0" u="none" strike="noStrike" kern="1200" cap="none" spc="0" normalizeH="0" baseline="0" noProof="0">
                <a:ln>
                  <a:noFill/>
                </a:ln>
                <a:solidFill>
                  <a:srgbClr val="2F78A7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）</a:t>
            </a:r>
          </a:p>
        </p:txBody>
      </p:sp>
      <p:sp>
        <p:nvSpPr>
          <p:cNvPr id="57" name="直线连接符 56">
            <a:extLst>
              <a:ext uri="{FF2B5EF4-FFF2-40B4-BE49-F238E27FC236}">
                <a16:creationId xmlns:a16="http://schemas.microsoft.com/office/drawing/2014/main" id="{7DD5536D-7021-C871-63AE-B2D38124BE33}"/>
              </a:ext>
            </a:extLst>
          </p:cNvPr>
          <p:cNvSpPr>
            <a:spLocks noGrp="1"/>
          </p:cNvSpPr>
          <p:nvPr/>
        </p:nvSpPr>
        <p:spPr>
          <a:xfrm>
            <a:off x="2213083" y="2782269"/>
            <a:ext cx="0" cy="98988"/>
          </a:xfrm>
          <a:prstGeom prst="line">
            <a:avLst/>
          </a:prstGeom>
          <a:noFill/>
          <a:ln w="9525">
            <a:solidFill>
              <a:srgbClr val="B9D9E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8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3985FA44-8503-C98F-28E0-CAA523F619A8}"/>
              </a:ext>
            </a:extLst>
          </p:cNvPr>
          <p:cNvSpPr>
            <a:spLocks noGrp="1"/>
          </p:cNvSpPr>
          <p:nvPr/>
        </p:nvSpPr>
        <p:spPr>
          <a:xfrm>
            <a:off x="2480774" y="2774557"/>
            <a:ext cx="4457700" cy="1358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5" b="0">
                <a:solidFill>
                  <a:srgbClr val="274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603" b="0" i="0" u="none" strike="noStrike" kern="1200" cap="none" spc="0" normalizeH="0" baseline="0" noProof="0">
                <a:ln>
                  <a:noFill/>
                </a:ln>
                <a:solidFill>
                  <a:srgbClr val="274A6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运行中系统：节省金额 = Archive Ratio（中位数） × 云资源成本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CB1EA2A6-E38D-3CFC-B7CE-8D69A207DDB8}"/>
              </a:ext>
            </a:extLst>
          </p:cNvPr>
          <p:cNvSpPr>
            <a:spLocks noGrp="1"/>
          </p:cNvSpPr>
          <p:nvPr/>
        </p:nvSpPr>
        <p:spPr>
          <a:xfrm>
            <a:off x="5338274" y="2778906"/>
            <a:ext cx="3543300" cy="12579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5" b="0">
                <a:solidFill>
                  <a:srgbClr val="274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603" b="0" i="0" u="none" strike="noStrike" kern="1200" cap="none" spc="0" normalizeH="0" baseline="0" noProof="0" err="1">
                <a:ln>
                  <a:noFill/>
                </a:ln>
                <a:solidFill>
                  <a:srgbClr val="274A6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待退役系统：节省金额</a:t>
            </a:r>
            <a:r>
              <a:rPr kumimoji="0" sz="603" b="0" i="0" u="none" strike="noStrike" kern="1200" cap="none" spc="0" normalizeH="0" baseline="0" noProof="0">
                <a:ln>
                  <a:noFill/>
                </a:ln>
                <a:solidFill>
                  <a:srgbClr val="274A6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 = </a:t>
            </a:r>
            <a:r>
              <a:rPr kumimoji="0" sz="603" b="0" i="0" u="none" strike="noStrike" kern="1200" cap="none" spc="0" normalizeH="0" baseline="0" noProof="0" err="1">
                <a:ln>
                  <a:noFill/>
                </a:ln>
                <a:solidFill>
                  <a:srgbClr val="274A6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云资源成本</a:t>
            </a:r>
            <a:endParaRPr kumimoji="0" sz="603" b="0" i="0" u="none" strike="noStrike" kern="1200" cap="none" spc="0" normalizeH="0" baseline="0" noProof="0">
              <a:ln>
                <a:noFill/>
              </a:ln>
              <a:solidFill>
                <a:srgbClr val="274A60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3" name="conclusion-box">
            <a:extLst>
              <a:ext uri="{FF2B5EF4-FFF2-40B4-BE49-F238E27FC236}">
                <a16:creationId xmlns:a16="http://schemas.microsoft.com/office/drawing/2014/main" id="{2645E1CF-45A0-AA32-03AA-5369ED1320AA}"/>
              </a:ext>
            </a:extLst>
          </p:cNvPr>
          <p:cNvSpPr>
            <a:spLocks noGrp="1"/>
          </p:cNvSpPr>
          <p:nvPr/>
        </p:nvSpPr>
        <p:spPr>
          <a:xfrm>
            <a:off x="263354" y="4606440"/>
            <a:ext cx="8617291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1430">
            <a:solidFill>
              <a:srgbClr val="B9D9E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8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F0474728-DD55-9D04-D6F7-1109BF7E2C7A}"/>
              </a:ext>
            </a:extLst>
          </p:cNvPr>
          <p:cNvSpPr>
            <a:spLocks noGrp="1"/>
          </p:cNvSpPr>
          <p:nvPr/>
        </p:nvSpPr>
        <p:spPr>
          <a:xfrm>
            <a:off x="527959" y="4731027"/>
            <a:ext cx="116014" cy="116014"/>
          </a:xfrm>
          <a:prstGeom prst="ellipse">
            <a:avLst/>
          </a:prstGeom>
          <a:noFill/>
          <a:ln w="16193">
            <a:solidFill>
              <a:srgbClr val="2F78A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8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50D93D2A-B6BA-F5A7-C196-A6689422DE35}"/>
              </a:ext>
            </a:extLst>
          </p:cNvPr>
          <p:cNvSpPr>
            <a:spLocks noGrp="1"/>
          </p:cNvSpPr>
          <p:nvPr/>
        </p:nvSpPr>
        <p:spPr>
          <a:xfrm>
            <a:off x="561963" y="4839041"/>
            <a:ext cx="48006" cy="32004"/>
          </a:xfrm>
          <a:prstGeom prst="rect">
            <a:avLst/>
          </a:prstGeom>
          <a:noFill/>
          <a:ln w="14288">
            <a:solidFill>
              <a:srgbClr val="2F78A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8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6" name="直线连接符 85">
            <a:extLst>
              <a:ext uri="{FF2B5EF4-FFF2-40B4-BE49-F238E27FC236}">
                <a16:creationId xmlns:a16="http://schemas.microsoft.com/office/drawing/2014/main" id="{44335555-CD28-6DCC-E621-B672AF1CA061}"/>
              </a:ext>
            </a:extLst>
          </p:cNvPr>
          <p:cNvSpPr>
            <a:spLocks noGrp="1"/>
          </p:cNvSpPr>
          <p:nvPr/>
        </p:nvSpPr>
        <p:spPr>
          <a:xfrm>
            <a:off x="585966" y="4691022"/>
            <a:ext cx="0" cy="24003"/>
          </a:xfrm>
          <a:prstGeom prst="line">
            <a:avLst/>
          </a:prstGeom>
          <a:noFill/>
          <a:ln w="11430">
            <a:solidFill>
              <a:srgbClr val="2F78A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8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7" name="直线连接符 86">
            <a:extLst>
              <a:ext uri="{FF2B5EF4-FFF2-40B4-BE49-F238E27FC236}">
                <a16:creationId xmlns:a16="http://schemas.microsoft.com/office/drawing/2014/main" id="{38F925CB-AAEF-5EB3-E07C-3B3DE200B77B}"/>
              </a:ext>
            </a:extLst>
          </p:cNvPr>
          <p:cNvSpPr>
            <a:spLocks noGrp="1"/>
          </p:cNvSpPr>
          <p:nvPr/>
        </p:nvSpPr>
        <p:spPr>
          <a:xfrm>
            <a:off x="483953" y="4761031"/>
            <a:ext cx="24003" cy="10001"/>
          </a:xfrm>
          <a:prstGeom prst="line">
            <a:avLst/>
          </a:prstGeom>
          <a:noFill/>
          <a:ln w="11430">
            <a:solidFill>
              <a:srgbClr val="2F78A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8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8" name="直线连接符 87">
            <a:extLst>
              <a:ext uri="{FF2B5EF4-FFF2-40B4-BE49-F238E27FC236}">
                <a16:creationId xmlns:a16="http://schemas.microsoft.com/office/drawing/2014/main" id="{41FF490F-67D5-970B-5A57-67F09692A3B6}"/>
              </a:ext>
            </a:extLst>
          </p:cNvPr>
          <p:cNvSpPr>
            <a:spLocks noGrp="1"/>
          </p:cNvSpPr>
          <p:nvPr/>
        </p:nvSpPr>
        <p:spPr>
          <a:xfrm>
            <a:off x="659975" y="4761031"/>
            <a:ext cx="24003" cy="10001"/>
          </a:xfrm>
          <a:prstGeom prst="line">
            <a:avLst/>
          </a:prstGeom>
          <a:noFill/>
          <a:ln w="11430">
            <a:solidFill>
              <a:srgbClr val="2F78A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8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BB8BE3CC-A6B7-7F64-06DB-D9C6F6572434}"/>
              </a:ext>
            </a:extLst>
          </p:cNvPr>
          <p:cNvSpPr>
            <a:spLocks noGrp="1"/>
          </p:cNvSpPr>
          <p:nvPr/>
        </p:nvSpPr>
        <p:spPr>
          <a:xfrm>
            <a:off x="800563" y="4680735"/>
            <a:ext cx="8086003" cy="2714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25" b="1">
                <a:solidFill>
                  <a:srgbClr val="2F78A7"/>
                </a:solidFill>
                <a:latin typeface="Arial"/>
                <a:ea typeface="Arial"/>
                <a:cs typeface="Arial"/>
              </a:defRPr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2F78A7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核心结论：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2F78A7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CHINA RIMS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2F78A7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首年投入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2F78A7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179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2F78A7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万，年节约成本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2F78A7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144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2F78A7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万，次年投入显著下降为</a:t>
            </a:r>
            <a:r>
              <a:rPr lang="en-US" altLang="zh-CN" sz="1200" b="1">
                <a:solidFill>
                  <a:srgbClr val="2F78A7"/>
                </a:solidFill>
                <a:latin typeface="Arial"/>
                <a:ea typeface="Arial"/>
                <a:cs typeface="Arial"/>
              </a:rPr>
              <a:t>61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2F78A7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万，第二年即可实现正向收益</a:t>
            </a:r>
            <a:r>
              <a:rPr kumimoji="0" lang="zh-CN" altLang="en-US" sz="855" b="1" i="0" u="none" strike="noStrike" kern="1200" cap="none" spc="0" normalizeH="0" baseline="0" noProof="0">
                <a:ln>
                  <a:noFill/>
                </a:ln>
                <a:solidFill>
                  <a:srgbClr val="2F78A7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。</a:t>
            </a:r>
            <a:endParaRPr kumimoji="0" sz="855" b="1" i="0" u="none" strike="noStrike" kern="1200" cap="none" spc="0" normalizeH="0" baseline="0" noProof="0">
              <a:ln>
                <a:noFill/>
              </a:ln>
              <a:solidFill>
                <a:srgbClr val="2F78A7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91" name="cost-container">
            <a:extLst>
              <a:ext uri="{FF2B5EF4-FFF2-40B4-BE49-F238E27FC236}">
                <a16:creationId xmlns:a16="http://schemas.microsoft.com/office/drawing/2014/main" id="{AB5C7D4E-7187-D58D-C286-E588DA1F34EC}"/>
              </a:ext>
            </a:extLst>
          </p:cNvPr>
          <p:cNvSpPr>
            <a:spLocks noGrp="1"/>
          </p:cNvSpPr>
          <p:nvPr/>
        </p:nvSpPr>
        <p:spPr>
          <a:xfrm>
            <a:off x="263354" y="3015988"/>
            <a:ext cx="8617291" cy="1528007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1430">
            <a:solidFill>
              <a:srgbClr val="B9D9E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8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2" name="section-cost">
            <a:extLst>
              <a:ext uri="{FF2B5EF4-FFF2-40B4-BE49-F238E27FC236}">
                <a16:creationId xmlns:a16="http://schemas.microsoft.com/office/drawing/2014/main" id="{7C017A86-FDC3-CDCF-1546-A0D1D75A2443}"/>
              </a:ext>
            </a:extLst>
          </p:cNvPr>
          <p:cNvSpPr>
            <a:spLocks noGrp="1"/>
          </p:cNvSpPr>
          <p:nvPr/>
        </p:nvSpPr>
        <p:spPr>
          <a:xfrm>
            <a:off x="263354" y="3026617"/>
            <a:ext cx="1085850" cy="190178"/>
          </a:xfrm>
          <a:prstGeom prst="roundRect">
            <a:avLst>
              <a:gd name="adj" fmla="val 21053"/>
            </a:avLst>
          </a:prstGeom>
          <a:solidFill>
            <a:srgbClr val="0070C0"/>
          </a:solidFill>
          <a:ln w="7620">
            <a:solidFill>
              <a:srgbClr val="3F8FC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8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94EF310B-02B9-1BC9-DE5B-F0BC3B7A28CB}"/>
              </a:ext>
            </a:extLst>
          </p:cNvPr>
          <p:cNvSpPr>
            <a:spLocks noGrp="1"/>
          </p:cNvSpPr>
          <p:nvPr/>
        </p:nvSpPr>
        <p:spPr>
          <a:xfrm>
            <a:off x="480524" y="3031267"/>
            <a:ext cx="731520" cy="1751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COST</a:t>
            </a:r>
          </a:p>
        </p:txBody>
      </p:sp>
      <p:graphicFrame>
        <p:nvGraphicFramePr>
          <p:cNvPr id="95" name="表格 94">
            <a:extLst>
              <a:ext uri="{FF2B5EF4-FFF2-40B4-BE49-F238E27FC236}">
                <a16:creationId xmlns:a16="http://schemas.microsoft.com/office/drawing/2014/main" id="{F4E40BCB-62A4-F44F-251C-6D77D4D9E4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52747602"/>
              </p:ext>
            </p:extLst>
          </p:nvPr>
        </p:nvGraphicFramePr>
        <p:xfrm>
          <a:off x="445452" y="3300073"/>
          <a:ext cx="6652260" cy="1126055"/>
        </p:xfrm>
        <a:graphic>
          <a:graphicData uri="http://schemas.openxmlformats.org/drawingml/2006/table">
            <a:tbl>
              <a:tblPr/>
              <a:tblGrid>
                <a:gridCol w="1250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9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5155">
                <a:tc>
                  <a:txBody>
                    <a:bodyPr/>
                    <a:lstStyle/>
                    <a:p>
                      <a:pPr algn="ctr"/>
                      <a:r>
                        <a:rPr sz="900" b="1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费用类别</a:t>
                      </a:r>
                      <a:endParaRPr sz="900" b="1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22860" marR="22860" marT="11430" marB="11430" anchor="ctr">
                    <a:lnL w="7144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7144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费用构成</a:t>
                      </a:r>
                      <a:endParaRPr sz="900" b="1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22860" marR="22860" marT="11430" marB="11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7144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</a:t>
                      </a:r>
                      <a:endParaRPr sz="900" b="1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22860" marR="22860" marT="11430" marB="11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7144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费用金额</a:t>
                      </a:r>
                      <a:endParaRPr sz="900" b="1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22860" marR="22860" marT="11430" marB="11430" anchor="ctr">
                    <a:lnL w="12700" cmpd="sng">
                      <a:noFill/>
                      <a:prstDash val="solid"/>
                    </a:lnL>
                    <a:lnR w="7144">
                      <a:noFill/>
                      <a:prstDash val="solid"/>
                    </a:lnR>
                    <a:lnT w="7144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150">
                <a:tc rowSpan="2"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74F7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实施</a:t>
                      </a:r>
                      <a:r>
                        <a:rPr lang="zh-CN" altLang="en-US" sz="800" b="1">
                          <a:solidFill>
                            <a:srgbClr val="174F7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（包含</a:t>
                      </a:r>
                      <a:r>
                        <a:rPr lang="en-US" altLang="zh-CN" sz="800" b="1">
                          <a:solidFill>
                            <a:srgbClr val="174F7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  <a:r>
                        <a:rPr lang="zh-CN" altLang="en-US" sz="800" b="1">
                          <a:solidFill>
                            <a:srgbClr val="174F7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个系统接入）</a:t>
                      </a:r>
                      <a:endParaRPr sz="800" b="1">
                        <a:solidFill>
                          <a:srgbClr val="174F73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28575" marR="28575" marT="11430" marB="11430" anchor="ctr">
                    <a:lnL w="7144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4A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</a:t>
                      </a:r>
                      <a:r>
                        <a:rPr lang="zh-CN" altLang="en-US" sz="800" b="0">
                          <a:solidFill>
                            <a:srgbClr val="334A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工具成本</a:t>
                      </a:r>
                      <a:endParaRPr sz="800" b="0">
                        <a:solidFill>
                          <a:srgbClr val="334A58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102870" marR="45720" marT="11430" marB="11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800" b="0">
                          <a:solidFill>
                            <a:srgbClr val="334A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一次性成本（</a:t>
                      </a:r>
                      <a:r>
                        <a:rPr lang="en-US" altLang="zh-CN" sz="800" b="0">
                          <a:solidFill>
                            <a:srgbClr val="334A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  <a:r>
                        <a:rPr lang="zh-CN" altLang="en-US" sz="800" b="0">
                          <a:solidFill>
                            <a:srgbClr val="334A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个月实施期）</a:t>
                      </a:r>
                      <a:endParaRPr sz="800" b="0">
                        <a:solidFill>
                          <a:srgbClr val="334A58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102870" marR="45720" marT="11430" marB="11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1">
                          <a:solidFill>
                            <a:srgbClr val="174F73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  <a:r>
                        <a:rPr lang="zh-CN" altLang="en-US" sz="900" b="1">
                          <a:solidFill>
                            <a:srgbClr val="174F73"/>
                          </a:solidFill>
                          <a:latin typeface="Arial"/>
                          <a:ea typeface="Arial"/>
                          <a:cs typeface="Arial"/>
                        </a:rPr>
                        <a:t>ｗ</a:t>
                      </a:r>
                      <a:endParaRPr sz="900" b="1">
                        <a:solidFill>
                          <a:srgbClr val="174F73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28575" marR="28575" marT="11430" marB="11430" anchor="ctr">
                    <a:lnL w="12700" cmpd="sng">
                      <a:noFill/>
                      <a:prstDash val="solid"/>
                    </a:lnL>
                    <a:lnR w="7144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0150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7625" marR="47625" marT="19050" marB="19050" anchor="ctr">
                    <a:lnL w="7144">
                      <a:solidFill>
                        <a:srgbClr val="D4E4EE"/>
                      </a:solidFill>
                      <a:prstDash val="solid"/>
                    </a:lnL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4A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人工实施</a:t>
                      </a:r>
                      <a:r>
                        <a:rPr lang="zh-CN" altLang="en-US" sz="800" b="0">
                          <a:solidFill>
                            <a:srgbClr val="334A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</a:t>
                      </a:r>
                      <a:endParaRPr sz="800" b="0">
                        <a:solidFill>
                          <a:srgbClr val="334A58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102870" marR="45720" marT="11430" marB="11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800" b="0">
                          <a:solidFill>
                            <a:srgbClr val="334A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一次性成本（</a:t>
                      </a:r>
                      <a:r>
                        <a:rPr lang="en-US" altLang="zh-CN" sz="800" b="0">
                          <a:solidFill>
                            <a:srgbClr val="334A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  <a:r>
                        <a:rPr lang="zh-CN" altLang="en-US" sz="800" b="0">
                          <a:solidFill>
                            <a:srgbClr val="334A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个月实施期）</a:t>
                      </a:r>
                      <a:endParaRPr sz="800" b="0">
                        <a:solidFill>
                          <a:srgbClr val="334A58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102870" marR="45720" marT="11430" marB="11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1">
                          <a:solidFill>
                            <a:srgbClr val="174F73"/>
                          </a:solidFill>
                          <a:latin typeface="Arial"/>
                          <a:ea typeface="Arial"/>
                          <a:cs typeface="Arial"/>
                        </a:rPr>
                        <a:t>66</a:t>
                      </a:r>
                      <a:r>
                        <a:rPr lang="zh-CN" altLang="en-US" sz="900" b="1">
                          <a:solidFill>
                            <a:srgbClr val="174F73"/>
                          </a:solidFill>
                          <a:latin typeface="Arial"/>
                          <a:ea typeface="Arial"/>
                          <a:cs typeface="Arial"/>
                        </a:rPr>
                        <a:t>ｗ</a:t>
                      </a:r>
                      <a:endParaRPr lang="en-US" sz="900" b="1">
                        <a:solidFill>
                          <a:srgbClr val="174F73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28575" marR="28575" marT="11430" marB="11430" anchor="ctr">
                    <a:lnL w="12700" cmpd="sng">
                      <a:noFill/>
                      <a:prstDash val="solid"/>
                    </a:lnL>
                    <a:lnR w="7144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0150">
                <a:tc rowSpan="2">
                  <a:txBody>
                    <a:bodyPr/>
                    <a:lstStyle/>
                    <a:p>
                      <a:pPr algn="ctr"/>
                      <a:r>
                        <a:rPr sz="800" b="1" err="1">
                          <a:solidFill>
                            <a:srgbClr val="174F7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运维</a:t>
                      </a:r>
                      <a:endParaRPr sz="800" b="1">
                        <a:solidFill>
                          <a:srgbClr val="174F73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28575" marR="28575" marT="11430" marB="11430" anchor="ctr">
                    <a:lnL w="7144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4A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人力运维</a:t>
                      </a:r>
                      <a:r>
                        <a:rPr lang="zh-CN" altLang="en-US" sz="800" b="0">
                          <a:solidFill>
                            <a:srgbClr val="334A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</a:t>
                      </a:r>
                      <a:endParaRPr sz="800" b="0">
                        <a:solidFill>
                          <a:srgbClr val="334A58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102870" marR="45720" marT="11430" marB="11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800" b="0">
                          <a:solidFill>
                            <a:srgbClr val="334A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周期性成本（</a:t>
                      </a:r>
                      <a:r>
                        <a:rPr lang="en-US" altLang="zh-CN" sz="800" b="0">
                          <a:solidFill>
                            <a:srgbClr val="334A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  <a:r>
                        <a:rPr lang="zh-CN" altLang="en-US" sz="800" b="0">
                          <a:solidFill>
                            <a:srgbClr val="334A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万</a:t>
                      </a:r>
                      <a:r>
                        <a:rPr lang="en-US" altLang="zh-CN" sz="800" b="0">
                          <a:solidFill>
                            <a:srgbClr val="334A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/</a:t>
                      </a:r>
                      <a:r>
                        <a:rPr lang="zh-CN" altLang="en-US" sz="800" b="0">
                          <a:solidFill>
                            <a:srgbClr val="334A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月）</a:t>
                      </a:r>
                      <a:endParaRPr sz="800" b="0">
                        <a:solidFill>
                          <a:srgbClr val="334A58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102870" marR="45720" marT="11430" marB="11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1">
                          <a:solidFill>
                            <a:srgbClr val="174F73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  <a:r>
                        <a:rPr lang="zh-CN" altLang="en-US" sz="900" b="1">
                          <a:solidFill>
                            <a:srgbClr val="174F73"/>
                          </a:solidFill>
                          <a:latin typeface="Arial"/>
                          <a:ea typeface="Arial"/>
                          <a:cs typeface="Arial"/>
                        </a:rPr>
                        <a:t>ｗ</a:t>
                      </a:r>
                      <a:endParaRPr sz="900" b="1">
                        <a:solidFill>
                          <a:srgbClr val="174F73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28575" marR="28575" marT="11430" marB="11430" anchor="ctr">
                    <a:lnL w="12700" cmpd="sng">
                      <a:noFill/>
                      <a:prstDash val="solid"/>
                    </a:lnL>
                    <a:lnR w="7144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0150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7625" marR="47625" marT="19050" marB="19050" anchor="ctr">
                    <a:lnL w="7144">
                      <a:solidFill>
                        <a:srgbClr val="D4E4EE"/>
                      </a:solidFill>
                      <a:prstDash val="solid"/>
                    </a:lnL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4A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云资源</a:t>
                      </a:r>
                      <a:r>
                        <a:rPr lang="zh-CN" altLang="en-US" sz="800" b="0">
                          <a:solidFill>
                            <a:srgbClr val="334A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</a:t>
                      </a:r>
                      <a:endParaRPr sz="800" b="0">
                        <a:solidFill>
                          <a:srgbClr val="334A58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102870" marR="45720" marT="11430" marB="11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800" b="0">
                          <a:solidFill>
                            <a:srgbClr val="334A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周期性成本（</a:t>
                      </a:r>
                      <a:r>
                        <a:rPr lang="en-US" altLang="zh-CN" sz="800" b="0">
                          <a:solidFill>
                            <a:srgbClr val="334A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</a:t>
                      </a:r>
                      <a:r>
                        <a:rPr lang="zh-CN" altLang="en-US" sz="800" b="0">
                          <a:solidFill>
                            <a:srgbClr val="334A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万</a:t>
                      </a:r>
                      <a:r>
                        <a:rPr lang="en-US" altLang="zh-CN" sz="800" b="0">
                          <a:solidFill>
                            <a:srgbClr val="334A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/</a:t>
                      </a:r>
                      <a:r>
                        <a:rPr lang="zh-CN" altLang="en-US" sz="800" b="0">
                          <a:solidFill>
                            <a:srgbClr val="334A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月）</a:t>
                      </a:r>
                      <a:endParaRPr sz="800" b="0">
                        <a:solidFill>
                          <a:srgbClr val="334A58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102870" marR="45720" marT="11430" marB="11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1">
                          <a:solidFill>
                            <a:srgbClr val="174F73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  <a:r>
                        <a:rPr lang="zh-CN" altLang="en-US" sz="900" b="1">
                          <a:solidFill>
                            <a:srgbClr val="174F73"/>
                          </a:solidFill>
                          <a:latin typeface="Arial"/>
                          <a:ea typeface="Arial"/>
                          <a:cs typeface="Arial"/>
                        </a:rPr>
                        <a:t>ｗ</a:t>
                      </a:r>
                      <a:endParaRPr sz="900" b="1">
                        <a:solidFill>
                          <a:srgbClr val="174F73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28575" marR="28575" marT="11430" marB="11430" anchor="ctr">
                    <a:lnL w="12700" cmpd="sng">
                      <a:noFill/>
                      <a:prstDash val="solid"/>
                    </a:lnL>
                    <a:lnR w="7144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0150">
                <a:tc rowSpan="2"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74F7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新接入</a:t>
                      </a:r>
                      <a:r>
                        <a:rPr lang="zh-CN" altLang="en-US" sz="800" b="1">
                          <a:solidFill>
                            <a:srgbClr val="174F7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退役系统</a:t>
                      </a:r>
                      <a:r>
                        <a:rPr sz="800" b="1">
                          <a:solidFill>
                            <a:srgbClr val="174F7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费用</a:t>
                      </a:r>
                    </a:p>
                  </a:txBody>
                  <a:tcPr marL="28575" marR="28575" marT="11430" marB="11430" anchor="ctr">
                    <a:lnL w="7144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err="1">
                          <a:solidFill>
                            <a:srgbClr val="334A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人力</a:t>
                      </a:r>
                      <a:r>
                        <a:rPr lang="zh-CN" altLang="en-US" sz="800" b="0">
                          <a:solidFill>
                            <a:srgbClr val="334A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</a:t>
                      </a:r>
                      <a:endParaRPr sz="800" b="0">
                        <a:solidFill>
                          <a:srgbClr val="334A58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102870" marR="45720" marT="11430" marB="11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800" b="0">
                          <a:solidFill>
                            <a:srgbClr val="334A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一次性成本，按照平均</a:t>
                      </a:r>
                      <a:r>
                        <a:rPr lang="en-US" altLang="zh-CN" sz="800" b="0">
                          <a:solidFill>
                            <a:srgbClr val="334A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</a:t>
                      </a:r>
                      <a:r>
                        <a:rPr lang="zh-CN" altLang="en-US" sz="800" b="0">
                          <a:solidFill>
                            <a:srgbClr val="334A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人天估算</a:t>
                      </a:r>
                      <a:endParaRPr sz="800" b="0">
                        <a:solidFill>
                          <a:srgbClr val="334A58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102870" marR="45720" marT="11430" marB="11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1">
                          <a:solidFill>
                            <a:srgbClr val="174F73"/>
                          </a:solidFill>
                          <a:latin typeface="Arial"/>
                          <a:ea typeface="Arial"/>
                          <a:cs typeface="Arial"/>
                        </a:rPr>
                        <a:t>56</a:t>
                      </a:r>
                      <a:r>
                        <a:rPr lang="zh-CN" altLang="en-US" sz="900" b="1">
                          <a:solidFill>
                            <a:srgbClr val="174F73"/>
                          </a:solidFill>
                          <a:latin typeface="Arial"/>
                          <a:ea typeface="Arial"/>
                          <a:cs typeface="Arial"/>
                        </a:rPr>
                        <a:t>ｗ</a:t>
                      </a:r>
                      <a:endParaRPr sz="900" b="1">
                        <a:solidFill>
                          <a:srgbClr val="174F73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28575" marR="28575" marT="11430" marB="11430" anchor="ctr">
                    <a:lnL w="12700" cmpd="sng">
                      <a:noFill/>
                      <a:prstDash val="solid"/>
                    </a:lnL>
                    <a:lnR w="7144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0150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7625" marR="47625" marT="19050" marB="19050" anchor="ctr">
                    <a:lnL w="7144">
                      <a:solidFill>
                        <a:srgbClr val="D4E4EE"/>
                      </a:solidFill>
                      <a:prstDash val="solid"/>
                    </a:lnL>
                    <a:lnB w="7144">
                      <a:solidFill>
                        <a:srgbClr val="D4E4EE"/>
                      </a:solidFill>
                      <a:prstDash val="soli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err="1">
                          <a:solidFill>
                            <a:srgbClr val="334A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云资源</a:t>
                      </a:r>
                      <a:r>
                        <a:rPr lang="zh-CN" altLang="en-US" sz="800" b="0">
                          <a:solidFill>
                            <a:srgbClr val="334A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</a:t>
                      </a:r>
                      <a:endParaRPr sz="800" b="0">
                        <a:solidFill>
                          <a:srgbClr val="334A58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102870" marR="45720" marT="11430" marB="11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7144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800" b="0">
                          <a:solidFill>
                            <a:srgbClr val="334A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周期性成本，平均</a:t>
                      </a:r>
                      <a:r>
                        <a:rPr lang="en-US" altLang="zh-CN" sz="800" b="0">
                          <a:solidFill>
                            <a:srgbClr val="334A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0.33</a:t>
                      </a:r>
                      <a:r>
                        <a:rPr lang="zh-CN" altLang="en-US" sz="800" b="0">
                          <a:solidFill>
                            <a:srgbClr val="334A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万</a:t>
                      </a:r>
                      <a:r>
                        <a:rPr lang="en-US" altLang="zh-CN" sz="800" b="0">
                          <a:solidFill>
                            <a:srgbClr val="334A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/</a:t>
                      </a:r>
                      <a:r>
                        <a:rPr lang="zh-CN" altLang="en-US" sz="800" b="0">
                          <a:solidFill>
                            <a:srgbClr val="334A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月</a:t>
                      </a:r>
                      <a:endParaRPr sz="800" b="0">
                        <a:solidFill>
                          <a:srgbClr val="334A58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102870" marR="45720" marT="11430" marB="11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7144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1">
                          <a:solidFill>
                            <a:srgbClr val="174F73"/>
                          </a:solidFill>
                          <a:latin typeface="Arial"/>
                          <a:ea typeface="Arial"/>
                          <a:cs typeface="Arial"/>
                        </a:rPr>
                        <a:t>40</a:t>
                      </a:r>
                      <a:r>
                        <a:rPr lang="zh-CN" altLang="en-US" sz="900" b="1">
                          <a:solidFill>
                            <a:srgbClr val="174F73"/>
                          </a:solidFill>
                          <a:latin typeface="Arial"/>
                          <a:ea typeface="Arial"/>
                          <a:cs typeface="Arial"/>
                        </a:rPr>
                        <a:t>ｗ</a:t>
                      </a:r>
                      <a:endParaRPr sz="900" b="1">
                        <a:solidFill>
                          <a:srgbClr val="174F73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28575" marR="28575" marT="11430" marB="11430" anchor="ctr">
                    <a:lnL w="12700" cmpd="sng">
                      <a:noFill/>
                      <a:prstDash val="solid"/>
                    </a:lnL>
                    <a:lnR w="7144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7144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0" name="total-cost-card">
            <a:extLst>
              <a:ext uri="{FF2B5EF4-FFF2-40B4-BE49-F238E27FC236}">
                <a16:creationId xmlns:a16="http://schemas.microsoft.com/office/drawing/2014/main" id="{FF6F3875-85C0-C477-DD99-011BF6934FE3}"/>
              </a:ext>
            </a:extLst>
          </p:cNvPr>
          <p:cNvSpPr>
            <a:spLocks noGrp="1"/>
          </p:cNvSpPr>
          <p:nvPr/>
        </p:nvSpPr>
        <p:spPr>
          <a:xfrm>
            <a:off x="7212794" y="3294481"/>
            <a:ext cx="1554480" cy="1126056"/>
          </a:xfrm>
          <a:prstGeom prst="roundRect">
            <a:avLst>
              <a:gd name="adj" fmla="val 3788"/>
            </a:avLst>
          </a:prstGeom>
          <a:solidFill>
            <a:srgbClr val="F5F9FC"/>
          </a:solidFill>
          <a:ln w="10478">
            <a:solidFill>
              <a:srgbClr val="B9D9E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8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828DB382-0509-80D1-A312-E3C2D1E6D277}"/>
              </a:ext>
            </a:extLst>
          </p:cNvPr>
          <p:cNvSpPr>
            <a:spLocks noGrp="1"/>
          </p:cNvSpPr>
          <p:nvPr/>
        </p:nvSpPr>
        <p:spPr>
          <a:xfrm>
            <a:off x="7327094" y="3344942"/>
            <a:ext cx="1325880" cy="1401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25" b="1">
                <a:solidFill>
                  <a:srgbClr val="2F78A7"/>
                </a:solidFill>
                <a:latin typeface="Arial"/>
                <a:ea typeface="Arial"/>
                <a:cs typeface="Arial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2F78A7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TOTAL COST</a:t>
            </a:r>
          </a:p>
        </p:txBody>
      </p:sp>
      <p:sp>
        <p:nvSpPr>
          <p:cNvPr id="112" name="圆柱体 111">
            <a:extLst>
              <a:ext uri="{FF2B5EF4-FFF2-40B4-BE49-F238E27FC236}">
                <a16:creationId xmlns:a16="http://schemas.microsoft.com/office/drawing/2014/main" id="{10575D72-5242-BAD8-1774-EC4B101BE4A3}"/>
              </a:ext>
            </a:extLst>
          </p:cNvPr>
          <p:cNvSpPr>
            <a:spLocks noGrp="1"/>
          </p:cNvSpPr>
          <p:nvPr/>
        </p:nvSpPr>
        <p:spPr>
          <a:xfrm>
            <a:off x="7870705" y="3550149"/>
            <a:ext cx="238658" cy="290274"/>
          </a:xfrm>
          <a:prstGeom prst="can">
            <a:avLst/>
          </a:prstGeom>
          <a:solidFill>
            <a:srgbClr val="F5F9FC"/>
          </a:solidFill>
          <a:ln w="24860">
            <a:solidFill>
              <a:srgbClr val="2F78A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8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737EDC9F-3AFF-67DC-169B-76CD18CFCAA3}"/>
              </a:ext>
            </a:extLst>
          </p:cNvPr>
          <p:cNvSpPr>
            <a:spLocks noGrp="1"/>
          </p:cNvSpPr>
          <p:nvPr/>
        </p:nvSpPr>
        <p:spPr>
          <a:xfrm>
            <a:off x="7212794" y="3806671"/>
            <a:ext cx="1554480" cy="4132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>
                <a:solidFill>
                  <a:srgbClr val="2F78A7"/>
                </a:solidFill>
                <a:latin typeface="Arial"/>
                <a:ea typeface="Arial"/>
                <a:cs typeface="Arial"/>
              </a:defRPr>
            </a:pPr>
            <a:r>
              <a:rPr kumimoji="0" lang="en-US" sz="1980" b="1" i="0" u="none" strike="noStrike" kern="1200" cap="none" spc="0" normalizeH="0" baseline="0" noProof="0">
                <a:ln>
                  <a:noFill/>
                </a:ln>
                <a:solidFill>
                  <a:srgbClr val="2F78A7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1</a:t>
            </a:r>
            <a:r>
              <a:rPr kumimoji="0" lang="en-US" altLang="zh-CN" sz="1980" b="1" i="0" u="none" strike="noStrike" kern="1200" cap="none" spc="0" normalizeH="0" baseline="0" noProof="0">
                <a:ln>
                  <a:noFill/>
                </a:ln>
                <a:solidFill>
                  <a:srgbClr val="2F78A7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79</a:t>
            </a:r>
            <a:r>
              <a:rPr kumimoji="0" lang="en-US" sz="1980" b="1" i="0" u="none" strike="noStrike" kern="1200" cap="none" spc="0" normalizeH="0" baseline="0" noProof="0">
                <a:ln>
                  <a:noFill/>
                </a:ln>
                <a:solidFill>
                  <a:srgbClr val="2F78A7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E9F483F5-AEB4-BCD8-DF53-5D4AC9FB83A8}"/>
              </a:ext>
            </a:extLst>
          </p:cNvPr>
          <p:cNvSpPr>
            <a:spLocks noGrp="1"/>
          </p:cNvSpPr>
          <p:nvPr/>
        </p:nvSpPr>
        <p:spPr>
          <a:xfrm>
            <a:off x="7315664" y="4157974"/>
            <a:ext cx="1348740" cy="1451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63" b="1">
                <a:solidFill>
                  <a:srgbClr val="174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lang="zh-CN" altLang="en-US" sz="700" b="1" i="0" u="none" strike="noStrike" kern="1200" cap="none" spc="0" normalizeH="0" baseline="0" noProof="0">
                <a:ln>
                  <a:noFill/>
                </a:ln>
                <a:solidFill>
                  <a:srgbClr val="174F73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第一年</a:t>
            </a:r>
            <a:r>
              <a:rPr kumimoji="0" sz="700" b="1" i="0" u="none" strike="noStrike" kern="1200" cap="none" spc="0" normalizeH="0" baseline="0" noProof="0">
                <a:ln>
                  <a:noFill/>
                </a:ln>
                <a:solidFill>
                  <a:srgbClr val="174F73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合计费用金额（</a:t>
            </a:r>
            <a:r>
              <a:rPr kumimoji="0" lang="zh-CN" altLang="en-US" sz="700" b="1" i="0" u="none" strike="noStrike" kern="1200" cap="none" spc="0" normalizeH="0" baseline="0" noProof="0">
                <a:ln>
                  <a:noFill/>
                </a:ln>
                <a:solidFill>
                  <a:srgbClr val="174F73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预估</a:t>
            </a:r>
            <a:r>
              <a:rPr kumimoji="0" sz="700" b="1" i="0" u="none" strike="noStrike" kern="1200" cap="none" spc="0" normalizeH="0" baseline="0" noProof="0">
                <a:ln>
                  <a:noFill/>
                </a:ln>
                <a:solidFill>
                  <a:srgbClr val="174F73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）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C88149-D2C5-1E83-C446-DA5A5DFC4F93}"/>
              </a:ext>
            </a:extLst>
          </p:cNvPr>
          <p:cNvSpPr/>
          <p:nvPr/>
        </p:nvSpPr>
        <p:spPr>
          <a:xfrm>
            <a:off x="2174981" y="1642810"/>
            <a:ext cx="496102" cy="77205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52EC91-B872-A09F-5678-0677BDC39FD8}"/>
              </a:ext>
            </a:extLst>
          </p:cNvPr>
          <p:cNvSpPr/>
          <p:nvPr/>
        </p:nvSpPr>
        <p:spPr>
          <a:xfrm>
            <a:off x="462283" y="3467280"/>
            <a:ext cx="4177665" cy="299369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07CEB23-348A-2EA7-C00B-61DB5AED9010}"/>
              </a:ext>
            </a:extLst>
          </p:cNvPr>
          <p:cNvCxnSpPr>
            <a:cxnSpLocks/>
          </p:cNvCxnSpPr>
          <p:nvPr/>
        </p:nvCxnSpPr>
        <p:spPr>
          <a:xfrm>
            <a:off x="4652474" y="3599895"/>
            <a:ext cx="1470469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3FAF0FC-5E17-3A3D-46FA-E4804DCD0C24}"/>
              </a:ext>
            </a:extLst>
          </p:cNvPr>
          <p:cNvSpPr txBox="1"/>
          <p:nvPr/>
        </p:nvSpPr>
        <p:spPr>
          <a:xfrm>
            <a:off x="4998827" y="3452921"/>
            <a:ext cx="6441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一次性投入 </a:t>
            </a:r>
            <a:r>
              <a:rPr kumimoji="0" lang="en-US" altLang="zh-CN" sz="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+ </a:t>
            </a:r>
            <a:r>
              <a:rPr kumimoji="0" lang="zh-CN" altLang="en-US" sz="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一个系统接入</a:t>
            </a:r>
            <a:endParaRPr kumimoji="0" lang="en-US" sz="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E1FF4C-8B24-303F-D5FA-E578C6F8EFE8}"/>
              </a:ext>
            </a:extLst>
          </p:cNvPr>
          <p:cNvSpPr/>
          <p:nvPr/>
        </p:nvSpPr>
        <p:spPr>
          <a:xfrm>
            <a:off x="6120257" y="3467279"/>
            <a:ext cx="711538" cy="295011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ACC2A76-4330-D68F-F14C-C94C170C2522}"/>
              </a:ext>
            </a:extLst>
          </p:cNvPr>
          <p:cNvSpPr/>
          <p:nvPr/>
        </p:nvSpPr>
        <p:spPr>
          <a:xfrm>
            <a:off x="462282" y="3795846"/>
            <a:ext cx="4177665" cy="296902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D685B18-DBAC-6AB9-0CBC-D7201F139E0C}"/>
              </a:ext>
            </a:extLst>
          </p:cNvPr>
          <p:cNvCxnSpPr>
            <a:cxnSpLocks/>
          </p:cNvCxnSpPr>
          <p:nvPr/>
        </p:nvCxnSpPr>
        <p:spPr>
          <a:xfrm>
            <a:off x="4652474" y="3965655"/>
            <a:ext cx="1470469" cy="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5DD81775-99EF-F384-108C-158AA41A7BB9}"/>
              </a:ext>
            </a:extLst>
          </p:cNvPr>
          <p:cNvSpPr/>
          <p:nvPr/>
        </p:nvSpPr>
        <p:spPr>
          <a:xfrm>
            <a:off x="6120257" y="3796974"/>
            <a:ext cx="711538" cy="305240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718CE0C-7894-54B2-272C-B6692BA49385}"/>
              </a:ext>
            </a:extLst>
          </p:cNvPr>
          <p:cNvSpPr txBox="1"/>
          <p:nvPr/>
        </p:nvSpPr>
        <p:spPr>
          <a:xfrm>
            <a:off x="4838085" y="3812998"/>
            <a:ext cx="10058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每年固定投入 </a:t>
            </a:r>
            <a:endParaRPr kumimoji="0" lang="en-US" altLang="zh-CN" sz="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（第一年按</a:t>
            </a:r>
            <a:r>
              <a:rPr kumimoji="0" lang="en-US" altLang="zh-CN" sz="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9</a:t>
            </a:r>
            <a:r>
              <a:rPr kumimoji="0" lang="zh-CN" altLang="en-US" sz="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个月折算）</a:t>
            </a:r>
            <a:endParaRPr kumimoji="0" lang="en-US" sz="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199E797-97EE-807A-6B54-26A82E1993A3}"/>
              </a:ext>
            </a:extLst>
          </p:cNvPr>
          <p:cNvSpPr/>
          <p:nvPr/>
        </p:nvSpPr>
        <p:spPr>
          <a:xfrm>
            <a:off x="459596" y="4127593"/>
            <a:ext cx="4177665" cy="292944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E67C67C-D074-781E-2ED8-6D614E369B53}"/>
              </a:ext>
            </a:extLst>
          </p:cNvPr>
          <p:cNvCxnSpPr>
            <a:cxnSpLocks/>
          </p:cNvCxnSpPr>
          <p:nvPr/>
        </p:nvCxnSpPr>
        <p:spPr>
          <a:xfrm>
            <a:off x="4649787" y="4305697"/>
            <a:ext cx="1470469" cy="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C36CE217-9687-348C-8280-4140D0AEFBEE}"/>
              </a:ext>
            </a:extLst>
          </p:cNvPr>
          <p:cNvSpPr/>
          <p:nvPr/>
        </p:nvSpPr>
        <p:spPr>
          <a:xfrm>
            <a:off x="6120257" y="4134337"/>
            <a:ext cx="711538" cy="285484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4C4BB24-5748-7959-3174-642CF5C255E3}"/>
              </a:ext>
            </a:extLst>
          </p:cNvPr>
          <p:cNvSpPr txBox="1"/>
          <p:nvPr/>
        </p:nvSpPr>
        <p:spPr>
          <a:xfrm>
            <a:off x="4969113" y="4166231"/>
            <a:ext cx="91756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其他系统接入 </a:t>
            </a:r>
            <a:r>
              <a:rPr lang="zh-CN" altLang="en-US" sz="600">
                <a:solidFill>
                  <a:srgbClr val="000000"/>
                </a:solidFill>
                <a:latin typeface="Georgia"/>
              </a:rPr>
              <a:t>✖ </a:t>
            </a:r>
            <a:r>
              <a:rPr lang="en-US" altLang="zh-CN" sz="600">
                <a:solidFill>
                  <a:srgbClr val="000000"/>
                </a:solidFill>
                <a:latin typeface="Georgia"/>
              </a:rPr>
              <a:t>10</a:t>
            </a:r>
            <a:endParaRPr kumimoji="0" lang="en-US" sz="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52" name="矩形 8">
            <a:extLst>
              <a:ext uri="{FF2B5EF4-FFF2-40B4-BE49-F238E27FC236}">
                <a16:creationId xmlns:a16="http://schemas.microsoft.com/office/drawing/2014/main" id="{A4B1A82A-C369-C5D9-68BC-063AFA6CE19D}"/>
              </a:ext>
            </a:extLst>
          </p:cNvPr>
          <p:cNvSpPr>
            <a:spLocks noGrp="1"/>
          </p:cNvSpPr>
          <p:nvPr/>
        </p:nvSpPr>
        <p:spPr>
          <a:xfrm>
            <a:off x="1423499" y="3055881"/>
            <a:ext cx="2514600" cy="1551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65" b="1">
                <a:solidFill>
                  <a:srgbClr val="174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lang="en-US" altLang="zh-CN" sz="1000" b="1" i="0" u="none" strike="noStrike" kern="1200" cap="none" spc="0" normalizeH="0" baseline="0" noProof="0">
                <a:ln>
                  <a:noFill/>
                </a:ln>
                <a:solidFill>
                  <a:srgbClr val="174F73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CHINA RIMS</a:t>
            </a:r>
            <a:endParaRPr kumimoji="0" sz="1000" b="1" i="0" u="none" strike="noStrike" kern="1200" cap="none" spc="0" normalizeH="0" baseline="0" noProof="0">
              <a:ln>
                <a:noFill/>
              </a:ln>
              <a:solidFill>
                <a:srgbClr val="174F73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EAA3A1B-91A2-1347-CABC-37E971DFCF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>
                <a:solidFill>
                  <a:srgbClr val="004F71"/>
                </a:solidFill>
              </a:rPr>
              <a:t>China RIMS Solution Proposal</a:t>
            </a:r>
          </a:p>
          <a:p>
            <a:endParaRPr lang="zh-CN" altLang="en-US"/>
          </a:p>
          <a:p>
            <a:endParaRPr lang="zh-CN" alt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649282FB-1541-1F6B-3ABC-58F65B162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009CDE"/>
                </a:solidFill>
              </a:rPr>
              <a:t>现状分析：成本对比分析</a:t>
            </a:r>
            <a:br>
              <a:rPr lang="zh-CN" altLang="en-US">
                <a:solidFill>
                  <a:srgbClr val="009CDE"/>
                </a:solidFill>
              </a:rPr>
            </a:br>
            <a:endParaRPr lang="zh-CN" altLang="en-US"/>
          </a:p>
        </p:txBody>
      </p:sp>
      <p:sp>
        <p:nvSpPr>
          <p:cNvPr id="13" name="矩形 114">
            <a:extLst>
              <a:ext uri="{FF2B5EF4-FFF2-40B4-BE49-F238E27FC236}">
                <a16:creationId xmlns:a16="http://schemas.microsoft.com/office/drawing/2014/main" id="{FC9CABE4-5900-DDC3-0FAE-0BB3C35338FB}"/>
              </a:ext>
            </a:extLst>
          </p:cNvPr>
          <p:cNvSpPr>
            <a:spLocks noGrp="1"/>
          </p:cNvSpPr>
          <p:nvPr/>
        </p:nvSpPr>
        <p:spPr>
          <a:xfrm>
            <a:off x="7315664" y="4292461"/>
            <a:ext cx="1348740" cy="1451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63" b="1">
                <a:solidFill>
                  <a:srgbClr val="174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lang="zh-CN" altLang="en-US" sz="700" b="1" i="0" u="none" strike="noStrike" kern="1200" cap="none" spc="0" normalizeH="0" baseline="0" noProof="0">
                <a:ln>
                  <a:noFill/>
                </a:ln>
                <a:solidFill>
                  <a:srgbClr val="174F73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第二年</a:t>
            </a:r>
            <a:r>
              <a:rPr lang="zh-CN" altLang="en-US" sz="700" b="1">
                <a:solidFill>
                  <a:srgbClr val="174F73"/>
                </a:solidFill>
                <a:latin typeface="Microsoft YaHei"/>
                <a:ea typeface="Microsoft YaHei"/>
                <a:cs typeface="Microsoft YaHei"/>
              </a:rPr>
              <a:t>起资源</a:t>
            </a:r>
            <a:r>
              <a:rPr lang="en-US" altLang="zh-CN" sz="700" b="1">
                <a:solidFill>
                  <a:srgbClr val="174F73"/>
                </a:solidFill>
                <a:latin typeface="Microsoft YaHei"/>
                <a:ea typeface="Microsoft YaHei"/>
                <a:cs typeface="Microsoft YaHei"/>
              </a:rPr>
              <a:t>+</a:t>
            </a:r>
            <a:r>
              <a:rPr lang="zh-CN" altLang="en-US" sz="700" b="1">
                <a:solidFill>
                  <a:srgbClr val="174F73"/>
                </a:solidFill>
                <a:latin typeface="Microsoft YaHei"/>
                <a:ea typeface="Microsoft YaHei"/>
                <a:cs typeface="Microsoft YaHei"/>
              </a:rPr>
              <a:t>运维费用</a:t>
            </a:r>
            <a:r>
              <a:rPr lang="en-US" altLang="zh-CN" sz="1000" b="1">
                <a:solidFill>
                  <a:srgbClr val="174F73"/>
                </a:solidFill>
                <a:latin typeface="Microsoft YaHei"/>
                <a:ea typeface="Microsoft YaHei"/>
                <a:cs typeface="Microsoft YaHei"/>
              </a:rPr>
              <a:t>61</a:t>
            </a:r>
            <a:r>
              <a:rPr lang="zh-CN" altLang="en-US" sz="700" b="1">
                <a:solidFill>
                  <a:srgbClr val="174F73"/>
                </a:solidFill>
                <a:latin typeface="Microsoft YaHei"/>
                <a:ea typeface="Microsoft YaHei"/>
                <a:cs typeface="Microsoft YaHei"/>
              </a:rPr>
              <a:t>万</a:t>
            </a:r>
            <a:r>
              <a:rPr lang="en-US" altLang="zh-CN" sz="700" b="1">
                <a:solidFill>
                  <a:srgbClr val="174F73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lang="zh-CN" altLang="en-US" sz="700" b="1">
                <a:solidFill>
                  <a:srgbClr val="174F73"/>
                </a:solidFill>
                <a:latin typeface="Microsoft YaHei"/>
                <a:ea typeface="Microsoft YaHei"/>
                <a:cs typeface="Microsoft YaHei"/>
              </a:rPr>
              <a:t>年</a:t>
            </a:r>
            <a:endParaRPr kumimoji="0" sz="700" b="1" i="0" u="none" strike="noStrike" kern="1200" cap="none" spc="0" normalizeH="0" baseline="0" noProof="0">
              <a:ln>
                <a:noFill/>
              </a:ln>
              <a:solidFill>
                <a:srgbClr val="174F73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74923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418E5-BD42-A72E-790B-89FE6B059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5EF8AE20-6DE3-54F4-B1B0-EF9B287643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sym typeface="+mn-lt"/>
              </a:rPr>
              <a:t>3. Market Solution Analysis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BE3597A-1970-1D72-D687-10A28B154BD2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>
            <a:normAutofit/>
          </a:bodyPr>
          <a:lstStyle/>
          <a:p>
            <a:r>
              <a:rPr lang="en-US" altLang="zh-CN">
                <a:latin typeface="+mj-lt"/>
                <a:sym typeface="+mn-lt"/>
              </a:rPr>
              <a:t>China RIMS Solution Proposal</a:t>
            </a:r>
            <a:endParaRPr lang="zh-CN" altLang="en-US">
              <a:latin typeface="+mj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484AD3-1606-D1FD-305D-E610A79215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0" tIns="0" rIns="68580" bIns="34290" rtlCol="0" anchor="t">
            <a:normAutofit/>
          </a:bodyPr>
          <a:lstStyle/>
          <a:p>
            <a:r>
              <a:rPr lang="en-US">
                <a:cs typeface="Calibri"/>
              </a:rPr>
              <a:t>Sep 2026</a:t>
            </a:r>
          </a:p>
        </p:txBody>
      </p:sp>
    </p:spTree>
    <p:extLst>
      <p:ext uri="{BB962C8B-B14F-4D97-AF65-F5344CB8AC3E}">
        <p14:creationId xmlns:p14="http://schemas.microsoft.com/office/powerpoint/2010/main" val="1738126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F7027-8806-CD8E-27CD-485C7F497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562E92B-32DA-65B6-71F3-00A5AB9E71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China RIMS Solution Proposal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1138651-0042-4F94-03D0-DDC1B788B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国际成熟框架 </a:t>
            </a:r>
            <a:r>
              <a:rPr lang="en-US" altLang="zh-CN"/>
              <a:t>× </a:t>
            </a:r>
            <a:r>
              <a:rPr lang="zh-CN" altLang="en-US"/>
              <a:t>中国本地适配</a:t>
            </a:r>
            <a:br>
              <a:rPr lang="zh-CN" altLang="en-US"/>
            </a:br>
            <a:endParaRPr lang="en-US"/>
          </a:p>
        </p:txBody>
      </p:sp>
      <p:sp>
        <p:nvSpPr>
          <p:cNvPr id="5" name="rec">
            <a:extLst>
              <a:ext uri="{FF2B5EF4-FFF2-40B4-BE49-F238E27FC236}">
                <a16:creationId xmlns:a16="http://schemas.microsoft.com/office/drawing/2014/main" id="{903F359D-D01B-AC9F-2EB1-E024386758C6}"/>
              </a:ext>
            </a:extLst>
          </p:cNvPr>
          <p:cNvSpPr>
            <a:spLocks noGrp="1"/>
          </p:cNvSpPr>
          <p:nvPr/>
        </p:nvSpPr>
        <p:spPr>
          <a:xfrm>
            <a:off x="442913" y="4042239"/>
            <a:ext cx="8401050" cy="753083"/>
          </a:xfrm>
          <a:prstGeom prst="rect">
            <a:avLst/>
          </a:prstGeom>
          <a:solidFill>
            <a:srgbClr val="F6FAFD"/>
          </a:solidFill>
          <a:ln w="9525">
            <a:solidFill>
              <a:srgbClr val="DCEAF5"/>
            </a:solidFill>
            <a:prstDash val="solid"/>
          </a:ln>
        </p:spPr>
        <p:txBody>
          <a:bodyPr/>
          <a:lstStyle/>
          <a:p>
            <a:pPr defTabSz="685800"/>
            <a:endParaRPr lang="zh-CN" altLang="en-US" sz="150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7" name="compare-bg">
            <a:extLst>
              <a:ext uri="{FF2B5EF4-FFF2-40B4-BE49-F238E27FC236}">
                <a16:creationId xmlns:a16="http://schemas.microsoft.com/office/drawing/2014/main" id="{E4BD2EF9-D4CF-F18C-FF50-D4251966B08F}"/>
              </a:ext>
            </a:extLst>
          </p:cNvPr>
          <p:cNvSpPr>
            <a:spLocks noGrp="1"/>
          </p:cNvSpPr>
          <p:nvPr/>
        </p:nvSpPr>
        <p:spPr>
          <a:xfrm>
            <a:off x="300038" y="1067842"/>
            <a:ext cx="8543925" cy="2357438"/>
          </a:xfrm>
          <a:prstGeom prst="rect">
            <a:avLst/>
          </a:prstGeom>
          <a:solidFill>
            <a:srgbClr val="F6FAFD"/>
          </a:solidFill>
          <a:ln w="9525">
            <a:solidFill>
              <a:srgbClr val="DCEAF5"/>
            </a:solidFill>
            <a:prstDash val="solid"/>
          </a:ln>
        </p:spPr>
        <p:txBody>
          <a:bodyPr/>
          <a:lstStyle/>
          <a:p>
            <a:pPr defTabSz="685800"/>
            <a:endParaRPr lang="zh-CN" altLang="en-US" sz="150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8" name="connector">
            <a:extLst>
              <a:ext uri="{FF2B5EF4-FFF2-40B4-BE49-F238E27FC236}">
                <a16:creationId xmlns:a16="http://schemas.microsoft.com/office/drawing/2014/main" id="{66DC9F5B-2431-856D-FFAD-89DDB3D4F7A6}"/>
              </a:ext>
            </a:extLst>
          </p:cNvPr>
          <p:cNvSpPr>
            <a:spLocks noGrp="1"/>
          </p:cNvSpPr>
          <p:nvPr/>
        </p:nvSpPr>
        <p:spPr>
          <a:xfrm>
            <a:off x="4529138" y="1453604"/>
            <a:ext cx="85725" cy="1328738"/>
          </a:xfrm>
          <a:prstGeom prst="rect">
            <a:avLst/>
          </a:prstGeom>
          <a:solidFill>
            <a:srgbClr val="C8DFF1"/>
          </a:solidFill>
          <a:ln w="0">
            <a:noFill/>
            <a:prstDash val="solid"/>
          </a:ln>
        </p:spPr>
        <p:txBody>
          <a:bodyPr/>
          <a:lstStyle/>
          <a:p>
            <a:pPr defTabSz="685800"/>
            <a:endParaRPr lang="zh-CN" altLang="en-US" sz="150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14" name="cross">
            <a:extLst>
              <a:ext uri="{FF2B5EF4-FFF2-40B4-BE49-F238E27FC236}">
                <a16:creationId xmlns:a16="http://schemas.microsoft.com/office/drawing/2014/main" id="{BF10B03C-564F-6598-8660-AC6C15A2534E}"/>
              </a:ext>
            </a:extLst>
          </p:cNvPr>
          <p:cNvSpPr>
            <a:spLocks noGrp="1"/>
          </p:cNvSpPr>
          <p:nvPr/>
        </p:nvSpPr>
        <p:spPr>
          <a:xfrm>
            <a:off x="4414838" y="1953667"/>
            <a:ext cx="314325" cy="314325"/>
          </a:xfrm>
          <a:prstGeom prst="ellipse">
            <a:avLst/>
          </a:prstGeom>
          <a:solidFill>
            <a:srgbClr val="009CDE"/>
          </a:solidFill>
          <a:ln w="0">
            <a:noFill/>
            <a:prstDash val="solid"/>
          </a:ln>
        </p:spPr>
        <p:txBody>
          <a:bodyPr/>
          <a:lstStyle/>
          <a:p>
            <a:pPr defTabSz="685800"/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17" name="cross-t">
            <a:extLst>
              <a:ext uri="{FF2B5EF4-FFF2-40B4-BE49-F238E27FC236}">
                <a16:creationId xmlns:a16="http://schemas.microsoft.com/office/drawing/2014/main" id="{BE37ED25-9658-E261-746A-F46805555552}"/>
              </a:ext>
            </a:extLst>
          </p:cNvPr>
          <p:cNvSpPr>
            <a:spLocks noGrp="1"/>
          </p:cNvSpPr>
          <p:nvPr/>
        </p:nvSpPr>
        <p:spPr>
          <a:xfrm>
            <a:off x="4414838" y="1953667"/>
            <a:ext cx="31432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 defTabSz="685800">
              <a:defRPr sz="1650" b="1">
                <a:solidFill>
                  <a:srgbClr val="FFFFFF"/>
                </a:solidFill>
              </a:defRPr>
            </a:pPr>
            <a:r>
              <a:rPr sz="1238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×</a:t>
            </a:r>
          </a:p>
        </p:txBody>
      </p:sp>
      <p:sp>
        <p:nvSpPr>
          <p:cNvPr id="18" name="card-0">
            <a:extLst>
              <a:ext uri="{FF2B5EF4-FFF2-40B4-BE49-F238E27FC236}">
                <a16:creationId xmlns:a16="http://schemas.microsoft.com/office/drawing/2014/main" id="{37D45CD4-8491-AFBE-0EE0-3CAC46D48C3D}"/>
              </a:ext>
            </a:extLst>
          </p:cNvPr>
          <p:cNvSpPr>
            <a:spLocks noGrp="1"/>
          </p:cNvSpPr>
          <p:nvPr/>
        </p:nvSpPr>
        <p:spPr>
          <a:xfrm>
            <a:off x="442913" y="1196430"/>
            <a:ext cx="3914775" cy="2085975"/>
          </a:xfrm>
          <a:prstGeom prst="rect">
            <a:avLst/>
          </a:prstGeom>
          <a:solidFill>
            <a:srgbClr val="FFFFFF"/>
          </a:solidFill>
          <a:ln w="11430">
            <a:solidFill>
              <a:srgbClr val="B9D9F3"/>
            </a:solidFill>
            <a:prstDash val="solid"/>
          </a:ln>
        </p:spPr>
        <p:txBody>
          <a:bodyPr/>
          <a:lstStyle/>
          <a:p>
            <a:pPr defTabSz="685800"/>
            <a:endParaRPr lang="zh-CN" altLang="en-US" sz="150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19" name="card-accent-0">
            <a:extLst>
              <a:ext uri="{FF2B5EF4-FFF2-40B4-BE49-F238E27FC236}">
                <a16:creationId xmlns:a16="http://schemas.microsoft.com/office/drawing/2014/main" id="{F1B7E6FF-BF01-416F-D469-640D0A8BA41D}"/>
              </a:ext>
            </a:extLst>
          </p:cNvPr>
          <p:cNvSpPr>
            <a:spLocks noGrp="1"/>
          </p:cNvSpPr>
          <p:nvPr/>
        </p:nvSpPr>
        <p:spPr>
          <a:xfrm>
            <a:off x="442913" y="1196430"/>
            <a:ext cx="57150" cy="2085975"/>
          </a:xfrm>
          <a:prstGeom prst="rect">
            <a:avLst/>
          </a:prstGeom>
          <a:solidFill>
            <a:srgbClr val="009CDE"/>
          </a:solidFill>
          <a:ln w="0">
            <a:noFill/>
            <a:prstDash val="solid"/>
          </a:ln>
        </p:spPr>
        <p:txBody>
          <a:bodyPr/>
          <a:lstStyle/>
          <a:p>
            <a:pPr defTabSz="685800"/>
            <a:endParaRPr lang="zh-CN" altLang="en-US" sz="150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0" name="tag-0">
            <a:extLst>
              <a:ext uri="{FF2B5EF4-FFF2-40B4-BE49-F238E27FC236}">
                <a16:creationId xmlns:a16="http://schemas.microsoft.com/office/drawing/2014/main" id="{4F39C692-471D-146C-7C41-DC162B427D90}"/>
              </a:ext>
            </a:extLst>
          </p:cNvPr>
          <p:cNvSpPr>
            <a:spLocks noGrp="1"/>
          </p:cNvSpPr>
          <p:nvPr/>
        </p:nvSpPr>
        <p:spPr>
          <a:xfrm>
            <a:off x="614362" y="1317873"/>
            <a:ext cx="671513" cy="171450"/>
          </a:xfrm>
          <a:prstGeom prst="roundRect">
            <a:avLst>
              <a:gd name="adj" fmla="val 50000"/>
            </a:avLst>
          </a:prstGeom>
          <a:solidFill>
            <a:srgbClr val="DDEEFF"/>
          </a:solidFill>
          <a:ln w="0">
            <a:noFill/>
            <a:prstDash val="solid"/>
          </a:ln>
        </p:spPr>
        <p:txBody>
          <a:bodyPr anchor="ctr"/>
          <a:lstStyle/>
          <a:p>
            <a:pPr defTabSz="685800"/>
            <a:endParaRPr lang="zh-CN" altLang="en-US" sz="150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1" name="tag-0t">
            <a:extLst>
              <a:ext uri="{FF2B5EF4-FFF2-40B4-BE49-F238E27FC236}">
                <a16:creationId xmlns:a16="http://schemas.microsoft.com/office/drawing/2014/main" id="{9E159864-4491-5DCC-153C-990CF2C377B3}"/>
              </a:ext>
            </a:extLst>
          </p:cNvPr>
          <p:cNvSpPr>
            <a:spLocks noGrp="1"/>
          </p:cNvSpPr>
          <p:nvPr/>
        </p:nvSpPr>
        <p:spPr>
          <a:xfrm>
            <a:off x="610742" y="1332161"/>
            <a:ext cx="671513" cy="1714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 defTabSz="685800">
              <a:defRPr sz="675" b="1">
                <a:solidFill>
                  <a:srgbClr val="0B66B8"/>
                </a:solidFill>
              </a:defRPr>
            </a:pPr>
            <a:r>
              <a:rPr sz="600" b="1">
                <a:solidFill>
                  <a:srgbClr val="0B66B8"/>
                </a:solidFill>
                <a:latin typeface="Calibri"/>
                <a:ea typeface="Calibri"/>
                <a:cs typeface="Calibri"/>
              </a:rPr>
              <a:t>FRAMEWORK</a:t>
            </a:r>
          </a:p>
        </p:txBody>
      </p:sp>
      <p:sp>
        <p:nvSpPr>
          <p:cNvPr id="24" name="card-k-0">
            <a:extLst>
              <a:ext uri="{FF2B5EF4-FFF2-40B4-BE49-F238E27FC236}">
                <a16:creationId xmlns:a16="http://schemas.microsoft.com/office/drawing/2014/main" id="{F2E026D8-0BB9-6E2C-77FC-93B0D94ADECE}"/>
              </a:ext>
            </a:extLst>
          </p:cNvPr>
          <p:cNvSpPr>
            <a:spLocks noGrp="1"/>
          </p:cNvSpPr>
          <p:nvPr/>
        </p:nvSpPr>
        <p:spPr>
          <a:xfrm>
            <a:off x="1371600" y="1296442"/>
            <a:ext cx="15716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defTabSz="685800">
              <a:defRPr sz="1350" b="1">
                <a:solidFill>
                  <a:srgbClr val="092846"/>
                </a:solidFill>
              </a:defRPr>
            </a:pPr>
            <a:r>
              <a:rPr sz="1050" b="1">
                <a:solidFill>
                  <a:srgbClr val="092846"/>
                </a:solidFill>
                <a:latin typeface="Calibri"/>
                <a:ea typeface="Calibri"/>
                <a:cs typeface="Calibri"/>
              </a:rPr>
              <a:t>国际成熟 RIMS</a:t>
            </a:r>
          </a:p>
        </p:txBody>
      </p:sp>
      <p:sp>
        <p:nvSpPr>
          <p:cNvPr id="25" name="card-title-0">
            <a:extLst>
              <a:ext uri="{FF2B5EF4-FFF2-40B4-BE49-F238E27FC236}">
                <a16:creationId xmlns:a16="http://schemas.microsoft.com/office/drawing/2014/main" id="{F9B69A2A-CB16-2998-98B0-7F9CED4BA51B}"/>
              </a:ext>
            </a:extLst>
          </p:cNvPr>
          <p:cNvSpPr>
            <a:spLocks noGrp="1"/>
          </p:cNvSpPr>
          <p:nvPr/>
        </p:nvSpPr>
        <p:spPr>
          <a:xfrm>
            <a:off x="614363" y="1517898"/>
            <a:ext cx="3571875" cy="1571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defTabSz="685800">
              <a:defRPr sz="900" b="0">
                <a:solidFill>
                  <a:srgbClr val="607181"/>
                </a:solidFill>
              </a:defRPr>
            </a:pPr>
            <a:r>
              <a:rPr sz="750" err="1">
                <a:solidFill>
                  <a:srgbClr val="607181"/>
                </a:solidFill>
                <a:latin typeface="Calibri"/>
                <a:ea typeface="Calibri"/>
                <a:cs typeface="Calibri"/>
              </a:rPr>
              <a:t>提供稳定、完整的企业级管理框架</a:t>
            </a:r>
            <a:endParaRPr sz="750">
              <a:solidFill>
                <a:srgbClr val="60718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" name="n-0-0">
            <a:extLst>
              <a:ext uri="{FF2B5EF4-FFF2-40B4-BE49-F238E27FC236}">
                <a16:creationId xmlns:a16="http://schemas.microsoft.com/office/drawing/2014/main" id="{3FD358BD-1016-E8A7-5514-CA51428617B1}"/>
              </a:ext>
            </a:extLst>
          </p:cNvPr>
          <p:cNvSpPr>
            <a:spLocks noGrp="1"/>
          </p:cNvSpPr>
          <p:nvPr/>
        </p:nvSpPr>
        <p:spPr>
          <a:xfrm>
            <a:off x="621506" y="1782217"/>
            <a:ext cx="200025" cy="200025"/>
          </a:xfrm>
          <a:prstGeom prst="ellipse">
            <a:avLst/>
          </a:prstGeom>
          <a:solidFill>
            <a:srgbClr val="009CDE"/>
          </a:solidFill>
          <a:ln w="0">
            <a:noFill/>
            <a:prstDash val="solid"/>
          </a:ln>
        </p:spPr>
        <p:txBody>
          <a:bodyPr/>
          <a:lstStyle/>
          <a:p>
            <a:pPr defTabSz="685800"/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7" name="nt-0-0">
            <a:extLst>
              <a:ext uri="{FF2B5EF4-FFF2-40B4-BE49-F238E27FC236}">
                <a16:creationId xmlns:a16="http://schemas.microsoft.com/office/drawing/2014/main" id="{EBDA9B5A-29B5-59D1-2BC9-AB597B613218}"/>
              </a:ext>
            </a:extLst>
          </p:cNvPr>
          <p:cNvSpPr>
            <a:spLocks noGrp="1"/>
          </p:cNvSpPr>
          <p:nvPr/>
        </p:nvSpPr>
        <p:spPr>
          <a:xfrm>
            <a:off x="621506" y="1782217"/>
            <a:ext cx="200025" cy="200025"/>
          </a:xfrm>
          <a:prstGeom prst="rect">
            <a:avLst/>
          </a:prstGeom>
          <a:solidFill>
            <a:srgbClr val="009CDE"/>
          </a:solidFill>
          <a:ln w="0">
            <a:noFill/>
            <a:prstDash val="solid"/>
          </a:ln>
        </p:spPr>
        <p:txBody>
          <a:bodyPr anchor="ctr"/>
          <a:lstStyle/>
          <a:p>
            <a:pPr algn="ctr" defTabSz="685800">
              <a:defRPr sz="750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8" name="it-0-0">
            <a:extLst>
              <a:ext uri="{FF2B5EF4-FFF2-40B4-BE49-F238E27FC236}">
                <a16:creationId xmlns:a16="http://schemas.microsoft.com/office/drawing/2014/main" id="{F25A2444-3FE7-2D3E-BC28-E0B76704003E}"/>
              </a:ext>
            </a:extLst>
          </p:cNvPr>
          <p:cNvSpPr>
            <a:spLocks noGrp="1"/>
          </p:cNvSpPr>
          <p:nvPr/>
        </p:nvSpPr>
        <p:spPr>
          <a:xfrm>
            <a:off x="914400" y="1760786"/>
            <a:ext cx="1464469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defTabSz="685800">
              <a:defRPr sz="975" b="1">
                <a:solidFill>
                  <a:srgbClr val="092846"/>
                </a:solidFill>
              </a:defRPr>
            </a:pPr>
            <a:r>
              <a:rPr sz="788" b="1">
                <a:solidFill>
                  <a:srgbClr val="092846"/>
                </a:solidFill>
                <a:latin typeface="Calibri"/>
                <a:ea typeface="Calibri"/>
                <a:cs typeface="Calibri"/>
              </a:rPr>
              <a:t>统一归档底座</a:t>
            </a:r>
          </a:p>
        </p:txBody>
      </p:sp>
      <p:sp>
        <p:nvSpPr>
          <p:cNvPr id="30" name="is-0-0">
            <a:extLst>
              <a:ext uri="{FF2B5EF4-FFF2-40B4-BE49-F238E27FC236}">
                <a16:creationId xmlns:a16="http://schemas.microsoft.com/office/drawing/2014/main" id="{447DD8AF-23E9-7DAA-A11A-E90C2B147119}"/>
              </a:ext>
            </a:extLst>
          </p:cNvPr>
          <p:cNvSpPr>
            <a:spLocks noGrp="1"/>
          </p:cNvSpPr>
          <p:nvPr/>
        </p:nvSpPr>
        <p:spPr>
          <a:xfrm>
            <a:off x="914400" y="1903661"/>
            <a:ext cx="3257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defTabSz="685800">
              <a:defRPr sz="750" b="0">
                <a:solidFill>
                  <a:srgbClr val="607181"/>
                </a:solidFill>
              </a:defRPr>
            </a:pPr>
            <a:r>
              <a:rPr sz="675" err="1">
                <a:solidFill>
                  <a:srgbClr val="607181"/>
                </a:solidFill>
                <a:latin typeface="Calibri"/>
                <a:ea typeface="Calibri"/>
                <a:cs typeface="Calibri"/>
              </a:rPr>
              <a:t>文件、元数据、权限、日志和报表由同一平台统一管理</a:t>
            </a:r>
            <a:r>
              <a:rPr sz="675">
                <a:solidFill>
                  <a:srgbClr val="607181"/>
                </a:solidFill>
                <a:latin typeface="Calibri"/>
                <a:ea typeface="Calibri"/>
                <a:cs typeface="Calibri"/>
              </a:rPr>
              <a:t>。</a:t>
            </a:r>
          </a:p>
        </p:txBody>
      </p:sp>
      <p:sp>
        <p:nvSpPr>
          <p:cNvPr id="31" name="n-0-1">
            <a:extLst>
              <a:ext uri="{FF2B5EF4-FFF2-40B4-BE49-F238E27FC236}">
                <a16:creationId xmlns:a16="http://schemas.microsoft.com/office/drawing/2014/main" id="{7C6A10B6-D561-B9AD-F196-2C533D7B1209}"/>
              </a:ext>
            </a:extLst>
          </p:cNvPr>
          <p:cNvSpPr>
            <a:spLocks noGrp="1"/>
          </p:cNvSpPr>
          <p:nvPr/>
        </p:nvSpPr>
        <p:spPr>
          <a:xfrm>
            <a:off x="621506" y="2132261"/>
            <a:ext cx="200025" cy="200025"/>
          </a:xfrm>
          <a:prstGeom prst="ellipse">
            <a:avLst/>
          </a:prstGeom>
          <a:solidFill>
            <a:srgbClr val="009CDE"/>
          </a:solidFill>
          <a:ln w="0">
            <a:noFill/>
            <a:prstDash val="solid"/>
          </a:ln>
        </p:spPr>
        <p:txBody>
          <a:bodyPr/>
          <a:lstStyle/>
          <a:p>
            <a:pPr defTabSz="685800"/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32" name="nt-0-1">
            <a:extLst>
              <a:ext uri="{FF2B5EF4-FFF2-40B4-BE49-F238E27FC236}">
                <a16:creationId xmlns:a16="http://schemas.microsoft.com/office/drawing/2014/main" id="{EF678617-39CE-53F0-9C5E-498C9EB696BA}"/>
              </a:ext>
            </a:extLst>
          </p:cNvPr>
          <p:cNvSpPr>
            <a:spLocks noGrp="1"/>
          </p:cNvSpPr>
          <p:nvPr/>
        </p:nvSpPr>
        <p:spPr>
          <a:xfrm>
            <a:off x="621506" y="2132261"/>
            <a:ext cx="200025" cy="200025"/>
          </a:xfrm>
          <a:prstGeom prst="rect">
            <a:avLst/>
          </a:prstGeom>
          <a:solidFill>
            <a:srgbClr val="009CDE"/>
          </a:solidFill>
          <a:ln w="0">
            <a:noFill/>
            <a:prstDash val="solid"/>
          </a:ln>
        </p:spPr>
        <p:txBody>
          <a:bodyPr anchor="ctr"/>
          <a:lstStyle/>
          <a:p>
            <a:pPr algn="ctr" defTabSz="685800">
              <a:defRPr sz="750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3" name="it-0-1">
            <a:extLst>
              <a:ext uri="{FF2B5EF4-FFF2-40B4-BE49-F238E27FC236}">
                <a16:creationId xmlns:a16="http://schemas.microsoft.com/office/drawing/2014/main" id="{43139838-1D21-3D63-5FC7-A57C9224AB56}"/>
              </a:ext>
            </a:extLst>
          </p:cNvPr>
          <p:cNvSpPr>
            <a:spLocks noGrp="1"/>
          </p:cNvSpPr>
          <p:nvPr/>
        </p:nvSpPr>
        <p:spPr>
          <a:xfrm>
            <a:off x="914400" y="2110830"/>
            <a:ext cx="1464469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defTabSz="685800">
              <a:defRPr sz="975" b="1">
                <a:solidFill>
                  <a:srgbClr val="092846"/>
                </a:solidFill>
              </a:defRPr>
            </a:pPr>
            <a:r>
              <a:rPr sz="788" b="1">
                <a:solidFill>
                  <a:srgbClr val="092846"/>
                </a:solidFill>
                <a:latin typeface="Calibri"/>
                <a:ea typeface="Calibri"/>
                <a:cs typeface="Calibri"/>
              </a:rPr>
              <a:t>完整生命周期控制</a:t>
            </a:r>
          </a:p>
        </p:txBody>
      </p:sp>
      <p:sp>
        <p:nvSpPr>
          <p:cNvPr id="34" name="is-0-1">
            <a:extLst>
              <a:ext uri="{FF2B5EF4-FFF2-40B4-BE49-F238E27FC236}">
                <a16:creationId xmlns:a16="http://schemas.microsoft.com/office/drawing/2014/main" id="{E942C898-0787-EB33-A605-14D7212741C5}"/>
              </a:ext>
            </a:extLst>
          </p:cNvPr>
          <p:cNvSpPr>
            <a:spLocks noGrp="1"/>
          </p:cNvSpPr>
          <p:nvPr/>
        </p:nvSpPr>
        <p:spPr>
          <a:xfrm>
            <a:off x="914400" y="2253705"/>
            <a:ext cx="3257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defTabSz="685800">
              <a:defRPr sz="750" b="0">
                <a:solidFill>
                  <a:srgbClr val="607181"/>
                </a:solidFill>
              </a:defRPr>
            </a:pPr>
            <a:r>
              <a:rPr sz="675">
                <a:solidFill>
                  <a:srgbClr val="607181"/>
                </a:solidFill>
                <a:latin typeface="Calibri"/>
                <a:ea typeface="Calibri"/>
                <a:cs typeface="Calibri"/>
              </a:rPr>
              <a:t>覆盖文件导入、版本管理、长期留存、到期复核和合规销毁。</a:t>
            </a:r>
          </a:p>
        </p:txBody>
      </p:sp>
      <p:sp>
        <p:nvSpPr>
          <p:cNvPr id="35" name="n-0-2">
            <a:extLst>
              <a:ext uri="{FF2B5EF4-FFF2-40B4-BE49-F238E27FC236}">
                <a16:creationId xmlns:a16="http://schemas.microsoft.com/office/drawing/2014/main" id="{99939ACB-BA0C-FDD0-8468-F0CC9C53EE6F}"/>
              </a:ext>
            </a:extLst>
          </p:cNvPr>
          <p:cNvSpPr>
            <a:spLocks noGrp="1"/>
          </p:cNvSpPr>
          <p:nvPr/>
        </p:nvSpPr>
        <p:spPr>
          <a:xfrm>
            <a:off x="621506" y="2482305"/>
            <a:ext cx="200025" cy="200025"/>
          </a:xfrm>
          <a:prstGeom prst="ellipse">
            <a:avLst/>
          </a:prstGeom>
          <a:solidFill>
            <a:srgbClr val="009CDE"/>
          </a:solidFill>
          <a:ln w="0">
            <a:noFill/>
            <a:prstDash val="solid"/>
          </a:ln>
        </p:spPr>
        <p:txBody>
          <a:bodyPr/>
          <a:lstStyle/>
          <a:p>
            <a:pPr defTabSz="685800"/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37" name="nt-0-2">
            <a:extLst>
              <a:ext uri="{FF2B5EF4-FFF2-40B4-BE49-F238E27FC236}">
                <a16:creationId xmlns:a16="http://schemas.microsoft.com/office/drawing/2014/main" id="{63C43CE5-847D-BDA2-5FEE-E34DBD4843ED}"/>
              </a:ext>
            </a:extLst>
          </p:cNvPr>
          <p:cNvSpPr>
            <a:spLocks noGrp="1"/>
          </p:cNvSpPr>
          <p:nvPr/>
        </p:nvSpPr>
        <p:spPr>
          <a:xfrm>
            <a:off x="621506" y="2482305"/>
            <a:ext cx="200025" cy="200025"/>
          </a:xfrm>
          <a:prstGeom prst="rect">
            <a:avLst/>
          </a:prstGeom>
          <a:solidFill>
            <a:srgbClr val="009CDE"/>
          </a:solidFill>
          <a:ln w="0">
            <a:noFill/>
            <a:prstDash val="solid"/>
          </a:ln>
        </p:spPr>
        <p:txBody>
          <a:bodyPr anchor="ctr"/>
          <a:lstStyle/>
          <a:p>
            <a:pPr algn="ctr" defTabSz="685800">
              <a:defRPr sz="750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8" name="it-0-2">
            <a:extLst>
              <a:ext uri="{FF2B5EF4-FFF2-40B4-BE49-F238E27FC236}">
                <a16:creationId xmlns:a16="http://schemas.microsoft.com/office/drawing/2014/main" id="{12B7C0E1-F4F1-690C-D158-50F12E25F155}"/>
              </a:ext>
            </a:extLst>
          </p:cNvPr>
          <p:cNvSpPr>
            <a:spLocks noGrp="1"/>
          </p:cNvSpPr>
          <p:nvPr/>
        </p:nvSpPr>
        <p:spPr>
          <a:xfrm>
            <a:off x="914400" y="2460873"/>
            <a:ext cx="1464469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defTabSz="685800">
              <a:defRPr sz="975" b="1">
                <a:solidFill>
                  <a:srgbClr val="092846"/>
                </a:solidFill>
              </a:defRPr>
            </a:pPr>
            <a:r>
              <a:rPr sz="788" b="1">
                <a:solidFill>
                  <a:srgbClr val="092846"/>
                </a:solidFill>
                <a:latin typeface="Calibri"/>
                <a:ea typeface="Calibri"/>
                <a:cs typeface="Calibri"/>
              </a:rPr>
              <a:t>成熟审计与取证机制</a:t>
            </a:r>
          </a:p>
        </p:txBody>
      </p:sp>
      <p:sp>
        <p:nvSpPr>
          <p:cNvPr id="39" name="is-0-2">
            <a:extLst>
              <a:ext uri="{FF2B5EF4-FFF2-40B4-BE49-F238E27FC236}">
                <a16:creationId xmlns:a16="http://schemas.microsoft.com/office/drawing/2014/main" id="{5736783B-860F-D7D1-42B3-BBC64F1A48F7}"/>
              </a:ext>
            </a:extLst>
          </p:cNvPr>
          <p:cNvSpPr>
            <a:spLocks noGrp="1"/>
          </p:cNvSpPr>
          <p:nvPr/>
        </p:nvSpPr>
        <p:spPr>
          <a:xfrm>
            <a:off x="914400" y="2603748"/>
            <a:ext cx="3257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defTabSz="685800">
              <a:defRPr sz="750" b="0">
                <a:solidFill>
                  <a:srgbClr val="607181"/>
                </a:solidFill>
              </a:defRPr>
            </a:pPr>
            <a:r>
              <a:rPr sz="675">
                <a:solidFill>
                  <a:srgbClr val="607181"/>
                </a:solidFill>
                <a:latin typeface="Calibri"/>
                <a:ea typeface="Calibri"/>
                <a:cs typeface="Calibri"/>
              </a:rPr>
              <a:t>完整记录数据来源、操作过程、版本变化和导出行为。</a:t>
            </a:r>
          </a:p>
        </p:txBody>
      </p:sp>
      <p:sp>
        <p:nvSpPr>
          <p:cNvPr id="40" name="n-0-3">
            <a:extLst>
              <a:ext uri="{FF2B5EF4-FFF2-40B4-BE49-F238E27FC236}">
                <a16:creationId xmlns:a16="http://schemas.microsoft.com/office/drawing/2014/main" id="{6906350D-6B27-F88E-4F60-083686D73729}"/>
              </a:ext>
            </a:extLst>
          </p:cNvPr>
          <p:cNvSpPr>
            <a:spLocks noGrp="1"/>
          </p:cNvSpPr>
          <p:nvPr/>
        </p:nvSpPr>
        <p:spPr>
          <a:xfrm>
            <a:off x="621506" y="2832348"/>
            <a:ext cx="200025" cy="200025"/>
          </a:xfrm>
          <a:prstGeom prst="ellipse">
            <a:avLst/>
          </a:prstGeom>
          <a:solidFill>
            <a:srgbClr val="009CDE"/>
          </a:solidFill>
          <a:ln w="0">
            <a:noFill/>
            <a:prstDash val="solid"/>
          </a:ln>
        </p:spPr>
        <p:txBody>
          <a:bodyPr/>
          <a:lstStyle/>
          <a:p>
            <a:pPr defTabSz="685800"/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42" name="nt-0-3">
            <a:extLst>
              <a:ext uri="{FF2B5EF4-FFF2-40B4-BE49-F238E27FC236}">
                <a16:creationId xmlns:a16="http://schemas.microsoft.com/office/drawing/2014/main" id="{48C48632-E6B6-B83D-C1A4-06361F7ADA17}"/>
              </a:ext>
            </a:extLst>
          </p:cNvPr>
          <p:cNvSpPr>
            <a:spLocks noGrp="1"/>
          </p:cNvSpPr>
          <p:nvPr/>
        </p:nvSpPr>
        <p:spPr>
          <a:xfrm>
            <a:off x="621506" y="2832348"/>
            <a:ext cx="200025" cy="200025"/>
          </a:xfrm>
          <a:prstGeom prst="rect">
            <a:avLst/>
          </a:prstGeom>
          <a:solidFill>
            <a:srgbClr val="009CDE"/>
          </a:solidFill>
          <a:ln w="0">
            <a:noFill/>
            <a:prstDash val="solid"/>
          </a:ln>
        </p:spPr>
        <p:txBody>
          <a:bodyPr anchor="ctr"/>
          <a:lstStyle/>
          <a:p>
            <a:pPr algn="ctr" defTabSz="685800">
              <a:defRPr sz="750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45" name="it-0-3">
            <a:extLst>
              <a:ext uri="{FF2B5EF4-FFF2-40B4-BE49-F238E27FC236}">
                <a16:creationId xmlns:a16="http://schemas.microsoft.com/office/drawing/2014/main" id="{0E74DA09-D8A8-3923-0C2B-2D083D3C2B41}"/>
              </a:ext>
            </a:extLst>
          </p:cNvPr>
          <p:cNvSpPr>
            <a:spLocks noGrp="1"/>
          </p:cNvSpPr>
          <p:nvPr/>
        </p:nvSpPr>
        <p:spPr>
          <a:xfrm>
            <a:off x="914400" y="2810917"/>
            <a:ext cx="1464469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defTabSz="685800">
              <a:defRPr sz="975" b="1">
                <a:solidFill>
                  <a:srgbClr val="092846"/>
                </a:solidFill>
              </a:defRPr>
            </a:pPr>
            <a:r>
              <a:rPr sz="788" b="1" err="1">
                <a:solidFill>
                  <a:srgbClr val="092846"/>
                </a:solidFill>
                <a:latin typeface="Calibri"/>
                <a:ea typeface="Calibri"/>
                <a:cs typeface="Calibri"/>
              </a:rPr>
              <a:t>标准化数据治理</a:t>
            </a:r>
            <a:endParaRPr sz="788" b="1">
              <a:solidFill>
                <a:srgbClr val="092846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" name="is-0-3">
            <a:extLst>
              <a:ext uri="{FF2B5EF4-FFF2-40B4-BE49-F238E27FC236}">
                <a16:creationId xmlns:a16="http://schemas.microsoft.com/office/drawing/2014/main" id="{34FEEB5E-D293-6F8E-7C79-C5DB58922247}"/>
              </a:ext>
            </a:extLst>
          </p:cNvPr>
          <p:cNvSpPr>
            <a:spLocks noGrp="1"/>
          </p:cNvSpPr>
          <p:nvPr/>
        </p:nvSpPr>
        <p:spPr>
          <a:xfrm>
            <a:off x="914400" y="2953792"/>
            <a:ext cx="3257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defTabSz="685800">
              <a:defRPr sz="750" b="0">
                <a:solidFill>
                  <a:srgbClr val="607181"/>
                </a:solidFill>
              </a:defRPr>
            </a:pPr>
            <a:r>
              <a:rPr sz="675" err="1">
                <a:solidFill>
                  <a:srgbClr val="607181"/>
                </a:solidFill>
                <a:latin typeface="Calibri"/>
                <a:ea typeface="Calibri"/>
                <a:cs typeface="Calibri"/>
              </a:rPr>
              <a:t>统一字段、元数据模型和数据质量规则，保证历史记录可查、可读、可追溯</a:t>
            </a:r>
            <a:r>
              <a:rPr sz="675">
                <a:solidFill>
                  <a:srgbClr val="607181"/>
                </a:solidFill>
                <a:latin typeface="Calibri"/>
                <a:ea typeface="Calibri"/>
                <a:cs typeface="Calibri"/>
              </a:rPr>
              <a:t>。</a:t>
            </a:r>
          </a:p>
        </p:txBody>
      </p:sp>
      <p:sp>
        <p:nvSpPr>
          <p:cNvPr id="47" name="card-1">
            <a:extLst>
              <a:ext uri="{FF2B5EF4-FFF2-40B4-BE49-F238E27FC236}">
                <a16:creationId xmlns:a16="http://schemas.microsoft.com/office/drawing/2014/main" id="{A88E85A4-6701-BBCB-755E-DFED88C79BBB}"/>
              </a:ext>
            </a:extLst>
          </p:cNvPr>
          <p:cNvSpPr>
            <a:spLocks noGrp="1"/>
          </p:cNvSpPr>
          <p:nvPr/>
        </p:nvSpPr>
        <p:spPr>
          <a:xfrm>
            <a:off x="4786313" y="1196430"/>
            <a:ext cx="3914775" cy="2085975"/>
          </a:xfrm>
          <a:prstGeom prst="rect">
            <a:avLst/>
          </a:prstGeom>
          <a:solidFill>
            <a:srgbClr val="FFFFFF"/>
          </a:solidFill>
          <a:ln w="11430">
            <a:solidFill>
              <a:srgbClr val="B9D9F3"/>
            </a:solidFill>
            <a:prstDash val="solid"/>
          </a:ln>
        </p:spPr>
        <p:txBody>
          <a:bodyPr/>
          <a:lstStyle/>
          <a:p>
            <a:pPr defTabSz="685800"/>
            <a:endParaRPr lang="zh-CN" altLang="en-US" sz="150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48" name="card-accent-1">
            <a:extLst>
              <a:ext uri="{FF2B5EF4-FFF2-40B4-BE49-F238E27FC236}">
                <a16:creationId xmlns:a16="http://schemas.microsoft.com/office/drawing/2014/main" id="{2B7A0385-C766-FE0C-A7A8-EA215516D88A}"/>
              </a:ext>
            </a:extLst>
          </p:cNvPr>
          <p:cNvSpPr>
            <a:spLocks noGrp="1"/>
          </p:cNvSpPr>
          <p:nvPr/>
        </p:nvSpPr>
        <p:spPr>
          <a:xfrm>
            <a:off x="4786313" y="1196430"/>
            <a:ext cx="57150" cy="2085975"/>
          </a:xfrm>
          <a:prstGeom prst="rect">
            <a:avLst/>
          </a:prstGeom>
          <a:solidFill>
            <a:srgbClr val="009CDE"/>
          </a:solidFill>
          <a:ln w="0">
            <a:noFill/>
            <a:prstDash val="solid"/>
          </a:ln>
        </p:spPr>
        <p:txBody>
          <a:bodyPr/>
          <a:lstStyle/>
          <a:p>
            <a:pPr defTabSz="685800"/>
            <a:endParaRPr lang="zh-CN" altLang="en-US" sz="150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49" name="tag-1">
            <a:extLst>
              <a:ext uri="{FF2B5EF4-FFF2-40B4-BE49-F238E27FC236}">
                <a16:creationId xmlns:a16="http://schemas.microsoft.com/office/drawing/2014/main" id="{32A0A2ED-4890-C9C8-8C07-32A05143E339}"/>
              </a:ext>
            </a:extLst>
          </p:cNvPr>
          <p:cNvSpPr>
            <a:spLocks noGrp="1"/>
          </p:cNvSpPr>
          <p:nvPr/>
        </p:nvSpPr>
        <p:spPr>
          <a:xfrm>
            <a:off x="4957762" y="1317873"/>
            <a:ext cx="671513" cy="171450"/>
          </a:xfrm>
          <a:prstGeom prst="roundRect">
            <a:avLst>
              <a:gd name="adj" fmla="val 50000"/>
            </a:avLst>
          </a:prstGeom>
          <a:solidFill>
            <a:srgbClr val="DDEEFF"/>
          </a:solidFill>
          <a:ln w="0">
            <a:noFill/>
            <a:prstDash val="solid"/>
          </a:ln>
        </p:spPr>
        <p:txBody>
          <a:bodyPr/>
          <a:lstStyle/>
          <a:p>
            <a:pPr defTabSz="685800"/>
            <a:endParaRPr lang="zh-CN" altLang="en-US" sz="150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53" name="tag-1t">
            <a:extLst>
              <a:ext uri="{FF2B5EF4-FFF2-40B4-BE49-F238E27FC236}">
                <a16:creationId xmlns:a16="http://schemas.microsoft.com/office/drawing/2014/main" id="{E4C4A6ED-5D9E-50A8-B5C3-3426B802604F}"/>
              </a:ext>
            </a:extLst>
          </p:cNvPr>
          <p:cNvSpPr>
            <a:spLocks noGrp="1"/>
          </p:cNvSpPr>
          <p:nvPr/>
        </p:nvSpPr>
        <p:spPr>
          <a:xfrm>
            <a:off x="4986337" y="1332161"/>
            <a:ext cx="614363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 defTabSz="685800">
              <a:defRPr sz="675" b="1">
                <a:solidFill>
                  <a:srgbClr val="287FC2"/>
                </a:solidFill>
              </a:defRPr>
            </a:pPr>
            <a:r>
              <a:rPr sz="600" b="1">
                <a:solidFill>
                  <a:srgbClr val="287FC2"/>
                </a:solidFill>
                <a:latin typeface="Calibri"/>
                <a:ea typeface="Calibri"/>
                <a:cs typeface="Calibri"/>
              </a:rPr>
              <a:t>LOCAL FIT</a:t>
            </a:r>
          </a:p>
        </p:txBody>
      </p:sp>
      <p:sp>
        <p:nvSpPr>
          <p:cNvPr id="54" name="card-k-1">
            <a:extLst>
              <a:ext uri="{FF2B5EF4-FFF2-40B4-BE49-F238E27FC236}">
                <a16:creationId xmlns:a16="http://schemas.microsoft.com/office/drawing/2014/main" id="{1CA71A4D-94E1-22D0-3FC0-9CAB3C9CF933}"/>
              </a:ext>
            </a:extLst>
          </p:cNvPr>
          <p:cNvSpPr>
            <a:spLocks noGrp="1"/>
          </p:cNvSpPr>
          <p:nvPr/>
        </p:nvSpPr>
        <p:spPr>
          <a:xfrm>
            <a:off x="5715000" y="1296442"/>
            <a:ext cx="15716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defTabSz="685800">
              <a:defRPr sz="1350" b="1">
                <a:solidFill>
                  <a:srgbClr val="092846"/>
                </a:solidFill>
              </a:defRPr>
            </a:pPr>
            <a:r>
              <a:rPr sz="1050" b="1" err="1">
                <a:solidFill>
                  <a:srgbClr val="092846"/>
                </a:solidFill>
                <a:latin typeface="Calibri"/>
                <a:ea typeface="Calibri"/>
                <a:cs typeface="Calibri"/>
              </a:rPr>
              <a:t>中国本地方案</a:t>
            </a:r>
            <a:endParaRPr sz="1050" b="1">
              <a:solidFill>
                <a:srgbClr val="092846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5" name="card-title-1">
            <a:extLst>
              <a:ext uri="{FF2B5EF4-FFF2-40B4-BE49-F238E27FC236}">
                <a16:creationId xmlns:a16="http://schemas.microsoft.com/office/drawing/2014/main" id="{09B6CF95-CA47-9983-48A4-16F1FD6D6303}"/>
              </a:ext>
            </a:extLst>
          </p:cNvPr>
          <p:cNvSpPr>
            <a:spLocks noGrp="1"/>
          </p:cNvSpPr>
          <p:nvPr/>
        </p:nvSpPr>
        <p:spPr>
          <a:xfrm>
            <a:off x="4957763" y="1517898"/>
            <a:ext cx="3571875" cy="1571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defTabSz="685800">
              <a:defRPr sz="900" b="0">
                <a:solidFill>
                  <a:srgbClr val="607181"/>
                </a:solidFill>
              </a:defRPr>
            </a:pPr>
            <a:r>
              <a:rPr sz="750" err="1">
                <a:solidFill>
                  <a:srgbClr val="607181"/>
                </a:solidFill>
                <a:latin typeface="Calibri"/>
                <a:ea typeface="Calibri"/>
                <a:cs typeface="Calibri"/>
              </a:rPr>
              <a:t>提升中国环境下的实际落地能力</a:t>
            </a:r>
            <a:endParaRPr sz="750">
              <a:solidFill>
                <a:srgbClr val="60718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6" name="n-1-0">
            <a:extLst>
              <a:ext uri="{FF2B5EF4-FFF2-40B4-BE49-F238E27FC236}">
                <a16:creationId xmlns:a16="http://schemas.microsoft.com/office/drawing/2014/main" id="{2F84B5A9-54E8-BDD8-9A70-DAACD4DBA62D}"/>
              </a:ext>
            </a:extLst>
          </p:cNvPr>
          <p:cNvSpPr>
            <a:spLocks noGrp="1"/>
          </p:cNvSpPr>
          <p:nvPr/>
        </p:nvSpPr>
        <p:spPr>
          <a:xfrm>
            <a:off x="4964906" y="1782217"/>
            <a:ext cx="200025" cy="200025"/>
          </a:xfrm>
          <a:prstGeom prst="ellipse">
            <a:avLst/>
          </a:prstGeom>
          <a:solidFill>
            <a:srgbClr val="009CDE"/>
          </a:solidFill>
          <a:ln w="0">
            <a:noFill/>
            <a:prstDash val="solid"/>
          </a:ln>
        </p:spPr>
        <p:txBody>
          <a:bodyPr/>
          <a:lstStyle/>
          <a:p>
            <a:pPr defTabSz="685800"/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59" name="nt-1-0">
            <a:extLst>
              <a:ext uri="{FF2B5EF4-FFF2-40B4-BE49-F238E27FC236}">
                <a16:creationId xmlns:a16="http://schemas.microsoft.com/office/drawing/2014/main" id="{726AED3E-6F86-F6A2-1C8D-D22D0B827C15}"/>
              </a:ext>
            </a:extLst>
          </p:cNvPr>
          <p:cNvSpPr>
            <a:spLocks noGrp="1"/>
          </p:cNvSpPr>
          <p:nvPr/>
        </p:nvSpPr>
        <p:spPr>
          <a:xfrm>
            <a:off x="4964906" y="1782217"/>
            <a:ext cx="200025" cy="200025"/>
          </a:xfrm>
          <a:prstGeom prst="rect">
            <a:avLst/>
          </a:prstGeom>
          <a:solidFill>
            <a:srgbClr val="009CDE"/>
          </a:solidFill>
          <a:ln w="0">
            <a:noFill/>
            <a:prstDash val="solid"/>
          </a:ln>
        </p:spPr>
        <p:txBody>
          <a:bodyPr anchor="ctr"/>
          <a:lstStyle/>
          <a:p>
            <a:pPr algn="ctr" defTabSz="685800">
              <a:defRPr sz="750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60" name="it-1-0">
            <a:extLst>
              <a:ext uri="{FF2B5EF4-FFF2-40B4-BE49-F238E27FC236}">
                <a16:creationId xmlns:a16="http://schemas.microsoft.com/office/drawing/2014/main" id="{05E8E51D-B03A-EF1F-ED10-7A132A79BA3C}"/>
              </a:ext>
            </a:extLst>
          </p:cNvPr>
          <p:cNvSpPr>
            <a:spLocks noGrp="1"/>
          </p:cNvSpPr>
          <p:nvPr/>
        </p:nvSpPr>
        <p:spPr>
          <a:xfrm>
            <a:off x="5257800" y="1760786"/>
            <a:ext cx="1464469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defTabSz="685800">
              <a:defRPr sz="975" b="1">
                <a:solidFill>
                  <a:srgbClr val="092846"/>
                </a:solidFill>
              </a:defRPr>
            </a:pPr>
            <a:r>
              <a:rPr sz="788" b="1">
                <a:solidFill>
                  <a:srgbClr val="092846"/>
                </a:solidFill>
                <a:latin typeface="Calibri"/>
                <a:ea typeface="Calibri"/>
                <a:cs typeface="Calibri"/>
              </a:rPr>
              <a:t>历史数据与中文环境适配</a:t>
            </a:r>
          </a:p>
        </p:txBody>
      </p:sp>
      <p:sp>
        <p:nvSpPr>
          <p:cNvPr id="61" name="is-1-0">
            <a:extLst>
              <a:ext uri="{FF2B5EF4-FFF2-40B4-BE49-F238E27FC236}">
                <a16:creationId xmlns:a16="http://schemas.microsoft.com/office/drawing/2014/main" id="{300282EC-AC95-0A4B-68BB-335E527B7BA8}"/>
              </a:ext>
            </a:extLst>
          </p:cNvPr>
          <p:cNvSpPr>
            <a:spLocks noGrp="1"/>
          </p:cNvSpPr>
          <p:nvPr/>
        </p:nvSpPr>
        <p:spPr>
          <a:xfrm>
            <a:off x="5257800" y="1903661"/>
            <a:ext cx="3257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defTabSz="685800">
              <a:defRPr sz="750" b="0">
                <a:solidFill>
                  <a:srgbClr val="607181"/>
                </a:solidFill>
              </a:defRPr>
            </a:pPr>
            <a:r>
              <a:rPr sz="675">
                <a:solidFill>
                  <a:srgbClr val="607181"/>
                </a:solidFill>
                <a:latin typeface="Calibri"/>
                <a:ea typeface="Calibri"/>
                <a:cs typeface="Calibri"/>
              </a:rPr>
              <a:t>更容易处理 Blob 目录、中文文件名、旧系统字段和历史 Excel 台账。</a:t>
            </a:r>
          </a:p>
        </p:txBody>
      </p:sp>
      <p:sp>
        <p:nvSpPr>
          <p:cNvPr id="62" name="n-1-1">
            <a:extLst>
              <a:ext uri="{FF2B5EF4-FFF2-40B4-BE49-F238E27FC236}">
                <a16:creationId xmlns:a16="http://schemas.microsoft.com/office/drawing/2014/main" id="{73D99D5E-9D20-1CE4-5F9A-EEEF1B30CB65}"/>
              </a:ext>
            </a:extLst>
          </p:cNvPr>
          <p:cNvSpPr>
            <a:spLocks noGrp="1"/>
          </p:cNvSpPr>
          <p:nvPr/>
        </p:nvSpPr>
        <p:spPr>
          <a:xfrm>
            <a:off x="4964906" y="2132261"/>
            <a:ext cx="200025" cy="200025"/>
          </a:xfrm>
          <a:prstGeom prst="ellipse">
            <a:avLst/>
          </a:prstGeom>
          <a:solidFill>
            <a:srgbClr val="009CDE"/>
          </a:solidFill>
          <a:ln w="0">
            <a:noFill/>
            <a:prstDash val="solid"/>
          </a:ln>
        </p:spPr>
        <p:txBody>
          <a:bodyPr/>
          <a:lstStyle/>
          <a:p>
            <a:pPr defTabSz="685800"/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66" name="nt-1-1">
            <a:extLst>
              <a:ext uri="{FF2B5EF4-FFF2-40B4-BE49-F238E27FC236}">
                <a16:creationId xmlns:a16="http://schemas.microsoft.com/office/drawing/2014/main" id="{5205330E-E516-C2CC-8E24-080D57B3C8B0}"/>
              </a:ext>
            </a:extLst>
          </p:cNvPr>
          <p:cNvSpPr>
            <a:spLocks noGrp="1"/>
          </p:cNvSpPr>
          <p:nvPr/>
        </p:nvSpPr>
        <p:spPr>
          <a:xfrm>
            <a:off x="4964906" y="2132261"/>
            <a:ext cx="200025" cy="200025"/>
          </a:xfrm>
          <a:prstGeom prst="rect">
            <a:avLst/>
          </a:prstGeom>
          <a:solidFill>
            <a:srgbClr val="009CDE"/>
          </a:solidFill>
          <a:ln w="0">
            <a:noFill/>
            <a:prstDash val="solid"/>
          </a:ln>
        </p:spPr>
        <p:txBody>
          <a:bodyPr anchor="ctr"/>
          <a:lstStyle/>
          <a:p>
            <a:pPr algn="ctr" defTabSz="685800">
              <a:defRPr sz="750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68" name="it-1-1">
            <a:extLst>
              <a:ext uri="{FF2B5EF4-FFF2-40B4-BE49-F238E27FC236}">
                <a16:creationId xmlns:a16="http://schemas.microsoft.com/office/drawing/2014/main" id="{3B49E8EA-5D9D-A086-FF96-B8C23665DB1D}"/>
              </a:ext>
            </a:extLst>
          </p:cNvPr>
          <p:cNvSpPr>
            <a:spLocks noGrp="1"/>
          </p:cNvSpPr>
          <p:nvPr/>
        </p:nvSpPr>
        <p:spPr>
          <a:xfrm>
            <a:off x="5257800" y="2110830"/>
            <a:ext cx="1464469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defTabSz="685800">
              <a:defRPr sz="975" b="1">
                <a:solidFill>
                  <a:srgbClr val="092846"/>
                </a:solidFill>
              </a:defRPr>
            </a:pPr>
            <a:r>
              <a:rPr sz="788" b="1">
                <a:solidFill>
                  <a:srgbClr val="092846"/>
                </a:solidFill>
                <a:latin typeface="Calibri"/>
                <a:ea typeface="Calibri"/>
                <a:cs typeface="Calibri"/>
              </a:rPr>
              <a:t>中国飞检场景适配</a:t>
            </a:r>
          </a:p>
        </p:txBody>
      </p:sp>
      <p:sp>
        <p:nvSpPr>
          <p:cNvPr id="78" name="is-1-1">
            <a:extLst>
              <a:ext uri="{FF2B5EF4-FFF2-40B4-BE49-F238E27FC236}">
                <a16:creationId xmlns:a16="http://schemas.microsoft.com/office/drawing/2014/main" id="{13FF8DF4-60DD-9807-138F-BF4E7D5A3E6B}"/>
              </a:ext>
            </a:extLst>
          </p:cNvPr>
          <p:cNvSpPr>
            <a:spLocks noGrp="1"/>
          </p:cNvSpPr>
          <p:nvPr/>
        </p:nvSpPr>
        <p:spPr>
          <a:xfrm>
            <a:off x="5257800" y="2253705"/>
            <a:ext cx="3257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defTabSz="685800">
              <a:defRPr sz="750" b="0">
                <a:solidFill>
                  <a:srgbClr val="607181"/>
                </a:solidFill>
              </a:defRPr>
            </a:pPr>
            <a:r>
              <a:rPr sz="675" err="1">
                <a:solidFill>
                  <a:srgbClr val="607181"/>
                </a:solidFill>
                <a:latin typeface="Calibri"/>
                <a:ea typeface="Calibri"/>
                <a:cs typeface="Calibri"/>
              </a:rPr>
              <a:t>可按</a:t>
            </a:r>
            <a:r>
              <a:rPr sz="675">
                <a:solidFill>
                  <a:srgbClr val="60718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675" err="1">
                <a:solidFill>
                  <a:srgbClr val="607181"/>
                </a:solidFill>
                <a:latin typeface="Calibri"/>
                <a:ea typeface="Calibri"/>
                <a:cs typeface="Calibri"/>
              </a:rPr>
              <a:t>case、产品、批次或退役系统快速汇总文件、版本和操作日志</a:t>
            </a:r>
            <a:r>
              <a:rPr sz="675">
                <a:solidFill>
                  <a:srgbClr val="607181"/>
                </a:solidFill>
                <a:latin typeface="Calibri"/>
                <a:ea typeface="Calibri"/>
                <a:cs typeface="Calibri"/>
              </a:rPr>
              <a:t>。</a:t>
            </a:r>
          </a:p>
        </p:txBody>
      </p:sp>
      <p:sp>
        <p:nvSpPr>
          <p:cNvPr id="79" name="n-1-2">
            <a:extLst>
              <a:ext uri="{FF2B5EF4-FFF2-40B4-BE49-F238E27FC236}">
                <a16:creationId xmlns:a16="http://schemas.microsoft.com/office/drawing/2014/main" id="{33B14CDA-64E6-6DB7-2496-084D1616D17E}"/>
              </a:ext>
            </a:extLst>
          </p:cNvPr>
          <p:cNvSpPr>
            <a:spLocks noGrp="1"/>
          </p:cNvSpPr>
          <p:nvPr/>
        </p:nvSpPr>
        <p:spPr>
          <a:xfrm>
            <a:off x="4964906" y="2482305"/>
            <a:ext cx="200025" cy="200025"/>
          </a:xfrm>
          <a:prstGeom prst="ellipse">
            <a:avLst/>
          </a:prstGeom>
          <a:solidFill>
            <a:srgbClr val="009CDE"/>
          </a:solidFill>
          <a:ln w="0">
            <a:noFill/>
            <a:prstDash val="solid"/>
          </a:ln>
        </p:spPr>
        <p:txBody>
          <a:bodyPr/>
          <a:lstStyle/>
          <a:p>
            <a:pPr defTabSz="685800"/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80" name="nt-1-2">
            <a:extLst>
              <a:ext uri="{FF2B5EF4-FFF2-40B4-BE49-F238E27FC236}">
                <a16:creationId xmlns:a16="http://schemas.microsoft.com/office/drawing/2014/main" id="{35384234-01F9-63D5-39D1-BC2F948D1789}"/>
              </a:ext>
            </a:extLst>
          </p:cNvPr>
          <p:cNvSpPr>
            <a:spLocks noGrp="1"/>
          </p:cNvSpPr>
          <p:nvPr/>
        </p:nvSpPr>
        <p:spPr>
          <a:xfrm>
            <a:off x="4964906" y="2482305"/>
            <a:ext cx="200025" cy="200025"/>
          </a:xfrm>
          <a:prstGeom prst="rect">
            <a:avLst/>
          </a:prstGeom>
          <a:solidFill>
            <a:srgbClr val="009CDE"/>
          </a:solidFill>
          <a:ln w="0">
            <a:noFill/>
            <a:prstDash val="solid"/>
          </a:ln>
        </p:spPr>
        <p:txBody>
          <a:bodyPr anchor="ctr"/>
          <a:lstStyle/>
          <a:p>
            <a:pPr algn="ctr" defTabSz="685800">
              <a:defRPr sz="750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81" name="it-1-2">
            <a:extLst>
              <a:ext uri="{FF2B5EF4-FFF2-40B4-BE49-F238E27FC236}">
                <a16:creationId xmlns:a16="http://schemas.microsoft.com/office/drawing/2014/main" id="{EF0D60FE-AB38-8B20-0706-39B22883608F}"/>
              </a:ext>
            </a:extLst>
          </p:cNvPr>
          <p:cNvSpPr>
            <a:spLocks noGrp="1"/>
          </p:cNvSpPr>
          <p:nvPr/>
        </p:nvSpPr>
        <p:spPr>
          <a:xfrm>
            <a:off x="5257800" y="2460873"/>
            <a:ext cx="1464469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defTabSz="685800">
              <a:defRPr sz="975" b="1">
                <a:solidFill>
                  <a:srgbClr val="092846"/>
                </a:solidFill>
              </a:defRPr>
            </a:pPr>
            <a:r>
              <a:rPr sz="788" b="1">
                <a:solidFill>
                  <a:srgbClr val="092846"/>
                </a:solidFill>
                <a:latin typeface="Calibri"/>
                <a:ea typeface="Calibri"/>
                <a:cs typeface="Calibri"/>
              </a:rPr>
              <a:t>本地部署与实施支持</a:t>
            </a:r>
          </a:p>
        </p:txBody>
      </p:sp>
      <p:sp>
        <p:nvSpPr>
          <p:cNvPr id="82" name="is-1-2">
            <a:extLst>
              <a:ext uri="{FF2B5EF4-FFF2-40B4-BE49-F238E27FC236}">
                <a16:creationId xmlns:a16="http://schemas.microsoft.com/office/drawing/2014/main" id="{E341DCDC-2A7A-183B-03A4-85550991BD23}"/>
              </a:ext>
            </a:extLst>
          </p:cNvPr>
          <p:cNvSpPr>
            <a:spLocks noGrp="1"/>
          </p:cNvSpPr>
          <p:nvPr/>
        </p:nvSpPr>
        <p:spPr>
          <a:xfrm>
            <a:off x="5257800" y="2603748"/>
            <a:ext cx="3257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defTabSz="685800">
              <a:defRPr sz="750" b="0">
                <a:solidFill>
                  <a:srgbClr val="607181"/>
                </a:solidFill>
              </a:defRPr>
            </a:pPr>
            <a:r>
              <a:rPr sz="675">
                <a:solidFill>
                  <a:srgbClr val="607181"/>
                </a:solidFill>
                <a:latin typeface="Calibri"/>
                <a:ea typeface="Calibri"/>
                <a:cs typeface="Calibri"/>
              </a:rPr>
              <a:t>便于中国境内部署，并可现场配合数据迁移、验证和旧系统退役。</a:t>
            </a:r>
          </a:p>
        </p:txBody>
      </p:sp>
      <p:sp>
        <p:nvSpPr>
          <p:cNvPr id="83" name="n-1-3">
            <a:extLst>
              <a:ext uri="{FF2B5EF4-FFF2-40B4-BE49-F238E27FC236}">
                <a16:creationId xmlns:a16="http://schemas.microsoft.com/office/drawing/2014/main" id="{F34A265F-0A10-DAFF-EEF5-16620EEA2BE2}"/>
              </a:ext>
            </a:extLst>
          </p:cNvPr>
          <p:cNvSpPr>
            <a:spLocks noGrp="1"/>
          </p:cNvSpPr>
          <p:nvPr/>
        </p:nvSpPr>
        <p:spPr>
          <a:xfrm>
            <a:off x="4964906" y="2832348"/>
            <a:ext cx="200025" cy="200025"/>
          </a:xfrm>
          <a:prstGeom prst="ellipse">
            <a:avLst/>
          </a:prstGeom>
          <a:solidFill>
            <a:srgbClr val="009CDE"/>
          </a:solidFill>
          <a:ln w="0">
            <a:noFill/>
            <a:prstDash val="solid"/>
          </a:ln>
        </p:spPr>
        <p:txBody>
          <a:bodyPr/>
          <a:lstStyle/>
          <a:p>
            <a:pPr defTabSz="685800"/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84" name="nt-1-3">
            <a:extLst>
              <a:ext uri="{FF2B5EF4-FFF2-40B4-BE49-F238E27FC236}">
                <a16:creationId xmlns:a16="http://schemas.microsoft.com/office/drawing/2014/main" id="{7BD6BC9A-E56D-BC61-5B59-B8F655646013}"/>
              </a:ext>
            </a:extLst>
          </p:cNvPr>
          <p:cNvSpPr>
            <a:spLocks noGrp="1"/>
          </p:cNvSpPr>
          <p:nvPr/>
        </p:nvSpPr>
        <p:spPr>
          <a:xfrm>
            <a:off x="4964906" y="2832348"/>
            <a:ext cx="200025" cy="200025"/>
          </a:xfrm>
          <a:prstGeom prst="rect">
            <a:avLst/>
          </a:prstGeom>
          <a:solidFill>
            <a:srgbClr val="009CDE"/>
          </a:solidFill>
          <a:ln w="0">
            <a:noFill/>
            <a:prstDash val="solid"/>
          </a:ln>
        </p:spPr>
        <p:txBody>
          <a:bodyPr anchor="ctr"/>
          <a:lstStyle/>
          <a:p>
            <a:pPr algn="ctr" defTabSz="685800">
              <a:defRPr sz="750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85" name="it-1-3">
            <a:extLst>
              <a:ext uri="{FF2B5EF4-FFF2-40B4-BE49-F238E27FC236}">
                <a16:creationId xmlns:a16="http://schemas.microsoft.com/office/drawing/2014/main" id="{3485960A-B85A-890D-5FF5-BF7D35CA15F8}"/>
              </a:ext>
            </a:extLst>
          </p:cNvPr>
          <p:cNvSpPr>
            <a:spLocks noGrp="1"/>
          </p:cNvSpPr>
          <p:nvPr/>
        </p:nvSpPr>
        <p:spPr>
          <a:xfrm>
            <a:off x="5257800" y="2810917"/>
            <a:ext cx="1464469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defTabSz="685800">
              <a:defRPr sz="975" b="1">
                <a:solidFill>
                  <a:srgbClr val="092846"/>
                </a:solidFill>
              </a:defRPr>
            </a:pPr>
            <a:r>
              <a:rPr sz="788" b="1">
                <a:solidFill>
                  <a:srgbClr val="092846"/>
                </a:solidFill>
                <a:latin typeface="Calibri"/>
                <a:ea typeface="Calibri"/>
                <a:cs typeface="Calibri"/>
              </a:rPr>
              <a:t>本地合规流程适配</a:t>
            </a:r>
          </a:p>
        </p:txBody>
      </p:sp>
      <p:sp>
        <p:nvSpPr>
          <p:cNvPr id="86" name="is-1-3">
            <a:extLst>
              <a:ext uri="{FF2B5EF4-FFF2-40B4-BE49-F238E27FC236}">
                <a16:creationId xmlns:a16="http://schemas.microsoft.com/office/drawing/2014/main" id="{FFB77329-29ED-675A-6519-B1855C903FEB}"/>
              </a:ext>
            </a:extLst>
          </p:cNvPr>
          <p:cNvSpPr>
            <a:spLocks noGrp="1"/>
          </p:cNvSpPr>
          <p:nvPr/>
        </p:nvSpPr>
        <p:spPr>
          <a:xfrm>
            <a:off x="5257800" y="2953792"/>
            <a:ext cx="3257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defTabSz="685800">
              <a:defRPr sz="750" b="0">
                <a:solidFill>
                  <a:srgbClr val="607181"/>
                </a:solidFill>
              </a:defRPr>
            </a:pPr>
            <a:r>
              <a:rPr sz="675">
                <a:solidFill>
                  <a:srgbClr val="607181"/>
                </a:solidFill>
                <a:latin typeface="Calibri"/>
                <a:ea typeface="Calibri"/>
                <a:cs typeface="Calibri"/>
              </a:rPr>
              <a:t>更易落实个人信息识别、脱敏审批、跨境传输控制和全过程留痕。</a:t>
            </a:r>
          </a:p>
        </p:txBody>
      </p:sp>
      <p:sp>
        <p:nvSpPr>
          <p:cNvPr id="87" name="rec">
            <a:extLst>
              <a:ext uri="{FF2B5EF4-FFF2-40B4-BE49-F238E27FC236}">
                <a16:creationId xmlns:a16="http://schemas.microsoft.com/office/drawing/2014/main" id="{019FEE24-3C83-B573-3AEE-D0C00D64D573}"/>
              </a:ext>
            </a:extLst>
          </p:cNvPr>
          <p:cNvSpPr>
            <a:spLocks noGrp="1"/>
          </p:cNvSpPr>
          <p:nvPr/>
        </p:nvSpPr>
        <p:spPr>
          <a:xfrm>
            <a:off x="442913" y="3509341"/>
            <a:ext cx="8401050" cy="442913"/>
          </a:xfrm>
          <a:prstGeom prst="rect">
            <a:avLst/>
          </a:prstGeom>
          <a:solidFill>
            <a:srgbClr val="F6FAFD"/>
          </a:solidFill>
          <a:ln w="9525">
            <a:solidFill>
              <a:srgbClr val="DCEAF5"/>
            </a:solidFill>
            <a:prstDash val="solid"/>
          </a:ln>
        </p:spPr>
        <p:txBody>
          <a:bodyPr/>
          <a:lstStyle/>
          <a:p>
            <a:pPr defTabSz="685800"/>
            <a:endParaRPr lang="zh-CN" altLang="en-US" sz="150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88" name="rec-accent">
            <a:extLst>
              <a:ext uri="{FF2B5EF4-FFF2-40B4-BE49-F238E27FC236}">
                <a16:creationId xmlns:a16="http://schemas.microsoft.com/office/drawing/2014/main" id="{EFA6BB25-F250-CC86-FF0F-5415D12AE6E6}"/>
              </a:ext>
            </a:extLst>
          </p:cNvPr>
          <p:cNvSpPr>
            <a:spLocks noGrp="1"/>
          </p:cNvSpPr>
          <p:nvPr/>
        </p:nvSpPr>
        <p:spPr>
          <a:xfrm>
            <a:off x="442913" y="3493392"/>
            <a:ext cx="57150" cy="467841"/>
          </a:xfrm>
          <a:prstGeom prst="rect">
            <a:avLst/>
          </a:prstGeom>
          <a:solidFill>
            <a:schemeClr val="accent3">
              <a:lumMod val="75000"/>
            </a:schemeClr>
          </a:solidFill>
          <a:ln w="0">
            <a:noFill/>
            <a:prstDash val="solid"/>
          </a:ln>
        </p:spPr>
        <p:txBody>
          <a:bodyPr/>
          <a:lstStyle/>
          <a:p>
            <a:pPr defTabSz="685800"/>
            <a:endParaRPr lang="zh-CN" altLang="en-US" sz="150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89" name="rec-label">
            <a:extLst>
              <a:ext uri="{FF2B5EF4-FFF2-40B4-BE49-F238E27FC236}">
                <a16:creationId xmlns:a16="http://schemas.microsoft.com/office/drawing/2014/main" id="{BBD7A399-B0DE-8811-4483-04034F1867BE}"/>
              </a:ext>
            </a:extLst>
          </p:cNvPr>
          <p:cNvSpPr>
            <a:spLocks noGrp="1"/>
          </p:cNvSpPr>
          <p:nvPr/>
        </p:nvSpPr>
        <p:spPr>
          <a:xfrm>
            <a:off x="628650" y="3573635"/>
            <a:ext cx="2500313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defTabSz="685800">
              <a:defRPr sz="975" b="1">
                <a:solidFill>
                  <a:srgbClr val="092846"/>
                </a:solidFill>
              </a:defRPr>
            </a:pPr>
            <a:r>
              <a:rPr sz="825" b="1" err="1">
                <a:solidFill>
                  <a:srgbClr val="092846"/>
                </a:solidFill>
                <a:latin typeface="Calibri"/>
                <a:ea typeface="Calibri"/>
                <a:cs typeface="Calibri"/>
              </a:rPr>
              <a:t>雅培</a:t>
            </a:r>
            <a:r>
              <a:rPr sz="825" b="1">
                <a:solidFill>
                  <a:srgbClr val="092846"/>
                </a:solidFill>
                <a:latin typeface="Calibri"/>
                <a:ea typeface="Calibri"/>
                <a:cs typeface="Calibri"/>
              </a:rPr>
              <a:t> China RIMS </a:t>
            </a:r>
            <a:r>
              <a:rPr sz="825" b="1" err="1">
                <a:solidFill>
                  <a:srgbClr val="092846"/>
                </a:solidFill>
                <a:latin typeface="Calibri"/>
                <a:ea typeface="Calibri"/>
                <a:cs typeface="Calibri"/>
              </a:rPr>
              <a:t>的最佳借鉴路径</a:t>
            </a:r>
            <a:endParaRPr sz="825" b="1">
              <a:solidFill>
                <a:srgbClr val="092846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" name="rec-copy">
            <a:extLst>
              <a:ext uri="{FF2B5EF4-FFF2-40B4-BE49-F238E27FC236}">
                <a16:creationId xmlns:a16="http://schemas.microsoft.com/office/drawing/2014/main" id="{471B251F-87E1-E960-E6BA-2568CC422869}"/>
              </a:ext>
            </a:extLst>
          </p:cNvPr>
          <p:cNvSpPr>
            <a:spLocks noGrp="1"/>
          </p:cNvSpPr>
          <p:nvPr/>
        </p:nvSpPr>
        <p:spPr>
          <a:xfrm>
            <a:off x="628650" y="3739603"/>
            <a:ext cx="7929563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defTabSz="685800">
              <a:defRPr sz="900" b="0">
                <a:solidFill>
                  <a:srgbClr val="092846"/>
                </a:solidFill>
              </a:defRPr>
            </a:pPr>
            <a:r>
              <a:rPr sz="750" err="1">
                <a:solidFill>
                  <a:srgbClr val="092846"/>
                </a:solidFill>
                <a:latin typeface="Calibri"/>
                <a:ea typeface="Calibri"/>
                <a:cs typeface="Calibri"/>
              </a:rPr>
              <a:t>以国际成熟产品搭建统一归档</a:t>
            </a:r>
            <a:r>
              <a:rPr sz="750">
                <a:solidFill>
                  <a:srgbClr val="092846"/>
                </a:solidFill>
                <a:latin typeface="Calibri"/>
                <a:ea typeface="Calibri"/>
                <a:cs typeface="Calibri"/>
              </a:rPr>
              <a:t>、</a:t>
            </a:r>
            <a:r>
              <a:rPr lang="zh-CN" altLang="en-US" sz="750">
                <a:solidFill>
                  <a:srgbClr val="092846"/>
                </a:solidFill>
                <a:latin typeface="Calibri"/>
                <a:ea typeface="Calibri"/>
                <a:cs typeface="Calibri"/>
              </a:rPr>
              <a:t>数据治理和审计框架</a:t>
            </a:r>
            <a:r>
              <a:rPr sz="750">
                <a:solidFill>
                  <a:srgbClr val="092846"/>
                </a:solidFill>
                <a:latin typeface="Calibri"/>
                <a:ea typeface="Calibri"/>
                <a:cs typeface="Calibri"/>
              </a:rPr>
              <a:t>，</a:t>
            </a:r>
            <a:r>
              <a:rPr sz="750" err="1">
                <a:solidFill>
                  <a:srgbClr val="092846"/>
                </a:solidFill>
                <a:latin typeface="Calibri"/>
                <a:ea typeface="Calibri"/>
                <a:cs typeface="Calibri"/>
              </a:rPr>
              <a:t>以中国本地方案补足数据接入、飞检取证、跨境处理和现场实施能力</a:t>
            </a:r>
            <a:r>
              <a:rPr sz="750">
                <a:solidFill>
                  <a:srgbClr val="092846"/>
                </a:solidFill>
                <a:latin typeface="Calibri"/>
                <a:ea typeface="Calibri"/>
                <a:cs typeface="Calibri"/>
              </a:rPr>
              <a:t>。</a:t>
            </a:r>
          </a:p>
        </p:txBody>
      </p:sp>
      <p:sp>
        <p:nvSpPr>
          <p:cNvPr id="91" name="map-title">
            <a:extLst>
              <a:ext uri="{FF2B5EF4-FFF2-40B4-BE49-F238E27FC236}">
                <a16:creationId xmlns:a16="http://schemas.microsoft.com/office/drawing/2014/main" id="{853F675F-EC56-17AE-43C7-108017586FAD}"/>
              </a:ext>
            </a:extLst>
          </p:cNvPr>
          <p:cNvSpPr>
            <a:spLocks noGrp="1"/>
          </p:cNvSpPr>
          <p:nvPr/>
        </p:nvSpPr>
        <p:spPr>
          <a:xfrm>
            <a:off x="651078" y="4086258"/>
            <a:ext cx="2286000" cy="16430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defTabSz="685800">
              <a:defRPr sz="1125" b="1">
                <a:solidFill>
                  <a:srgbClr val="092846"/>
                </a:solidFill>
              </a:defRPr>
            </a:pPr>
            <a:r>
              <a:rPr sz="900" b="1" err="1">
                <a:solidFill>
                  <a:srgbClr val="092846"/>
                </a:solidFill>
                <a:latin typeface="Calibri"/>
                <a:ea typeface="Calibri"/>
                <a:cs typeface="Calibri"/>
              </a:rPr>
              <a:t>与雅培核心需求的对应关系</a:t>
            </a:r>
            <a:endParaRPr sz="900" b="1">
              <a:solidFill>
                <a:srgbClr val="092846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2" name="need-0">
            <a:extLst>
              <a:ext uri="{FF2B5EF4-FFF2-40B4-BE49-F238E27FC236}">
                <a16:creationId xmlns:a16="http://schemas.microsoft.com/office/drawing/2014/main" id="{49CAF8FC-196B-9DD5-7D4E-7FCC5EB3070C}"/>
              </a:ext>
            </a:extLst>
          </p:cNvPr>
          <p:cNvSpPr>
            <a:spLocks noGrp="1"/>
          </p:cNvSpPr>
          <p:nvPr/>
        </p:nvSpPr>
        <p:spPr>
          <a:xfrm>
            <a:off x="712054" y="4291105"/>
            <a:ext cx="1621631" cy="435769"/>
          </a:xfrm>
          <a:prstGeom prst="rect">
            <a:avLst/>
          </a:prstGeom>
          <a:solidFill>
            <a:srgbClr val="FFFFFF"/>
          </a:solidFill>
          <a:ln w="9525">
            <a:solidFill>
              <a:srgbClr val="B9D9F3"/>
            </a:solidFill>
            <a:prstDash val="solid"/>
          </a:ln>
        </p:spPr>
        <p:txBody>
          <a:bodyPr/>
          <a:lstStyle/>
          <a:p>
            <a:pPr defTabSz="685800"/>
            <a:endParaRPr lang="zh-CN" altLang="en-US" sz="150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93" name="need-t-0">
            <a:extLst>
              <a:ext uri="{FF2B5EF4-FFF2-40B4-BE49-F238E27FC236}">
                <a16:creationId xmlns:a16="http://schemas.microsoft.com/office/drawing/2014/main" id="{5403F79F-0AED-73C2-A41D-D35ADB3B4568}"/>
              </a:ext>
            </a:extLst>
          </p:cNvPr>
          <p:cNvSpPr>
            <a:spLocks noGrp="1"/>
          </p:cNvSpPr>
          <p:nvPr/>
        </p:nvSpPr>
        <p:spPr>
          <a:xfrm>
            <a:off x="783491" y="4333967"/>
            <a:ext cx="1407319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 defTabSz="685800">
              <a:defRPr sz="900" b="1">
                <a:solidFill>
                  <a:srgbClr val="092846"/>
                </a:solidFill>
              </a:defRPr>
            </a:pPr>
            <a:r>
              <a:rPr sz="750" b="1">
                <a:solidFill>
                  <a:srgbClr val="092846"/>
                </a:solidFill>
                <a:latin typeface="Calibri"/>
                <a:ea typeface="Calibri"/>
                <a:cs typeface="Calibri"/>
              </a:rPr>
              <a:t>退役系统安全下线</a:t>
            </a:r>
          </a:p>
        </p:txBody>
      </p:sp>
      <p:sp>
        <p:nvSpPr>
          <p:cNvPr id="94" name="need-s-0">
            <a:extLst>
              <a:ext uri="{FF2B5EF4-FFF2-40B4-BE49-F238E27FC236}">
                <a16:creationId xmlns:a16="http://schemas.microsoft.com/office/drawing/2014/main" id="{B8943D7C-AFEE-0915-E623-886A25E38B6C}"/>
              </a:ext>
            </a:extLst>
          </p:cNvPr>
          <p:cNvSpPr>
            <a:spLocks noGrp="1"/>
          </p:cNvSpPr>
          <p:nvPr/>
        </p:nvSpPr>
        <p:spPr>
          <a:xfrm>
            <a:off x="783491" y="4491130"/>
            <a:ext cx="1550194" cy="178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 defTabSz="685800">
              <a:defRPr sz="675" b="0">
                <a:solidFill>
                  <a:srgbClr val="607181"/>
                </a:solidFill>
              </a:defRPr>
            </a:pPr>
            <a:r>
              <a:rPr sz="600" err="1">
                <a:solidFill>
                  <a:srgbClr val="607181"/>
                </a:solidFill>
                <a:latin typeface="Calibri"/>
                <a:ea typeface="Calibri"/>
                <a:cs typeface="Calibri"/>
              </a:rPr>
              <a:t>历史数据迁移</a:t>
            </a:r>
            <a:r>
              <a:rPr sz="600">
                <a:solidFill>
                  <a:srgbClr val="607181"/>
                </a:solidFill>
                <a:latin typeface="Calibri"/>
                <a:ea typeface="Calibri"/>
                <a:cs typeface="Calibri"/>
              </a:rPr>
              <a:t> · </a:t>
            </a:r>
            <a:r>
              <a:rPr sz="600" err="1">
                <a:solidFill>
                  <a:srgbClr val="607181"/>
                </a:solidFill>
                <a:latin typeface="Calibri"/>
                <a:ea typeface="Calibri"/>
                <a:cs typeface="Calibri"/>
              </a:rPr>
              <a:t>完整性验证</a:t>
            </a:r>
            <a:r>
              <a:rPr sz="600">
                <a:solidFill>
                  <a:srgbClr val="607181"/>
                </a:solidFill>
                <a:latin typeface="Calibri"/>
                <a:ea typeface="Calibri"/>
                <a:cs typeface="Calibri"/>
              </a:rPr>
              <a:t> · </a:t>
            </a:r>
            <a:r>
              <a:rPr sz="600" err="1">
                <a:solidFill>
                  <a:srgbClr val="607181"/>
                </a:solidFill>
                <a:latin typeface="Calibri"/>
                <a:ea typeface="Calibri"/>
                <a:cs typeface="Calibri"/>
              </a:rPr>
              <a:t>长期可读取</a:t>
            </a:r>
            <a:endParaRPr sz="600">
              <a:solidFill>
                <a:srgbClr val="60718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" name="need-1">
            <a:extLst>
              <a:ext uri="{FF2B5EF4-FFF2-40B4-BE49-F238E27FC236}">
                <a16:creationId xmlns:a16="http://schemas.microsoft.com/office/drawing/2014/main" id="{C3DB5CB9-BB7F-69C9-5588-478706364294}"/>
              </a:ext>
            </a:extLst>
          </p:cNvPr>
          <p:cNvSpPr>
            <a:spLocks noGrp="1"/>
          </p:cNvSpPr>
          <p:nvPr/>
        </p:nvSpPr>
        <p:spPr>
          <a:xfrm>
            <a:off x="2682233" y="4291105"/>
            <a:ext cx="1550194" cy="435769"/>
          </a:xfrm>
          <a:prstGeom prst="rect">
            <a:avLst/>
          </a:prstGeom>
          <a:solidFill>
            <a:srgbClr val="FFFFFF"/>
          </a:solidFill>
          <a:ln w="9525">
            <a:solidFill>
              <a:srgbClr val="B9D9F3"/>
            </a:solidFill>
            <a:prstDash val="solid"/>
          </a:ln>
        </p:spPr>
        <p:txBody>
          <a:bodyPr/>
          <a:lstStyle/>
          <a:p>
            <a:pPr defTabSz="685800"/>
            <a:endParaRPr lang="zh-CN" altLang="en-US" sz="150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96" name="need-t-1">
            <a:extLst>
              <a:ext uri="{FF2B5EF4-FFF2-40B4-BE49-F238E27FC236}">
                <a16:creationId xmlns:a16="http://schemas.microsoft.com/office/drawing/2014/main" id="{C948C2CB-75C3-9844-9B68-820A9B65C55A}"/>
              </a:ext>
            </a:extLst>
          </p:cNvPr>
          <p:cNvSpPr>
            <a:spLocks noGrp="1"/>
          </p:cNvSpPr>
          <p:nvPr/>
        </p:nvSpPr>
        <p:spPr>
          <a:xfrm>
            <a:off x="2753670" y="4333967"/>
            <a:ext cx="1407319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 defTabSz="685800">
              <a:defRPr sz="900" b="1">
                <a:solidFill>
                  <a:srgbClr val="092846"/>
                </a:solidFill>
              </a:defRPr>
            </a:pPr>
            <a:r>
              <a:rPr sz="750" b="1">
                <a:solidFill>
                  <a:srgbClr val="092846"/>
                </a:solidFill>
                <a:latin typeface="Calibri"/>
                <a:ea typeface="Calibri"/>
                <a:cs typeface="Calibri"/>
              </a:rPr>
              <a:t>历史文件统一归档</a:t>
            </a:r>
          </a:p>
        </p:txBody>
      </p:sp>
      <p:sp>
        <p:nvSpPr>
          <p:cNvPr id="97" name="need-s-1">
            <a:extLst>
              <a:ext uri="{FF2B5EF4-FFF2-40B4-BE49-F238E27FC236}">
                <a16:creationId xmlns:a16="http://schemas.microsoft.com/office/drawing/2014/main" id="{7E59E278-BD40-F440-D346-90AD7FEBD11C}"/>
              </a:ext>
            </a:extLst>
          </p:cNvPr>
          <p:cNvSpPr>
            <a:spLocks noGrp="1"/>
          </p:cNvSpPr>
          <p:nvPr/>
        </p:nvSpPr>
        <p:spPr>
          <a:xfrm>
            <a:off x="2753670" y="4491130"/>
            <a:ext cx="1407319" cy="178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 defTabSz="685800">
              <a:defRPr sz="675" b="0">
                <a:solidFill>
                  <a:srgbClr val="607181"/>
                </a:solidFill>
              </a:defRPr>
            </a:pPr>
            <a:r>
              <a:rPr sz="600">
                <a:solidFill>
                  <a:srgbClr val="607181"/>
                </a:solidFill>
                <a:latin typeface="Calibri"/>
                <a:ea typeface="Calibri"/>
                <a:cs typeface="Calibri"/>
              </a:rPr>
              <a:t>标准元数据 · 版本控制 · 留存与销毁</a:t>
            </a:r>
          </a:p>
        </p:txBody>
      </p:sp>
      <p:sp>
        <p:nvSpPr>
          <p:cNvPr id="98" name="need-2">
            <a:extLst>
              <a:ext uri="{FF2B5EF4-FFF2-40B4-BE49-F238E27FC236}">
                <a16:creationId xmlns:a16="http://schemas.microsoft.com/office/drawing/2014/main" id="{DE0F3AD2-3D26-3C91-222A-7EA0E2DB0DDE}"/>
              </a:ext>
            </a:extLst>
          </p:cNvPr>
          <p:cNvSpPr>
            <a:spLocks noGrp="1"/>
          </p:cNvSpPr>
          <p:nvPr/>
        </p:nvSpPr>
        <p:spPr>
          <a:xfrm>
            <a:off x="4652412" y="4291105"/>
            <a:ext cx="1550194" cy="435769"/>
          </a:xfrm>
          <a:prstGeom prst="rect">
            <a:avLst/>
          </a:prstGeom>
          <a:solidFill>
            <a:srgbClr val="FFFFFF"/>
          </a:solidFill>
          <a:ln w="9525">
            <a:solidFill>
              <a:srgbClr val="B9D9F3"/>
            </a:solidFill>
            <a:prstDash val="solid"/>
          </a:ln>
        </p:spPr>
        <p:txBody>
          <a:bodyPr/>
          <a:lstStyle/>
          <a:p>
            <a:pPr defTabSz="685800"/>
            <a:endParaRPr lang="zh-CN" altLang="en-US" sz="150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99" name="need-t-2">
            <a:extLst>
              <a:ext uri="{FF2B5EF4-FFF2-40B4-BE49-F238E27FC236}">
                <a16:creationId xmlns:a16="http://schemas.microsoft.com/office/drawing/2014/main" id="{A3BA1144-3FAB-4265-6F3C-569ED633318B}"/>
              </a:ext>
            </a:extLst>
          </p:cNvPr>
          <p:cNvSpPr>
            <a:spLocks noGrp="1"/>
          </p:cNvSpPr>
          <p:nvPr/>
        </p:nvSpPr>
        <p:spPr>
          <a:xfrm>
            <a:off x="4723850" y="4333967"/>
            <a:ext cx="1407319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 defTabSz="685800">
              <a:defRPr sz="900" b="1">
                <a:solidFill>
                  <a:srgbClr val="092846"/>
                </a:solidFill>
              </a:defRPr>
            </a:pPr>
            <a:r>
              <a:rPr sz="750" b="1">
                <a:solidFill>
                  <a:srgbClr val="092846"/>
                </a:solidFill>
                <a:latin typeface="Calibri"/>
                <a:ea typeface="Calibri"/>
                <a:cs typeface="Calibri"/>
              </a:rPr>
              <a:t>快速检索与飞检取证</a:t>
            </a:r>
          </a:p>
        </p:txBody>
      </p:sp>
      <p:sp>
        <p:nvSpPr>
          <p:cNvPr id="100" name="need-s-2">
            <a:extLst>
              <a:ext uri="{FF2B5EF4-FFF2-40B4-BE49-F238E27FC236}">
                <a16:creationId xmlns:a16="http://schemas.microsoft.com/office/drawing/2014/main" id="{858F6DAE-0973-0331-59DC-E6516425091E}"/>
              </a:ext>
            </a:extLst>
          </p:cNvPr>
          <p:cNvSpPr>
            <a:spLocks noGrp="1"/>
          </p:cNvSpPr>
          <p:nvPr/>
        </p:nvSpPr>
        <p:spPr>
          <a:xfrm>
            <a:off x="4723850" y="4491130"/>
            <a:ext cx="1407319" cy="178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 defTabSz="685800">
              <a:defRPr sz="675" b="0">
                <a:solidFill>
                  <a:srgbClr val="607181"/>
                </a:solidFill>
              </a:defRPr>
            </a:pPr>
            <a:r>
              <a:rPr sz="600">
                <a:solidFill>
                  <a:srgbClr val="607181"/>
                </a:solidFill>
                <a:latin typeface="Calibri"/>
                <a:ea typeface="Calibri"/>
                <a:cs typeface="Calibri"/>
              </a:rPr>
              <a:t>多条件检索 · 日志汇总 · 证据包生成</a:t>
            </a:r>
          </a:p>
        </p:txBody>
      </p:sp>
      <p:sp>
        <p:nvSpPr>
          <p:cNvPr id="101" name="need-3">
            <a:extLst>
              <a:ext uri="{FF2B5EF4-FFF2-40B4-BE49-F238E27FC236}">
                <a16:creationId xmlns:a16="http://schemas.microsoft.com/office/drawing/2014/main" id="{A8EB1C43-1E2F-8CB9-BCD7-E9EFB4339E3C}"/>
              </a:ext>
            </a:extLst>
          </p:cNvPr>
          <p:cNvSpPr>
            <a:spLocks noGrp="1"/>
          </p:cNvSpPr>
          <p:nvPr/>
        </p:nvSpPr>
        <p:spPr>
          <a:xfrm>
            <a:off x="6622592" y="4291105"/>
            <a:ext cx="1606344" cy="435769"/>
          </a:xfrm>
          <a:prstGeom prst="rect">
            <a:avLst/>
          </a:prstGeom>
          <a:solidFill>
            <a:srgbClr val="FFFFFF"/>
          </a:solidFill>
          <a:ln w="9525">
            <a:solidFill>
              <a:srgbClr val="B9D9F3"/>
            </a:solidFill>
            <a:prstDash val="solid"/>
          </a:ln>
        </p:spPr>
        <p:txBody>
          <a:bodyPr/>
          <a:lstStyle/>
          <a:p>
            <a:pPr defTabSz="685800"/>
            <a:endParaRPr lang="zh-CN" altLang="en-US" sz="150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102" name="need-t-3">
            <a:extLst>
              <a:ext uri="{FF2B5EF4-FFF2-40B4-BE49-F238E27FC236}">
                <a16:creationId xmlns:a16="http://schemas.microsoft.com/office/drawing/2014/main" id="{84913420-E3AD-EA97-1599-391778354D9A}"/>
              </a:ext>
            </a:extLst>
          </p:cNvPr>
          <p:cNvSpPr>
            <a:spLocks noGrp="1"/>
          </p:cNvSpPr>
          <p:nvPr/>
        </p:nvSpPr>
        <p:spPr>
          <a:xfrm>
            <a:off x="6694029" y="4333967"/>
            <a:ext cx="1407319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 defTabSz="685800">
              <a:defRPr sz="900" b="1">
                <a:solidFill>
                  <a:srgbClr val="092846"/>
                </a:solidFill>
              </a:defRPr>
            </a:pPr>
            <a:r>
              <a:rPr sz="750" b="1">
                <a:solidFill>
                  <a:srgbClr val="092846"/>
                </a:solidFill>
                <a:latin typeface="Calibri"/>
                <a:ea typeface="Calibri"/>
                <a:cs typeface="Calibri"/>
              </a:rPr>
              <a:t>中国数据本地留存</a:t>
            </a:r>
          </a:p>
        </p:txBody>
      </p:sp>
      <p:sp>
        <p:nvSpPr>
          <p:cNvPr id="103" name="need-s-3">
            <a:extLst>
              <a:ext uri="{FF2B5EF4-FFF2-40B4-BE49-F238E27FC236}">
                <a16:creationId xmlns:a16="http://schemas.microsoft.com/office/drawing/2014/main" id="{1B8F1699-11AF-5F55-902B-635B68FCC7D3}"/>
              </a:ext>
            </a:extLst>
          </p:cNvPr>
          <p:cNvSpPr>
            <a:spLocks noGrp="1"/>
          </p:cNvSpPr>
          <p:nvPr/>
        </p:nvSpPr>
        <p:spPr>
          <a:xfrm>
            <a:off x="6667664" y="4491130"/>
            <a:ext cx="1549859" cy="178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 defTabSz="685800">
              <a:defRPr sz="675" b="0">
                <a:solidFill>
                  <a:srgbClr val="607181"/>
                </a:solidFill>
              </a:defRPr>
            </a:pPr>
            <a:r>
              <a:rPr sz="600" err="1">
                <a:solidFill>
                  <a:srgbClr val="607181"/>
                </a:solidFill>
                <a:latin typeface="Calibri"/>
                <a:ea typeface="Calibri"/>
                <a:cs typeface="Calibri"/>
              </a:rPr>
              <a:t>境内部署</a:t>
            </a:r>
            <a:r>
              <a:rPr sz="600">
                <a:solidFill>
                  <a:srgbClr val="607181"/>
                </a:solidFill>
                <a:latin typeface="Calibri"/>
                <a:ea typeface="Calibri"/>
                <a:cs typeface="Calibri"/>
              </a:rPr>
              <a:t> · </a:t>
            </a:r>
            <a:r>
              <a:rPr sz="600" err="1">
                <a:solidFill>
                  <a:srgbClr val="607181"/>
                </a:solidFill>
                <a:latin typeface="Calibri"/>
                <a:ea typeface="Calibri"/>
                <a:cs typeface="Calibri"/>
              </a:rPr>
              <a:t>权限隔离</a:t>
            </a:r>
            <a:r>
              <a:rPr sz="600">
                <a:solidFill>
                  <a:srgbClr val="607181"/>
                </a:solidFill>
                <a:latin typeface="Calibri"/>
                <a:ea typeface="Calibri"/>
                <a:cs typeface="Calibri"/>
              </a:rPr>
              <a:t> · </a:t>
            </a:r>
            <a:r>
              <a:rPr sz="600" err="1">
                <a:solidFill>
                  <a:srgbClr val="607181"/>
                </a:solidFill>
                <a:latin typeface="Calibri"/>
                <a:ea typeface="Calibri"/>
                <a:cs typeface="Calibri"/>
              </a:rPr>
              <a:t>原始数据完整保存</a:t>
            </a:r>
            <a:endParaRPr sz="600">
              <a:solidFill>
                <a:srgbClr val="60718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4" name="rec-accent">
            <a:extLst>
              <a:ext uri="{FF2B5EF4-FFF2-40B4-BE49-F238E27FC236}">
                <a16:creationId xmlns:a16="http://schemas.microsoft.com/office/drawing/2014/main" id="{6F31572B-F572-ABF7-398E-1C945A4D53D7}"/>
              </a:ext>
            </a:extLst>
          </p:cNvPr>
          <p:cNvSpPr>
            <a:spLocks noGrp="1"/>
          </p:cNvSpPr>
          <p:nvPr/>
        </p:nvSpPr>
        <p:spPr>
          <a:xfrm>
            <a:off x="442913" y="4040238"/>
            <a:ext cx="57150" cy="763059"/>
          </a:xfrm>
          <a:prstGeom prst="rect">
            <a:avLst/>
          </a:prstGeom>
          <a:solidFill>
            <a:schemeClr val="accent3">
              <a:lumMod val="75000"/>
            </a:schemeClr>
          </a:solidFill>
          <a:ln w="0">
            <a:noFill/>
            <a:prstDash val="solid"/>
          </a:ln>
        </p:spPr>
        <p:txBody>
          <a:bodyPr/>
          <a:lstStyle/>
          <a:p>
            <a:pPr defTabSz="685800"/>
            <a:endParaRPr lang="zh-CN" altLang="en-US" sz="1500">
              <a:solidFill>
                <a:srgbClr val="000000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628678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6C58A-6155-1645-2BFF-9BA6A09A9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6C29DE0-4DAE-FABC-FAF7-BC3D226490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China RIMS Solution Proposal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308352F-8F35-58E0-523F-566F4F517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OpenText InfoArchive </a:t>
            </a:r>
            <a:r>
              <a:rPr lang="zh-CN" altLang="en-US"/>
              <a:t>的核心能力</a:t>
            </a:r>
          </a:p>
        </p:txBody>
      </p:sp>
      <p:sp>
        <p:nvSpPr>
          <p:cNvPr id="3" name="left-header">
            <a:extLst>
              <a:ext uri="{FF2B5EF4-FFF2-40B4-BE49-F238E27FC236}">
                <a16:creationId xmlns:a16="http://schemas.microsoft.com/office/drawing/2014/main" id="{55B534EC-D401-37D2-BC19-F695A51ABBF6}"/>
              </a:ext>
            </a:extLst>
          </p:cNvPr>
          <p:cNvSpPr>
            <a:spLocks noGrp="1"/>
          </p:cNvSpPr>
          <p:nvPr/>
        </p:nvSpPr>
        <p:spPr>
          <a:xfrm>
            <a:off x="428625" y="1250156"/>
            <a:ext cx="5072063" cy="242888"/>
          </a:xfrm>
          <a:prstGeom prst="rect">
            <a:avLst/>
          </a:prstGeom>
          <a:solidFill>
            <a:srgbClr val="EEF5FB"/>
          </a:solidFill>
          <a:ln w="0">
            <a:solidFill>
              <a:srgbClr val="EEF5FB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right-header">
            <a:extLst>
              <a:ext uri="{FF2B5EF4-FFF2-40B4-BE49-F238E27FC236}">
                <a16:creationId xmlns:a16="http://schemas.microsoft.com/office/drawing/2014/main" id="{9C9C91E1-A103-9E83-931C-1D0A1C024A53}"/>
              </a:ext>
            </a:extLst>
          </p:cNvPr>
          <p:cNvSpPr>
            <a:spLocks noGrp="1"/>
          </p:cNvSpPr>
          <p:nvPr/>
        </p:nvSpPr>
        <p:spPr>
          <a:xfrm>
            <a:off x="6215062" y="1250156"/>
            <a:ext cx="2500313" cy="242888"/>
          </a:xfrm>
          <a:prstGeom prst="rect">
            <a:avLst/>
          </a:prstGeom>
          <a:solidFill>
            <a:srgbClr val="009CDE"/>
          </a:solidFill>
          <a:ln w="0">
            <a:noFill/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left-header-text">
            <a:extLst>
              <a:ext uri="{FF2B5EF4-FFF2-40B4-BE49-F238E27FC236}">
                <a16:creationId xmlns:a16="http://schemas.microsoft.com/office/drawing/2014/main" id="{E745A33E-B3D4-B362-523E-2BA98148FEFB}"/>
              </a:ext>
            </a:extLst>
          </p:cNvPr>
          <p:cNvSpPr>
            <a:spLocks noGrp="1"/>
          </p:cNvSpPr>
          <p:nvPr/>
        </p:nvSpPr>
        <p:spPr>
          <a:xfrm>
            <a:off x="542925" y="1250156"/>
            <a:ext cx="4786313" cy="242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defTabSz="685800">
              <a:lnSpc>
                <a:spcPct val="108000"/>
              </a:lnSpc>
              <a:defRPr sz="1275" b="1">
                <a:solidFill>
                  <a:srgbClr val="12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6" b="1">
                <a:solidFill>
                  <a:srgbClr val="123B63"/>
                </a:solidFill>
                <a:latin typeface="Microsoft YaHei"/>
                <a:ea typeface="Microsoft YaHei"/>
                <a:cs typeface="Microsoft YaHei"/>
              </a:rPr>
              <a:t>OpenText InfoArchive  |  产品能力</a:t>
            </a:r>
          </a:p>
        </p:txBody>
      </p:sp>
      <p:sp>
        <p:nvSpPr>
          <p:cNvPr id="10" name="right-header-text">
            <a:extLst>
              <a:ext uri="{FF2B5EF4-FFF2-40B4-BE49-F238E27FC236}">
                <a16:creationId xmlns:a16="http://schemas.microsoft.com/office/drawing/2014/main" id="{76662DAC-802A-53FF-A091-FED153D086BA}"/>
              </a:ext>
            </a:extLst>
          </p:cNvPr>
          <p:cNvSpPr>
            <a:spLocks noGrp="1"/>
          </p:cNvSpPr>
          <p:nvPr/>
        </p:nvSpPr>
        <p:spPr>
          <a:xfrm>
            <a:off x="6343650" y="1250156"/>
            <a:ext cx="2214563" cy="242888"/>
          </a:xfrm>
          <a:prstGeom prst="rect">
            <a:avLst/>
          </a:prstGeom>
          <a:solidFill>
            <a:srgbClr val="009CDE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defTabSz="685800">
              <a:lnSpc>
                <a:spcPct val="108000"/>
              </a:lnSpc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6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China RIMS  |  功能模块</a:t>
            </a:r>
          </a:p>
        </p:txBody>
      </p:sp>
      <p:sp>
        <p:nvSpPr>
          <p:cNvPr id="11" name="capability-01">
            <a:extLst>
              <a:ext uri="{FF2B5EF4-FFF2-40B4-BE49-F238E27FC236}">
                <a16:creationId xmlns:a16="http://schemas.microsoft.com/office/drawing/2014/main" id="{040554A6-0048-79F0-2D50-E2C6B3D891E5}"/>
              </a:ext>
            </a:extLst>
          </p:cNvPr>
          <p:cNvSpPr/>
          <p:nvPr/>
        </p:nvSpPr>
        <p:spPr>
          <a:xfrm>
            <a:off x="428625" y="1571625"/>
            <a:ext cx="5072063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CEB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capability-accent-01">
            <a:extLst>
              <a:ext uri="{FF2B5EF4-FFF2-40B4-BE49-F238E27FC236}">
                <a16:creationId xmlns:a16="http://schemas.microsoft.com/office/drawing/2014/main" id="{7F03F28F-94C1-700A-2EF5-D99B379886EE}"/>
              </a:ext>
            </a:extLst>
          </p:cNvPr>
          <p:cNvSpPr>
            <a:spLocks noGrp="1"/>
          </p:cNvSpPr>
          <p:nvPr/>
        </p:nvSpPr>
        <p:spPr>
          <a:xfrm>
            <a:off x="428625" y="1571625"/>
            <a:ext cx="42863" cy="628650"/>
          </a:xfrm>
          <a:prstGeom prst="rect">
            <a:avLst/>
          </a:prstGeom>
          <a:solidFill>
            <a:srgbClr val="009CDE"/>
          </a:solidFill>
          <a:ln w="0">
            <a:noFill/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capability-title-01">
            <a:extLst>
              <a:ext uri="{FF2B5EF4-FFF2-40B4-BE49-F238E27FC236}">
                <a16:creationId xmlns:a16="http://schemas.microsoft.com/office/drawing/2014/main" id="{8EB390C8-AB8D-9E53-CACC-ADEB77485445}"/>
              </a:ext>
            </a:extLst>
          </p:cNvPr>
          <p:cNvSpPr>
            <a:spLocks noGrp="1"/>
          </p:cNvSpPr>
          <p:nvPr/>
        </p:nvSpPr>
        <p:spPr>
          <a:xfrm>
            <a:off x="942975" y="1643063"/>
            <a:ext cx="1785938" cy="2214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defTabSz="685800">
              <a:lnSpc>
                <a:spcPct val="108000"/>
              </a:lnSpc>
              <a:defRPr sz="1425" b="1">
                <a:solidFill>
                  <a:srgbClr val="12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9" b="1">
                <a:solidFill>
                  <a:srgbClr val="123B63"/>
                </a:solidFill>
                <a:latin typeface="Microsoft YaHei"/>
                <a:ea typeface="Microsoft YaHei"/>
                <a:cs typeface="Microsoft YaHei"/>
              </a:rPr>
              <a:t>历史数据接入与迁移</a:t>
            </a:r>
          </a:p>
        </p:txBody>
      </p:sp>
      <p:sp>
        <p:nvSpPr>
          <p:cNvPr id="15" name="capability-desc-01">
            <a:extLst>
              <a:ext uri="{FF2B5EF4-FFF2-40B4-BE49-F238E27FC236}">
                <a16:creationId xmlns:a16="http://schemas.microsoft.com/office/drawing/2014/main" id="{086BF34F-75DF-91A8-3015-EA6C78FE8E8C}"/>
              </a:ext>
            </a:extLst>
          </p:cNvPr>
          <p:cNvSpPr>
            <a:spLocks noGrp="1"/>
          </p:cNvSpPr>
          <p:nvPr/>
        </p:nvSpPr>
        <p:spPr>
          <a:xfrm>
            <a:off x="942975" y="1885950"/>
            <a:ext cx="43434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defTabSz="685800">
              <a:lnSpc>
                <a:spcPct val="108000"/>
              </a:lnSpc>
              <a:defRPr sz="1088" b="0">
                <a:solidFill>
                  <a:srgbClr val="5A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6">
                <a:solidFill>
                  <a:srgbClr val="5A6C7C"/>
                </a:solidFill>
                <a:latin typeface="Microsoft YaHei"/>
                <a:ea typeface="Microsoft YaHei"/>
                <a:cs typeface="Microsoft YaHei"/>
              </a:rPr>
              <a:t>多源抽取｜字段映射｜格式统一｜数据校验｜关系与业务上下文保留</a:t>
            </a:r>
          </a:p>
        </p:txBody>
      </p:sp>
      <p:sp>
        <p:nvSpPr>
          <p:cNvPr id="16" name="mapping-arrow-01">
            <a:extLst>
              <a:ext uri="{FF2B5EF4-FFF2-40B4-BE49-F238E27FC236}">
                <a16:creationId xmlns:a16="http://schemas.microsoft.com/office/drawing/2014/main" id="{850858B0-D8E7-3A18-4FFD-5A2BDD2E22F5}"/>
              </a:ext>
            </a:extLst>
          </p:cNvPr>
          <p:cNvSpPr>
            <a:spLocks noGrp="1"/>
          </p:cNvSpPr>
          <p:nvPr/>
        </p:nvSpPr>
        <p:spPr>
          <a:xfrm>
            <a:off x="5657850" y="1785938"/>
            <a:ext cx="371475" cy="192881"/>
          </a:xfrm>
          <a:prstGeom prst="rightArrow">
            <a:avLst/>
          </a:prstGeom>
          <a:solidFill>
            <a:srgbClr val="2A83C8"/>
          </a:solidFill>
          <a:ln w="0">
            <a:solidFill>
              <a:srgbClr val="2A83C8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" name="module-01">
            <a:extLst>
              <a:ext uri="{FF2B5EF4-FFF2-40B4-BE49-F238E27FC236}">
                <a16:creationId xmlns:a16="http://schemas.microsoft.com/office/drawing/2014/main" id="{E959DF05-7177-282C-2C58-A7CFAA21BCC2}"/>
              </a:ext>
            </a:extLst>
          </p:cNvPr>
          <p:cNvSpPr>
            <a:spLocks noGrp="1"/>
          </p:cNvSpPr>
          <p:nvPr/>
        </p:nvSpPr>
        <p:spPr>
          <a:xfrm>
            <a:off x="6215062" y="1571625"/>
            <a:ext cx="2500313" cy="628650"/>
          </a:xfrm>
          <a:prstGeom prst="rect">
            <a:avLst/>
          </a:prstGeom>
          <a:solidFill>
            <a:srgbClr val="F8FBFE"/>
          </a:solidFill>
          <a:ln w="9525">
            <a:solidFill>
              <a:srgbClr val="CADCEB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module-tag-01">
            <a:extLst>
              <a:ext uri="{FF2B5EF4-FFF2-40B4-BE49-F238E27FC236}">
                <a16:creationId xmlns:a16="http://schemas.microsoft.com/office/drawing/2014/main" id="{B34CFFA6-662C-0230-BF8A-CB4598FA1B4F}"/>
              </a:ext>
            </a:extLst>
          </p:cNvPr>
          <p:cNvSpPr>
            <a:spLocks noGrp="1"/>
          </p:cNvSpPr>
          <p:nvPr/>
        </p:nvSpPr>
        <p:spPr>
          <a:xfrm>
            <a:off x="6215063" y="1571625"/>
            <a:ext cx="514350" cy="628650"/>
          </a:xfrm>
          <a:prstGeom prst="rect">
            <a:avLst/>
          </a:prstGeom>
          <a:solidFill>
            <a:srgbClr val="009CDE"/>
          </a:solidFill>
          <a:ln w="0">
            <a:noFill/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module-tag-text-01">
            <a:extLst>
              <a:ext uri="{FF2B5EF4-FFF2-40B4-BE49-F238E27FC236}">
                <a16:creationId xmlns:a16="http://schemas.microsoft.com/office/drawing/2014/main" id="{8E2FBB3A-42A9-58B3-523A-059D5A40CA03}"/>
              </a:ext>
            </a:extLst>
          </p:cNvPr>
          <p:cNvSpPr>
            <a:spLocks noGrp="1"/>
          </p:cNvSpPr>
          <p:nvPr/>
        </p:nvSpPr>
        <p:spPr>
          <a:xfrm>
            <a:off x="6272213" y="1571625"/>
            <a:ext cx="4000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 defTabSz="685800">
              <a:lnSpc>
                <a:spcPct val="108000"/>
              </a:lnSpc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6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模块1</a:t>
            </a:r>
          </a:p>
        </p:txBody>
      </p:sp>
      <p:sp>
        <p:nvSpPr>
          <p:cNvPr id="36" name="module-title-01">
            <a:extLst>
              <a:ext uri="{FF2B5EF4-FFF2-40B4-BE49-F238E27FC236}">
                <a16:creationId xmlns:a16="http://schemas.microsoft.com/office/drawing/2014/main" id="{2ABC0147-29F7-6C4E-1DF2-5258527EA119}"/>
              </a:ext>
            </a:extLst>
          </p:cNvPr>
          <p:cNvSpPr>
            <a:spLocks noGrp="1"/>
          </p:cNvSpPr>
          <p:nvPr/>
        </p:nvSpPr>
        <p:spPr>
          <a:xfrm>
            <a:off x="6829425" y="1650206"/>
            <a:ext cx="17430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defTabSz="685800">
              <a:lnSpc>
                <a:spcPct val="108000"/>
              </a:lnSpc>
              <a:defRPr sz="1275" b="1">
                <a:solidFill>
                  <a:srgbClr val="12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6" b="1">
                <a:solidFill>
                  <a:srgbClr val="123B63"/>
                </a:solidFill>
                <a:latin typeface="Microsoft YaHei"/>
                <a:ea typeface="Microsoft YaHei"/>
                <a:cs typeface="Microsoft YaHei"/>
              </a:rPr>
              <a:t>存量历史数据迁移与标准化</a:t>
            </a:r>
          </a:p>
        </p:txBody>
      </p:sp>
      <p:sp>
        <p:nvSpPr>
          <p:cNvPr id="41" name="module-desc-01">
            <a:extLst>
              <a:ext uri="{FF2B5EF4-FFF2-40B4-BE49-F238E27FC236}">
                <a16:creationId xmlns:a16="http://schemas.microsoft.com/office/drawing/2014/main" id="{65F89458-ABD9-9221-F5C0-4B7C9B3F7C24}"/>
              </a:ext>
            </a:extLst>
          </p:cNvPr>
          <p:cNvSpPr>
            <a:spLocks noGrp="1"/>
          </p:cNvSpPr>
          <p:nvPr/>
        </p:nvSpPr>
        <p:spPr>
          <a:xfrm>
            <a:off x="6829425" y="1928813"/>
            <a:ext cx="1743075" cy="16430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defTabSz="685800">
              <a:lnSpc>
                <a:spcPct val="108000"/>
              </a:lnSpc>
              <a:defRPr sz="1013" b="0">
                <a:solidFill>
                  <a:srgbClr val="5A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60">
                <a:solidFill>
                  <a:srgbClr val="5A6C7C"/>
                </a:solidFill>
                <a:latin typeface="Microsoft YaHei"/>
                <a:ea typeface="Microsoft YaHei"/>
                <a:cs typeface="Microsoft YaHei"/>
              </a:rPr>
              <a:t>支持多源迁移、标准化入库与完整性校验</a:t>
            </a:r>
          </a:p>
        </p:txBody>
      </p:sp>
      <p:sp>
        <p:nvSpPr>
          <p:cNvPr id="43" name="capability-03">
            <a:extLst>
              <a:ext uri="{FF2B5EF4-FFF2-40B4-BE49-F238E27FC236}">
                <a16:creationId xmlns:a16="http://schemas.microsoft.com/office/drawing/2014/main" id="{86870D35-156F-23CF-86E4-EF82281B03AE}"/>
              </a:ext>
            </a:extLst>
          </p:cNvPr>
          <p:cNvSpPr>
            <a:spLocks noGrp="1"/>
          </p:cNvSpPr>
          <p:nvPr/>
        </p:nvSpPr>
        <p:spPr>
          <a:xfrm>
            <a:off x="428625" y="2271713"/>
            <a:ext cx="5072063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CEB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" name="capability-accent-03">
            <a:extLst>
              <a:ext uri="{FF2B5EF4-FFF2-40B4-BE49-F238E27FC236}">
                <a16:creationId xmlns:a16="http://schemas.microsoft.com/office/drawing/2014/main" id="{0D87B8DB-CCAD-456C-C54B-157103D03351}"/>
              </a:ext>
            </a:extLst>
          </p:cNvPr>
          <p:cNvSpPr>
            <a:spLocks noGrp="1"/>
          </p:cNvSpPr>
          <p:nvPr/>
        </p:nvSpPr>
        <p:spPr>
          <a:xfrm>
            <a:off x="428625" y="2271713"/>
            <a:ext cx="42863" cy="628650"/>
          </a:xfrm>
          <a:prstGeom prst="rect">
            <a:avLst/>
          </a:prstGeom>
          <a:solidFill>
            <a:srgbClr val="009CDE"/>
          </a:solidFill>
          <a:ln w="0">
            <a:noFill/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0" name="capability-title-03">
            <a:extLst>
              <a:ext uri="{FF2B5EF4-FFF2-40B4-BE49-F238E27FC236}">
                <a16:creationId xmlns:a16="http://schemas.microsoft.com/office/drawing/2014/main" id="{7F5798F7-98C3-B3D8-6F1B-9ECA9A7DE3E4}"/>
              </a:ext>
            </a:extLst>
          </p:cNvPr>
          <p:cNvSpPr>
            <a:spLocks noGrp="1"/>
          </p:cNvSpPr>
          <p:nvPr/>
        </p:nvSpPr>
        <p:spPr>
          <a:xfrm>
            <a:off x="942975" y="2343151"/>
            <a:ext cx="1785938" cy="2214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defTabSz="685800">
              <a:lnSpc>
                <a:spcPct val="108000"/>
              </a:lnSpc>
              <a:defRPr sz="1425" b="1">
                <a:solidFill>
                  <a:srgbClr val="12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9" b="1">
                <a:solidFill>
                  <a:srgbClr val="123B63"/>
                </a:solidFill>
                <a:latin typeface="Microsoft YaHei"/>
                <a:ea typeface="Microsoft YaHei"/>
                <a:cs typeface="Microsoft YaHei"/>
              </a:rPr>
              <a:t>统一归档与生命周期管理</a:t>
            </a:r>
          </a:p>
        </p:txBody>
      </p:sp>
      <p:sp>
        <p:nvSpPr>
          <p:cNvPr id="51" name="capability-desc-03">
            <a:extLst>
              <a:ext uri="{FF2B5EF4-FFF2-40B4-BE49-F238E27FC236}">
                <a16:creationId xmlns:a16="http://schemas.microsoft.com/office/drawing/2014/main" id="{6B2CD94F-27F5-E129-FB74-4E38216B7B40}"/>
              </a:ext>
            </a:extLst>
          </p:cNvPr>
          <p:cNvSpPr>
            <a:spLocks noGrp="1"/>
          </p:cNvSpPr>
          <p:nvPr/>
        </p:nvSpPr>
        <p:spPr>
          <a:xfrm>
            <a:off x="942975" y="2586038"/>
            <a:ext cx="43434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defTabSz="685800">
              <a:lnSpc>
                <a:spcPct val="108000"/>
              </a:lnSpc>
              <a:defRPr sz="1088" b="0">
                <a:solidFill>
                  <a:srgbClr val="5A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6">
                <a:solidFill>
                  <a:srgbClr val="5A6C7C"/>
                </a:solidFill>
                <a:latin typeface="Microsoft YaHei"/>
                <a:ea typeface="Microsoft YaHei"/>
                <a:cs typeface="Microsoft YaHei"/>
              </a:rPr>
              <a:t>结构化数据与文档关联｜分类与保留期限｜Legal Hold｜到期处置</a:t>
            </a:r>
          </a:p>
        </p:txBody>
      </p:sp>
      <p:sp>
        <p:nvSpPr>
          <p:cNvPr id="52" name="mapping-arrow-03">
            <a:extLst>
              <a:ext uri="{FF2B5EF4-FFF2-40B4-BE49-F238E27FC236}">
                <a16:creationId xmlns:a16="http://schemas.microsoft.com/office/drawing/2014/main" id="{E1BDA6E1-5107-FEB2-F442-9117697AE92F}"/>
              </a:ext>
            </a:extLst>
          </p:cNvPr>
          <p:cNvSpPr>
            <a:spLocks noGrp="1"/>
          </p:cNvSpPr>
          <p:nvPr/>
        </p:nvSpPr>
        <p:spPr>
          <a:xfrm>
            <a:off x="5657850" y="2486026"/>
            <a:ext cx="371475" cy="192881"/>
          </a:xfrm>
          <a:prstGeom prst="rightArrow">
            <a:avLst/>
          </a:prstGeom>
          <a:solidFill>
            <a:srgbClr val="2A83C8"/>
          </a:solidFill>
          <a:ln w="0">
            <a:solidFill>
              <a:srgbClr val="2A83C8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7" name="module-03">
            <a:extLst>
              <a:ext uri="{FF2B5EF4-FFF2-40B4-BE49-F238E27FC236}">
                <a16:creationId xmlns:a16="http://schemas.microsoft.com/office/drawing/2014/main" id="{C58D6658-01EE-0C6F-0FEC-12870129DB45}"/>
              </a:ext>
            </a:extLst>
          </p:cNvPr>
          <p:cNvSpPr>
            <a:spLocks noGrp="1"/>
          </p:cNvSpPr>
          <p:nvPr/>
        </p:nvSpPr>
        <p:spPr>
          <a:xfrm>
            <a:off x="6215062" y="2271713"/>
            <a:ext cx="2500313" cy="628650"/>
          </a:xfrm>
          <a:prstGeom prst="rect">
            <a:avLst/>
          </a:prstGeom>
          <a:solidFill>
            <a:srgbClr val="F7FAFD"/>
          </a:solidFill>
          <a:ln w="9525">
            <a:solidFill>
              <a:srgbClr val="C9DCEB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8" name="module-tag-03">
            <a:extLst>
              <a:ext uri="{FF2B5EF4-FFF2-40B4-BE49-F238E27FC236}">
                <a16:creationId xmlns:a16="http://schemas.microsoft.com/office/drawing/2014/main" id="{691BD79D-CADC-164E-CC28-869E494226B8}"/>
              </a:ext>
            </a:extLst>
          </p:cNvPr>
          <p:cNvSpPr>
            <a:spLocks noGrp="1"/>
          </p:cNvSpPr>
          <p:nvPr/>
        </p:nvSpPr>
        <p:spPr>
          <a:xfrm>
            <a:off x="6215063" y="2271713"/>
            <a:ext cx="514350" cy="628650"/>
          </a:xfrm>
          <a:prstGeom prst="rect">
            <a:avLst/>
          </a:prstGeom>
          <a:solidFill>
            <a:srgbClr val="009CDE"/>
          </a:solidFill>
          <a:ln w="0">
            <a:noFill/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3" name="module-tag-text-03">
            <a:extLst>
              <a:ext uri="{FF2B5EF4-FFF2-40B4-BE49-F238E27FC236}">
                <a16:creationId xmlns:a16="http://schemas.microsoft.com/office/drawing/2014/main" id="{981761BC-D761-BFC9-41F5-C493C7450FB1}"/>
              </a:ext>
            </a:extLst>
          </p:cNvPr>
          <p:cNvSpPr>
            <a:spLocks noGrp="1"/>
          </p:cNvSpPr>
          <p:nvPr/>
        </p:nvSpPr>
        <p:spPr>
          <a:xfrm>
            <a:off x="6272213" y="2271713"/>
            <a:ext cx="4000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 defTabSz="685800">
              <a:lnSpc>
                <a:spcPct val="108000"/>
              </a:lnSpc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6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模块3</a:t>
            </a:r>
          </a:p>
        </p:txBody>
      </p:sp>
      <p:sp>
        <p:nvSpPr>
          <p:cNvPr id="64" name="module-title-03">
            <a:extLst>
              <a:ext uri="{FF2B5EF4-FFF2-40B4-BE49-F238E27FC236}">
                <a16:creationId xmlns:a16="http://schemas.microsoft.com/office/drawing/2014/main" id="{96CE4BF4-83DF-D98C-0693-C5DCE33EDCFD}"/>
              </a:ext>
            </a:extLst>
          </p:cNvPr>
          <p:cNvSpPr>
            <a:spLocks noGrp="1"/>
          </p:cNvSpPr>
          <p:nvPr/>
        </p:nvSpPr>
        <p:spPr>
          <a:xfrm>
            <a:off x="6829425" y="2350294"/>
            <a:ext cx="17430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defTabSz="685800">
              <a:lnSpc>
                <a:spcPct val="108000"/>
              </a:lnSpc>
              <a:defRPr sz="1275" b="1">
                <a:solidFill>
                  <a:srgbClr val="12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6" b="1">
                <a:solidFill>
                  <a:srgbClr val="123B63"/>
                </a:solidFill>
                <a:latin typeface="Microsoft YaHei"/>
                <a:ea typeface="Microsoft YaHei"/>
                <a:cs typeface="Microsoft YaHei"/>
              </a:rPr>
              <a:t>记录归档与档案全生命周期管理</a:t>
            </a:r>
          </a:p>
        </p:txBody>
      </p:sp>
      <p:sp>
        <p:nvSpPr>
          <p:cNvPr id="65" name="module-desc-03">
            <a:extLst>
              <a:ext uri="{FF2B5EF4-FFF2-40B4-BE49-F238E27FC236}">
                <a16:creationId xmlns:a16="http://schemas.microsoft.com/office/drawing/2014/main" id="{D7BEFD99-64EE-68C4-5E75-ED8C5B8A24C0}"/>
              </a:ext>
            </a:extLst>
          </p:cNvPr>
          <p:cNvSpPr>
            <a:spLocks noGrp="1"/>
          </p:cNvSpPr>
          <p:nvPr/>
        </p:nvSpPr>
        <p:spPr>
          <a:xfrm>
            <a:off x="6829425" y="2628901"/>
            <a:ext cx="1743075" cy="16430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defTabSz="685800">
              <a:lnSpc>
                <a:spcPct val="108000"/>
              </a:lnSpc>
              <a:defRPr sz="1013" b="0">
                <a:solidFill>
                  <a:srgbClr val="5A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60">
                <a:solidFill>
                  <a:srgbClr val="5A6C7C"/>
                </a:solidFill>
                <a:latin typeface="Microsoft YaHei"/>
                <a:ea typeface="Microsoft YaHei"/>
                <a:cs typeface="Microsoft YaHei"/>
              </a:rPr>
              <a:t>统一档案模型，管理生命周期与关键审批</a:t>
            </a:r>
          </a:p>
        </p:txBody>
      </p:sp>
      <p:sp>
        <p:nvSpPr>
          <p:cNvPr id="67" name="capability-05">
            <a:extLst>
              <a:ext uri="{FF2B5EF4-FFF2-40B4-BE49-F238E27FC236}">
                <a16:creationId xmlns:a16="http://schemas.microsoft.com/office/drawing/2014/main" id="{4B37A0E2-855A-7815-4411-A467BCC59B56}"/>
              </a:ext>
            </a:extLst>
          </p:cNvPr>
          <p:cNvSpPr>
            <a:spLocks noGrp="1"/>
          </p:cNvSpPr>
          <p:nvPr/>
        </p:nvSpPr>
        <p:spPr>
          <a:xfrm>
            <a:off x="428625" y="2971800"/>
            <a:ext cx="5072063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CEB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9" name="capability-accent-05">
            <a:extLst>
              <a:ext uri="{FF2B5EF4-FFF2-40B4-BE49-F238E27FC236}">
                <a16:creationId xmlns:a16="http://schemas.microsoft.com/office/drawing/2014/main" id="{47FF83CB-EDCB-2F6C-DDDE-868453411CB5}"/>
              </a:ext>
            </a:extLst>
          </p:cNvPr>
          <p:cNvSpPr>
            <a:spLocks noGrp="1"/>
          </p:cNvSpPr>
          <p:nvPr/>
        </p:nvSpPr>
        <p:spPr>
          <a:xfrm>
            <a:off x="428625" y="2971800"/>
            <a:ext cx="42863" cy="628650"/>
          </a:xfrm>
          <a:prstGeom prst="rect">
            <a:avLst/>
          </a:prstGeom>
          <a:solidFill>
            <a:srgbClr val="009CDE"/>
          </a:solidFill>
          <a:ln w="0">
            <a:noFill/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0" name="capability-title-05">
            <a:extLst>
              <a:ext uri="{FF2B5EF4-FFF2-40B4-BE49-F238E27FC236}">
                <a16:creationId xmlns:a16="http://schemas.microsoft.com/office/drawing/2014/main" id="{75B724E4-3076-CBE7-D413-A4550EE9F59C}"/>
              </a:ext>
            </a:extLst>
          </p:cNvPr>
          <p:cNvSpPr>
            <a:spLocks noGrp="1"/>
          </p:cNvSpPr>
          <p:nvPr/>
        </p:nvSpPr>
        <p:spPr>
          <a:xfrm>
            <a:off x="942975" y="3043238"/>
            <a:ext cx="1785938" cy="2214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defTabSz="685800">
              <a:lnSpc>
                <a:spcPct val="108000"/>
              </a:lnSpc>
              <a:defRPr sz="1425" b="1">
                <a:solidFill>
                  <a:srgbClr val="12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9" b="1">
                <a:solidFill>
                  <a:srgbClr val="123B63"/>
                </a:solidFill>
                <a:latin typeface="Microsoft YaHei"/>
                <a:ea typeface="Microsoft YaHei"/>
                <a:cs typeface="Microsoft YaHei"/>
              </a:rPr>
              <a:t>检索、发现与业务利用</a:t>
            </a:r>
          </a:p>
        </p:txBody>
      </p:sp>
      <p:sp>
        <p:nvSpPr>
          <p:cNvPr id="71" name="capability-desc-05">
            <a:extLst>
              <a:ext uri="{FF2B5EF4-FFF2-40B4-BE49-F238E27FC236}">
                <a16:creationId xmlns:a16="http://schemas.microsoft.com/office/drawing/2014/main" id="{CD11559A-ABB3-E3DF-4577-C4B6BB8F19A8}"/>
              </a:ext>
            </a:extLst>
          </p:cNvPr>
          <p:cNvSpPr>
            <a:spLocks noGrp="1"/>
          </p:cNvSpPr>
          <p:nvPr/>
        </p:nvSpPr>
        <p:spPr>
          <a:xfrm>
            <a:off x="942975" y="3286125"/>
            <a:ext cx="43434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defTabSz="685800">
              <a:lnSpc>
                <a:spcPct val="108000"/>
              </a:lnSpc>
              <a:defRPr sz="1088" b="0">
                <a:solidFill>
                  <a:srgbClr val="5A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6">
                <a:solidFill>
                  <a:srgbClr val="5A6C7C"/>
                </a:solidFill>
                <a:latin typeface="Microsoft YaHei"/>
                <a:ea typeface="Microsoft YaHei"/>
                <a:cs typeface="Microsoft YaHei"/>
              </a:rPr>
              <a:t>字段 / 元数据 / 全文检索｜关联视图｜在线查看｜导出与 API｜AI 扩展</a:t>
            </a:r>
          </a:p>
        </p:txBody>
      </p:sp>
      <p:sp>
        <p:nvSpPr>
          <p:cNvPr id="72" name="mapping-arrow-05">
            <a:extLst>
              <a:ext uri="{FF2B5EF4-FFF2-40B4-BE49-F238E27FC236}">
                <a16:creationId xmlns:a16="http://schemas.microsoft.com/office/drawing/2014/main" id="{3C27DE22-6EB0-D33D-8210-049D19858349}"/>
              </a:ext>
            </a:extLst>
          </p:cNvPr>
          <p:cNvSpPr>
            <a:spLocks noGrp="1"/>
          </p:cNvSpPr>
          <p:nvPr/>
        </p:nvSpPr>
        <p:spPr>
          <a:xfrm>
            <a:off x="5657850" y="3186113"/>
            <a:ext cx="371475" cy="192881"/>
          </a:xfrm>
          <a:prstGeom prst="rightArrow">
            <a:avLst/>
          </a:prstGeom>
          <a:solidFill>
            <a:srgbClr val="2A83C8"/>
          </a:solidFill>
          <a:ln w="0">
            <a:solidFill>
              <a:srgbClr val="2A83C8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3" name="module-05">
            <a:extLst>
              <a:ext uri="{FF2B5EF4-FFF2-40B4-BE49-F238E27FC236}">
                <a16:creationId xmlns:a16="http://schemas.microsoft.com/office/drawing/2014/main" id="{B94964C3-A627-23E9-B230-392C34927552}"/>
              </a:ext>
            </a:extLst>
          </p:cNvPr>
          <p:cNvSpPr>
            <a:spLocks noGrp="1"/>
          </p:cNvSpPr>
          <p:nvPr/>
        </p:nvSpPr>
        <p:spPr>
          <a:xfrm>
            <a:off x="6215062" y="2971800"/>
            <a:ext cx="2500313" cy="628650"/>
          </a:xfrm>
          <a:prstGeom prst="rect">
            <a:avLst/>
          </a:prstGeom>
          <a:solidFill>
            <a:srgbClr val="F7FAFD"/>
          </a:solidFill>
          <a:ln w="9525">
            <a:solidFill>
              <a:srgbClr val="C9DCEB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4" name="module-tag-05">
            <a:extLst>
              <a:ext uri="{FF2B5EF4-FFF2-40B4-BE49-F238E27FC236}">
                <a16:creationId xmlns:a16="http://schemas.microsoft.com/office/drawing/2014/main" id="{E971BE39-D839-EFAA-CECF-8981C78813DD}"/>
              </a:ext>
            </a:extLst>
          </p:cNvPr>
          <p:cNvSpPr>
            <a:spLocks noGrp="1"/>
          </p:cNvSpPr>
          <p:nvPr/>
        </p:nvSpPr>
        <p:spPr>
          <a:xfrm>
            <a:off x="6215063" y="2971800"/>
            <a:ext cx="514350" cy="628650"/>
          </a:xfrm>
          <a:prstGeom prst="rect">
            <a:avLst/>
          </a:prstGeom>
          <a:solidFill>
            <a:srgbClr val="009CDE"/>
          </a:solidFill>
          <a:ln w="0">
            <a:noFill/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5" name="module-tag-text-05">
            <a:extLst>
              <a:ext uri="{FF2B5EF4-FFF2-40B4-BE49-F238E27FC236}">
                <a16:creationId xmlns:a16="http://schemas.microsoft.com/office/drawing/2014/main" id="{FF05CF4B-AEC3-7477-F10A-C105F114ECC9}"/>
              </a:ext>
            </a:extLst>
          </p:cNvPr>
          <p:cNvSpPr>
            <a:spLocks noGrp="1"/>
          </p:cNvSpPr>
          <p:nvPr/>
        </p:nvSpPr>
        <p:spPr>
          <a:xfrm>
            <a:off x="6272213" y="2971800"/>
            <a:ext cx="4000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 defTabSz="685800">
              <a:lnSpc>
                <a:spcPct val="108000"/>
              </a:lnSpc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6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模块5</a:t>
            </a:r>
          </a:p>
        </p:txBody>
      </p:sp>
      <p:sp>
        <p:nvSpPr>
          <p:cNvPr id="76" name="module-title-05">
            <a:extLst>
              <a:ext uri="{FF2B5EF4-FFF2-40B4-BE49-F238E27FC236}">
                <a16:creationId xmlns:a16="http://schemas.microsoft.com/office/drawing/2014/main" id="{8A7C7C21-6180-2E62-2E63-262DD9E4B67C}"/>
              </a:ext>
            </a:extLst>
          </p:cNvPr>
          <p:cNvSpPr>
            <a:spLocks noGrp="1"/>
          </p:cNvSpPr>
          <p:nvPr/>
        </p:nvSpPr>
        <p:spPr>
          <a:xfrm>
            <a:off x="6829425" y="3050381"/>
            <a:ext cx="17430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defTabSz="685800">
              <a:lnSpc>
                <a:spcPct val="108000"/>
              </a:lnSpc>
              <a:defRPr sz="1275" b="1">
                <a:solidFill>
                  <a:srgbClr val="12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6" b="1">
                <a:solidFill>
                  <a:srgbClr val="123B63"/>
                </a:solidFill>
                <a:latin typeface="Microsoft YaHei"/>
                <a:ea typeface="Microsoft YaHei"/>
                <a:cs typeface="Microsoft YaHei"/>
              </a:rPr>
              <a:t>档案检索、智能发现与业务利用</a:t>
            </a:r>
          </a:p>
        </p:txBody>
      </p:sp>
      <p:sp>
        <p:nvSpPr>
          <p:cNvPr id="77" name="module-desc-05">
            <a:extLst>
              <a:ext uri="{FF2B5EF4-FFF2-40B4-BE49-F238E27FC236}">
                <a16:creationId xmlns:a16="http://schemas.microsoft.com/office/drawing/2014/main" id="{BF49C785-580A-0EA6-17CC-6F70E0F28AA1}"/>
              </a:ext>
            </a:extLst>
          </p:cNvPr>
          <p:cNvSpPr>
            <a:spLocks noGrp="1"/>
          </p:cNvSpPr>
          <p:nvPr/>
        </p:nvSpPr>
        <p:spPr>
          <a:xfrm>
            <a:off x="6829425" y="3328988"/>
            <a:ext cx="1743075" cy="16430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defTabSz="685800">
              <a:lnSpc>
                <a:spcPct val="108000"/>
              </a:lnSpc>
              <a:defRPr sz="1013" b="0">
                <a:solidFill>
                  <a:srgbClr val="5A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60">
                <a:solidFill>
                  <a:srgbClr val="5A6C7C"/>
                </a:solidFill>
                <a:latin typeface="Microsoft YaHei"/>
                <a:ea typeface="Microsoft YaHei"/>
                <a:cs typeface="Microsoft YaHei"/>
              </a:rPr>
              <a:t>支持多维检索、在线预览与</a:t>
            </a:r>
            <a:r>
              <a:rPr lang="en-US" sz="760">
                <a:solidFill>
                  <a:srgbClr val="5A6C7C"/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lang="zh-CN" altLang="en-US" sz="760">
                <a:solidFill>
                  <a:srgbClr val="5A6C7C"/>
                </a:solidFill>
                <a:latin typeface="Microsoft YaHei"/>
                <a:ea typeface="Microsoft YaHei"/>
                <a:cs typeface="Microsoft YaHei"/>
              </a:rPr>
              <a:t>语义发现</a:t>
            </a:r>
          </a:p>
        </p:txBody>
      </p:sp>
      <p:sp>
        <p:nvSpPr>
          <p:cNvPr id="105" name="capability-06">
            <a:extLst>
              <a:ext uri="{FF2B5EF4-FFF2-40B4-BE49-F238E27FC236}">
                <a16:creationId xmlns:a16="http://schemas.microsoft.com/office/drawing/2014/main" id="{961C34E0-E267-D960-FF6D-445EBB15C69A}"/>
              </a:ext>
            </a:extLst>
          </p:cNvPr>
          <p:cNvSpPr>
            <a:spLocks noGrp="1"/>
          </p:cNvSpPr>
          <p:nvPr/>
        </p:nvSpPr>
        <p:spPr>
          <a:xfrm>
            <a:off x="428625" y="3671888"/>
            <a:ext cx="5072063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CEB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6" name="capability-accent-06">
            <a:extLst>
              <a:ext uri="{FF2B5EF4-FFF2-40B4-BE49-F238E27FC236}">
                <a16:creationId xmlns:a16="http://schemas.microsoft.com/office/drawing/2014/main" id="{338D8508-7855-0958-3E2E-9A617B111E24}"/>
              </a:ext>
            </a:extLst>
          </p:cNvPr>
          <p:cNvSpPr>
            <a:spLocks noGrp="1"/>
          </p:cNvSpPr>
          <p:nvPr/>
        </p:nvSpPr>
        <p:spPr>
          <a:xfrm>
            <a:off x="428625" y="3671888"/>
            <a:ext cx="42863" cy="628650"/>
          </a:xfrm>
          <a:prstGeom prst="rect">
            <a:avLst/>
          </a:prstGeom>
          <a:solidFill>
            <a:srgbClr val="009CDE"/>
          </a:solidFill>
          <a:ln w="0">
            <a:noFill/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capability-title-06">
            <a:extLst>
              <a:ext uri="{FF2B5EF4-FFF2-40B4-BE49-F238E27FC236}">
                <a16:creationId xmlns:a16="http://schemas.microsoft.com/office/drawing/2014/main" id="{08844876-9448-F1E4-D382-F811324286E3}"/>
              </a:ext>
            </a:extLst>
          </p:cNvPr>
          <p:cNvSpPr>
            <a:spLocks noGrp="1"/>
          </p:cNvSpPr>
          <p:nvPr/>
        </p:nvSpPr>
        <p:spPr>
          <a:xfrm>
            <a:off x="942975" y="3743326"/>
            <a:ext cx="1785938" cy="2214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defTabSz="685800">
              <a:lnSpc>
                <a:spcPct val="108000"/>
              </a:lnSpc>
              <a:defRPr sz="1425" b="1">
                <a:solidFill>
                  <a:srgbClr val="12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9" b="1">
                <a:solidFill>
                  <a:srgbClr val="123B63"/>
                </a:solidFill>
                <a:latin typeface="Microsoft YaHei"/>
                <a:ea typeface="Microsoft YaHei"/>
                <a:cs typeface="Microsoft YaHei"/>
              </a:rPr>
              <a:t>合规控制、审计与报表</a:t>
            </a:r>
          </a:p>
        </p:txBody>
      </p:sp>
      <p:sp>
        <p:nvSpPr>
          <p:cNvPr id="108" name="capability-desc-06">
            <a:extLst>
              <a:ext uri="{FF2B5EF4-FFF2-40B4-BE49-F238E27FC236}">
                <a16:creationId xmlns:a16="http://schemas.microsoft.com/office/drawing/2014/main" id="{10113D83-D680-4644-CD2A-5315D10D6149}"/>
              </a:ext>
            </a:extLst>
          </p:cNvPr>
          <p:cNvSpPr>
            <a:spLocks noGrp="1"/>
          </p:cNvSpPr>
          <p:nvPr/>
        </p:nvSpPr>
        <p:spPr>
          <a:xfrm>
            <a:off x="942975" y="3986213"/>
            <a:ext cx="43434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defTabSz="685800">
              <a:lnSpc>
                <a:spcPct val="108000"/>
              </a:lnSpc>
              <a:defRPr sz="1088" b="0">
                <a:solidFill>
                  <a:srgbClr val="5A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6">
                <a:solidFill>
                  <a:srgbClr val="5A6C7C"/>
                </a:solidFill>
                <a:latin typeface="Microsoft YaHei"/>
                <a:ea typeface="Microsoft YaHei"/>
                <a:cs typeface="Microsoft YaHei"/>
              </a:rPr>
              <a:t>权限与加密｜敏感信息遮罩｜完整审计日志｜归档与生命周期报表</a:t>
            </a:r>
          </a:p>
        </p:txBody>
      </p:sp>
      <p:sp>
        <p:nvSpPr>
          <p:cNvPr id="109" name="mapping-arrow-06">
            <a:extLst>
              <a:ext uri="{FF2B5EF4-FFF2-40B4-BE49-F238E27FC236}">
                <a16:creationId xmlns:a16="http://schemas.microsoft.com/office/drawing/2014/main" id="{0A3F2918-C639-6AD0-A4E5-1B99D13E5083}"/>
              </a:ext>
            </a:extLst>
          </p:cNvPr>
          <p:cNvSpPr>
            <a:spLocks noGrp="1"/>
          </p:cNvSpPr>
          <p:nvPr/>
        </p:nvSpPr>
        <p:spPr>
          <a:xfrm>
            <a:off x="5657850" y="3886201"/>
            <a:ext cx="371475" cy="192881"/>
          </a:xfrm>
          <a:prstGeom prst="rightArrow">
            <a:avLst/>
          </a:prstGeom>
          <a:solidFill>
            <a:srgbClr val="2A83C8"/>
          </a:solidFill>
          <a:ln w="0">
            <a:solidFill>
              <a:srgbClr val="2A83C8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0" name="module-06">
            <a:extLst>
              <a:ext uri="{FF2B5EF4-FFF2-40B4-BE49-F238E27FC236}">
                <a16:creationId xmlns:a16="http://schemas.microsoft.com/office/drawing/2014/main" id="{33A71CA5-FD56-6901-A844-5D4B312AE69E}"/>
              </a:ext>
            </a:extLst>
          </p:cNvPr>
          <p:cNvSpPr>
            <a:spLocks noGrp="1"/>
          </p:cNvSpPr>
          <p:nvPr/>
        </p:nvSpPr>
        <p:spPr>
          <a:xfrm>
            <a:off x="6215062" y="3671888"/>
            <a:ext cx="2500313" cy="628650"/>
          </a:xfrm>
          <a:prstGeom prst="rect">
            <a:avLst/>
          </a:prstGeom>
          <a:solidFill>
            <a:srgbClr val="F7FAFD"/>
          </a:solidFill>
          <a:ln w="9525">
            <a:solidFill>
              <a:srgbClr val="C9DCEB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1" name="module-tag-06">
            <a:extLst>
              <a:ext uri="{FF2B5EF4-FFF2-40B4-BE49-F238E27FC236}">
                <a16:creationId xmlns:a16="http://schemas.microsoft.com/office/drawing/2014/main" id="{B4A8C383-C3CA-8BB5-9DBE-4676AD6159C2}"/>
              </a:ext>
            </a:extLst>
          </p:cNvPr>
          <p:cNvSpPr>
            <a:spLocks noGrp="1"/>
          </p:cNvSpPr>
          <p:nvPr/>
        </p:nvSpPr>
        <p:spPr>
          <a:xfrm>
            <a:off x="6215063" y="3671888"/>
            <a:ext cx="514350" cy="628650"/>
          </a:xfrm>
          <a:prstGeom prst="rect">
            <a:avLst/>
          </a:prstGeom>
          <a:solidFill>
            <a:srgbClr val="009CDE"/>
          </a:solidFill>
          <a:ln w="0">
            <a:noFill/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2" name="module-tag-text-06">
            <a:extLst>
              <a:ext uri="{FF2B5EF4-FFF2-40B4-BE49-F238E27FC236}">
                <a16:creationId xmlns:a16="http://schemas.microsoft.com/office/drawing/2014/main" id="{6183AFB5-4549-495C-EC0C-706F55E2991C}"/>
              </a:ext>
            </a:extLst>
          </p:cNvPr>
          <p:cNvSpPr>
            <a:spLocks noGrp="1"/>
          </p:cNvSpPr>
          <p:nvPr/>
        </p:nvSpPr>
        <p:spPr>
          <a:xfrm>
            <a:off x="6272213" y="3671888"/>
            <a:ext cx="4000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 defTabSz="685800">
              <a:lnSpc>
                <a:spcPct val="108000"/>
              </a:lnSpc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6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模块6</a:t>
            </a:r>
          </a:p>
        </p:txBody>
      </p:sp>
      <p:sp>
        <p:nvSpPr>
          <p:cNvPr id="113" name="module-title-06">
            <a:extLst>
              <a:ext uri="{FF2B5EF4-FFF2-40B4-BE49-F238E27FC236}">
                <a16:creationId xmlns:a16="http://schemas.microsoft.com/office/drawing/2014/main" id="{26E0F528-C32E-FA96-633F-EE930CF9BD30}"/>
              </a:ext>
            </a:extLst>
          </p:cNvPr>
          <p:cNvSpPr>
            <a:spLocks noGrp="1"/>
          </p:cNvSpPr>
          <p:nvPr/>
        </p:nvSpPr>
        <p:spPr>
          <a:xfrm>
            <a:off x="6829425" y="3750469"/>
            <a:ext cx="17430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defTabSz="685800">
              <a:lnSpc>
                <a:spcPct val="108000"/>
              </a:lnSpc>
              <a:defRPr sz="1275" b="1">
                <a:solidFill>
                  <a:srgbClr val="12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6" b="1">
                <a:solidFill>
                  <a:srgbClr val="123B63"/>
                </a:solidFill>
                <a:latin typeface="Microsoft YaHei"/>
                <a:ea typeface="Microsoft YaHei"/>
                <a:cs typeface="Microsoft YaHei"/>
              </a:rPr>
              <a:t>合规管控、审计追踪与合规报表</a:t>
            </a:r>
          </a:p>
        </p:txBody>
      </p:sp>
      <p:sp>
        <p:nvSpPr>
          <p:cNvPr id="114" name="module-desc-06">
            <a:extLst>
              <a:ext uri="{FF2B5EF4-FFF2-40B4-BE49-F238E27FC236}">
                <a16:creationId xmlns:a16="http://schemas.microsoft.com/office/drawing/2014/main" id="{CA755342-22EF-AC6A-8647-A475FBBA1FA8}"/>
              </a:ext>
            </a:extLst>
          </p:cNvPr>
          <p:cNvSpPr>
            <a:spLocks noGrp="1"/>
          </p:cNvSpPr>
          <p:nvPr/>
        </p:nvSpPr>
        <p:spPr>
          <a:xfrm>
            <a:off x="6829425" y="4029076"/>
            <a:ext cx="1743075" cy="16430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defTabSz="685800">
              <a:lnSpc>
                <a:spcPct val="108000"/>
              </a:lnSpc>
              <a:defRPr sz="1013" b="0">
                <a:solidFill>
                  <a:srgbClr val="5A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60">
                <a:solidFill>
                  <a:srgbClr val="5A6C7C"/>
                </a:solidFill>
                <a:latin typeface="Microsoft YaHei"/>
                <a:ea typeface="Microsoft YaHei"/>
                <a:cs typeface="Microsoft YaHei"/>
              </a:rPr>
              <a:t>覆盖权限审计、整改闭环与智能统计报表</a:t>
            </a:r>
          </a:p>
        </p:txBody>
      </p:sp>
      <p:pic>
        <p:nvPicPr>
          <p:cNvPr id="115" name="Graphic 114" descr="Clipboard Mixed with solid fill">
            <a:extLst>
              <a:ext uri="{FF2B5EF4-FFF2-40B4-BE49-F238E27FC236}">
                <a16:creationId xmlns:a16="http://schemas.microsoft.com/office/drawing/2014/main" id="{4AAF17F6-EBBA-C5E5-503F-104B1C1249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830" y="3794548"/>
            <a:ext cx="342900" cy="342900"/>
          </a:xfrm>
          <a:prstGeom prst="rect">
            <a:avLst/>
          </a:prstGeom>
        </p:spPr>
      </p:pic>
      <p:pic>
        <p:nvPicPr>
          <p:cNvPr id="116" name="Graphic 115" descr="Folder Search with solid fill">
            <a:extLst>
              <a:ext uri="{FF2B5EF4-FFF2-40B4-BE49-F238E27FC236}">
                <a16:creationId xmlns:a16="http://schemas.microsoft.com/office/drawing/2014/main" id="{15CF6246-366E-E58D-CDEB-3325A919CF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8830" y="3122219"/>
            <a:ext cx="342900" cy="342900"/>
          </a:xfrm>
          <a:prstGeom prst="rect">
            <a:avLst/>
          </a:prstGeom>
        </p:spPr>
      </p:pic>
      <p:pic>
        <p:nvPicPr>
          <p:cNvPr id="117" name="Graphic 116" descr="Inbox with solid fill">
            <a:extLst>
              <a:ext uri="{FF2B5EF4-FFF2-40B4-BE49-F238E27FC236}">
                <a16:creationId xmlns:a16="http://schemas.microsoft.com/office/drawing/2014/main" id="{CA5418D2-1045-B910-B6ED-0CED518433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8830" y="2376516"/>
            <a:ext cx="342900" cy="342900"/>
          </a:xfrm>
          <a:prstGeom prst="rect">
            <a:avLst/>
          </a:prstGeom>
        </p:spPr>
      </p:pic>
      <p:pic>
        <p:nvPicPr>
          <p:cNvPr id="118" name="Graphic 117" descr="Share with solid fill">
            <a:extLst>
              <a:ext uri="{FF2B5EF4-FFF2-40B4-BE49-F238E27FC236}">
                <a16:creationId xmlns:a16="http://schemas.microsoft.com/office/drawing/2014/main" id="{2A4D4E8D-35E0-94C4-4E23-B7010337F0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9879" y="1717637"/>
            <a:ext cx="300802" cy="300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7551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3AE9C-A4F5-8C1F-9F38-3084DC3BE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709ACE-07DF-B394-EAA2-A7F9F678C6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China RIMS Solution Proposal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B4C3513-5C52-17CD-73E3-FE3DB1798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InfoArchive </a:t>
            </a:r>
            <a:r>
              <a:rPr lang="zh-CN" altLang="en-US"/>
              <a:t>的数据结构</a:t>
            </a:r>
          </a:p>
        </p:txBody>
      </p:sp>
      <p:sp>
        <p:nvSpPr>
          <p:cNvPr id="5" name="source-to-sip">
            <a:extLst>
              <a:ext uri="{FF2B5EF4-FFF2-40B4-BE49-F238E27FC236}">
                <a16:creationId xmlns:a16="http://schemas.microsoft.com/office/drawing/2014/main" id="{0EE3E099-E241-D1FC-B4C3-2379DF8BF8FA}"/>
              </a:ext>
            </a:extLst>
          </p:cNvPr>
          <p:cNvSpPr>
            <a:spLocks noGrp="1"/>
          </p:cNvSpPr>
          <p:nvPr/>
        </p:nvSpPr>
        <p:spPr>
          <a:xfrm>
            <a:off x="1928813" y="2385899"/>
            <a:ext cx="250031" cy="185738"/>
          </a:xfrm>
          <a:prstGeom prst="rightArrow">
            <a:avLst/>
          </a:prstGeom>
          <a:solidFill>
            <a:srgbClr val="009CDE"/>
          </a:solidFill>
          <a:ln w="0">
            <a:noFill/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sip-to-aip">
            <a:extLst>
              <a:ext uri="{FF2B5EF4-FFF2-40B4-BE49-F238E27FC236}">
                <a16:creationId xmlns:a16="http://schemas.microsoft.com/office/drawing/2014/main" id="{262AA390-5C1F-201F-A50B-99BF4E9E7BA4}"/>
              </a:ext>
            </a:extLst>
          </p:cNvPr>
          <p:cNvSpPr>
            <a:spLocks noGrp="1"/>
          </p:cNvSpPr>
          <p:nvPr/>
        </p:nvSpPr>
        <p:spPr>
          <a:xfrm>
            <a:off x="3821907" y="2385899"/>
            <a:ext cx="250031" cy="185738"/>
          </a:xfrm>
          <a:prstGeom prst="rightArrow">
            <a:avLst/>
          </a:prstGeom>
          <a:solidFill>
            <a:srgbClr val="009CDE"/>
          </a:solidFill>
          <a:ln w="0">
            <a:noFill/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aip-to-dip">
            <a:extLst>
              <a:ext uri="{FF2B5EF4-FFF2-40B4-BE49-F238E27FC236}">
                <a16:creationId xmlns:a16="http://schemas.microsoft.com/office/drawing/2014/main" id="{BCF8300B-B4A4-B5C8-2C15-BE8D3A4243F5}"/>
              </a:ext>
            </a:extLst>
          </p:cNvPr>
          <p:cNvSpPr>
            <a:spLocks noGrp="1"/>
          </p:cNvSpPr>
          <p:nvPr/>
        </p:nvSpPr>
        <p:spPr>
          <a:xfrm>
            <a:off x="6786563" y="2385899"/>
            <a:ext cx="250031" cy="185738"/>
          </a:xfrm>
          <a:prstGeom prst="rightArrow">
            <a:avLst/>
          </a:prstGeom>
          <a:solidFill>
            <a:srgbClr val="009CDE"/>
          </a:solidFill>
          <a:ln w="0">
            <a:noFill/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source-container">
            <a:extLst>
              <a:ext uri="{FF2B5EF4-FFF2-40B4-BE49-F238E27FC236}">
                <a16:creationId xmlns:a16="http://schemas.microsoft.com/office/drawing/2014/main" id="{34940A33-C4BA-5042-1F53-AA87F1BE117B}"/>
              </a:ext>
            </a:extLst>
          </p:cNvPr>
          <p:cNvSpPr>
            <a:spLocks noGrp="1"/>
          </p:cNvSpPr>
          <p:nvPr/>
        </p:nvSpPr>
        <p:spPr>
          <a:xfrm>
            <a:off x="435769" y="1192892"/>
            <a:ext cx="1500188" cy="2714624"/>
          </a:xfrm>
          <a:prstGeom prst="rect">
            <a:avLst/>
          </a:prstGeom>
          <a:solidFill>
            <a:srgbClr val="F7FAFD"/>
          </a:solidFill>
          <a:ln w="9525">
            <a:solidFill>
              <a:srgbClr val="C9DCEB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source-header">
            <a:extLst>
              <a:ext uri="{FF2B5EF4-FFF2-40B4-BE49-F238E27FC236}">
                <a16:creationId xmlns:a16="http://schemas.microsoft.com/office/drawing/2014/main" id="{19C561B4-9D26-972A-4B8D-39FA878E4BF5}"/>
              </a:ext>
            </a:extLst>
          </p:cNvPr>
          <p:cNvSpPr>
            <a:spLocks noGrp="1"/>
          </p:cNvSpPr>
          <p:nvPr/>
        </p:nvSpPr>
        <p:spPr>
          <a:xfrm>
            <a:off x="435769" y="1192892"/>
            <a:ext cx="1500188" cy="357188"/>
          </a:xfrm>
          <a:prstGeom prst="rect">
            <a:avLst/>
          </a:prstGeom>
          <a:solidFill>
            <a:srgbClr val="009CDE"/>
          </a:solidFill>
          <a:ln w="0">
            <a:noFill/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source-header-text">
            <a:extLst>
              <a:ext uri="{FF2B5EF4-FFF2-40B4-BE49-F238E27FC236}">
                <a16:creationId xmlns:a16="http://schemas.microsoft.com/office/drawing/2014/main" id="{4657FF11-3479-111A-FC62-425384FB2EED}"/>
              </a:ext>
            </a:extLst>
          </p:cNvPr>
          <p:cNvSpPr>
            <a:spLocks noGrp="1"/>
          </p:cNvSpPr>
          <p:nvPr/>
        </p:nvSpPr>
        <p:spPr>
          <a:xfrm>
            <a:off x="564356" y="1192892"/>
            <a:ext cx="1243013" cy="3571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 defTabSz="685800">
              <a:lnSpc>
                <a:spcPct val="108000"/>
              </a:lnSpc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9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来源系统</a:t>
            </a:r>
          </a:p>
        </p:txBody>
      </p:sp>
      <p:sp>
        <p:nvSpPr>
          <p:cNvPr id="19" name="source-db">
            <a:extLst>
              <a:ext uri="{FF2B5EF4-FFF2-40B4-BE49-F238E27FC236}">
                <a16:creationId xmlns:a16="http://schemas.microsoft.com/office/drawing/2014/main" id="{89B7A1A2-2D10-8D54-0D08-7AF2D29BF06F}"/>
              </a:ext>
            </a:extLst>
          </p:cNvPr>
          <p:cNvSpPr>
            <a:spLocks noGrp="1"/>
          </p:cNvSpPr>
          <p:nvPr/>
        </p:nvSpPr>
        <p:spPr>
          <a:xfrm>
            <a:off x="607220" y="1853399"/>
            <a:ext cx="1143000" cy="2143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 defTabSz="685800">
              <a:lnSpc>
                <a:spcPct val="108000"/>
              </a:lnSpc>
              <a:defRPr sz="1275" b="1">
                <a:solidFill>
                  <a:srgbClr val="12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6" b="1">
                <a:solidFill>
                  <a:srgbClr val="123B63"/>
                </a:solidFill>
                <a:latin typeface="Microsoft YaHei"/>
                <a:ea typeface="Microsoft YaHei"/>
                <a:cs typeface="Microsoft YaHei"/>
              </a:rPr>
              <a:t>应用数据库</a:t>
            </a:r>
          </a:p>
        </p:txBody>
      </p:sp>
      <p:sp>
        <p:nvSpPr>
          <p:cNvPr id="20" name="source-db-desc">
            <a:extLst>
              <a:ext uri="{FF2B5EF4-FFF2-40B4-BE49-F238E27FC236}">
                <a16:creationId xmlns:a16="http://schemas.microsoft.com/office/drawing/2014/main" id="{4C0A8B86-BC97-EFFB-DD9C-5ED3447BABB5}"/>
              </a:ext>
            </a:extLst>
          </p:cNvPr>
          <p:cNvSpPr>
            <a:spLocks noGrp="1"/>
          </p:cNvSpPr>
          <p:nvPr/>
        </p:nvSpPr>
        <p:spPr>
          <a:xfrm>
            <a:off x="585788" y="2089143"/>
            <a:ext cx="1185863" cy="178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 defTabSz="685800">
              <a:lnSpc>
                <a:spcPct val="108000"/>
              </a:lnSpc>
              <a:defRPr sz="1050" b="0">
                <a:solidFill>
                  <a:srgbClr val="5A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>
                <a:solidFill>
                  <a:srgbClr val="5A6C7C"/>
                </a:solidFill>
                <a:latin typeface="Microsoft YaHei"/>
                <a:ea typeface="Microsoft YaHei"/>
                <a:cs typeface="Microsoft YaHei"/>
              </a:rPr>
              <a:t>关系表、字段与历史记录</a:t>
            </a:r>
          </a:p>
        </p:txBody>
      </p:sp>
      <p:sp>
        <p:nvSpPr>
          <p:cNvPr id="21" name="source-sep-1">
            <a:extLst>
              <a:ext uri="{FF2B5EF4-FFF2-40B4-BE49-F238E27FC236}">
                <a16:creationId xmlns:a16="http://schemas.microsoft.com/office/drawing/2014/main" id="{B039ACCF-E7DA-9A74-2E45-A0483C50DEF5}"/>
              </a:ext>
            </a:extLst>
          </p:cNvPr>
          <p:cNvSpPr>
            <a:spLocks noGrp="1"/>
          </p:cNvSpPr>
          <p:nvPr/>
        </p:nvSpPr>
        <p:spPr>
          <a:xfrm>
            <a:off x="600076" y="2374893"/>
            <a:ext cx="1157288" cy="7144"/>
          </a:xfrm>
          <a:prstGeom prst="rect">
            <a:avLst/>
          </a:prstGeom>
          <a:solidFill>
            <a:srgbClr val="C9DCEB"/>
          </a:solidFill>
          <a:ln w="0">
            <a:solidFill>
              <a:srgbClr val="C9DCEB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" name="source-repository">
            <a:extLst>
              <a:ext uri="{FF2B5EF4-FFF2-40B4-BE49-F238E27FC236}">
                <a16:creationId xmlns:a16="http://schemas.microsoft.com/office/drawing/2014/main" id="{1E89D49E-ED52-D8B2-2BC7-442ABC5E803F}"/>
              </a:ext>
            </a:extLst>
          </p:cNvPr>
          <p:cNvSpPr>
            <a:spLocks noGrp="1"/>
          </p:cNvSpPr>
          <p:nvPr/>
        </p:nvSpPr>
        <p:spPr>
          <a:xfrm>
            <a:off x="607220" y="2482049"/>
            <a:ext cx="1143000" cy="2143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 defTabSz="685800">
              <a:lnSpc>
                <a:spcPct val="108000"/>
              </a:lnSpc>
              <a:defRPr sz="1275" b="1">
                <a:solidFill>
                  <a:srgbClr val="12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6" b="1">
                <a:solidFill>
                  <a:srgbClr val="123B63"/>
                </a:solidFill>
                <a:latin typeface="Microsoft YaHei"/>
                <a:ea typeface="Microsoft YaHei"/>
                <a:cs typeface="Microsoft YaHei"/>
              </a:rPr>
              <a:t>文档库 / 内容库</a:t>
            </a:r>
          </a:p>
        </p:txBody>
      </p:sp>
      <p:sp>
        <p:nvSpPr>
          <p:cNvPr id="25" name="source-repository-desc">
            <a:extLst>
              <a:ext uri="{FF2B5EF4-FFF2-40B4-BE49-F238E27FC236}">
                <a16:creationId xmlns:a16="http://schemas.microsoft.com/office/drawing/2014/main" id="{3A0EEA89-795A-F2EB-2E36-E6D27DBECD7F}"/>
              </a:ext>
            </a:extLst>
          </p:cNvPr>
          <p:cNvSpPr>
            <a:spLocks noGrp="1"/>
          </p:cNvSpPr>
          <p:nvPr/>
        </p:nvSpPr>
        <p:spPr>
          <a:xfrm>
            <a:off x="585788" y="2717793"/>
            <a:ext cx="1185863" cy="178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 defTabSz="685800">
              <a:lnSpc>
                <a:spcPct val="108000"/>
              </a:lnSpc>
              <a:defRPr sz="1050" b="0">
                <a:solidFill>
                  <a:srgbClr val="5A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>
                <a:solidFill>
                  <a:srgbClr val="5A6C7C"/>
                </a:solidFill>
                <a:latin typeface="Microsoft YaHei"/>
                <a:ea typeface="Microsoft YaHei"/>
                <a:cs typeface="Microsoft YaHei"/>
              </a:rPr>
              <a:t>文档、图像与附件</a:t>
            </a:r>
          </a:p>
        </p:txBody>
      </p:sp>
      <p:sp>
        <p:nvSpPr>
          <p:cNvPr id="26" name="source-sep-2">
            <a:extLst>
              <a:ext uri="{FF2B5EF4-FFF2-40B4-BE49-F238E27FC236}">
                <a16:creationId xmlns:a16="http://schemas.microsoft.com/office/drawing/2014/main" id="{045DDD33-221D-4557-4B3E-822E5862256D}"/>
              </a:ext>
            </a:extLst>
          </p:cNvPr>
          <p:cNvSpPr>
            <a:spLocks noGrp="1"/>
          </p:cNvSpPr>
          <p:nvPr/>
        </p:nvSpPr>
        <p:spPr>
          <a:xfrm>
            <a:off x="600076" y="3003543"/>
            <a:ext cx="1157288" cy="7144"/>
          </a:xfrm>
          <a:prstGeom prst="rect">
            <a:avLst/>
          </a:prstGeom>
          <a:solidFill>
            <a:srgbClr val="C9DCEB"/>
          </a:solidFill>
          <a:ln w="0">
            <a:solidFill>
              <a:srgbClr val="C9DCEB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source-files">
            <a:extLst>
              <a:ext uri="{FF2B5EF4-FFF2-40B4-BE49-F238E27FC236}">
                <a16:creationId xmlns:a16="http://schemas.microsoft.com/office/drawing/2014/main" id="{708A1713-FC4F-8A63-75F6-FBE56EDBD7EC}"/>
              </a:ext>
            </a:extLst>
          </p:cNvPr>
          <p:cNvSpPr>
            <a:spLocks noGrp="1"/>
          </p:cNvSpPr>
          <p:nvPr/>
        </p:nvSpPr>
        <p:spPr>
          <a:xfrm>
            <a:off x="557213" y="3162812"/>
            <a:ext cx="1243013" cy="2143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429"/>
          </a:bodyPr>
          <a:lstStyle/>
          <a:p>
            <a:pPr algn="ctr" defTabSz="685800">
              <a:lnSpc>
                <a:spcPct val="108000"/>
              </a:lnSpc>
              <a:defRPr sz="1238" b="1">
                <a:solidFill>
                  <a:srgbClr val="12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9" b="1">
                <a:solidFill>
                  <a:srgbClr val="123B63"/>
                </a:solidFill>
                <a:latin typeface="Microsoft YaHei"/>
                <a:ea typeface="Microsoft YaHei"/>
                <a:cs typeface="Microsoft YaHei"/>
              </a:rPr>
              <a:t>文件 / Excel / 其他来源</a:t>
            </a:r>
          </a:p>
        </p:txBody>
      </p:sp>
      <p:sp>
        <p:nvSpPr>
          <p:cNvPr id="28" name="source-files-desc">
            <a:extLst>
              <a:ext uri="{FF2B5EF4-FFF2-40B4-BE49-F238E27FC236}">
                <a16:creationId xmlns:a16="http://schemas.microsoft.com/office/drawing/2014/main" id="{94BD28B9-8453-4CE6-4D88-CD4AD5B96FA7}"/>
              </a:ext>
            </a:extLst>
          </p:cNvPr>
          <p:cNvSpPr>
            <a:spLocks noGrp="1"/>
          </p:cNvSpPr>
          <p:nvPr/>
        </p:nvSpPr>
        <p:spPr>
          <a:xfrm>
            <a:off x="585788" y="3628911"/>
            <a:ext cx="1185863" cy="178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 defTabSz="685800">
              <a:lnSpc>
                <a:spcPct val="108000"/>
              </a:lnSpc>
              <a:defRPr sz="1050" b="0">
                <a:solidFill>
                  <a:srgbClr val="5A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88">
                <a:solidFill>
                  <a:srgbClr val="5A6C7C"/>
                </a:solidFill>
                <a:latin typeface="Microsoft YaHei"/>
                <a:ea typeface="Microsoft YaHei"/>
                <a:cs typeface="Microsoft YaHei"/>
              </a:rPr>
              <a:t>结构化与非结构化信息</a:t>
            </a:r>
            <a:endParaRPr sz="788">
              <a:solidFill>
                <a:srgbClr val="5A6C7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" name="sip-container">
            <a:extLst>
              <a:ext uri="{FF2B5EF4-FFF2-40B4-BE49-F238E27FC236}">
                <a16:creationId xmlns:a16="http://schemas.microsoft.com/office/drawing/2014/main" id="{68FB8250-29C0-5169-CF84-D9568B9A0B82}"/>
              </a:ext>
            </a:extLst>
          </p:cNvPr>
          <p:cNvSpPr>
            <a:spLocks noGrp="1"/>
          </p:cNvSpPr>
          <p:nvPr/>
        </p:nvSpPr>
        <p:spPr>
          <a:xfrm>
            <a:off x="2185988" y="1192891"/>
            <a:ext cx="1643063" cy="2714623"/>
          </a:xfrm>
          <a:prstGeom prst="rect">
            <a:avLst/>
          </a:prstGeom>
          <a:solidFill>
            <a:srgbClr val="FFFFFF"/>
          </a:solidFill>
          <a:ln w="9525">
            <a:solidFill>
              <a:srgbClr val="C9DCEB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" name="sip-header">
            <a:extLst>
              <a:ext uri="{FF2B5EF4-FFF2-40B4-BE49-F238E27FC236}">
                <a16:creationId xmlns:a16="http://schemas.microsoft.com/office/drawing/2014/main" id="{4EA3DBF1-5411-98DF-F232-26C29478C82B}"/>
              </a:ext>
            </a:extLst>
          </p:cNvPr>
          <p:cNvSpPr>
            <a:spLocks noGrp="1"/>
          </p:cNvSpPr>
          <p:nvPr/>
        </p:nvSpPr>
        <p:spPr>
          <a:xfrm>
            <a:off x="2185988" y="1192892"/>
            <a:ext cx="1643063" cy="357188"/>
          </a:xfrm>
          <a:prstGeom prst="rect">
            <a:avLst/>
          </a:prstGeom>
          <a:solidFill>
            <a:srgbClr val="009CDE"/>
          </a:solidFill>
          <a:ln w="0">
            <a:noFill/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" name="sip-header-text">
            <a:extLst>
              <a:ext uri="{FF2B5EF4-FFF2-40B4-BE49-F238E27FC236}">
                <a16:creationId xmlns:a16="http://schemas.microsoft.com/office/drawing/2014/main" id="{62B3CF75-5C1F-D0CA-8229-F58F38FF397F}"/>
              </a:ext>
            </a:extLst>
          </p:cNvPr>
          <p:cNvSpPr>
            <a:spLocks noGrp="1"/>
          </p:cNvSpPr>
          <p:nvPr/>
        </p:nvSpPr>
        <p:spPr>
          <a:xfrm>
            <a:off x="2307432" y="1192892"/>
            <a:ext cx="1400175" cy="3571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 defTabSz="685800">
              <a:lnSpc>
                <a:spcPct val="108000"/>
              </a:lnSpc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9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SIP  |  提交信息包</a:t>
            </a:r>
          </a:p>
        </p:txBody>
      </p:sp>
      <p:sp>
        <p:nvSpPr>
          <p:cNvPr id="33" name="sip-layer-1">
            <a:extLst>
              <a:ext uri="{FF2B5EF4-FFF2-40B4-BE49-F238E27FC236}">
                <a16:creationId xmlns:a16="http://schemas.microsoft.com/office/drawing/2014/main" id="{81DE31B7-92C4-2D44-9A1B-B31DAA035FB6}"/>
              </a:ext>
            </a:extLst>
          </p:cNvPr>
          <p:cNvSpPr>
            <a:spLocks noGrp="1"/>
          </p:cNvSpPr>
          <p:nvPr/>
        </p:nvSpPr>
        <p:spPr>
          <a:xfrm>
            <a:off x="2364582" y="1735818"/>
            <a:ext cx="1285875" cy="514800"/>
          </a:xfrm>
          <a:prstGeom prst="rect">
            <a:avLst/>
          </a:prstGeom>
          <a:solidFill>
            <a:srgbClr val="F7FAFD"/>
          </a:solidFill>
          <a:ln w="9525">
            <a:solidFill>
              <a:srgbClr val="C9DCEB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" name="sip-layer-1-text">
            <a:extLst>
              <a:ext uri="{FF2B5EF4-FFF2-40B4-BE49-F238E27FC236}">
                <a16:creationId xmlns:a16="http://schemas.microsoft.com/office/drawing/2014/main" id="{6FB4D121-3E04-AEBA-854B-FCB40470F518}"/>
              </a:ext>
            </a:extLst>
          </p:cNvPr>
          <p:cNvSpPr>
            <a:spLocks noGrp="1"/>
          </p:cNvSpPr>
          <p:nvPr/>
        </p:nvSpPr>
        <p:spPr>
          <a:xfrm>
            <a:off x="2464594" y="1654777"/>
            <a:ext cx="1085850" cy="4143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 defTabSz="685800">
              <a:lnSpc>
                <a:spcPct val="108000"/>
              </a:lnSpc>
              <a:defRPr sz="1275" b="1">
                <a:solidFill>
                  <a:srgbClr val="12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6" b="1">
                <a:solidFill>
                  <a:srgbClr val="123B63"/>
                </a:solidFill>
                <a:latin typeface="Microsoft YaHei"/>
                <a:ea typeface="Microsoft YaHei"/>
                <a:cs typeface="Microsoft YaHei"/>
              </a:rPr>
              <a:t>SIP 元数据</a:t>
            </a:r>
          </a:p>
        </p:txBody>
      </p:sp>
      <p:sp>
        <p:nvSpPr>
          <p:cNvPr id="35" name="sip-layer-2">
            <a:extLst>
              <a:ext uri="{FF2B5EF4-FFF2-40B4-BE49-F238E27FC236}">
                <a16:creationId xmlns:a16="http://schemas.microsoft.com/office/drawing/2014/main" id="{0F21293E-605F-5F32-3533-04C6757DFC87}"/>
              </a:ext>
            </a:extLst>
          </p:cNvPr>
          <p:cNvSpPr>
            <a:spLocks noGrp="1"/>
          </p:cNvSpPr>
          <p:nvPr/>
        </p:nvSpPr>
        <p:spPr>
          <a:xfrm>
            <a:off x="2364582" y="2378305"/>
            <a:ext cx="1285875" cy="514800"/>
          </a:xfrm>
          <a:prstGeom prst="rect">
            <a:avLst/>
          </a:prstGeom>
          <a:solidFill>
            <a:srgbClr val="F7FAFD"/>
          </a:solidFill>
          <a:ln w="9525">
            <a:solidFill>
              <a:srgbClr val="C9DCEB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" name="sip-layer-2-text">
            <a:extLst>
              <a:ext uri="{FF2B5EF4-FFF2-40B4-BE49-F238E27FC236}">
                <a16:creationId xmlns:a16="http://schemas.microsoft.com/office/drawing/2014/main" id="{154BA59C-EDBB-1DBE-2A52-2F81504F86C4}"/>
              </a:ext>
            </a:extLst>
          </p:cNvPr>
          <p:cNvSpPr>
            <a:spLocks noGrp="1"/>
          </p:cNvSpPr>
          <p:nvPr/>
        </p:nvSpPr>
        <p:spPr>
          <a:xfrm>
            <a:off x="2464594" y="2295137"/>
            <a:ext cx="1085850" cy="4143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 defTabSz="685800">
              <a:lnSpc>
                <a:spcPct val="108000"/>
              </a:lnSpc>
              <a:defRPr sz="1275" b="1">
                <a:solidFill>
                  <a:srgbClr val="12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6" b="1">
                <a:solidFill>
                  <a:srgbClr val="123B63"/>
                </a:solidFill>
                <a:latin typeface="Microsoft YaHei"/>
                <a:ea typeface="Microsoft YaHei"/>
                <a:cs typeface="Microsoft YaHei"/>
              </a:rPr>
              <a:t>归档内容元数据</a:t>
            </a:r>
          </a:p>
        </p:txBody>
      </p:sp>
      <p:sp>
        <p:nvSpPr>
          <p:cNvPr id="38" name="sip-layer-3">
            <a:extLst>
              <a:ext uri="{FF2B5EF4-FFF2-40B4-BE49-F238E27FC236}">
                <a16:creationId xmlns:a16="http://schemas.microsoft.com/office/drawing/2014/main" id="{B5FADDCF-C541-490E-396C-24BA286958C3}"/>
              </a:ext>
            </a:extLst>
          </p:cNvPr>
          <p:cNvSpPr>
            <a:spLocks noGrp="1"/>
          </p:cNvSpPr>
          <p:nvPr/>
        </p:nvSpPr>
        <p:spPr>
          <a:xfrm>
            <a:off x="2364582" y="3021243"/>
            <a:ext cx="1285875" cy="514800"/>
          </a:xfrm>
          <a:prstGeom prst="rect">
            <a:avLst/>
          </a:prstGeom>
          <a:solidFill>
            <a:srgbClr val="F7FAFD"/>
          </a:solidFill>
          <a:ln w="9525">
            <a:solidFill>
              <a:srgbClr val="C9DCEB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" name="sip-layer-3-text">
            <a:extLst>
              <a:ext uri="{FF2B5EF4-FFF2-40B4-BE49-F238E27FC236}">
                <a16:creationId xmlns:a16="http://schemas.microsoft.com/office/drawing/2014/main" id="{B2E57A3B-E374-AFC2-177A-4CD9837648CF}"/>
              </a:ext>
            </a:extLst>
          </p:cNvPr>
          <p:cNvSpPr>
            <a:spLocks noGrp="1"/>
          </p:cNvSpPr>
          <p:nvPr/>
        </p:nvSpPr>
        <p:spPr>
          <a:xfrm>
            <a:off x="2464594" y="2957982"/>
            <a:ext cx="1085850" cy="4143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 defTabSz="685800">
              <a:lnSpc>
                <a:spcPct val="108000"/>
              </a:lnSpc>
              <a:defRPr sz="1275" b="1">
                <a:solidFill>
                  <a:srgbClr val="12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6" b="1">
                <a:solidFill>
                  <a:srgbClr val="123B63"/>
                </a:solidFill>
                <a:latin typeface="Microsoft YaHei"/>
                <a:ea typeface="Microsoft YaHei"/>
                <a:cs typeface="Microsoft YaHei"/>
              </a:rPr>
              <a:t>内容文件</a:t>
            </a:r>
          </a:p>
        </p:txBody>
      </p:sp>
      <p:sp>
        <p:nvSpPr>
          <p:cNvPr id="40" name="sip-note">
            <a:extLst>
              <a:ext uri="{FF2B5EF4-FFF2-40B4-BE49-F238E27FC236}">
                <a16:creationId xmlns:a16="http://schemas.microsoft.com/office/drawing/2014/main" id="{CBED24ED-96DA-F2A7-8A5B-7261818820E8}"/>
              </a:ext>
            </a:extLst>
          </p:cNvPr>
          <p:cNvSpPr>
            <a:spLocks noGrp="1"/>
          </p:cNvSpPr>
          <p:nvPr/>
        </p:nvSpPr>
        <p:spPr>
          <a:xfrm>
            <a:off x="2307432" y="3631132"/>
            <a:ext cx="1400175" cy="1857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8535"/>
          </a:bodyPr>
          <a:lstStyle/>
          <a:p>
            <a:pPr algn="ctr" defTabSz="685800">
              <a:lnSpc>
                <a:spcPct val="108000"/>
              </a:lnSpc>
              <a:defRPr sz="938" b="0">
                <a:solidFill>
                  <a:srgbClr val="5A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4">
                <a:solidFill>
                  <a:srgbClr val="5A6C7C"/>
                </a:solidFill>
                <a:latin typeface="Microsoft YaHei"/>
                <a:ea typeface="Microsoft YaHei"/>
                <a:cs typeface="Microsoft YaHei"/>
              </a:rPr>
              <a:t>结构化数据可写入 XML 内容元数据</a:t>
            </a:r>
          </a:p>
        </p:txBody>
      </p:sp>
      <p:sp>
        <p:nvSpPr>
          <p:cNvPr id="42" name="aip-container">
            <a:extLst>
              <a:ext uri="{FF2B5EF4-FFF2-40B4-BE49-F238E27FC236}">
                <a16:creationId xmlns:a16="http://schemas.microsoft.com/office/drawing/2014/main" id="{6288CDD0-2751-97E9-5722-0FA3047C202D}"/>
              </a:ext>
            </a:extLst>
          </p:cNvPr>
          <p:cNvSpPr>
            <a:spLocks noGrp="1"/>
          </p:cNvSpPr>
          <p:nvPr/>
        </p:nvSpPr>
        <p:spPr>
          <a:xfrm>
            <a:off x="4071938" y="1192893"/>
            <a:ext cx="2714625" cy="2714625"/>
          </a:xfrm>
          <a:prstGeom prst="rect">
            <a:avLst/>
          </a:prstGeom>
          <a:solidFill>
            <a:srgbClr val="F7FAFD"/>
          </a:solidFill>
          <a:ln w="9525">
            <a:solidFill>
              <a:srgbClr val="C9DCEB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" name="aip-header">
            <a:extLst>
              <a:ext uri="{FF2B5EF4-FFF2-40B4-BE49-F238E27FC236}">
                <a16:creationId xmlns:a16="http://schemas.microsoft.com/office/drawing/2014/main" id="{A60FCA86-6AE5-E603-0500-579432A0B69A}"/>
              </a:ext>
            </a:extLst>
          </p:cNvPr>
          <p:cNvSpPr>
            <a:spLocks noGrp="1"/>
          </p:cNvSpPr>
          <p:nvPr/>
        </p:nvSpPr>
        <p:spPr>
          <a:xfrm>
            <a:off x="4071938" y="1192893"/>
            <a:ext cx="2714625" cy="371475"/>
          </a:xfrm>
          <a:prstGeom prst="rect">
            <a:avLst/>
          </a:prstGeom>
          <a:solidFill>
            <a:srgbClr val="009CDE"/>
          </a:solidFill>
          <a:ln w="0">
            <a:noFill/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" name="aip-header-text">
            <a:extLst>
              <a:ext uri="{FF2B5EF4-FFF2-40B4-BE49-F238E27FC236}">
                <a16:creationId xmlns:a16="http://schemas.microsoft.com/office/drawing/2014/main" id="{BFFD99C1-AEFD-A47A-B50E-2C3A904F8ADD}"/>
              </a:ext>
            </a:extLst>
          </p:cNvPr>
          <p:cNvSpPr>
            <a:spLocks noGrp="1"/>
          </p:cNvSpPr>
          <p:nvPr/>
        </p:nvSpPr>
        <p:spPr>
          <a:xfrm>
            <a:off x="4214813" y="1192893"/>
            <a:ext cx="24288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 defTabSz="685800">
              <a:lnSpc>
                <a:spcPct val="108000"/>
              </a:lnSpc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AIP  |  归档信息包</a:t>
            </a:r>
          </a:p>
        </p:txBody>
      </p:sp>
      <p:sp>
        <p:nvSpPr>
          <p:cNvPr id="47" name="aip-layer-1">
            <a:extLst>
              <a:ext uri="{FF2B5EF4-FFF2-40B4-BE49-F238E27FC236}">
                <a16:creationId xmlns:a16="http://schemas.microsoft.com/office/drawing/2014/main" id="{1F5A92F4-DD2B-0D37-02C7-64C29C626C59}"/>
              </a:ext>
            </a:extLst>
          </p:cNvPr>
          <p:cNvSpPr>
            <a:spLocks noGrp="1"/>
          </p:cNvSpPr>
          <p:nvPr/>
        </p:nvSpPr>
        <p:spPr>
          <a:xfrm>
            <a:off x="4250531" y="2378542"/>
            <a:ext cx="2357438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CEB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8" name="aip-layer-1-title">
            <a:extLst>
              <a:ext uri="{FF2B5EF4-FFF2-40B4-BE49-F238E27FC236}">
                <a16:creationId xmlns:a16="http://schemas.microsoft.com/office/drawing/2014/main" id="{404DA19B-A2C9-F15D-F472-A2684C505683}"/>
              </a:ext>
            </a:extLst>
          </p:cNvPr>
          <p:cNvSpPr>
            <a:spLocks noGrp="1"/>
          </p:cNvSpPr>
          <p:nvPr/>
        </p:nvSpPr>
        <p:spPr>
          <a:xfrm>
            <a:off x="4379119" y="2437097"/>
            <a:ext cx="2100263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 defTabSz="685800">
              <a:lnSpc>
                <a:spcPct val="108000"/>
              </a:lnSpc>
              <a:defRPr sz="1350" b="1">
                <a:solidFill>
                  <a:srgbClr val="12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23B63"/>
                </a:solidFill>
                <a:latin typeface="Microsoft YaHei"/>
                <a:ea typeface="Microsoft YaHei"/>
                <a:cs typeface="Microsoft YaHei"/>
              </a:rPr>
              <a:t>结构化数据 / XML 对象</a:t>
            </a:r>
          </a:p>
        </p:txBody>
      </p:sp>
      <p:sp>
        <p:nvSpPr>
          <p:cNvPr id="49" name="aip-layer-1-desc">
            <a:extLst>
              <a:ext uri="{FF2B5EF4-FFF2-40B4-BE49-F238E27FC236}">
                <a16:creationId xmlns:a16="http://schemas.microsoft.com/office/drawing/2014/main" id="{17CEA419-75CA-392E-54FD-E4174F94EDA6}"/>
              </a:ext>
            </a:extLst>
          </p:cNvPr>
          <p:cNvSpPr>
            <a:spLocks noGrp="1"/>
          </p:cNvSpPr>
          <p:nvPr/>
        </p:nvSpPr>
        <p:spPr>
          <a:xfrm>
            <a:off x="4379119" y="2658553"/>
            <a:ext cx="2100263" cy="178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 defTabSz="685800">
              <a:lnSpc>
                <a:spcPct val="108000"/>
              </a:lnSpc>
              <a:defRPr sz="1088" b="0">
                <a:solidFill>
                  <a:srgbClr val="5A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6">
                <a:solidFill>
                  <a:srgbClr val="5A6C7C"/>
                </a:solidFill>
                <a:latin typeface="Microsoft YaHei"/>
                <a:ea typeface="Microsoft YaHei"/>
                <a:cs typeface="Microsoft YaHei"/>
              </a:rPr>
              <a:t>业务记录、字段及其关系</a:t>
            </a:r>
          </a:p>
        </p:txBody>
      </p:sp>
      <p:sp>
        <p:nvSpPr>
          <p:cNvPr id="53" name="aip-layer-2">
            <a:extLst>
              <a:ext uri="{FF2B5EF4-FFF2-40B4-BE49-F238E27FC236}">
                <a16:creationId xmlns:a16="http://schemas.microsoft.com/office/drawing/2014/main" id="{8EA00893-1509-1A9E-D7FB-62F4D093176A}"/>
              </a:ext>
            </a:extLst>
          </p:cNvPr>
          <p:cNvSpPr>
            <a:spLocks noGrp="1"/>
          </p:cNvSpPr>
          <p:nvPr/>
        </p:nvSpPr>
        <p:spPr>
          <a:xfrm>
            <a:off x="4250531" y="3021479"/>
            <a:ext cx="2357438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CEB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4" name="aip-layer-2-title">
            <a:extLst>
              <a:ext uri="{FF2B5EF4-FFF2-40B4-BE49-F238E27FC236}">
                <a16:creationId xmlns:a16="http://schemas.microsoft.com/office/drawing/2014/main" id="{12BA5FD4-6CF7-D576-AFFA-C1BCB270B906}"/>
              </a:ext>
            </a:extLst>
          </p:cNvPr>
          <p:cNvSpPr>
            <a:spLocks noGrp="1"/>
          </p:cNvSpPr>
          <p:nvPr/>
        </p:nvSpPr>
        <p:spPr>
          <a:xfrm>
            <a:off x="4379119" y="3080034"/>
            <a:ext cx="2100263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 defTabSz="685800">
              <a:lnSpc>
                <a:spcPct val="108000"/>
              </a:lnSpc>
              <a:defRPr sz="1350" b="1">
                <a:solidFill>
                  <a:srgbClr val="12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1">
                <a:solidFill>
                  <a:srgbClr val="123B63"/>
                </a:solidFill>
                <a:latin typeface="Microsoft YaHei"/>
                <a:ea typeface="Microsoft YaHei"/>
                <a:cs typeface="Microsoft YaHei"/>
              </a:rPr>
              <a:t>内容文件与附件</a:t>
            </a:r>
          </a:p>
        </p:txBody>
      </p:sp>
      <p:sp>
        <p:nvSpPr>
          <p:cNvPr id="55" name="aip-layer-2-desc">
            <a:extLst>
              <a:ext uri="{FF2B5EF4-FFF2-40B4-BE49-F238E27FC236}">
                <a16:creationId xmlns:a16="http://schemas.microsoft.com/office/drawing/2014/main" id="{26CFF114-CCE2-DC51-1A7F-BFD70A329BCC}"/>
              </a:ext>
            </a:extLst>
          </p:cNvPr>
          <p:cNvSpPr>
            <a:spLocks noGrp="1"/>
          </p:cNvSpPr>
          <p:nvPr/>
        </p:nvSpPr>
        <p:spPr>
          <a:xfrm>
            <a:off x="4379119" y="3301491"/>
            <a:ext cx="2100263" cy="178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 defTabSz="685800">
              <a:lnSpc>
                <a:spcPct val="108000"/>
              </a:lnSpc>
              <a:defRPr sz="1088" b="0">
                <a:solidFill>
                  <a:srgbClr val="5A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816">
                <a:solidFill>
                  <a:srgbClr val="5A6C7C"/>
                </a:solidFill>
                <a:latin typeface="Microsoft YaHei"/>
                <a:ea typeface="Microsoft YaHei"/>
                <a:cs typeface="Microsoft YaHei"/>
              </a:rPr>
              <a:t>PDF</a:t>
            </a:r>
            <a:r>
              <a:rPr lang="zh-CN" altLang="en-US" sz="816">
                <a:solidFill>
                  <a:srgbClr val="5A6C7C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lang="en-US" altLang="zh-CN" sz="816">
                <a:solidFill>
                  <a:srgbClr val="5A6C7C"/>
                </a:solidFill>
                <a:latin typeface="Microsoft YaHei"/>
                <a:ea typeface="Microsoft YaHei"/>
                <a:cs typeface="Microsoft YaHei"/>
              </a:rPr>
              <a:t>Word</a:t>
            </a:r>
            <a:r>
              <a:rPr lang="zh-CN" altLang="en-US" sz="816">
                <a:solidFill>
                  <a:srgbClr val="5A6C7C"/>
                </a:solidFill>
                <a:latin typeface="Microsoft YaHei"/>
                <a:ea typeface="Microsoft YaHei"/>
                <a:cs typeface="Microsoft YaHei"/>
              </a:rPr>
              <a:t>、图像及其他非结构化内容</a:t>
            </a:r>
          </a:p>
        </p:txBody>
      </p:sp>
      <p:sp>
        <p:nvSpPr>
          <p:cNvPr id="56" name="aip-layer-3">
            <a:extLst>
              <a:ext uri="{FF2B5EF4-FFF2-40B4-BE49-F238E27FC236}">
                <a16:creationId xmlns:a16="http://schemas.microsoft.com/office/drawing/2014/main" id="{9D657F9A-C7D1-4CA5-7034-284625BFDCEC}"/>
              </a:ext>
            </a:extLst>
          </p:cNvPr>
          <p:cNvSpPr>
            <a:spLocks noGrp="1"/>
          </p:cNvSpPr>
          <p:nvPr/>
        </p:nvSpPr>
        <p:spPr>
          <a:xfrm>
            <a:off x="4236244" y="1736191"/>
            <a:ext cx="2357438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CEB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9" name="aip-layer-3-title">
            <a:extLst>
              <a:ext uri="{FF2B5EF4-FFF2-40B4-BE49-F238E27FC236}">
                <a16:creationId xmlns:a16="http://schemas.microsoft.com/office/drawing/2014/main" id="{3FAA696C-882E-2880-9C68-3DB55FC7C533}"/>
              </a:ext>
            </a:extLst>
          </p:cNvPr>
          <p:cNvSpPr>
            <a:spLocks noGrp="1"/>
          </p:cNvSpPr>
          <p:nvPr/>
        </p:nvSpPr>
        <p:spPr>
          <a:xfrm>
            <a:off x="4400550" y="1797141"/>
            <a:ext cx="2100263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 defTabSz="685800">
              <a:lnSpc>
                <a:spcPct val="108000"/>
              </a:lnSpc>
              <a:defRPr sz="1350" b="1">
                <a:solidFill>
                  <a:srgbClr val="12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1">
                <a:solidFill>
                  <a:srgbClr val="123B63"/>
                </a:solidFill>
                <a:latin typeface="Microsoft YaHei"/>
                <a:ea typeface="Microsoft YaHei"/>
                <a:cs typeface="Microsoft YaHei"/>
              </a:rPr>
              <a:t>元数据与索引</a:t>
            </a:r>
          </a:p>
        </p:txBody>
      </p:sp>
      <p:sp>
        <p:nvSpPr>
          <p:cNvPr id="60" name="aip-layer-3-desc">
            <a:extLst>
              <a:ext uri="{FF2B5EF4-FFF2-40B4-BE49-F238E27FC236}">
                <a16:creationId xmlns:a16="http://schemas.microsoft.com/office/drawing/2014/main" id="{B2475B68-DA56-FE9A-2729-13150E140A29}"/>
              </a:ext>
            </a:extLst>
          </p:cNvPr>
          <p:cNvSpPr>
            <a:spLocks noGrp="1"/>
          </p:cNvSpPr>
          <p:nvPr/>
        </p:nvSpPr>
        <p:spPr>
          <a:xfrm>
            <a:off x="4400550" y="2018597"/>
            <a:ext cx="2100263" cy="178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 defTabSz="685800">
              <a:lnSpc>
                <a:spcPct val="108000"/>
              </a:lnSpc>
              <a:defRPr sz="1088" b="0">
                <a:solidFill>
                  <a:srgbClr val="5A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816">
                <a:solidFill>
                  <a:srgbClr val="5A6C7C"/>
                </a:solidFill>
                <a:latin typeface="Microsoft YaHei"/>
                <a:ea typeface="Microsoft YaHei"/>
                <a:cs typeface="Microsoft YaHei"/>
              </a:rPr>
              <a:t>来源标识、分类、保留与访问属性</a:t>
            </a:r>
          </a:p>
        </p:txBody>
      </p:sp>
      <p:sp>
        <p:nvSpPr>
          <p:cNvPr id="61" name="holding-footer">
            <a:extLst>
              <a:ext uri="{FF2B5EF4-FFF2-40B4-BE49-F238E27FC236}">
                <a16:creationId xmlns:a16="http://schemas.microsoft.com/office/drawing/2014/main" id="{88D30AC5-B4A9-15B6-B312-425B7403C0B7}"/>
              </a:ext>
            </a:extLst>
          </p:cNvPr>
          <p:cNvSpPr>
            <a:spLocks noGrp="1"/>
          </p:cNvSpPr>
          <p:nvPr/>
        </p:nvSpPr>
        <p:spPr>
          <a:xfrm>
            <a:off x="4250531" y="3636055"/>
            <a:ext cx="2357438" cy="171450"/>
          </a:xfrm>
          <a:prstGeom prst="rect">
            <a:avLst/>
          </a:prstGeom>
          <a:solidFill>
            <a:srgbClr val="009CDE"/>
          </a:solidFill>
          <a:ln w="0">
            <a:noFill/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2" name="holding-footer-text">
            <a:extLst>
              <a:ext uri="{FF2B5EF4-FFF2-40B4-BE49-F238E27FC236}">
                <a16:creationId xmlns:a16="http://schemas.microsoft.com/office/drawing/2014/main" id="{8D7FACA0-589B-35FC-FF53-F47DBA60B814}"/>
              </a:ext>
            </a:extLst>
          </p:cNvPr>
          <p:cNvSpPr>
            <a:spLocks noGrp="1"/>
          </p:cNvSpPr>
          <p:nvPr/>
        </p:nvSpPr>
        <p:spPr>
          <a:xfrm>
            <a:off x="4357688" y="3636055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 defTabSz="685800">
              <a:lnSpc>
                <a:spcPct val="108000"/>
              </a:lnSpc>
              <a:defRPr sz="10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按分类存入 Archive Holding 长期保存</a:t>
            </a:r>
          </a:p>
        </p:txBody>
      </p:sp>
      <p:sp>
        <p:nvSpPr>
          <p:cNvPr id="66" name="dip-container">
            <a:extLst>
              <a:ext uri="{FF2B5EF4-FFF2-40B4-BE49-F238E27FC236}">
                <a16:creationId xmlns:a16="http://schemas.microsoft.com/office/drawing/2014/main" id="{85FFF2FC-25A3-E40A-17FE-2A40C4160E7C}"/>
              </a:ext>
            </a:extLst>
          </p:cNvPr>
          <p:cNvSpPr>
            <a:spLocks noGrp="1"/>
          </p:cNvSpPr>
          <p:nvPr/>
        </p:nvSpPr>
        <p:spPr>
          <a:xfrm>
            <a:off x="7036594" y="1192892"/>
            <a:ext cx="1678781" cy="2714622"/>
          </a:xfrm>
          <a:prstGeom prst="rect">
            <a:avLst/>
          </a:prstGeom>
          <a:solidFill>
            <a:srgbClr val="FFFFFF"/>
          </a:solidFill>
          <a:ln w="9525">
            <a:solidFill>
              <a:srgbClr val="C9DCEB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8" name="dip-header">
            <a:extLst>
              <a:ext uri="{FF2B5EF4-FFF2-40B4-BE49-F238E27FC236}">
                <a16:creationId xmlns:a16="http://schemas.microsoft.com/office/drawing/2014/main" id="{C8B1F28B-BB38-A472-3636-7DD09CDF5108}"/>
              </a:ext>
            </a:extLst>
          </p:cNvPr>
          <p:cNvSpPr>
            <a:spLocks noGrp="1"/>
          </p:cNvSpPr>
          <p:nvPr/>
        </p:nvSpPr>
        <p:spPr>
          <a:xfrm>
            <a:off x="7036594" y="1192892"/>
            <a:ext cx="1678781" cy="357188"/>
          </a:xfrm>
          <a:prstGeom prst="rect">
            <a:avLst/>
          </a:prstGeom>
          <a:solidFill>
            <a:srgbClr val="009CDE"/>
          </a:solidFill>
          <a:ln w="0">
            <a:noFill/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8" name="dip-header-text">
            <a:extLst>
              <a:ext uri="{FF2B5EF4-FFF2-40B4-BE49-F238E27FC236}">
                <a16:creationId xmlns:a16="http://schemas.microsoft.com/office/drawing/2014/main" id="{F43E7845-89FF-FCAD-DB48-2F4858AC5A6C}"/>
              </a:ext>
            </a:extLst>
          </p:cNvPr>
          <p:cNvSpPr>
            <a:spLocks noGrp="1"/>
          </p:cNvSpPr>
          <p:nvPr/>
        </p:nvSpPr>
        <p:spPr>
          <a:xfrm>
            <a:off x="7172325" y="1192892"/>
            <a:ext cx="1407319" cy="3571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 defTabSz="685800">
              <a:lnSpc>
                <a:spcPct val="108000"/>
              </a:lnSpc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9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DIP  |  分发信息包</a:t>
            </a:r>
          </a:p>
        </p:txBody>
      </p:sp>
      <p:sp>
        <p:nvSpPr>
          <p:cNvPr id="79" name="dip-body">
            <a:extLst>
              <a:ext uri="{FF2B5EF4-FFF2-40B4-BE49-F238E27FC236}">
                <a16:creationId xmlns:a16="http://schemas.microsoft.com/office/drawing/2014/main" id="{375E6410-A0ED-3C68-0E6A-753D475C8E64}"/>
              </a:ext>
            </a:extLst>
          </p:cNvPr>
          <p:cNvSpPr>
            <a:spLocks noGrp="1"/>
          </p:cNvSpPr>
          <p:nvPr/>
        </p:nvSpPr>
        <p:spPr>
          <a:xfrm>
            <a:off x="7200900" y="1764392"/>
            <a:ext cx="1350169" cy="13573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 defTabSz="685800">
              <a:lnSpc>
                <a:spcPct val="108000"/>
              </a:lnSpc>
              <a:defRPr sz="1238" b="1">
                <a:solidFill>
                  <a:srgbClr val="12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9" b="1">
                <a:solidFill>
                  <a:srgbClr val="123B63"/>
                </a:solidFill>
                <a:latin typeface="Microsoft YaHei"/>
                <a:ea typeface="Microsoft YaHei"/>
                <a:cs typeface="Microsoft YaHei"/>
              </a:rPr>
              <a:t>检索结果</a:t>
            </a:r>
          </a:p>
          <a:p>
            <a:pPr defTabSz="685800"/>
            <a:endParaRPr sz="929" b="1">
              <a:solidFill>
                <a:srgbClr val="123B63"/>
              </a:solidFill>
              <a:latin typeface="Microsoft YaHei"/>
              <a:ea typeface="Microsoft YaHei"/>
              <a:cs typeface="Microsoft YaHei"/>
            </a:endParaRPr>
          </a:p>
          <a:p>
            <a:pPr algn="ctr" defTabSz="685800">
              <a:lnSpc>
                <a:spcPct val="108000"/>
              </a:lnSpc>
              <a:defRPr sz="1238" b="1">
                <a:solidFill>
                  <a:srgbClr val="12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9" b="1">
                <a:solidFill>
                  <a:srgbClr val="123B63"/>
                </a:solidFill>
                <a:latin typeface="Microsoft YaHei"/>
                <a:ea typeface="Microsoft YaHei"/>
                <a:cs typeface="Microsoft YaHei"/>
              </a:rPr>
              <a:t>记录详情与关联数据</a:t>
            </a:r>
          </a:p>
          <a:p>
            <a:pPr defTabSz="685800"/>
            <a:endParaRPr sz="929" b="1">
              <a:solidFill>
                <a:srgbClr val="123B63"/>
              </a:solidFill>
              <a:latin typeface="Microsoft YaHei"/>
              <a:ea typeface="Microsoft YaHei"/>
              <a:cs typeface="Microsoft YaHei"/>
            </a:endParaRPr>
          </a:p>
          <a:p>
            <a:pPr algn="ctr" defTabSz="685800">
              <a:lnSpc>
                <a:spcPct val="108000"/>
              </a:lnSpc>
              <a:defRPr sz="1238" b="1">
                <a:solidFill>
                  <a:srgbClr val="12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9" b="1">
                <a:solidFill>
                  <a:srgbClr val="123B63"/>
                </a:solidFill>
                <a:latin typeface="Microsoft YaHei"/>
                <a:ea typeface="Microsoft YaHei"/>
                <a:cs typeface="Microsoft YaHei"/>
              </a:rPr>
              <a:t>附件查看 / 下载</a:t>
            </a:r>
          </a:p>
          <a:p>
            <a:pPr defTabSz="685800"/>
            <a:endParaRPr sz="929" b="1">
              <a:solidFill>
                <a:srgbClr val="123B63"/>
              </a:solidFill>
              <a:latin typeface="Microsoft YaHei"/>
              <a:ea typeface="Microsoft YaHei"/>
              <a:cs typeface="Microsoft YaHei"/>
            </a:endParaRPr>
          </a:p>
          <a:p>
            <a:pPr algn="ctr" defTabSz="685800">
              <a:lnSpc>
                <a:spcPct val="108000"/>
              </a:lnSpc>
              <a:defRPr sz="1238" b="1">
                <a:solidFill>
                  <a:srgbClr val="12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9" b="1">
                <a:solidFill>
                  <a:srgbClr val="123B63"/>
                </a:solidFill>
                <a:latin typeface="Microsoft YaHei"/>
                <a:ea typeface="Microsoft YaHei"/>
                <a:cs typeface="Microsoft YaHei"/>
              </a:rPr>
              <a:t>报表、导出与 API</a:t>
            </a:r>
          </a:p>
        </p:txBody>
      </p:sp>
      <p:sp>
        <p:nvSpPr>
          <p:cNvPr id="80" name="dip-note">
            <a:extLst>
              <a:ext uri="{FF2B5EF4-FFF2-40B4-BE49-F238E27FC236}">
                <a16:creationId xmlns:a16="http://schemas.microsoft.com/office/drawing/2014/main" id="{81553C7B-6303-3F44-7D7E-262BCDC5C536}"/>
              </a:ext>
            </a:extLst>
          </p:cNvPr>
          <p:cNvSpPr>
            <a:spLocks noGrp="1"/>
          </p:cNvSpPr>
          <p:nvPr/>
        </p:nvSpPr>
        <p:spPr>
          <a:xfrm>
            <a:off x="7186613" y="3616845"/>
            <a:ext cx="1378744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 defTabSz="685800">
              <a:lnSpc>
                <a:spcPct val="108000"/>
              </a:lnSpc>
              <a:defRPr sz="1050" b="0">
                <a:solidFill>
                  <a:srgbClr val="5A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>
                <a:solidFill>
                  <a:srgbClr val="5A6C7C"/>
                </a:solidFill>
                <a:latin typeface="Microsoft YaHei"/>
                <a:ea typeface="Microsoft YaHei"/>
                <a:cs typeface="Microsoft YaHei"/>
              </a:rPr>
              <a:t>无需运行原应用即可访问</a:t>
            </a:r>
          </a:p>
        </p:txBody>
      </p:sp>
      <p:sp>
        <p:nvSpPr>
          <p:cNvPr id="81" name="s2-bottom-callout">
            <a:extLst>
              <a:ext uri="{FF2B5EF4-FFF2-40B4-BE49-F238E27FC236}">
                <a16:creationId xmlns:a16="http://schemas.microsoft.com/office/drawing/2014/main" id="{16F0A224-95F7-B615-4025-DB0236F00DF5}"/>
              </a:ext>
            </a:extLst>
          </p:cNvPr>
          <p:cNvSpPr>
            <a:spLocks noGrp="1"/>
          </p:cNvSpPr>
          <p:nvPr/>
        </p:nvSpPr>
        <p:spPr>
          <a:xfrm>
            <a:off x="428625" y="4078968"/>
            <a:ext cx="8286750" cy="392906"/>
          </a:xfrm>
          <a:prstGeom prst="rect">
            <a:avLst/>
          </a:prstGeom>
          <a:solidFill>
            <a:srgbClr val="F7FAFD"/>
          </a:solidFill>
          <a:ln w="0">
            <a:noFill/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3" name="s2-bottom-callout-text">
            <a:extLst>
              <a:ext uri="{FF2B5EF4-FFF2-40B4-BE49-F238E27FC236}">
                <a16:creationId xmlns:a16="http://schemas.microsoft.com/office/drawing/2014/main" id="{ABD07A38-6894-B41E-37C5-C484AA87EA16}"/>
              </a:ext>
            </a:extLst>
          </p:cNvPr>
          <p:cNvSpPr>
            <a:spLocks noGrp="1"/>
          </p:cNvSpPr>
          <p:nvPr/>
        </p:nvSpPr>
        <p:spPr>
          <a:xfrm>
            <a:off x="2114550" y="4078968"/>
            <a:ext cx="4914900" cy="39290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 defTabSz="685800">
              <a:lnSpc>
                <a:spcPct val="108000"/>
              </a:lnSpc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1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参考 </a:t>
            </a:r>
            <a:r>
              <a:rPr sz="1013" b="1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InfoArchive</a:t>
            </a:r>
            <a:r>
              <a:rPr lang="en-US" sz="1013" b="1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13" b="1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归档组织方式；Submission 等业务对象由 China RIMS 自行定义</a:t>
            </a:r>
          </a:p>
        </p:txBody>
      </p:sp>
      <p:sp>
        <p:nvSpPr>
          <p:cNvPr id="84" name="source-db-desc">
            <a:extLst>
              <a:ext uri="{FF2B5EF4-FFF2-40B4-BE49-F238E27FC236}">
                <a16:creationId xmlns:a16="http://schemas.microsoft.com/office/drawing/2014/main" id="{BFA497B3-D658-2F8E-1BDC-64B95481D413}"/>
              </a:ext>
            </a:extLst>
          </p:cNvPr>
          <p:cNvSpPr>
            <a:spLocks noGrp="1"/>
          </p:cNvSpPr>
          <p:nvPr/>
        </p:nvSpPr>
        <p:spPr>
          <a:xfrm>
            <a:off x="2409903" y="2005292"/>
            <a:ext cx="1185863" cy="178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 defTabSz="685800">
              <a:lnSpc>
                <a:spcPct val="108000"/>
              </a:lnSpc>
              <a:defRPr sz="1050" b="0">
                <a:solidFill>
                  <a:srgbClr val="5A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>
                <a:solidFill>
                  <a:srgbClr val="5A6C7C"/>
                </a:solidFill>
                <a:latin typeface="Microsoft YaHei"/>
                <a:ea typeface="Microsoft YaHei"/>
                <a:cs typeface="Microsoft YaHei"/>
              </a:rPr>
              <a:t>来源、迁移批次、生成时间、访问权限保护要求</a:t>
            </a:r>
            <a:endParaRPr sz="790">
              <a:solidFill>
                <a:srgbClr val="5A6C7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5" name="source-db-desc">
            <a:extLst>
              <a:ext uri="{FF2B5EF4-FFF2-40B4-BE49-F238E27FC236}">
                <a16:creationId xmlns:a16="http://schemas.microsoft.com/office/drawing/2014/main" id="{446AA857-E243-8807-4A20-941932852493}"/>
              </a:ext>
            </a:extLst>
          </p:cNvPr>
          <p:cNvSpPr>
            <a:spLocks noGrp="1"/>
          </p:cNvSpPr>
          <p:nvPr/>
        </p:nvSpPr>
        <p:spPr>
          <a:xfrm>
            <a:off x="2414822" y="2652196"/>
            <a:ext cx="1185863" cy="178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 defTabSz="685800">
              <a:lnSpc>
                <a:spcPct val="108000"/>
              </a:lnSpc>
              <a:defRPr sz="1050" b="0">
                <a:solidFill>
                  <a:srgbClr val="5A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>
                <a:solidFill>
                  <a:srgbClr val="5A6C7C"/>
                </a:solidFill>
                <a:latin typeface="Microsoft YaHei"/>
                <a:ea typeface="Microsoft YaHei"/>
                <a:cs typeface="Microsoft YaHei"/>
              </a:rPr>
              <a:t>业务字段、文件关系信息</a:t>
            </a:r>
            <a:endParaRPr sz="790">
              <a:solidFill>
                <a:srgbClr val="5A6C7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" name="source-db-desc">
            <a:extLst>
              <a:ext uri="{FF2B5EF4-FFF2-40B4-BE49-F238E27FC236}">
                <a16:creationId xmlns:a16="http://schemas.microsoft.com/office/drawing/2014/main" id="{5206D31B-E1AE-841B-C353-6873C8323B74}"/>
              </a:ext>
            </a:extLst>
          </p:cNvPr>
          <p:cNvSpPr>
            <a:spLocks noGrp="1"/>
          </p:cNvSpPr>
          <p:nvPr/>
        </p:nvSpPr>
        <p:spPr>
          <a:xfrm>
            <a:off x="2414822" y="3303461"/>
            <a:ext cx="1185863" cy="178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 defTabSz="685800">
              <a:lnSpc>
                <a:spcPct val="108000"/>
              </a:lnSpc>
              <a:defRPr sz="1050" b="0">
                <a:solidFill>
                  <a:srgbClr val="5A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790">
                <a:solidFill>
                  <a:srgbClr val="5A6C7C"/>
                </a:solidFill>
                <a:latin typeface="Microsoft YaHei"/>
                <a:ea typeface="Microsoft YaHei"/>
                <a:cs typeface="Microsoft YaHei"/>
              </a:rPr>
              <a:t>PDF</a:t>
            </a:r>
            <a:r>
              <a:rPr lang="zh-CN" altLang="en-US" sz="790">
                <a:solidFill>
                  <a:srgbClr val="5A6C7C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lang="en-US" altLang="zh-CN" sz="790">
                <a:solidFill>
                  <a:srgbClr val="5A6C7C"/>
                </a:solidFill>
                <a:latin typeface="Microsoft YaHei"/>
                <a:ea typeface="Microsoft YaHei"/>
                <a:cs typeface="Microsoft YaHei"/>
              </a:rPr>
              <a:t>word</a:t>
            </a:r>
            <a:r>
              <a:rPr lang="zh-CN" altLang="en-US" sz="790">
                <a:solidFill>
                  <a:srgbClr val="5A6C7C"/>
                </a:solidFill>
                <a:latin typeface="Microsoft YaHei"/>
                <a:ea typeface="Microsoft YaHei"/>
                <a:cs typeface="Microsoft YaHei"/>
              </a:rPr>
              <a:t>或其他扫描件</a:t>
            </a:r>
            <a:endParaRPr sz="790">
              <a:solidFill>
                <a:srgbClr val="5A6C7C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8478302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5E983-B793-90FF-C62B-64730B641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4789271-521D-16C3-6834-84ADA1971D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China RIMS Solution Proposal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012BB79-8938-21A8-E8A3-00A07C368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鸿翼现有产品能力覆盖</a:t>
            </a:r>
          </a:p>
        </p:txBody>
      </p:sp>
      <p:sp>
        <p:nvSpPr>
          <p:cNvPr id="3" name="left-header">
            <a:extLst>
              <a:ext uri="{FF2B5EF4-FFF2-40B4-BE49-F238E27FC236}">
                <a16:creationId xmlns:a16="http://schemas.microsoft.com/office/drawing/2014/main" id="{48DD64F6-9977-A33D-F8E8-ED0C31E2EBC1}"/>
              </a:ext>
            </a:extLst>
          </p:cNvPr>
          <p:cNvSpPr>
            <a:spLocks noGrp="1"/>
          </p:cNvSpPr>
          <p:nvPr/>
        </p:nvSpPr>
        <p:spPr>
          <a:xfrm>
            <a:off x="428625" y="1128056"/>
            <a:ext cx="5072063" cy="242888"/>
          </a:xfrm>
          <a:prstGeom prst="rect">
            <a:avLst/>
          </a:prstGeom>
          <a:solidFill>
            <a:srgbClr val="EEF5FB"/>
          </a:solidFill>
          <a:ln w="0">
            <a:solidFill>
              <a:srgbClr val="EEF5FB"/>
            </a:solidFill>
            <a:prstDash val="solid"/>
          </a:ln>
        </p:spPr>
        <p:txBody>
          <a:bodyPr/>
          <a:lstStyle/>
          <a:p>
            <a:pPr defTabSz="685800"/>
            <a:endParaRPr lang="en-US" sz="15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right-header">
            <a:extLst>
              <a:ext uri="{FF2B5EF4-FFF2-40B4-BE49-F238E27FC236}">
                <a16:creationId xmlns:a16="http://schemas.microsoft.com/office/drawing/2014/main" id="{8BDFAE7F-4A32-CE81-0A83-0A635BA129CB}"/>
              </a:ext>
            </a:extLst>
          </p:cNvPr>
          <p:cNvSpPr>
            <a:spLocks noGrp="1"/>
          </p:cNvSpPr>
          <p:nvPr/>
        </p:nvSpPr>
        <p:spPr>
          <a:xfrm>
            <a:off x="6215062" y="1128056"/>
            <a:ext cx="2500313" cy="242888"/>
          </a:xfrm>
          <a:prstGeom prst="rect">
            <a:avLst/>
          </a:prstGeom>
          <a:solidFill>
            <a:srgbClr val="009CDE"/>
          </a:solidFill>
          <a:ln w="0">
            <a:noFill/>
            <a:prstDash val="solid"/>
          </a:ln>
        </p:spPr>
        <p:txBody>
          <a:bodyPr/>
          <a:lstStyle/>
          <a:p>
            <a:pPr defTabSz="685800"/>
            <a:endParaRPr lang="en-US" sz="15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left-header-text">
            <a:extLst>
              <a:ext uri="{FF2B5EF4-FFF2-40B4-BE49-F238E27FC236}">
                <a16:creationId xmlns:a16="http://schemas.microsoft.com/office/drawing/2014/main" id="{8512C500-66E7-A586-494A-094B015860AC}"/>
              </a:ext>
            </a:extLst>
          </p:cNvPr>
          <p:cNvSpPr>
            <a:spLocks noGrp="1"/>
          </p:cNvSpPr>
          <p:nvPr/>
        </p:nvSpPr>
        <p:spPr>
          <a:xfrm>
            <a:off x="542925" y="1128056"/>
            <a:ext cx="4786313" cy="242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defTabSz="685800">
              <a:lnSpc>
                <a:spcPct val="108000"/>
              </a:lnSpc>
              <a:defRPr sz="1275" b="1">
                <a:solidFill>
                  <a:srgbClr val="12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>
                <a:solidFill>
                  <a:srgbClr val="123B63"/>
                </a:solidFill>
                <a:latin typeface="Microsoft YaHei"/>
                <a:ea typeface="Microsoft YaHei"/>
                <a:cs typeface="Microsoft YaHei"/>
              </a:rPr>
              <a:t>鸿翼 </a:t>
            </a:r>
            <a:r>
              <a:rPr sz="1200" b="1">
                <a:solidFill>
                  <a:srgbClr val="123B63"/>
                </a:solidFill>
                <a:latin typeface="Microsoft YaHei"/>
                <a:ea typeface="Microsoft YaHei"/>
                <a:cs typeface="Microsoft YaHei"/>
              </a:rPr>
              <a:t>|  对应产品能力</a:t>
            </a:r>
          </a:p>
        </p:txBody>
      </p:sp>
      <p:sp>
        <p:nvSpPr>
          <p:cNvPr id="10" name="right-header-text">
            <a:extLst>
              <a:ext uri="{FF2B5EF4-FFF2-40B4-BE49-F238E27FC236}">
                <a16:creationId xmlns:a16="http://schemas.microsoft.com/office/drawing/2014/main" id="{E8B042B9-C406-DD4E-61E0-CDF3FDA08E0C}"/>
              </a:ext>
            </a:extLst>
          </p:cNvPr>
          <p:cNvSpPr>
            <a:spLocks noGrp="1"/>
          </p:cNvSpPr>
          <p:nvPr/>
        </p:nvSpPr>
        <p:spPr>
          <a:xfrm>
            <a:off x="6343650" y="1128056"/>
            <a:ext cx="2214563" cy="242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defTabSz="685800">
              <a:lnSpc>
                <a:spcPct val="108000"/>
              </a:lnSpc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China RIMS  |  功能模块</a:t>
            </a:r>
          </a:p>
        </p:txBody>
      </p:sp>
      <p:sp>
        <p:nvSpPr>
          <p:cNvPr id="11" name="capability-01">
            <a:extLst>
              <a:ext uri="{FF2B5EF4-FFF2-40B4-BE49-F238E27FC236}">
                <a16:creationId xmlns:a16="http://schemas.microsoft.com/office/drawing/2014/main" id="{3B188B2E-29C0-EBC1-C7F2-BB5C7E34B51A}"/>
              </a:ext>
            </a:extLst>
          </p:cNvPr>
          <p:cNvSpPr>
            <a:spLocks noGrp="1"/>
          </p:cNvSpPr>
          <p:nvPr/>
        </p:nvSpPr>
        <p:spPr>
          <a:xfrm>
            <a:off x="428625" y="1475938"/>
            <a:ext cx="5072063" cy="545781"/>
          </a:xfrm>
          <a:prstGeom prst="rect">
            <a:avLst/>
          </a:prstGeom>
          <a:solidFill>
            <a:srgbClr val="FFFFFF"/>
          </a:solidFill>
          <a:ln w="9525">
            <a:solidFill>
              <a:srgbClr val="C9DCEB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capability-accent-01">
            <a:extLst>
              <a:ext uri="{FF2B5EF4-FFF2-40B4-BE49-F238E27FC236}">
                <a16:creationId xmlns:a16="http://schemas.microsoft.com/office/drawing/2014/main" id="{E08B710F-982A-4025-BB15-71C208AA531B}"/>
              </a:ext>
            </a:extLst>
          </p:cNvPr>
          <p:cNvSpPr>
            <a:spLocks noGrp="1"/>
          </p:cNvSpPr>
          <p:nvPr/>
        </p:nvSpPr>
        <p:spPr>
          <a:xfrm>
            <a:off x="428626" y="1475938"/>
            <a:ext cx="34289" cy="545781"/>
          </a:xfrm>
          <a:prstGeom prst="rect">
            <a:avLst/>
          </a:prstGeom>
          <a:solidFill>
            <a:srgbClr val="009CDE"/>
          </a:solidFill>
          <a:ln w="0">
            <a:noFill/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capability-title-01">
            <a:extLst>
              <a:ext uri="{FF2B5EF4-FFF2-40B4-BE49-F238E27FC236}">
                <a16:creationId xmlns:a16="http://schemas.microsoft.com/office/drawing/2014/main" id="{947ABB10-EC54-2A1D-A92A-51BF92BE9D0A}"/>
              </a:ext>
            </a:extLst>
          </p:cNvPr>
          <p:cNvSpPr>
            <a:spLocks noGrp="1"/>
          </p:cNvSpPr>
          <p:nvPr/>
        </p:nvSpPr>
        <p:spPr>
          <a:xfrm>
            <a:off x="942975" y="1547376"/>
            <a:ext cx="1785938" cy="2214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defTabSz="685800"/>
            <a:r>
              <a:rPr lang="en-US" altLang="zh-CN" sz="1200" b="1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多源内容接入</a:t>
            </a:r>
            <a:endParaRPr lang="en-US" altLang="zh-CN" sz="12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capability-desc-01">
            <a:extLst>
              <a:ext uri="{FF2B5EF4-FFF2-40B4-BE49-F238E27FC236}">
                <a16:creationId xmlns:a16="http://schemas.microsoft.com/office/drawing/2014/main" id="{2233C133-49C9-F1F8-D1EA-29F9AB0ABC1C}"/>
              </a:ext>
            </a:extLst>
          </p:cNvPr>
          <p:cNvSpPr>
            <a:spLocks noGrp="1"/>
          </p:cNvSpPr>
          <p:nvPr/>
        </p:nvSpPr>
        <p:spPr>
          <a:xfrm>
            <a:off x="942975" y="1790263"/>
            <a:ext cx="43434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defTabSz="685800">
              <a:lnSpc>
                <a:spcPct val="108000"/>
              </a:lnSpc>
              <a:defRPr sz="1088" b="0">
                <a:solidFill>
                  <a:srgbClr val="5A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816">
                <a:solidFill>
                  <a:srgbClr val="5A6C7C"/>
                </a:solidFill>
                <a:latin typeface="Microsoft YaHei"/>
                <a:ea typeface="Microsoft YaHei"/>
                <a:cs typeface="Microsoft YaHei"/>
              </a:rPr>
              <a:t>文件、元数据、权限采集｜文件无感导入 </a:t>
            </a:r>
            <a:r>
              <a:rPr lang="en-US" altLang="zh-CN" sz="816">
                <a:solidFill>
                  <a:srgbClr val="5A6C7C"/>
                </a:solidFill>
                <a:latin typeface="Microsoft YaHei"/>
                <a:ea typeface="Microsoft YaHei"/>
                <a:cs typeface="Microsoft YaHei"/>
              </a:rPr>
              <a:t>/ </a:t>
            </a:r>
            <a:r>
              <a:rPr lang="zh-CN" altLang="en-US" sz="816">
                <a:solidFill>
                  <a:srgbClr val="5A6C7C"/>
                </a:solidFill>
                <a:latin typeface="Microsoft YaHei"/>
                <a:ea typeface="Microsoft YaHei"/>
                <a:cs typeface="Microsoft YaHei"/>
              </a:rPr>
              <a:t>数据交换｜断点续传、多线程传输</a:t>
            </a:r>
          </a:p>
        </p:txBody>
      </p:sp>
      <p:sp>
        <p:nvSpPr>
          <p:cNvPr id="16" name="mapping-arrow-01">
            <a:extLst>
              <a:ext uri="{FF2B5EF4-FFF2-40B4-BE49-F238E27FC236}">
                <a16:creationId xmlns:a16="http://schemas.microsoft.com/office/drawing/2014/main" id="{751537DD-55FC-602D-16D2-732807154375}"/>
              </a:ext>
            </a:extLst>
          </p:cNvPr>
          <p:cNvSpPr>
            <a:spLocks noGrp="1"/>
          </p:cNvSpPr>
          <p:nvPr/>
        </p:nvSpPr>
        <p:spPr>
          <a:xfrm>
            <a:off x="5657850" y="1690251"/>
            <a:ext cx="371475" cy="192881"/>
          </a:xfrm>
          <a:prstGeom prst="rightArrow">
            <a:avLst/>
          </a:prstGeom>
          <a:solidFill>
            <a:srgbClr val="2A83C8"/>
          </a:solidFill>
          <a:ln w="0">
            <a:solidFill>
              <a:srgbClr val="2A83C8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" name="module-01">
            <a:extLst>
              <a:ext uri="{FF2B5EF4-FFF2-40B4-BE49-F238E27FC236}">
                <a16:creationId xmlns:a16="http://schemas.microsoft.com/office/drawing/2014/main" id="{44C39E40-0BBF-A393-993B-5FFEC12A0FDB}"/>
              </a:ext>
            </a:extLst>
          </p:cNvPr>
          <p:cNvSpPr>
            <a:spLocks noGrp="1"/>
          </p:cNvSpPr>
          <p:nvPr/>
        </p:nvSpPr>
        <p:spPr>
          <a:xfrm>
            <a:off x="6215062" y="1475938"/>
            <a:ext cx="2500313" cy="545781"/>
          </a:xfrm>
          <a:prstGeom prst="rect">
            <a:avLst/>
          </a:prstGeom>
          <a:solidFill>
            <a:srgbClr val="F7FAFD"/>
          </a:solidFill>
          <a:ln w="9525">
            <a:solidFill>
              <a:srgbClr val="C9DCEB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module-tag-01">
            <a:extLst>
              <a:ext uri="{FF2B5EF4-FFF2-40B4-BE49-F238E27FC236}">
                <a16:creationId xmlns:a16="http://schemas.microsoft.com/office/drawing/2014/main" id="{BA502031-7D32-DBBF-AACB-5756D0B196CC}"/>
              </a:ext>
            </a:extLst>
          </p:cNvPr>
          <p:cNvSpPr>
            <a:spLocks noGrp="1"/>
          </p:cNvSpPr>
          <p:nvPr/>
        </p:nvSpPr>
        <p:spPr>
          <a:xfrm>
            <a:off x="6215063" y="1475938"/>
            <a:ext cx="514350" cy="545781"/>
          </a:xfrm>
          <a:prstGeom prst="rect">
            <a:avLst/>
          </a:prstGeom>
          <a:solidFill>
            <a:srgbClr val="009CDE"/>
          </a:solidFill>
          <a:ln w="0">
            <a:noFill/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module-tag-text-01">
            <a:extLst>
              <a:ext uri="{FF2B5EF4-FFF2-40B4-BE49-F238E27FC236}">
                <a16:creationId xmlns:a16="http://schemas.microsoft.com/office/drawing/2014/main" id="{D116004A-CDC6-B2F8-3E09-27EA4FE52E08}"/>
              </a:ext>
            </a:extLst>
          </p:cNvPr>
          <p:cNvSpPr>
            <a:spLocks noGrp="1"/>
          </p:cNvSpPr>
          <p:nvPr/>
        </p:nvSpPr>
        <p:spPr>
          <a:xfrm>
            <a:off x="6272213" y="1547376"/>
            <a:ext cx="400050" cy="450056"/>
          </a:xfrm>
          <a:prstGeom prst="rect">
            <a:avLst/>
          </a:prstGeom>
          <a:solidFill>
            <a:srgbClr val="009CDE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 defTabSz="685800">
              <a:lnSpc>
                <a:spcPct val="108000"/>
              </a:lnSpc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6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模块</a:t>
            </a:r>
            <a:r>
              <a:rPr lang="en-US" altLang="zh-CN" sz="956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</a:t>
            </a:r>
            <a:endParaRPr sz="956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" name="module-title-01">
            <a:extLst>
              <a:ext uri="{FF2B5EF4-FFF2-40B4-BE49-F238E27FC236}">
                <a16:creationId xmlns:a16="http://schemas.microsoft.com/office/drawing/2014/main" id="{C9C219E6-7AFA-55AB-1E67-C05326C1EE88}"/>
              </a:ext>
            </a:extLst>
          </p:cNvPr>
          <p:cNvSpPr>
            <a:spLocks noGrp="1"/>
          </p:cNvSpPr>
          <p:nvPr/>
        </p:nvSpPr>
        <p:spPr>
          <a:xfrm>
            <a:off x="6829425" y="1554519"/>
            <a:ext cx="17430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defTabSz="685800">
              <a:lnSpc>
                <a:spcPct val="108000"/>
              </a:lnSpc>
              <a:defRPr sz="1275" b="1">
                <a:solidFill>
                  <a:srgbClr val="12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956" b="1">
                <a:solidFill>
                  <a:srgbClr val="123B63"/>
                </a:solidFill>
                <a:latin typeface="Microsoft YaHei"/>
                <a:ea typeface="Microsoft YaHei"/>
                <a:cs typeface="Microsoft YaHei"/>
              </a:rPr>
              <a:t>多源系统集成与标准化连接器</a:t>
            </a:r>
            <a:endParaRPr sz="956" b="1">
              <a:solidFill>
                <a:srgbClr val="123B6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1" name="module-desc-01">
            <a:extLst>
              <a:ext uri="{FF2B5EF4-FFF2-40B4-BE49-F238E27FC236}">
                <a16:creationId xmlns:a16="http://schemas.microsoft.com/office/drawing/2014/main" id="{F0A6954C-AE26-E0FF-B914-5735E2B5F667}"/>
              </a:ext>
            </a:extLst>
          </p:cNvPr>
          <p:cNvSpPr>
            <a:spLocks noGrp="1"/>
          </p:cNvSpPr>
          <p:nvPr/>
        </p:nvSpPr>
        <p:spPr>
          <a:xfrm>
            <a:off x="6829425" y="1833126"/>
            <a:ext cx="1743075" cy="16430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defTabSz="685800"/>
            <a:r>
              <a:rPr lang="zh-CN" altLang="en-US" sz="788">
                <a:solidFill>
                  <a:srgbClr val="000000"/>
                </a:solidFill>
                <a:latin typeface="Calibri"/>
                <a:cs typeface="Calibri"/>
              </a:rPr>
              <a:t>实现多源接入、数据同步与接口集成</a:t>
            </a:r>
          </a:p>
        </p:txBody>
      </p:sp>
      <p:sp>
        <p:nvSpPr>
          <p:cNvPr id="43" name="capability-03">
            <a:extLst>
              <a:ext uri="{FF2B5EF4-FFF2-40B4-BE49-F238E27FC236}">
                <a16:creationId xmlns:a16="http://schemas.microsoft.com/office/drawing/2014/main" id="{7EAE6C08-F076-6B1E-6D36-BDE591BA2812}"/>
              </a:ext>
            </a:extLst>
          </p:cNvPr>
          <p:cNvSpPr>
            <a:spLocks noGrp="1"/>
          </p:cNvSpPr>
          <p:nvPr/>
        </p:nvSpPr>
        <p:spPr>
          <a:xfrm>
            <a:off x="428625" y="2111352"/>
            <a:ext cx="5072063" cy="545781"/>
          </a:xfrm>
          <a:prstGeom prst="rect">
            <a:avLst/>
          </a:prstGeom>
          <a:solidFill>
            <a:srgbClr val="FFFFFF"/>
          </a:solidFill>
          <a:ln w="9525">
            <a:solidFill>
              <a:srgbClr val="C9DCEB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" name="capability-accent-03">
            <a:extLst>
              <a:ext uri="{FF2B5EF4-FFF2-40B4-BE49-F238E27FC236}">
                <a16:creationId xmlns:a16="http://schemas.microsoft.com/office/drawing/2014/main" id="{549CD5B4-CEAC-B3D8-1852-136FBC1749EC}"/>
              </a:ext>
            </a:extLst>
          </p:cNvPr>
          <p:cNvSpPr>
            <a:spLocks noGrp="1"/>
          </p:cNvSpPr>
          <p:nvPr/>
        </p:nvSpPr>
        <p:spPr>
          <a:xfrm>
            <a:off x="428626" y="2111352"/>
            <a:ext cx="34289" cy="545781"/>
          </a:xfrm>
          <a:prstGeom prst="rect">
            <a:avLst/>
          </a:prstGeom>
          <a:solidFill>
            <a:srgbClr val="009CDE"/>
          </a:solidFill>
          <a:ln w="0">
            <a:noFill/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0" name="capability-title-03">
            <a:extLst>
              <a:ext uri="{FF2B5EF4-FFF2-40B4-BE49-F238E27FC236}">
                <a16:creationId xmlns:a16="http://schemas.microsoft.com/office/drawing/2014/main" id="{FCA8EEA6-3BC4-6E37-3704-E24D31C827BF}"/>
              </a:ext>
            </a:extLst>
          </p:cNvPr>
          <p:cNvSpPr>
            <a:spLocks noGrp="1"/>
          </p:cNvSpPr>
          <p:nvPr/>
        </p:nvSpPr>
        <p:spPr>
          <a:xfrm>
            <a:off x="942975" y="2182790"/>
            <a:ext cx="1785938" cy="2214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defTabSz="685800"/>
            <a:r>
              <a:rPr lang="en-US" altLang="zh-CN" sz="1200" b="1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内容与元数据</a:t>
            </a:r>
            <a:endParaRPr lang="en-US" altLang="zh-CN" sz="12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1" name="capability-desc-03">
            <a:extLst>
              <a:ext uri="{FF2B5EF4-FFF2-40B4-BE49-F238E27FC236}">
                <a16:creationId xmlns:a16="http://schemas.microsoft.com/office/drawing/2014/main" id="{2A6A6D35-F1F5-5DA0-BD8D-D0FD99D8560B}"/>
              </a:ext>
            </a:extLst>
          </p:cNvPr>
          <p:cNvSpPr>
            <a:spLocks noGrp="1"/>
          </p:cNvSpPr>
          <p:nvPr/>
        </p:nvSpPr>
        <p:spPr>
          <a:xfrm>
            <a:off x="942975" y="2425677"/>
            <a:ext cx="43434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defTabSz="685800">
              <a:lnSpc>
                <a:spcPct val="108000"/>
              </a:lnSpc>
              <a:defRPr sz="1088" b="0">
                <a:solidFill>
                  <a:srgbClr val="5A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816">
                <a:solidFill>
                  <a:srgbClr val="5A6C7C"/>
                </a:solidFill>
                <a:latin typeface="Microsoft YaHei"/>
                <a:ea typeface="Microsoft YaHei"/>
                <a:cs typeface="Microsoft YaHei"/>
              </a:rPr>
              <a:t>内容模型、自定义元数据｜元数据智能抽取｜文档管理与内容组织</a:t>
            </a:r>
          </a:p>
        </p:txBody>
      </p:sp>
      <p:sp>
        <p:nvSpPr>
          <p:cNvPr id="52" name="mapping-arrow-03">
            <a:extLst>
              <a:ext uri="{FF2B5EF4-FFF2-40B4-BE49-F238E27FC236}">
                <a16:creationId xmlns:a16="http://schemas.microsoft.com/office/drawing/2014/main" id="{EFDB5937-1A1B-0F19-3389-F4ECFA88A409}"/>
              </a:ext>
            </a:extLst>
          </p:cNvPr>
          <p:cNvSpPr>
            <a:spLocks noGrp="1"/>
          </p:cNvSpPr>
          <p:nvPr/>
        </p:nvSpPr>
        <p:spPr>
          <a:xfrm>
            <a:off x="5657850" y="2325665"/>
            <a:ext cx="371475" cy="192881"/>
          </a:xfrm>
          <a:prstGeom prst="rightArrow">
            <a:avLst/>
          </a:prstGeom>
          <a:solidFill>
            <a:srgbClr val="2A83C8"/>
          </a:solidFill>
          <a:ln w="0">
            <a:solidFill>
              <a:srgbClr val="2A83C8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7" name="module-03">
            <a:extLst>
              <a:ext uri="{FF2B5EF4-FFF2-40B4-BE49-F238E27FC236}">
                <a16:creationId xmlns:a16="http://schemas.microsoft.com/office/drawing/2014/main" id="{E553B573-9CC6-5CFA-6847-A7F0AC21EA1A}"/>
              </a:ext>
            </a:extLst>
          </p:cNvPr>
          <p:cNvSpPr>
            <a:spLocks noGrp="1"/>
          </p:cNvSpPr>
          <p:nvPr/>
        </p:nvSpPr>
        <p:spPr>
          <a:xfrm>
            <a:off x="6215062" y="2111352"/>
            <a:ext cx="2500313" cy="545781"/>
          </a:xfrm>
          <a:prstGeom prst="rect">
            <a:avLst/>
          </a:prstGeom>
          <a:solidFill>
            <a:srgbClr val="F7FAFD"/>
          </a:solidFill>
          <a:ln w="9525">
            <a:solidFill>
              <a:srgbClr val="C9DCEB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8" name="module-tag-03">
            <a:extLst>
              <a:ext uri="{FF2B5EF4-FFF2-40B4-BE49-F238E27FC236}">
                <a16:creationId xmlns:a16="http://schemas.microsoft.com/office/drawing/2014/main" id="{4B187576-65A6-A072-A0CD-175734AA0ECC}"/>
              </a:ext>
            </a:extLst>
          </p:cNvPr>
          <p:cNvSpPr>
            <a:spLocks noGrp="1"/>
          </p:cNvSpPr>
          <p:nvPr/>
        </p:nvSpPr>
        <p:spPr>
          <a:xfrm>
            <a:off x="6215063" y="2111352"/>
            <a:ext cx="514350" cy="545781"/>
          </a:xfrm>
          <a:prstGeom prst="rect">
            <a:avLst/>
          </a:prstGeom>
          <a:solidFill>
            <a:srgbClr val="009CDE"/>
          </a:solidFill>
          <a:ln w="0">
            <a:noFill/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3" name="module-tag-text-03">
            <a:extLst>
              <a:ext uri="{FF2B5EF4-FFF2-40B4-BE49-F238E27FC236}">
                <a16:creationId xmlns:a16="http://schemas.microsoft.com/office/drawing/2014/main" id="{F5F41728-A4EF-E25B-735C-613BD02F5947}"/>
              </a:ext>
            </a:extLst>
          </p:cNvPr>
          <p:cNvSpPr>
            <a:spLocks noGrp="1"/>
          </p:cNvSpPr>
          <p:nvPr/>
        </p:nvSpPr>
        <p:spPr>
          <a:xfrm>
            <a:off x="6272213" y="2182790"/>
            <a:ext cx="400050" cy="474343"/>
          </a:xfrm>
          <a:prstGeom prst="rect">
            <a:avLst/>
          </a:prstGeom>
          <a:solidFill>
            <a:srgbClr val="009CDE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 defTabSz="685800">
              <a:lnSpc>
                <a:spcPct val="108000"/>
              </a:lnSpc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6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模块</a:t>
            </a:r>
            <a:r>
              <a:rPr lang="en-US" altLang="zh-CN" sz="956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  <a:endParaRPr sz="956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4" name="module-title-03">
            <a:extLst>
              <a:ext uri="{FF2B5EF4-FFF2-40B4-BE49-F238E27FC236}">
                <a16:creationId xmlns:a16="http://schemas.microsoft.com/office/drawing/2014/main" id="{C80DB07A-A3B7-6D40-35CD-EB6FFF158CEE}"/>
              </a:ext>
            </a:extLst>
          </p:cNvPr>
          <p:cNvSpPr>
            <a:spLocks noGrp="1"/>
          </p:cNvSpPr>
          <p:nvPr/>
        </p:nvSpPr>
        <p:spPr>
          <a:xfrm>
            <a:off x="6829425" y="2189933"/>
            <a:ext cx="17430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defTabSz="685800">
              <a:lnSpc>
                <a:spcPct val="108000"/>
              </a:lnSpc>
              <a:defRPr sz="1275" b="1">
                <a:solidFill>
                  <a:srgbClr val="12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956" b="1">
                <a:solidFill>
                  <a:srgbClr val="123B63"/>
                </a:solidFill>
                <a:latin typeface="Microsoft YaHei"/>
                <a:ea typeface="Microsoft YaHei"/>
                <a:cs typeface="Microsoft YaHei"/>
              </a:rPr>
              <a:t>实时数据接入与常态化数据治理</a:t>
            </a:r>
            <a:endParaRPr sz="956" b="1">
              <a:solidFill>
                <a:srgbClr val="123B6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5" name="module-desc-03">
            <a:extLst>
              <a:ext uri="{FF2B5EF4-FFF2-40B4-BE49-F238E27FC236}">
                <a16:creationId xmlns:a16="http://schemas.microsoft.com/office/drawing/2014/main" id="{AE4652C6-16E4-B127-67DD-7264625201C3}"/>
              </a:ext>
            </a:extLst>
          </p:cNvPr>
          <p:cNvSpPr>
            <a:spLocks noGrp="1"/>
          </p:cNvSpPr>
          <p:nvPr/>
        </p:nvSpPr>
        <p:spPr>
          <a:xfrm>
            <a:off x="6829425" y="2468540"/>
            <a:ext cx="1743075" cy="16430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defTabSz="685800">
              <a:lnSpc>
                <a:spcPct val="108000"/>
              </a:lnSpc>
              <a:defRPr sz="1013" b="0">
                <a:solidFill>
                  <a:srgbClr val="5A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60">
                <a:solidFill>
                  <a:srgbClr val="5A6C7C"/>
                </a:solidFill>
                <a:latin typeface="Microsoft YaHei"/>
                <a:ea typeface="Microsoft YaHei"/>
                <a:cs typeface="Microsoft YaHei"/>
              </a:rPr>
              <a:t>聚焦内容解析、元数据补全与分类治理</a:t>
            </a:r>
          </a:p>
        </p:txBody>
      </p:sp>
      <p:sp>
        <p:nvSpPr>
          <p:cNvPr id="67" name="capability-05">
            <a:extLst>
              <a:ext uri="{FF2B5EF4-FFF2-40B4-BE49-F238E27FC236}">
                <a16:creationId xmlns:a16="http://schemas.microsoft.com/office/drawing/2014/main" id="{AC151FDF-7913-8B44-FFD4-5DEC0E495775}"/>
              </a:ext>
            </a:extLst>
          </p:cNvPr>
          <p:cNvSpPr>
            <a:spLocks noGrp="1"/>
          </p:cNvSpPr>
          <p:nvPr/>
        </p:nvSpPr>
        <p:spPr>
          <a:xfrm>
            <a:off x="428625" y="2735714"/>
            <a:ext cx="5072063" cy="545781"/>
          </a:xfrm>
          <a:prstGeom prst="rect">
            <a:avLst/>
          </a:prstGeom>
          <a:solidFill>
            <a:srgbClr val="FFFFFF"/>
          </a:solidFill>
          <a:ln w="9525">
            <a:solidFill>
              <a:srgbClr val="C9DCEB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9" name="capability-accent-05">
            <a:extLst>
              <a:ext uri="{FF2B5EF4-FFF2-40B4-BE49-F238E27FC236}">
                <a16:creationId xmlns:a16="http://schemas.microsoft.com/office/drawing/2014/main" id="{21AAD97D-ACDD-E9F9-F280-F65680170FBE}"/>
              </a:ext>
            </a:extLst>
          </p:cNvPr>
          <p:cNvSpPr>
            <a:spLocks noGrp="1"/>
          </p:cNvSpPr>
          <p:nvPr/>
        </p:nvSpPr>
        <p:spPr>
          <a:xfrm>
            <a:off x="428626" y="2735714"/>
            <a:ext cx="34289" cy="545781"/>
          </a:xfrm>
          <a:prstGeom prst="rect">
            <a:avLst/>
          </a:prstGeom>
          <a:solidFill>
            <a:srgbClr val="009CDE"/>
          </a:solidFill>
          <a:ln w="0">
            <a:noFill/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0" name="capability-title-05">
            <a:extLst>
              <a:ext uri="{FF2B5EF4-FFF2-40B4-BE49-F238E27FC236}">
                <a16:creationId xmlns:a16="http://schemas.microsoft.com/office/drawing/2014/main" id="{2C73D96F-494A-F2CF-65A8-F71C5A60E8D4}"/>
              </a:ext>
            </a:extLst>
          </p:cNvPr>
          <p:cNvSpPr>
            <a:spLocks noGrp="1"/>
          </p:cNvSpPr>
          <p:nvPr/>
        </p:nvSpPr>
        <p:spPr>
          <a:xfrm>
            <a:off x="942975" y="2807152"/>
            <a:ext cx="1785938" cy="2214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defTabSz="685800"/>
            <a:r>
              <a:rPr lang="en-US" altLang="zh-CN" sz="1200" b="1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存储与安全</a:t>
            </a:r>
            <a:endParaRPr lang="en-US" altLang="zh-CN" sz="12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1" name="capability-desc-05">
            <a:extLst>
              <a:ext uri="{FF2B5EF4-FFF2-40B4-BE49-F238E27FC236}">
                <a16:creationId xmlns:a16="http://schemas.microsoft.com/office/drawing/2014/main" id="{B0A43632-86F6-3DAA-B0A1-7A5A200A57E3}"/>
              </a:ext>
            </a:extLst>
          </p:cNvPr>
          <p:cNvSpPr>
            <a:spLocks noGrp="1"/>
          </p:cNvSpPr>
          <p:nvPr/>
        </p:nvSpPr>
        <p:spPr>
          <a:xfrm>
            <a:off x="942975" y="3050039"/>
            <a:ext cx="43434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defTabSz="685800">
              <a:lnSpc>
                <a:spcPct val="108000"/>
              </a:lnSpc>
              <a:defRPr sz="1088" b="0">
                <a:solidFill>
                  <a:srgbClr val="5A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816">
                <a:solidFill>
                  <a:srgbClr val="5A6C7C"/>
                </a:solidFill>
                <a:latin typeface="Microsoft YaHei"/>
                <a:ea typeface="Microsoft YaHei"/>
                <a:cs typeface="Microsoft YaHei"/>
              </a:rPr>
              <a:t>本地 </a:t>
            </a:r>
            <a:r>
              <a:rPr lang="en-US" altLang="zh-CN" sz="816">
                <a:solidFill>
                  <a:srgbClr val="5A6C7C"/>
                </a:solidFill>
                <a:latin typeface="Microsoft YaHei"/>
                <a:ea typeface="Microsoft YaHei"/>
                <a:cs typeface="Microsoft YaHei"/>
              </a:rPr>
              <a:t>/ </a:t>
            </a:r>
            <a:r>
              <a:rPr lang="zh-CN" altLang="en-US" sz="816">
                <a:solidFill>
                  <a:srgbClr val="5A6C7C"/>
                </a:solidFill>
                <a:latin typeface="Microsoft YaHei"/>
                <a:ea typeface="Microsoft YaHei"/>
                <a:cs typeface="Microsoft YaHei"/>
              </a:rPr>
              <a:t>对象 </a:t>
            </a:r>
            <a:r>
              <a:rPr lang="en-US" altLang="zh-CN" sz="816">
                <a:solidFill>
                  <a:srgbClr val="5A6C7C"/>
                </a:solidFill>
                <a:latin typeface="Microsoft YaHei"/>
                <a:ea typeface="Microsoft YaHei"/>
                <a:cs typeface="Microsoft YaHei"/>
              </a:rPr>
              <a:t>/ </a:t>
            </a:r>
            <a:r>
              <a:rPr lang="zh-CN" altLang="en-US" sz="816">
                <a:solidFill>
                  <a:srgbClr val="5A6C7C"/>
                </a:solidFill>
                <a:latin typeface="Microsoft YaHei"/>
                <a:ea typeface="Microsoft YaHei"/>
                <a:cs typeface="Microsoft YaHei"/>
              </a:rPr>
              <a:t>混合存储｜多级存储、自动迁移｜细粒度权限、密级叠加</a:t>
            </a:r>
          </a:p>
        </p:txBody>
      </p:sp>
      <p:sp>
        <p:nvSpPr>
          <p:cNvPr id="72" name="mapping-arrow-05">
            <a:extLst>
              <a:ext uri="{FF2B5EF4-FFF2-40B4-BE49-F238E27FC236}">
                <a16:creationId xmlns:a16="http://schemas.microsoft.com/office/drawing/2014/main" id="{89F73BF5-F91C-3DE8-AF9B-BCBDA53AB593}"/>
              </a:ext>
            </a:extLst>
          </p:cNvPr>
          <p:cNvSpPr>
            <a:spLocks noGrp="1"/>
          </p:cNvSpPr>
          <p:nvPr/>
        </p:nvSpPr>
        <p:spPr>
          <a:xfrm>
            <a:off x="5657850" y="2950027"/>
            <a:ext cx="371475" cy="192881"/>
          </a:xfrm>
          <a:prstGeom prst="rightArrow">
            <a:avLst/>
          </a:prstGeom>
          <a:solidFill>
            <a:srgbClr val="2A83C8"/>
          </a:solidFill>
          <a:ln w="0">
            <a:solidFill>
              <a:srgbClr val="2A83C8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3" name="module-05">
            <a:extLst>
              <a:ext uri="{FF2B5EF4-FFF2-40B4-BE49-F238E27FC236}">
                <a16:creationId xmlns:a16="http://schemas.microsoft.com/office/drawing/2014/main" id="{4CF91B09-5AE1-EDCF-EDB5-3B104DBD692C}"/>
              </a:ext>
            </a:extLst>
          </p:cNvPr>
          <p:cNvSpPr>
            <a:spLocks noGrp="1"/>
          </p:cNvSpPr>
          <p:nvPr/>
        </p:nvSpPr>
        <p:spPr>
          <a:xfrm>
            <a:off x="6215062" y="2735714"/>
            <a:ext cx="2500313" cy="545781"/>
          </a:xfrm>
          <a:prstGeom prst="rect">
            <a:avLst/>
          </a:prstGeom>
          <a:solidFill>
            <a:srgbClr val="F7FAFD"/>
          </a:solidFill>
          <a:ln w="9525">
            <a:solidFill>
              <a:srgbClr val="C9DCEB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4" name="module-tag-05">
            <a:extLst>
              <a:ext uri="{FF2B5EF4-FFF2-40B4-BE49-F238E27FC236}">
                <a16:creationId xmlns:a16="http://schemas.microsoft.com/office/drawing/2014/main" id="{B9E4385C-C507-EB1C-AC3F-61BFB667C306}"/>
              </a:ext>
            </a:extLst>
          </p:cNvPr>
          <p:cNvSpPr>
            <a:spLocks noGrp="1"/>
          </p:cNvSpPr>
          <p:nvPr/>
        </p:nvSpPr>
        <p:spPr>
          <a:xfrm>
            <a:off x="6215063" y="2735714"/>
            <a:ext cx="514350" cy="545781"/>
          </a:xfrm>
          <a:prstGeom prst="rect">
            <a:avLst/>
          </a:prstGeom>
          <a:solidFill>
            <a:srgbClr val="009CDE"/>
          </a:solidFill>
          <a:ln w="0">
            <a:noFill/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5" name="module-tag-text-05">
            <a:extLst>
              <a:ext uri="{FF2B5EF4-FFF2-40B4-BE49-F238E27FC236}">
                <a16:creationId xmlns:a16="http://schemas.microsoft.com/office/drawing/2014/main" id="{CD151AE8-1C63-09D9-57D8-55253191BF7F}"/>
              </a:ext>
            </a:extLst>
          </p:cNvPr>
          <p:cNvSpPr>
            <a:spLocks noGrp="1"/>
          </p:cNvSpPr>
          <p:nvPr/>
        </p:nvSpPr>
        <p:spPr>
          <a:xfrm>
            <a:off x="6272213" y="2746766"/>
            <a:ext cx="400050" cy="510442"/>
          </a:xfrm>
          <a:prstGeom prst="rect">
            <a:avLst/>
          </a:prstGeom>
          <a:solidFill>
            <a:srgbClr val="009CDE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 defTabSz="685800">
              <a:lnSpc>
                <a:spcPct val="108000"/>
              </a:lnSpc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6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模块</a:t>
            </a:r>
            <a:r>
              <a:rPr lang="en-US" altLang="zh-CN" sz="956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  <a:endParaRPr sz="956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6" name="module-title-05">
            <a:extLst>
              <a:ext uri="{FF2B5EF4-FFF2-40B4-BE49-F238E27FC236}">
                <a16:creationId xmlns:a16="http://schemas.microsoft.com/office/drawing/2014/main" id="{5ACD4284-D7AD-F37F-9B42-CC0D141ED2EC}"/>
              </a:ext>
            </a:extLst>
          </p:cNvPr>
          <p:cNvSpPr>
            <a:spLocks noGrp="1"/>
          </p:cNvSpPr>
          <p:nvPr/>
        </p:nvSpPr>
        <p:spPr>
          <a:xfrm>
            <a:off x="6829425" y="2814296"/>
            <a:ext cx="17430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defTabSz="685800">
              <a:lnSpc>
                <a:spcPct val="108000"/>
              </a:lnSpc>
              <a:defRPr sz="1275" b="1">
                <a:solidFill>
                  <a:srgbClr val="12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956" b="1">
                <a:solidFill>
                  <a:srgbClr val="123B63"/>
                </a:solidFill>
                <a:latin typeface="Microsoft YaHei"/>
                <a:ea typeface="Microsoft YaHei"/>
                <a:cs typeface="Microsoft YaHei"/>
              </a:rPr>
              <a:t>数据存储与境内数据安全管控</a:t>
            </a:r>
            <a:endParaRPr sz="956" b="1">
              <a:solidFill>
                <a:srgbClr val="123B6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7" name="module-desc-05">
            <a:extLst>
              <a:ext uri="{FF2B5EF4-FFF2-40B4-BE49-F238E27FC236}">
                <a16:creationId xmlns:a16="http://schemas.microsoft.com/office/drawing/2014/main" id="{4FF245F6-7567-9275-08AB-BD763F1D44A7}"/>
              </a:ext>
            </a:extLst>
          </p:cNvPr>
          <p:cNvSpPr>
            <a:spLocks noGrp="1"/>
          </p:cNvSpPr>
          <p:nvPr/>
        </p:nvSpPr>
        <p:spPr>
          <a:xfrm>
            <a:off x="6829425" y="3092902"/>
            <a:ext cx="1743075" cy="16430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defTabSz="685800">
              <a:lnSpc>
                <a:spcPct val="108000"/>
              </a:lnSpc>
              <a:defRPr sz="1013" b="0">
                <a:solidFill>
                  <a:srgbClr val="5A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60">
                <a:solidFill>
                  <a:srgbClr val="5A6C7C"/>
                </a:solidFill>
                <a:latin typeface="Microsoft YaHei"/>
                <a:ea typeface="Microsoft YaHei"/>
                <a:cs typeface="Microsoft YaHei"/>
              </a:rPr>
              <a:t>覆盖本地存储、分层管理与安全保护</a:t>
            </a:r>
          </a:p>
        </p:txBody>
      </p:sp>
      <p:sp>
        <p:nvSpPr>
          <p:cNvPr id="84" name="capability-06">
            <a:extLst>
              <a:ext uri="{FF2B5EF4-FFF2-40B4-BE49-F238E27FC236}">
                <a16:creationId xmlns:a16="http://schemas.microsoft.com/office/drawing/2014/main" id="{5BEA0389-F2F9-4BF1-8EBA-394959F6E504}"/>
              </a:ext>
            </a:extLst>
          </p:cNvPr>
          <p:cNvSpPr>
            <a:spLocks noGrp="1"/>
          </p:cNvSpPr>
          <p:nvPr/>
        </p:nvSpPr>
        <p:spPr>
          <a:xfrm>
            <a:off x="428625" y="3373794"/>
            <a:ext cx="5072063" cy="545781"/>
          </a:xfrm>
          <a:prstGeom prst="rect">
            <a:avLst/>
          </a:prstGeom>
          <a:solidFill>
            <a:srgbClr val="FFFFFF"/>
          </a:solidFill>
          <a:ln w="9525">
            <a:solidFill>
              <a:srgbClr val="C9DCEB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5" name="capability-accent-06">
            <a:extLst>
              <a:ext uri="{FF2B5EF4-FFF2-40B4-BE49-F238E27FC236}">
                <a16:creationId xmlns:a16="http://schemas.microsoft.com/office/drawing/2014/main" id="{36CF9D19-2629-72D3-6345-ECE01384EA8D}"/>
              </a:ext>
            </a:extLst>
          </p:cNvPr>
          <p:cNvSpPr>
            <a:spLocks noGrp="1"/>
          </p:cNvSpPr>
          <p:nvPr/>
        </p:nvSpPr>
        <p:spPr>
          <a:xfrm>
            <a:off x="428626" y="3373794"/>
            <a:ext cx="34289" cy="545781"/>
          </a:xfrm>
          <a:prstGeom prst="rect">
            <a:avLst/>
          </a:prstGeom>
          <a:solidFill>
            <a:srgbClr val="009CDE"/>
          </a:solidFill>
          <a:ln w="0">
            <a:noFill/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6" name="capability-title-06">
            <a:extLst>
              <a:ext uri="{FF2B5EF4-FFF2-40B4-BE49-F238E27FC236}">
                <a16:creationId xmlns:a16="http://schemas.microsoft.com/office/drawing/2014/main" id="{8B365656-A02B-89E6-3A94-72D0DF2E1FE6}"/>
              </a:ext>
            </a:extLst>
          </p:cNvPr>
          <p:cNvSpPr>
            <a:spLocks noGrp="1"/>
          </p:cNvSpPr>
          <p:nvPr/>
        </p:nvSpPr>
        <p:spPr>
          <a:xfrm>
            <a:off x="942975" y="3445232"/>
            <a:ext cx="1785938" cy="2214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defTabSz="685800"/>
            <a:r>
              <a:rPr lang="en-US" altLang="zh-CN" sz="1200" b="1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检索与智能利用</a:t>
            </a:r>
            <a:endParaRPr lang="en-US" altLang="zh-CN" sz="12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7" name="capability-desc-06">
            <a:extLst>
              <a:ext uri="{FF2B5EF4-FFF2-40B4-BE49-F238E27FC236}">
                <a16:creationId xmlns:a16="http://schemas.microsoft.com/office/drawing/2014/main" id="{4AEC6C47-4D0C-7159-5D69-2142CFE534E7}"/>
              </a:ext>
            </a:extLst>
          </p:cNvPr>
          <p:cNvSpPr>
            <a:spLocks noGrp="1"/>
          </p:cNvSpPr>
          <p:nvPr/>
        </p:nvSpPr>
        <p:spPr>
          <a:xfrm>
            <a:off x="942975" y="3688119"/>
            <a:ext cx="43434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defTabSz="685800">
              <a:lnSpc>
                <a:spcPct val="108000"/>
              </a:lnSpc>
              <a:defRPr sz="1088" b="0">
                <a:solidFill>
                  <a:srgbClr val="5A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816">
                <a:solidFill>
                  <a:srgbClr val="5A6C7C"/>
                </a:solidFill>
                <a:latin typeface="Microsoft YaHei"/>
                <a:ea typeface="Microsoft YaHei"/>
                <a:cs typeface="Microsoft YaHei"/>
              </a:rPr>
              <a:t>全文检索、多字段查询｜在线预览多格式文件｜ </a:t>
            </a:r>
            <a:r>
              <a:rPr lang="en-GB" altLang="zh-CN" sz="816">
                <a:solidFill>
                  <a:srgbClr val="5A6C7C"/>
                </a:solidFill>
                <a:latin typeface="Microsoft YaHei"/>
                <a:ea typeface="Microsoft YaHei"/>
                <a:cs typeface="Microsoft YaHei"/>
              </a:rPr>
              <a:t>RAG</a:t>
            </a:r>
            <a:r>
              <a:rPr lang="zh-CN" altLang="en-US" sz="816">
                <a:solidFill>
                  <a:srgbClr val="5A6C7C"/>
                </a:solidFill>
                <a:latin typeface="Microsoft YaHei"/>
                <a:ea typeface="Microsoft YaHei"/>
                <a:cs typeface="Microsoft YaHei"/>
              </a:rPr>
              <a:t>语义检索、库内问答</a:t>
            </a:r>
          </a:p>
        </p:txBody>
      </p:sp>
      <p:sp>
        <p:nvSpPr>
          <p:cNvPr id="88" name="mapping-arrow-06">
            <a:extLst>
              <a:ext uri="{FF2B5EF4-FFF2-40B4-BE49-F238E27FC236}">
                <a16:creationId xmlns:a16="http://schemas.microsoft.com/office/drawing/2014/main" id="{DFA62CED-2A10-093A-96FC-48A143FF1629}"/>
              </a:ext>
            </a:extLst>
          </p:cNvPr>
          <p:cNvSpPr>
            <a:spLocks noGrp="1"/>
          </p:cNvSpPr>
          <p:nvPr/>
        </p:nvSpPr>
        <p:spPr>
          <a:xfrm>
            <a:off x="5657850" y="3588107"/>
            <a:ext cx="371475" cy="192881"/>
          </a:xfrm>
          <a:prstGeom prst="rightArrow">
            <a:avLst/>
          </a:prstGeom>
          <a:solidFill>
            <a:srgbClr val="2A83C8"/>
          </a:solidFill>
          <a:ln w="0">
            <a:solidFill>
              <a:srgbClr val="2A83C8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9" name="module-06">
            <a:extLst>
              <a:ext uri="{FF2B5EF4-FFF2-40B4-BE49-F238E27FC236}">
                <a16:creationId xmlns:a16="http://schemas.microsoft.com/office/drawing/2014/main" id="{8DE0816D-993C-87BE-1625-9AD5F04C92A8}"/>
              </a:ext>
            </a:extLst>
          </p:cNvPr>
          <p:cNvSpPr>
            <a:spLocks noGrp="1"/>
          </p:cNvSpPr>
          <p:nvPr/>
        </p:nvSpPr>
        <p:spPr>
          <a:xfrm>
            <a:off x="6215062" y="3373794"/>
            <a:ext cx="2500313" cy="545781"/>
          </a:xfrm>
          <a:prstGeom prst="rect">
            <a:avLst/>
          </a:prstGeom>
          <a:solidFill>
            <a:srgbClr val="F7FAFD"/>
          </a:solidFill>
          <a:ln w="9525">
            <a:solidFill>
              <a:srgbClr val="C9DCEB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" name="module-tag-06">
            <a:extLst>
              <a:ext uri="{FF2B5EF4-FFF2-40B4-BE49-F238E27FC236}">
                <a16:creationId xmlns:a16="http://schemas.microsoft.com/office/drawing/2014/main" id="{5C822FC1-1E01-C3FD-23F2-E33A1FA723BA}"/>
              </a:ext>
            </a:extLst>
          </p:cNvPr>
          <p:cNvSpPr>
            <a:spLocks noGrp="1"/>
          </p:cNvSpPr>
          <p:nvPr/>
        </p:nvSpPr>
        <p:spPr>
          <a:xfrm>
            <a:off x="6215063" y="3373794"/>
            <a:ext cx="514350" cy="545781"/>
          </a:xfrm>
          <a:prstGeom prst="rect">
            <a:avLst/>
          </a:prstGeom>
          <a:solidFill>
            <a:srgbClr val="009CDE"/>
          </a:solidFill>
          <a:ln w="0">
            <a:noFill/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1" name="module-tag-text-06">
            <a:extLst>
              <a:ext uri="{FF2B5EF4-FFF2-40B4-BE49-F238E27FC236}">
                <a16:creationId xmlns:a16="http://schemas.microsoft.com/office/drawing/2014/main" id="{B758F9B5-3B3A-8EE0-A8CD-4C26ED2006BA}"/>
              </a:ext>
            </a:extLst>
          </p:cNvPr>
          <p:cNvSpPr>
            <a:spLocks noGrp="1"/>
          </p:cNvSpPr>
          <p:nvPr/>
        </p:nvSpPr>
        <p:spPr>
          <a:xfrm>
            <a:off x="6272213" y="3404975"/>
            <a:ext cx="400050" cy="514600"/>
          </a:xfrm>
          <a:prstGeom prst="rect">
            <a:avLst/>
          </a:prstGeom>
          <a:solidFill>
            <a:srgbClr val="009CDE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 defTabSz="685800">
              <a:lnSpc>
                <a:spcPct val="108000"/>
              </a:lnSpc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6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模块</a:t>
            </a:r>
            <a:r>
              <a:rPr lang="en-US" altLang="zh-CN" sz="956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  <a:endParaRPr sz="956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2" name="module-title-06">
            <a:extLst>
              <a:ext uri="{FF2B5EF4-FFF2-40B4-BE49-F238E27FC236}">
                <a16:creationId xmlns:a16="http://schemas.microsoft.com/office/drawing/2014/main" id="{0C9120BF-E5F4-8046-A0EC-F2DADBE4EEE7}"/>
              </a:ext>
            </a:extLst>
          </p:cNvPr>
          <p:cNvSpPr>
            <a:spLocks noGrp="1"/>
          </p:cNvSpPr>
          <p:nvPr/>
        </p:nvSpPr>
        <p:spPr>
          <a:xfrm>
            <a:off x="6829425" y="3452375"/>
            <a:ext cx="17430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defTabSz="685800">
              <a:lnSpc>
                <a:spcPct val="108000"/>
              </a:lnSpc>
              <a:defRPr sz="1275" b="1">
                <a:solidFill>
                  <a:srgbClr val="12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956" b="1">
                <a:solidFill>
                  <a:srgbClr val="123B63"/>
                </a:solidFill>
                <a:latin typeface="Microsoft YaHei"/>
                <a:ea typeface="Microsoft YaHei"/>
                <a:cs typeface="Microsoft YaHei"/>
              </a:rPr>
              <a:t>档案检索、智能发现与业务利用</a:t>
            </a:r>
            <a:endParaRPr sz="956" b="1">
              <a:solidFill>
                <a:srgbClr val="123B6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3" name="module-desc-06">
            <a:extLst>
              <a:ext uri="{FF2B5EF4-FFF2-40B4-BE49-F238E27FC236}">
                <a16:creationId xmlns:a16="http://schemas.microsoft.com/office/drawing/2014/main" id="{EEB38E19-52A2-2DBA-DD5A-38B3F886A73A}"/>
              </a:ext>
            </a:extLst>
          </p:cNvPr>
          <p:cNvSpPr>
            <a:spLocks noGrp="1"/>
          </p:cNvSpPr>
          <p:nvPr/>
        </p:nvSpPr>
        <p:spPr>
          <a:xfrm>
            <a:off x="6829425" y="3730982"/>
            <a:ext cx="1743075" cy="16430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defTabSz="685800">
              <a:lnSpc>
                <a:spcPct val="108000"/>
              </a:lnSpc>
              <a:defRPr sz="1013" b="0">
                <a:solidFill>
                  <a:srgbClr val="5A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60">
                <a:solidFill>
                  <a:srgbClr val="5A6C7C"/>
                </a:solidFill>
                <a:latin typeface="Microsoft YaHei"/>
                <a:ea typeface="Microsoft YaHei"/>
                <a:cs typeface="Microsoft YaHei"/>
              </a:rPr>
              <a:t>支持档案检索、在线查看与智能利用</a:t>
            </a:r>
          </a:p>
        </p:txBody>
      </p:sp>
      <p:sp>
        <p:nvSpPr>
          <p:cNvPr id="94" name="capability-06">
            <a:extLst>
              <a:ext uri="{FF2B5EF4-FFF2-40B4-BE49-F238E27FC236}">
                <a16:creationId xmlns:a16="http://schemas.microsoft.com/office/drawing/2014/main" id="{898BBEF8-D6F0-7174-1974-BCDC9FB0448D}"/>
              </a:ext>
            </a:extLst>
          </p:cNvPr>
          <p:cNvSpPr>
            <a:spLocks noGrp="1"/>
          </p:cNvSpPr>
          <p:nvPr/>
        </p:nvSpPr>
        <p:spPr>
          <a:xfrm>
            <a:off x="428625" y="3998156"/>
            <a:ext cx="5072063" cy="545781"/>
          </a:xfrm>
          <a:prstGeom prst="rect">
            <a:avLst/>
          </a:prstGeom>
          <a:solidFill>
            <a:srgbClr val="FFFFFF"/>
          </a:solidFill>
          <a:ln w="9525">
            <a:solidFill>
              <a:srgbClr val="C9DCEB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" name="capability-accent-06">
            <a:extLst>
              <a:ext uri="{FF2B5EF4-FFF2-40B4-BE49-F238E27FC236}">
                <a16:creationId xmlns:a16="http://schemas.microsoft.com/office/drawing/2014/main" id="{F45337DD-2996-BB7E-6996-F6DD97858384}"/>
              </a:ext>
            </a:extLst>
          </p:cNvPr>
          <p:cNvSpPr>
            <a:spLocks noGrp="1"/>
          </p:cNvSpPr>
          <p:nvPr/>
        </p:nvSpPr>
        <p:spPr>
          <a:xfrm>
            <a:off x="428626" y="3998156"/>
            <a:ext cx="34289" cy="545781"/>
          </a:xfrm>
          <a:prstGeom prst="rect">
            <a:avLst/>
          </a:prstGeom>
          <a:solidFill>
            <a:srgbClr val="009CDE"/>
          </a:solidFill>
          <a:ln w="0">
            <a:noFill/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6" name="capability-title-06">
            <a:extLst>
              <a:ext uri="{FF2B5EF4-FFF2-40B4-BE49-F238E27FC236}">
                <a16:creationId xmlns:a16="http://schemas.microsoft.com/office/drawing/2014/main" id="{E5862801-B7AC-C3EC-9B2E-8A4C2ED800BF}"/>
              </a:ext>
            </a:extLst>
          </p:cNvPr>
          <p:cNvSpPr>
            <a:spLocks noGrp="1"/>
          </p:cNvSpPr>
          <p:nvPr/>
        </p:nvSpPr>
        <p:spPr>
          <a:xfrm>
            <a:off x="942975" y="4069594"/>
            <a:ext cx="1785938" cy="2214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defTabSz="685800"/>
            <a:r>
              <a:rPr lang="en-US" altLang="zh-CN" sz="1200" b="1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运行保障</a:t>
            </a:r>
            <a:endParaRPr lang="en-US" altLang="zh-CN" sz="12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7" name="capability-desc-06">
            <a:extLst>
              <a:ext uri="{FF2B5EF4-FFF2-40B4-BE49-F238E27FC236}">
                <a16:creationId xmlns:a16="http://schemas.microsoft.com/office/drawing/2014/main" id="{162CF876-8F68-4B73-450E-0DD451712F0D}"/>
              </a:ext>
            </a:extLst>
          </p:cNvPr>
          <p:cNvSpPr>
            <a:spLocks noGrp="1"/>
          </p:cNvSpPr>
          <p:nvPr/>
        </p:nvSpPr>
        <p:spPr>
          <a:xfrm>
            <a:off x="942975" y="4312481"/>
            <a:ext cx="43434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defTabSz="685800">
              <a:lnSpc>
                <a:spcPct val="108000"/>
              </a:lnSpc>
              <a:defRPr sz="1088" b="0">
                <a:solidFill>
                  <a:srgbClr val="5A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816">
                <a:solidFill>
                  <a:srgbClr val="5A6C7C"/>
                </a:solidFill>
                <a:latin typeface="Microsoft YaHei"/>
                <a:ea typeface="Microsoft YaHei"/>
                <a:cs typeface="Microsoft YaHei"/>
              </a:rPr>
              <a:t>采集任务自动监控｜实时同步备份｜安全水印、查毒、安全外发</a:t>
            </a:r>
          </a:p>
        </p:txBody>
      </p:sp>
      <p:sp>
        <p:nvSpPr>
          <p:cNvPr id="98" name="mapping-arrow-06">
            <a:extLst>
              <a:ext uri="{FF2B5EF4-FFF2-40B4-BE49-F238E27FC236}">
                <a16:creationId xmlns:a16="http://schemas.microsoft.com/office/drawing/2014/main" id="{F8102464-9A69-C4B7-E966-775DB9485E51}"/>
              </a:ext>
            </a:extLst>
          </p:cNvPr>
          <p:cNvSpPr>
            <a:spLocks noGrp="1"/>
          </p:cNvSpPr>
          <p:nvPr/>
        </p:nvSpPr>
        <p:spPr>
          <a:xfrm>
            <a:off x="5657850" y="4212469"/>
            <a:ext cx="371475" cy="192881"/>
          </a:xfrm>
          <a:prstGeom prst="rightArrow">
            <a:avLst/>
          </a:prstGeom>
          <a:solidFill>
            <a:srgbClr val="2A83C8"/>
          </a:solidFill>
          <a:ln w="0">
            <a:solidFill>
              <a:srgbClr val="2A83C8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9" name="module-06">
            <a:extLst>
              <a:ext uri="{FF2B5EF4-FFF2-40B4-BE49-F238E27FC236}">
                <a16:creationId xmlns:a16="http://schemas.microsoft.com/office/drawing/2014/main" id="{70AF271B-E754-A186-0739-E82017451088}"/>
              </a:ext>
            </a:extLst>
          </p:cNvPr>
          <p:cNvSpPr>
            <a:spLocks noGrp="1"/>
          </p:cNvSpPr>
          <p:nvPr/>
        </p:nvSpPr>
        <p:spPr>
          <a:xfrm>
            <a:off x="6215062" y="3998156"/>
            <a:ext cx="2500313" cy="545781"/>
          </a:xfrm>
          <a:prstGeom prst="rect">
            <a:avLst/>
          </a:prstGeom>
          <a:solidFill>
            <a:srgbClr val="F7FAFD"/>
          </a:solidFill>
          <a:ln w="9525">
            <a:solidFill>
              <a:srgbClr val="C9DCEB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0" name="module-tag-06">
            <a:extLst>
              <a:ext uri="{FF2B5EF4-FFF2-40B4-BE49-F238E27FC236}">
                <a16:creationId xmlns:a16="http://schemas.microsoft.com/office/drawing/2014/main" id="{8F309696-459A-1FF2-4E4F-056B949976BB}"/>
              </a:ext>
            </a:extLst>
          </p:cNvPr>
          <p:cNvSpPr>
            <a:spLocks noGrp="1"/>
          </p:cNvSpPr>
          <p:nvPr/>
        </p:nvSpPr>
        <p:spPr>
          <a:xfrm>
            <a:off x="6215063" y="3998156"/>
            <a:ext cx="514350" cy="545781"/>
          </a:xfrm>
          <a:prstGeom prst="rect">
            <a:avLst/>
          </a:prstGeom>
          <a:solidFill>
            <a:srgbClr val="009CDE"/>
          </a:solidFill>
          <a:ln w="0">
            <a:noFill/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1" name="module-tag-text-06">
            <a:extLst>
              <a:ext uri="{FF2B5EF4-FFF2-40B4-BE49-F238E27FC236}">
                <a16:creationId xmlns:a16="http://schemas.microsoft.com/office/drawing/2014/main" id="{22145C11-8A09-3AA4-6814-88C19DBDEFDB}"/>
              </a:ext>
            </a:extLst>
          </p:cNvPr>
          <p:cNvSpPr>
            <a:spLocks noGrp="1"/>
          </p:cNvSpPr>
          <p:nvPr/>
        </p:nvSpPr>
        <p:spPr>
          <a:xfrm>
            <a:off x="6272213" y="4040328"/>
            <a:ext cx="400050" cy="503609"/>
          </a:xfrm>
          <a:prstGeom prst="rect">
            <a:avLst/>
          </a:prstGeom>
          <a:solidFill>
            <a:srgbClr val="009CDE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 defTabSz="685800">
              <a:lnSpc>
                <a:spcPct val="108000"/>
              </a:lnSpc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6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模块</a:t>
            </a:r>
            <a:r>
              <a:rPr lang="en-US" altLang="zh-CN" sz="956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</a:t>
            </a:r>
            <a:endParaRPr sz="956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2" name="module-title-06">
            <a:extLst>
              <a:ext uri="{FF2B5EF4-FFF2-40B4-BE49-F238E27FC236}">
                <a16:creationId xmlns:a16="http://schemas.microsoft.com/office/drawing/2014/main" id="{28D7FA43-D5E4-EB64-4DB7-AE7D5E214C88}"/>
              </a:ext>
            </a:extLst>
          </p:cNvPr>
          <p:cNvSpPr>
            <a:spLocks noGrp="1"/>
          </p:cNvSpPr>
          <p:nvPr/>
        </p:nvSpPr>
        <p:spPr>
          <a:xfrm>
            <a:off x="6829425" y="4076738"/>
            <a:ext cx="17430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defTabSz="685800">
              <a:lnSpc>
                <a:spcPct val="108000"/>
              </a:lnSpc>
              <a:defRPr sz="1275" b="1">
                <a:solidFill>
                  <a:srgbClr val="12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956" b="1">
                <a:solidFill>
                  <a:srgbClr val="123B63"/>
                </a:solidFill>
                <a:latin typeface="Microsoft YaHei"/>
                <a:ea typeface="Microsoft YaHei"/>
                <a:cs typeface="Microsoft YaHei"/>
              </a:rPr>
              <a:t>系统全局治理、运维与监控</a:t>
            </a:r>
            <a:endParaRPr sz="956" b="1">
              <a:solidFill>
                <a:srgbClr val="123B6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3" name="module-desc-06">
            <a:extLst>
              <a:ext uri="{FF2B5EF4-FFF2-40B4-BE49-F238E27FC236}">
                <a16:creationId xmlns:a16="http://schemas.microsoft.com/office/drawing/2014/main" id="{AF767573-5876-BBF5-513B-69F28D68818D}"/>
              </a:ext>
            </a:extLst>
          </p:cNvPr>
          <p:cNvSpPr>
            <a:spLocks noGrp="1"/>
          </p:cNvSpPr>
          <p:nvPr/>
        </p:nvSpPr>
        <p:spPr>
          <a:xfrm>
            <a:off x="6829425" y="4355344"/>
            <a:ext cx="1743075" cy="16430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defTabSz="685800">
              <a:lnSpc>
                <a:spcPct val="108000"/>
              </a:lnSpc>
              <a:defRPr sz="1013" b="0">
                <a:solidFill>
                  <a:srgbClr val="5A6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60">
                <a:solidFill>
                  <a:srgbClr val="5A6C7C"/>
                </a:solidFill>
                <a:latin typeface="Microsoft YaHei"/>
                <a:ea typeface="Microsoft YaHei"/>
                <a:cs typeface="Microsoft YaHei"/>
              </a:rPr>
              <a:t>覆盖权限管理、运行监控与系统保障</a:t>
            </a:r>
          </a:p>
        </p:txBody>
      </p:sp>
      <p:sp>
        <p:nvSpPr>
          <p:cNvPr id="104" name="文本框 72">
            <a:extLst>
              <a:ext uri="{FF2B5EF4-FFF2-40B4-BE49-F238E27FC236}">
                <a16:creationId xmlns:a16="http://schemas.microsoft.com/office/drawing/2014/main" id="{7CA02FF6-A1B3-504E-00DD-A2666BCAA0AB}"/>
              </a:ext>
            </a:extLst>
          </p:cNvPr>
          <p:cNvSpPr txBox="1"/>
          <p:nvPr/>
        </p:nvSpPr>
        <p:spPr>
          <a:xfrm>
            <a:off x="3083110" y="1565571"/>
            <a:ext cx="1785938" cy="217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zh-CN" altLang="en-US" sz="816" b="1">
                <a:solidFill>
                  <a:srgbClr val="5A6C7C"/>
                </a:solidFill>
                <a:latin typeface="Microsoft YaHei"/>
                <a:ea typeface="Microsoft YaHei"/>
                <a:cs typeface="Calibri"/>
              </a:rPr>
              <a:t>鸿翼产品：</a:t>
            </a:r>
            <a:r>
              <a:rPr lang="en-GB" altLang="zh-CN" sz="816">
                <a:solidFill>
                  <a:srgbClr val="5A6C7C"/>
                </a:solidFill>
                <a:latin typeface="Microsoft YaHei"/>
                <a:ea typeface="Microsoft YaHei"/>
                <a:cs typeface="Calibri"/>
              </a:rPr>
              <a:t>UDC </a:t>
            </a:r>
            <a:r>
              <a:rPr lang="zh-CN" altLang="en-US" sz="816">
                <a:solidFill>
                  <a:srgbClr val="5A6C7C"/>
                </a:solidFill>
                <a:latin typeface="Microsoft YaHei"/>
                <a:ea typeface="Microsoft YaHei"/>
                <a:cs typeface="Calibri"/>
              </a:rPr>
              <a:t>非结构化数据中台</a:t>
            </a:r>
          </a:p>
        </p:txBody>
      </p:sp>
      <p:sp>
        <p:nvSpPr>
          <p:cNvPr id="105" name="文本框 73">
            <a:extLst>
              <a:ext uri="{FF2B5EF4-FFF2-40B4-BE49-F238E27FC236}">
                <a16:creationId xmlns:a16="http://schemas.microsoft.com/office/drawing/2014/main" id="{904FF0F2-3D53-DA36-E6D3-EEE7235A0FA0}"/>
              </a:ext>
            </a:extLst>
          </p:cNvPr>
          <p:cNvSpPr txBox="1"/>
          <p:nvPr/>
        </p:nvSpPr>
        <p:spPr>
          <a:xfrm>
            <a:off x="3083110" y="2795471"/>
            <a:ext cx="1785938" cy="217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zh-CN" altLang="en-US" sz="816" b="1">
                <a:solidFill>
                  <a:srgbClr val="5A6C7C"/>
                </a:solidFill>
                <a:latin typeface="Microsoft YaHei"/>
                <a:ea typeface="Microsoft YaHei"/>
                <a:cs typeface="Calibri"/>
              </a:rPr>
              <a:t>鸿翼产品：</a:t>
            </a:r>
            <a:r>
              <a:rPr lang="en-GB" altLang="zh-CN" sz="816">
                <a:solidFill>
                  <a:srgbClr val="5A6C7C"/>
                </a:solidFill>
                <a:latin typeface="Microsoft YaHei"/>
                <a:ea typeface="Microsoft YaHei"/>
                <a:cs typeface="Calibri"/>
              </a:rPr>
              <a:t>UDC </a:t>
            </a:r>
            <a:r>
              <a:rPr lang="zh-CN" altLang="en-US" sz="816">
                <a:solidFill>
                  <a:srgbClr val="5A6C7C"/>
                </a:solidFill>
                <a:latin typeface="Microsoft YaHei"/>
                <a:ea typeface="Microsoft YaHei"/>
                <a:cs typeface="Calibri"/>
              </a:rPr>
              <a:t>非结构化数据中台</a:t>
            </a:r>
          </a:p>
        </p:txBody>
      </p:sp>
      <p:sp>
        <p:nvSpPr>
          <p:cNvPr id="106" name="文本框 74">
            <a:extLst>
              <a:ext uri="{FF2B5EF4-FFF2-40B4-BE49-F238E27FC236}">
                <a16:creationId xmlns:a16="http://schemas.microsoft.com/office/drawing/2014/main" id="{167819B4-D942-1281-D048-1BF9B99A7E59}"/>
              </a:ext>
            </a:extLst>
          </p:cNvPr>
          <p:cNvSpPr txBox="1"/>
          <p:nvPr/>
        </p:nvSpPr>
        <p:spPr>
          <a:xfrm>
            <a:off x="3114675" y="2199906"/>
            <a:ext cx="1785938" cy="217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zh-CN" altLang="en-US" sz="816" b="1">
                <a:solidFill>
                  <a:srgbClr val="5A6C7C"/>
                </a:solidFill>
                <a:latin typeface="Microsoft YaHei"/>
                <a:ea typeface="Microsoft YaHei"/>
                <a:cs typeface="Calibri"/>
              </a:rPr>
              <a:t>鸿翼产品：</a:t>
            </a:r>
            <a:r>
              <a:rPr lang="en-GB" altLang="zh-CN" sz="816">
                <a:solidFill>
                  <a:srgbClr val="5A6C7C"/>
                </a:solidFill>
                <a:latin typeface="Microsoft YaHei"/>
                <a:ea typeface="Microsoft YaHei"/>
                <a:cs typeface="Calibri"/>
              </a:rPr>
              <a:t>UDC + OpenContent</a:t>
            </a:r>
          </a:p>
        </p:txBody>
      </p:sp>
      <p:sp>
        <p:nvSpPr>
          <p:cNvPr id="107" name="文本框 75">
            <a:extLst>
              <a:ext uri="{FF2B5EF4-FFF2-40B4-BE49-F238E27FC236}">
                <a16:creationId xmlns:a16="http://schemas.microsoft.com/office/drawing/2014/main" id="{027EC6DE-5870-50F2-7E88-857D456C1D2B}"/>
              </a:ext>
            </a:extLst>
          </p:cNvPr>
          <p:cNvSpPr txBox="1"/>
          <p:nvPr/>
        </p:nvSpPr>
        <p:spPr>
          <a:xfrm>
            <a:off x="3114675" y="3404975"/>
            <a:ext cx="2171700" cy="217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zh-CN" altLang="en-US" sz="816" b="1">
                <a:solidFill>
                  <a:srgbClr val="5A6C7C"/>
                </a:solidFill>
                <a:latin typeface="Microsoft YaHei"/>
                <a:ea typeface="Microsoft YaHei"/>
                <a:cs typeface="Calibri"/>
              </a:rPr>
              <a:t>鸿翼产品：</a:t>
            </a:r>
            <a:r>
              <a:rPr lang="en-GB" altLang="zh-CN" sz="816">
                <a:solidFill>
                  <a:srgbClr val="5A6C7C"/>
                </a:solidFill>
                <a:latin typeface="Microsoft YaHei"/>
                <a:ea typeface="Microsoft YaHei"/>
                <a:cs typeface="Calibri"/>
              </a:rPr>
              <a:t>OpenContent + </a:t>
            </a:r>
            <a:r>
              <a:rPr lang="zh-CN" altLang="en-US" sz="816">
                <a:solidFill>
                  <a:srgbClr val="5A6C7C"/>
                </a:solidFill>
                <a:latin typeface="Microsoft YaHei"/>
                <a:ea typeface="Microsoft YaHei"/>
                <a:cs typeface="Calibri"/>
              </a:rPr>
              <a:t>企业</a:t>
            </a:r>
            <a:r>
              <a:rPr lang="en-GB" altLang="zh-CN" sz="816">
                <a:solidFill>
                  <a:srgbClr val="5A6C7C"/>
                </a:solidFill>
                <a:latin typeface="Microsoft YaHei"/>
                <a:ea typeface="Microsoft YaHei"/>
                <a:cs typeface="Calibri"/>
              </a:rPr>
              <a:t>AI</a:t>
            </a:r>
            <a:r>
              <a:rPr lang="zh-CN" altLang="en-US" sz="816">
                <a:solidFill>
                  <a:srgbClr val="5A6C7C"/>
                </a:solidFill>
                <a:latin typeface="Microsoft YaHei"/>
                <a:ea typeface="Microsoft YaHei"/>
                <a:cs typeface="Calibri"/>
              </a:rPr>
              <a:t>搜</a:t>
            </a:r>
          </a:p>
        </p:txBody>
      </p:sp>
      <p:sp>
        <p:nvSpPr>
          <p:cNvPr id="108" name="文本框 76">
            <a:extLst>
              <a:ext uri="{FF2B5EF4-FFF2-40B4-BE49-F238E27FC236}">
                <a16:creationId xmlns:a16="http://schemas.microsoft.com/office/drawing/2014/main" id="{EE1C4202-7210-7270-88AC-51D859D89D92}"/>
              </a:ext>
            </a:extLst>
          </p:cNvPr>
          <p:cNvSpPr txBox="1"/>
          <p:nvPr/>
        </p:nvSpPr>
        <p:spPr>
          <a:xfrm>
            <a:off x="3114675" y="4057913"/>
            <a:ext cx="1785938" cy="217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zh-CN" altLang="en-US" sz="816" b="1">
                <a:solidFill>
                  <a:srgbClr val="5A6C7C"/>
                </a:solidFill>
                <a:latin typeface="Microsoft YaHei"/>
                <a:ea typeface="Microsoft YaHei"/>
                <a:cs typeface="Calibri"/>
              </a:rPr>
              <a:t>鸿翼</a:t>
            </a:r>
            <a:r>
              <a:rPr lang="zh-CN" altLang="en-US" sz="816">
                <a:solidFill>
                  <a:srgbClr val="5A6C7C"/>
                </a:solidFill>
                <a:latin typeface="Microsoft YaHei"/>
                <a:ea typeface="Microsoft YaHei"/>
                <a:cs typeface="Calibri"/>
              </a:rPr>
              <a:t>产品：</a:t>
            </a:r>
            <a:r>
              <a:rPr lang="en-US" altLang="zh-CN" sz="816">
                <a:solidFill>
                  <a:srgbClr val="5A6C7C"/>
                </a:solidFill>
                <a:latin typeface="Microsoft YaHei"/>
                <a:ea typeface="Microsoft YaHei"/>
                <a:cs typeface="Calibri"/>
              </a:rPr>
              <a:t>UDC 平台能力</a:t>
            </a:r>
          </a:p>
        </p:txBody>
      </p:sp>
      <p:pic>
        <p:nvPicPr>
          <p:cNvPr id="109" name="图形 83" descr="文件夹搜索 纯色填充">
            <a:extLst>
              <a:ext uri="{FF2B5EF4-FFF2-40B4-BE49-F238E27FC236}">
                <a16:creationId xmlns:a16="http://schemas.microsoft.com/office/drawing/2014/main" id="{E8BD48F2-BFB3-50A0-9F8B-E7D7B2DF7803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5149" y="3471028"/>
            <a:ext cx="342000" cy="342000"/>
          </a:xfrm>
          <a:prstGeom prst="rect">
            <a:avLst/>
          </a:prstGeom>
        </p:spPr>
      </p:pic>
      <p:pic>
        <p:nvPicPr>
          <p:cNvPr id="110" name="图形 85" descr="统计数据 纯色填充">
            <a:extLst>
              <a:ext uri="{FF2B5EF4-FFF2-40B4-BE49-F238E27FC236}">
                <a16:creationId xmlns:a16="http://schemas.microsoft.com/office/drawing/2014/main" id="{B6930E99-3ECC-A6ED-041A-0157B470EA96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5149" y="2224994"/>
            <a:ext cx="342000" cy="342000"/>
          </a:xfrm>
          <a:prstGeom prst="rect">
            <a:avLst/>
          </a:prstGeom>
        </p:spPr>
      </p:pic>
      <p:pic>
        <p:nvPicPr>
          <p:cNvPr id="111" name="图形 87" descr="插不插电 纯色填充">
            <a:extLst>
              <a:ext uri="{FF2B5EF4-FFF2-40B4-BE49-F238E27FC236}">
                <a16:creationId xmlns:a16="http://schemas.microsoft.com/office/drawing/2014/main" id="{6AE6A0CA-A8FA-1534-E8C2-5F027A411688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5149" y="1591146"/>
            <a:ext cx="342000" cy="342000"/>
          </a:xfrm>
          <a:prstGeom prst="rect">
            <a:avLst/>
          </a:prstGeom>
        </p:spPr>
      </p:pic>
      <p:pic>
        <p:nvPicPr>
          <p:cNvPr id="112" name="图形 89" descr="锁定 纯色填充">
            <a:extLst>
              <a:ext uri="{FF2B5EF4-FFF2-40B4-BE49-F238E27FC236}">
                <a16:creationId xmlns:a16="http://schemas.microsoft.com/office/drawing/2014/main" id="{B3A76400-C147-E5B1-E2EF-D998B3DF3543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5149" y="2816290"/>
            <a:ext cx="342000" cy="342000"/>
          </a:xfrm>
          <a:prstGeom prst="rect">
            <a:avLst/>
          </a:prstGeom>
        </p:spPr>
      </p:pic>
      <p:pic>
        <p:nvPicPr>
          <p:cNvPr id="113" name="图形 91" descr="盾蜱虫 纯色填充">
            <a:extLst>
              <a:ext uri="{FF2B5EF4-FFF2-40B4-BE49-F238E27FC236}">
                <a16:creationId xmlns:a16="http://schemas.microsoft.com/office/drawing/2014/main" id="{FC4A8360-D225-01D2-5CDC-CDFEA7AEA502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5149" y="4070808"/>
            <a:ext cx="342000" cy="34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8242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rrow-0">
            <a:extLst>
              <a:ext uri="{FF2B5EF4-FFF2-40B4-BE49-F238E27FC236}">
                <a16:creationId xmlns:a16="http://schemas.microsoft.com/office/drawing/2014/main" id="{8C52DCE3-A10D-443A-B973-5BDFAF672C32}"/>
              </a:ext>
            </a:extLst>
          </p:cNvPr>
          <p:cNvSpPr>
            <a:spLocks noGrp="1"/>
          </p:cNvSpPr>
          <p:nvPr/>
        </p:nvSpPr>
        <p:spPr>
          <a:xfrm>
            <a:off x="1835944" y="2380775"/>
            <a:ext cx="250031" cy="213360"/>
          </a:xfrm>
          <a:prstGeom prst="rightArrow">
            <a:avLst/>
          </a:prstGeom>
          <a:solidFill>
            <a:srgbClr val="2F88C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7" name="arrow-1">
            <a:extLst>
              <a:ext uri="{FF2B5EF4-FFF2-40B4-BE49-F238E27FC236}">
                <a16:creationId xmlns:a16="http://schemas.microsoft.com/office/drawing/2014/main" id="{C4965B38-1625-40ED-A02B-F9FBBCABCC9B}"/>
              </a:ext>
            </a:extLst>
          </p:cNvPr>
          <p:cNvSpPr>
            <a:spLocks noGrp="1"/>
          </p:cNvSpPr>
          <p:nvPr/>
        </p:nvSpPr>
        <p:spPr>
          <a:xfrm>
            <a:off x="3911204" y="2380775"/>
            <a:ext cx="250031" cy="213360"/>
          </a:xfrm>
          <a:prstGeom prst="rightArrow">
            <a:avLst/>
          </a:prstGeom>
          <a:solidFill>
            <a:srgbClr val="2F88C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8" name="arrow-2">
            <a:extLst>
              <a:ext uri="{FF2B5EF4-FFF2-40B4-BE49-F238E27FC236}">
                <a16:creationId xmlns:a16="http://schemas.microsoft.com/office/drawing/2014/main" id="{1EE5EDBF-620D-4C0D-B2CF-4FEB631DBE7B}"/>
              </a:ext>
            </a:extLst>
          </p:cNvPr>
          <p:cNvSpPr>
            <a:spLocks noGrp="1"/>
          </p:cNvSpPr>
          <p:nvPr/>
        </p:nvSpPr>
        <p:spPr>
          <a:xfrm>
            <a:off x="6958014" y="2386963"/>
            <a:ext cx="250031" cy="213360"/>
          </a:xfrm>
          <a:prstGeom prst="rightArrow">
            <a:avLst/>
          </a:prstGeom>
          <a:solidFill>
            <a:srgbClr val="2F88C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 sz="1400"/>
          </a:p>
        </p:txBody>
      </p:sp>
      <p:sp>
        <p:nvSpPr>
          <p:cNvPr id="9" name="source">
            <a:extLst>
              <a:ext uri="{FF2B5EF4-FFF2-40B4-BE49-F238E27FC236}">
                <a16:creationId xmlns:a16="http://schemas.microsoft.com/office/drawing/2014/main" id="{A70DDFA1-9742-45D6-816B-53C03A547D16}"/>
              </a:ext>
            </a:extLst>
          </p:cNvPr>
          <p:cNvSpPr>
            <a:spLocks noGrp="1"/>
          </p:cNvSpPr>
          <p:nvPr/>
        </p:nvSpPr>
        <p:spPr>
          <a:xfrm>
            <a:off x="400050" y="1266350"/>
            <a:ext cx="1435894" cy="2438396"/>
          </a:xfrm>
          <a:prstGeom prst="rect">
            <a:avLst/>
          </a:prstGeom>
          <a:solidFill>
            <a:srgbClr val="F1F7FC"/>
          </a:solidFill>
          <a:ln w="9525">
            <a:solidFill>
              <a:srgbClr val="BDD7EB"/>
            </a:solidFill>
            <a:prstDash val="solid"/>
          </a:ln>
        </p:spPr>
        <p:txBody>
          <a:bodyPr/>
          <a:lstStyle/>
          <a:p>
            <a:endParaRPr lang="zh-CN" altLang="en-US" sz="1350"/>
          </a:p>
        </p:txBody>
      </p:sp>
      <p:sp>
        <p:nvSpPr>
          <p:cNvPr id="10" name="source-head">
            <a:extLst>
              <a:ext uri="{FF2B5EF4-FFF2-40B4-BE49-F238E27FC236}">
                <a16:creationId xmlns:a16="http://schemas.microsoft.com/office/drawing/2014/main" id="{4CD45E97-6A11-49D2-A086-1422EB5397FC}"/>
              </a:ext>
            </a:extLst>
          </p:cNvPr>
          <p:cNvSpPr>
            <a:spLocks noGrp="1"/>
          </p:cNvSpPr>
          <p:nvPr/>
        </p:nvSpPr>
        <p:spPr>
          <a:xfrm>
            <a:off x="400050" y="1266349"/>
            <a:ext cx="1435894" cy="365759"/>
          </a:xfrm>
          <a:prstGeom prst="rect">
            <a:avLst/>
          </a:prstGeom>
          <a:solidFill>
            <a:srgbClr val="009CDE"/>
          </a:solidFill>
          <a:ln w="0">
            <a:noFill/>
            <a:prstDash val="solid"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11" name="source-headt">
            <a:extLst>
              <a:ext uri="{FF2B5EF4-FFF2-40B4-BE49-F238E27FC236}">
                <a16:creationId xmlns:a16="http://schemas.microsoft.com/office/drawing/2014/main" id="{67F0EE5B-3892-4480-98D4-0F614EB31308}"/>
              </a:ext>
            </a:extLst>
          </p:cNvPr>
          <p:cNvSpPr>
            <a:spLocks noGrp="1"/>
          </p:cNvSpPr>
          <p:nvPr/>
        </p:nvSpPr>
        <p:spPr>
          <a:xfrm>
            <a:off x="442912" y="1280637"/>
            <a:ext cx="1350169" cy="33527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956" b="1">
                <a:solidFill>
                  <a:srgbClr val="FFFFFF"/>
                </a:solidFill>
              </a:rPr>
              <a:t>来源系统</a:t>
            </a:r>
          </a:p>
        </p:txBody>
      </p:sp>
      <p:sp>
        <p:nvSpPr>
          <p:cNvPr id="12" name="st-0">
            <a:extLst>
              <a:ext uri="{FF2B5EF4-FFF2-40B4-BE49-F238E27FC236}">
                <a16:creationId xmlns:a16="http://schemas.microsoft.com/office/drawing/2014/main" id="{0A8E86E0-3528-4848-91F3-5242F0888CB2}"/>
              </a:ext>
            </a:extLst>
          </p:cNvPr>
          <p:cNvSpPr>
            <a:spLocks noGrp="1"/>
          </p:cNvSpPr>
          <p:nvPr/>
        </p:nvSpPr>
        <p:spPr>
          <a:xfrm>
            <a:off x="485775" y="1709262"/>
            <a:ext cx="1264444" cy="182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082E50"/>
                </a:solidFill>
              </a:defRPr>
            </a:pPr>
            <a:r>
              <a:rPr sz="900" b="1">
                <a:solidFill>
                  <a:srgbClr val="082E50"/>
                </a:solidFill>
              </a:rPr>
              <a:t>业务系统 / 数据库</a:t>
            </a:r>
          </a:p>
        </p:txBody>
      </p:sp>
      <p:sp>
        <p:nvSpPr>
          <p:cNvPr id="13" name="ss-0">
            <a:extLst>
              <a:ext uri="{FF2B5EF4-FFF2-40B4-BE49-F238E27FC236}">
                <a16:creationId xmlns:a16="http://schemas.microsoft.com/office/drawing/2014/main" id="{E1CD44B3-B2AE-41E8-987C-A08AA10696F4}"/>
              </a:ext>
            </a:extLst>
          </p:cNvPr>
          <p:cNvSpPr>
            <a:spLocks noGrp="1"/>
          </p:cNvSpPr>
          <p:nvPr/>
        </p:nvSpPr>
        <p:spPr>
          <a:xfrm>
            <a:off x="485775" y="1895000"/>
            <a:ext cx="1264444" cy="20573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50" b="0">
                <a:solidFill>
                  <a:srgbClr val="607384"/>
                </a:solidFill>
              </a:defRPr>
            </a:pPr>
            <a:r>
              <a:rPr sz="800">
                <a:solidFill>
                  <a:srgbClr val="607384"/>
                </a:solidFill>
              </a:rPr>
              <a:t>文件、附件及相关业务信息</a:t>
            </a:r>
          </a:p>
        </p:txBody>
      </p:sp>
      <p:sp>
        <p:nvSpPr>
          <p:cNvPr id="14" name="sl-0">
            <a:extLst>
              <a:ext uri="{FF2B5EF4-FFF2-40B4-BE49-F238E27FC236}">
                <a16:creationId xmlns:a16="http://schemas.microsoft.com/office/drawing/2014/main" id="{2DD2A92F-FB0A-4C26-A694-3D3A39695423}"/>
              </a:ext>
            </a:extLst>
          </p:cNvPr>
          <p:cNvSpPr>
            <a:spLocks noGrp="1"/>
          </p:cNvSpPr>
          <p:nvPr/>
        </p:nvSpPr>
        <p:spPr>
          <a:xfrm>
            <a:off x="571500" y="2145030"/>
            <a:ext cx="1092994" cy="45719"/>
          </a:xfrm>
          <a:prstGeom prst="rect">
            <a:avLst/>
          </a:prstGeom>
          <a:solidFill>
            <a:srgbClr val="BDD7E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15" name="st-1">
            <a:extLst>
              <a:ext uri="{FF2B5EF4-FFF2-40B4-BE49-F238E27FC236}">
                <a16:creationId xmlns:a16="http://schemas.microsoft.com/office/drawing/2014/main" id="{E07E635D-45E5-4287-A537-B6EDA621E33E}"/>
              </a:ext>
            </a:extLst>
          </p:cNvPr>
          <p:cNvSpPr>
            <a:spLocks noGrp="1"/>
          </p:cNvSpPr>
          <p:nvPr/>
        </p:nvSpPr>
        <p:spPr>
          <a:xfrm>
            <a:off x="485775" y="2266475"/>
            <a:ext cx="1264444" cy="182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082E50"/>
                </a:solidFill>
              </a:defRPr>
            </a:pPr>
            <a:r>
              <a:rPr sz="900" b="1">
                <a:solidFill>
                  <a:srgbClr val="082E50"/>
                </a:solidFill>
              </a:rPr>
              <a:t>文件系统 / 文档库</a:t>
            </a:r>
          </a:p>
        </p:txBody>
      </p:sp>
      <p:sp>
        <p:nvSpPr>
          <p:cNvPr id="16" name="ss-1">
            <a:extLst>
              <a:ext uri="{FF2B5EF4-FFF2-40B4-BE49-F238E27FC236}">
                <a16:creationId xmlns:a16="http://schemas.microsoft.com/office/drawing/2014/main" id="{352846A9-6BDA-4987-9AB2-2B1825E0D820}"/>
              </a:ext>
            </a:extLst>
          </p:cNvPr>
          <p:cNvSpPr>
            <a:spLocks noGrp="1"/>
          </p:cNvSpPr>
          <p:nvPr/>
        </p:nvSpPr>
        <p:spPr>
          <a:xfrm>
            <a:off x="485775" y="2452213"/>
            <a:ext cx="1264444" cy="20573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50" b="0">
                <a:solidFill>
                  <a:srgbClr val="607384"/>
                </a:solidFill>
              </a:defRPr>
            </a:pPr>
            <a:r>
              <a:rPr sz="800">
                <a:solidFill>
                  <a:srgbClr val="607384"/>
                </a:solidFill>
              </a:rPr>
              <a:t>主文件、目录与基础属性</a:t>
            </a:r>
          </a:p>
        </p:txBody>
      </p:sp>
      <p:sp>
        <p:nvSpPr>
          <p:cNvPr id="17" name="sl-1">
            <a:extLst>
              <a:ext uri="{FF2B5EF4-FFF2-40B4-BE49-F238E27FC236}">
                <a16:creationId xmlns:a16="http://schemas.microsoft.com/office/drawing/2014/main" id="{9FAF0AEF-19E5-4C06-ABB6-175EB90FFFF5}"/>
              </a:ext>
            </a:extLst>
          </p:cNvPr>
          <p:cNvSpPr>
            <a:spLocks noGrp="1"/>
          </p:cNvSpPr>
          <p:nvPr/>
        </p:nvSpPr>
        <p:spPr>
          <a:xfrm>
            <a:off x="571500" y="2702243"/>
            <a:ext cx="1092994" cy="45719"/>
          </a:xfrm>
          <a:prstGeom prst="rect">
            <a:avLst/>
          </a:prstGeom>
          <a:solidFill>
            <a:srgbClr val="BDD7E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18" name="st-2">
            <a:extLst>
              <a:ext uri="{FF2B5EF4-FFF2-40B4-BE49-F238E27FC236}">
                <a16:creationId xmlns:a16="http://schemas.microsoft.com/office/drawing/2014/main" id="{06519804-2CAB-466B-848A-1EB34F3F3733}"/>
              </a:ext>
            </a:extLst>
          </p:cNvPr>
          <p:cNvSpPr>
            <a:spLocks noGrp="1"/>
          </p:cNvSpPr>
          <p:nvPr/>
        </p:nvSpPr>
        <p:spPr>
          <a:xfrm>
            <a:off x="485775" y="2823687"/>
            <a:ext cx="1264444" cy="182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082E50"/>
                </a:solidFill>
              </a:defRPr>
            </a:pPr>
            <a:r>
              <a:rPr sz="900" b="1">
                <a:solidFill>
                  <a:srgbClr val="082E50"/>
                </a:solidFill>
              </a:rPr>
              <a:t>对象存储 / 多模态内容</a:t>
            </a:r>
          </a:p>
        </p:txBody>
      </p:sp>
      <p:sp>
        <p:nvSpPr>
          <p:cNvPr id="19" name="ss-2">
            <a:extLst>
              <a:ext uri="{FF2B5EF4-FFF2-40B4-BE49-F238E27FC236}">
                <a16:creationId xmlns:a16="http://schemas.microsoft.com/office/drawing/2014/main" id="{61E775AB-C112-424C-AE7E-F5A611F84129}"/>
              </a:ext>
            </a:extLst>
          </p:cNvPr>
          <p:cNvSpPr>
            <a:spLocks noGrp="1"/>
          </p:cNvSpPr>
          <p:nvPr/>
        </p:nvSpPr>
        <p:spPr>
          <a:xfrm>
            <a:off x="485775" y="3069059"/>
            <a:ext cx="1264444" cy="20573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50" b="0">
                <a:solidFill>
                  <a:srgbClr val="607384"/>
                </a:solidFill>
              </a:defRPr>
            </a:pPr>
            <a:r>
              <a:rPr sz="800">
                <a:solidFill>
                  <a:srgbClr val="607384"/>
                </a:solidFill>
              </a:rPr>
              <a:t>对象文件、图像、音视频</a:t>
            </a:r>
          </a:p>
        </p:txBody>
      </p:sp>
      <p:sp>
        <p:nvSpPr>
          <p:cNvPr id="20" name="collect">
            <a:extLst>
              <a:ext uri="{FF2B5EF4-FFF2-40B4-BE49-F238E27FC236}">
                <a16:creationId xmlns:a16="http://schemas.microsoft.com/office/drawing/2014/main" id="{2C5B765A-2112-45DF-967B-E0891FCFD50B}"/>
              </a:ext>
            </a:extLst>
          </p:cNvPr>
          <p:cNvSpPr>
            <a:spLocks noGrp="1"/>
          </p:cNvSpPr>
          <p:nvPr/>
        </p:nvSpPr>
        <p:spPr>
          <a:xfrm>
            <a:off x="2085975" y="1266350"/>
            <a:ext cx="1814514" cy="2438396"/>
          </a:xfrm>
          <a:prstGeom prst="rect">
            <a:avLst/>
          </a:prstGeom>
          <a:solidFill>
            <a:srgbClr val="F1F7FC"/>
          </a:solidFill>
          <a:ln w="9525">
            <a:solidFill>
              <a:srgbClr val="BDD7EB"/>
            </a:solidFill>
            <a:prstDash val="solid"/>
          </a:ln>
        </p:spPr>
        <p:txBody>
          <a:bodyPr/>
          <a:lstStyle/>
          <a:p>
            <a:endParaRPr lang="zh-CN" altLang="en-US" sz="1350"/>
          </a:p>
        </p:txBody>
      </p:sp>
      <p:sp>
        <p:nvSpPr>
          <p:cNvPr id="21" name="collect-head">
            <a:extLst>
              <a:ext uri="{FF2B5EF4-FFF2-40B4-BE49-F238E27FC236}">
                <a16:creationId xmlns:a16="http://schemas.microsoft.com/office/drawing/2014/main" id="{ADE1C11D-F5CA-4304-890D-3BFF0B2AEACF}"/>
              </a:ext>
            </a:extLst>
          </p:cNvPr>
          <p:cNvSpPr>
            <a:spLocks noGrp="1"/>
          </p:cNvSpPr>
          <p:nvPr/>
        </p:nvSpPr>
        <p:spPr>
          <a:xfrm>
            <a:off x="2085974" y="1266349"/>
            <a:ext cx="1814513" cy="365759"/>
          </a:xfrm>
          <a:prstGeom prst="rect">
            <a:avLst/>
          </a:prstGeom>
          <a:solidFill>
            <a:srgbClr val="009CDE"/>
          </a:solidFill>
          <a:ln w="0">
            <a:noFill/>
            <a:prstDash val="solid"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2" name="collect-headt">
            <a:extLst>
              <a:ext uri="{FF2B5EF4-FFF2-40B4-BE49-F238E27FC236}">
                <a16:creationId xmlns:a16="http://schemas.microsoft.com/office/drawing/2014/main" id="{D5EE30CC-D475-4036-9A1D-9D6993C3C630}"/>
              </a:ext>
            </a:extLst>
          </p:cNvPr>
          <p:cNvSpPr>
            <a:spLocks noGrp="1"/>
          </p:cNvSpPr>
          <p:nvPr/>
        </p:nvSpPr>
        <p:spPr>
          <a:xfrm>
            <a:off x="2248105" y="1280637"/>
            <a:ext cx="1521619" cy="33527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956" b="1">
                <a:solidFill>
                  <a:srgbClr val="FFFFFF"/>
                </a:solidFill>
              </a:rPr>
              <a:t>内容采集｜</a:t>
            </a:r>
            <a:endParaRPr lang="en-US" sz="956" b="1">
              <a:solidFill>
                <a:srgbClr val="FFFFFF"/>
              </a:solidFill>
            </a:endParaRPr>
          </a:p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956" b="1">
                <a:solidFill>
                  <a:srgbClr val="FFFFFF"/>
                </a:solidFill>
              </a:rPr>
              <a:t>采集任务与完整要素</a:t>
            </a:r>
          </a:p>
        </p:txBody>
      </p:sp>
      <p:sp>
        <p:nvSpPr>
          <p:cNvPr id="23" name="c1">
            <a:extLst>
              <a:ext uri="{FF2B5EF4-FFF2-40B4-BE49-F238E27FC236}">
                <a16:creationId xmlns:a16="http://schemas.microsoft.com/office/drawing/2014/main" id="{3AB0727A-3785-422B-9F19-7113D3BC6136}"/>
              </a:ext>
            </a:extLst>
          </p:cNvPr>
          <p:cNvSpPr>
            <a:spLocks noGrp="1"/>
          </p:cNvSpPr>
          <p:nvPr/>
        </p:nvSpPr>
        <p:spPr>
          <a:xfrm>
            <a:off x="2242186" y="1721768"/>
            <a:ext cx="1521143" cy="438834"/>
          </a:xfrm>
          <a:prstGeom prst="rect">
            <a:avLst/>
          </a:prstGeom>
          <a:solidFill>
            <a:srgbClr val="FFFFFF"/>
          </a:solidFill>
          <a:ln w="9525">
            <a:solidFill>
              <a:srgbClr val="BDD7EB"/>
            </a:solidFill>
            <a:prstDash val="solid"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24" name="c1a">
            <a:extLst>
              <a:ext uri="{FF2B5EF4-FFF2-40B4-BE49-F238E27FC236}">
                <a16:creationId xmlns:a16="http://schemas.microsoft.com/office/drawing/2014/main" id="{2BB7254E-B652-4D78-9883-AD35951E4EDF}"/>
              </a:ext>
            </a:extLst>
          </p:cNvPr>
          <p:cNvSpPr>
            <a:spLocks noGrp="1"/>
          </p:cNvSpPr>
          <p:nvPr/>
        </p:nvSpPr>
        <p:spPr>
          <a:xfrm>
            <a:off x="2520911" y="1726408"/>
            <a:ext cx="1121569" cy="1752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082E50"/>
                </a:solidFill>
              </a:defRPr>
            </a:pPr>
            <a:r>
              <a:rPr sz="900" b="1">
                <a:solidFill>
                  <a:srgbClr val="082E50"/>
                </a:solidFill>
              </a:rPr>
              <a:t>主文件与附件</a:t>
            </a:r>
          </a:p>
        </p:txBody>
      </p:sp>
      <p:sp>
        <p:nvSpPr>
          <p:cNvPr id="25" name="c1b">
            <a:extLst>
              <a:ext uri="{FF2B5EF4-FFF2-40B4-BE49-F238E27FC236}">
                <a16:creationId xmlns:a16="http://schemas.microsoft.com/office/drawing/2014/main" id="{09C057D3-5BA1-4D4A-823D-7B0B08569E99}"/>
              </a:ext>
            </a:extLst>
          </p:cNvPr>
          <p:cNvSpPr>
            <a:spLocks noGrp="1"/>
          </p:cNvSpPr>
          <p:nvPr/>
        </p:nvSpPr>
        <p:spPr>
          <a:xfrm>
            <a:off x="2292191" y="1944172"/>
            <a:ext cx="1471138" cy="16437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607384"/>
                </a:solidFill>
              </a:defRPr>
            </a:pPr>
            <a:r>
              <a:rPr sz="800">
                <a:solidFill>
                  <a:srgbClr val="607384"/>
                </a:solidFill>
              </a:rPr>
              <a:t>主文件、附件、图片、音视频及其他内容实体</a:t>
            </a:r>
          </a:p>
        </p:txBody>
      </p:sp>
      <p:sp>
        <p:nvSpPr>
          <p:cNvPr id="26" name="c2">
            <a:extLst>
              <a:ext uri="{FF2B5EF4-FFF2-40B4-BE49-F238E27FC236}">
                <a16:creationId xmlns:a16="http://schemas.microsoft.com/office/drawing/2014/main" id="{D5B8CDAE-00B2-4BC7-9B9A-7E194E29CB22}"/>
              </a:ext>
            </a:extLst>
          </p:cNvPr>
          <p:cNvSpPr>
            <a:spLocks noGrp="1"/>
          </p:cNvSpPr>
          <p:nvPr/>
        </p:nvSpPr>
        <p:spPr>
          <a:xfrm>
            <a:off x="2251235" y="2250402"/>
            <a:ext cx="1512094" cy="452908"/>
          </a:xfrm>
          <a:prstGeom prst="rect">
            <a:avLst/>
          </a:prstGeom>
          <a:solidFill>
            <a:srgbClr val="FFFFFF"/>
          </a:solidFill>
          <a:ln w="9525">
            <a:solidFill>
              <a:srgbClr val="BDD7EB"/>
            </a:solidFill>
            <a:prstDash val="solid"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27" name="c2a">
            <a:extLst>
              <a:ext uri="{FF2B5EF4-FFF2-40B4-BE49-F238E27FC236}">
                <a16:creationId xmlns:a16="http://schemas.microsoft.com/office/drawing/2014/main" id="{CF721B53-DA2A-41F5-9888-C0450BFDF80B}"/>
              </a:ext>
            </a:extLst>
          </p:cNvPr>
          <p:cNvSpPr>
            <a:spLocks noGrp="1"/>
          </p:cNvSpPr>
          <p:nvPr/>
        </p:nvSpPr>
        <p:spPr>
          <a:xfrm>
            <a:off x="2445783" y="2248713"/>
            <a:ext cx="1121569" cy="1752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082E50"/>
                </a:solidFill>
              </a:defRPr>
            </a:pPr>
            <a:r>
              <a:rPr sz="900" b="1">
                <a:solidFill>
                  <a:srgbClr val="082E50"/>
                </a:solidFill>
              </a:rPr>
              <a:t>元数据与基础属性</a:t>
            </a:r>
          </a:p>
        </p:txBody>
      </p:sp>
      <p:sp>
        <p:nvSpPr>
          <p:cNvPr id="28" name="c2b">
            <a:extLst>
              <a:ext uri="{FF2B5EF4-FFF2-40B4-BE49-F238E27FC236}">
                <a16:creationId xmlns:a16="http://schemas.microsoft.com/office/drawing/2014/main" id="{8EEFE7CD-C0A9-4FDF-AB9A-DE54B9B1C600}"/>
              </a:ext>
            </a:extLst>
          </p:cNvPr>
          <p:cNvSpPr>
            <a:spLocks noGrp="1"/>
          </p:cNvSpPr>
          <p:nvPr/>
        </p:nvSpPr>
        <p:spPr>
          <a:xfrm>
            <a:off x="2421373" y="2465799"/>
            <a:ext cx="1265159" cy="1752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607384"/>
                </a:solidFill>
              </a:defRPr>
            </a:pPr>
            <a:r>
              <a:rPr sz="800">
                <a:solidFill>
                  <a:srgbClr val="607384"/>
                </a:solidFill>
              </a:rPr>
              <a:t>文件名、类型、时间、来源及自定义元数据</a:t>
            </a:r>
          </a:p>
        </p:txBody>
      </p:sp>
      <p:sp>
        <p:nvSpPr>
          <p:cNvPr id="29" name="c3">
            <a:extLst>
              <a:ext uri="{FF2B5EF4-FFF2-40B4-BE49-F238E27FC236}">
                <a16:creationId xmlns:a16="http://schemas.microsoft.com/office/drawing/2014/main" id="{9CA57231-6FFB-4863-98BD-E61EBE24FE90}"/>
              </a:ext>
            </a:extLst>
          </p:cNvPr>
          <p:cNvSpPr>
            <a:spLocks noGrp="1"/>
          </p:cNvSpPr>
          <p:nvPr/>
        </p:nvSpPr>
        <p:spPr>
          <a:xfrm>
            <a:off x="2257425" y="2783801"/>
            <a:ext cx="1521143" cy="575525"/>
          </a:xfrm>
          <a:prstGeom prst="rect">
            <a:avLst/>
          </a:prstGeom>
          <a:solidFill>
            <a:srgbClr val="FFFFFF"/>
          </a:solidFill>
          <a:ln w="9525">
            <a:solidFill>
              <a:srgbClr val="BDD7EB"/>
            </a:solidFill>
            <a:prstDash val="solid"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30" name="c3a">
            <a:extLst>
              <a:ext uri="{FF2B5EF4-FFF2-40B4-BE49-F238E27FC236}">
                <a16:creationId xmlns:a16="http://schemas.microsoft.com/office/drawing/2014/main" id="{6AEEDD05-2B06-4411-B2C9-86527566950C}"/>
              </a:ext>
            </a:extLst>
          </p:cNvPr>
          <p:cNvSpPr>
            <a:spLocks noGrp="1"/>
          </p:cNvSpPr>
          <p:nvPr/>
        </p:nvSpPr>
        <p:spPr>
          <a:xfrm>
            <a:off x="2292191" y="2867141"/>
            <a:ext cx="1491616" cy="1452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082E50"/>
                </a:solidFill>
              </a:defRPr>
            </a:pPr>
            <a:r>
              <a:rPr sz="900" b="1">
                <a:solidFill>
                  <a:srgbClr val="082E50"/>
                </a:solidFill>
              </a:rPr>
              <a:t>权限、目录与业务上下文</a:t>
            </a:r>
          </a:p>
        </p:txBody>
      </p:sp>
      <p:sp>
        <p:nvSpPr>
          <p:cNvPr id="31" name="c3b">
            <a:extLst>
              <a:ext uri="{FF2B5EF4-FFF2-40B4-BE49-F238E27FC236}">
                <a16:creationId xmlns:a16="http://schemas.microsoft.com/office/drawing/2014/main" id="{81CF620E-D132-43A7-B362-0338584BAAFD}"/>
              </a:ext>
            </a:extLst>
          </p:cNvPr>
          <p:cNvSpPr>
            <a:spLocks noGrp="1"/>
          </p:cNvSpPr>
          <p:nvPr/>
        </p:nvSpPr>
        <p:spPr>
          <a:xfrm>
            <a:off x="2307072" y="3066020"/>
            <a:ext cx="1461853" cy="20363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607384"/>
                </a:solidFill>
              </a:defRPr>
            </a:pPr>
            <a:r>
              <a:rPr sz="800">
                <a:solidFill>
                  <a:srgbClr val="607384"/>
                </a:solidFill>
              </a:rPr>
              <a:t>原文档权限、动态子目录、目录位置及来源上下文</a:t>
            </a:r>
          </a:p>
        </p:txBody>
      </p:sp>
      <p:sp>
        <p:nvSpPr>
          <p:cNvPr id="32" name="collect-note">
            <a:extLst>
              <a:ext uri="{FF2B5EF4-FFF2-40B4-BE49-F238E27FC236}">
                <a16:creationId xmlns:a16="http://schemas.microsoft.com/office/drawing/2014/main" id="{3DA95D70-A0C5-4772-B1C7-BD88DC809C6F}"/>
              </a:ext>
            </a:extLst>
          </p:cNvPr>
          <p:cNvSpPr>
            <a:spLocks noGrp="1"/>
          </p:cNvSpPr>
          <p:nvPr/>
        </p:nvSpPr>
        <p:spPr>
          <a:xfrm>
            <a:off x="2166461" y="3433028"/>
            <a:ext cx="1613058" cy="2221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50" b="0">
                <a:solidFill>
                  <a:srgbClr val="607384"/>
                </a:solidFill>
              </a:defRPr>
            </a:pPr>
            <a:r>
              <a:rPr sz="800">
                <a:solidFill>
                  <a:srgbClr val="607384"/>
                </a:solidFill>
              </a:rPr>
              <a:t>支持归档型与平台型采集</a:t>
            </a:r>
          </a:p>
          <a:p>
            <a:pPr algn="ctr">
              <a:defRPr sz="750" b="0">
                <a:solidFill>
                  <a:srgbClr val="607384"/>
                </a:solidFill>
              </a:defRPr>
            </a:pPr>
            <a:r>
              <a:rPr sz="800">
                <a:solidFill>
                  <a:srgbClr val="607384"/>
                </a:solidFill>
              </a:rPr>
              <a:t>自动执行并监控任务状态</a:t>
            </a:r>
          </a:p>
        </p:txBody>
      </p:sp>
      <p:sp>
        <p:nvSpPr>
          <p:cNvPr id="33" name="core">
            <a:extLst>
              <a:ext uri="{FF2B5EF4-FFF2-40B4-BE49-F238E27FC236}">
                <a16:creationId xmlns:a16="http://schemas.microsoft.com/office/drawing/2014/main" id="{95DF64E1-ADDD-422E-9C08-DFAF56E9D14A}"/>
              </a:ext>
            </a:extLst>
          </p:cNvPr>
          <p:cNvSpPr>
            <a:spLocks noGrp="1"/>
          </p:cNvSpPr>
          <p:nvPr/>
        </p:nvSpPr>
        <p:spPr>
          <a:xfrm>
            <a:off x="4171950" y="1272538"/>
            <a:ext cx="2786063" cy="2438396"/>
          </a:xfrm>
          <a:prstGeom prst="rect">
            <a:avLst/>
          </a:prstGeom>
          <a:solidFill>
            <a:srgbClr val="F1F7FC"/>
          </a:solidFill>
          <a:ln w="9525">
            <a:solidFill>
              <a:srgbClr val="BDD7EB"/>
            </a:solidFill>
            <a:prstDash val="solid"/>
          </a:ln>
        </p:spPr>
        <p:txBody>
          <a:bodyPr/>
          <a:lstStyle/>
          <a:p>
            <a:endParaRPr lang="zh-CN" altLang="en-US" sz="1350"/>
          </a:p>
        </p:txBody>
      </p:sp>
      <p:sp>
        <p:nvSpPr>
          <p:cNvPr id="34" name="core-head">
            <a:extLst>
              <a:ext uri="{FF2B5EF4-FFF2-40B4-BE49-F238E27FC236}">
                <a16:creationId xmlns:a16="http://schemas.microsoft.com/office/drawing/2014/main" id="{6D5B3D26-288E-4A5B-AB92-92890F288205}"/>
              </a:ext>
            </a:extLst>
          </p:cNvPr>
          <p:cNvSpPr>
            <a:spLocks noGrp="1"/>
          </p:cNvSpPr>
          <p:nvPr/>
        </p:nvSpPr>
        <p:spPr>
          <a:xfrm>
            <a:off x="4171950" y="1272537"/>
            <a:ext cx="2786063" cy="365759"/>
          </a:xfrm>
          <a:prstGeom prst="rect">
            <a:avLst/>
          </a:prstGeom>
          <a:solidFill>
            <a:srgbClr val="009CDE"/>
          </a:solidFill>
          <a:ln w="0">
            <a:noFill/>
            <a:prstDash val="solid"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35" name="core-headt">
            <a:extLst>
              <a:ext uri="{FF2B5EF4-FFF2-40B4-BE49-F238E27FC236}">
                <a16:creationId xmlns:a16="http://schemas.microsoft.com/office/drawing/2014/main" id="{153CFAC5-461B-48F7-AFBE-95A7D81773A8}"/>
              </a:ext>
            </a:extLst>
          </p:cNvPr>
          <p:cNvSpPr>
            <a:spLocks noGrp="1"/>
          </p:cNvSpPr>
          <p:nvPr/>
        </p:nvSpPr>
        <p:spPr>
          <a:xfrm>
            <a:off x="4214813" y="1286825"/>
            <a:ext cx="2700338" cy="33527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956" b="1">
                <a:solidFill>
                  <a:srgbClr val="FFFFFF"/>
                </a:solidFill>
              </a:rPr>
              <a:t>统一内容对象｜内容模型与存储管理</a:t>
            </a:r>
          </a:p>
        </p:txBody>
      </p:sp>
      <p:sp>
        <p:nvSpPr>
          <p:cNvPr id="36" name="o1">
            <a:extLst>
              <a:ext uri="{FF2B5EF4-FFF2-40B4-BE49-F238E27FC236}">
                <a16:creationId xmlns:a16="http://schemas.microsoft.com/office/drawing/2014/main" id="{134848FA-D800-432A-A1A7-FF38A2E6E7A6}"/>
              </a:ext>
            </a:extLst>
          </p:cNvPr>
          <p:cNvSpPr>
            <a:spLocks noGrp="1"/>
          </p:cNvSpPr>
          <p:nvPr/>
        </p:nvSpPr>
        <p:spPr>
          <a:xfrm>
            <a:off x="4343400" y="1715450"/>
            <a:ext cx="2443163" cy="396239"/>
          </a:xfrm>
          <a:prstGeom prst="rect">
            <a:avLst/>
          </a:prstGeom>
          <a:solidFill>
            <a:srgbClr val="FFFFFF"/>
          </a:solidFill>
          <a:ln w="9525">
            <a:solidFill>
              <a:srgbClr val="BDD7EB"/>
            </a:solidFill>
            <a:prstDash val="solid"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37" name="o1a">
            <a:extLst>
              <a:ext uri="{FF2B5EF4-FFF2-40B4-BE49-F238E27FC236}">
                <a16:creationId xmlns:a16="http://schemas.microsoft.com/office/drawing/2014/main" id="{69645671-8F40-4E9B-BE29-84F36EA7E6AC}"/>
              </a:ext>
            </a:extLst>
          </p:cNvPr>
          <p:cNvSpPr>
            <a:spLocks noGrp="1"/>
          </p:cNvSpPr>
          <p:nvPr/>
        </p:nvSpPr>
        <p:spPr>
          <a:xfrm>
            <a:off x="4429125" y="1758312"/>
            <a:ext cx="2271713" cy="1752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082E50"/>
                </a:solidFill>
              </a:defRPr>
            </a:pPr>
            <a:r>
              <a:rPr sz="900" b="1">
                <a:solidFill>
                  <a:srgbClr val="082E50"/>
                </a:solidFill>
              </a:rPr>
              <a:t>主文件、附件与内容关系</a:t>
            </a:r>
          </a:p>
        </p:txBody>
      </p:sp>
      <p:sp>
        <p:nvSpPr>
          <p:cNvPr id="38" name="o1b">
            <a:extLst>
              <a:ext uri="{FF2B5EF4-FFF2-40B4-BE49-F238E27FC236}">
                <a16:creationId xmlns:a16="http://schemas.microsoft.com/office/drawing/2014/main" id="{8670C2C1-B31A-4310-95D8-E5E609BBFA21}"/>
              </a:ext>
            </a:extLst>
          </p:cNvPr>
          <p:cNvSpPr>
            <a:spLocks noGrp="1"/>
          </p:cNvSpPr>
          <p:nvPr/>
        </p:nvSpPr>
        <p:spPr>
          <a:xfrm>
            <a:off x="4429125" y="1922619"/>
            <a:ext cx="2271713" cy="1371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607384"/>
                </a:solidFill>
              </a:defRPr>
            </a:pPr>
            <a:r>
              <a:rPr sz="800">
                <a:solidFill>
                  <a:srgbClr val="607384"/>
                </a:solidFill>
              </a:rPr>
              <a:t>文件实体、版本及关联关系纳入统一管理</a:t>
            </a:r>
          </a:p>
        </p:txBody>
      </p:sp>
      <p:sp>
        <p:nvSpPr>
          <p:cNvPr id="39" name="o2">
            <a:extLst>
              <a:ext uri="{FF2B5EF4-FFF2-40B4-BE49-F238E27FC236}">
                <a16:creationId xmlns:a16="http://schemas.microsoft.com/office/drawing/2014/main" id="{BC5F8A27-52CE-407F-8D84-480857EDF2B3}"/>
              </a:ext>
            </a:extLst>
          </p:cNvPr>
          <p:cNvSpPr>
            <a:spLocks noGrp="1"/>
          </p:cNvSpPr>
          <p:nvPr/>
        </p:nvSpPr>
        <p:spPr>
          <a:xfrm>
            <a:off x="4343400" y="2181227"/>
            <a:ext cx="2443163" cy="441960"/>
          </a:xfrm>
          <a:prstGeom prst="rect">
            <a:avLst/>
          </a:prstGeom>
          <a:solidFill>
            <a:srgbClr val="FFFFFF"/>
          </a:solidFill>
          <a:ln w="9525">
            <a:solidFill>
              <a:srgbClr val="BDD7EB"/>
            </a:solidFill>
            <a:prstDash val="solid"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40" name="o2a">
            <a:extLst>
              <a:ext uri="{FF2B5EF4-FFF2-40B4-BE49-F238E27FC236}">
                <a16:creationId xmlns:a16="http://schemas.microsoft.com/office/drawing/2014/main" id="{98655709-FDC4-49C6-8B70-4C7D865BFE82}"/>
              </a:ext>
            </a:extLst>
          </p:cNvPr>
          <p:cNvSpPr>
            <a:spLocks noGrp="1"/>
          </p:cNvSpPr>
          <p:nvPr/>
        </p:nvSpPr>
        <p:spPr>
          <a:xfrm>
            <a:off x="4429125" y="2200272"/>
            <a:ext cx="2271713" cy="1752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082E50"/>
                </a:solidFill>
              </a:defRPr>
            </a:pPr>
            <a:r>
              <a:rPr sz="900" b="1">
                <a:solidFill>
                  <a:srgbClr val="082E50"/>
                </a:solidFill>
              </a:rPr>
              <a:t>内容模型、元数据与分类属性</a:t>
            </a:r>
          </a:p>
        </p:txBody>
      </p:sp>
      <p:sp>
        <p:nvSpPr>
          <p:cNvPr id="41" name="o2b">
            <a:extLst>
              <a:ext uri="{FF2B5EF4-FFF2-40B4-BE49-F238E27FC236}">
                <a16:creationId xmlns:a16="http://schemas.microsoft.com/office/drawing/2014/main" id="{78DC9DBA-A33E-4B3D-A58D-5261E5BBAB20}"/>
              </a:ext>
            </a:extLst>
          </p:cNvPr>
          <p:cNvSpPr>
            <a:spLocks noGrp="1"/>
          </p:cNvSpPr>
          <p:nvPr/>
        </p:nvSpPr>
        <p:spPr>
          <a:xfrm>
            <a:off x="4429125" y="2388396"/>
            <a:ext cx="2271713" cy="182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607384"/>
                </a:solidFill>
              </a:defRPr>
            </a:pPr>
            <a:r>
              <a:rPr sz="800">
                <a:solidFill>
                  <a:srgbClr val="607384"/>
                </a:solidFill>
              </a:rPr>
              <a:t>静态特征、业务行为及安全约束；覆盖类型、标签、版本、密级和权限</a:t>
            </a:r>
          </a:p>
        </p:txBody>
      </p:sp>
      <p:sp>
        <p:nvSpPr>
          <p:cNvPr id="42" name="o3">
            <a:extLst>
              <a:ext uri="{FF2B5EF4-FFF2-40B4-BE49-F238E27FC236}">
                <a16:creationId xmlns:a16="http://schemas.microsoft.com/office/drawing/2014/main" id="{48224582-58C4-4D61-BB24-B03FA8C092AD}"/>
              </a:ext>
            </a:extLst>
          </p:cNvPr>
          <p:cNvSpPr>
            <a:spLocks noGrp="1"/>
          </p:cNvSpPr>
          <p:nvPr/>
        </p:nvSpPr>
        <p:spPr>
          <a:xfrm>
            <a:off x="4343400" y="2690805"/>
            <a:ext cx="2443163" cy="335279"/>
          </a:xfrm>
          <a:prstGeom prst="rect">
            <a:avLst/>
          </a:prstGeom>
          <a:solidFill>
            <a:srgbClr val="FFFFFF"/>
          </a:solidFill>
          <a:ln w="9525">
            <a:solidFill>
              <a:srgbClr val="BDD7EB"/>
            </a:solidFill>
            <a:prstDash val="solid"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43" name="o3a">
            <a:extLst>
              <a:ext uri="{FF2B5EF4-FFF2-40B4-BE49-F238E27FC236}">
                <a16:creationId xmlns:a16="http://schemas.microsoft.com/office/drawing/2014/main" id="{C7496248-A884-4F2F-848C-A03ED1A5628E}"/>
              </a:ext>
            </a:extLst>
          </p:cNvPr>
          <p:cNvSpPr>
            <a:spLocks noGrp="1"/>
          </p:cNvSpPr>
          <p:nvPr/>
        </p:nvSpPr>
        <p:spPr>
          <a:xfrm>
            <a:off x="4429125" y="2733667"/>
            <a:ext cx="2271713" cy="1752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082E50"/>
                </a:solidFill>
              </a:defRPr>
            </a:pPr>
            <a:r>
              <a:rPr sz="900" b="1">
                <a:solidFill>
                  <a:srgbClr val="082E50"/>
                </a:solidFill>
              </a:rPr>
              <a:t>存储池与多介质统一管理</a:t>
            </a:r>
          </a:p>
        </p:txBody>
      </p:sp>
      <p:sp>
        <p:nvSpPr>
          <p:cNvPr id="44" name="o3b">
            <a:extLst>
              <a:ext uri="{FF2B5EF4-FFF2-40B4-BE49-F238E27FC236}">
                <a16:creationId xmlns:a16="http://schemas.microsoft.com/office/drawing/2014/main" id="{44B9DF55-09B1-4F36-B2D2-4C6788097ACA}"/>
              </a:ext>
            </a:extLst>
          </p:cNvPr>
          <p:cNvSpPr>
            <a:spLocks noGrp="1"/>
          </p:cNvSpPr>
          <p:nvPr/>
        </p:nvSpPr>
        <p:spPr>
          <a:xfrm>
            <a:off x="4429125" y="2897974"/>
            <a:ext cx="2271713" cy="76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607384"/>
                </a:solidFill>
              </a:defRPr>
            </a:pPr>
            <a:r>
              <a:rPr sz="800">
                <a:solidFill>
                  <a:srgbClr val="607384"/>
                </a:solidFill>
              </a:rPr>
              <a:t>平台统一管理内容位置、策略、访问与扩容</a:t>
            </a:r>
          </a:p>
        </p:txBody>
      </p:sp>
      <p:sp>
        <p:nvSpPr>
          <p:cNvPr id="45" name="lab-0">
            <a:extLst>
              <a:ext uri="{FF2B5EF4-FFF2-40B4-BE49-F238E27FC236}">
                <a16:creationId xmlns:a16="http://schemas.microsoft.com/office/drawing/2014/main" id="{C9B1BFB4-821B-4179-8CE1-C0EA394275F8}"/>
              </a:ext>
            </a:extLst>
          </p:cNvPr>
          <p:cNvSpPr>
            <a:spLocks noGrp="1"/>
          </p:cNvSpPr>
          <p:nvPr/>
        </p:nvSpPr>
        <p:spPr>
          <a:xfrm>
            <a:off x="4343400" y="3106101"/>
            <a:ext cx="557213" cy="292767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BDD7EB"/>
            </a:solidFill>
            <a:prstDash val="solid"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46" name="labt-0">
            <a:extLst>
              <a:ext uri="{FF2B5EF4-FFF2-40B4-BE49-F238E27FC236}">
                <a16:creationId xmlns:a16="http://schemas.microsoft.com/office/drawing/2014/main" id="{673401A0-E3A8-422C-9CC6-32D743C5FC31}"/>
              </a:ext>
            </a:extLst>
          </p:cNvPr>
          <p:cNvSpPr>
            <a:spLocks noGrp="1"/>
          </p:cNvSpPr>
          <p:nvPr/>
        </p:nvSpPr>
        <p:spPr>
          <a:xfrm>
            <a:off x="4364832" y="3127532"/>
            <a:ext cx="514350" cy="2300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00" b="1">
                <a:solidFill>
                  <a:srgbClr val="082E50"/>
                </a:solidFill>
              </a:defRPr>
            </a:pPr>
            <a:r>
              <a:rPr sz="700" b="1">
                <a:solidFill>
                  <a:srgbClr val="082E50"/>
                </a:solidFill>
              </a:rPr>
              <a:t>Local Storage</a:t>
            </a:r>
          </a:p>
        </p:txBody>
      </p:sp>
      <p:sp>
        <p:nvSpPr>
          <p:cNvPr id="47" name="lab-1">
            <a:extLst>
              <a:ext uri="{FF2B5EF4-FFF2-40B4-BE49-F238E27FC236}">
                <a16:creationId xmlns:a16="http://schemas.microsoft.com/office/drawing/2014/main" id="{16ECF611-78D4-4529-BCA6-58926385C24C}"/>
              </a:ext>
            </a:extLst>
          </p:cNvPr>
          <p:cNvSpPr>
            <a:spLocks noGrp="1"/>
          </p:cNvSpPr>
          <p:nvPr/>
        </p:nvSpPr>
        <p:spPr>
          <a:xfrm>
            <a:off x="4957763" y="3106101"/>
            <a:ext cx="557213" cy="292767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BDD7EB"/>
            </a:solidFill>
            <a:prstDash val="solid"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48" name="labt-1">
            <a:extLst>
              <a:ext uri="{FF2B5EF4-FFF2-40B4-BE49-F238E27FC236}">
                <a16:creationId xmlns:a16="http://schemas.microsoft.com/office/drawing/2014/main" id="{F2B9AC24-D928-461C-A07C-F39BC1F71D8A}"/>
              </a:ext>
            </a:extLst>
          </p:cNvPr>
          <p:cNvSpPr>
            <a:spLocks noGrp="1"/>
          </p:cNvSpPr>
          <p:nvPr/>
        </p:nvSpPr>
        <p:spPr>
          <a:xfrm>
            <a:off x="4979194" y="3127532"/>
            <a:ext cx="514350" cy="2300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00" b="1">
                <a:solidFill>
                  <a:srgbClr val="082E50"/>
                </a:solidFill>
              </a:defRPr>
            </a:pPr>
            <a:r>
              <a:rPr sz="700" b="1">
                <a:solidFill>
                  <a:srgbClr val="082E50"/>
                </a:solidFill>
              </a:rPr>
              <a:t>Object Storage</a:t>
            </a:r>
          </a:p>
        </p:txBody>
      </p:sp>
      <p:sp>
        <p:nvSpPr>
          <p:cNvPr id="49" name="lab-2">
            <a:extLst>
              <a:ext uri="{FF2B5EF4-FFF2-40B4-BE49-F238E27FC236}">
                <a16:creationId xmlns:a16="http://schemas.microsoft.com/office/drawing/2014/main" id="{7F12336B-817D-457B-9D19-68A6CE65DFBA}"/>
              </a:ext>
            </a:extLst>
          </p:cNvPr>
          <p:cNvSpPr>
            <a:spLocks noGrp="1"/>
          </p:cNvSpPr>
          <p:nvPr/>
        </p:nvSpPr>
        <p:spPr>
          <a:xfrm>
            <a:off x="5572125" y="3106101"/>
            <a:ext cx="557213" cy="292767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BDD7EB"/>
            </a:solidFill>
            <a:prstDash val="solid"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50" name="labt-2">
            <a:extLst>
              <a:ext uri="{FF2B5EF4-FFF2-40B4-BE49-F238E27FC236}">
                <a16:creationId xmlns:a16="http://schemas.microsoft.com/office/drawing/2014/main" id="{81EB2A54-7FFA-4A83-B759-F907C06BEB01}"/>
              </a:ext>
            </a:extLst>
          </p:cNvPr>
          <p:cNvSpPr>
            <a:spLocks noGrp="1"/>
          </p:cNvSpPr>
          <p:nvPr/>
        </p:nvSpPr>
        <p:spPr>
          <a:xfrm>
            <a:off x="5593557" y="3127532"/>
            <a:ext cx="514350" cy="2300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00" b="1">
                <a:solidFill>
                  <a:srgbClr val="082E50"/>
                </a:solidFill>
              </a:defRPr>
            </a:pPr>
            <a:r>
              <a:rPr sz="700" b="1">
                <a:solidFill>
                  <a:srgbClr val="082E50"/>
                </a:solidFill>
              </a:rPr>
              <a:t>NAS / Ceph</a:t>
            </a:r>
          </a:p>
        </p:txBody>
      </p:sp>
      <p:sp>
        <p:nvSpPr>
          <p:cNvPr id="51" name="lab-3">
            <a:extLst>
              <a:ext uri="{FF2B5EF4-FFF2-40B4-BE49-F238E27FC236}">
                <a16:creationId xmlns:a16="http://schemas.microsoft.com/office/drawing/2014/main" id="{0A3193E3-E3D7-4655-92C3-64F6063116E4}"/>
              </a:ext>
            </a:extLst>
          </p:cNvPr>
          <p:cNvSpPr>
            <a:spLocks noGrp="1"/>
          </p:cNvSpPr>
          <p:nvPr/>
        </p:nvSpPr>
        <p:spPr>
          <a:xfrm>
            <a:off x="6186488" y="3106101"/>
            <a:ext cx="557213" cy="292767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BDD7EB"/>
            </a:solidFill>
            <a:prstDash val="solid"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52" name="labt-3">
            <a:extLst>
              <a:ext uri="{FF2B5EF4-FFF2-40B4-BE49-F238E27FC236}">
                <a16:creationId xmlns:a16="http://schemas.microsoft.com/office/drawing/2014/main" id="{9D7F6BF6-8D98-4386-9842-F6D6C3A26AF6}"/>
              </a:ext>
            </a:extLst>
          </p:cNvPr>
          <p:cNvSpPr>
            <a:spLocks noGrp="1"/>
          </p:cNvSpPr>
          <p:nvPr/>
        </p:nvSpPr>
        <p:spPr>
          <a:xfrm>
            <a:off x="6207919" y="3127532"/>
            <a:ext cx="514350" cy="2300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00" b="1">
                <a:solidFill>
                  <a:srgbClr val="082E50"/>
                </a:solidFill>
              </a:defRPr>
            </a:pPr>
            <a:r>
              <a:rPr sz="700" b="1">
                <a:solidFill>
                  <a:srgbClr val="082E50"/>
                </a:solidFill>
              </a:rPr>
              <a:t>S3 / Cloud</a:t>
            </a:r>
          </a:p>
        </p:txBody>
      </p:sp>
      <p:sp>
        <p:nvSpPr>
          <p:cNvPr id="53" name="core-bottom">
            <a:extLst>
              <a:ext uri="{FF2B5EF4-FFF2-40B4-BE49-F238E27FC236}">
                <a16:creationId xmlns:a16="http://schemas.microsoft.com/office/drawing/2014/main" id="{8A7D3669-5095-4D0A-8A75-2D2631758F0F}"/>
              </a:ext>
            </a:extLst>
          </p:cNvPr>
          <p:cNvSpPr>
            <a:spLocks noGrp="1"/>
          </p:cNvSpPr>
          <p:nvPr/>
        </p:nvSpPr>
        <p:spPr>
          <a:xfrm>
            <a:off x="4343400" y="3444243"/>
            <a:ext cx="2443163" cy="190500"/>
          </a:xfrm>
          <a:prstGeom prst="rect">
            <a:avLst/>
          </a:prstGeom>
          <a:solidFill>
            <a:srgbClr val="009CDE"/>
          </a:solidFill>
          <a:ln w="0">
            <a:noFill/>
            <a:prstDash val="solid"/>
          </a:ln>
        </p:spPr>
        <p:txBody>
          <a:bodyPr/>
          <a:lstStyle/>
          <a:p>
            <a:pPr defTabSz="685800"/>
            <a:endParaRPr lang="zh-CN" altLang="en-US" sz="160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54" name="core-bottom-t">
            <a:extLst>
              <a:ext uri="{FF2B5EF4-FFF2-40B4-BE49-F238E27FC236}">
                <a16:creationId xmlns:a16="http://schemas.microsoft.com/office/drawing/2014/main" id="{FE7CEA75-74FC-4FFB-92D0-139F8B861D5B}"/>
              </a:ext>
            </a:extLst>
          </p:cNvPr>
          <p:cNvSpPr>
            <a:spLocks noGrp="1"/>
          </p:cNvSpPr>
          <p:nvPr/>
        </p:nvSpPr>
        <p:spPr>
          <a:xfrm>
            <a:off x="4371975" y="3458530"/>
            <a:ext cx="2386013" cy="1600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 sz="800" b="1">
                <a:solidFill>
                  <a:srgbClr val="FFFFFF"/>
                </a:solidFill>
              </a:rPr>
              <a:t>支持混合 / 多级存储、冷热迁移与自动数据迁移</a:t>
            </a:r>
          </a:p>
        </p:txBody>
      </p:sp>
      <p:sp>
        <p:nvSpPr>
          <p:cNvPr id="55" name="service">
            <a:extLst>
              <a:ext uri="{FF2B5EF4-FFF2-40B4-BE49-F238E27FC236}">
                <a16:creationId xmlns:a16="http://schemas.microsoft.com/office/drawing/2014/main" id="{D7C77661-DAD2-4D6F-932C-87DD19A85699}"/>
              </a:ext>
            </a:extLst>
          </p:cNvPr>
          <p:cNvSpPr>
            <a:spLocks noGrp="1"/>
          </p:cNvSpPr>
          <p:nvPr/>
        </p:nvSpPr>
        <p:spPr>
          <a:xfrm>
            <a:off x="7208044" y="1266350"/>
            <a:ext cx="1535906" cy="2438396"/>
          </a:xfrm>
          <a:prstGeom prst="rect">
            <a:avLst/>
          </a:prstGeom>
          <a:solidFill>
            <a:srgbClr val="F1F7FC"/>
          </a:solidFill>
          <a:ln w="9525">
            <a:solidFill>
              <a:srgbClr val="BDD7EB"/>
            </a:solidFill>
            <a:prstDash val="solid"/>
          </a:ln>
        </p:spPr>
        <p:txBody>
          <a:bodyPr/>
          <a:lstStyle/>
          <a:p>
            <a:endParaRPr lang="zh-CN" altLang="en-US" sz="1350"/>
          </a:p>
        </p:txBody>
      </p:sp>
      <p:sp>
        <p:nvSpPr>
          <p:cNvPr id="56" name="service-head">
            <a:extLst>
              <a:ext uri="{FF2B5EF4-FFF2-40B4-BE49-F238E27FC236}">
                <a16:creationId xmlns:a16="http://schemas.microsoft.com/office/drawing/2014/main" id="{B0BFA457-7D73-4B8C-B1AF-8FD7E26AC08F}"/>
              </a:ext>
            </a:extLst>
          </p:cNvPr>
          <p:cNvSpPr>
            <a:spLocks noGrp="1"/>
          </p:cNvSpPr>
          <p:nvPr/>
        </p:nvSpPr>
        <p:spPr>
          <a:xfrm>
            <a:off x="7208044" y="1266349"/>
            <a:ext cx="1535906" cy="365759"/>
          </a:xfrm>
          <a:prstGeom prst="rect">
            <a:avLst/>
          </a:prstGeom>
          <a:solidFill>
            <a:srgbClr val="009CDE"/>
          </a:solidFill>
          <a:ln w="0">
            <a:noFill/>
            <a:prstDash val="solid"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57" name="service-headt">
            <a:extLst>
              <a:ext uri="{FF2B5EF4-FFF2-40B4-BE49-F238E27FC236}">
                <a16:creationId xmlns:a16="http://schemas.microsoft.com/office/drawing/2014/main" id="{3E7FE160-C923-4803-B9E7-B37B21101844}"/>
              </a:ext>
            </a:extLst>
          </p:cNvPr>
          <p:cNvSpPr>
            <a:spLocks noGrp="1"/>
          </p:cNvSpPr>
          <p:nvPr/>
        </p:nvSpPr>
        <p:spPr>
          <a:xfrm>
            <a:off x="7022306" y="1280637"/>
            <a:ext cx="1678781" cy="33527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956" b="1">
                <a:solidFill>
                  <a:srgbClr val="FFFFFF"/>
                </a:solidFill>
              </a:rPr>
              <a:t>搜索与内容服务</a:t>
            </a:r>
          </a:p>
        </p:txBody>
      </p:sp>
      <p:sp>
        <p:nvSpPr>
          <p:cNvPr id="58" name="svt-0">
            <a:extLst>
              <a:ext uri="{FF2B5EF4-FFF2-40B4-BE49-F238E27FC236}">
                <a16:creationId xmlns:a16="http://schemas.microsoft.com/office/drawing/2014/main" id="{AE98F299-E63D-4675-AA8C-3BBF29710157}"/>
              </a:ext>
            </a:extLst>
          </p:cNvPr>
          <p:cNvSpPr>
            <a:spLocks noGrp="1"/>
          </p:cNvSpPr>
          <p:nvPr/>
        </p:nvSpPr>
        <p:spPr>
          <a:xfrm>
            <a:off x="7216091" y="1723550"/>
            <a:ext cx="1535906" cy="1600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082E50"/>
                </a:solidFill>
              </a:defRPr>
            </a:pPr>
            <a:r>
              <a:rPr sz="900" b="1">
                <a:solidFill>
                  <a:srgbClr val="082E50"/>
                </a:solidFill>
              </a:rPr>
              <a:t>元数据与全文检索</a:t>
            </a:r>
          </a:p>
        </p:txBody>
      </p:sp>
      <p:sp>
        <p:nvSpPr>
          <p:cNvPr id="59" name="svs-0">
            <a:extLst>
              <a:ext uri="{FF2B5EF4-FFF2-40B4-BE49-F238E27FC236}">
                <a16:creationId xmlns:a16="http://schemas.microsoft.com/office/drawing/2014/main" id="{DE376E14-5672-423A-8414-988557BD4BD9}"/>
              </a:ext>
            </a:extLst>
          </p:cNvPr>
          <p:cNvSpPr>
            <a:spLocks noGrp="1"/>
          </p:cNvSpPr>
          <p:nvPr/>
        </p:nvSpPr>
        <p:spPr>
          <a:xfrm>
            <a:off x="7216091" y="1873568"/>
            <a:ext cx="1535906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0">
                <a:solidFill>
                  <a:srgbClr val="607384"/>
                </a:solidFill>
              </a:defRPr>
            </a:pPr>
            <a:r>
              <a:rPr sz="700">
                <a:solidFill>
                  <a:srgbClr val="607384"/>
                </a:solidFill>
              </a:rPr>
              <a:t>分类、属性、OCR 与全文内容</a:t>
            </a:r>
          </a:p>
        </p:txBody>
      </p:sp>
      <p:sp>
        <p:nvSpPr>
          <p:cNvPr id="60" name="svt-1">
            <a:extLst>
              <a:ext uri="{FF2B5EF4-FFF2-40B4-BE49-F238E27FC236}">
                <a16:creationId xmlns:a16="http://schemas.microsoft.com/office/drawing/2014/main" id="{4343118A-9FB3-44ED-8664-739FA20F323F}"/>
              </a:ext>
            </a:extLst>
          </p:cNvPr>
          <p:cNvSpPr>
            <a:spLocks noGrp="1"/>
          </p:cNvSpPr>
          <p:nvPr/>
        </p:nvSpPr>
        <p:spPr>
          <a:xfrm>
            <a:off x="7216091" y="2116456"/>
            <a:ext cx="1535906" cy="1600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082E50"/>
                </a:solidFill>
              </a:defRPr>
            </a:pPr>
            <a:r>
              <a:rPr sz="900" b="1">
                <a:solidFill>
                  <a:srgbClr val="082E50"/>
                </a:solidFill>
              </a:rPr>
              <a:t>在线预览与内容访问</a:t>
            </a:r>
          </a:p>
        </p:txBody>
      </p:sp>
      <p:sp>
        <p:nvSpPr>
          <p:cNvPr id="61" name="svs-1">
            <a:extLst>
              <a:ext uri="{FF2B5EF4-FFF2-40B4-BE49-F238E27FC236}">
                <a16:creationId xmlns:a16="http://schemas.microsoft.com/office/drawing/2014/main" id="{A8ECEC8F-A9BD-4C00-A17F-EED2E5D0D4EB}"/>
              </a:ext>
            </a:extLst>
          </p:cNvPr>
          <p:cNvSpPr>
            <a:spLocks noGrp="1"/>
          </p:cNvSpPr>
          <p:nvPr/>
        </p:nvSpPr>
        <p:spPr>
          <a:xfrm>
            <a:off x="7216091" y="2266475"/>
            <a:ext cx="1535906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0">
                <a:solidFill>
                  <a:srgbClr val="607384"/>
                </a:solidFill>
              </a:defRPr>
            </a:pPr>
            <a:r>
              <a:rPr sz="700">
                <a:solidFill>
                  <a:srgbClr val="607384"/>
                </a:solidFill>
              </a:rPr>
              <a:t>查看、调用、处理及下载</a:t>
            </a:r>
          </a:p>
        </p:txBody>
      </p:sp>
      <p:sp>
        <p:nvSpPr>
          <p:cNvPr id="62" name="svt-2">
            <a:extLst>
              <a:ext uri="{FF2B5EF4-FFF2-40B4-BE49-F238E27FC236}">
                <a16:creationId xmlns:a16="http://schemas.microsoft.com/office/drawing/2014/main" id="{7E05E75B-52BD-4119-A4B7-DA628FA160CC}"/>
              </a:ext>
            </a:extLst>
          </p:cNvPr>
          <p:cNvSpPr>
            <a:spLocks noGrp="1"/>
          </p:cNvSpPr>
          <p:nvPr/>
        </p:nvSpPr>
        <p:spPr>
          <a:xfrm>
            <a:off x="7216091" y="2509362"/>
            <a:ext cx="1535906" cy="1600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082E50"/>
                </a:solidFill>
              </a:defRPr>
            </a:pPr>
            <a:r>
              <a:rPr sz="900" b="1">
                <a:solidFill>
                  <a:srgbClr val="082E50"/>
                </a:solidFill>
              </a:rPr>
              <a:t>接口、组件与数据交换</a:t>
            </a:r>
          </a:p>
        </p:txBody>
      </p:sp>
      <p:sp>
        <p:nvSpPr>
          <p:cNvPr id="63" name="svs-2">
            <a:extLst>
              <a:ext uri="{FF2B5EF4-FFF2-40B4-BE49-F238E27FC236}">
                <a16:creationId xmlns:a16="http://schemas.microsoft.com/office/drawing/2014/main" id="{18B5D723-65BD-4172-9F42-29DDC4DA8EF7}"/>
              </a:ext>
            </a:extLst>
          </p:cNvPr>
          <p:cNvSpPr>
            <a:spLocks noGrp="1"/>
          </p:cNvSpPr>
          <p:nvPr/>
        </p:nvSpPr>
        <p:spPr>
          <a:xfrm>
            <a:off x="7216091" y="2659381"/>
            <a:ext cx="1535906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0">
                <a:solidFill>
                  <a:srgbClr val="607384"/>
                </a:solidFill>
              </a:defRPr>
            </a:pPr>
            <a:r>
              <a:rPr sz="700">
                <a:solidFill>
                  <a:srgbClr val="607384"/>
                </a:solidFill>
              </a:rPr>
              <a:t>WebAPI、SDK、FTP 与标准接口</a:t>
            </a:r>
          </a:p>
        </p:txBody>
      </p:sp>
      <p:sp>
        <p:nvSpPr>
          <p:cNvPr id="64" name="svt-3">
            <a:extLst>
              <a:ext uri="{FF2B5EF4-FFF2-40B4-BE49-F238E27FC236}">
                <a16:creationId xmlns:a16="http://schemas.microsoft.com/office/drawing/2014/main" id="{2607823C-AF63-41A8-A50F-B5547DDB6686}"/>
              </a:ext>
            </a:extLst>
          </p:cNvPr>
          <p:cNvSpPr>
            <a:spLocks noGrp="1"/>
          </p:cNvSpPr>
          <p:nvPr/>
        </p:nvSpPr>
        <p:spPr>
          <a:xfrm>
            <a:off x="7246142" y="2902269"/>
            <a:ext cx="1535906" cy="1600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082E50"/>
                </a:solidFill>
              </a:defRPr>
            </a:pPr>
            <a:r>
              <a:rPr sz="900" b="1">
                <a:solidFill>
                  <a:srgbClr val="082E50"/>
                </a:solidFill>
              </a:rPr>
              <a:t>智能搜索与内容应用</a:t>
            </a:r>
          </a:p>
        </p:txBody>
      </p:sp>
      <p:sp>
        <p:nvSpPr>
          <p:cNvPr id="65" name="svs-3">
            <a:extLst>
              <a:ext uri="{FF2B5EF4-FFF2-40B4-BE49-F238E27FC236}">
                <a16:creationId xmlns:a16="http://schemas.microsoft.com/office/drawing/2014/main" id="{5551DA03-6287-4D6A-97D2-5FDF177312DE}"/>
              </a:ext>
            </a:extLst>
          </p:cNvPr>
          <p:cNvSpPr>
            <a:spLocks noGrp="1"/>
          </p:cNvSpPr>
          <p:nvPr/>
        </p:nvSpPr>
        <p:spPr>
          <a:xfrm>
            <a:off x="7216091" y="3052287"/>
            <a:ext cx="1535906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0">
                <a:solidFill>
                  <a:srgbClr val="607384"/>
                </a:solidFill>
              </a:defRPr>
            </a:pPr>
            <a:r>
              <a:rPr sz="700">
                <a:solidFill>
                  <a:srgbClr val="607384"/>
                </a:solidFill>
              </a:rPr>
              <a:t>以文搜文、以图搜图、图谱与 AI</a:t>
            </a:r>
          </a:p>
        </p:txBody>
      </p:sp>
      <p:sp>
        <p:nvSpPr>
          <p:cNvPr id="66" name="service-note">
            <a:extLst>
              <a:ext uri="{FF2B5EF4-FFF2-40B4-BE49-F238E27FC236}">
                <a16:creationId xmlns:a16="http://schemas.microsoft.com/office/drawing/2014/main" id="{96C264FE-35E3-4BA2-B690-D853DE7D6B2C}"/>
              </a:ext>
            </a:extLst>
          </p:cNvPr>
          <p:cNvSpPr>
            <a:spLocks noGrp="1"/>
          </p:cNvSpPr>
          <p:nvPr/>
        </p:nvSpPr>
        <p:spPr>
          <a:xfrm>
            <a:off x="7216091" y="3302318"/>
            <a:ext cx="1535906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50" b="0">
                <a:solidFill>
                  <a:srgbClr val="607384"/>
                </a:solidFill>
              </a:defRPr>
            </a:pPr>
            <a:r>
              <a:rPr sz="800">
                <a:solidFill>
                  <a:srgbClr val="607384"/>
                </a:solidFill>
              </a:rPr>
              <a:t>通过统一服务调用内容</a:t>
            </a:r>
          </a:p>
          <a:p>
            <a:pPr algn="ctr">
              <a:defRPr sz="750" b="0">
                <a:solidFill>
                  <a:srgbClr val="607384"/>
                </a:solidFill>
              </a:defRPr>
            </a:pPr>
            <a:r>
              <a:rPr sz="800">
                <a:solidFill>
                  <a:srgbClr val="607384"/>
                </a:solidFill>
              </a:rPr>
              <a:t>无需直连底层存储</a:t>
            </a:r>
          </a:p>
        </p:txBody>
      </p:sp>
      <p:sp>
        <p:nvSpPr>
          <p:cNvPr id="67" name="control">
            <a:extLst>
              <a:ext uri="{FF2B5EF4-FFF2-40B4-BE49-F238E27FC236}">
                <a16:creationId xmlns:a16="http://schemas.microsoft.com/office/drawing/2014/main" id="{21CC855E-072E-49DC-835C-F92A3B95ABCB}"/>
              </a:ext>
            </a:extLst>
          </p:cNvPr>
          <p:cNvSpPr>
            <a:spLocks noGrp="1"/>
          </p:cNvSpPr>
          <p:nvPr/>
        </p:nvSpPr>
        <p:spPr>
          <a:xfrm>
            <a:off x="2094548" y="3945944"/>
            <a:ext cx="6657975" cy="304799"/>
          </a:xfrm>
          <a:prstGeom prst="rect">
            <a:avLst/>
          </a:prstGeom>
          <a:solidFill>
            <a:srgbClr val="E2F0FB"/>
          </a:solidFill>
          <a:ln w="9525">
            <a:solidFill>
              <a:srgbClr val="2F88C7"/>
            </a:solidFill>
            <a:prstDash val="solid"/>
          </a:ln>
        </p:spPr>
        <p:txBody>
          <a:bodyPr/>
          <a:lstStyle/>
          <a:p>
            <a:endParaRPr lang="zh-CN" altLang="en-US" sz="1400"/>
          </a:p>
        </p:txBody>
      </p:sp>
      <p:sp>
        <p:nvSpPr>
          <p:cNvPr id="68" name="control-label">
            <a:extLst>
              <a:ext uri="{FF2B5EF4-FFF2-40B4-BE49-F238E27FC236}">
                <a16:creationId xmlns:a16="http://schemas.microsoft.com/office/drawing/2014/main" id="{20F34E17-819D-4E62-8C33-52A5379AA34E}"/>
              </a:ext>
            </a:extLst>
          </p:cNvPr>
          <p:cNvSpPr>
            <a:spLocks noGrp="1"/>
          </p:cNvSpPr>
          <p:nvPr/>
        </p:nvSpPr>
        <p:spPr>
          <a:xfrm>
            <a:off x="2166461" y="4001107"/>
            <a:ext cx="1364457" cy="17119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23F68"/>
                </a:solidFill>
              </a:defRPr>
            </a:pPr>
            <a:r>
              <a:rPr sz="800" b="1">
                <a:solidFill>
                  <a:srgbClr val="123F68"/>
                </a:solidFill>
              </a:rPr>
              <a:t>权限、安全与运行控制</a:t>
            </a:r>
          </a:p>
        </p:txBody>
      </p:sp>
      <p:sp>
        <p:nvSpPr>
          <p:cNvPr id="69" name="control-items">
            <a:extLst>
              <a:ext uri="{FF2B5EF4-FFF2-40B4-BE49-F238E27FC236}">
                <a16:creationId xmlns:a16="http://schemas.microsoft.com/office/drawing/2014/main" id="{E853B07A-583B-4824-9F9F-B7CA60AB355F}"/>
              </a:ext>
            </a:extLst>
          </p:cNvPr>
          <p:cNvSpPr>
            <a:spLocks noGrp="1"/>
          </p:cNvSpPr>
          <p:nvPr/>
        </p:nvSpPr>
        <p:spPr>
          <a:xfrm>
            <a:off x="3352323" y="3991453"/>
            <a:ext cx="5214938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082E50"/>
                </a:solidFill>
              </a:defRPr>
            </a:pPr>
            <a:r>
              <a:rPr sz="700" b="1">
                <a:solidFill>
                  <a:srgbClr val="082E50"/>
                </a:solidFill>
              </a:rPr>
              <a:t>细粒度权限  ｜  密级  ｜  WORM  ｜  加密  ｜  DLP  ｜  水印  ｜  备份  ｜  审计  ｜  APM</a:t>
            </a:r>
          </a:p>
        </p:txBody>
      </p:sp>
      <p:sp>
        <p:nvSpPr>
          <p:cNvPr id="70" name="relation">
            <a:extLst>
              <a:ext uri="{FF2B5EF4-FFF2-40B4-BE49-F238E27FC236}">
                <a16:creationId xmlns:a16="http://schemas.microsoft.com/office/drawing/2014/main" id="{A1FBB9B7-BA9D-4AAE-B8BD-59546BAA24DF}"/>
              </a:ext>
            </a:extLst>
          </p:cNvPr>
          <p:cNvSpPr>
            <a:spLocks noGrp="1"/>
          </p:cNvSpPr>
          <p:nvPr/>
        </p:nvSpPr>
        <p:spPr>
          <a:xfrm>
            <a:off x="394811" y="4377216"/>
            <a:ext cx="8343900" cy="388620"/>
          </a:xfrm>
          <a:prstGeom prst="rect">
            <a:avLst/>
          </a:prstGeom>
          <a:solidFill>
            <a:srgbClr val="F7FAFD"/>
          </a:solidFill>
          <a:ln w="0">
            <a:noFill/>
            <a:prstDash val="solid"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73" name="relation-copy">
            <a:extLst>
              <a:ext uri="{FF2B5EF4-FFF2-40B4-BE49-F238E27FC236}">
                <a16:creationId xmlns:a16="http://schemas.microsoft.com/office/drawing/2014/main" id="{0927E2DB-CA59-48B4-A6DB-15F97833E608}"/>
              </a:ext>
            </a:extLst>
          </p:cNvPr>
          <p:cNvSpPr>
            <a:spLocks noGrp="1"/>
          </p:cNvSpPr>
          <p:nvPr/>
        </p:nvSpPr>
        <p:spPr>
          <a:xfrm>
            <a:off x="1787843" y="4420078"/>
            <a:ext cx="6072188" cy="2895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013" b="1">
                <a:solidFill>
                  <a:schemeClr val="accent1"/>
                </a:solidFill>
                <a:latin typeface="Microsoft YaHei"/>
                <a:ea typeface="Microsoft YaHei"/>
              </a:rPr>
              <a:t>鸿翼擅长非结构化内容统一治理与多存储管理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E6807F-B541-6F0A-6DA1-C2F237F065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China RIMS Solution Proposal</a:t>
            </a:r>
          </a:p>
          <a:p>
            <a:endParaRPr lang="zh-CN" alt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1B88067-C1E3-C65B-B577-992F82A1C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鸿翼能力基本覆盖 </a:t>
            </a:r>
            <a:r>
              <a:rPr lang="en-US" altLang="zh-CN"/>
              <a:t>China RIMS </a:t>
            </a:r>
            <a:r>
              <a:rPr lang="zh-CN" altLang="en-US"/>
              <a:t>核心场景</a:t>
            </a:r>
          </a:p>
        </p:txBody>
      </p:sp>
    </p:spTree>
    <p:extLst>
      <p:ext uri="{BB962C8B-B14F-4D97-AF65-F5344CB8AC3E}">
        <p14:creationId xmlns:p14="http://schemas.microsoft.com/office/powerpoint/2010/main" val="15489436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64105-59B0-3658-EFAD-55C83C9E5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BD945953-8F95-B77A-FFEA-ECE4C4FC42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>
                <a:sym typeface="+mn-lt"/>
              </a:rPr>
              <a:t>4. </a:t>
            </a:r>
            <a:r>
              <a:rPr lang="en-US" altLang="zh-CN">
                <a:sym typeface="+mn-lt"/>
              </a:rPr>
              <a:t>China RIMS Capability Blueprint &amp; Roadmap</a:t>
            </a:r>
            <a:endParaRPr lang="en-US">
              <a:sym typeface="+mn-lt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EBFBA45-D896-6BB9-59E4-A719BC1F289D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>
            <a:normAutofit/>
          </a:bodyPr>
          <a:lstStyle/>
          <a:p>
            <a:r>
              <a:rPr lang="en-US" altLang="zh-CN">
                <a:latin typeface="+mj-lt"/>
                <a:sym typeface="+mn-lt"/>
              </a:rPr>
              <a:t>China RIMS Solution Proposal</a:t>
            </a:r>
            <a:endParaRPr lang="zh-CN" altLang="en-US">
              <a:latin typeface="+mj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718972-7880-C9DB-2115-978EF76D89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0" tIns="0" rIns="68580" bIns="34290" rtlCol="0" anchor="t">
            <a:normAutofit/>
          </a:bodyPr>
          <a:lstStyle/>
          <a:p>
            <a:r>
              <a:rPr lang="en-US">
                <a:cs typeface="Calibri"/>
              </a:rPr>
              <a:t>Sep 2026</a:t>
            </a:r>
          </a:p>
        </p:txBody>
      </p:sp>
    </p:spTree>
    <p:extLst>
      <p:ext uri="{BB962C8B-B14F-4D97-AF65-F5344CB8AC3E}">
        <p14:creationId xmlns:p14="http://schemas.microsoft.com/office/powerpoint/2010/main" val="37192592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40565-F368-BBB3-1A81-3C3EA7152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5">
            <a:extLst>
              <a:ext uri="{FF2B5EF4-FFF2-40B4-BE49-F238E27FC236}">
                <a16:creationId xmlns:a16="http://schemas.microsoft.com/office/drawing/2014/main" id="{6FBCC4B3-632D-E6DF-8CB9-E2C9FC74A172}"/>
              </a:ext>
            </a:extLst>
          </p:cNvPr>
          <p:cNvSpPr txBox="1">
            <a:spLocks/>
          </p:cNvSpPr>
          <p:nvPr/>
        </p:nvSpPr>
        <p:spPr>
          <a:xfrm>
            <a:off x="502921" y="592040"/>
            <a:ext cx="8138160" cy="390526"/>
          </a:xfrm>
          <a:prstGeom prst="rect">
            <a:avLst/>
          </a:prstGeom>
          <a:effectLst/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0" kern="1200" cap="none" spc="0" baseline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600" b="0" i="0" u="none" strike="noStrike" kern="1200" cap="none" spc="0" normalizeH="0" baseline="0" noProof="0">
              <a:ln>
                <a:noFill/>
              </a:ln>
              <a:solidFill>
                <a:srgbClr val="009CDE"/>
              </a:solidFill>
              <a:effectLst/>
              <a:uLnTx/>
              <a:uFillTx/>
              <a:latin typeface="Georgia"/>
              <a:ea typeface="+mj-ea"/>
              <a:cs typeface="+mj-cs"/>
            </a:endParaRPr>
          </a:p>
        </p:txBody>
      </p:sp>
      <p:sp>
        <p:nvSpPr>
          <p:cNvPr id="258" name="users-strip">
            <a:extLst>
              <a:ext uri="{FF2B5EF4-FFF2-40B4-BE49-F238E27FC236}">
                <a16:creationId xmlns:a16="http://schemas.microsoft.com/office/drawing/2014/main" id="{526CD327-8AAC-EB3B-AA65-697658A45FBF}"/>
              </a:ext>
            </a:extLst>
          </p:cNvPr>
          <p:cNvSpPr>
            <a:spLocks noGrp="1"/>
          </p:cNvSpPr>
          <p:nvPr/>
        </p:nvSpPr>
        <p:spPr>
          <a:xfrm>
            <a:off x="300037" y="1111684"/>
            <a:ext cx="8543925" cy="505389"/>
          </a:xfrm>
          <a:prstGeom prst="rect">
            <a:avLst/>
          </a:prstGeom>
          <a:solidFill>
            <a:srgbClr val="F3F8FB"/>
          </a:solidFill>
          <a:ln w="9525">
            <a:solidFill>
              <a:srgbClr val="D6E4EC"/>
            </a:solidFill>
            <a:prstDash val="solid"/>
          </a:ln>
          <a:effectLst/>
        </p:spPr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259" name="users-label">
            <a:extLst>
              <a:ext uri="{FF2B5EF4-FFF2-40B4-BE49-F238E27FC236}">
                <a16:creationId xmlns:a16="http://schemas.microsoft.com/office/drawing/2014/main" id="{59521C06-2EA6-B20B-90D2-CD7A949F4B72}"/>
              </a:ext>
            </a:extLst>
          </p:cNvPr>
          <p:cNvSpPr>
            <a:spLocks noGrp="1"/>
          </p:cNvSpPr>
          <p:nvPr/>
        </p:nvSpPr>
        <p:spPr>
          <a:xfrm>
            <a:off x="336742" y="1164352"/>
            <a:ext cx="700088" cy="40005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28575" tIns="14288" rIns="28575" bIns="14288" anchor="ctr">
            <a:norm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1000" b="1" i="0" u="none" strike="noStrike" kern="1200" cap="none" spc="0" normalizeH="0" baseline="0" noProof="0" err="1">
                <a:ln>
                  <a:noFill/>
                </a:ln>
                <a:solidFill>
                  <a:srgbClr val="123B5D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核心用户</a:t>
            </a:r>
            <a:endParaRPr kumimoji="0" sz="1000" b="1" i="0" u="none" strike="noStrike" kern="1200" cap="none" spc="0" normalizeH="0" baseline="0" noProof="0">
              <a:ln>
                <a:noFill/>
              </a:ln>
              <a:solidFill>
                <a:srgbClr val="123B5D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0" name="users-divider">
            <a:extLst>
              <a:ext uri="{FF2B5EF4-FFF2-40B4-BE49-F238E27FC236}">
                <a16:creationId xmlns:a16="http://schemas.microsoft.com/office/drawing/2014/main" id="{CC04B763-525F-38C5-480B-7B6D744880B5}"/>
              </a:ext>
            </a:extLst>
          </p:cNvPr>
          <p:cNvSpPr>
            <a:spLocks noGrp="1"/>
          </p:cNvSpPr>
          <p:nvPr/>
        </p:nvSpPr>
        <p:spPr>
          <a:xfrm>
            <a:off x="1108268" y="1145587"/>
            <a:ext cx="0" cy="442913"/>
          </a:xfrm>
          <a:prstGeom prst="line">
            <a:avLst/>
          </a:prstGeom>
          <a:noFill/>
          <a:ln w="9525">
            <a:solidFill>
              <a:srgbClr val="A8C5D7"/>
            </a:solidFill>
            <a:prstDash val="solid"/>
          </a:ln>
          <a:effectLst/>
        </p:spPr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261" name="user-合-icon-circle">
            <a:extLst>
              <a:ext uri="{FF2B5EF4-FFF2-40B4-BE49-F238E27FC236}">
                <a16:creationId xmlns:a16="http://schemas.microsoft.com/office/drawing/2014/main" id="{4AB205FB-A9E1-8128-DCCB-CA36180AB9F7}"/>
              </a:ext>
            </a:extLst>
          </p:cNvPr>
          <p:cNvSpPr>
            <a:spLocks noGrp="1"/>
          </p:cNvSpPr>
          <p:nvPr/>
        </p:nvSpPr>
        <p:spPr>
          <a:xfrm>
            <a:off x="1315328" y="1222961"/>
            <a:ext cx="314325" cy="314325"/>
          </a:xfrm>
          <a:prstGeom prst="ellipse">
            <a:avLst/>
          </a:prstGeom>
          <a:solidFill>
            <a:srgbClr val="123B5D"/>
          </a:solidFill>
          <a:ln w="9525">
            <a:solidFill>
              <a:srgbClr val="123B5D"/>
            </a:solidFill>
            <a:prstDash val="solid"/>
          </a:ln>
          <a:effectLst/>
        </p:spPr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pic>
        <p:nvPicPr>
          <p:cNvPr id="262" name="Graphic 261">
            <a:extLst>
              <a:ext uri="{FF2B5EF4-FFF2-40B4-BE49-F238E27FC236}">
                <a16:creationId xmlns:a16="http://schemas.microsoft.com/office/drawing/2014/main" id="{D63D80DB-3708-A0AD-8F37-0777351188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386765" y="1294397"/>
            <a:ext cx="171450" cy="171450"/>
          </a:xfrm>
          <a:prstGeom prst="rect">
            <a:avLst/>
          </a:prstGeom>
          <a:effectLst/>
        </p:spPr>
      </p:pic>
      <p:sp>
        <p:nvSpPr>
          <p:cNvPr id="263" name="user-合-name">
            <a:extLst>
              <a:ext uri="{FF2B5EF4-FFF2-40B4-BE49-F238E27FC236}">
                <a16:creationId xmlns:a16="http://schemas.microsoft.com/office/drawing/2014/main" id="{64234F53-D234-EEAA-D724-DB6E4F7344D0}"/>
              </a:ext>
            </a:extLst>
          </p:cNvPr>
          <p:cNvSpPr>
            <a:spLocks noGrp="1"/>
          </p:cNvSpPr>
          <p:nvPr/>
        </p:nvSpPr>
        <p:spPr>
          <a:xfrm>
            <a:off x="1715377" y="1151523"/>
            <a:ext cx="1957388" cy="242888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28575" tIns="14288" rIns="28575" bIns="14288" anchor="ctr">
            <a:normAutofit/>
          </a:bodyPr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1000" b="1" i="0" u="none" strike="noStrike" kern="1200" cap="none" spc="0" normalizeH="0" baseline="0" noProof="0" err="1">
                <a:ln>
                  <a:noFill/>
                </a:ln>
                <a:solidFill>
                  <a:srgbClr val="123B5D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业务合规治理人员</a:t>
            </a:r>
            <a:endParaRPr kumimoji="0" sz="1000" b="1" i="0" u="none" strike="noStrike" kern="1200" cap="none" spc="0" normalizeH="0" baseline="0" noProof="0">
              <a:ln>
                <a:noFill/>
              </a:ln>
              <a:solidFill>
                <a:srgbClr val="123B5D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4" name="user-合-note">
            <a:extLst>
              <a:ext uri="{FF2B5EF4-FFF2-40B4-BE49-F238E27FC236}">
                <a16:creationId xmlns:a16="http://schemas.microsoft.com/office/drawing/2014/main" id="{4641DA13-2BC0-CF75-BEA6-10424D8A5519}"/>
              </a:ext>
            </a:extLst>
          </p:cNvPr>
          <p:cNvSpPr>
            <a:spLocks noGrp="1"/>
          </p:cNvSpPr>
          <p:nvPr/>
        </p:nvSpPr>
        <p:spPr>
          <a:xfrm>
            <a:off x="1715377" y="1394411"/>
            <a:ext cx="1957388" cy="192881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28575" tIns="14288" rIns="28575" bIns="14288" anchor="ctr">
            <a:normAutofit/>
          </a:bodyPr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700" b="0" i="0" u="none" strike="noStrike" kern="1200" cap="none" spc="0" normalizeH="0" baseline="0" noProof="0" err="1">
                <a:ln>
                  <a:noFill/>
                </a:ln>
                <a:solidFill>
                  <a:srgbClr val="5D718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制度监督</a:t>
            </a:r>
            <a:r>
              <a:rPr kumimoji="0" sz="700" b="0" i="0" u="none" strike="noStrike" kern="1200" cap="none" spc="0" normalizeH="0" baseline="0" noProof="0">
                <a:ln>
                  <a:noFill/>
                </a:ln>
                <a:solidFill>
                  <a:srgbClr val="5D718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 · </a:t>
            </a:r>
            <a:r>
              <a:rPr kumimoji="0" sz="700" b="0" i="0" u="none" strike="noStrike" kern="1200" cap="none" spc="0" normalizeH="0" baseline="0" noProof="0" err="1">
                <a:ln>
                  <a:noFill/>
                </a:ln>
                <a:solidFill>
                  <a:srgbClr val="5D718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风险审查</a:t>
            </a:r>
            <a:r>
              <a:rPr kumimoji="0" sz="700" b="0" i="0" u="none" strike="noStrike" kern="1200" cap="none" spc="0" normalizeH="0" baseline="0" noProof="0">
                <a:ln>
                  <a:noFill/>
                </a:ln>
                <a:solidFill>
                  <a:srgbClr val="5D718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 · </a:t>
            </a:r>
            <a:r>
              <a:rPr kumimoji="0" sz="700" b="0" i="0" u="none" strike="noStrike" kern="1200" cap="none" spc="0" normalizeH="0" baseline="0" noProof="0" err="1">
                <a:ln>
                  <a:noFill/>
                </a:ln>
                <a:solidFill>
                  <a:srgbClr val="5D718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合规闭环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5D7180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5" name="user-业-icon-circle">
            <a:extLst>
              <a:ext uri="{FF2B5EF4-FFF2-40B4-BE49-F238E27FC236}">
                <a16:creationId xmlns:a16="http://schemas.microsoft.com/office/drawing/2014/main" id="{95102371-DE94-CA80-0B14-85C859B45084}"/>
              </a:ext>
            </a:extLst>
          </p:cNvPr>
          <p:cNvSpPr>
            <a:spLocks noGrp="1"/>
          </p:cNvSpPr>
          <p:nvPr/>
        </p:nvSpPr>
        <p:spPr>
          <a:xfrm>
            <a:off x="3758491" y="1222961"/>
            <a:ext cx="314325" cy="314325"/>
          </a:xfrm>
          <a:prstGeom prst="ellipse">
            <a:avLst/>
          </a:prstGeom>
          <a:solidFill>
            <a:srgbClr val="123B5D"/>
          </a:solidFill>
          <a:ln w="9525">
            <a:solidFill>
              <a:srgbClr val="123B5D"/>
            </a:solidFill>
            <a:prstDash val="solid"/>
          </a:ln>
          <a:effectLst/>
        </p:spPr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pic>
        <p:nvPicPr>
          <p:cNvPr id="266" name="Graphic 265">
            <a:extLst>
              <a:ext uri="{FF2B5EF4-FFF2-40B4-BE49-F238E27FC236}">
                <a16:creationId xmlns:a16="http://schemas.microsoft.com/office/drawing/2014/main" id="{F1B36306-900E-37DF-6C99-AE07802F67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3829927" y="1294397"/>
            <a:ext cx="171450" cy="171450"/>
          </a:xfrm>
          <a:prstGeom prst="rect">
            <a:avLst/>
          </a:prstGeom>
          <a:effectLst/>
        </p:spPr>
      </p:pic>
      <p:sp>
        <p:nvSpPr>
          <p:cNvPr id="267" name="user-业-name">
            <a:extLst>
              <a:ext uri="{FF2B5EF4-FFF2-40B4-BE49-F238E27FC236}">
                <a16:creationId xmlns:a16="http://schemas.microsoft.com/office/drawing/2014/main" id="{40E8D571-AE98-6A89-A151-90796868C27B}"/>
              </a:ext>
            </a:extLst>
          </p:cNvPr>
          <p:cNvSpPr>
            <a:spLocks noGrp="1"/>
          </p:cNvSpPr>
          <p:nvPr/>
        </p:nvSpPr>
        <p:spPr>
          <a:xfrm>
            <a:off x="4158540" y="1151523"/>
            <a:ext cx="1957388" cy="242888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28575" tIns="14288" rIns="28575" bIns="14288" anchor="ctr">
            <a:normAutofit/>
          </a:bodyPr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1000" b="1" i="0" u="none" strike="noStrike" kern="1200" cap="none" spc="0" normalizeH="0" baseline="0" noProof="0" err="1">
                <a:ln>
                  <a:noFill/>
                </a:ln>
                <a:solidFill>
                  <a:srgbClr val="123B5D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业务运营协同人员</a:t>
            </a:r>
            <a:endParaRPr kumimoji="0" sz="1000" b="1" i="0" u="none" strike="noStrike" kern="1200" cap="none" spc="0" normalizeH="0" baseline="0" noProof="0">
              <a:ln>
                <a:noFill/>
              </a:ln>
              <a:solidFill>
                <a:srgbClr val="123B5D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8" name="user-业-note">
            <a:extLst>
              <a:ext uri="{FF2B5EF4-FFF2-40B4-BE49-F238E27FC236}">
                <a16:creationId xmlns:a16="http://schemas.microsoft.com/office/drawing/2014/main" id="{AA343E36-6B06-61B5-9473-BC58E47D991B}"/>
              </a:ext>
            </a:extLst>
          </p:cNvPr>
          <p:cNvSpPr>
            <a:spLocks noGrp="1"/>
          </p:cNvSpPr>
          <p:nvPr/>
        </p:nvSpPr>
        <p:spPr>
          <a:xfrm>
            <a:off x="4158540" y="1394411"/>
            <a:ext cx="1957388" cy="192881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28575" tIns="14288" rIns="28575" bIns="14288" anchor="ctr">
            <a:normAutofit/>
          </a:bodyPr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700" b="0" i="0" u="none" strike="noStrike" kern="1200" cap="none" spc="0" normalizeH="0" baseline="0" noProof="0">
                <a:ln>
                  <a:noFill/>
                </a:ln>
                <a:solidFill>
                  <a:srgbClr val="5D718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档案使用 · 业务查询 · 流程协作</a:t>
            </a:r>
          </a:p>
        </p:txBody>
      </p:sp>
      <p:sp>
        <p:nvSpPr>
          <p:cNvPr id="269" name="user-技-icon-circle">
            <a:extLst>
              <a:ext uri="{FF2B5EF4-FFF2-40B4-BE49-F238E27FC236}">
                <a16:creationId xmlns:a16="http://schemas.microsoft.com/office/drawing/2014/main" id="{CDE419A4-2B8F-225D-BA2D-3DD1425ACA7D}"/>
              </a:ext>
            </a:extLst>
          </p:cNvPr>
          <p:cNvSpPr>
            <a:spLocks noGrp="1"/>
          </p:cNvSpPr>
          <p:nvPr/>
        </p:nvSpPr>
        <p:spPr>
          <a:xfrm>
            <a:off x="6201653" y="1222961"/>
            <a:ext cx="314325" cy="314325"/>
          </a:xfrm>
          <a:prstGeom prst="ellipse">
            <a:avLst/>
          </a:prstGeom>
          <a:solidFill>
            <a:srgbClr val="123B5D"/>
          </a:solidFill>
          <a:ln w="9525">
            <a:solidFill>
              <a:srgbClr val="123B5D"/>
            </a:solidFill>
            <a:prstDash val="solid"/>
          </a:ln>
          <a:effectLst/>
        </p:spPr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pic>
        <p:nvPicPr>
          <p:cNvPr id="270" name="Graphic 269">
            <a:extLst>
              <a:ext uri="{FF2B5EF4-FFF2-40B4-BE49-F238E27FC236}">
                <a16:creationId xmlns:a16="http://schemas.microsoft.com/office/drawing/2014/main" id="{293B2418-D1FF-E333-DD11-B9A3F43BC7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6273090" y="1294397"/>
            <a:ext cx="171450" cy="171450"/>
          </a:xfrm>
          <a:prstGeom prst="rect">
            <a:avLst/>
          </a:prstGeom>
          <a:effectLst/>
        </p:spPr>
      </p:pic>
      <p:sp>
        <p:nvSpPr>
          <p:cNvPr id="271" name="user-技-name">
            <a:extLst>
              <a:ext uri="{FF2B5EF4-FFF2-40B4-BE49-F238E27FC236}">
                <a16:creationId xmlns:a16="http://schemas.microsoft.com/office/drawing/2014/main" id="{827ACE5F-7526-C707-14A6-C92C8F5048F6}"/>
              </a:ext>
            </a:extLst>
          </p:cNvPr>
          <p:cNvSpPr>
            <a:spLocks noGrp="1"/>
          </p:cNvSpPr>
          <p:nvPr/>
        </p:nvSpPr>
        <p:spPr>
          <a:xfrm>
            <a:off x="6601702" y="1151523"/>
            <a:ext cx="1957388" cy="242888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28575" tIns="14288" rIns="28575" bIns="14288" anchor="ctr">
            <a:normAutofit/>
          </a:bodyPr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1000" b="1" i="0" u="none" strike="noStrike" kern="1200" cap="none" spc="0" normalizeH="0" baseline="0" noProof="0" err="1">
                <a:ln>
                  <a:noFill/>
                </a:ln>
                <a:solidFill>
                  <a:srgbClr val="123B5D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信息技术保障人员</a:t>
            </a:r>
            <a:endParaRPr kumimoji="0" sz="1000" b="1" i="0" u="none" strike="noStrike" kern="1200" cap="none" spc="0" normalizeH="0" baseline="0" noProof="0">
              <a:ln>
                <a:noFill/>
              </a:ln>
              <a:solidFill>
                <a:srgbClr val="123B5D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2" name="user-技-note">
            <a:extLst>
              <a:ext uri="{FF2B5EF4-FFF2-40B4-BE49-F238E27FC236}">
                <a16:creationId xmlns:a16="http://schemas.microsoft.com/office/drawing/2014/main" id="{3D2DF998-36C3-B07A-612C-9232E5C91F7F}"/>
              </a:ext>
            </a:extLst>
          </p:cNvPr>
          <p:cNvSpPr>
            <a:spLocks noGrp="1"/>
          </p:cNvSpPr>
          <p:nvPr/>
        </p:nvSpPr>
        <p:spPr>
          <a:xfrm>
            <a:off x="6601702" y="1394411"/>
            <a:ext cx="1957388" cy="192881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28575" tIns="14288" rIns="28575" bIns="14288" anchor="ctr">
            <a:normAutofit/>
          </a:bodyPr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700" b="0" i="0" u="none" strike="noStrike" kern="1200" cap="none" spc="0" normalizeH="0" baseline="0" noProof="0" err="1">
                <a:ln>
                  <a:noFill/>
                </a:ln>
                <a:solidFill>
                  <a:srgbClr val="5D718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平台运维</a:t>
            </a:r>
            <a:r>
              <a:rPr kumimoji="0" sz="700" b="0" i="0" u="none" strike="noStrike" kern="1200" cap="none" spc="0" normalizeH="0" baseline="0" noProof="0">
                <a:ln>
                  <a:noFill/>
                </a:ln>
                <a:solidFill>
                  <a:srgbClr val="5D718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 · </a:t>
            </a:r>
            <a:r>
              <a:rPr kumimoji="0" sz="700" b="0" i="0" u="none" strike="noStrike" kern="1200" cap="none" spc="0" normalizeH="0" baseline="0" noProof="0" err="1">
                <a:ln>
                  <a:noFill/>
                </a:ln>
                <a:solidFill>
                  <a:srgbClr val="5D718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权限安全</a:t>
            </a:r>
            <a:r>
              <a:rPr kumimoji="0" sz="700" b="0" i="0" u="none" strike="noStrike" kern="1200" cap="none" spc="0" normalizeH="0" baseline="0" noProof="0">
                <a:ln>
                  <a:noFill/>
                </a:ln>
                <a:solidFill>
                  <a:srgbClr val="5D718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 · </a:t>
            </a:r>
            <a:r>
              <a:rPr kumimoji="0" sz="700" b="0" i="0" u="none" strike="noStrike" kern="1200" cap="none" spc="0" normalizeH="0" baseline="0" noProof="0" err="1">
                <a:ln>
                  <a:noFill/>
                </a:ln>
                <a:solidFill>
                  <a:srgbClr val="5D718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数据保障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5D7180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3" name="capability-rail">
            <a:extLst>
              <a:ext uri="{FF2B5EF4-FFF2-40B4-BE49-F238E27FC236}">
                <a16:creationId xmlns:a16="http://schemas.microsoft.com/office/drawing/2014/main" id="{DDF95F5D-ACBD-FFB0-EA35-B8FB2736E0EF}"/>
              </a:ext>
            </a:extLst>
          </p:cNvPr>
          <p:cNvSpPr>
            <a:spLocks noGrp="1"/>
          </p:cNvSpPr>
          <p:nvPr/>
        </p:nvSpPr>
        <p:spPr>
          <a:xfrm>
            <a:off x="300038" y="1667079"/>
            <a:ext cx="271463" cy="3112858"/>
          </a:xfrm>
          <a:prstGeom prst="rect">
            <a:avLst/>
          </a:prstGeom>
          <a:solidFill>
            <a:srgbClr val="123B5D"/>
          </a:solidFill>
          <a:ln w="9525">
            <a:solidFill>
              <a:srgbClr val="123B5D"/>
            </a:solidFill>
            <a:prstDash val="solid"/>
          </a:ln>
          <a:effectLst/>
        </p:spPr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274" name="capability-label">
            <a:extLst>
              <a:ext uri="{FF2B5EF4-FFF2-40B4-BE49-F238E27FC236}">
                <a16:creationId xmlns:a16="http://schemas.microsoft.com/office/drawing/2014/main" id="{ACD35542-4897-9200-6128-BA4F386B77E5}"/>
              </a:ext>
            </a:extLst>
          </p:cNvPr>
          <p:cNvSpPr>
            <a:spLocks noGrp="1"/>
          </p:cNvSpPr>
          <p:nvPr/>
        </p:nvSpPr>
        <p:spPr>
          <a:xfrm>
            <a:off x="328613" y="2258194"/>
            <a:ext cx="214313" cy="1643063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1181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功</a:t>
            </a:r>
          </a:p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1181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能</a:t>
            </a:r>
          </a:p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1181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能</a:t>
            </a:r>
          </a:p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1181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力</a:t>
            </a:r>
          </a:p>
        </p:txBody>
      </p:sp>
      <p:sp>
        <p:nvSpPr>
          <p:cNvPr id="275" name="module-1-frame">
            <a:extLst>
              <a:ext uri="{FF2B5EF4-FFF2-40B4-BE49-F238E27FC236}">
                <a16:creationId xmlns:a16="http://schemas.microsoft.com/office/drawing/2014/main" id="{4C4C6CCF-EDE9-5882-426E-14A7FBE8BD10}"/>
              </a:ext>
            </a:extLst>
          </p:cNvPr>
          <p:cNvSpPr>
            <a:spLocks noGrp="1"/>
          </p:cNvSpPr>
          <p:nvPr/>
        </p:nvSpPr>
        <p:spPr>
          <a:xfrm>
            <a:off x="657225" y="1667080"/>
            <a:ext cx="8186738" cy="542925"/>
          </a:xfrm>
          <a:prstGeom prst="rect">
            <a:avLst/>
          </a:prstGeom>
          <a:solidFill>
            <a:srgbClr val="DCECF5"/>
          </a:solidFill>
          <a:ln w="0">
            <a:noFill/>
            <a:prstDash val="solid"/>
          </a:ln>
          <a:effectLst/>
        </p:spPr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276" name="module-1-title">
            <a:extLst>
              <a:ext uri="{FF2B5EF4-FFF2-40B4-BE49-F238E27FC236}">
                <a16:creationId xmlns:a16="http://schemas.microsoft.com/office/drawing/2014/main" id="{A63F3E1D-47F2-EFCE-68D0-17D5ADFB00C1}"/>
              </a:ext>
            </a:extLst>
          </p:cNvPr>
          <p:cNvSpPr>
            <a:spLocks noGrp="1"/>
          </p:cNvSpPr>
          <p:nvPr/>
        </p:nvSpPr>
        <p:spPr>
          <a:xfrm>
            <a:off x="707231" y="1681368"/>
            <a:ext cx="8086725" cy="192881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14288" tIns="0" rIns="14288" bIns="0" anchor="ctr">
            <a:norm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956" b="1" i="0" u="none" strike="noStrike" kern="1200" cap="none" spc="0" normalizeH="0" baseline="0" noProof="0">
                <a:ln>
                  <a:noFill/>
                </a:ln>
                <a:solidFill>
                  <a:srgbClr val="123B5D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01  存量历史数据迁移与标准化</a:t>
            </a:r>
          </a:p>
        </p:txBody>
      </p:sp>
      <p:sp>
        <p:nvSpPr>
          <p:cNvPr id="277" name="module-1-function-1">
            <a:extLst>
              <a:ext uri="{FF2B5EF4-FFF2-40B4-BE49-F238E27FC236}">
                <a16:creationId xmlns:a16="http://schemas.microsoft.com/office/drawing/2014/main" id="{306F0482-482A-0526-0271-55378F76633C}"/>
              </a:ext>
            </a:extLst>
          </p:cNvPr>
          <p:cNvSpPr>
            <a:spLocks/>
          </p:cNvSpPr>
          <p:nvPr/>
        </p:nvSpPr>
        <p:spPr>
          <a:xfrm>
            <a:off x="737706" y="1950457"/>
            <a:ext cx="1976400" cy="1928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C3D8E4"/>
            </a:solidFill>
            <a:prstDash val="solid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278" name="module-1-function-text-1">
            <a:extLst>
              <a:ext uri="{FF2B5EF4-FFF2-40B4-BE49-F238E27FC236}">
                <a16:creationId xmlns:a16="http://schemas.microsoft.com/office/drawing/2014/main" id="{58FCA34B-645A-4EDB-FC82-3CD2C9206E4F}"/>
              </a:ext>
            </a:extLst>
          </p:cNvPr>
          <p:cNvSpPr>
            <a:spLocks noGrp="1"/>
          </p:cNvSpPr>
          <p:nvPr/>
        </p:nvSpPr>
        <p:spPr>
          <a:xfrm>
            <a:off x="728663" y="1956679"/>
            <a:ext cx="1994487" cy="180437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none" lIns="7144" tIns="0" rIns="7144" bIns="0" anchor="ctr">
            <a:no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5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lang="zh-CN" altLang="en-US" sz="619" b="0" i="0" u="none" strike="noStrike" kern="1200" cap="none" spc="0" normalizeH="0" baseline="0" noProof="0">
                <a:ln>
                  <a:noFill/>
                </a:ln>
                <a:solidFill>
                  <a:srgbClr val="173042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历史数据批量导入</a:t>
            </a:r>
            <a:endParaRPr kumimoji="0" sz="619" b="0" i="0" u="none" strike="noStrike" kern="1200" cap="none" spc="0" normalizeH="0" baseline="0" noProof="0">
              <a:ln>
                <a:noFill/>
              </a:ln>
              <a:solidFill>
                <a:srgbClr val="173042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1" name="module-2-frame">
            <a:extLst>
              <a:ext uri="{FF2B5EF4-FFF2-40B4-BE49-F238E27FC236}">
                <a16:creationId xmlns:a16="http://schemas.microsoft.com/office/drawing/2014/main" id="{92E07EF1-1029-BFF6-B572-7E1151E97D35}"/>
              </a:ext>
            </a:extLst>
          </p:cNvPr>
          <p:cNvSpPr>
            <a:spLocks noGrp="1"/>
          </p:cNvSpPr>
          <p:nvPr/>
        </p:nvSpPr>
        <p:spPr>
          <a:xfrm>
            <a:off x="657226" y="2258192"/>
            <a:ext cx="3468290" cy="799345"/>
          </a:xfrm>
          <a:prstGeom prst="rect">
            <a:avLst/>
          </a:prstGeom>
          <a:solidFill>
            <a:srgbClr val="DCECF5"/>
          </a:solidFill>
          <a:ln w="0">
            <a:noFill/>
            <a:prstDash val="solid"/>
          </a:ln>
          <a:effectLst/>
        </p:spPr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282" name="module-2-title">
            <a:extLst>
              <a:ext uri="{FF2B5EF4-FFF2-40B4-BE49-F238E27FC236}">
                <a16:creationId xmlns:a16="http://schemas.microsoft.com/office/drawing/2014/main" id="{90BAD218-A94D-7921-A857-F4EC67876A73}"/>
              </a:ext>
            </a:extLst>
          </p:cNvPr>
          <p:cNvSpPr>
            <a:spLocks noGrp="1"/>
          </p:cNvSpPr>
          <p:nvPr/>
        </p:nvSpPr>
        <p:spPr>
          <a:xfrm>
            <a:off x="1152608" y="2276338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14288" tIns="0" rIns="14288" bIns="0" anchor="ctr">
            <a:norm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956" b="1" i="0" u="none" strike="noStrike" kern="1200" cap="none" spc="0" normalizeH="0" baseline="0" noProof="0">
                <a:ln>
                  <a:noFill/>
                </a:ln>
                <a:solidFill>
                  <a:srgbClr val="123B5D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02  </a:t>
            </a:r>
            <a:r>
              <a:rPr kumimoji="0" sz="956" b="1" i="0" u="none" strike="noStrike" kern="1200" cap="none" spc="0" normalizeH="0" baseline="0" noProof="0" err="1">
                <a:ln>
                  <a:noFill/>
                </a:ln>
                <a:solidFill>
                  <a:srgbClr val="123B5D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实时数据接入与常态化数据治理</a:t>
            </a:r>
            <a:endParaRPr kumimoji="0" sz="956" b="1" i="0" u="none" strike="noStrike" kern="1200" cap="none" spc="0" normalizeH="0" baseline="0" noProof="0">
              <a:ln>
                <a:noFill/>
              </a:ln>
              <a:solidFill>
                <a:srgbClr val="123B5D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3" name="module-2-function-1">
            <a:extLst>
              <a:ext uri="{FF2B5EF4-FFF2-40B4-BE49-F238E27FC236}">
                <a16:creationId xmlns:a16="http://schemas.microsoft.com/office/drawing/2014/main" id="{CFFE2886-2BA2-7725-5CC2-DB26C1277E51}"/>
              </a:ext>
            </a:extLst>
          </p:cNvPr>
          <p:cNvSpPr>
            <a:spLocks noGrp="1"/>
          </p:cNvSpPr>
          <p:nvPr/>
        </p:nvSpPr>
        <p:spPr>
          <a:xfrm>
            <a:off x="705076" y="2508707"/>
            <a:ext cx="814388" cy="22145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C3D8E4"/>
            </a:solidFill>
            <a:prstDash val="solid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284" name="module-2-function-text-1">
            <a:extLst>
              <a:ext uri="{FF2B5EF4-FFF2-40B4-BE49-F238E27FC236}">
                <a16:creationId xmlns:a16="http://schemas.microsoft.com/office/drawing/2014/main" id="{3E91DF13-83A5-E4F3-0CF3-38EB0941A1DD}"/>
              </a:ext>
            </a:extLst>
          </p:cNvPr>
          <p:cNvSpPr>
            <a:spLocks noGrp="1"/>
          </p:cNvSpPr>
          <p:nvPr/>
        </p:nvSpPr>
        <p:spPr>
          <a:xfrm>
            <a:off x="719364" y="2515851"/>
            <a:ext cx="785813" cy="207169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none" lIns="7144" tIns="0" rIns="7144" bIns="0" anchor="ctr">
            <a:no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5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lang="zh-CN" altLang="en-US" sz="619" b="0" i="0" u="none" strike="noStrike" kern="1200" cap="none" spc="0" normalizeH="0" baseline="0" noProof="0">
                <a:ln>
                  <a:noFill/>
                </a:ln>
                <a:solidFill>
                  <a:srgbClr val="173042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元数据标准与来源管理</a:t>
            </a:r>
            <a:endParaRPr kumimoji="0" sz="619" b="0" i="0" u="none" strike="noStrike" kern="1200" cap="none" spc="0" normalizeH="0" baseline="0" noProof="0">
              <a:ln>
                <a:noFill/>
              </a:ln>
              <a:solidFill>
                <a:srgbClr val="173042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5" name="module-2-function-2">
            <a:extLst>
              <a:ext uri="{FF2B5EF4-FFF2-40B4-BE49-F238E27FC236}">
                <a16:creationId xmlns:a16="http://schemas.microsoft.com/office/drawing/2014/main" id="{71635A78-7CD4-CFB4-244A-8EC30EC2C30E}"/>
              </a:ext>
            </a:extLst>
          </p:cNvPr>
          <p:cNvSpPr>
            <a:spLocks noGrp="1"/>
          </p:cNvSpPr>
          <p:nvPr/>
        </p:nvSpPr>
        <p:spPr>
          <a:xfrm>
            <a:off x="1562774" y="2508707"/>
            <a:ext cx="814388" cy="22145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C3D8E4"/>
            </a:solidFill>
            <a:prstDash val="solid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286" name="module-2-function-text-2">
            <a:extLst>
              <a:ext uri="{FF2B5EF4-FFF2-40B4-BE49-F238E27FC236}">
                <a16:creationId xmlns:a16="http://schemas.microsoft.com/office/drawing/2014/main" id="{42F0C32A-ACB2-65AC-8FDF-03F7C4CCCE30}"/>
              </a:ext>
            </a:extLst>
          </p:cNvPr>
          <p:cNvSpPr>
            <a:spLocks noGrp="1"/>
          </p:cNvSpPr>
          <p:nvPr/>
        </p:nvSpPr>
        <p:spPr>
          <a:xfrm>
            <a:off x="1577062" y="2515851"/>
            <a:ext cx="785813" cy="207169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none" lIns="7144" tIns="0" rIns="7144" bIns="0" anchor="ctr">
            <a:no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5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lang="zh-CN" altLang="en-US" sz="619" b="0" i="0" u="none" strike="noStrike" kern="1200" cap="none" spc="0" normalizeH="0" baseline="0" noProof="0">
                <a:ln>
                  <a:noFill/>
                </a:ln>
                <a:solidFill>
                  <a:srgbClr val="173042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冷数据识别与接入</a:t>
            </a:r>
            <a:endParaRPr kumimoji="0" sz="619" b="0" i="0" u="none" strike="noStrike" kern="1200" cap="none" spc="0" normalizeH="0" baseline="0" noProof="0">
              <a:ln>
                <a:noFill/>
              </a:ln>
              <a:solidFill>
                <a:srgbClr val="173042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9" name="module-2-function-4">
            <a:extLst>
              <a:ext uri="{FF2B5EF4-FFF2-40B4-BE49-F238E27FC236}">
                <a16:creationId xmlns:a16="http://schemas.microsoft.com/office/drawing/2014/main" id="{8A8B4451-9FC3-0B5C-6049-26772623512C}"/>
              </a:ext>
            </a:extLst>
          </p:cNvPr>
          <p:cNvSpPr>
            <a:spLocks noGrp="1"/>
          </p:cNvSpPr>
          <p:nvPr/>
        </p:nvSpPr>
        <p:spPr>
          <a:xfrm>
            <a:off x="3271894" y="2508707"/>
            <a:ext cx="814388" cy="221456"/>
          </a:xfrm>
          <a:prstGeom prst="rect">
            <a:avLst/>
          </a:prstGeom>
          <a:solidFill>
            <a:schemeClr val="bg1"/>
          </a:solidFill>
          <a:ln w="9525">
            <a:solidFill>
              <a:srgbClr val="C3D8E4"/>
            </a:solidFill>
            <a:prstDash val="solid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290" name="module-2-function-text-4">
            <a:extLst>
              <a:ext uri="{FF2B5EF4-FFF2-40B4-BE49-F238E27FC236}">
                <a16:creationId xmlns:a16="http://schemas.microsoft.com/office/drawing/2014/main" id="{F65C64DF-7446-BFAE-EACB-8F597BF6B129}"/>
              </a:ext>
            </a:extLst>
          </p:cNvPr>
          <p:cNvSpPr>
            <a:spLocks noGrp="1"/>
          </p:cNvSpPr>
          <p:nvPr/>
        </p:nvSpPr>
        <p:spPr>
          <a:xfrm>
            <a:off x="3286182" y="2515851"/>
            <a:ext cx="785813" cy="207169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none" lIns="7144" tIns="0" rIns="7144" bIns="0" anchor="ctr">
            <a:no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5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lang="zh-CN" altLang="en-US" sz="619" b="0" i="0" u="none" strike="noStrike" kern="1200" cap="none" spc="0" normalizeH="0" baseline="0" noProof="0">
                <a:ln>
                  <a:noFill/>
                </a:ln>
                <a:solidFill>
                  <a:srgbClr val="173042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数据质量管理</a:t>
            </a:r>
            <a:endParaRPr kumimoji="0" sz="619" b="0" i="0" u="none" strike="noStrike" kern="1200" cap="none" spc="0" normalizeH="0" baseline="0" noProof="0">
              <a:ln>
                <a:noFill/>
              </a:ln>
              <a:solidFill>
                <a:srgbClr val="173042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1" name="module-2-function-5">
            <a:extLst>
              <a:ext uri="{FF2B5EF4-FFF2-40B4-BE49-F238E27FC236}">
                <a16:creationId xmlns:a16="http://schemas.microsoft.com/office/drawing/2014/main" id="{D9247913-6E37-2083-EFE2-60CCA5C61C37}"/>
              </a:ext>
            </a:extLst>
          </p:cNvPr>
          <p:cNvSpPr>
            <a:spLocks noGrp="1"/>
          </p:cNvSpPr>
          <p:nvPr/>
        </p:nvSpPr>
        <p:spPr>
          <a:xfrm>
            <a:off x="2414302" y="2513254"/>
            <a:ext cx="814388" cy="221456"/>
          </a:xfrm>
          <a:prstGeom prst="rect">
            <a:avLst/>
          </a:prstGeom>
          <a:solidFill>
            <a:schemeClr val="bg1"/>
          </a:solidFill>
          <a:ln w="9525">
            <a:solidFill>
              <a:srgbClr val="C3D8E4"/>
            </a:solidFill>
            <a:prstDash val="solid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292" name="module-2-function-text-5">
            <a:extLst>
              <a:ext uri="{FF2B5EF4-FFF2-40B4-BE49-F238E27FC236}">
                <a16:creationId xmlns:a16="http://schemas.microsoft.com/office/drawing/2014/main" id="{B7F49BD2-41E4-DE41-ED7F-DE78ABE39F6D}"/>
              </a:ext>
            </a:extLst>
          </p:cNvPr>
          <p:cNvSpPr>
            <a:spLocks noGrp="1"/>
          </p:cNvSpPr>
          <p:nvPr/>
        </p:nvSpPr>
        <p:spPr>
          <a:xfrm>
            <a:off x="2428589" y="2529425"/>
            <a:ext cx="785813" cy="207169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none" lIns="7144" tIns="0" rIns="7144" bIns="0" anchor="ctr">
            <a:no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5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lang="zh-CN" altLang="en-US" sz="619" b="0" i="0" u="none" strike="noStrike" kern="1200" cap="none" spc="0" normalizeH="0" baseline="0" noProof="0">
                <a:ln>
                  <a:noFill/>
                </a:ln>
                <a:solidFill>
                  <a:srgbClr val="173042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增量数据同步</a:t>
            </a:r>
            <a:endParaRPr kumimoji="0" sz="619" b="0" i="0" u="none" strike="noStrike" kern="1200" cap="none" spc="0" normalizeH="0" baseline="0" noProof="0">
              <a:ln>
                <a:noFill/>
              </a:ln>
              <a:solidFill>
                <a:srgbClr val="173042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3" name="module-2-function-6">
            <a:extLst>
              <a:ext uri="{FF2B5EF4-FFF2-40B4-BE49-F238E27FC236}">
                <a16:creationId xmlns:a16="http://schemas.microsoft.com/office/drawing/2014/main" id="{FB2B0FBA-6205-7CF3-2191-F8A6026D9BCE}"/>
              </a:ext>
            </a:extLst>
          </p:cNvPr>
          <p:cNvSpPr>
            <a:spLocks noGrp="1"/>
          </p:cNvSpPr>
          <p:nvPr/>
        </p:nvSpPr>
        <p:spPr>
          <a:xfrm>
            <a:off x="705076" y="2786063"/>
            <a:ext cx="814388" cy="22145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C3D8E4"/>
            </a:solidFill>
            <a:prstDash val="solid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294" name="module-2-function-text-6">
            <a:extLst>
              <a:ext uri="{FF2B5EF4-FFF2-40B4-BE49-F238E27FC236}">
                <a16:creationId xmlns:a16="http://schemas.microsoft.com/office/drawing/2014/main" id="{0E2276E1-AA73-06AF-AA07-8BF616D98EA7}"/>
              </a:ext>
            </a:extLst>
          </p:cNvPr>
          <p:cNvSpPr>
            <a:spLocks noGrp="1"/>
          </p:cNvSpPr>
          <p:nvPr/>
        </p:nvSpPr>
        <p:spPr>
          <a:xfrm>
            <a:off x="719364" y="2793207"/>
            <a:ext cx="785813" cy="207169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none" lIns="7144" tIns="0" rIns="7144" bIns="0" anchor="ctr">
            <a:no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5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lang="zh-CN" altLang="en-US" sz="619" b="0" i="0" u="none" strike="noStrike" kern="1200" cap="none" spc="0" normalizeH="0" baseline="0" noProof="0">
                <a:ln>
                  <a:noFill/>
                </a:ln>
                <a:solidFill>
                  <a:srgbClr val="173042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智能内容解析</a:t>
            </a:r>
            <a:endParaRPr kumimoji="0" lang="en-US" altLang="zh-CN" sz="619" b="0" i="0" u="none" strike="noStrike" kern="1200" cap="none" spc="0" normalizeH="0" baseline="0" noProof="0">
              <a:ln>
                <a:noFill/>
              </a:ln>
              <a:solidFill>
                <a:srgbClr val="173042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5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lang="zh-CN" altLang="en-US" sz="619" b="0" i="0" u="none" strike="noStrike" kern="1200" cap="none" spc="0" normalizeH="0" baseline="0" noProof="0">
                <a:ln>
                  <a:noFill/>
                </a:ln>
                <a:solidFill>
                  <a:srgbClr val="173042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与信息提取</a:t>
            </a:r>
            <a:endParaRPr kumimoji="0" sz="619" b="0" i="0" u="none" strike="noStrike" kern="1200" cap="none" spc="0" normalizeH="0" baseline="0" noProof="0">
              <a:ln>
                <a:noFill/>
              </a:ln>
              <a:solidFill>
                <a:srgbClr val="173042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5" name="module-3-frame">
            <a:extLst>
              <a:ext uri="{FF2B5EF4-FFF2-40B4-BE49-F238E27FC236}">
                <a16:creationId xmlns:a16="http://schemas.microsoft.com/office/drawing/2014/main" id="{1FC04E1A-4842-86FE-EF2C-790C8092DE9A}"/>
              </a:ext>
            </a:extLst>
          </p:cNvPr>
          <p:cNvSpPr>
            <a:spLocks noGrp="1"/>
          </p:cNvSpPr>
          <p:nvPr/>
        </p:nvSpPr>
        <p:spPr>
          <a:xfrm>
            <a:off x="4189810" y="2264580"/>
            <a:ext cx="2671763" cy="792957"/>
          </a:xfrm>
          <a:prstGeom prst="rect">
            <a:avLst/>
          </a:prstGeom>
          <a:solidFill>
            <a:srgbClr val="DCECF5"/>
          </a:solidFill>
          <a:ln w="0">
            <a:noFill/>
            <a:prstDash val="solid"/>
          </a:ln>
          <a:effectLst/>
        </p:spPr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296" name="module-3-title">
            <a:extLst>
              <a:ext uri="{FF2B5EF4-FFF2-40B4-BE49-F238E27FC236}">
                <a16:creationId xmlns:a16="http://schemas.microsoft.com/office/drawing/2014/main" id="{7212DF25-6B23-C0E8-8F1E-19724CCDED1E}"/>
              </a:ext>
            </a:extLst>
          </p:cNvPr>
          <p:cNvSpPr>
            <a:spLocks noGrp="1"/>
          </p:cNvSpPr>
          <p:nvPr/>
        </p:nvSpPr>
        <p:spPr>
          <a:xfrm>
            <a:off x="4200526" y="2270023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14288" tIns="0" rIns="14288" bIns="0" anchor="ctr">
            <a:norm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956" b="1" i="0" u="none" strike="noStrike" kern="1200" cap="none" spc="0" normalizeH="0" baseline="0" noProof="0">
                <a:ln>
                  <a:noFill/>
                </a:ln>
                <a:solidFill>
                  <a:srgbClr val="123B5D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03  记录归档与档案全生命周期管理</a:t>
            </a:r>
          </a:p>
        </p:txBody>
      </p:sp>
      <p:sp>
        <p:nvSpPr>
          <p:cNvPr id="297" name="module-3-function-1">
            <a:extLst>
              <a:ext uri="{FF2B5EF4-FFF2-40B4-BE49-F238E27FC236}">
                <a16:creationId xmlns:a16="http://schemas.microsoft.com/office/drawing/2014/main" id="{2EAA462E-AF34-B898-5B60-FD967EE22218}"/>
              </a:ext>
            </a:extLst>
          </p:cNvPr>
          <p:cNvSpPr>
            <a:spLocks noGrp="1"/>
          </p:cNvSpPr>
          <p:nvPr/>
        </p:nvSpPr>
        <p:spPr>
          <a:xfrm>
            <a:off x="4254104" y="2508707"/>
            <a:ext cx="814388" cy="22145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C3D8E4"/>
            </a:solidFill>
            <a:prstDash val="solid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298" name="module-3-function-text-1">
            <a:extLst>
              <a:ext uri="{FF2B5EF4-FFF2-40B4-BE49-F238E27FC236}">
                <a16:creationId xmlns:a16="http://schemas.microsoft.com/office/drawing/2014/main" id="{6FB57CC4-2995-0131-C288-55588A3983FC}"/>
              </a:ext>
            </a:extLst>
          </p:cNvPr>
          <p:cNvSpPr>
            <a:spLocks noGrp="1"/>
          </p:cNvSpPr>
          <p:nvPr/>
        </p:nvSpPr>
        <p:spPr>
          <a:xfrm>
            <a:off x="4268392" y="2515851"/>
            <a:ext cx="785813" cy="207169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none" lIns="7144" tIns="0" rIns="7144" bIns="0" anchor="ctr">
            <a:no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5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lang="zh-CN" altLang="en-US" sz="619" b="0" i="0" u="none" strike="noStrike" kern="1200" cap="none" spc="0" normalizeH="0" baseline="0" noProof="0">
                <a:ln>
                  <a:noFill/>
                </a:ln>
                <a:solidFill>
                  <a:srgbClr val="173042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标准归档模型管理</a:t>
            </a:r>
            <a:endParaRPr kumimoji="0" sz="619" b="0" i="0" u="none" strike="noStrike" kern="1200" cap="none" spc="0" normalizeH="0" baseline="0" noProof="0">
              <a:ln>
                <a:noFill/>
              </a:ln>
              <a:solidFill>
                <a:srgbClr val="173042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9" name="module-3-function-2">
            <a:extLst>
              <a:ext uri="{FF2B5EF4-FFF2-40B4-BE49-F238E27FC236}">
                <a16:creationId xmlns:a16="http://schemas.microsoft.com/office/drawing/2014/main" id="{A94A304B-9487-DFAA-EA43-69C04931CF31}"/>
              </a:ext>
            </a:extLst>
          </p:cNvPr>
          <p:cNvSpPr>
            <a:spLocks noGrp="1"/>
          </p:cNvSpPr>
          <p:nvPr/>
        </p:nvSpPr>
        <p:spPr>
          <a:xfrm>
            <a:off x="4254104" y="2786063"/>
            <a:ext cx="814388" cy="221456"/>
          </a:xfrm>
          <a:prstGeom prst="rect">
            <a:avLst/>
          </a:prstGeom>
          <a:solidFill>
            <a:srgbClr val="FFFFFF"/>
          </a:solidFill>
          <a:ln w="9525">
            <a:solidFill>
              <a:srgbClr val="C3D8E4"/>
            </a:solidFill>
            <a:prstDash val="solid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300" name="module-3-function-text-2">
            <a:extLst>
              <a:ext uri="{FF2B5EF4-FFF2-40B4-BE49-F238E27FC236}">
                <a16:creationId xmlns:a16="http://schemas.microsoft.com/office/drawing/2014/main" id="{489EBDD5-DA6D-2030-ABC8-F78403D19E32}"/>
              </a:ext>
            </a:extLst>
          </p:cNvPr>
          <p:cNvSpPr>
            <a:spLocks noGrp="1"/>
          </p:cNvSpPr>
          <p:nvPr/>
        </p:nvSpPr>
        <p:spPr>
          <a:xfrm>
            <a:off x="4268392" y="2793207"/>
            <a:ext cx="785813" cy="207169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none" lIns="7144" tIns="0" rIns="7144" bIns="0" anchor="ctr">
            <a:no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5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lang="zh-CN" altLang="en-US" sz="619" b="0" i="0" u="none" strike="noStrike" kern="1200" cap="none" spc="0" normalizeH="0" baseline="0" noProof="0">
                <a:ln>
                  <a:noFill/>
                </a:ln>
                <a:solidFill>
                  <a:srgbClr val="173042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冷数据归档与</a:t>
            </a:r>
            <a:endParaRPr kumimoji="0" lang="en-US" altLang="zh-CN" sz="619" b="0" i="0" u="none" strike="noStrike" kern="1200" cap="none" spc="0" normalizeH="0" baseline="0" noProof="0">
              <a:ln>
                <a:noFill/>
              </a:ln>
              <a:solidFill>
                <a:srgbClr val="173042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5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lang="zh-CN" altLang="en-US" sz="619" b="0" i="0" u="none" strike="noStrike" kern="1200" cap="none" spc="0" normalizeH="0" baseline="0" noProof="0">
                <a:ln>
                  <a:noFill/>
                </a:ln>
                <a:solidFill>
                  <a:srgbClr val="173042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生命周期管理</a:t>
            </a:r>
            <a:endParaRPr kumimoji="0" sz="619" b="0" i="0" u="none" strike="noStrike" kern="1200" cap="none" spc="0" normalizeH="0" baseline="0" noProof="0">
              <a:ln>
                <a:noFill/>
              </a:ln>
              <a:solidFill>
                <a:srgbClr val="173042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1" name="module-3-function-3">
            <a:extLst>
              <a:ext uri="{FF2B5EF4-FFF2-40B4-BE49-F238E27FC236}">
                <a16:creationId xmlns:a16="http://schemas.microsoft.com/office/drawing/2014/main" id="{4263A0A8-0D1E-EED1-C797-3A4E381BB531}"/>
              </a:ext>
            </a:extLst>
          </p:cNvPr>
          <p:cNvSpPr>
            <a:spLocks noGrp="1"/>
          </p:cNvSpPr>
          <p:nvPr/>
        </p:nvSpPr>
        <p:spPr>
          <a:xfrm>
            <a:off x="5985868" y="2508707"/>
            <a:ext cx="814388" cy="22145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C3D8E4"/>
            </a:solidFill>
            <a:prstDash val="solid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302" name="module-3-function-text-3">
            <a:extLst>
              <a:ext uri="{FF2B5EF4-FFF2-40B4-BE49-F238E27FC236}">
                <a16:creationId xmlns:a16="http://schemas.microsoft.com/office/drawing/2014/main" id="{05E87AE4-6DC6-83A0-2CAE-ECB63624B958}"/>
              </a:ext>
            </a:extLst>
          </p:cNvPr>
          <p:cNvSpPr>
            <a:spLocks noGrp="1"/>
          </p:cNvSpPr>
          <p:nvPr/>
        </p:nvSpPr>
        <p:spPr>
          <a:xfrm>
            <a:off x="6000156" y="2515851"/>
            <a:ext cx="785813" cy="207169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none" lIns="7144" tIns="0" rIns="7144" bIns="0" anchor="ctr">
            <a:no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5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lang="zh-CN" altLang="en-US" sz="619" b="0" i="0" u="none" strike="noStrike" kern="1200" cap="none" spc="0" normalizeH="0" baseline="0" noProof="0">
                <a:ln>
                  <a:noFill/>
                </a:ln>
                <a:solidFill>
                  <a:srgbClr val="173042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到期处置与</a:t>
            </a:r>
            <a:endParaRPr kumimoji="0" lang="en-US" altLang="zh-CN" sz="619" b="0" i="0" u="none" strike="noStrike" kern="1200" cap="none" spc="0" normalizeH="0" baseline="0" noProof="0">
              <a:ln>
                <a:noFill/>
              </a:ln>
              <a:solidFill>
                <a:srgbClr val="173042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5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lang="en-US" sz="619" b="0" i="0" u="none" strike="noStrike" kern="1200" cap="none" spc="0" normalizeH="0" baseline="0" noProof="0">
                <a:ln>
                  <a:noFill/>
                </a:ln>
                <a:solidFill>
                  <a:srgbClr val="173042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Legal Hold</a:t>
            </a:r>
            <a:r>
              <a:rPr kumimoji="0" lang="zh-CN" altLang="en-US" sz="619" b="0" i="0" u="none" strike="noStrike" kern="1200" cap="none" spc="0" normalizeH="0" baseline="0" noProof="0">
                <a:ln>
                  <a:noFill/>
                </a:ln>
                <a:solidFill>
                  <a:srgbClr val="173042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管理</a:t>
            </a:r>
            <a:endParaRPr kumimoji="0" sz="619" b="0" i="0" u="none" strike="noStrike" kern="1200" cap="none" spc="0" normalizeH="0" baseline="0" noProof="0">
              <a:ln>
                <a:noFill/>
              </a:ln>
              <a:solidFill>
                <a:srgbClr val="173042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3" name="module-4-frame">
            <a:extLst>
              <a:ext uri="{FF2B5EF4-FFF2-40B4-BE49-F238E27FC236}">
                <a16:creationId xmlns:a16="http://schemas.microsoft.com/office/drawing/2014/main" id="{06E37181-ABC6-5ED5-504E-8A77EDAF8160}"/>
              </a:ext>
            </a:extLst>
          </p:cNvPr>
          <p:cNvSpPr>
            <a:spLocks noGrp="1"/>
          </p:cNvSpPr>
          <p:nvPr/>
        </p:nvSpPr>
        <p:spPr>
          <a:xfrm>
            <a:off x="6925867" y="2258194"/>
            <a:ext cx="1918097" cy="993006"/>
          </a:xfrm>
          <a:prstGeom prst="rect">
            <a:avLst/>
          </a:prstGeom>
          <a:solidFill>
            <a:srgbClr val="DCECF5"/>
          </a:solidFill>
          <a:ln w="0">
            <a:noFill/>
            <a:prstDash val="solid"/>
          </a:ln>
          <a:effectLst/>
        </p:spPr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304" name="module-4-title">
            <a:extLst>
              <a:ext uri="{FF2B5EF4-FFF2-40B4-BE49-F238E27FC236}">
                <a16:creationId xmlns:a16="http://schemas.microsoft.com/office/drawing/2014/main" id="{20EFAC60-403F-6D08-FE8E-0FA66D78AA77}"/>
              </a:ext>
            </a:extLst>
          </p:cNvPr>
          <p:cNvSpPr>
            <a:spLocks noGrp="1"/>
          </p:cNvSpPr>
          <p:nvPr/>
        </p:nvSpPr>
        <p:spPr>
          <a:xfrm>
            <a:off x="6962774" y="2275315"/>
            <a:ext cx="1831182" cy="2286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14288" tIns="0" rIns="14288" bIns="0" anchor="ctr">
            <a:norm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956" b="1" i="0" u="none" strike="noStrike" kern="1200" cap="none" spc="0" normalizeH="0" baseline="0" noProof="0">
                <a:ln>
                  <a:noFill/>
                </a:ln>
                <a:solidFill>
                  <a:srgbClr val="123B5D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04  </a:t>
            </a:r>
            <a:r>
              <a:rPr kumimoji="0" sz="956" b="1" i="0" u="none" strike="noStrike" kern="1200" cap="none" spc="0" normalizeH="0" baseline="0" noProof="0" err="1">
                <a:ln>
                  <a:noFill/>
                </a:ln>
                <a:solidFill>
                  <a:srgbClr val="123B5D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数据存储与境内数据安全管控</a:t>
            </a:r>
            <a:endParaRPr kumimoji="0" sz="956" b="1" i="0" u="none" strike="noStrike" kern="1200" cap="none" spc="0" normalizeH="0" baseline="0" noProof="0">
              <a:ln>
                <a:noFill/>
              </a:ln>
              <a:solidFill>
                <a:srgbClr val="123B5D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5" name="module-4-function-1">
            <a:extLst>
              <a:ext uri="{FF2B5EF4-FFF2-40B4-BE49-F238E27FC236}">
                <a16:creationId xmlns:a16="http://schemas.microsoft.com/office/drawing/2014/main" id="{5A06F3F3-F2BF-6667-92B2-D748C9D36B38}"/>
              </a:ext>
            </a:extLst>
          </p:cNvPr>
          <p:cNvSpPr>
            <a:spLocks noGrp="1"/>
          </p:cNvSpPr>
          <p:nvPr/>
        </p:nvSpPr>
        <p:spPr>
          <a:xfrm>
            <a:off x="7063610" y="2502658"/>
            <a:ext cx="814388" cy="22145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C3D8E4"/>
            </a:solidFill>
            <a:prstDash val="solid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306" name="module-4-function-text-1">
            <a:extLst>
              <a:ext uri="{FF2B5EF4-FFF2-40B4-BE49-F238E27FC236}">
                <a16:creationId xmlns:a16="http://schemas.microsoft.com/office/drawing/2014/main" id="{7C73EF6C-DC42-3ACC-F0C5-DAC640B045C5}"/>
              </a:ext>
            </a:extLst>
          </p:cNvPr>
          <p:cNvSpPr>
            <a:spLocks noGrp="1"/>
          </p:cNvSpPr>
          <p:nvPr/>
        </p:nvSpPr>
        <p:spPr>
          <a:xfrm>
            <a:off x="7077898" y="2509802"/>
            <a:ext cx="785813" cy="207169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none" lIns="7144" tIns="0" rIns="7144" bIns="0" anchor="ctr">
            <a:no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5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lang="zh-CN" altLang="en-US" sz="619" b="0" i="0" u="none" strike="noStrike" kern="1200" cap="none" spc="0" normalizeH="0" baseline="0" noProof="0">
                <a:ln>
                  <a:noFill/>
                </a:ln>
                <a:solidFill>
                  <a:srgbClr val="173042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境内数据驻留管理</a:t>
            </a:r>
            <a:endParaRPr kumimoji="0" sz="619" b="0" i="0" u="none" strike="noStrike" kern="1200" cap="none" spc="0" normalizeH="0" baseline="0" noProof="0">
              <a:ln>
                <a:noFill/>
              </a:ln>
              <a:solidFill>
                <a:srgbClr val="173042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7" name="module-4-function-2">
            <a:extLst>
              <a:ext uri="{FF2B5EF4-FFF2-40B4-BE49-F238E27FC236}">
                <a16:creationId xmlns:a16="http://schemas.microsoft.com/office/drawing/2014/main" id="{37855E78-0263-E36B-D996-80EA30A9FEED}"/>
              </a:ext>
            </a:extLst>
          </p:cNvPr>
          <p:cNvSpPr>
            <a:spLocks noGrp="1"/>
          </p:cNvSpPr>
          <p:nvPr/>
        </p:nvSpPr>
        <p:spPr>
          <a:xfrm>
            <a:off x="7932747" y="2502658"/>
            <a:ext cx="814388" cy="22145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C3D8E4"/>
            </a:solidFill>
            <a:prstDash val="solid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308" name="module-4-function-text-2">
            <a:extLst>
              <a:ext uri="{FF2B5EF4-FFF2-40B4-BE49-F238E27FC236}">
                <a16:creationId xmlns:a16="http://schemas.microsoft.com/office/drawing/2014/main" id="{8EA70C35-3FB9-541F-F6B8-0571C540A05D}"/>
              </a:ext>
            </a:extLst>
          </p:cNvPr>
          <p:cNvSpPr>
            <a:spLocks noGrp="1"/>
          </p:cNvSpPr>
          <p:nvPr/>
        </p:nvSpPr>
        <p:spPr>
          <a:xfrm>
            <a:off x="7947035" y="2509802"/>
            <a:ext cx="785813" cy="207169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none" lIns="7144" tIns="0" rIns="7144" bIns="0" anchor="ctr">
            <a:no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5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lang="zh-CN" altLang="en-US" sz="619" b="0" i="0" u="none" strike="noStrike" kern="1200" cap="none" spc="0" normalizeH="0" baseline="0" noProof="0">
                <a:ln>
                  <a:noFill/>
                </a:ln>
                <a:solidFill>
                  <a:srgbClr val="173042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数据加密与密钥管理</a:t>
            </a:r>
            <a:endParaRPr kumimoji="0" sz="619" b="0" i="0" u="none" strike="noStrike" kern="1200" cap="none" spc="0" normalizeH="0" baseline="0" noProof="0">
              <a:ln>
                <a:noFill/>
              </a:ln>
              <a:solidFill>
                <a:srgbClr val="173042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9" name="module-4-function-3">
            <a:extLst>
              <a:ext uri="{FF2B5EF4-FFF2-40B4-BE49-F238E27FC236}">
                <a16:creationId xmlns:a16="http://schemas.microsoft.com/office/drawing/2014/main" id="{E940E9FE-30F4-127F-3E91-4B736BE54A45}"/>
              </a:ext>
            </a:extLst>
          </p:cNvPr>
          <p:cNvSpPr>
            <a:spLocks noGrp="1"/>
          </p:cNvSpPr>
          <p:nvPr/>
        </p:nvSpPr>
        <p:spPr>
          <a:xfrm>
            <a:off x="7063610" y="2997689"/>
            <a:ext cx="814388" cy="221456"/>
          </a:xfrm>
          <a:prstGeom prst="rect">
            <a:avLst/>
          </a:prstGeom>
          <a:solidFill>
            <a:srgbClr val="FFFFFF"/>
          </a:solidFill>
          <a:ln w="9525">
            <a:solidFill>
              <a:srgbClr val="C3D8E4"/>
            </a:solidFill>
            <a:prstDash val="solid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310" name="module-4-function-text-3">
            <a:extLst>
              <a:ext uri="{FF2B5EF4-FFF2-40B4-BE49-F238E27FC236}">
                <a16:creationId xmlns:a16="http://schemas.microsoft.com/office/drawing/2014/main" id="{535D5D58-5305-478F-CA06-4011A9300291}"/>
              </a:ext>
            </a:extLst>
          </p:cNvPr>
          <p:cNvSpPr>
            <a:spLocks noGrp="1"/>
          </p:cNvSpPr>
          <p:nvPr/>
        </p:nvSpPr>
        <p:spPr>
          <a:xfrm>
            <a:off x="7077898" y="3004833"/>
            <a:ext cx="785813" cy="207169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none" lIns="7144" tIns="0" rIns="7144" bIns="0" anchor="ctr">
            <a:no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5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lang="zh-CN" altLang="en-US" sz="619" b="0" i="0" u="none" strike="noStrike" kern="1200" cap="none" spc="0" normalizeH="0" baseline="0" noProof="0">
                <a:ln>
                  <a:noFill/>
                </a:ln>
                <a:solidFill>
                  <a:srgbClr val="173042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分层存储与策略优化</a:t>
            </a:r>
            <a:endParaRPr kumimoji="0" sz="619" b="0" i="0" u="none" strike="noStrike" kern="1200" cap="none" spc="0" normalizeH="0" baseline="0" noProof="0">
              <a:ln>
                <a:noFill/>
              </a:ln>
              <a:solidFill>
                <a:srgbClr val="173042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5" name="module-5-frame">
            <a:extLst>
              <a:ext uri="{FF2B5EF4-FFF2-40B4-BE49-F238E27FC236}">
                <a16:creationId xmlns:a16="http://schemas.microsoft.com/office/drawing/2014/main" id="{9F5339EF-9FAB-9663-CC5E-B934011CF4CD}"/>
              </a:ext>
            </a:extLst>
          </p:cNvPr>
          <p:cNvSpPr>
            <a:spLocks noGrp="1"/>
          </p:cNvSpPr>
          <p:nvPr/>
        </p:nvSpPr>
        <p:spPr>
          <a:xfrm>
            <a:off x="657226" y="3138802"/>
            <a:ext cx="3461145" cy="1061736"/>
          </a:xfrm>
          <a:prstGeom prst="rect">
            <a:avLst/>
          </a:prstGeom>
          <a:solidFill>
            <a:srgbClr val="DCECF5"/>
          </a:solidFill>
          <a:ln w="0">
            <a:noFill/>
            <a:prstDash val="solid"/>
          </a:ln>
          <a:effectLst/>
        </p:spPr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316" name="module-5-title">
            <a:extLst>
              <a:ext uri="{FF2B5EF4-FFF2-40B4-BE49-F238E27FC236}">
                <a16:creationId xmlns:a16="http://schemas.microsoft.com/office/drawing/2014/main" id="{A10A4E4D-4DBA-2296-C345-56950A18A489}"/>
              </a:ext>
            </a:extLst>
          </p:cNvPr>
          <p:cNvSpPr>
            <a:spLocks noGrp="1"/>
          </p:cNvSpPr>
          <p:nvPr/>
        </p:nvSpPr>
        <p:spPr>
          <a:xfrm>
            <a:off x="939882" y="3156729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14288" tIns="0" rIns="14288" bIns="0" anchor="ctr">
            <a:norm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956" b="1" i="0" u="none" strike="noStrike" kern="1200" cap="none" spc="0" normalizeH="0" baseline="0" noProof="0">
                <a:ln>
                  <a:noFill/>
                </a:ln>
                <a:solidFill>
                  <a:srgbClr val="123B5D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05  </a:t>
            </a:r>
            <a:r>
              <a:rPr kumimoji="0" sz="956" b="1" i="0" u="none" strike="noStrike" kern="1200" cap="none" spc="0" normalizeH="0" baseline="0" noProof="0" err="1">
                <a:ln>
                  <a:noFill/>
                </a:ln>
                <a:solidFill>
                  <a:srgbClr val="123B5D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档案检索、智能发现与业务利用</a:t>
            </a:r>
            <a:endParaRPr kumimoji="0" sz="956" b="1" i="0" u="none" strike="noStrike" kern="1200" cap="none" spc="0" normalizeH="0" baseline="0" noProof="0">
              <a:ln>
                <a:noFill/>
              </a:ln>
              <a:solidFill>
                <a:srgbClr val="123B5D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7" name="module-5-function-1">
            <a:extLst>
              <a:ext uri="{FF2B5EF4-FFF2-40B4-BE49-F238E27FC236}">
                <a16:creationId xmlns:a16="http://schemas.microsoft.com/office/drawing/2014/main" id="{BA788D43-784B-BE98-7EEB-729DE203E511}"/>
              </a:ext>
            </a:extLst>
          </p:cNvPr>
          <p:cNvSpPr>
            <a:spLocks noGrp="1"/>
          </p:cNvSpPr>
          <p:nvPr/>
        </p:nvSpPr>
        <p:spPr>
          <a:xfrm>
            <a:off x="705076" y="3405101"/>
            <a:ext cx="814388" cy="22145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C3D8E4"/>
            </a:solidFill>
            <a:prstDash val="solid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318" name="module-5-function-text-1">
            <a:extLst>
              <a:ext uri="{FF2B5EF4-FFF2-40B4-BE49-F238E27FC236}">
                <a16:creationId xmlns:a16="http://schemas.microsoft.com/office/drawing/2014/main" id="{D0A0C9DF-C521-A00D-2C16-15984E8B05B0}"/>
              </a:ext>
            </a:extLst>
          </p:cNvPr>
          <p:cNvSpPr>
            <a:spLocks noGrp="1"/>
          </p:cNvSpPr>
          <p:nvPr/>
        </p:nvSpPr>
        <p:spPr>
          <a:xfrm>
            <a:off x="719364" y="3412245"/>
            <a:ext cx="785813" cy="207169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none" lIns="7144" tIns="0" rIns="7144" bIns="0" anchor="ctr">
            <a:no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5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lang="zh-CN" altLang="en-US" sz="619" b="0" i="0" u="none" strike="noStrike" kern="1200" cap="none" spc="0" normalizeH="0" baseline="0" noProof="0">
                <a:ln>
                  <a:noFill/>
                </a:ln>
                <a:solidFill>
                  <a:srgbClr val="173042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基础档案检索</a:t>
            </a:r>
            <a:endParaRPr kumimoji="0" sz="619" b="0" i="0" u="none" strike="noStrike" kern="1200" cap="none" spc="0" normalizeH="0" baseline="0" noProof="0">
              <a:ln>
                <a:noFill/>
              </a:ln>
              <a:solidFill>
                <a:srgbClr val="173042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9" name="module-5-function-2">
            <a:extLst>
              <a:ext uri="{FF2B5EF4-FFF2-40B4-BE49-F238E27FC236}">
                <a16:creationId xmlns:a16="http://schemas.microsoft.com/office/drawing/2014/main" id="{48BB5C0C-BA22-D133-25A0-70604ADD07C5}"/>
              </a:ext>
            </a:extLst>
          </p:cNvPr>
          <p:cNvSpPr>
            <a:spLocks noGrp="1"/>
          </p:cNvSpPr>
          <p:nvPr/>
        </p:nvSpPr>
        <p:spPr>
          <a:xfrm>
            <a:off x="1562774" y="3405101"/>
            <a:ext cx="814388" cy="22145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C3D8E4"/>
            </a:solidFill>
            <a:prstDash val="solid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320" name="module-5-function-text-2">
            <a:extLst>
              <a:ext uri="{FF2B5EF4-FFF2-40B4-BE49-F238E27FC236}">
                <a16:creationId xmlns:a16="http://schemas.microsoft.com/office/drawing/2014/main" id="{0BE1BD0B-38BC-AD40-AC1C-0374F7519EDE}"/>
              </a:ext>
            </a:extLst>
          </p:cNvPr>
          <p:cNvSpPr>
            <a:spLocks noGrp="1"/>
          </p:cNvSpPr>
          <p:nvPr/>
        </p:nvSpPr>
        <p:spPr>
          <a:xfrm>
            <a:off x="1577062" y="3412245"/>
            <a:ext cx="785813" cy="207169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none" lIns="7144" tIns="0" rIns="7144" bIns="0" anchor="ctr">
            <a:no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5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lang="zh-CN" altLang="en-US" sz="619" b="0" i="0" u="none" strike="noStrike" kern="1200" cap="none" spc="0" normalizeH="0" baseline="0" noProof="0">
                <a:ln>
                  <a:noFill/>
                </a:ln>
                <a:solidFill>
                  <a:srgbClr val="173042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检索结果展示与预览</a:t>
            </a:r>
            <a:endParaRPr kumimoji="0" sz="619" b="0" i="0" u="none" strike="noStrike" kern="1200" cap="none" spc="0" normalizeH="0" baseline="0" noProof="0">
              <a:ln>
                <a:noFill/>
              </a:ln>
              <a:solidFill>
                <a:srgbClr val="173042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1" name="module-5-function-3">
            <a:extLst>
              <a:ext uri="{FF2B5EF4-FFF2-40B4-BE49-F238E27FC236}">
                <a16:creationId xmlns:a16="http://schemas.microsoft.com/office/drawing/2014/main" id="{827CA46D-00DE-7D92-2423-2E8AF1383778}"/>
              </a:ext>
            </a:extLst>
          </p:cNvPr>
          <p:cNvSpPr>
            <a:spLocks noGrp="1"/>
          </p:cNvSpPr>
          <p:nvPr/>
        </p:nvSpPr>
        <p:spPr>
          <a:xfrm>
            <a:off x="705076" y="3653212"/>
            <a:ext cx="814388" cy="221456"/>
          </a:xfrm>
          <a:prstGeom prst="rect">
            <a:avLst/>
          </a:prstGeom>
          <a:solidFill>
            <a:srgbClr val="FFFFFF"/>
          </a:solidFill>
          <a:ln w="9525">
            <a:solidFill>
              <a:srgbClr val="C3D8E4"/>
            </a:solidFill>
            <a:prstDash val="solid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322" name="module-5-function-text-3">
            <a:extLst>
              <a:ext uri="{FF2B5EF4-FFF2-40B4-BE49-F238E27FC236}">
                <a16:creationId xmlns:a16="http://schemas.microsoft.com/office/drawing/2014/main" id="{9E25B473-D4DF-71E1-295B-EFAA0B30F955}"/>
              </a:ext>
            </a:extLst>
          </p:cNvPr>
          <p:cNvSpPr>
            <a:spLocks noGrp="1"/>
          </p:cNvSpPr>
          <p:nvPr/>
        </p:nvSpPr>
        <p:spPr>
          <a:xfrm>
            <a:off x="719364" y="3660356"/>
            <a:ext cx="785813" cy="207169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none" lIns="7144" tIns="0" rIns="7144" bIns="0" anchor="ctr">
            <a:no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5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lang="zh-CN" altLang="en-US" sz="619" b="0" i="0" u="none" strike="noStrike" kern="1200" cap="none" spc="0" normalizeH="0" baseline="0" noProof="0">
                <a:ln>
                  <a:noFill/>
                </a:ln>
                <a:solidFill>
                  <a:srgbClr val="173042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个性化页面与视图管理</a:t>
            </a:r>
            <a:endParaRPr kumimoji="0" sz="619" b="0" i="0" u="none" strike="noStrike" kern="1200" cap="none" spc="0" normalizeH="0" baseline="0" noProof="0">
              <a:ln>
                <a:noFill/>
              </a:ln>
              <a:solidFill>
                <a:srgbClr val="173042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3" name="module-5-function-4">
            <a:extLst>
              <a:ext uri="{FF2B5EF4-FFF2-40B4-BE49-F238E27FC236}">
                <a16:creationId xmlns:a16="http://schemas.microsoft.com/office/drawing/2014/main" id="{E21E26B4-B049-CA70-F016-3BC1CD8DD29E}"/>
              </a:ext>
            </a:extLst>
          </p:cNvPr>
          <p:cNvSpPr>
            <a:spLocks noGrp="1"/>
          </p:cNvSpPr>
          <p:nvPr/>
        </p:nvSpPr>
        <p:spPr>
          <a:xfrm>
            <a:off x="3276525" y="3405101"/>
            <a:ext cx="814388" cy="221456"/>
          </a:xfrm>
          <a:prstGeom prst="rect">
            <a:avLst/>
          </a:prstGeom>
          <a:solidFill>
            <a:srgbClr val="FFFFFF"/>
          </a:solidFill>
          <a:ln w="9525">
            <a:solidFill>
              <a:srgbClr val="C3D8E4"/>
            </a:solidFill>
            <a:prstDash val="solid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324" name="module-5-function-text-4">
            <a:extLst>
              <a:ext uri="{FF2B5EF4-FFF2-40B4-BE49-F238E27FC236}">
                <a16:creationId xmlns:a16="http://schemas.microsoft.com/office/drawing/2014/main" id="{BADCB7B2-AF32-4B51-5726-24B9C2B3B2FA}"/>
              </a:ext>
            </a:extLst>
          </p:cNvPr>
          <p:cNvSpPr>
            <a:spLocks noGrp="1"/>
          </p:cNvSpPr>
          <p:nvPr/>
        </p:nvSpPr>
        <p:spPr>
          <a:xfrm>
            <a:off x="3290813" y="3412245"/>
            <a:ext cx="785813" cy="207169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none" lIns="7144" tIns="0" rIns="7144" bIns="0" anchor="ctr">
            <a:no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5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lang="zh-CN" altLang="en-US" sz="619" b="0" i="0" u="none" strike="noStrike" kern="1200" cap="none" spc="0" normalizeH="0" baseline="0" noProof="0">
                <a:ln>
                  <a:noFill/>
                </a:ln>
                <a:solidFill>
                  <a:srgbClr val="173042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高级检索与筛选</a:t>
            </a:r>
            <a:endParaRPr kumimoji="0" sz="619" b="0" i="0" u="none" strike="noStrike" kern="1200" cap="none" spc="0" normalizeH="0" baseline="0" noProof="0">
              <a:ln>
                <a:noFill/>
              </a:ln>
              <a:solidFill>
                <a:srgbClr val="173042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5" name="module-5-function-5">
            <a:extLst>
              <a:ext uri="{FF2B5EF4-FFF2-40B4-BE49-F238E27FC236}">
                <a16:creationId xmlns:a16="http://schemas.microsoft.com/office/drawing/2014/main" id="{DB8DCE0A-78CC-7149-F429-A3438C043892}"/>
              </a:ext>
            </a:extLst>
          </p:cNvPr>
          <p:cNvSpPr>
            <a:spLocks noGrp="1"/>
          </p:cNvSpPr>
          <p:nvPr/>
        </p:nvSpPr>
        <p:spPr>
          <a:xfrm>
            <a:off x="2416018" y="3405101"/>
            <a:ext cx="814388" cy="22145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C3D8E4"/>
            </a:solidFill>
            <a:prstDash val="solid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326" name="module-5-function-text-5">
            <a:extLst>
              <a:ext uri="{FF2B5EF4-FFF2-40B4-BE49-F238E27FC236}">
                <a16:creationId xmlns:a16="http://schemas.microsoft.com/office/drawing/2014/main" id="{2B8579D6-035F-A3C6-63B5-67E86527C6A2}"/>
              </a:ext>
            </a:extLst>
          </p:cNvPr>
          <p:cNvSpPr>
            <a:spLocks noGrp="1"/>
          </p:cNvSpPr>
          <p:nvPr/>
        </p:nvSpPr>
        <p:spPr>
          <a:xfrm>
            <a:off x="2430306" y="3412245"/>
            <a:ext cx="785813" cy="207169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none" lIns="7144" tIns="0" rIns="7144" bIns="0" anchor="ctr">
            <a:no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5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lang="zh-CN" altLang="en-US" sz="619" b="0" i="0" u="none" strike="noStrike" kern="1200" cap="none" spc="0" normalizeH="0" baseline="0" noProof="0">
                <a:ln>
                  <a:noFill/>
                </a:ln>
                <a:solidFill>
                  <a:srgbClr val="173042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检索结果导出</a:t>
            </a:r>
            <a:endParaRPr kumimoji="0" sz="619" b="0" i="0" u="none" strike="noStrike" kern="1200" cap="none" spc="0" normalizeH="0" baseline="0" noProof="0">
              <a:ln>
                <a:noFill/>
              </a:ln>
              <a:solidFill>
                <a:srgbClr val="173042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7" name="module-6-frame">
            <a:extLst>
              <a:ext uri="{FF2B5EF4-FFF2-40B4-BE49-F238E27FC236}">
                <a16:creationId xmlns:a16="http://schemas.microsoft.com/office/drawing/2014/main" id="{93EEE983-CBBB-FF34-B1BF-B08DE540E0AA}"/>
              </a:ext>
            </a:extLst>
          </p:cNvPr>
          <p:cNvSpPr>
            <a:spLocks noGrp="1"/>
          </p:cNvSpPr>
          <p:nvPr/>
        </p:nvSpPr>
        <p:spPr>
          <a:xfrm>
            <a:off x="4189810" y="3128974"/>
            <a:ext cx="2671763" cy="1071563"/>
          </a:xfrm>
          <a:prstGeom prst="rect">
            <a:avLst/>
          </a:prstGeom>
          <a:solidFill>
            <a:srgbClr val="DCECF5"/>
          </a:solidFill>
          <a:ln w="0">
            <a:noFill/>
            <a:prstDash val="solid"/>
          </a:ln>
          <a:effectLst/>
        </p:spPr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328" name="module-6-title">
            <a:extLst>
              <a:ext uri="{FF2B5EF4-FFF2-40B4-BE49-F238E27FC236}">
                <a16:creationId xmlns:a16="http://schemas.microsoft.com/office/drawing/2014/main" id="{A1B9B015-BB18-EE7F-A791-EA2383F95B52}"/>
              </a:ext>
            </a:extLst>
          </p:cNvPr>
          <p:cNvSpPr>
            <a:spLocks noGrp="1"/>
          </p:cNvSpPr>
          <p:nvPr/>
        </p:nvSpPr>
        <p:spPr>
          <a:xfrm>
            <a:off x="4239816" y="3150379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14288" tIns="0" rIns="14288" bIns="0" anchor="ctr">
            <a:norm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956" b="1" i="0" u="none" strike="noStrike" kern="1200" cap="none" spc="0" normalizeH="0" baseline="0" noProof="0">
                <a:ln>
                  <a:noFill/>
                </a:ln>
                <a:solidFill>
                  <a:srgbClr val="123B5D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06  合规管控、审计追踪与合规报表</a:t>
            </a:r>
          </a:p>
        </p:txBody>
      </p:sp>
      <p:sp>
        <p:nvSpPr>
          <p:cNvPr id="329" name="module-6-function-1">
            <a:extLst>
              <a:ext uri="{FF2B5EF4-FFF2-40B4-BE49-F238E27FC236}">
                <a16:creationId xmlns:a16="http://schemas.microsoft.com/office/drawing/2014/main" id="{E46706EF-813A-BE4B-2F87-B2DD4D4AD8C0}"/>
              </a:ext>
            </a:extLst>
          </p:cNvPr>
          <p:cNvSpPr>
            <a:spLocks noGrp="1"/>
          </p:cNvSpPr>
          <p:nvPr/>
        </p:nvSpPr>
        <p:spPr>
          <a:xfrm>
            <a:off x="4254104" y="3408673"/>
            <a:ext cx="814388" cy="2143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C3D8E4"/>
            </a:solidFill>
            <a:prstDash val="solid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330" name="module-6-function-text-1">
            <a:extLst>
              <a:ext uri="{FF2B5EF4-FFF2-40B4-BE49-F238E27FC236}">
                <a16:creationId xmlns:a16="http://schemas.microsoft.com/office/drawing/2014/main" id="{4A0A9DE2-D36D-CF67-52E6-5F5347588F2F}"/>
              </a:ext>
            </a:extLst>
          </p:cNvPr>
          <p:cNvSpPr>
            <a:spLocks noGrp="1"/>
          </p:cNvSpPr>
          <p:nvPr/>
        </p:nvSpPr>
        <p:spPr>
          <a:xfrm>
            <a:off x="4268392" y="3415817"/>
            <a:ext cx="785813" cy="20002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none" lIns="7144" tIns="0" rIns="7144" bIns="0" anchor="ctr">
            <a:no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5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lang="zh-CN" altLang="en-US" sz="619" b="0" i="0" u="none" strike="noStrike" kern="1200" cap="none" spc="0" normalizeH="0" baseline="0" noProof="0">
                <a:ln>
                  <a:noFill/>
                </a:ln>
                <a:solidFill>
                  <a:srgbClr val="173042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用户操作审计追踪</a:t>
            </a:r>
            <a:endParaRPr kumimoji="0" sz="619" b="0" i="0" u="none" strike="noStrike" kern="1200" cap="none" spc="0" normalizeH="0" baseline="0" noProof="0">
              <a:ln>
                <a:noFill/>
              </a:ln>
              <a:solidFill>
                <a:srgbClr val="173042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31" name="module-6-function-2">
            <a:extLst>
              <a:ext uri="{FF2B5EF4-FFF2-40B4-BE49-F238E27FC236}">
                <a16:creationId xmlns:a16="http://schemas.microsoft.com/office/drawing/2014/main" id="{FE25F091-0378-7167-1F13-1542368C4B43}"/>
              </a:ext>
            </a:extLst>
          </p:cNvPr>
          <p:cNvSpPr>
            <a:spLocks noGrp="1"/>
          </p:cNvSpPr>
          <p:nvPr/>
        </p:nvSpPr>
        <p:spPr>
          <a:xfrm>
            <a:off x="5116414" y="3408673"/>
            <a:ext cx="814388" cy="214313"/>
          </a:xfrm>
          <a:prstGeom prst="rect">
            <a:avLst/>
          </a:prstGeom>
          <a:solidFill>
            <a:schemeClr val="bg1"/>
          </a:solidFill>
          <a:ln w="9525">
            <a:solidFill>
              <a:srgbClr val="C3D8E4"/>
            </a:solidFill>
            <a:prstDash val="solid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332" name="module-6-function-text-2">
            <a:extLst>
              <a:ext uri="{FF2B5EF4-FFF2-40B4-BE49-F238E27FC236}">
                <a16:creationId xmlns:a16="http://schemas.microsoft.com/office/drawing/2014/main" id="{8F7BB500-80F4-CAFE-CD1D-C8F8C87AACD9}"/>
              </a:ext>
            </a:extLst>
          </p:cNvPr>
          <p:cNvSpPr>
            <a:spLocks noGrp="1"/>
          </p:cNvSpPr>
          <p:nvPr/>
        </p:nvSpPr>
        <p:spPr>
          <a:xfrm>
            <a:off x="5130702" y="3415817"/>
            <a:ext cx="785813" cy="20002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none" lIns="7144" tIns="0" rIns="7144" bIns="0" anchor="ctr">
            <a:no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5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lang="zh-CN" altLang="en-US" sz="619" b="0" i="0" u="none" strike="noStrike" kern="1200" cap="none" spc="0" normalizeH="0" baseline="0" noProof="0">
                <a:ln>
                  <a:noFill/>
                </a:ln>
                <a:solidFill>
                  <a:srgbClr val="173042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归档统计与基础报表</a:t>
            </a:r>
            <a:endParaRPr kumimoji="0" sz="619" b="0" i="0" u="none" strike="noStrike" kern="1200" cap="none" spc="0" normalizeH="0" baseline="0" noProof="0">
              <a:ln>
                <a:noFill/>
              </a:ln>
              <a:solidFill>
                <a:srgbClr val="173042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33" name="module-6-function-3">
            <a:extLst>
              <a:ext uri="{FF2B5EF4-FFF2-40B4-BE49-F238E27FC236}">
                <a16:creationId xmlns:a16="http://schemas.microsoft.com/office/drawing/2014/main" id="{00855D40-3860-757D-5DCB-74689E46DEF5}"/>
              </a:ext>
            </a:extLst>
          </p:cNvPr>
          <p:cNvSpPr>
            <a:spLocks noGrp="1"/>
          </p:cNvSpPr>
          <p:nvPr/>
        </p:nvSpPr>
        <p:spPr>
          <a:xfrm>
            <a:off x="5985868" y="3408673"/>
            <a:ext cx="814388" cy="214313"/>
          </a:xfrm>
          <a:prstGeom prst="rect">
            <a:avLst/>
          </a:prstGeom>
          <a:solidFill>
            <a:srgbClr val="FFFFFF"/>
          </a:solidFill>
          <a:ln w="9525">
            <a:solidFill>
              <a:srgbClr val="C3D8E4"/>
            </a:solidFill>
            <a:prstDash val="solid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334" name="module-6-function-text-3">
            <a:extLst>
              <a:ext uri="{FF2B5EF4-FFF2-40B4-BE49-F238E27FC236}">
                <a16:creationId xmlns:a16="http://schemas.microsoft.com/office/drawing/2014/main" id="{F28E2EDC-E0E6-7E1A-860C-510E111CCE44}"/>
              </a:ext>
            </a:extLst>
          </p:cNvPr>
          <p:cNvSpPr>
            <a:spLocks noGrp="1"/>
          </p:cNvSpPr>
          <p:nvPr/>
        </p:nvSpPr>
        <p:spPr>
          <a:xfrm>
            <a:off x="6000156" y="3415817"/>
            <a:ext cx="785813" cy="20002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none" lIns="7144" tIns="0" rIns="7144" bIns="0" anchor="ctr">
            <a:no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5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lang="zh-CN" altLang="en-US" sz="619" b="0" i="0" u="none" strike="noStrike" kern="1200" cap="none" spc="0" normalizeH="0" baseline="0" noProof="0">
                <a:ln>
                  <a:noFill/>
                </a:ln>
                <a:solidFill>
                  <a:srgbClr val="173042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合规操作审计与复核</a:t>
            </a:r>
            <a:endParaRPr kumimoji="0" sz="619" b="0" i="0" u="none" strike="noStrike" kern="1200" cap="none" spc="0" normalizeH="0" baseline="0" noProof="0">
              <a:ln>
                <a:noFill/>
              </a:ln>
              <a:solidFill>
                <a:srgbClr val="173042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39" name="module-6-function-6">
            <a:extLst>
              <a:ext uri="{FF2B5EF4-FFF2-40B4-BE49-F238E27FC236}">
                <a16:creationId xmlns:a16="http://schemas.microsoft.com/office/drawing/2014/main" id="{92BC5F2D-019A-3802-6D23-9D84100D0B00}"/>
              </a:ext>
            </a:extLst>
          </p:cNvPr>
          <p:cNvSpPr>
            <a:spLocks noGrp="1"/>
          </p:cNvSpPr>
          <p:nvPr/>
        </p:nvSpPr>
        <p:spPr>
          <a:xfrm>
            <a:off x="5985868" y="3656784"/>
            <a:ext cx="814388" cy="214313"/>
          </a:xfrm>
          <a:prstGeom prst="rect">
            <a:avLst/>
          </a:prstGeom>
          <a:solidFill>
            <a:schemeClr val="bg2"/>
          </a:solidFill>
          <a:ln w="9525">
            <a:solidFill>
              <a:srgbClr val="C3D8E4"/>
            </a:solidFill>
            <a:prstDash val="solid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340" name="module-6-function-text-6">
            <a:extLst>
              <a:ext uri="{FF2B5EF4-FFF2-40B4-BE49-F238E27FC236}">
                <a16:creationId xmlns:a16="http://schemas.microsoft.com/office/drawing/2014/main" id="{257BF5AF-F21E-E464-87FD-80B4748C659C}"/>
              </a:ext>
            </a:extLst>
          </p:cNvPr>
          <p:cNvSpPr>
            <a:spLocks noGrp="1"/>
          </p:cNvSpPr>
          <p:nvPr/>
        </p:nvSpPr>
        <p:spPr>
          <a:xfrm>
            <a:off x="6000156" y="3663928"/>
            <a:ext cx="785813" cy="20002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none" lIns="7144" tIns="0" rIns="7144" bIns="0" anchor="ctr">
            <a:no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5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lang="zh-CN" altLang="en-US" sz="619" b="0" i="0" u="none" strike="noStrike" kern="1200" cap="none" spc="0" normalizeH="0" baseline="0" noProof="0">
                <a:ln>
                  <a:noFill/>
                </a:ln>
                <a:solidFill>
                  <a:srgbClr val="173042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智能合规风险</a:t>
            </a:r>
            <a:endParaRPr kumimoji="0" lang="en-US" altLang="zh-CN" sz="619" b="0" i="0" u="none" strike="noStrike" kern="1200" cap="none" spc="0" normalizeH="0" baseline="0" noProof="0">
              <a:ln>
                <a:noFill/>
              </a:ln>
              <a:solidFill>
                <a:srgbClr val="173042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5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lang="zh-CN" altLang="en-US" sz="619" b="0" i="0" u="none" strike="noStrike" kern="1200" cap="none" spc="0" normalizeH="0" baseline="0" noProof="0">
                <a:ln>
                  <a:noFill/>
                </a:ln>
                <a:solidFill>
                  <a:srgbClr val="173042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识别与提醒</a:t>
            </a:r>
            <a:endParaRPr kumimoji="0" sz="619" b="0" i="0" u="none" strike="noStrike" kern="1200" cap="none" spc="0" normalizeH="0" baseline="0" noProof="0">
              <a:ln>
                <a:noFill/>
              </a:ln>
              <a:solidFill>
                <a:srgbClr val="173042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1" name="module-6-function-7">
            <a:extLst>
              <a:ext uri="{FF2B5EF4-FFF2-40B4-BE49-F238E27FC236}">
                <a16:creationId xmlns:a16="http://schemas.microsoft.com/office/drawing/2014/main" id="{74D8845D-6517-94C6-ED57-9F47C91732A6}"/>
              </a:ext>
            </a:extLst>
          </p:cNvPr>
          <p:cNvSpPr>
            <a:spLocks noGrp="1"/>
          </p:cNvSpPr>
          <p:nvPr/>
        </p:nvSpPr>
        <p:spPr>
          <a:xfrm>
            <a:off x="4254104" y="3656784"/>
            <a:ext cx="814388" cy="214313"/>
          </a:xfrm>
          <a:prstGeom prst="rect">
            <a:avLst/>
          </a:prstGeom>
          <a:solidFill>
            <a:schemeClr val="bg2"/>
          </a:solidFill>
          <a:ln w="9525">
            <a:solidFill>
              <a:srgbClr val="C3D8E4"/>
            </a:solidFill>
            <a:prstDash val="solid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342" name="module-6-function-text-7">
            <a:extLst>
              <a:ext uri="{FF2B5EF4-FFF2-40B4-BE49-F238E27FC236}">
                <a16:creationId xmlns:a16="http://schemas.microsoft.com/office/drawing/2014/main" id="{287FB3CE-FA25-40BB-C055-A58BA84AB65D}"/>
              </a:ext>
            </a:extLst>
          </p:cNvPr>
          <p:cNvSpPr>
            <a:spLocks noGrp="1"/>
          </p:cNvSpPr>
          <p:nvPr/>
        </p:nvSpPr>
        <p:spPr>
          <a:xfrm>
            <a:off x="4268392" y="3663928"/>
            <a:ext cx="785813" cy="20002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none" lIns="7144" tIns="0" rIns="7144" bIns="0" anchor="ctr">
            <a:no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5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lang="zh-CN" altLang="en-US" sz="619" b="0" i="0" u="none" strike="noStrike" kern="1200" cap="none" spc="0" normalizeH="0" baseline="0" noProof="0">
                <a:ln>
                  <a:noFill/>
                </a:ln>
                <a:solidFill>
                  <a:srgbClr val="173042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智能报表与分析生成</a:t>
            </a:r>
            <a:endParaRPr kumimoji="0" sz="619" b="0" i="0" u="none" strike="noStrike" kern="1200" cap="none" spc="0" normalizeH="0" baseline="0" noProof="0">
              <a:ln>
                <a:noFill/>
              </a:ln>
              <a:solidFill>
                <a:srgbClr val="173042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3" name="module-6-function-8">
            <a:extLst>
              <a:ext uri="{FF2B5EF4-FFF2-40B4-BE49-F238E27FC236}">
                <a16:creationId xmlns:a16="http://schemas.microsoft.com/office/drawing/2014/main" id="{47A20D8F-4F5F-DB2B-091F-41FA760B34F4}"/>
              </a:ext>
            </a:extLst>
          </p:cNvPr>
          <p:cNvSpPr>
            <a:spLocks noGrp="1"/>
          </p:cNvSpPr>
          <p:nvPr/>
        </p:nvSpPr>
        <p:spPr>
          <a:xfrm>
            <a:off x="4254104" y="3901878"/>
            <a:ext cx="814388" cy="214313"/>
          </a:xfrm>
          <a:prstGeom prst="rect">
            <a:avLst/>
          </a:prstGeom>
          <a:solidFill>
            <a:schemeClr val="bg2"/>
          </a:solidFill>
          <a:ln w="9525">
            <a:solidFill>
              <a:srgbClr val="C3D8E4"/>
            </a:solidFill>
            <a:prstDash val="solid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344" name="module-6-function-text-8">
            <a:extLst>
              <a:ext uri="{FF2B5EF4-FFF2-40B4-BE49-F238E27FC236}">
                <a16:creationId xmlns:a16="http://schemas.microsoft.com/office/drawing/2014/main" id="{7449FEE4-EBB3-EFD5-FC6A-CC905B02F67C}"/>
              </a:ext>
            </a:extLst>
          </p:cNvPr>
          <p:cNvSpPr>
            <a:spLocks noGrp="1"/>
          </p:cNvSpPr>
          <p:nvPr/>
        </p:nvSpPr>
        <p:spPr>
          <a:xfrm>
            <a:off x="4268392" y="3909022"/>
            <a:ext cx="785813" cy="20002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none" lIns="7144" tIns="0" rIns="7144" bIns="0" anchor="ctr">
            <a:no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5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lang="zh-CN" altLang="en-US" sz="619" b="0" i="0" u="none" strike="noStrike" kern="1200" cap="none" spc="0" normalizeH="0" baseline="0" noProof="0">
                <a:ln>
                  <a:noFill/>
                </a:ln>
                <a:solidFill>
                  <a:srgbClr val="173042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报告自动生成与分发</a:t>
            </a:r>
            <a:endParaRPr kumimoji="0" sz="619" b="0" i="0" u="none" strike="noStrike" kern="1200" cap="none" spc="0" normalizeH="0" baseline="0" noProof="0">
              <a:ln>
                <a:noFill/>
              </a:ln>
              <a:solidFill>
                <a:srgbClr val="173042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7" name="module-7-frame">
            <a:extLst>
              <a:ext uri="{FF2B5EF4-FFF2-40B4-BE49-F238E27FC236}">
                <a16:creationId xmlns:a16="http://schemas.microsoft.com/office/drawing/2014/main" id="{E4E142FC-D752-967F-8851-09C14DF74804}"/>
              </a:ext>
            </a:extLst>
          </p:cNvPr>
          <p:cNvSpPr>
            <a:spLocks noGrp="1"/>
          </p:cNvSpPr>
          <p:nvPr/>
        </p:nvSpPr>
        <p:spPr>
          <a:xfrm>
            <a:off x="6925867" y="3326185"/>
            <a:ext cx="1918097" cy="867966"/>
          </a:xfrm>
          <a:prstGeom prst="rect">
            <a:avLst/>
          </a:prstGeom>
          <a:solidFill>
            <a:srgbClr val="DCECF5"/>
          </a:solidFill>
          <a:ln w="0">
            <a:noFill/>
            <a:prstDash val="solid"/>
          </a:ln>
          <a:effectLst/>
        </p:spPr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348" name="module-7-title">
            <a:extLst>
              <a:ext uri="{FF2B5EF4-FFF2-40B4-BE49-F238E27FC236}">
                <a16:creationId xmlns:a16="http://schemas.microsoft.com/office/drawing/2014/main" id="{29B61AE2-0109-8A14-17F0-698015B7EB4E}"/>
              </a:ext>
            </a:extLst>
          </p:cNvPr>
          <p:cNvSpPr>
            <a:spLocks noGrp="1"/>
          </p:cNvSpPr>
          <p:nvPr/>
        </p:nvSpPr>
        <p:spPr>
          <a:xfrm>
            <a:off x="6952061" y="3378058"/>
            <a:ext cx="1897856" cy="2286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14288" tIns="0" rIns="14288" bIns="0" anchor="ctr">
            <a:no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960" b="1" i="0" u="none" strike="noStrike" kern="1200" cap="none" spc="0" normalizeH="0" baseline="0" noProof="0">
                <a:ln>
                  <a:noFill/>
                </a:ln>
                <a:solidFill>
                  <a:srgbClr val="123B5D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07  </a:t>
            </a:r>
            <a:r>
              <a:rPr kumimoji="0" sz="960" b="1" i="0" u="none" strike="noStrike" kern="1200" cap="none" spc="0" normalizeH="0" baseline="0" noProof="0" err="1">
                <a:ln>
                  <a:noFill/>
                </a:ln>
                <a:solidFill>
                  <a:srgbClr val="123B5D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多源系统集成与标准化连接器</a:t>
            </a:r>
            <a:endParaRPr kumimoji="0" sz="960" b="1" i="0" u="none" strike="noStrike" kern="1200" cap="none" spc="0" normalizeH="0" baseline="0" noProof="0">
              <a:ln>
                <a:noFill/>
              </a:ln>
              <a:solidFill>
                <a:srgbClr val="123B5D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9" name="module-7-function-1">
            <a:extLst>
              <a:ext uri="{FF2B5EF4-FFF2-40B4-BE49-F238E27FC236}">
                <a16:creationId xmlns:a16="http://schemas.microsoft.com/office/drawing/2014/main" id="{FAA41C1D-7C13-B0DC-75FB-557FB2235544}"/>
              </a:ext>
            </a:extLst>
          </p:cNvPr>
          <p:cNvSpPr>
            <a:spLocks noGrp="1"/>
          </p:cNvSpPr>
          <p:nvPr/>
        </p:nvSpPr>
        <p:spPr>
          <a:xfrm>
            <a:off x="7063610" y="3661183"/>
            <a:ext cx="814388" cy="2143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C3D8E4"/>
            </a:solidFill>
            <a:prstDash val="solid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350" name="module-7-function-text-1">
            <a:extLst>
              <a:ext uri="{FF2B5EF4-FFF2-40B4-BE49-F238E27FC236}">
                <a16:creationId xmlns:a16="http://schemas.microsoft.com/office/drawing/2014/main" id="{22FAC86E-A199-B520-259D-E5CF0847C381}"/>
              </a:ext>
            </a:extLst>
          </p:cNvPr>
          <p:cNvSpPr>
            <a:spLocks noGrp="1"/>
          </p:cNvSpPr>
          <p:nvPr/>
        </p:nvSpPr>
        <p:spPr>
          <a:xfrm>
            <a:off x="7077898" y="3668327"/>
            <a:ext cx="785813" cy="20002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none" lIns="7144" tIns="0" rIns="7144" bIns="0" anchor="ctr">
            <a:no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5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lang="zh-CN" altLang="en-US" sz="619" b="0" i="0" u="none" strike="noStrike" kern="1200" cap="none" spc="0" normalizeH="0" baseline="0" noProof="0">
                <a:ln>
                  <a:noFill/>
                </a:ln>
                <a:solidFill>
                  <a:srgbClr val="173042"/>
                </a:solidFill>
                <a:effectLst/>
                <a:uLnTx/>
                <a:uFillTx/>
                <a:latin typeface="Microsoft YaHei"/>
                <a:ea typeface="Microsoft YaHei"/>
              </a:rPr>
              <a:t>多源数据连接管理</a:t>
            </a:r>
          </a:p>
        </p:txBody>
      </p:sp>
      <p:sp>
        <p:nvSpPr>
          <p:cNvPr id="351" name="module-7-function-2">
            <a:extLst>
              <a:ext uri="{FF2B5EF4-FFF2-40B4-BE49-F238E27FC236}">
                <a16:creationId xmlns:a16="http://schemas.microsoft.com/office/drawing/2014/main" id="{7A1C1A0F-F34C-5997-2212-8662F8FA3BD4}"/>
              </a:ext>
            </a:extLst>
          </p:cNvPr>
          <p:cNvSpPr>
            <a:spLocks noGrp="1"/>
          </p:cNvSpPr>
          <p:nvPr/>
        </p:nvSpPr>
        <p:spPr>
          <a:xfrm>
            <a:off x="7932747" y="3661183"/>
            <a:ext cx="814388" cy="2143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C3D8E4"/>
            </a:solidFill>
            <a:prstDash val="solid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352" name="module-7-function-text-2">
            <a:extLst>
              <a:ext uri="{FF2B5EF4-FFF2-40B4-BE49-F238E27FC236}">
                <a16:creationId xmlns:a16="http://schemas.microsoft.com/office/drawing/2014/main" id="{1F810C38-C40A-76F0-D204-4D1E8B4CA123}"/>
              </a:ext>
            </a:extLst>
          </p:cNvPr>
          <p:cNvSpPr>
            <a:spLocks noGrp="1"/>
          </p:cNvSpPr>
          <p:nvPr/>
        </p:nvSpPr>
        <p:spPr>
          <a:xfrm>
            <a:off x="7947035" y="3668327"/>
            <a:ext cx="785813" cy="20002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none" lIns="7144" tIns="0" rIns="7144" bIns="0" anchor="ctr">
            <a:no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5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lang="zh-CN" altLang="en-US" sz="619" b="0" i="0" u="none" strike="noStrike" kern="1200" cap="none" spc="0" normalizeH="0" baseline="0" noProof="0">
                <a:ln>
                  <a:noFill/>
                </a:ln>
                <a:solidFill>
                  <a:srgbClr val="173042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集成标准与接口管理</a:t>
            </a:r>
            <a:endParaRPr kumimoji="0" sz="619" b="0" i="0" u="none" strike="noStrike" kern="1200" cap="none" spc="0" normalizeH="0" baseline="0" noProof="0">
              <a:ln>
                <a:noFill/>
              </a:ln>
              <a:solidFill>
                <a:srgbClr val="173042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53" name="module-7-function-3">
            <a:extLst>
              <a:ext uri="{FF2B5EF4-FFF2-40B4-BE49-F238E27FC236}">
                <a16:creationId xmlns:a16="http://schemas.microsoft.com/office/drawing/2014/main" id="{51626BC8-3CC6-119D-1B01-48C89A156456}"/>
              </a:ext>
            </a:extLst>
          </p:cNvPr>
          <p:cNvSpPr>
            <a:spLocks noGrp="1"/>
          </p:cNvSpPr>
          <p:nvPr/>
        </p:nvSpPr>
        <p:spPr>
          <a:xfrm>
            <a:off x="7063610" y="3924480"/>
            <a:ext cx="814388" cy="2143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C3D8E4"/>
            </a:solidFill>
            <a:prstDash val="solid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354" name="module-7-function-text-3">
            <a:extLst>
              <a:ext uri="{FF2B5EF4-FFF2-40B4-BE49-F238E27FC236}">
                <a16:creationId xmlns:a16="http://schemas.microsoft.com/office/drawing/2014/main" id="{BED123A8-D1F2-1A78-EEB2-AF4BDF4652C6}"/>
              </a:ext>
            </a:extLst>
          </p:cNvPr>
          <p:cNvSpPr>
            <a:spLocks noGrp="1"/>
          </p:cNvSpPr>
          <p:nvPr/>
        </p:nvSpPr>
        <p:spPr>
          <a:xfrm>
            <a:off x="7077898" y="3931624"/>
            <a:ext cx="785813" cy="20002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none" lIns="7144" tIns="0" rIns="7144" bIns="0" anchor="ctr">
            <a:no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5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lang="zh-CN" altLang="en-US" sz="619" b="0" i="0" u="none" strike="noStrike" kern="1200" cap="none" spc="0" normalizeH="0" baseline="0" noProof="0">
                <a:ln>
                  <a:noFill/>
                </a:ln>
                <a:solidFill>
                  <a:srgbClr val="173042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连接器模板管理</a:t>
            </a:r>
            <a:endParaRPr kumimoji="0" sz="619" b="0" i="0" u="none" strike="noStrike" kern="1200" cap="none" spc="0" normalizeH="0" baseline="0" noProof="0">
              <a:ln>
                <a:noFill/>
              </a:ln>
              <a:solidFill>
                <a:srgbClr val="173042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55" name="module-7-function-4">
            <a:extLst>
              <a:ext uri="{FF2B5EF4-FFF2-40B4-BE49-F238E27FC236}">
                <a16:creationId xmlns:a16="http://schemas.microsoft.com/office/drawing/2014/main" id="{5DBC26DA-71A6-6DAD-DF85-91A0DDD44FF6}"/>
              </a:ext>
            </a:extLst>
          </p:cNvPr>
          <p:cNvSpPr>
            <a:spLocks noGrp="1"/>
          </p:cNvSpPr>
          <p:nvPr/>
        </p:nvSpPr>
        <p:spPr>
          <a:xfrm>
            <a:off x="7932747" y="3924480"/>
            <a:ext cx="814388" cy="2143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C3D8E4"/>
            </a:solidFill>
            <a:prstDash val="solid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356" name="module-7-function-text-4">
            <a:extLst>
              <a:ext uri="{FF2B5EF4-FFF2-40B4-BE49-F238E27FC236}">
                <a16:creationId xmlns:a16="http://schemas.microsoft.com/office/drawing/2014/main" id="{218A57D7-2B66-E0AA-3AEF-D1F8A87F2225}"/>
              </a:ext>
            </a:extLst>
          </p:cNvPr>
          <p:cNvSpPr>
            <a:spLocks noGrp="1"/>
          </p:cNvSpPr>
          <p:nvPr/>
        </p:nvSpPr>
        <p:spPr>
          <a:xfrm>
            <a:off x="7947035" y="3931624"/>
            <a:ext cx="785813" cy="20002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none" lIns="7144" tIns="0" rIns="7144" bIns="0" anchor="ctr">
            <a:no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5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lang="zh-CN" altLang="en-US" sz="619" b="0" i="0" u="none" strike="noStrike" kern="1200" cap="none" spc="0" normalizeH="0" baseline="0" noProof="0">
                <a:ln>
                  <a:noFill/>
                </a:ln>
                <a:solidFill>
                  <a:srgbClr val="173042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连接器运行</a:t>
            </a:r>
            <a:endParaRPr kumimoji="0" lang="en-US" altLang="zh-CN" sz="619" b="0" i="0" u="none" strike="noStrike" kern="1200" cap="none" spc="0" normalizeH="0" baseline="0" noProof="0">
              <a:ln>
                <a:noFill/>
              </a:ln>
              <a:solidFill>
                <a:srgbClr val="173042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5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lang="zh-CN" altLang="en-US" sz="619" b="0" i="0" u="none" strike="noStrike" kern="1200" cap="none" spc="0" normalizeH="0" baseline="0" noProof="0">
                <a:ln>
                  <a:noFill/>
                </a:ln>
                <a:solidFill>
                  <a:srgbClr val="173042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监控与审计</a:t>
            </a:r>
            <a:endParaRPr kumimoji="0" sz="619" b="0" i="0" u="none" strike="noStrike" kern="1200" cap="none" spc="0" normalizeH="0" baseline="0" noProof="0">
              <a:ln>
                <a:noFill/>
              </a:ln>
              <a:solidFill>
                <a:srgbClr val="173042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7" name="module-8-frame">
            <a:extLst>
              <a:ext uri="{FF2B5EF4-FFF2-40B4-BE49-F238E27FC236}">
                <a16:creationId xmlns:a16="http://schemas.microsoft.com/office/drawing/2014/main" id="{71A47321-5A04-5111-B1A4-12BAFC6FC7A3}"/>
              </a:ext>
            </a:extLst>
          </p:cNvPr>
          <p:cNvSpPr>
            <a:spLocks noGrp="1"/>
          </p:cNvSpPr>
          <p:nvPr/>
        </p:nvSpPr>
        <p:spPr>
          <a:xfrm>
            <a:off x="657226" y="4265587"/>
            <a:ext cx="8186738" cy="514350"/>
          </a:xfrm>
          <a:prstGeom prst="rect">
            <a:avLst/>
          </a:prstGeom>
          <a:solidFill>
            <a:srgbClr val="DCECF5"/>
          </a:solidFill>
          <a:ln w="0">
            <a:noFill/>
            <a:prstDash val="solid"/>
          </a:ln>
          <a:effectLst/>
        </p:spPr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368" name="module-8-title">
            <a:extLst>
              <a:ext uri="{FF2B5EF4-FFF2-40B4-BE49-F238E27FC236}">
                <a16:creationId xmlns:a16="http://schemas.microsoft.com/office/drawing/2014/main" id="{FC6606DB-12B8-9B93-0586-C3895785F5AB}"/>
              </a:ext>
            </a:extLst>
          </p:cNvPr>
          <p:cNvSpPr>
            <a:spLocks noGrp="1"/>
          </p:cNvSpPr>
          <p:nvPr/>
        </p:nvSpPr>
        <p:spPr>
          <a:xfrm>
            <a:off x="707231" y="4279876"/>
            <a:ext cx="8086725" cy="192881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14288" tIns="0" rIns="14288" bIns="0" anchor="ctr">
            <a:norm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956" b="1" i="0" u="none" strike="noStrike" kern="1200" cap="none" spc="0" normalizeH="0" baseline="0" noProof="0">
                <a:ln>
                  <a:noFill/>
                </a:ln>
                <a:solidFill>
                  <a:srgbClr val="123B5D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08  系统全局治理、运维与监控</a:t>
            </a:r>
          </a:p>
        </p:txBody>
      </p:sp>
      <p:sp>
        <p:nvSpPr>
          <p:cNvPr id="369" name="module-8-function-1">
            <a:extLst>
              <a:ext uri="{FF2B5EF4-FFF2-40B4-BE49-F238E27FC236}">
                <a16:creationId xmlns:a16="http://schemas.microsoft.com/office/drawing/2014/main" id="{8A336839-9DEE-BFB3-31CB-AF7D26518A02}"/>
              </a:ext>
            </a:extLst>
          </p:cNvPr>
          <p:cNvSpPr>
            <a:spLocks noGrp="1"/>
          </p:cNvSpPr>
          <p:nvPr/>
        </p:nvSpPr>
        <p:spPr>
          <a:xfrm>
            <a:off x="721520" y="4511904"/>
            <a:ext cx="1584000" cy="1928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C3D8E4"/>
            </a:solidFill>
            <a:prstDash val="solid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370" name="module-8-function-text-1">
            <a:extLst>
              <a:ext uri="{FF2B5EF4-FFF2-40B4-BE49-F238E27FC236}">
                <a16:creationId xmlns:a16="http://schemas.microsoft.com/office/drawing/2014/main" id="{910DDD7B-D777-DB4C-9C1C-6718499C6828}"/>
              </a:ext>
            </a:extLst>
          </p:cNvPr>
          <p:cNvSpPr>
            <a:spLocks noGrp="1"/>
          </p:cNvSpPr>
          <p:nvPr/>
        </p:nvSpPr>
        <p:spPr>
          <a:xfrm>
            <a:off x="735805" y="4519491"/>
            <a:ext cx="1584000" cy="177707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none" lIns="7144" tIns="0" rIns="7144" bIns="0" anchor="ctr">
            <a:no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5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lang="zh-CN" altLang="en-US" sz="619" b="0" i="0" u="none" strike="noStrike" kern="1200" cap="none" spc="0" normalizeH="0" baseline="0" noProof="0">
                <a:ln>
                  <a:noFill/>
                </a:ln>
                <a:solidFill>
                  <a:srgbClr val="173042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用户与角色管理</a:t>
            </a:r>
            <a:endParaRPr kumimoji="0" sz="619" b="0" i="0" u="none" strike="noStrike" kern="1200" cap="none" spc="0" normalizeH="0" baseline="0" noProof="0">
              <a:ln>
                <a:noFill/>
              </a:ln>
              <a:solidFill>
                <a:srgbClr val="173042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71" name="module-8-function-2">
            <a:extLst>
              <a:ext uri="{FF2B5EF4-FFF2-40B4-BE49-F238E27FC236}">
                <a16:creationId xmlns:a16="http://schemas.microsoft.com/office/drawing/2014/main" id="{A3A7848B-BBD2-326A-C353-2B38F122DBEA}"/>
              </a:ext>
            </a:extLst>
          </p:cNvPr>
          <p:cNvSpPr>
            <a:spLocks noGrp="1"/>
          </p:cNvSpPr>
          <p:nvPr/>
        </p:nvSpPr>
        <p:spPr>
          <a:xfrm>
            <a:off x="2347885" y="4511904"/>
            <a:ext cx="1584000" cy="1928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C3D8E4"/>
            </a:solidFill>
            <a:prstDash val="solid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373" name="module-8-function-3">
            <a:extLst>
              <a:ext uri="{FF2B5EF4-FFF2-40B4-BE49-F238E27FC236}">
                <a16:creationId xmlns:a16="http://schemas.microsoft.com/office/drawing/2014/main" id="{2DDCDF3F-1F75-AEF8-0561-162720DA6C81}"/>
              </a:ext>
            </a:extLst>
          </p:cNvPr>
          <p:cNvSpPr>
            <a:spLocks noGrp="1"/>
          </p:cNvSpPr>
          <p:nvPr/>
        </p:nvSpPr>
        <p:spPr>
          <a:xfrm>
            <a:off x="3971397" y="4511904"/>
            <a:ext cx="1584000" cy="192881"/>
          </a:xfrm>
          <a:prstGeom prst="rect">
            <a:avLst/>
          </a:prstGeom>
          <a:solidFill>
            <a:srgbClr val="FFFFFF"/>
          </a:solidFill>
          <a:ln w="9525">
            <a:solidFill>
              <a:srgbClr val="C3D8E4"/>
            </a:solidFill>
            <a:prstDash val="solid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374" name="module-8-function-text-3">
            <a:extLst>
              <a:ext uri="{FF2B5EF4-FFF2-40B4-BE49-F238E27FC236}">
                <a16:creationId xmlns:a16="http://schemas.microsoft.com/office/drawing/2014/main" id="{3433FC25-0D9F-5BDE-8DE0-B02BCE40ECD3}"/>
              </a:ext>
            </a:extLst>
          </p:cNvPr>
          <p:cNvSpPr>
            <a:spLocks noGrp="1"/>
          </p:cNvSpPr>
          <p:nvPr/>
        </p:nvSpPr>
        <p:spPr>
          <a:xfrm>
            <a:off x="3985685" y="4523238"/>
            <a:ext cx="1584000" cy="170212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none" lIns="7144" tIns="0" rIns="7144" bIns="0" anchor="ctr">
            <a:no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5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lang="zh-CN" altLang="en-US" sz="619" b="0" i="0" u="none" strike="noStrike" kern="1200" cap="none" spc="0" normalizeH="0" baseline="0" noProof="0">
                <a:ln>
                  <a:noFill/>
                </a:ln>
                <a:solidFill>
                  <a:srgbClr val="173042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细粒度数据访问控制</a:t>
            </a:r>
            <a:endParaRPr kumimoji="0" sz="619" b="0" i="0" u="none" strike="noStrike" kern="1200" cap="none" spc="0" normalizeH="0" baseline="0" noProof="0">
              <a:ln>
                <a:noFill/>
              </a:ln>
              <a:solidFill>
                <a:srgbClr val="173042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75" name="module-8-function-4">
            <a:extLst>
              <a:ext uri="{FF2B5EF4-FFF2-40B4-BE49-F238E27FC236}">
                <a16:creationId xmlns:a16="http://schemas.microsoft.com/office/drawing/2014/main" id="{93BEA17B-2629-70BA-BD14-1BD3871C4E2A}"/>
              </a:ext>
            </a:extLst>
          </p:cNvPr>
          <p:cNvSpPr>
            <a:spLocks noGrp="1"/>
          </p:cNvSpPr>
          <p:nvPr/>
        </p:nvSpPr>
        <p:spPr>
          <a:xfrm>
            <a:off x="5592580" y="4511904"/>
            <a:ext cx="1584000" cy="192881"/>
          </a:xfrm>
          <a:prstGeom prst="rect">
            <a:avLst/>
          </a:prstGeom>
          <a:solidFill>
            <a:srgbClr val="FFFFFF"/>
          </a:solidFill>
          <a:ln w="9525">
            <a:solidFill>
              <a:srgbClr val="C3D8E4"/>
            </a:solidFill>
            <a:prstDash val="solid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376" name="module-8-function-text-4">
            <a:extLst>
              <a:ext uri="{FF2B5EF4-FFF2-40B4-BE49-F238E27FC236}">
                <a16:creationId xmlns:a16="http://schemas.microsoft.com/office/drawing/2014/main" id="{67B29504-EBE1-15AE-3523-3223F2E38478}"/>
              </a:ext>
            </a:extLst>
          </p:cNvPr>
          <p:cNvSpPr>
            <a:spLocks noGrp="1"/>
          </p:cNvSpPr>
          <p:nvPr/>
        </p:nvSpPr>
        <p:spPr>
          <a:xfrm>
            <a:off x="5575912" y="4523123"/>
            <a:ext cx="1584000" cy="170442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none" lIns="7144" tIns="0" rIns="7144" bIns="0" anchor="ctr">
            <a:no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5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lang="zh-CN" altLang="en-US" sz="619" b="0" i="0" u="none" strike="noStrike" kern="1200" cap="none" spc="0" normalizeH="0" baseline="0" noProof="0">
                <a:ln>
                  <a:noFill/>
                </a:ln>
                <a:solidFill>
                  <a:srgbClr val="173042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权限申请与变更审批</a:t>
            </a:r>
            <a:endParaRPr kumimoji="0" sz="619" b="0" i="0" u="none" strike="noStrike" kern="1200" cap="none" spc="0" normalizeH="0" baseline="0" noProof="0">
              <a:ln>
                <a:noFill/>
              </a:ln>
              <a:solidFill>
                <a:srgbClr val="173042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module-3-function-1">
            <a:extLst>
              <a:ext uri="{FF2B5EF4-FFF2-40B4-BE49-F238E27FC236}">
                <a16:creationId xmlns:a16="http://schemas.microsoft.com/office/drawing/2014/main" id="{CD82AAA3-EB12-2BAA-9918-3D21AA0E0544}"/>
              </a:ext>
            </a:extLst>
          </p:cNvPr>
          <p:cNvSpPr>
            <a:spLocks noGrp="1"/>
          </p:cNvSpPr>
          <p:nvPr/>
        </p:nvSpPr>
        <p:spPr>
          <a:xfrm>
            <a:off x="8029573" y="824839"/>
            <a:ext cx="814388" cy="221456"/>
          </a:xfrm>
          <a:prstGeom prst="rect">
            <a:avLst/>
          </a:prstGeom>
          <a:solidFill>
            <a:schemeClr val="bg2"/>
          </a:solidFill>
          <a:ln w="9525">
            <a:solidFill>
              <a:srgbClr val="7FCDEE"/>
            </a:solidFill>
            <a:prstDash val="solid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 Light"/>
              </a:rPr>
              <a:t>Phase 3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173042"/>
              </a:solidFill>
              <a:effectLst/>
              <a:uLnTx/>
              <a:uFillTx/>
              <a:latin typeface="Calibri"/>
              <a:ea typeface="Microsoft YaHei"/>
              <a:cs typeface="+mj-cs"/>
            </a:endParaRPr>
          </a:p>
        </p:txBody>
      </p:sp>
      <p:sp>
        <p:nvSpPr>
          <p:cNvPr id="3" name="module-3-function-1">
            <a:extLst>
              <a:ext uri="{FF2B5EF4-FFF2-40B4-BE49-F238E27FC236}">
                <a16:creationId xmlns:a16="http://schemas.microsoft.com/office/drawing/2014/main" id="{F3A78BAF-B2D9-5B40-2470-22A8FF1BFDB0}"/>
              </a:ext>
            </a:extLst>
          </p:cNvPr>
          <p:cNvSpPr>
            <a:spLocks noGrp="1"/>
          </p:cNvSpPr>
          <p:nvPr/>
        </p:nvSpPr>
        <p:spPr>
          <a:xfrm>
            <a:off x="5116414" y="2508707"/>
            <a:ext cx="814388" cy="22145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C3D8E4"/>
            </a:solidFill>
            <a:prstDash val="solid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5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endParaRPr kumimoji="0" lang="en-US" sz="619" b="0" i="0" u="none" strike="noStrike" kern="1200" cap="none" spc="0" normalizeH="0" baseline="0" noProof="0">
              <a:ln>
                <a:noFill/>
              </a:ln>
              <a:solidFill>
                <a:srgbClr val="173042"/>
              </a:solidFill>
              <a:effectLst/>
              <a:uLnTx/>
              <a:uFillTx/>
              <a:latin typeface="Microsoft YaHei"/>
              <a:ea typeface="Microsoft YaHei"/>
            </a:endParaRPr>
          </a:p>
        </p:txBody>
      </p:sp>
      <p:sp>
        <p:nvSpPr>
          <p:cNvPr id="8" name="module-2-function-6">
            <a:extLst>
              <a:ext uri="{FF2B5EF4-FFF2-40B4-BE49-F238E27FC236}">
                <a16:creationId xmlns:a16="http://schemas.microsoft.com/office/drawing/2014/main" id="{283A5AFA-93BC-57DA-265F-B4B14285096E}"/>
              </a:ext>
            </a:extLst>
          </p:cNvPr>
          <p:cNvSpPr>
            <a:spLocks noGrp="1"/>
          </p:cNvSpPr>
          <p:nvPr/>
        </p:nvSpPr>
        <p:spPr>
          <a:xfrm>
            <a:off x="5116414" y="2786063"/>
            <a:ext cx="814388" cy="221456"/>
          </a:xfrm>
          <a:prstGeom prst="rect">
            <a:avLst/>
          </a:prstGeom>
          <a:solidFill>
            <a:schemeClr val="bg1"/>
          </a:solidFill>
          <a:ln w="9525">
            <a:solidFill>
              <a:srgbClr val="C3D8E4"/>
            </a:solidFill>
            <a:prstDash val="solid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9" name="module-2-function-text-6">
            <a:extLst>
              <a:ext uri="{FF2B5EF4-FFF2-40B4-BE49-F238E27FC236}">
                <a16:creationId xmlns:a16="http://schemas.microsoft.com/office/drawing/2014/main" id="{9341CDAA-E565-470E-403A-49606F01BE87}"/>
              </a:ext>
            </a:extLst>
          </p:cNvPr>
          <p:cNvSpPr>
            <a:spLocks noGrp="1"/>
          </p:cNvSpPr>
          <p:nvPr/>
        </p:nvSpPr>
        <p:spPr>
          <a:xfrm>
            <a:off x="5130702" y="2793207"/>
            <a:ext cx="785813" cy="207169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none" lIns="7144" tIns="0" rIns="7144" bIns="0" anchor="ctr">
            <a:no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5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lang="zh-CN" altLang="en-US" sz="619" b="0" i="0" u="none" strike="noStrike" kern="1200" cap="none" spc="0" normalizeH="0" baseline="0" noProof="0">
                <a:ln>
                  <a:noFill/>
                </a:ln>
                <a:solidFill>
                  <a:srgbClr val="173042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保留与处置策略审批</a:t>
            </a:r>
            <a:endParaRPr kumimoji="0" sz="619" b="0" i="0" u="none" strike="noStrike" kern="1200" cap="none" spc="0" normalizeH="0" baseline="0" noProof="0">
              <a:ln>
                <a:noFill/>
              </a:ln>
              <a:solidFill>
                <a:srgbClr val="173042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module-3-function-text-3">
            <a:extLst>
              <a:ext uri="{FF2B5EF4-FFF2-40B4-BE49-F238E27FC236}">
                <a16:creationId xmlns:a16="http://schemas.microsoft.com/office/drawing/2014/main" id="{3B272BAF-5397-D2C8-2588-3CBC17128ABD}"/>
              </a:ext>
            </a:extLst>
          </p:cNvPr>
          <p:cNvSpPr>
            <a:spLocks noGrp="1"/>
          </p:cNvSpPr>
          <p:nvPr/>
        </p:nvSpPr>
        <p:spPr>
          <a:xfrm>
            <a:off x="5193211" y="2507829"/>
            <a:ext cx="660795" cy="223213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none" lIns="7144" tIns="0" rIns="7144" bIns="0" anchor="ctr">
            <a:no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5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lang="zh-CN" altLang="en-US" sz="619" b="0" i="0" u="none" strike="noStrike" kern="1200" cap="none" spc="0" normalizeH="0" baseline="0" noProof="0">
                <a:ln>
                  <a:noFill/>
                </a:ln>
                <a:solidFill>
                  <a:srgbClr val="173042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标准归档转换与校验</a:t>
            </a:r>
            <a:endParaRPr kumimoji="0" sz="619" b="0" i="0" u="none" strike="noStrike" kern="1200" cap="none" spc="0" normalizeH="0" baseline="0" noProof="0">
              <a:ln>
                <a:noFill/>
              </a:ln>
              <a:solidFill>
                <a:srgbClr val="173042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module-1-function-1">
            <a:extLst>
              <a:ext uri="{FF2B5EF4-FFF2-40B4-BE49-F238E27FC236}">
                <a16:creationId xmlns:a16="http://schemas.microsoft.com/office/drawing/2014/main" id="{79A83A4B-66D5-CE6A-6204-ABD275ED6BF4}"/>
              </a:ext>
            </a:extLst>
          </p:cNvPr>
          <p:cNvSpPr>
            <a:spLocks/>
          </p:cNvSpPr>
          <p:nvPr/>
        </p:nvSpPr>
        <p:spPr>
          <a:xfrm>
            <a:off x="4780840" y="1950457"/>
            <a:ext cx="1976400" cy="1928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C3D8E4"/>
            </a:solidFill>
            <a:prstDash val="solid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17" name="module-1-function-1">
            <a:extLst>
              <a:ext uri="{FF2B5EF4-FFF2-40B4-BE49-F238E27FC236}">
                <a16:creationId xmlns:a16="http://schemas.microsoft.com/office/drawing/2014/main" id="{F247F973-3E53-40EB-6E60-FBA2FC3A8AE8}"/>
              </a:ext>
            </a:extLst>
          </p:cNvPr>
          <p:cNvSpPr>
            <a:spLocks/>
          </p:cNvSpPr>
          <p:nvPr/>
        </p:nvSpPr>
        <p:spPr>
          <a:xfrm>
            <a:off x="2756651" y="1950457"/>
            <a:ext cx="1976400" cy="1928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C3D8E4"/>
            </a:solidFill>
            <a:prstDash val="solid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19" name="module-1-function-1">
            <a:extLst>
              <a:ext uri="{FF2B5EF4-FFF2-40B4-BE49-F238E27FC236}">
                <a16:creationId xmlns:a16="http://schemas.microsoft.com/office/drawing/2014/main" id="{EA2F5FC9-4D4C-98BD-9D04-7506356AC758}"/>
              </a:ext>
            </a:extLst>
          </p:cNvPr>
          <p:cNvSpPr>
            <a:spLocks/>
          </p:cNvSpPr>
          <p:nvPr/>
        </p:nvSpPr>
        <p:spPr>
          <a:xfrm>
            <a:off x="6802636" y="1950457"/>
            <a:ext cx="1976400" cy="1928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C3D8E4"/>
            </a:solidFill>
            <a:prstDash val="solid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14" name="module-1-function-text-1">
            <a:extLst>
              <a:ext uri="{FF2B5EF4-FFF2-40B4-BE49-F238E27FC236}">
                <a16:creationId xmlns:a16="http://schemas.microsoft.com/office/drawing/2014/main" id="{D52C189A-C494-AD3C-80F2-F041E826A233}"/>
              </a:ext>
            </a:extLst>
          </p:cNvPr>
          <p:cNvSpPr>
            <a:spLocks noGrp="1"/>
          </p:cNvSpPr>
          <p:nvPr/>
        </p:nvSpPr>
        <p:spPr>
          <a:xfrm>
            <a:off x="3356709" y="1956678"/>
            <a:ext cx="776287" cy="180438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none" lIns="7144" tIns="0" rIns="7144" bIns="0" anchor="ctr">
            <a:no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5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lang="zh-CN" altLang="en-US" sz="619" b="0" i="0" u="none" strike="noStrike" kern="1200" cap="none" spc="0" normalizeH="0" baseline="0" noProof="0">
                <a:ln>
                  <a:noFill/>
                </a:ln>
                <a:solidFill>
                  <a:srgbClr val="173042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迁移规则配置</a:t>
            </a:r>
            <a:endParaRPr kumimoji="0" sz="619" b="0" i="0" u="none" strike="noStrike" kern="1200" cap="none" spc="0" normalizeH="0" baseline="0" noProof="0">
              <a:ln>
                <a:noFill/>
              </a:ln>
              <a:solidFill>
                <a:srgbClr val="173042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module-1-function-text-1">
            <a:extLst>
              <a:ext uri="{FF2B5EF4-FFF2-40B4-BE49-F238E27FC236}">
                <a16:creationId xmlns:a16="http://schemas.microsoft.com/office/drawing/2014/main" id="{12E95436-E544-188E-41EC-D4C3D4DFCBC9}"/>
              </a:ext>
            </a:extLst>
          </p:cNvPr>
          <p:cNvSpPr>
            <a:spLocks noGrp="1"/>
          </p:cNvSpPr>
          <p:nvPr/>
        </p:nvSpPr>
        <p:spPr>
          <a:xfrm>
            <a:off x="5288542" y="1956679"/>
            <a:ext cx="960998" cy="180437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none" lIns="7144" tIns="0" rIns="7144" bIns="0" anchor="ctr">
            <a:no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5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lang="zh-CN" altLang="en-US" sz="619" b="0" i="0" u="none" strike="noStrike" kern="1200" cap="none" spc="0" normalizeH="0" baseline="0" noProof="0">
                <a:ln>
                  <a:noFill/>
                </a:ln>
                <a:solidFill>
                  <a:srgbClr val="173042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迁移任务管理</a:t>
            </a:r>
            <a:endParaRPr kumimoji="0" sz="619" b="0" i="0" u="none" strike="noStrike" kern="1200" cap="none" spc="0" normalizeH="0" baseline="0" noProof="0">
              <a:ln>
                <a:noFill/>
              </a:ln>
              <a:solidFill>
                <a:srgbClr val="173042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0" name="module-1-function-text-2">
            <a:extLst>
              <a:ext uri="{FF2B5EF4-FFF2-40B4-BE49-F238E27FC236}">
                <a16:creationId xmlns:a16="http://schemas.microsoft.com/office/drawing/2014/main" id="{9AB062AB-955E-8F16-CA52-C065E35EA6E3}"/>
              </a:ext>
            </a:extLst>
          </p:cNvPr>
          <p:cNvSpPr>
            <a:spLocks noGrp="1"/>
          </p:cNvSpPr>
          <p:nvPr/>
        </p:nvSpPr>
        <p:spPr>
          <a:xfrm>
            <a:off x="7507767" y="1976642"/>
            <a:ext cx="566141" cy="14051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none" lIns="7144" tIns="0" rIns="7144" bIns="0" anchor="ctr">
            <a:no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5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lang="zh-CN" altLang="en-US" sz="619" b="0" i="0" u="none" strike="noStrike" kern="1200" cap="none" spc="0" normalizeH="0" baseline="0" noProof="0">
                <a:ln>
                  <a:noFill/>
                </a:ln>
                <a:solidFill>
                  <a:srgbClr val="173042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迁移完整性校验</a:t>
            </a:r>
            <a:endParaRPr kumimoji="0" sz="619" b="0" i="0" u="none" strike="noStrike" kern="1200" cap="none" spc="0" normalizeH="0" baseline="0" noProof="0">
              <a:ln>
                <a:noFill/>
              </a:ln>
              <a:solidFill>
                <a:srgbClr val="173042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module-2-function-4">
            <a:extLst>
              <a:ext uri="{FF2B5EF4-FFF2-40B4-BE49-F238E27FC236}">
                <a16:creationId xmlns:a16="http://schemas.microsoft.com/office/drawing/2014/main" id="{95F3E031-C0A3-7AE1-6957-050C92EB16E1}"/>
              </a:ext>
            </a:extLst>
          </p:cNvPr>
          <p:cNvSpPr>
            <a:spLocks noGrp="1"/>
          </p:cNvSpPr>
          <p:nvPr/>
        </p:nvSpPr>
        <p:spPr>
          <a:xfrm>
            <a:off x="1562774" y="2786063"/>
            <a:ext cx="814388" cy="22145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C3D8E4"/>
            </a:solidFill>
            <a:prstDash val="solid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19" b="0" i="0" u="none" strike="noStrike" kern="1200" cap="none" spc="0" normalizeH="0" baseline="0" noProof="0">
              <a:ln>
                <a:noFill/>
              </a:ln>
              <a:solidFill>
                <a:srgbClr val="173042"/>
              </a:solidFill>
              <a:effectLst/>
              <a:uLnTx/>
              <a:uFillTx/>
              <a:latin typeface="Microsoft YaHei"/>
              <a:ea typeface="Microsoft YaHei"/>
              <a:cs typeface="+mj-cs"/>
            </a:endParaRPr>
          </a:p>
        </p:txBody>
      </p:sp>
      <p:sp>
        <p:nvSpPr>
          <p:cNvPr id="7" name="module-2-function-5">
            <a:extLst>
              <a:ext uri="{FF2B5EF4-FFF2-40B4-BE49-F238E27FC236}">
                <a16:creationId xmlns:a16="http://schemas.microsoft.com/office/drawing/2014/main" id="{A3461B2A-7969-A178-B108-687C0C0D925E}"/>
              </a:ext>
            </a:extLst>
          </p:cNvPr>
          <p:cNvSpPr>
            <a:spLocks noGrp="1"/>
          </p:cNvSpPr>
          <p:nvPr/>
        </p:nvSpPr>
        <p:spPr>
          <a:xfrm>
            <a:off x="2416018" y="2786063"/>
            <a:ext cx="814388" cy="221456"/>
          </a:xfrm>
          <a:prstGeom prst="rect">
            <a:avLst/>
          </a:prstGeom>
          <a:solidFill>
            <a:schemeClr val="bg2"/>
          </a:solidFill>
          <a:ln w="9525">
            <a:solidFill>
              <a:srgbClr val="C3D8E4"/>
            </a:solidFill>
            <a:prstDash val="solid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20" name="module-2-function-text-5">
            <a:extLst>
              <a:ext uri="{FF2B5EF4-FFF2-40B4-BE49-F238E27FC236}">
                <a16:creationId xmlns:a16="http://schemas.microsoft.com/office/drawing/2014/main" id="{DD0A2DB2-9525-B2AC-B002-736F1B0BFCF8}"/>
              </a:ext>
            </a:extLst>
          </p:cNvPr>
          <p:cNvSpPr>
            <a:spLocks noGrp="1"/>
          </p:cNvSpPr>
          <p:nvPr/>
        </p:nvSpPr>
        <p:spPr>
          <a:xfrm>
            <a:off x="1577062" y="2793207"/>
            <a:ext cx="785813" cy="207169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none" lIns="7144" tIns="0" rIns="7144" bIns="0" anchor="ctr">
            <a:no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5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lang="zh-CN" altLang="en-US" sz="619" b="0" i="0" u="none" strike="noStrike" kern="1200" cap="none" spc="0" normalizeH="0" baseline="0" noProof="0">
                <a:ln>
                  <a:noFill/>
                </a:ln>
                <a:solidFill>
                  <a:srgbClr val="173042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数据关联关</a:t>
            </a:r>
            <a:endParaRPr kumimoji="0" lang="en-US" altLang="zh-CN" sz="619" b="0" i="0" u="none" strike="noStrike" kern="1200" cap="none" spc="0" normalizeH="0" baseline="0" noProof="0">
              <a:ln>
                <a:noFill/>
              </a:ln>
              <a:solidFill>
                <a:srgbClr val="173042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5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lang="zh-CN" altLang="en-US" sz="619" b="0" i="0" u="none" strike="noStrike" kern="1200" cap="none" spc="0" normalizeH="0" baseline="0" noProof="0">
                <a:ln>
                  <a:noFill/>
                </a:ln>
                <a:solidFill>
                  <a:srgbClr val="173042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系智能挖掘</a:t>
            </a:r>
            <a:endParaRPr kumimoji="0" sz="619" b="0" i="0" u="none" strike="noStrike" kern="1200" cap="none" spc="0" normalizeH="0" baseline="0" noProof="0">
              <a:ln>
                <a:noFill/>
              </a:ln>
              <a:solidFill>
                <a:srgbClr val="173042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module-5-function-5">
            <a:extLst>
              <a:ext uri="{FF2B5EF4-FFF2-40B4-BE49-F238E27FC236}">
                <a16:creationId xmlns:a16="http://schemas.microsoft.com/office/drawing/2014/main" id="{67BEA934-EB09-DF9D-38FC-268CFBFF2BA1}"/>
              </a:ext>
            </a:extLst>
          </p:cNvPr>
          <p:cNvSpPr>
            <a:spLocks noGrp="1"/>
          </p:cNvSpPr>
          <p:nvPr/>
        </p:nvSpPr>
        <p:spPr>
          <a:xfrm>
            <a:off x="1562774" y="3653212"/>
            <a:ext cx="814388" cy="221456"/>
          </a:xfrm>
          <a:prstGeom prst="rect">
            <a:avLst/>
          </a:prstGeom>
          <a:solidFill>
            <a:schemeClr val="bg1"/>
          </a:solidFill>
          <a:ln w="9525">
            <a:solidFill>
              <a:srgbClr val="C3D8E4"/>
            </a:solidFill>
            <a:prstDash val="solid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23" name="module-5-function-4">
            <a:extLst>
              <a:ext uri="{FF2B5EF4-FFF2-40B4-BE49-F238E27FC236}">
                <a16:creationId xmlns:a16="http://schemas.microsoft.com/office/drawing/2014/main" id="{05FC37DB-5194-31B7-1FC3-DB59EB07C6F9}"/>
              </a:ext>
            </a:extLst>
          </p:cNvPr>
          <p:cNvSpPr>
            <a:spLocks noGrp="1"/>
          </p:cNvSpPr>
          <p:nvPr/>
        </p:nvSpPr>
        <p:spPr>
          <a:xfrm>
            <a:off x="2416018" y="3653212"/>
            <a:ext cx="814388" cy="221456"/>
          </a:xfrm>
          <a:prstGeom prst="rect">
            <a:avLst/>
          </a:prstGeom>
          <a:solidFill>
            <a:schemeClr val="bg2"/>
          </a:solidFill>
          <a:ln w="9525">
            <a:solidFill>
              <a:srgbClr val="C3D8E4"/>
            </a:solidFill>
            <a:prstDash val="solid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24" name="module-5-function-text-4">
            <a:extLst>
              <a:ext uri="{FF2B5EF4-FFF2-40B4-BE49-F238E27FC236}">
                <a16:creationId xmlns:a16="http://schemas.microsoft.com/office/drawing/2014/main" id="{A4E25FC4-245C-1A14-E97D-224CF70B1D22}"/>
              </a:ext>
            </a:extLst>
          </p:cNvPr>
          <p:cNvSpPr>
            <a:spLocks noGrp="1"/>
          </p:cNvSpPr>
          <p:nvPr/>
        </p:nvSpPr>
        <p:spPr>
          <a:xfrm>
            <a:off x="1577062" y="3660356"/>
            <a:ext cx="785813" cy="207169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none" lIns="7144" tIns="0" rIns="7144" bIns="0" anchor="ctr">
            <a:no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5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lang="zh-CN" altLang="en-US" sz="619" b="0" i="0" u="none" strike="noStrike" kern="1200" cap="none" spc="0" normalizeH="0" baseline="0" noProof="0">
                <a:ln>
                  <a:noFill/>
                </a:ln>
                <a:solidFill>
                  <a:srgbClr val="173042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查询性能管理</a:t>
            </a:r>
            <a:endParaRPr kumimoji="0" sz="619" b="0" i="0" u="none" strike="noStrike" kern="1200" cap="none" spc="0" normalizeH="0" baseline="0" noProof="0">
              <a:ln>
                <a:noFill/>
              </a:ln>
              <a:solidFill>
                <a:srgbClr val="173042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module-5-function-4">
            <a:extLst>
              <a:ext uri="{FF2B5EF4-FFF2-40B4-BE49-F238E27FC236}">
                <a16:creationId xmlns:a16="http://schemas.microsoft.com/office/drawing/2014/main" id="{F41B9FAC-DCF5-6B11-476E-0F5AB0E7FF01}"/>
              </a:ext>
            </a:extLst>
          </p:cNvPr>
          <p:cNvSpPr>
            <a:spLocks noGrp="1"/>
          </p:cNvSpPr>
          <p:nvPr/>
        </p:nvSpPr>
        <p:spPr>
          <a:xfrm>
            <a:off x="3276525" y="3653212"/>
            <a:ext cx="814388" cy="221456"/>
          </a:xfrm>
          <a:prstGeom prst="rect">
            <a:avLst/>
          </a:prstGeom>
          <a:solidFill>
            <a:schemeClr val="bg2"/>
          </a:solidFill>
          <a:ln w="9525">
            <a:solidFill>
              <a:srgbClr val="C3D8E4"/>
            </a:solidFill>
            <a:prstDash val="solid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26" name="module-5-function-text-4">
            <a:extLst>
              <a:ext uri="{FF2B5EF4-FFF2-40B4-BE49-F238E27FC236}">
                <a16:creationId xmlns:a16="http://schemas.microsoft.com/office/drawing/2014/main" id="{BF81FCFC-379E-C952-1B5C-44953B7F98FA}"/>
              </a:ext>
            </a:extLst>
          </p:cNvPr>
          <p:cNvSpPr>
            <a:spLocks noGrp="1"/>
          </p:cNvSpPr>
          <p:nvPr/>
        </p:nvSpPr>
        <p:spPr>
          <a:xfrm>
            <a:off x="3290813" y="3660356"/>
            <a:ext cx="785813" cy="207169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none" lIns="7144" tIns="0" rIns="7144" bIns="0" anchor="ctr">
            <a:no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5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lang="zh-CN" altLang="en-US" sz="619" b="0" i="0" u="none" strike="noStrike" kern="1200" cap="none" spc="0" normalizeH="0" baseline="0" noProof="0">
                <a:ln>
                  <a:noFill/>
                </a:ln>
                <a:solidFill>
                  <a:srgbClr val="173042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智能语义检索与匹配</a:t>
            </a:r>
            <a:endParaRPr kumimoji="0" sz="619" b="0" i="0" u="none" strike="noStrike" kern="1200" cap="none" spc="0" normalizeH="0" baseline="0" noProof="0">
              <a:ln>
                <a:noFill/>
              </a:ln>
              <a:solidFill>
                <a:srgbClr val="173042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module-5-function-4">
            <a:extLst>
              <a:ext uri="{FF2B5EF4-FFF2-40B4-BE49-F238E27FC236}">
                <a16:creationId xmlns:a16="http://schemas.microsoft.com/office/drawing/2014/main" id="{142ADCA7-5B09-D04E-6663-39BBCA95D198}"/>
              </a:ext>
            </a:extLst>
          </p:cNvPr>
          <p:cNvSpPr>
            <a:spLocks noGrp="1"/>
          </p:cNvSpPr>
          <p:nvPr/>
        </p:nvSpPr>
        <p:spPr>
          <a:xfrm>
            <a:off x="705076" y="3920908"/>
            <a:ext cx="814388" cy="221456"/>
          </a:xfrm>
          <a:prstGeom prst="rect">
            <a:avLst/>
          </a:prstGeom>
          <a:solidFill>
            <a:schemeClr val="bg2"/>
          </a:solidFill>
          <a:ln w="9525">
            <a:solidFill>
              <a:srgbClr val="C3D8E4"/>
            </a:solidFill>
            <a:prstDash val="solid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30" name="module-5-function-text-4">
            <a:extLst>
              <a:ext uri="{FF2B5EF4-FFF2-40B4-BE49-F238E27FC236}">
                <a16:creationId xmlns:a16="http://schemas.microsoft.com/office/drawing/2014/main" id="{0742AFAA-25C7-A33E-CEC1-70A36DFF8251}"/>
              </a:ext>
            </a:extLst>
          </p:cNvPr>
          <p:cNvSpPr>
            <a:spLocks noGrp="1"/>
          </p:cNvSpPr>
          <p:nvPr/>
        </p:nvSpPr>
        <p:spPr>
          <a:xfrm>
            <a:off x="719364" y="3928052"/>
            <a:ext cx="785813" cy="207169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none" lIns="7144" tIns="0" rIns="7144" bIns="0" anchor="ctr">
            <a:no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5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lang="zh-CN" altLang="en-US" sz="619" b="0" i="0" u="none" strike="noStrike" kern="1200" cap="none" spc="0" normalizeH="0" baseline="0" noProof="0">
                <a:ln>
                  <a:noFill/>
                </a:ln>
                <a:solidFill>
                  <a:srgbClr val="173042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关联档案智能推荐</a:t>
            </a:r>
            <a:endParaRPr kumimoji="0" sz="619" b="0" i="0" u="none" strike="noStrike" kern="1200" cap="none" spc="0" normalizeH="0" baseline="0" noProof="0">
              <a:ln>
                <a:noFill/>
              </a:ln>
              <a:solidFill>
                <a:srgbClr val="173042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" name="module-5-function-text-5">
            <a:extLst>
              <a:ext uri="{FF2B5EF4-FFF2-40B4-BE49-F238E27FC236}">
                <a16:creationId xmlns:a16="http://schemas.microsoft.com/office/drawing/2014/main" id="{28A2AF15-1247-1952-0E53-84BA594C666D}"/>
              </a:ext>
            </a:extLst>
          </p:cNvPr>
          <p:cNvSpPr>
            <a:spLocks noGrp="1"/>
          </p:cNvSpPr>
          <p:nvPr/>
        </p:nvSpPr>
        <p:spPr>
          <a:xfrm>
            <a:off x="2430306" y="3660356"/>
            <a:ext cx="785813" cy="207169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none" lIns="7144" tIns="0" rIns="7144" bIns="0" anchor="ctr">
            <a:no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5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lang="zh-CN" altLang="en-US" sz="619" b="0" i="0" u="none" strike="noStrike" kern="1200" cap="none" spc="0" normalizeH="0" baseline="0" noProof="0">
                <a:ln>
                  <a:noFill/>
                </a:ln>
                <a:solidFill>
                  <a:srgbClr val="173042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档案自然语言问答</a:t>
            </a:r>
            <a:endParaRPr kumimoji="0" sz="619" b="0" i="0" u="none" strike="noStrike" kern="1200" cap="none" spc="0" normalizeH="0" baseline="0" noProof="0">
              <a:ln>
                <a:noFill/>
              </a:ln>
              <a:solidFill>
                <a:srgbClr val="173042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module-5-function-4">
            <a:extLst>
              <a:ext uri="{FF2B5EF4-FFF2-40B4-BE49-F238E27FC236}">
                <a16:creationId xmlns:a16="http://schemas.microsoft.com/office/drawing/2014/main" id="{13C22D4B-B0E3-C2F6-13C3-844CA4B730AC}"/>
              </a:ext>
            </a:extLst>
          </p:cNvPr>
          <p:cNvSpPr>
            <a:spLocks noGrp="1"/>
          </p:cNvSpPr>
          <p:nvPr/>
        </p:nvSpPr>
        <p:spPr>
          <a:xfrm>
            <a:off x="1562774" y="3920908"/>
            <a:ext cx="814388" cy="221456"/>
          </a:xfrm>
          <a:prstGeom prst="rect">
            <a:avLst/>
          </a:prstGeom>
          <a:solidFill>
            <a:schemeClr val="bg2"/>
          </a:solidFill>
          <a:ln w="9525">
            <a:solidFill>
              <a:srgbClr val="C3D8E4"/>
            </a:solidFill>
            <a:prstDash val="solid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33" name="module-5-function-text-5">
            <a:extLst>
              <a:ext uri="{FF2B5EF4-FFF2-40B4-BE49-F238E27FC236}">
                <a16:creationId xmlns:a16="http://schemas.microsoft.com/office/drawing/2014/main" id="{5F38147A-47AA-4007-66DF-7CF7373CAD08}"/>
              </a:ext>
            </a:extLst>
          </p:cNvPr>
          <p:cNvSpPr>
            <a:spLocks noGrp="1"/>
          </p:cNvSpPr>
          <p:nvPr/>
        </p:nvSpPr>
        <p:spPr>
          <a:xfrm>
            <a:off x="1577062" y="3928052"/>
            <a:ext cx="785813" cy="207169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none" lIns="7144" tIns="0" rIns="7144" bIns="0" anchor="ctr">
            <a:no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5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lang="zh-CN" altLang="en-US" sz="619" b="0" i="0" u="none" strike="noStrike" kern="1200" cap="none" spc="0" normalizeH="0" baseline="0" noProof="0">
                <a:ln>
                  <a:noFill/>
                </a:ln>
                <a:solidFill>
                  <a:srgbClr val="173042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搜索结果智能排序</a:t>
            </a:r>
            <a:endParaRPr kumimoji="0" sz="619" b="0" i="0" u="none" strike="noStrike" kern="1200" cap="none" spc="0" normalizeH="0" baseline="0" noProof="0">
              <a:ln>
                <a:noFill/>
              </a:ln>
              <a:solidFill>
                <a:srgbClr val="173042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module-2-function-text-5">
            <a:extLst>
              <a:ext uri="{FF2B5EF4-FFF2-40B4-BE49-F238E27FC236}">
                <a16:creationId xmlns:a16="http://schemas.microsoft.com/office/drawing/2014/main" id="{5F76D316-C934-7594-E6E2-AEF6B3925C61}"/>
              </a:ext>
            </a:extLst>
          </p:cNvPr>
          <p:cNvSpPr>
            <a:spLocks noGrp="1"/>
          </p:cNvSpPr>
          <p:nvPr/>
        </p:nvSpPr>
        <p:spPr>
          <a:xfrm>
            <a:off x="2430306" y="2793207"/>
            <a:ext cx="785813" cy="207169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none" lIns="7144" tIns="0" rIns="7144" bIns="0" anchor="ctr">
            <a:no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5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lang="zh-CN" altLang="en-US" sz="619" b="0" i="0" u="none" strike="noStrike" kern="1200" cap="none" spc="0" normalizeH="0" baseline="0" noProof="0">
                <a:ln>
                  <a:noFill/>
                </a:ln>
                <a:solidFill>
                  <a:srgbClr val="173042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智能分类与语义标签</a:t>
            </a:r>
          </a:p>
        </p:txBody>
      </p:sp>
      <p:sp>
        <p:nvSpPr>
          <p:cNvPr id="35" name="module-6-function-8">
            <a:extLst>
              <a:ext uri="{FF2B5EF4-FFF2-40B4-BE49-F238E27FC236}">
                <a16:creationId xmlns:a16="http://schemas.microsoft.com/office/drawing/2014/main" id="{EFAB33CF-AAE1-CDA7-4791-6B3B0CE73D62}"/>
              </a:ext>
            </a:extLst>
          </p:cNvPr>
          <p:cNvSpPr>
            <a:spLocks noGrp="1"/>
          </p:cNvSpPr>
          <p:nvPr/>
        </p:nvSpPr>
        <p:spPr>
          <a:xfrm>
            <a:off x="5116414" y="3656784"/>
            <a:ext cx="814388" cy="214313"/>
          </a:xfrm>
          <a:prstGeom prst="rect">
            <a:avLst/>
          </a:prstGeom>
          <a:solidFill>
            <a:schemeClr val="bg2"/>
          </a:solidFill>
          <a:ln w="9525">
            <a:solidFill>
              <a:srgbClr val="C3D8E4"/>
            </a:solidFill>
            <a:prstDash val="solid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36" name="module-6-function-text-8">
            <a:extLst>
              <a:ext uri="{FF2B5EF4-FFF2-40B4-BE49-F238E27FC236}">
                <a16:creationId xmlns:a16="http://schemas.microsoft.com/office/drawing/2014/main" id="{DD49B32C-A624-E59A-7DD7-8585C50140E2}"/>
              </a:ext>
            </a:extLst>
          </p:cNvPr>
          <p:cNvSpPr>
            <a:spLocks noGrp="1"/>
          </p:cNvSpPr>
          <p:nvPr/>
        </p:nvSpPr>
        <p:spPr>
          <a:xfrm>
            <a:off x="5130702" y="3663928"/>
            <a:ext cx="785813" cy="20002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none" lIns="7144" tIns="0" rIns="7144" bIns="0" anchor="ctr">
            <a:no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5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lang="zh-CN" altLang="en-US" sz="619" b="0" i="0" u="none" strike="noStrike" kern="1200" cap="none" spc="0" normalizeH="0" baseline="0" noProof="0">
                <a:ln>
                  <a:noFill/>
                </a:ln>
                <a:solidFill>
                  <a:srgbClr val="173042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智能审计建议生成</a:t>
            </a:r>
            <a:endParaRPr kumimoji="0" sz="619" b="0" i="0" u="none" strike="noStrike" kern="1200" cap="none" spc="0" normalizeH="0" baseline="0" noProof="0">
              <a:ln>
                <a:noFill/>
              </a:ln>
              <a:solidFill>
                <a:srgbClr val="173042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module-3-function-1">
            <a:extLst>
              <a:ext uri="{FF2B5EF4-FFF2-40B4-BE49-F238E27FC236}">
                <a16:creationId xmlns:a16="http://schemas.microsoft.com/office/drawing/2014/main" id="{477694A0-F578-C833-E265-E5141D1390F2}"/>
              </a:ext>
            </a:extLst>
          </p:cNvPr>
          <p:cNvSpPr>
            <a:spLocks noGrp="1"/>
          </p:cNvSpPr>
          <p:nvPr/>
        </p:nvSpPr>
        <p:spPr>
          <a:xfrm>
            <a:off x="7115613" y="824839"/>
            <a:ext cx="814388" cy="221456"/>
          </a:xfrm>
          <a:prstGeom prst="rect">
            <a:avLst/>
          </a:prstGeom>
          <a:solidFill>
            <a:schemeClr val="bg1"/>
          </a:solidFill>
          <a:ln w="9525">
            <a:solidFill>
              <a:srgbClr val="7FCDEE"/>
            </a:solidFill>
            <a:prstDash val="solid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 Light"/>
              </a:rPr>
              <a:t>Phase 2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173042"/>
              </a:solidFill>
              <a:effectLst/>
              <a:uLnTx/>
              <a:uFillTx/>
              <a:latin typeface="Calibri"/>
              <a:ea typeface="Microsoft YaHei"/>
              <a:cs typeface="+mj-cs"/>
            </a:endParaRPr>
          </a:p>
        </p:txBody>
      </p:sp>
      <p:sp>
        <p:nvSpPr>
          <p:cNvPr id="6" name="module-3-function-1">
            <a:extLst>
              <a:ext uri="{FF2B5EF4-FFF2-40B4-BE49-F238E27FC236}">
                <a16:creationId xmlns:a16="http://schemas.microsoft.com/office/drawing/2014/main" id="{EB2800E4-E673-7A63-02D2-C75582F92444}"/>
              </a:ext>
            </a:extLst>
          </p:cNvPr>
          <p:cNvSpPr>
            <a:spLocks noGrp="1"/>
          </p:cNvSpPr>
          <p:nvPr/>
        </p:nvSpPr>
        <p:spPr>
          <a:xfrm>
            <a:off x="6201653" y="824839"/>
            <a:ext cx="814388" cy="22145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7FCDEE"/>
            </a:solidFill>
            <a:prstDash val="solid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 Light"/>
              </a:rPr>
              <a:t>Phase 1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173042"/>
              </a:solidFill>
              <a:effectLst/>
              <a:uLnTx/>
              <a:uFillTx/>
              <a:latin typeface="Calibri"/>
              <a:ea typeface="Microsoft YaHei"/>
              <a:cs typeface="+mj-cs"/>
            </a:endParaRPr>
          </a:p>
        </p:txBody>
      </p:sp>
      <p:sp>
        <p:nvSpPr>
          <p:cNvPr id="15" name="module-4-function-2">
            <a:extLst>
              <a:ext uri="{FF2B5EF4-FFF2-40B4-BE49-F238E27FC236}">
                <a16:creationId xmlns:a16="http://schemas.microsoft.com/office/drawing/2014/main" id="{8FABEF35-B6A5-D5DC-BB68-747A00270A46}"/>
              </a:ext>
            </a:extLst>
          </p:cNvPr>
          <p:cNvSpPr>
            <a:spLocks noGrp="1"/>
          </p:cNvSpPr>
          <p:nvPr/>
        </p:nvSpPr>
        <p:spPr>
          <a:xfrm>
            <a:off x="7932747" y="2745702"/>
            <a:ext cx="814388" cy="22145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C3D8E4"/>
            </a:solidFill>
            <a:prstDash val="solid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27" name="module-4-function-text-2">
            <a:extLst>
              <a:ext uri="{FF2B5EF4-FFF2-40B4-BE49-F238E27FC236}">
                <a16:creationId xmlns:a16="http://schemas.microsoft.com/office/drawing/2014/main" id="{4E1A6C27-6460-5ED3-F811-A65B86C032F3}"/>
              </a:ext>
            </a:extLst>
          </p:cNvPr>
          <p:cNvSpPr>
            <a:spLocks noGrp="1"/>
          </p:cNvSpPr>
          <p:nvPr/>
        </p:nvSpPr>
        <p:spPr>
          <a:xfrm>
            <a:off x="7947035" y="2752846"/>
            <a:ext cx="785813" cy="207169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none" lIns="7144" tIns="0" rIns="7144" bIns="0" anchor="ctr">
            <a:no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5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lang="zh-CN" altLang="en-US" sz="619" b="0" i="0" u="none" strike="noStrike" kern="1200" cap="none" spc="0" normalizeH="0" baseline="0" noProof="0">
                <a:ln>
                  <a:noFill/>
                </a:ln>
                <a:solidFill>
                  <a:srgbClr val="173042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字段级数据脱敏管理</a:t>
            </a:r>
          </a:p>
        </p:txBody>
      </p:sp>
      <p:sp>
        <p:nvSpPr>
          <p:cNvPr id="37" name="module-4-function-2">
            <a:extLst>
              <a:ext uri="{FF2B5EF4-FFF2-40B4-BE49-F238E27FC236}">
                <a16:creationId xmlns:a16="http://schemas.microsoft.com/office/drawing/2014/main" id="{20DAFF71-E13A-CA62-0B28-8E6684965344}"/>
              </a:ext>
            </a:extLst>
          </p:cNvPr>
          <p:cNvSpPr>
            <a:spLocks noGrp="1"/>
          </p:cNvSpPr>
          <p:nvPr/>
        </p:nvSpPr>
        <p:spPr>
          <a:xfrm>
            <a:off x="7063610" y="2745702"/>
            <a:ext cx="814388" cy="22145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C3D8E4"/>
            </a:solidFill>
            <a:prstDash val="solid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39" name="module-4-function-text-2">
            <a:extLst>
              <a:ext uri="{FF2B5EF4-FFF2-40B4-BE49-F238E27FC236}">
                <a16:creationId xmlns:a16="http://schemas.microsoft.com/office/drawing/2014/main" id="{491A0EBE-CBEE-7168-B3E1-089E23AEF29A}"/>
              </a:ext>
            </a:extLst>
          </p:cNvPr>
          <p:cNvSpPr>
            <a:spLocks noGrp="1"/>
          </p:cNvSpPr>
          <p:nvPr/>
        </p:nvSpPr>
        <p:spPr>
          <a:xfrm>
            <a:off x="7077898" y="2752846"/>
            <a:ext cx="785813" cy="207169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none" lIns="7144" tIns="0" rIns="7144" bIns="0" anchor="ctr">
            <a:no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5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lang="zh-CN" altLang="en-US" sz="619" b="0" i="0" u="none" strike="noStrike" kern="1200" cap="none" spc="0" normalizeH="0" baseline="0" noProof="0">
                <a:ln>
                  <a:noFill/>
                </a:ln>
                <a:solidFill>
                  <a:srgbClr val="173042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数据备份与灾难恢复</a:t>
            </a:r>
          </a:p>
        </p:txBody>
      </p:sp>
      <p:sp>
        <p:nvSpPr>
          <p:cNvPr id="12" name="module-8-function-2">
            <a:extLst>
              <a:ext uri="{FF2B5EF4-FFF2-40B4-BE49-F238E27FC236}">
                <a16:creationId xmlns:a16="http://schemas.microsoft.com/office/drawing/2014/main" id="{72DCF197-01D7-C42B-86D9-D70CAC304F4B}"/>
              </a:ext>
            </a:extLst>
          </p:cNvPr>
          <p:cNvSpPr>
            <a:spLocks noGrp="1"/>
          </p:cNvSpPr>
          <p:nvPr/>
        </p:nvSpPr>
        <p:spPr>
          <a:xfrm>
            <a:off x="7221996" y="4511904"/>
            <a:ext cx="1584000" cy="192881"/>
          </a:xfrm>
          <a:prstGeom prst="rect">
            <a:avLst/>
          </a:prstGeom>
          <a:solidFill>
            <a:srgbClr val="FFFFFF"/>
          </a:solidFill>
          <a:ln w="9525">
            <a:solidFill>
              <a:srgbClr val="C3D8E4"/>
            </a:solidFill>
            <a:prstDash val="solid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22" name="module-8-function-text-4">
            <a:extLst>
              <a:ext uri="{FF2B5EF4-FFF2-40B4-BE49-F238E27FC236}">
                <a16:creationId xmlns:a16="http://schemas.microsoft.com/office/drawing/2014/main" id="{DCF57F9D-BA06-39D0-6255-05ECD8F0B481}"/>
              </a:ext>
            </a:extLst>
          </p:cNvPr>
          <p:cNvSpPr>
            <a:spLocks noGrp="1"/>
          </p:cNvSpPr>
          <p:nvPr/>
        </p:nvSpPr>
        <p:spPr>
          <a:xfrm>
            <a:off x="2362875" y="4493904"/>
            <a:ext cx="1584000" cy="228477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none" lIns="7144" tIns="0" rIns="7144" bIns="0" anchor="ctr">
            <a:no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5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lang="en-US" altLang="zh-CN" sz="619" b="0" i="0" u="none" strike="noStrike" kern="1200" cap="none" spc="0" normalizeH="0" baseline="0" noProof="0">
                <a:ln>
                  <a:noFill/>
                </a:ln>
                <a:solidFill>
                  <a:srgbClr val="173042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SSO </a:t>
            </a:r>
            <a:r>
              <a:rPr kumimoji="0" lang="zh-CN" altLang="en-US" sz="619" b="0" i="0" u="none" strike="noStrike" kern="1200" cap="none" spc="0" normalizeH="0" baseline="0" noProof="0">
                <a:ln>
                  <a:noFill/>
                </a:ln>
                <a:solidFill>
                  <a:srgbClr val="173042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单点登录</a:t>
            </a:r>
            <a:endParaRPr kumimoji="0" sz="619" b="0" i="0" u="none" strike="noStrike" kern="1200" cap="none" spc="0" normalizeH="0" baseline="0" noProof="0">
              <a:ln>
                <a:noFill/>
              </a:ln>
              <a:solidFill>
                <a:srgbClr val="173042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module-8-function-text-2">
            <a:extLst>
              <a:ext uri="{FF2B5EF4-FFF2-40B4-BE49-F238E27FC236}">
                <a16:creationId xmlns:a16="http://schemas.microsoft.com/office/drawing/2014/main" id="{A118C951-00E0-2379-8851-DC72C1BD805A}"/>
              </a:ext>
            </a:extLst>
          </p:cNvPr>
          <p:cNvSpPr>
            <a:spLocks noGrp="1"/>
          </p:cNvSpPr>
          <p:nvPr/>
        </p:nvSpPr>
        <p:spPr>
          <a:xfrm>
            <a:off x="7229982" y="4528975"/>
            <a:ext cx="1584000" cy="190522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none" lIns="7144" tIns="0" rIns="7144" bIns="0" anchor="ctr">
            <a:no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5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lang="zh-CN" altLang="en-US" sz="619" b="0" i="0" u="none" strike="noStrike" kern="1200" cap="none" spc="0" normalizeH="0" baseline="0" noProof="0">
                <a:ln>
                  <a:noFill/>
                </a:ln>
                <a:solidFill>
                  <a:srgbClr val="173042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系统运行监控与稳定性保障</a:t>
            </a:r>
            <a:endParaRPr kumimoji="0" sz="619" b="0" i="0" u="none" strike="noStrike" kern="1200" cap="none" spc="0" normalizeH="0" baseline="0" noProof="0">
              <a:ln>
                <a:noFill/>
              </a:ln>
              <a:solidFill>
                <a:srgbClr val="173042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BDBC6AFE-DB07-E5BC-C2BF-F89F806A03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China RIMS Solution Proposal</a:t>
            </a:r>
          </a:p>
          <a:p>
            <a:endParaRPr lang="zh-CN" altLang="en-US"/>
          </a:p>
        </p:txBody>
      </p:sp>
      <p:sp>
        <p:nvSpPr>
          <p:cNvPr id="38" name="Title 37">
            <a:extLst>
              <a:ext uri="{FF2B5EF4-FFF2-40B4-BE49-F238E27FC236}">
                <a16:creationId xmlns:a16="http://schemas.microsoft.com/office/drawing/2014/main" id="{FC52C515-F921-A65B-641D-732AE3CB1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009CDE"/>
                </a:solidFill>
              </a:rPr>
              <a:t>平台功能全景图与分阶段上线计划</a:t>
            </a:r>
            <a:br>
              <a:rPr lang="zh-CN" altLang="en-US">
                <a:solidFill>
                  <a:srgbClr val="009CDE"/>
                </a:solidFill>
              </a:rPr>
            </a:b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13671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">
            <a:extLst>
              <a:ext uri="{FF2B5EF4-FFF2-40B4-BE49-F238E27FC236}">
                <a16:creationId xmlns:a16="http://schemas.microsoft.com/office/drawing/2014/main" id="{3F9FAB19-BDF1-6D7B-734F-968BE15FA3FE}"/>
              </a:ext>
            </a:extLst>
          </p:cNvPr>
          <p:cNvSpPr txBox="1">
            <a:spLocks/>
          </p:cNvSpPr>
          <p:nvPr/>
        </p:nvSpPr>
        <p:spPr>
          <a:xfrm>
            <a:off x="502920" y="569594"/>
            <a:ext cx="8138160" cy="39052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0" kern="1200" cap="none" spc="0" baseline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600" b="0" i="0" u="none" strike="noStrike" kern="1200" cap="none" spc="0" normalizeH="0" baseline="0" noProof="0">
              <a:ln>
                <a:noFill/>
              </a:ln>
              <a:solidFill>
                <a:srgbClr val="009CDE"/>
              </a:solidFill>
              <a:effectLst/>
              <a:uLnTx/>
              <a:uFillTx/>
              <a:latin typeface="Georgia"/>
              <a:ea typeface="+mj-ea"/>
              <a:cs typeface="+mj-cs"/>
            </a:endParaRPr>
          </a:p>
        </p:txBody>
      </p:sp>
      <p:sp>
        <p:nvSpPr>
          <p:cNvPr id="4" name="transition-1">
            <a:extLst>
              <a:ext uri="{FF2B5EF4-FFF2-40B4-BE49-F238E27FC236}">
                <a16:creationId xmlns:a16="http://schemas.microsoft.com/office/drawing/2014/main" id="{2B2F2501-4AC3-62B2-8E42-6AA21E2A5A03}"/>
              </a:ext>
            </a:extLst>
          </p:cNvPr>
          <p:cNvSpPr>
            <a:spLocks noGrp="1"/>
          </p:cNvSpPr>
          <p:nvPr/>
        </p:nvSpPr>
        <p:spPr>
          <a:xfrm>
            <a:off x="2860690" y="2239565"/>
            <a:ext cx="485775" cy="357188"/>
          </a:xfrm>
          <a:prstGeom prst="rightArrow">
            <a:avLst/>
          </a:prstGeom>
          <a:solidFill>
            <a:srgbClr val="B9D9F0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ransition-2">
            <a:extLst>
              <a:ext uri="{FF2B5EF4-FFF2-40B4-BE49-F238E27FC236}">
                <a16:creationId xmlns:a16="http://schemas.microsoft.com/office/drawing/2014/main" id="{A2E2C9E8-C601-3480-278C-39A52EB14A64}"/>
              </a:ext>
            </a:extLst>
          </p:cNvPr>
          <p:cNvSpPr>
            <a:spLocks noGrp="1"/>
          </p:cNvSpPr>
          <p:nvPr/>
        </p:nvSpPr>
        <p:spPr>
          <a:xfrm>
            <a:off x="5664885" y="2239565"/>
            <a:ext cx="485775" cy="357188"/>
          </a:xfrm>
          <a:prstGeom prst="rightArrow">
            <a:avLst/>
          </a:prstGeom>
          <a:solidFill>
            <a:srgbClr val="72B4E2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card-01">
            <a:extLst>
              <a:ext uri="{FF2B5EF4-FFF2-40B4-BE49-F238E27FC236}">
                <a16:creationId xmlns:a16="http://schemas.microsoft.com/office/drawing/2014/main" id="{D3D5458F-18AB-4F9E-AA6B-4D29D9DB1806}"/>
              </a:ext>
            </a:extLst>
          </p:cNvPr>
          <p:cNvSpPr>
            <a:spLocks noGrp="1"/>
          </p:cNvSpPr>
          <p:nvPr/>
        </p:nvSpPr>
        <p:spPr>
          <a:xfrm>
            <a:off x="519516" y="1350168"/>
            <a:ext cx="2343150" cy="2443163"/>
          </a:xfrm>
          <a:prstGeom prst="rect">
            <a:avLst/>
          </a:prstGeom>
          <a:solidFill>
            <a:srgbClr val="F2F7FB"/>
          </a:solidFill>
          <a:ln w="9525">
            <a:solidFill>
              <a:srgbClr val="D7E1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card-accent-01">
            <a:extLst>
              <a:ext uri="{FF2B5EF4-FFF2-40B4-BE49-F238E27FC236}">
                <a16:creationId xmlns:a16="http://schemas.microsoft.com/office/drawing/2014/main" id="{91E1FC7E-40D7-4BFB-6FAC-3090E8E96A60}"/>
              </a:ext>
            </a:extLst>
          </p:cNvPr>
          <p:cNvSpPr>
            <a:spLocks noGrp="1"/>
          </p:cNvSpPr>
          <p:nvPr/>
        </p:nvSpPr>
        <p:spPr>
          <a:xfrm>
            <a:off x="519516" y="1350169"/>
            <a:ext cx="2343150" cy="50006"/>
          </a:xfrm>
          <a:prstGeom prst="rect">
            <a:avLst/>
          </a:prstGeom>
          <a:solidFill>
            <a:srgbClr val="8AB8D8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phase-01">
            <a:extLst>
              <a:ext uri="{FF2B5EF4-FFF2-40B4-BE49-F238E27FC236}">
                <a16:creationId xmlns:a16="http://schemas.microsoft.com/office/drawing/2014/main" id="{13E71023-05FC-6B92-FE93-0D1F71A487AF}"/>
              </a:ext>
            </a:extLst>
          </p:cNvPr>
          <p:cNvSpPr>
            <a:spLocks noGrp="1"/>
          </p:cNvSpPr>
          <p:nvPr/>
        </p:nvSpPr>
        <p:spPr>
          <a:xfrm>
            <a:off x="690967" y="1521618"/>
            <a:ext cx="964406" cy="1857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8AB8D8"/>
                </a:solidFill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8AB8D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PHASE 1</a:t>
            </a:r>
          </a:p>
        </p:txBody>
      </p:sp>
      <p:sp>
        <p:nvSpPr>
          <p:cNvPr id="9" name="number-01">
            <a:extLst>
              <a:ext uri="{FF2B5EF4-FFF2-40B4-BE49-F238E27FC236}">
                <a16:creationId xmlns:a16="http://schemas.microsoft.com/office/drawing/2014/main" id="{1EB9C2AA-E4A9-5CBE-98B4-B380145CA676}"/>
              </a:ext>
            </a:extLst>
          </p:cNvPr>
          <p:cNvSpPr>
            <a:spLocks noGrp="1"/>
          </p:cNvSpPr>
          <p:nvPr/>
        </p:nvSpPr>
        <p:spPr>
          <a:xfrm>
            <a:off x="2162579" y="1450180"/>
            <a:ext cx="514350" cy="300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1">
                <a:solidFill>
                  <a:srgbClr val="8AB8D8"/>
                </a:solidFill>
              </a:defRPr>
            </a:pPr>
            <a:r>
              <a:rPr kumimoji="0" sz="1519" b="1" i="0" u="none" strike="noStrike" kern="1200" cap="none" spc="0" normalizeH="0" baseline="0" noProof="0">
                <a:ln>
                  <a:noFill/>
                </a:ln>
                <a:solidFill>
                  <a:srgbClr val="8AB8D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01</a:t>
            </a:r>
          </a:p>
        </p:txBody>
      </p:sp>
      <p:sp>
        <p:nvSpPr>
          <p:cNvPr id="10" name="cn-01">
            <a:extLst>
              <a:ext uri="{FF2B5EF4-FFF2-40B4-BE49-F238E27FC236}">
                <a16:creationId xmlns:a16="http://schemas.microsoft.com/office/drawing/2014/main" id="{97CCC2C9-8493-2259-2D9B-E5A814982F9F}"/>
              </a:ext>
            </a:extLst>
          </p:cNvPr>
          <p:cNvSpPr>
            <a:spLocks noGrp="1"/>
          </p:cNvSpPr>
          <p:nvPr/>
        </p:nvSpPr>
        <p:spPr>
          <a:xfrm>
            <a:off x="690966" y="1764945"/>
            <a:ext cx="870548" cy="1357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0">
                <a:solidFill>
                  <a:srgbClr val="728191"/>
                </a:solidFill>
              </a:defRPr>
            </a:pPr>
            <a:r>
              <a:rPr kumimoji="0" sz="1100" b="0" i="0" u="none" strike="noStrike" kern="1200" cap="none" spc="0" normalizeH="0" baseline="0" noProof="0" err="1">
                <a:ln>
                  <a:noFill/>
                </a:ln>
                <a:solidFill>
                  <a:srgbClr val="72819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阶段一</a:t>
            </a:r>
            <a:endParaRPr kumimoji="0" sz="1100" b="0" i="0" u="none" strike="noStrike" kern="1200" cap="none" spc="0" normalizeH="0" baseline="0" noProof="0">
              <a:ln>
                <a:noFill/>
              </a:ln>
              <a:solidFill>
                <a:srgbClr val="72819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itle-01">
            <a:extLst>
              <a:ext uri="{FF2B5EF4-FFF2-40B4-BE49-F238E27FC236}">
                <a16:creationId xmlns:a16="http://schemas.microsoft.com/office/drawing/2014/main" id="{474463B3-0E93-6AA2-36C1-AE30BF81E4C9}"/>
              </a:ext>
            </a:extLst>
          </p:cNvPr>
          <p:cNvSpPr>
            <a:spLocks noGrp="1"/>
          </p:cNvSpPr>
          <p:nvPr/>
        </p:nvSpPr>
        <p:spPr>
          <a:xfrm>
            <a:off x="690966" y="1993106"/>
            <a:ext cx="2000250" cy="3214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25" b="1">
                <a:solidFill>
                  <a:srgbClr val="183B63"/>
                </a:solidFill>
              </a:defRPr>
            </a:pPr>
            <a:r>
              <a:rPr kumimoji="0" sz="1294" b="1" i="0" u="none" strike="noStrike" kern="1200" cap="none" spc="0" normalizeH="0" baseline="0" noProof="0">
                <a:ln>
                  <a:noFill/>
                </a:ln>
                <a:solidFill>
                  <a:srgbClr val="183B6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基础归档与查询</a:t>
            </a:r>
          </a:p>
        </p:txBody>
      </p:sp>
      <p:sp>
        <p:nvSpPr>
          <p:cNvPr id="12" name="claim-01">
            <a:extLst>
              <a:ext uri="{FF2B5EF4-FFF2-40B4-BE49-F238E27FC236}">
                <a16:creationId xmlns:a16="http://schemas.microsoft.com/office/drawing/2014/main" id="{BEE6C42A-9079-3884-2C00-CEE3EFA48020}"/>
              </a:ext>
            </a:extLst>
          </p:cNvPr>
          <p:cNvSpPr>
            <a:spLocks noGrp="1"/>
          </p:cNvSpPr>
          <p:nvPr/>
        </p:nvSpPr>
        <p:spPr>
          <a:xfrm>
            <a:off x="690966" y="2386012"/>
            <a:ext cx="2000250" cy="2214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1">
                <a:solidFill>
                  <a:srgbClr val="8AB8D8"/>
                </a:solidFill>
              </a:defRPr>
            </a:pPr>
            <a:r>
              <a:rPr kumimoji="0" sz="1013" b="1" i="0" u="none" strike="noStrike" kern="1200" cap="none" spc="0" normalizeH="0" baseline="0" noProof="0">
                <a:ln>
                  <a:noFill/>
                </a:ln>
                <a:solidFill>
                  <a:srgbClr val="8AB8D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夯实数据底座</a:t>
            </a:r>
          </a:p>
        </p:txBody>
      </p:sp>
      <p:sp>
        <p:nvSpPr>
          <p:cNvPr id="13" name="inner-rule-01">
            <a:extLst>
              <a:ext uri="{FF2B5EF4-FFF2-40B4-BE49-F238E27FC236}">
                <a16:creationId xmlns:a16="http://schemas.microsoft.com/office/drawing/2014/main" id="{5C1DFF1B-2452-713B-ED06-0E0AB0B1A809}"/>
              </a:ext>
            </a:extLst>
          </p:cNvPr>
          <p:cNvSpPr>
            <a:spLocks noGrp="1"/>
          </p:cNvSpPr>
          <p:nvPr/>
        </p:nvSpPr>
        <p:spPr>
          <a:xfrm>
            <a:off x="690966" y="2671762"/>
            <a:ext cx="2000250" cy="7144"/>
          </a:xfrm>
          <a:prstGeom prst="rect">
            <a:avLst/>
          </a:prstGeom>
          <a:solidFill>
            <a:srgbClr val="CAD8E3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dot-01-0">
            <a:extLst>
              <a:ext uri="{FF2B5EF4-FFF2-40B4-BE49-F238E27FC236}">
                <a16:creationId xmlns:a16="http://schemas.microsoft.com/office/drawing/2014/main" id="{79F72351-11F9-CA1B-BE9A-DB00E5A0F9BC}"/>
              </a:ext>
            </a:extLst>
          </p:cNvPr>
          <p:cNvSpPr>
            <a:spLocks noGrp="1"/>
          </p:cNvSpPr>
          <p:nvPr/>
        </p:nvSpPr>
        <p:spPr>
          <a:xfrm>
            <a:off x="698110" y="2836069"/>
            <a:ext cx="50006" cy="50006"/>
          </a:xfrm>
          <a:prstGeom prst="ellipse">
            <a:avLst/>
          </a:prstGeom>
          <a:solidFill>
            <a:srgbClr val="8AB8D8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bullet-01-0">
            <a:extLst>
              <a:ext uri="{FF2B5EF4-FFF2-40B4-BE49-F238E27FC236}">
                <a16:creationId xmlns:a16="http://schemas.microsoft.com/office/drawing/2014/main" id="{9D6AFC38-E189-BB0B-C59F-7C6951FF94D3}"/>
              </a:ext>
            </a:extLst>
          </p:cNvPr>
          <p:cNvSpPr>
            <a:spLocks noGrp="1"/>
          </p:cNvSpPr>
          <p:nvPr/>
        </p:nvSpPr>
        <p:spPr>
          <a:xfrm>
            <a:off x="819554" y="2771774"/>
            <a:ext cx="1857375" cy="242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394B5C"/>
                </a:solidFill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394B5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全量历史数据标准化入库</a:t>
            </a:r>
          </a:p>
        </p:txBody>
      </p:sp>
      <p:sp>
        <p:nvSpPr>
          <p:cNvPr id="16" name="dot-01-1">
            <a:extLst>
              <a:ext uri="{FF2B5EF4-FFF2-40B4-BE49-F238E27FC236}">
                <a16:creationId xmlns:a16="http://schemas.microsoft.com/office/drawing/2014/main" id="{DFA0A082-DD2A-BC6F-30B9-BF404F8AE38E}"/>
              </a:ext>
            </a:extLst>
          </p:cNvPr>
          <p:cNvSpPr>
            <a:spLocks noGrp="1"/>
          </p:cNvSpPr>
          <p:nvPr/>
        </p:nvSpPr>
        <p:spPr>
          <a:xfrm>
            <a:off x="698110" y="3093244"/>
            <a:ext cx="50006" cy="50006"/>
          </a:xfrm>
          <a:prstGeom prst="ellipse">
            <a:avLst/>
          </a:prstGeom>
          <a:solidFill>
            <a:srgbClr val="8AB8D8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bullet-01-1">
            <a:extLst>
              <a:ext uri="{FF2B5EF4-FFF2-40B4-BE49-F238E27FC236}">
                <a16:creationId xmlns:a16="http://schemas.microsoft.com/office/drawing/2014/main" id="{0876CB44-706A-D77A-3E87-2DE4F971275F}"/>
              </a:ext>
            </a:extLst>
          </p:cNvPr>
          <p:cNvSpPr>
            <a:spLocks noGrp="1"/>
          </p:cNvSpPr>
          <p:nvPr/>
        </p:nvSpPr>
        <p:spPr>
          <a:xfrm>
            <a:off x="819554" y="3028949"/>
            <a:ext cx="1857375" cy="242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394B5C"/>
                </a:solidFill>
              </a:defRPr>
            </a:pPr>
            <a:r>
              <a:rPr kumimoji="0" sz="900" b="0" i="0" u="none" strike="noStrike" kern="1200" cap="none" spc="0" normalizeH="0" baseline="0" noProof="0" err="1">
                <a:ln>
                  <a:noFill/>
                </a:ln>
                <a:solidFill>
                  <a:srgbClr val="394B5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统一存储模型与基础权限审计</a:t>
            </a: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394B5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dot-01-2">
            <a:extLst>
              <a:ext uri="{FF2B5EF4-FFF2-40B4-BE49-F238E27FC236}">
                <a16:creationId xmlns:a16="http://schemas.microsoft.com/office/drawing/2014/main" id="{4A62E662-BB42-6642-AD9A-7C9BFC43C392}"/>
              </a:ext>
            </a:extLst>
          </p:cNvPr>
          <p:cNvSpPr>
            <a:spLocks noGrp="1"/>
          </p:cNvSpPr>
          <p:nvPr/>
        </p:nvSpPr>
        <p:spPr>
          <a:xfrm>
            <a:off x="698110" y="3350419"/>
            <a:ext cx="50006" cy="50006"/>
          </a:xfrm>
          <a:prstGeom prst="ellipse">
            <a:avLst/>
          </a:prstGeom>
          <a:solidFill>
            <a:srgbClr val="8AB8D8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bullet-01-2">
            <a:extLst>
              <a:ext uri="{FF2B5EF4-FFF2-40B4-BE49-F238E27FC236}">
                <a16:creationId xmlns:a16="http://schemas.microsoft.com/office/drawing/2014/main" id="{63F8346B-E6F3-4261-10A3-BCE79B5FF7CE}"/>
              </a:ext>
            </a:extLst>
          </p:cNvPr>
          <p:cNvSpPr>
            <a:spLocks noGrp="1"/>
          </p:cNvSpPr>
          <p:nvPr/>
        </p:nvSpPr>
        <p:spPr>
          <a:xfrm>
            <a:off x="819554" y="3286124"/>
            <a:ext cx="1857375" cy="242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394B5C"/>
                </a:solidFill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394B5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实现文件存储与基础数据查阅</a:t>
            </a:r>
          </a:p>
        </p:txBody>
      </p:sp>
      <p:sp>
        <p:nvSpPr>
          <p:cNvPr id="20" name="value-band-01">
            <a:extLst>
              <a:ext uri="{FF2B5EF4-FFF2-40B4-BE49-F238E27FC236}">
                <a16:creationId xmlns:a16="http://schemas.microsoft.com/office/drawing/2014/main" id="{44CDA42C-795F-4480-9BC3-F2E0246F0A48}"/>
              </a:ext>
            </a:extLst>
          </p:cNvPr>
          <p:cNvSpPr>
            <a:spLocks noGrp="1"/>
          </p:cNvSpPr>
          <p:nvPr/>
        </p:nvSpPr>
        <p:spPr>
          <a:xfrm>
            <a:off x="690966" y="3550443"/>
            <a:ext cx="2000250" cy="2000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5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value-01">
            <a:extLst>
              <a:ext uri="{FF2B5EF4-FFF2-40B4-BE49-F238E27FC236}">
                <a16:creationId xmlns:a16="http://schemas.microsoft.com/office/drawing/2014/main" id="{2D142198-4718-8D37-9CB5-C71456A3B4F7}"/>
              </a:ext>
            </a:extLst>
          </p:cNvPr>
          <p:cNvSpPr>
            <a:spLocks noGrp="1"/>
          </p:cNvSpPr>
          <p:nvPr/>
        </p:nvSpPr>
        <p:spPr>
          <a:xfrm>
            <a:off x="762404" y="3564731"/>
            <a:ext cx="18573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1">
                <a:solidFill>
                  <a:srgbClr val="244D72"/>
                </a:solidFill>
              </a:defRPr>
            </a:pPr>
            <a:r>
              <a:rPr kumimoji="0" sz="844" b="1" i="0" u="none" strike="noStrike" kern="1200" cap="none" spc="0" normalizeH="0" baseline="0" noProof="0" err="1">
                <a:ln>
                  <a:noFill/>
                </a:ln>
                <a:solidFill>
                  <a:srgbClr val="244D7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数据可存</a:t>
            </a:r>
            <a:r>
              <a:rPr kumimoji="0" sz="844" b="1" i="0" u="none" strike="noStrike" kern="1200" cap="none" spc="0" normalizeH="0" baseline="0" noProof="0">
                <a:ln>
                  <a:noFill/>
                </a:ln>
                <a:solidFill>
                  <a:srgbClr val="244D7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· </a:t>
            </a:r>
            <a:r>
              <a:rPr kumimoji="0" sz="844" b="1" i="0" u="none" strike="noStrike" kern="1200" cap="none" spc="0" normalizeH="0" baseline="0" noProof="0" err="1">
                <a:ln>
                  <a:noFill/>
                </a:ln>
                <a:solidFill>
                  <a:srgbClr val="244D7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可查</a:t>
            </a:r>
            <a:endParaRPr kumimoji="0" sz="844" b="1" i="0" u="none" strike="noStrike" kern="1200" cap="none" spc="0" normalizeH="0" baseline="0" noProof="0">
              <a:ln>
                <a:noFill/>
              </a:ln>
              <a:solidFill>
                <a:srgbClr val="244D72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card-02">
            <a:extLst>
              <a:ext uri="{FF2B5EF4-FFF2-40B4-BE49-F238E27FC236}">
                <a16:creationId xmlns:a16="http://schemas.microsoft.com/office/drawing/2014/main" id="{CCF11EEC-994C-BDF7-B399-CEEE98B99A3C}"/>
              </a:ext>
            </a:extLst>
          </p:cNvPr>
          <p:cNvSpPr>
            <a:spLocks noGrp="1"/>
          </p:cNvSpPr>
          <p:nvPr/>
        </p:nvSpPr>
        <p:spPr>
          <a:xfrm>
            <a:off x="3341955" y="1350168"/>
            <a:ext cx="2343150" cy="2443163"/>
          </a:xfrm>
          <a:prstGeom prst="rect">
            <a:avLst/>
          </a:prstGeom>
          <a:solidFill>
            <a:srgbClr val="EAF4FB"/>
          </a:solidFill>
          <a:ln w="9525">
            <a:solidFill>
              <a:srgbClr val="D7E1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card-accent-02">
            <a:extLst>
              <a:ext uri="{FF2B5EF4-FFF2-40B4-BE49-F238E27FC236}">
                <a16:creationId xmlns:a16="http://schemas.microsoft.com/office/drawing/2014/main" id="{6BAE8538-AFEC-4951-E26F-C1223ED8196F}"/>
              </a:ext>
            </a:extLst>
          </p:cNvPr>
          <p:cNvSpPr>
            <a:spLocks noGrp="1"/>
          </p:cNvSpPr>
          <p:nvPr/>
        </p:nvSpPr>
        <p:spPr>
          <a:xfrm>
            <a:off x="3341955" y="1350169"/>
            <a:ext cx="2343150" cy="50006"/>
          </a:xfrm>
          <a:prstGeom prst="rect">
            <a:avLst/>
          </a:prstGeom>
          <a:solidFill>
            <a:srgbClr val="4D9BD0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phase-02">
            <a:extLst>
              <a:ext uri="{FF2B5EF4-FFF2-40B4-BE49-F238E27FC236}">
                <a16:creationId xmlns:a16="http://schemas.microsoft.com/office/drawing/2014/main" id="{38A1F9E6-3D7A-D10D-FAA3-DB7509359695}"/>
              </a:ext>
            </a:extLst>
          </p:cNvPr>
          <p:cNvSpPr>
            <a:spLocks noGrp="1"/>
          </p:cNvSpPr>
          <p:nvPr/>
        </p:nvSpPr>
        <p:spPr>
          <a:xfrm>
            <a:off x="3513406" y="1521618"/>
            <a:ext cx="964406" cy="1857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4D9BD0"/>
                </a:solidFill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4D9BD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PHASE 2</a:t>
            </a:r>
          </a:p>
        </p:txBody>
      </p:sp>
      <p:sp>
        <p:nvSpPr>
          <p:cNvPr id="25" name="number-02">
            <a:extLst>
              <a:ext uri="{FF2B5EF4-FFF2-40B4-BE49-F238E27FC236}">
                <a16:creationId xmlns:a16="http://schemas.microsoft.com/office/drawing/2014/main" id="{6E03E5B2-9A77-EDAF-F3EA-14FD84C6A7B2}"/>
              </a:ext>
            </a:extLst>
          </p:cNvPr>
          <p:cNvSpPr>
            <a:spLocks noGrp="1"/>
          </p:cNvSpPr>
          <p:nvPr/>
        </p:nvSpPr>
        <p:spPr>
          <a:xfrm>
            <a:off x="4985018" y="1450180"/>
            <a:ext cx="514350" cy="300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1">
                <a:solidFill>
                  <a:srgbClr val="4D9BD0"/>
                </a:solidFill>
              </a:defRPr>
            </a:pPr>
            <a:r>
              <a:rPr kumimoji="0" sz="1519" b="1" i="0" u="none" strike="noStrike" kern="1200" cap="none" spc="0" normalizeH="0" baseline="0" noProof="0">
                <a:ln>
                  <a:noFill/>
                </a:ln>
                <a:solidFill>
                  <a:srgbClr val="4D9BD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02</a:t>
            </a:r>
          </a:p>
        </p:txBody>
      </p:sp>
      <p:sp>
        <p:nvSpPr>
          <p:cNvPr id="26" name="cn-02">
            <a:extLst>
              <a:ext uri="{FF2B5EF4-FFF2-40B4-BE49-F238E27FC236}">
                <a16:creationId xmlns:a16="http://schemas.microsoft.com/office/drawing/2014/main" id="{74A4D35A-6963-C10D-B4FD-0CB26A10F20B}"/>
              </a:ext>
            </a:extLst>
          </p:cNvPr>
          <p:cNvSpPr>
            <a:spLocks noGrp="1"/>
          </p:cNvSpPr>
          <p:nvPr/>
        </p:nvSpPr>
        <p:spPr>
          <a:xfrm>
            <a:off x="3513404" y="1764945"/>
            <a:ext cx="896817" cy="1714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0">
                <a:solidFill>
                  <a:srgbClr val="728191"/>
                </a:solidFill>
              </a:defRPr>
            </a:pPr>
            <a:r>
              <a:rPr kumimoji="0" sz="1100" b="0" i="0" u="none" strike="noStrike" kern="1200" cap="none" spc="0" normalizeH="0" baseline="0" noProof="0" err="1">
                <a:ln>
                  <a:noFill/>
                </a:ln>
                <a:solidFill>
                  <a:srgbClr val="72819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阶段二</a:t>
            </a:r>
            <a:endParaRPr kumimoji="0" sz="1100" b="0" i="0" u="none" strike="noStrike" kern="1200" cap="none" spc="0" normalizeH="0" baseline="0" noProof="0">
              <a:ln>
                <a:noFill/>
              </a:ln>
              <a:solidFill>
                <a:srgbClr val="72819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itle-02">
            <a:extLst>
              <a:ext uri="{FF2B5EF4-FFF2-40B4-BE49-F238E27FC236}">
                <a16:creationId xmlns:a16="http://schemas.microsoft.com/office/drawing/2014/main" id="{E1146788-CBAA-510B-9C8D-590895C3535B}"/>
              </a:ext>
            </a:extLst>
          </p:cNvPr>
          <p:cNvSpPr>
            <a:spLocks noGrp="1"/>
          </p:cNvSpPr>
          <p:nvPr/>
        </p:nvSpPr>
        <p:spPr>
          <a:xfrm>
            <a:off x="3513405" y="1993106"/>
            <a:ext cx="2000250" cy="3214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25" b="1">
                <a:solidFill>
                  <a:srgbClr val="183B63"/>
                </a:solidFill>
              </a:defRPr>
            </a:pPr>
            <a:r>
              <a:rPr kumimoji="0" sz="1294" b="1" i="0" u="none" strike="noStrike" kern="1200" cap="none" spc="0" normalizeH="0" baseline="0" noProof="0" err="1">
                <a:ln>
                  <a:noFill/>
                </a:ln>
                <a:solidFill>
                  <a:srgbClr val="183B6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能力优化与</a:t>
            </a:r>
            <a:r>
              <a:rPr kumimoji="0" lang="zh-CN" altLang="en-US" sz="1294" b="1" i="0" u="none" strike="noStrike" kern="1200" cap="none" spc="0" normalizeH="0" baseline="0" noProof="0">
                <a:ln>
                  <a:noFill/>
                </a:ln>
                <a:solidFill>
                  <a:srgbClr val="183B6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业务协同</a:t>
            </a:r>
            <a:endParaRPr kumimoji="0" sz="1294" b="1" i="0" u="none" strike="noStrike" kern="1200" cap="none" spc="0" normalizeH="0" baseline="0" noProof="0">
              <a:ln>
                <a:noFill/>
              </a:ln>
              <a:solidFill>
                <a:srgbClr val="183B63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claim-02">
            <a:extLst>
              <a:ext uri="{FF2B5EF4-FFF2-40B4-BE49-F238E27FC236}">
                <a16:creationId xmlns:a16="http://schemas.microsoft.com/office/drawing/2014/main" id="{2DD64427-586D-9ED8-D1B6-502A1A12F128}"/>
              </a:ext>
            </a:extLst>
          </p:cNvPr>
          <p:cNvSpPr>
            <a:spLocks noGrp="1"/>
          </p:cNvSpPr>
          <p:nvPr/>
        </p:nvSpPr>
        <p:spPr>
          <a:xfrm>
            <a:off x="3513405" y="2386012"/>
            <a:ext cx="2000250" cy="2214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1">
                <a:solidFill>
                  <a:srgbClr val="4D9BD0"/>
                </a:solidFill>
              </a:defRPr>
            </a:pPr>
            <a:r>
              <a:rPr kumimoji="0" sz="1013" b="1" i="0" u="none" strike="noStrike" kern="1200" cap="none" spc="0" normalizeH="0" baseline="0" noProof="0">
                <a:ln>
                  <a:noFill/>
                </a:ln>
                <a:solidFill>
                  <a:srgbClr val="4D9BD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拓展能力边界</a:t>
            </a:r>
          </a:p>
        </p:txBody>
      </p:sp>
      <p:sp>
        <p:nvSpPr>
          <p:cNvPr id="29" name="inner-rule-02">
            <a:extLst>
              <a:ext uri="{FF2B5EF4-FFF2-40B4-BE49-F238E27FC236}">
                <a16:creationId xmlns:a16="http://schemas.microsoft.com/office/drawing/2014/main" id="{F37448D7-C886-611D-7702-F60E51FCD365}"/>
              </a:ext>
            </a:extLst>
          </p:cNvPr>
          <p:cNvSpPr>
            <a:spLocks noGrp="1"/>
          </p:cNvSpPr>
          <p:nvPr/>
        </p:nvSpPr>
        <p:spPr>
          <a:xfrm>
            <a:off x="3513405" y="2671762"/>
            <a:ext cx="2000250" cy="7144"/>
          </a:xfrm>
          <a:prstGeom prst="rect">
            <a:avLst/>
          </a:prstGeom>
          <a:solidFill>
            <a:srgbClr val="CAD8E3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dot-02-0">
            <a:extLst>
              <a:ext uri="{FF2B5EF4-FFF2-40B4-BE49-F238E27FC236}">
                <a16:creationId xmlns:a16="http://schemas.microsoft.com/office/drawing/2014/main" id="{67009386-B7A5-6E10-CFAB-A42B6926A3C3}"/>
              </a:ext>
            </a:extLst>
          </p:cNvPr>
          <p:cNvSpPr>
            <a:spLocks noGrp="1"/>
          </p:cNvSpPr>
          <p:nvPr/>
        </p:nvSpPr>
        <p:spPr>
          <a:xfrm>
            <a:off x="3520549" y="2836069"/>
            <a:ext cx="50006" cy="50006"/>
          </a:xfrm>
          <a:prstGeom prst="ellipse">
            <a:avLst/>
          </a:prstGeom>
          <a:solidFill>
            <a:srgbClr val="4D9BD0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bullet-02-0">
            <a:extLst>
              <a:ext uri="{FF2B5EF4-FFF2-40B4-BE49-F238E27FC236}">
                <a16:creationId xmlns:a16="http://schemas.microsoft.com/office/drawing/2014/main" id="{81F02409-851A-D9AB-1AAB-244643424514}"/>
              </a:ext>
            </a:extLst>
          </p:cNvPr>
          <p:cNvSpPr>
            <a:spLocks noGrp="1"/>
          </p:cNvSpPr>
          <p:nvPr/>
        </p:nvSpPr>
        <p:spPr>
          <a:xfrm>
            <a:off x="3641993" y="2771774"/>
            <a:ext cx="1857375" cy="242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394B5C"/>
                </a:solidFill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394B5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可配置页面与多维高级检索</a:t>
            </a:r>
          </a:p>
        </p:txBody>
      </p:sp>
      <p:sp>
        <p:nvSpPr>
          <p:cNvPr id="32" name="dot-02-1">
            <a:extLst>
              <a:ext uri="{FF2B5EF4-FFF2-40B4-BE49-F238E27FC236}">
                <a16:creationId xmlns:a16="http://schemas.microsoft.com/office/drawing/2014/main" id="{542113C6-DF14-BC79-EEC4-81EECF19D736}"/>
              </a:ext>
            </a:extLst>
          </p:cNvPr>
          <p:cNvSpPr>
            <a:spLocks noGrp="1"/>
          </p:cNvSpPr>
          <p:nvPr/>
        </p:nvSpPr>
        <p:spPr>
          <a:xfrm>
            <a:off x="3520549" y="3093244"/>
            <a:ext cx="50006" cy="50006"/>
          </a:xfrm>
          <a:prstGeom prst="ellipse">
            <a:avLst/>
          </a:prstGeom>
          <a:solidFill>
            <a:srgbClr val="4D9BD0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bullet-02-1">
            <a:extLst>
              <a:ext uri="{FF2B5EF4-FFF2-40B4-BE49-F238E27FC236}">
                <a16:creationId xmlns:a16="http://schemas.microsoft.com/office/drawing/2014/main" id="{635EC81E-BF57-3EFC-E6C1-4A486359EB01}"/>
              </a:ext>
            </a:extLst>
          </p:cNvPr>
          <p:cNvSpPr>
            <a:spLocks noGrp="1"/>
          </p:cNvSpPr>
          <p:nvPr/>
        </p:nvSpPr>
        <p:spPr>
          <a:xfrm>
            <a:off x="3641993" y="3028949"/>
            <a:ext cx="1857375" cy="242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394B5C"/>
                </a:solidFill>
              </a:defRPr>
            </a:pP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394B5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全生命周期合规流程闭环</a:t>
            </a: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394B5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dot-02-2">
            <a:extLst>
              <a:ext uri="{FF2B5EF4-FFF2-40B4-BE49-F238E27FC236}">
                <a16:creationId xmlns:a16="http://schemas.microsoft.com/office/drawing/2014/main" id="{C1814B3B-BE0D-7443-0B3E-4DA89375E6E6}"/>
              </a:ext>
            </a:extLst>
          </p:cNvPr>
          <p:cNvSpPr>
            <a:spLocks noGrp="1"/>
          </p:cNvSpPr>
          <p:nvPr/>
        </p:nvSpPr>
        <p:spPr>
          <a:xfrm>
            <a:off x="3520549" y="3350419"/>
            <a:ext cx="50006" cy="50006"/>
          </a:xfrm>
          <a:prstGeom prst="ellipse">
            <a:avLst/>
          </a:prstGeom>
          <a:solidFill>
            <a:srgbClr val="4D9BD0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bullet-02-2">
            <a:extLst>
              <a:ext uri="{FF2B5EF4-FFF2-40B4-BE49-F238E27FC236}">
                <a16:creationId xmlns:a16="http://schemas.microsoft.com/office/drawing/2014/main" id="{0788A7C5-1593-7B0F-0239-CCA201691D8E}"/>
              </a:ext>
            </a:extLst>
          </p:cNvPr>
          <p:cNvSpPr>
            <a:spLocks noGrp="1"/>
          </p:cNvSpPr>
          <p:nvPr/>
        </p:nvSpPr>
        <p:spPr>
          <a:xfrm>
            <a:off x="3641993" y="3286124"/>
            <a:ext cx="1857375" cy="242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394B5C"/>
                </a:solidFill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394B5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完善分类体系与运维优化能力</a:t>
            </a:r>
          </a:p>
        </p:txBody>
      </p:sp>
      <p:sp>
        <p:nvSpPr>
          <p:cNvPr id="36" name="value-band-02">
            <a:extLst>
              <a:ext uri="{FF2B5EF4-FFF2-40B4-BE49-F238E27FC236}">
                <a16:creationId xmlns:a16="http://schemas.microsoft.com/office/drawing/2014/main" id="{BE8991C5-E576-10A9-06E5-AFC6731BAE0C}"/>
              </a:ext>
            </a:extLst>
          </p:cNvPr>
          <p:cNvSpPr>
            <a:spLocks noGrp="1"/>
          </p:cNvSpPr>
          <p:nvPr/>
        </p:nvSpPr>
        <p:spPr>
          <a:xfrm>
            <a:off x="3513405" y="3550443"/>
            <a:ext cx="2000250" cy="2000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5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value-02">
            <a:extLst>
              <a:ext uri="{FF2B5EF4-FFF2-40B4-BE49-F238E27FC236}">
                <a16:creationId xmlns:a16="http://schemas.microsoft.com/office/drawing/2014/main" id="{D293C37A-2090-0C2A-482E-5CC94A698428}"/>
              </a:ext>
            </a:extLst>
          </p:cNvPr>
          <p:cNvSpPr>
            <a:spLocks noGrp="1"/>
          </p:cNvSpPr>
          <p:nvPr/>
        </p:nvSpPr>
        <p:spPr>
          <a:xfrm>
            <a:off x="3584843" y="3564731"/>
            <a:ext cx="18573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1">
                <a:solidFill>
                  <a:srgbClr val="244D72"/>
                </a:solidFill>
              </a:defRPr>
            </a:pPr>
            <a:r>
              <a:rPr kumimoji="0" sz="844" b="1" i="0" u="none" strike="noStrike" kern="1200" cap="none" spc="0" normalizeH="0" baseline="0" noProof="0">
                <a:ln>
                  <a:noFill/>
                </a:ln>
                <a:solidFill>
                  <a:srgbClr val="244D7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体验升级 · 成本优化</a:t>
            </a:r>
          </a:p>
        </p:txBody>
      </p:sp>
      <p:sp>
        <p:nvSpPr>
          <p:cNvPr id="38" name="card-03">
            <a:extLst>
              <a:ext uri="{FF2B5EF4-FFF2-40B4-BE49-F238E27FC236}">
                <a16:creationId xmlns:a16="http://schemas.microsoft.com/office/drawing/2014/main" id="{0102BBAC-091A-E533-8500-8891B49EE81E}"/>
              </a:ext>
            </a:extLst>
          </p:cNvPr>
          <p:cNvSpPr>
            <a:spLocks noGrp="1"/>
          </p:cNvSpPr>
          <p:nvPr/>
        </p:nvSpPr>
        <p:spPr>
          <a:xfrm>
            <a:off x="6153739" y="1350168"/>
            <a:ext cx="2343150" cy="2443163"/>
          </a:xfrm>
          <a:prstGeom prst="rect">
            <a:avLst/>
          </a:prstGeom>
          <a:solidFill>
            <a:srgbClr val="E1F0FA"/>
          </a:solidFill>
          <a:ln w="9525">
            <a:solidFill>
              <a:srgbClr val="D7E1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card-accent-03">
            <a:extLst>
              <a:ext uri="{FF2B5EF4-FFF2-40B4-BE49-F238E27FC236}">
                <a16:creationId xmlns:a16="http://schemas.microsoft.com/office/drawing/2014/main" id="{6E593878-408F-DC17-0886-CDF5303F014A}"/>
              </a:ext>
            </a:extLst>
          </p:cNvPr>
          <p:cNvSpPr>
            <a:spLocks noGrp="1"/>
          </p:cNvSpPr>
          <p:nvPr/>
        </p:nvSpPr>
        <p:spPr>
          <a:xfrm>
            <a:off x="6153739" y="1350169"/>
            <a:ext cx="2343150" cy="50006"/>
          </a:xfrm>
          <a:prstGeom prst="rect">
            <a:avLst/>
          </a:prstGeom>
          <a:solidFill>
            <a:srgbClr val="1978B8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phase-03">
            <a:extLst>
              <a:ext uri="{FF2B5EF4-FFF2-40B4-BE49-F238E27FC236}">
                <a16:creationId xmlns:a16="http://schemas.microsoft.com/office/drawing/2014/main" id="{9C88D900-C9A3-BB5E-F61B-2FCD0694217A}"/>
              </a:ext>
            </a:extLst>
          </p:cNvPr>
          <p:cNvSpPr>
            <a:spLocks noGrp="1"/>
          </p:cNvSpPr>
          <p:nvPr/>
        </p:nvSpPr>
        <p:spPr>
          <a:xfrm>
            <a:off x="6325190" y="1521618"/>
            <a:ext cx="964406" cy="1857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1978B8"/>
                </a:solidFill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1978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PHASE 3</a:t>
            </a:r>
          </a:p>
        </p:txBody>
      </p:sp>
      <p:sp>
        <p:nvSpPr>
          <p:cNvPr id="41" name="number-03">
            <a:extLst>
              <a:ext uri="{FF2B5EF4-FFF2-40B4-BE49-F238E27FC236}">
                <a16:creationId xmlns:a16="http://schemas.microsoft.com/office/drawing/2014/main" id="{F2A1451F-59EE-E12A-F5D1-094B8CF6BB87}"/>
              </a:ext>
            </a:extLst>
          </p:cNvPr>
          <p:cNvSpPr>
            <a:spLocks noGrp="1"/>
          </p:cNvSpPr>
          <p:nvPr/>
        </p:nvSpPr>
        <p:spPr>
          <a:xfrm>
            <a:off x="7796802" y="1450180"/>
            <a:ext cx="514350" cy="300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1">
                <a:solidFill>
                  <a:srgbClr val="1978B8"/>
                </a:solidFill>
              </a:defRPr>
            </a:pPr>
            <a:r>
              <a:rPr kumimoji="0" sz="1519" b="1" i="0" u="none" strike="noStrike" kern="1200" cap="none" spc="0" normalizeH="0" baseline="0" noProof="0">
                <a:ln>
                  <a:noFill/>
                </a:ln>
                <a:solidFill>
                  <a:srgbClr val="1978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03</a:t>
            </a:r>
          </a:p>
        </p:txBody>
      </p:sp>
      <p:sp>
        <p:nvSpPr>
          <p:cNvPr id="42" name="cn-03">
            <a:extLst>
              <a:ext uri="{FF2B5EF4-FFF2-40B4-BE49-F238E27FC236}">
                <a16:creationId xmlns:a16="http://schemas.microsoft.com/office/drawing/2014/main" id="{AB4A373A-1831-D8AB-B7AB-A70D39B1BC30}"/>
              </a:ext>
            </a:extLst>
          </p:cNvPr>
          <p:cNvSpPr>
            <a:spLocks noGrp="1"/>
          </p:cNvSpPr>
          <p:nvPr/>
        </p:nvSpPr>
        <p:spPr>
          <a:xfrm>
            <a:off x="6325188" y="1764945"/>
            <a:ext cx="964405" cy="1500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0">
                <a:solidFill>
                  <a:srgbClr val="728191"/>
                </a:solidFill>
              </a:defRPr>
            </a:pPr>
            <a:r>
              <a:rPr kumimoji="0" sz="1100" b="0" i="0" u="none" strike="noStrike" kern="1200" cap="none" spc="0" normalizeH="0" baseline="0" noProof="0" err="1">
                <a:ln>
                  <a:noFill/>
                </a:ln>
                <a:solidFill>
                  <a:srgbClr val="72819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阶段三</a:t>
            </a:r>
            <a:endParaRPr kumimoji="0" sz="1100" b="0" i="0" u="none" strike="noStrike" kern="1200" cap="none" spc="0" normalizeH="0" baseline="0" noProof="0">
              <a:ln>
                <a:noFill/>
              </a:ln>
              <a:solidFill>
                <a:srgbClr val="72819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" name="title-03">
            <a:extLst>
              <a:ext uri="{FF2B5EF4-FFF2-40B4-BE49-F238E27FC236}">
                <a16:creationId xmlns:a16="http://schemas.microsoft.com/office/drawing/2014/main" id="{755891BF-9050-3E78-B2B4-350538E95460}"/>
              </a:ext>
            </a:extLst>
          </p:cNvPr>
          <p:cNvSpPr>
            <a:spLocks noGrp="1"/>
          </p:cNvSpPr>
          <p:nvPr/>
        </p:nvSpPr>
        <p:spPr>
          <a:xfrm>
            <a:off x="6325189" y="1993106"/>
            <a:ext cx="2000250" cy="3214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25" b="1">
                <a:solidFill>
                  <a:srgbClr val="183B63"/>
                </a:solidFill>
              </a:defRPr>
            </a:pPr>
            <a:r>
              <a:rPr kumimoji="0" sz="1294" b="1" i="0" u="none" strike="noStrike" kern="1200" cap="none" spc="0" normalizeH="0" baseline="0" noProof="0">
                <a:ln>
                  <a:noFill/>
                </a:ln>
                <a:solidFill>
                  <a:srgbClr val="183B6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AI赋能与智能升级</a:t>
            </a:r>
          </a:p>
        </p:txBody>
      </p:sp>
      <p:sp>
        <p:nvSpPr>
          <p:cNvPr id="44" name="claim-03">
            <a:extLst>
              <a:ext uri="{FF2B5EF4-FFF2-40B4-BE49-F238E27FC236}">
                <a16:creationId xmlns:a16="http://schemas.microsoft.com/office/drawing/2014/main" id="{5B61CC13-C071-C3EA-8314-1E38F8AF576A}"/>
              </a:ext>
            </a:extLst>
          </p:cNvPr>
          <p:cNvSpPr>
            <a:spLocks noGrp="1"/>
          </p:cNvSpPr>
          <p:nvPr/>
        </p:nvSpPr>
        <p:spPr>
          <a:xfrm>
            <a:off x="6325189" y="2386012"/>
            <a:ext cx="2000250" cy="2214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1">
                <a:solidFill>
                  <a:srgbClr val="1978B8"/>
                </a:solidFill>
              </a:defRPr>
            </a:pPr>
            <a:r>
              <a:rPr kumimoji="0" sz="1013" b="1" i="0" u="none" strike="noStrike" kern="1200" cap="none" spc="0" normalizeH="0" baseline="0" noProof="0">
                <a:ln>
                  <a:noFill/>
                </a:ln>
                <a:solidFill>
                  <a:srgbClr val="1978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释放数据价值</a:t>
            </a:r>
          </a:p>
        </p:txBody>
      </p:sp>
      <p:sp>
        <p:nvSpPr>
          <p:cNvPr id="45" name="inner-rule-03">
            <a:extLst>
              <a:ext uri="{FF2B5EF4-FFF2-40B4-BE49-F238E27FC236}">
                <a16:creationId xmlns:a16="http://schemas.microsoft.com/office/drawing/2014/main" id="{9A013B40-AC25-B4C0-B6F0-9B81CFB13739}"/>
              </a:ext>
            </a:extLst>
          </p:cNvPr>
          <p:cNvSpPr>
            <a:spLocks noGrp="1"/>
          </p:cNvSpPr>
          <p:nvPr/>
        </p:nvSpPr>
        <p:spPr>
          <a:xfrm>
            <a:off x="6325189" y="2671762"/>
            <a:ext cx="2000250" cy="7144"/>
          </a:xfrm>
          <a:prstGeom prst="rect">
            <a:avLst/>
          </a:prstGeom>
          <a:solidFill>
            <a:srgbClr val="CAD8E3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dot-03-0">
            <a:extLst>
              <a:ext uri="{FF2B5EF4-FFF2-40B4-BE49-F238E27FC236}">
                <a16:creationId xmlns:a16="http://schemas.microsoft.com/office/drawing/2014/main" id="{89D65F9C-3361-56AD-5561-032FAE7F2515}"/>
              </a:ext>
            </a:extLst>
          </p:cNvPr>
          <p:cNvSpPr>
            <a:spLocks noGrp="1"/>
          </p:cNvSpPr>
          <p:nvPr/>
        </p:nvSpPr>
        <p:spPr>
          <a:xfrm>
            <a:off x="6332333" y="2836069"/>
            <a:ext cx="50006" cy="50006"/>
          </a:xfrm>
          <a:prstGeom prst="ellipse">
            <a:avLst/>
          </a:prstGeom>
          <a:solidFill>
            <a:srgbClr val="1978B8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bullet-03-0">
            <a:extLst>
              <a:ext uri="{FF2B5EF4-FFF2-40B4-BE49-F238E27FC236}">
                <a16:creationId xmlns:a16="http://schemas.microsoft.com/office/drawing/2014/main" id="{5F470DD2-5EF5-6764-78FE-B195AED73102}"/>
              </a:ext>
            </a:extLst>
          </p:cNvPr>
          <p:cNvSpPr>
            <a:spLocks noGrp="1"/>
          </p:cNvSpPr>
          <p:nvPr/>
        </p:nvSpPr>
        <p:spPr>
          <a:xfrm>
            <a:off x="6453777" y="2771774"/>
            <a:ext cx="1857375" cy="242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394B5C"/>
                </a:solidFill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394B5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语义检索与AI内容解析</a:t>
            </a:r>
          </a:p>
        </p:txBody>
      </p:sp>
      <p:sp>
        <p:nvSpPr>
          <p:cNvPr id="48" name="dot-03-1">
            <a:extLst>
              <a:ext uri="{FF2B5EF4-FFF2-40B4-BE49-F238E27FC236}">
                <a16:creationId xmlns:a16="http://schemas.microsoft.com/office/drawing/2014/main" id="{FC7848DA-2256-B684-5BBB-8BB22036C819}"/>
              </a:ext>
            </a:extLst>
          </p:cNvPr>
          <p:cNvSpPr>
            <a:spLocks noGrp="1"/>
          </p:cNvSpPr>
          <p:nvPr/>
        </p:nvSpPr>
        <p:spPr>
          <a:xfrm>
            <a:off x="6332333" y="3093244"/>
            <a:ext cx="50006" cy="50006"/>
          </a:xfrm>
          <a:prstGeom prst="ellipse">
            <a:avLst/>
          </a:prstGeom>
          <a:solidFill>
            <a:srgbClr val="1978B8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bullet-03-1">
            <a:extLst>
              <a:ext uri="{FF2B5EF4-FFF2-40B4-BE49-F238E27FC236}">
                <a16:creationId xmlns:a16="http://schemas.microsoft.com/office/drawing/2014/main" id="{43CDCCE6-1DE9-9995-CFB0-0F0AE577A06A}"/>
              </a:ext>
            </a:extLst>
          </p:cNvPr>
          <p:cNvSpPr>
            <a:spLocks noGrp="1"/>
          </p:cNvSpPr>
          <p:nvPr/>
        </p:nvSpPr>
        <p:spPr>
          <a:xfrm>
            <a:off x="6453777" y="3028949"/>
            <a:ext cx="1857375" cy="242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394B5C"/>
                </a:solidFill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394B5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智能归类、合规辅助与风险预警</a:t>
            </a:r>
          </a:p>
        </p:txBody>
      </p:sp>
      <p:sp>
        <p:nvSpPr>
          <p:cNvPr id="50" name="dot-03-2">
            <a:extLst>
              <a:ext uri="{FF2B5EF4-FFF2-40B4-BE49-F238E27FC236}">
                <a16:creationId xmlns:a16="http://schemas.microsoft.com/office/drawing/2014/main" id="{F4178C58-F550-FDDE-175C-FF9172308502}"/>
              </a:ext>
            </a:extLst>
          </p:cNvPr>
          <p:cNvSpPr>
            <a:spLocks noGrp="1"/>
          </p:cNvSpPr>
          <p:nvPr/>
        </p:nvSpPr>
        <p:spPr>
          <a:xfrm>
            <a:off x="6332333" y="3350419"/>
            <a:ext cx="50006" cy="50006"/>
          </a:xfrm>
          <a:prstGeom prst="ellipse">
            <a:avLst/>
          </a:prstGeom>
          <a:solidFill>
            <a:srgbClr val="1978B8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bullet-03-2">
            <a:extLst>
              <a:ext uri="{FF2B5EF4-FFF2-40B4-BE49-F238E27FC236}">
                <a16:creationId xmlns:a16="http://schemas.microsoft.com/office/drawing/2014/main" id="{60DD0AA0-F727-59D0-A441-41A6F3D5619D}"/>
              </a:ext>
            </a:extLst>
          </p:cNvPr>
          <p:cNvSpPr>
            <a:spLocks noGrp="1"/>
          </p:cNvSpPr>
          <p:nvPr/>
        </p:nvSpPr>
        <p:spPr>
          <a:xfrm>
            <a:off x="6453777" y="3286124"/>
            <a:ext cx="1857375" cy="242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394B5C"/>
                </a:solidFill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394B5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自动统计，支撑业务洞察与复盘</a:t>
            </a:r>
          </a:p>
        </p:txBody>
      </p:sp>
      <p:sp>
        <p:nvSpPr>
          <p:cNvPr id="52" name="value-band-03">
            <a:extLst>
              <a:ext uri="{FF2B5EF4-FFF2-40B4-BE49-F238E27FC236}">
                <a16:creationId xmlns:a16="http://schemas.microsoft.com/office/drawing/2014/main" id="{E7BC5762-5A80-4C04-4AC1-209BB225CDF6}"/>
              </a:ext>
            </a:extLst>
          </p:cNvPr>
          <p:cNvSpPr>
            <a:spLocks noGrp="1"/>
          </p:cNvSpPr>
          <p:nvPr/>
        </p:nvSpPr>
        <p:spPr>
          <a:xfrm>
            <a:off x="6325189" y="3550443"/>
            <a:ext cx="2000250" cy="2000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5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value-03">
            <a:extLst>
              <a:ext uri="{FF2B5EF4-FFF2-40B4-BE49-F238E27FC236}">
                <a16:creationId xmlns:a16="http://schemas.microsoft.com/office/drawing/2014/main" id="{715CB392-23B7-5C94-1CB3-BFE013505473}"/>
              </a:ext>
            </a:extLst>
          </p:cNvPr>
          <p:cNvSpPr>
            <a:spLocks noGrp="1"/>
          </p:cNvSpPr>
          <p:nvPr/>
        </p:nvSpPr>
        <p:spPr>
          <a:xfrm>
            <a:off x="6396627" y="3564731"/>
            <a:ext cx="18573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1">
                <a:solidFill>
                  <a:srgbClr val="244D72"/>
                </a:solidFill>
              </a:defRPr>
            </a:pPr>
            <a:r>
              <a:rPr kumimoji="0" sz="844" b="1" i="0" u="none" strike="noStrike" kern="1200" cap="none" spc="0" normalizeH="0" baseline="0" noProof="0">
                <a:ln>
                  <a:noFill/>
                </a:ln>
                <a:solidFill>
                  <a:srgbClr val="244D7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智能理解 · 主动赋能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A73E871-A40E-87E3-7200-E9ADD6F7C717}"/>
              </a:ext>
            </a:extLst>
          </p:cNvPr>
          <p:cNvSpPr/>
          <p:nvPr/>
        </p:nvSpPr>
        <p:spPr>
          <a:xfrm>
            <a:off x="524843" y="4064793"/>
            <a:ext cx="7977373" cy="490610"/>
          </a:xfrm>
          <a:prstGeom prst="rect">
            <a:avLst/>
          </a:prstGeom>
          <a:solidFill>
            <a:srgbClr val="EAF4FB"/>
          </a:solidFill>
          <a:ln w="9525">
            <a:solidFill>
              <a:srgbClr val="D7E1E8"/>
            </a:solidFill>
            <a:prstDash val="solid"/>
          </a:ln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>
                <a:ln>
                  <a:noFill/>
                </a:ln>
                <a:solidFill>
                  <a:srgbClr val="394B5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核心总结：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394B5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通过基础数据归档、平台能力优化、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94B5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AI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394B5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智能化升级三个阶段的递进式建设，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94B5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RIMS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394B5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将逐步实现从“数据可存、可查”向“数据可理解、可洞察、可赋能”转变，持续拓展平台能力边界并释放数据资产价值。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CF71B2B8-FE99-D75E-1DD0-1D2E805606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>
                <a:solidFill>
                  <a:srgbClr val="004F71"/>
                </a:solidFill>
              </a:rPr>
              <a:t>China RIMS Solution Proposal</a:t>
            </a:r>
          </a:p>
          <a:p>
            <a:endParaRPr lang="zh-CN" altLang="en-US"/>
          </a:p>
        </p:txBody>
      </p:sp>
      <p:sp>
        <p:nvSpPr>
          <p:cNvPr id="55" name="Title 54">
            <a:extLst>
              <a:ext uri="{FF2B5EF4-FFF2-40B4-BE49-F238E27FC236}">
                <a16:creationId xmlns:a16="http://schemas.microsoft.com/office/drawing/2014/main" id="{A7E4C73E-EF0C-DB65-7A71-06F932CE7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009CDE"/>
                </a:solidFill>
              </a:rPr>
              <a:t>三阶段演进，构建面向未来的智能化归档平台</a:t>
            </a:r>
            <a:br>
              <a:rPr lang="zh-CN" altLang="en-US">
                <a:solidFill>
                  <a:srgbClr val="009CDE"/>
                </a:solidFill>
              </a:rPr>
            </a:b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89613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4610A-29D1-544B-97FA-C82CF67D4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>
            <a:extLst>
              <a:ext uri="{FF2B5EF4-FFF2-40B4-BE49-F238E27FC236}">
                <a16:creationId xmlns:a16="http://schemas.microsoft.com/office/drawing/2014/main" id="{1C72D9E7-683D-98AD-96A6-DD7D08B43BCA}"/>
              </a:ext>
            </a:extLst>
          </p:cNvPr>
          <p:cNvSpPr/>
          <p:nvPr/>
        </p:nvSpPr>
        <p:spPr>
          <a:xfrm>
            <a:off x="377862" y="1323734"/>
            <a:ext cx="8382000" cy="809625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5A9C">
                <a:alpha val="10000"/>
              </a:srgbClr>
            </a:solidFill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38402B4C-39C5-C7B4-E872-6FA47AA497D1}"/>
              </a:ext>
            </a:extLst>
          </p:cNvPr>
          <p:cNvSpPr/>
          <p:nvPr/>
        </p:nvSpPr>
        <p:spPr>
          <a:xfrm>
            <a:off x="370241" y="1318969"/>
            <a:ext cx="45719" cy="809625"/>
          </a:xfrm>
          <a:prstGeom prst="roundRect">
            <a:avLst>
              <a:gd name="adj" fmla="val 0"/>
            </a:avLst>
          </a:prstGeom>
          <a:solidFill>
            <a:srgbClr val="00B0F0"/>
          </a:solidFill>
          <a:ln w="25400" cap="flat" cmpd="sng">
            <a:noFill/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AutoShape 8">
            <a:extLst>
              <a:ext uri="{FF2B5EF4-FFF2-40B4-BE49-F238E27FC236}">
                <a16:creationId xmlns:a16="http://schemas.microsoft.com/office/drawing/2014/main" id="{2726A661-BEEA-7D79-3EA8-9854D5B57C09}"/>
              </a:ext>
            </a:extLst>
          </p:cNvPr>
          <p:cNvSpPr/>
          <p:nvPr/>
        </p:nvSpPr>
        <p:spPr>
          <a:xfrm>
            <a:off x="588644" y="1590673"/>
            <a:ext cx="7905750" cy="5238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2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AutoShape 9">
            <a:extLst>
              <a:ext uri="{FF2B5EF4-FFF2-40B4-BE49-F238E27FC236}">
                <a16:creationId xmlns:a16="http://schemas.microsoft.com/office/drawing/2014/main" id="{5902FBC3-6A1A-7DA5-6EA9-EA9A906DA3A5}"/>
              </a:ext>
            </a:extLst>
          </p:cNvPr>
          <p:cNvSpPr/>
          <p:nvPr/>
        </p:nvSpPr>
        <p:spPr>
          <a:xfrm>
            <a:off x="360044" y="2447925"/>
            <a:ext cx="3004187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5A9C">
                <a:alpha val="10000"/>
              </a:srgbClr>
            </a:solidFill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AutoShape 10">
            <a:extLst>
              <a:ext uri="{FF2B5EF4-FFF2-40B4-BE49-F238E27FC236}">
                <a16:creationId xmlns:a16="http://schemas.microsoft.com/office/drawing/2014/main" id="{A7CCDDF1-B904-68EA-9E26-365DE5DFD206}"/>
              </a:ext>
            </a:extLst>
          </p:cNvPr>
          <p:cNvSpPr/>
          <p:nvPr/>
        </p:nvSpPr>
        <p:spPr>
          <a:xfrm>
            <a:off x="382904" y="2407919"/>
            <a:ext cx="2981328" cy="45719"/>
          </a:xfrm>
          <a:prstGeom prst="roundRect">
            <a:avLst>
              <a:gd name="adj" fmla="val 0"/>
            </a:avLst>
          </a:prstGeom>
          <a:solidFill>
            <a:srgbClr val="00B0F0"/>
          </a:solidFill>
          <a:ln w="25400" cap="flat" cmpd="sng">
            <a:solidFill>
              <a:srgbClr val="00B0F0"/>
            </a:solidFill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AutoShape 12">
            <a:extLst>
              <a:ext uri="{FF2B5EF4-FFF2-40B4-BE49-F238E27FC236}">
                <a16:creationId xmlns:a16="http://schemas.microsoft.com/office/drawing/2014/main" id="{FEF531E8-A06B-A3DE-DDDE-088D19021BB2}"/>
              </a:ext>
            </a:extLst>
          </p:cNvPr>
          <p:cNvSpPr/>
          <p:nvPr/>
        </p:nvSpPr>
        <p:spPr>
          <a:xfrm>
            <a:off x="455294" y="2847973"/>
            <a:ext cx="2771775" cy="561975"/>
          </a:xfrm>
          <a:prstGeom prst="roundRect">
            <a:avLst>
              <a:gd name="adj" fmla="val 0"/>
            </a:avLst>
          </a:prstGeom>
          <a:solidFill>
            <a:srgbClr val="005A9C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0" name="Picture 13">
            <a:extLst>
              <a:ext uri="{FF2B5EF4-FFF2-40B4-BE49-F238E27FC236}">
                <a16:creationId xmlns:a16="http://schemas.microsoft.com/office/drawing/2014/main" id="{DDC4439A-C538-F633-A0B0-2BA5F5967E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2444" y="2974179"/>
            <a:ext cx="266700" cy="266700"/>
          </a:xfrm>
          <a:prstGeom prst="rect">
            <a:avLst/>
          </a:prstGeom>
        </p:spPr>
      </p:pic>
      <p:sp>
        <p:nvSpPr>
          <p:cNvPr id="21" name="AutoShape 14">
            <a:extLst>
              <a:ext uri="{FF2B5EF4-FFF2-40B4-BE49-F238E27FC236}">
                <a16:creationId xmlns:a16="http://schemas.microsoft.com/office/drawing/2014/main" id="{75775EFB-90F8-5764-FFA2-93F7A0A3C81A}"/>
              </a:ext>
            </a:extLst>
          </p:cNvPr>
          <p:cNvSpPr/>
          <p:nvPr/>
        </p:nvSpPr>
        <p:spPr>
          <a:xfrm>
            <a:off x="836295" y="2857498"/>
            <a:ext cx="23241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文件存储</a:t>
            </a:r>
            <a:endParaRPr kumimoji="0" lang="en-US" altLang="zh-CN" sz="1050" b="1" i="0" u="none" strike="noStrike" kern="1200" cap="none" spc="0" normalizeH="0" baseline="0" noProof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承接过往所有下线退役系统的结构化数据、本地</a:t>
            </a: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Blob</a:t>
            </a: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附件文件归档存储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6B7280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4" name="AutoShape 15">
            <a:extLst>
              <a:ext uri="{FF2B5EF4-FFF2-40B4-BE49-F238E27FC236}">
                <a16:creationId xmlns:a16="http://schemas.microsoft.com/office/drawing/2014/main" id="{0695738F-2959-B44C-27F6-2C5DDAF8B554}"/>
              </a:ext>
            </a:extLst>
          </p:cNvPr>
          <p:cNvSpPr/>
          <p:nvPr/>
        </p:nvSpPr>
        <p:spPr>
          <a:xfrm>
            <a:off x="461012" y="3512343"/>
            <a:ext cx="2766057" cy="884391"/>
          </a:xfrm>
          <a:prstGeom prst="roundRect">
            <a:avLst>
              <a:gd name="adj" fmla="val 0"/>
            </a:avLst>
          </a:prstGeom>
          <a:solidFill>
            <a:srgbClr val="005A9C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5" name="Picture 16">
            <a:extLst>
              <a:ext uri="{FF2B5EF4-FFF2-40B4-BE49-F238E27FC236}">
                <a16:creationId xmlns:a16="http://schemas.microsoft.com/office/drawing/2014/main" id="{ACFAB615-AD0E-576B-4883-E6ED7C19B9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2444" y="3703323"/>
            <a:ext cx="266700" cy="266700"/>
          </a:xfrm>
          <a:prstGeom prst="rect">
            <a:avLst/>
          </a:prstGeom>
        </p:spPr>
      </p:pic>
      <p:sp>
        <p:nvSpPr>
          <p:cNvPr id="26" name="AutoShape 17">
            <a:extLst>
              <a:ext uri="{FF2B5EF4-FFF2-40B4-BE49-F238E27FC236}">
                <a16:creationId xmlns:a16="http://schemas.microsoft.com/office/drawing/2014/main" id="{6651658F-4A64-C37D-73F3-07EE675B43BA}"/>
              </a:ext>
            </a:extLst>
          </p:cNvPr>
          <p:cNvSpPr/>
          <p:nvPr/>
        </p:nvSpPr>
        <p:spPr>
          <a:xfrm>
            <a:off x="860105" y="3731898"/>
            <a:ext cx="2381251" cy="44291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+mn-cs"/>
                <a:sym typeface="Noto Sans SC"/>
              </a:rPr>
              <a:t>基础数据查阅</a:t>
            </a:r>
            <a:endParaRPr kumimoji="0" lang="en-US" sz="82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支持业务、</a:t>
            </a: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IT</a:t>
            </a: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人员日常基础数据查阅，满足基础运维核查与简易审计调取需求，解决历史数据分散、无统一存储入口的核心痛点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6B7280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7" name="AutoShape 21">
            <a:extLst>
              <a:ext uri="{FF2B5EF4-FFF2-40B4-BE49-F238E27FC236}">
                <a16:creationId xmlns:a16="http://schemas.microsoft.com/office/drawing/2014/main" id="{BF01815E-6168-52A7-4CE9-3DC35680A69C}"/>
              </a:ext>
            </a:extLst>
          </p:cNvPr>
          <p:cNvSpPr/>
          <p:nvPr/>
        </p:nvSpPr>
        <p:spPr>
          <a:xfrm>
            <a:off x="3541396" y="2446020"/>
            <a:ext cx="5242559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5A9C">
                <a:alpha val="10000"/>
              </a:srgbClr>
            </a:solidFill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AutoShape 22">
            <a:extLst>
              <a:ext uri="{FF2B5EF4-FFF2-40B4-BE49-F238E27FC236}">
                <a16:creationId xmlns:a16="http://schemas.microsoft.com/office/drawing/2014/main" id="{3253CCE5-0A8A-A4D3-AC9E-C891BFFDA7E1}"/>
              </a:ext>
            </a:extLst>
          </p:cNvPr>
          <p:cNvSpPr/>
          <p:nvPr/>
        </p:nvSpPr>
        <p:spPr>
          <a:xfrm flipV="1">
            <a:off x="3543401" y="2407918"/>
            <a:ext cx="5240554" cy="45719"/>
          </a:xfrm>
          <a:prstGeom prst="roundRect">
            <a:avLst>
              <a:gd name="adj" fmla="val 0"/>
            </a:avLst>
          </a:prstGeom>
          <a:solidFill>
            <a:srgbClr val="00B0F0"/>
          </a:solidFill>
          <a:ln w="25400" cap="flat" cmpd="sng">
            <a:solidFill>
              <a:srgbClr val="00B0F0"/>
            </a:solidFill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AutoShape 24">
            <a:extLst>
              <a:ext uri="{FF2B5EF4-FFF2-40B4-BE49-F238E27FC236}">
                <a16:creationId xmlns:a16="http://schemas.microsoft.com/office/drawing/2014/main" id="{FBB566C8-C401-2F54-E382-3349DB77F72A}"/>
              </a:ext>
            </a:extLst>
          </p:cNvPr>
          <p:cNvSpPr/>
          <p:nvPr/>
        </p:nvSpPr>
        <p:spPr>
          <a:xfrm>
            <a:off x="3608070" y="2851426"/>
            <a:ext cx="922692" cy="1629251"/>
          </a:xfrm>
          <a:prstGeom prst="roundRect">
            <a:avLst>
              <a:gd name="adj" fmla="val 0"/>
            </a:avLst>
          </a:prstGeom>
          <a:solidFill>
            <a:srgbClr val="005A9C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1" name="Picture 25">
            <a:extLst>
              <a:ext uri="{FF2B5EF4-FFF2-40B4-BE49-F238E27FC236}">
                <a16:creationId xmlns:a16="http://schemas.microsoft.com/office/drawing/2014/main" id="{9D3E17C7-AB30-DCE1-D236-EE987BE0AF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07641" y="2874519"/>
            <a:ext cx="209550" cy="209550"/>
          </a:xfrm>
          <a:prstGeom prst="rect">
            <a:avLst/>
          </a:prstGeom>
        </p:spPr>
      </p:pic>
      <p:sp>
        <p:nvSpPr>
          <p:cNvPr id="32" name="AutoShape 26">
            <a:extLst>
              <a:ext uri="{FF2B5EF4-FFF2-40B4-BE49-F238E27FC236}">
                <a16:creationId xmlns:a16="http://schemas.microsoft.com/office/drawing/2014/main" id="{BA4E7389-0110-4F43-0BF8-AC3BE2521532}"/>
              </a:ext>
            </a:extLst>
          </p:cNvPr>
          <p:cNvSpPr/>
          <p:nvPr/>
        </p:nvSpPr>
        <p:spPr>
          <a:xfrm>
            <a:off x="3721599" y="3039427"/>
            <a:ext cx="756760" cy="140113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标准化数据入库能力</a:t>
            </a:r>
            <a:endParaRPr kumimoji="0" lang="en-US" altLang="zh-CN" sz="1050" b="1" i="0" u="none" strike="noStrike" kern="1200" cap="none" spc="0" normalizeH="0" baseline="0" noProof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50" b="1" i="0" u="none" strike="noStrike" kern="1200" cap="none" spc="0" normalizeH="0" baseline="0" noProof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支持结构化及</a:t>
            </a: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Blob</a:t>
            </a: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数据标准化导入。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6B7280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33" name="Picture 28">
            <a:extLst>
              <a:ext uri="{FF2B5EF4-FFF2-40B4-BE49-F238E27FC236}">
                <a16:creationId xmlns:a16="http://schemas.microsoft.com/office/drawing/2014/main" id="{0E839675-6A31-4996-3FE4-1CF5E43AD4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35402" y="2874519"/>
            <a:ext cx="209550" cy="209550"/>
          </a:xfrm>
          <a:prstGeom prst="rect">
            <a:avLst/>
          </a:prstGeom>
        </p:spPr>
      </p:pic>
      <p:sp>
        <p:nvSpPr>
          <p:cNvPr id="34" name="AutoShape 29">
            <a:extLst>
              <a:ext uri="{FF2B5EF4-FFF2-40B4-BE49-F238E27FC236}">
                <a16:creationId xmlns:a16="http://schemas.microsoft.com/office/drawing/2014/main" id="{80704702-F388-A962-77F6-1093ADB20E84}"/>
              </a:ext>
            </a:extLst>
          </p:cNvPr>
          <p:cNvSpPr/>
          <p:nvPr/>
        </p:nvSpPr>
        <p:spPr>
          <a:xfrm>
            <a:off x="4707786" y="3090860"/>
            <a:ext cx="782283" cy="124230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数据存储与数据安全管控</a:t>
            </a:r>
            <a:endParaRPr kumimoji="0" lang="en-US" altLang="zh-CN" sz="1050" b="1" i="0" u="none" strike="noStrike" kern="1200" cap="none" spc="0" normalizeH="0" baseline="0" noProof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50" b="1" i="0" u="none" strike="noStrike" kern="1200" cap="none" spc="0" normalizeH="0" baseline="0" noProof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支持加密与密钥管理。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6B7280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5" name="AutoShape 32">
            <a:extLst>
              <a:ext uri="{FF2B5EF4-FFF2-40B4-BE49-F238E27FC236}">
                <a16:creationId xmlns:a16="http://schemas.microsoft.com/office/drawing/2014/main" id="{05BA6C63-1344-9B91-C40F-2885FF055F37}"/>
              </a:ext>
            </a:extLst>
          </p:cNvPr>
          <p:cNvSpPr/>
          <p:nvPr/>
        </p:nvSpPr>
        <p:spPr>
          <a:xfrm>
            <a:off x="7881873" y="3474243"/>
            <a:ext cx="744305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基础权限与审计</a:t>
            </a:r>
            <a:endParaRPr kumimoji="0" lang="en-US" altLang="zh-CN" sz="1050" b="1" i="0" u="none" strike="noStrike" kern="1200" cap="none" spc="0" normalizeH="0" baseline="0" noProof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50" b="1" i="0" u="none" strike="noStrike" kern="1200" cap="none" spc="0" normalizeH="0" baseline="0" noProof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提供基础权限控制及操作日志留痕。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6B7280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37" name="Picture 34">
            <a:extLst>
              <a:ext uri="{FF2B5EF4-FFF2-40B4-BE49-F238E27FC236}">
                <a16:creationId xmlns:a16="http://schemas.microsoft.com/office/drawing/2014/main" id="{0D4E9C51-320D-DDB7-8544-DD817DFAC0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92366" y="2874519"/>
            <a:ext cx="209550" cy="209550"/>
          </a:xfrm>
          <a:prstGeom prst="rect">
            <a:avLst/>
          </a:prstGeom>
        </p:spPr>
      </p:pic>
      <p:sp>
        <p:nvSpPr>
          <p:cNvPr id="38" name="AutoShape 35">
            <a:extLst>
              <a:ext uri="{FF2B5EF4-FFF2-40B4-BE49-F238E27FC236}">
                <a16:creationId xmlns:a16="http://schemas.microsoft.com/office/drawing/2014/main" id="{52E315D8-5012-CFEA-6C47-2B0641D41AAE}"/>
              </a:ext>
            </a:extLst>
          </p:cNvPr>
          <p:cNvSpPr/>
          <p:nvPr/>
        </p:nvSpPr>
        <p:spPr>
          <a:xfrm>
            <a:off x="6782152" y="3125145"/>
            <a:ext cx="863138" cy="117014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基础检索能力</a:t>
            </a:r>
            <a:endParaRPr kumimoji="0" lang="en-US" altLang="zh-CN" sz="1050" b="1" i="0" u="none" strike="noStrike" kern="1200" cap="none" spc="0" normalizeH="0" baseline="0" noProof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50" b="1" i="0" u="none" strike="noStrike" kern="1200" cap="none" spc="0" normalizeH="0" baseline="0" noProof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支持关键词、系统及时间等基础查询。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6B7280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5" name="AutoShape 24">
            <a:extLst>
              <a:ext uri="{FF2B5EF4-FFF2-40B4-BE49-F238E27FC236}">
                <a16:creationId xmlns:a16="http://schemas.microsoft.com/office/drawing/2014/main" id="{F986EA8F-DE45-A42F-F6B5-877A815C59B3}"/>
              </a:ext>
            </a:extLst>
          </p:cNvPr>
          <p:cNvSpPr/>
          <p:nvPr/>
        </p:nvSpPr>
        <p:spPr>
          <a:xfrm>
            <a:off x="4619291" y="2851426"/>
            <a:ext cx="922692" cy="1629251"/>
          </a:xfrm>
          <a:prstGeom prst="roundRect">
            <a:avLst>
              <a:gd name="adj" fmla="val 0"/>
            </a:avLst>
          </a:prstGeom>
          <a:solidFill>
            <a:srgbClr val="005A9C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AutoShape 24">
            <a:extLst>
              <a:ext uri="{FF2B5EF4-FFF2-40B4-BE49-F238E27FC236}">
                <a16:creationId xmlns:a16="http://schemas.microsoft.com/office/drawing/2014/main" id="{A4D31F6C-69D7-A23B-CFAE-FFD4EB9D1D2E}"/>
              </a:ext>
            </a:extLst>
          </p:cNvPr>
          <p:cNvSpPr/>
          <p:nvPr/>
        </p:nvSpPr>
        <p:spPr>
          <a:xfrm>
            <a:off x="6698216" y="2851426"/>
            <a:ext cx="922692" cy="1629251"/>
          </a:xfrm>
          <a:prstGeom prst="roundRect">
            <a:avLst>
              <a:gd name="adj" fmla="val 0"/>
            </a:avLst>
          </a:prstGeom>
          <a:solidFill>
            <a:srgbClr val="005A9C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AutoShape 24">
            <a:extLst>
              <a:ext uri="{FF2B5EF4-FFF2-40B4-BE49-F238E27FC236}">
                <a16:creationId xmlns:a16="http://schemas.microsoft.com/office/drawing/2014/main" id="{E81167D5-6397-C329-230E-B22ED9EF5BA9}"/>
              </a:ext>
            </a:extLst>
          </p:cNvPr>
          <p:cNvSpPr/>
          <p:nvPr/>
        </p:nvSpPr>
        <p:spPr>
          <a:xfrm>
            <a:off x="7740776" y="2851426"/>
            <a:ext cx="922692" cy="1629251"/>
          </a:xfrm>
          <a:prstGeom prst="roundRect">
            <a:avLst>
              <a:gd name="adj" fmla="val 0"/>
            </a:avLst>
          </a:prstGeom>
          <a:solidFill>
            <a:srgbClr val="005A9C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8" name="Picture 32">
            <a:extLst>
              <a:ext uri="{FF2B5EF4-FFF2-40B4-BE49-F238E27FC236}">
                <a16:creationId xmlns:a16="http://schemas.microsoft.com/office/drawing/2014/main" id="{66F92898-CC87-F5F2-4886-8481F26DD4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24364" y="2864994"/>
            <a:ext cx="228600" cy="228600"/>
          </a:xfrm>
          <a:prstGeom prst="rect">
            <a:avLst/>
          </a:prstGeom>
        </p:spPr>
      </p:pic>
      <p:sp>
        <p:nvSpPr>
          <p:cNvPr id="49" name="AutoShape 11">
            <a:extLst>
              <a:ext uri="{FF2B5EF4-FFF2-40B4-BE49-F238E27FC236}">
                <a16:creationId xmlns:a16="http://schemas.microsoft.com/office/drawing/2014/main" id="{F9727EBF-A126-8EA0-CDE7-A8701DEF4BCE}"/>
              </a:ext>
            </a:extLst>
          </p:cNvPr>
          <p:cNvSpPr/>
          <p:nvPr/>
        </p:nvSpPr>
        <p:spPr>
          <a:xfrm>
            <a:off x="472438" y="2455008"/>
            <a:ext cx="2687957" cy="28194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>
                <a:ln>
                  <a:noFill/>
                </a:ln>
                <a:solidFill>
                  <a:srgbClr val="005A9C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核心业务场景覆盖</a:t>
            </a:r>
            <a:endParaRPr kumimoji="0" lang="en-US" sz="82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AutoShape 23">
            <a:extLst>
              <a:ext uri="{FF2B5EF4-FFF2-40B4-BE49-F238E27FC236}">
                <a16:creationId xmlns:a16="http://schemas.microsoft.com/office/drawing/2014/main" id="{DE5BC32C-0E1D-0E2D-AB49-37978EAEFF20}"/>
              </a:ext>
            </a:extLst>
          </p:cNvPr>
          <p:cNvSpPr/>
          <p:nvPr/>
        </p:nvSpPr>
        <p:spPr>
          <a:xfrm>
            <a:off x="3608070" y="2432417"/>
            <a:ext cx="5175885" cy="32712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>
                <a:ln>
                  <a:noFill/>
                </a:ln>
                <a:solidFill>
                  <a:srgbClr val="005A9C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关键系统功能支撑</a:t>
            </a:r>
            <a:endParaRPr kumimoji="0" lang="en-US" sz="82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DC3B158-C41F-657F-D474-22AFD718EA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China RIMS Solution Proposal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1F18E8C-E731-50F7-F359-55395E558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阶段一：基础归档与查询</a:t>
            </a:r>
          </a:p>
        </p:txBody>
      </p:sp>
      <p:sp>
        <p:nvSpPr>
          <p:cNvPr id="12" name="AutoShape 7">
            <a:extLst>
              <a:ext uri="{FF2B5EF4-FFF2-40B4-BE49-F238E27FC236}">
                <a16:creationId xmlns:a16="http://schemas.microsoft.com/office/drawing/2014/main" id="{A842C63C-2C90-FC66-762D-6698D04E4233}"/>
              </a:ext>
            </a:extLst>
          </p:cNvPr>
          <p:cNvSpPr/>
          <p:nvPr/>
        </p:nvSpPr>
        <p:spPr>
          <a:xfrm>
            <a:off x="512444" y="1393980"/>
            <a:ext cx="8001000" cy="285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>
                <a:ln>
                  <a:noFill/>
                </a:ln>
                <a:solidFill>
                  <a:srgbClr val="005A9C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核心目标</a:t>
            </a:r>
            <a:endParaRPr kumimoji="0" lang="en-US" sz="82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AutoShape 8">
            <a:extLst>
              <a:ext uri="{FF2B5EF4-FFF2-40B4-BE49-F238E27FC236}">
                <a16:creationId xmlns:a16="http://schemas.microsoft.com/office/drawing/2014/main" id="{ABD4E10C-CCC6-3553-0950-385C7A46A80F}"/>
              </a:ext>
            </a:extLst>
          </p:cNvPr>
          <p:cNvSpPr/>
          <p:nvPr/>
        </p:nvSpPr>
        <p:spPr>
          <a:xfrm>
            <a:off x="536256" y="1610432"/>
            <a:ext cx="7953375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lvl="0">
              <a:lnSpc>
                <a:spcPct val="108333"/>
              </a:lnSpc>
              <a:defRPr/>
            </a:pPr>
            <a:r>
              <a:rPr lang="zh-CN" altLang="en-US" sz="105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完成雅培中国存量退役系统历史数据全量入库归档，搭建</a:t>
            </a:r>
            <a:r>
              <a:rPr lang="en-US" altLang="zh-CN" sz="105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RIMS</a:t>
            </a:r>
            <a:r>
              <a:rPr lang="zh-CN" altLang="en-US" sz="105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核心底座，实现基础数据存储与查询能力，优先满足合规留存底线，暂不优化历史数据质量，快速完成系统从</a:t>
            </a:r>
            <a:r>
              <a:rPr lang="en-US" altLang="zh-CN" sz="105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r>
              <a:rPr lang="zh-CN" altLang="en-US" sz="105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到</a:t>
            </a:r>
            <a:r>
              <a:rPr lang="en-US" altLang="zh-CN" sz="105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r>
              <a:rPr lang="zh-CN" altLang="en-US" sz="105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落地。</a:t>
            </a:r>
            <a:endParaRPr kumimoji="0" lang="en-US" sz="82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AutoShape 29">
            <a:extLst>
              <a:ext uri="{FF2B5EF4-FFF2-40B4-BE49-F238E27FC236}">
                <a16:creationId xmlns:a16="http://schemas.microsoft.com/office/drawing/2014/main" id="{2C41AD5C-40F2-914D-3AA8-6D148B2FF2D2}"/>
              </a:ext>
            </a:extLst>
          </p:cNvPr>
          <p:cNvSpPr/>
          <p:nvPr/>
        </p:nvSpPr>
        <p:spPr>
          <a:xfrm>
            <a:off x="5694921" y="3096817"/>
            <a:ext cx="870901" cy="124230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50" b="1" i="0" u="none" strike="noStrike" kern="1200" cap="none" spc="0" normalizeH="0" baseline="0" noProof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到期处置</a:t>
            </a:r>
            <a:r>
              <a:rPr lang="zh-CN" altLang="en-US" sz="1050" b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与</a:t>
            </a:r>
            <a:r>
              <a:rPr lang="en-US" altLang="zh-CN" sz="1050" b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Legal Hold</a:t>
            </a:r>
            <a:r>
              <a:rPr kumimoji="0" lang="zh-CN" altLang="en-US" sz="1050" b="1" i="0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管理</a:t>
            </a:r>
            <a:endParaRPr lang="en-US" altLang="zh-CN" sz="1050" b="1">
              <a:solidFill>
                <a:srgbClr val="37415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50" b="1" i="0" u="none" strike="noStrike" kern="1200" cap="none" spc="0" normalizeH="0" baseline="0" noProof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25000"/>
              </a:lnSpc>
              <a:defRPr/>
            </a:pP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支持保留策略、</a:t>
            </a:r>
            <a:r>
              <a:rPr lang="zh-CN" altLang="en-US" sz="9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法律保全冻结管理</a:t>
            </a: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6B7280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24">
            <a:extLst>
              <a:ext uri="{FF2B5EF4-FFF2-40B4-BE49-F238E27FC236}">
                <a16:creationId xmlns:a16="http://schemas.microsoft.com/office/drawing/2014/main" id="{71491938-A723-B17F-D41B-860CB7069ACD}"/>
              </a:ext>
            </a:extLst>
          </p:cNvPr>
          <p:cNvSpPr/>
          <p:nvPr/>
        </p:nvSpPr>
        <p:spPr>
          <a:xfrm>
            <a:off x="5649393" y="2847973"/>
            <a:ext cx="922692" cy="1629251"/>
          </a:xfrm>
          <a:prstGeom prst="roundRect">
            <a:avLst>
              <a:gd name="adj" fmla="val 0"/>
            </a:avLst>
          </a:prstGeom>
          <a:solidFill>
            <a:srgbClr val="005A9C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1" name="Picture 38">
            <a:extLst>
              <a:ext uri="{FF2B5EF4-FFF2-40B4-BE49-F238E27FC236}">
                <a16:creationId xmlns:a16="http://schemas.microsoft.com/office/drawing/2014/main" id="{B8A7004C-2060-A234-4470-38B7398471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71762" y="2859069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0800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AutoShape 5">
            <a:extLst>
              <a:ext uri="{FF2B5EF4-FFF2-40B4-BE49-F238E27FC236}">
                <a16:creationId xmlns:a16="http://schemas.microsoft.com/office/drawing/2014/main" id="{B34C9017-8CE9-F347-005E-EA5ACBBF3CDF}"/>
              </a:ext>
            </a:extLst>
          </p:cNvPr>
          <p:cNvSpPr/>
          <p:nvPr/>
        </p:nvSpPr>
        <p:spPr>
          <a:xfrm>
            <a:off x="377862" y="1323734"/>
            <a:ext cx="8382000" cy="809625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5A9C">
                <a:alpha val="10000"/>
              </a:srgbClr>
            </a:solidFill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6" name="AutoShape 6">
            <a:extLst>
              <a:ext uri="{FF2B5EF4-FFF2-40B4-BE49-F238E27FC236}">
                <a16:creationId xmlns:a16="http://schemas.microsoft.com/office/drawing/2014/main" id="{78B9186C-70B5-B4A0-D740-C510B236785C}"/>
              </a:ext>
            </a:extLst>
          </p:cNvPr>
          <p:cNvSpPr/>
          <p:nvPr/>
        </p:nvSpPr>
        <p:spPr>
          <a:xfrm>
            <a:off x="370241" y="1318969"/>
            <a:ext cx="45719" cy="809625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12444" y="1393980"/>
            <a:ext cx="8001000" cy="285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>
                <a:ln>
                  <a:noFill/>
                </a:ln>
                <a:solidFill>
                  <a:srgbClr val="005A9C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核心目标</a:t>
            </a:r>
            <a:endParaRPr kumimoji="0" lang="en-US" sz="82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536256" y="1610432"/>
            <a:ext cx="7953375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0" i="0" u="none" strike="noStrike" kern="120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优化系统查询体验与页面灵活性，打造可配置化自定义页面能力，提升业务检索效率；实现增量数据常态化同步，构建退役系统归档数据统一台账，提升数据治理与运营效率。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4B5563"/>
              </a:solidFill>
              <a:effectLst/>
              <a:uLnTx/>
              <a:uFillTx/>
              <a:latin typeface="Noto Sans SC"/>
              <a:ea typeface="+mn-ea"/>
              <a:cs typeface="+mn-cs"/>
            </a:endParaRPr>
          </a:p>
        </p:txBody>
      </p:sp>
      <p:sp>
        <p:nvSpPr>
          <p:cNvPr id="4" name="AutoShape 9">
            <a:extLst>
              <a:ext uri="{FF2B5EF4-FFF2-40B4-BE49-F238E27FC236}">
                <a16:creationId xmlns:a16="http://schemas.microsoft.com/office/drawing/2014/main" id="{0C7DA77C-45BE-CD67-11F6-DF83D1E38300}"/>
              </a:ext>
            </a:extLst>
          </p:cNvPr>
          <p:cNvSpPr/>
          <p:nvPr/>
        </p:nvSpPr>
        <p:spPr>
          <a:xfrm>
            <a:off x="360044" y="2447925"/>
            <a:ext cx="3004187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5A9C">
                <a:alpha val="10000"/>
              </a:srgbClr>
            </a:solidFill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AutoShape 11">
            <a:extLst>
              <a:ext uri="{FF2B5EF4-FFF2-40B4-BE49-F238E27FC236}">
                <a16:creationId xmlns:a16="http://schemas.microsoft.com/office/drawing/2014/main" id="{1BF32AEB-BA20-43DA-9EA6-6952A5C9A638}"/>
              </a:ext>
            </a:extLst>
          </p:cNvPr>
          <p:cNvSpPr/>
          <p:nvPr/>
        </p:nvSpPr>
        <p:spPr>
          <a:xfrm>
            <a:off x="472438" y="2455008"/>
            <a:ext cx="2687957" cy="28194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>
                <a:ln>
                  <a:noFill/>
                </a:ln>
                <a:solidFill>
                  <a:srgbClr val="005A9C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核心业务场景覆盖</a:t>
            </a:r>
            <a:endParaRPr kumimoji="0" lang="en-US" sz="82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AutoShape 12">
            <a:extLst>
              <a:ext uri="{FF2B5EF4-FFF2-40B4-BE49-F238E27FC236}">
                <a16:creationId xmlns:a16="http://schemas.microsoft.com/office/drawing/2014/main" id="{BAE5DCD6-90FB-6AC2-2045-E9920D5A2995}"/>
              </a:ext>
            </a:extLst>
          </p:cNvPr>
          <p:cNvSpPr/>
          <p:nvPr/>
        </p:nvSpPr>
        <p:spPr>
          <a:xfrm>
            <a:off x="455294" y="2847973"/>
            <a:ext cx="2771775" cy="621031"/>
          </a:xfrm>
          <a:prstGeom prst="roundRect">
            <a:avLst>
              <a:gd name="adj" fmla="val 0"/>
            </a:avLst>
          </a:prstGeom>
          <a:solidFill>
            <a:srgbClr val="005A9C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AutoShape 14">
            <a:extLst>
              <a:ext uri="{FF2B5EF4-FFF2-40B4-BE49-F238E27FC236}">
                <a16:creationId xmlns:a16="http://schemas.microsoft.com/office/drawing/2014/main" id="{52EA6C8D-B468-D18E-3FD5-704B993C7578}"/>
              </a:ext>
            </a:extLst>
          </p:cNvPr>
          <p:cNvSpPr/>
          <p:nvPr/>
        </p:nvSpPr>
        <p:spPr>
          <a:xfrm>
            <a:off x="852969" y="2884044"/>
            <a:ext cx="23241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个性化检索</a:t>
            </a:r>
            <a:endParaRPr kumimoji="0" lang="en-US" altLang="zh-CN" sz="1050" b="1" i="0" u="none" strike="noStrike" kern="1200" cap="none" spc="0" normalizeH="0" baseline="0" noProof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适配业务人员精细化、个性化查询需求，支持自定义检索页面、自定义字段展示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6B7280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2" name="AutoShape 15">
            <a:extLst>
              <a:ext uri="{FF2B5EF4-FFF2-40B4-BE49-F238E27FC236}">
                <a16:creationId xmlns:a16="http://schemas.microsoft.com/office/drawing/2014/main" id="{DBF2B357-4111-38A9-0A69-5E6D18D85BF1}"/>
              </a:ext>
            </a:extLst>
          </p:cNvPr>
          <p:cNvSpPr/>
          <p:nvPr/>
        </p:nvSpPr>
        <p:spPr>
          <a:xfrm>
            <a:off x="461012" y="3555204"/>
            <a:ext cx="2766057" cy="841530"/>
          </a:xfrm>
          <a:prstGeom prst="roundRect">
            <a:avLst>
              <a:gd name="adj" fmla="val 0"/>
            </a:avLst>
          </a:prstGeom>
          <a:solidFill>
            <a:srgbClr val="005A9C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AutoShape 17">
            <a:extLst>
              <a:ext uri="{FF2B5EF4-FFF2-40B4-BE49-F238E27FC236}">
                <a16:creationId xmlns:a16="http://schemas.microsoft.com/office/drawing/2014/main" id="{B9537FE2-58A5-B3DB-5581-E37811EB2723}"/>
              </a:ext>
            </a:extLst>
          </p:cNvPr>
          <p:cNvSpPr/>
          <p:nvPr/>
        </p:nvSpPr>
        <p:spPr>
          <a:xfrm>
            <a:off x="852969" y="3663773"/>
            <a:ext cx="2381251" cy="60126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+mn-cs"/>
                <a:sym typeface="Noto Sans SC"/>
              </a:rPr>
              <a:t>归档资产统计与台账管理</a:t>
            </a:r>
            <a:endParaRPr kumimoji="0" lang="en-US" altLang="zh-CN" sz="1050" b="1" i="0" u="none" strike="noStrike" kern="1200" cap="none" spc="0" normalizeH="0" baseline="0" noProof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Noto Sans SC"/>
              <a:ea typeface="Noto Sans SC"/>
              <a:cs typeface="+mn-cs"/>
              <a:sym typeface="Noto Sans SC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面向归档资产治理场景，对多来源退役系统归档数据做统一台账归集，支撑归档资产统计盘点，实现归档数据资产可视可追溯。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6B7280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5" name="AutoShape 21">
            <a:extLst>
              <a:ext uri="{FF2B5EF4-FFF2-40B4-BE49-F238E27FC236}">
                <a16:creationId xmlns:a16="http://schemas.microsoft.com/office/drawing/2014/main" id="{14A7D6CF-AA43-44FB-CAA3-5435D720753B}"/>
              </a:ext>
            </a:extLst>
          </p:cNvPr>
          <p:cNvSpPr/>
          <p:nvPr/>
        </p:nvSpPr>
        <p:spPr>
          <a:xfrm>
            <a:off x="3541396" y="2446020"/>
            <a:ext cx="5242559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5A9C">
                <a:alpha val="10000"/>
              </a:srgbClr>
            </a:solidFill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AutoShape 23">
            <a:extLst>
              <a:ext uri="{FF2B5EF4-FFF2-40B4-BE49-F238E27FC236}">
                <a16:creationId xmlns:a16="http://schemas.microsoft.com/office/drawing/2014/main" id="{A739C282-2AFB-7DC8-361D-58AB4A912B73}"/>
              </a:ext>
            </a:extLst>
          </p:cNvPr>
          <p:cNvSpPr/>
          <p:nvPr/>
        </p:nvSpPr>
        <p:spPr>
          <a:xfrm>
            <a:off x="3608070" y="2432417"/>
            <a:ext cx="5175885" cy="32712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>
                <a:ln>
                  <a:noFill/>
                </a:ln>
                <a:solidFill>
                  <a:srgbClr val="005A9C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关键系统功能支撑</a:t>
            </a:r>
            <a:endParaRPr kumimoji="0" lang="en-US" sz="82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AutoShape 24">
            <a:extLst>
              <a:ext uri="{FF2B5EF4-FFF2-40B4-BE49-F238E27FC236}">
                <a16:creationId xmlns:a16="http://schemas.microsoft.com/office/drawing/2014/main" id="{03860CAB-6958-C50A-0EDB-12F50B461E10}"/>
              </a:ext>
            </a:extLst>
          </p:cNvPr>
          <p:cNvSpPr/>
          <p:nvPr/>
        </p:nvSpPr>
        <p:spPr>
          <a:xfrm>
            <a:off x="3608070" y="2820767"/>
            <a:ext cx="922692" cy="1629251"/>
          </a:xfrm>
          <a:prstGeom prst="roundRect">
            <a:avLst>
              <a:gd name="adj" fmla="val 0"/>
            </a:avLst>
          </a:prstGeom>
          <a:solidFill>
            <a:srgbClr val="005A9C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AutoShape 26">
            <a:extLst>
              <a:ext uri="{FF2B5EF4-FFF2-40B4-BE49-F238E27FC236}">
                <a16:creationId xmlns:a16="http://schemas.microsoft.com/office/drawing/2014/main" id="{9E2E6538-5631-3989-94BB-E6665B4CE12C}"/>
              </a:ext>
            </a:extLst>
          </p:cNvPr>
          <p:cNvSpPr/>
          <p:nvPr/>
        </p:nvSpPr>
        <p:spPr>
          <a:xfrm>
            <a:off x="3721599" y="3017404"/>
            <a:ext cx="756760" cy="140113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可配置化页面能力</a:t>
            </a:r>
            <a:endParaRPr kumimoji="0" lang="en-US" altLang="zh-CN" sz="1050" b="1" i="0" u="none" strike="noStrike" kern="1200" cap="none" spc="0" normalizeH="0" baseline="0" noProof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50" b="1" i="0" u="none" strike="noStrike" kern="1200" cap="none" spc="0" normalizeH="0" baseline="0" noProof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支持页面布局及字段灵活配置。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6B7280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2" name="AutoShape 29">
            <a:extLst>
              <a:ext uri="{FF2B5EF4-FFF2-40B4-BE49-F238E27FC236}">
                <a16:creationId xmlns:a16="http://schemas.microsoft.com/office/drawing/2014/main" id="{DCF9AD5B-A0D2-0CD5-439B-9EA188199E55}"/>
              </a:ext>
            </a:extLst>
          </p:cNvPr>
          <p:cNvSpPr/>
          <p:nvPr/>
        </p:nvSpPr>
        <p:spPr>
          <a:xfrm>
            <a:off x="5763814" y="3096817"/>
            <a:ext cx="782283" cy="124230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50" b="1" i="0" u="none" strike="noStrike" kern="1200" cap="none" spc="0" normalizeH="0" baseline="0" noProof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增量数据同步</a:t>
            </a:r>
            <a:endParaRPr kumimoji="0" lang="en-US" altLang="zh-CN" sz="1050" b="1" i="0" u="none" strike="noStrike" kern="1200" cap="none" spc="0" normalizeH="0" baseline="0" noProof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50" b="1" i="0" u="none" strike="noStrike" kern="1200" cap="none" spc="0" normalizeH="0" baseline="0" noProof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支持在运系统增量数据实时同步。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6B7280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3" name="AutoShape 32">
            <a:extLst>
              <a:ext uri="{FF2B5EF4-FFF2-40B4-BE49-F238E27FC236}">
                <a16:creationId xmlns:a16="http://schemas.microsoft.com/office/drawing/2014/main" id="{272F8365-5066-C5AD-0531-2D5601F70B22}"/>
              </a:ext>
            </a:extLst>
          </p:cNvPr>
          <p:cNvSpPr/>
          <p:nvPr/>
        </p:nvSpPr>
        <p:spPr>
          <a:xfrm>
            <a:off x="7835056" y="3017404"/>
            <a:ext cx="804887" cy="140469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受控明文查看</a:t>
            </a:r>
            <a:endParaRPr kumimoji="0" lang="en-US" altLang="zh-CN" sz="1050" b="1" i="0" u="none" strike="noStrike" kern="1200" cap="none" spc="0" normalizeH="0" baseline="0" noProof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6B7280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按权限查看完整数据，全程审计留痕。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6B7280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5" name="AutoShape 35">
            <a:extLst>
              <a:ext uri="{FF2B5EF4-FFF2-40B4-BE49-F238E27FC236}">
                <a16:creationId xmlns:a16="http://schemas.microsoft.com/office/drawing/2014/main" id="{679ADC33-A46D-8F74-AB26-1B6504DA8BEC}"/>
              </a:ext>
            </a:extLst>
          </p:cNvPr>
          <p:cNvSpPr/>
          <p:nvPr/>
        </p:nvSpPr>
        <p:spPr>
          <a:xfrm>
            <a:off x="6783955" y="3132899"/>
            <a:ext cx="863138" cy="117014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归档统计与基础报表</a:t>
            </a:r>
            <a:endParaRPr kumimoji="0" lang="en-US" altLang="zh-CN" sz="1050" b="1" i="0" u="none" strike="noStrike" kern="1200" cap="none" spc="0" normalizeH="0" baseline="0" noProof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6B7280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支持退役系统归档数据统一台账管理。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6B7280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7" name="AutoShape 32">
            <a:extLst>
              <a:ext uri="{FF2B5EF4-FFF2-40B4-BE49-F238E27FC236}">
                <a16:creationId xmlns:a16="http://schemas.microsoft.com/office/drawing/2014/main" id="{D2145357-3CF9-9554-5006-573D5967A44E}"/>
              </a:ext>
            </a:extLst>
          </p:cNvPr>
          <p:cNvSpPr/>
          <p:nvPr/>
        </p:nvSpPr>
        <p:spPr>
          <a:xfrm>
            <a:off x="4737087" y="3105512"/>
            <a:ext cx="768012" cy="122491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高级检索与筛选</a:t>
            </a:r>
            <a:endParaRPr kumimoji="0" lang="en-US" altLang="zh-CN" sz="1050" b="1" i="0" u="none" strike="noStrike" kern="1200" cap="none" spc="0" normalizeH="0" baseline="0" noProof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50" b="1" i="0" u="none" strike="noStrike" kern="1200" cap="none" spc="0" normalizeH="0" baseline="0" noProof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支持组合条件、多维筛选及保存查询。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6B7280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8" name="AutoShape 24">
            <a:extLst>
              <a:ext uri="{FF2B5EF4-FFF2-40B4-BE49-F238E27FC236}">
                <a16:creationId xmlns:a16="http://schemas.microsoft.com/office/drawing/2014/main" id="{D4BFDEF6-A50B-233D-478C-A9041F2F1FBC}"/>
              </a:ext>
            </a:extLst>
          </p:cNvPr>
          <p:cNvSpPr/>
          <p:nvPr/>
        </p:nvSpPr>
        <p:spPr>
          <a:xfrm>
            <a:off x="4638292" y="2820767"/>
            <a:ext cx="922692" cy="1629251"/>
          </a:xfrm>
          <a:prstGeom prst="roundRect">
            <a:avLst>
              <a:gd name="adj" fmla="val 0"/>
            </a:avLst>
          </a:prstGeom>
          <a:solidFill>
            <a:srgbClr val="005A9C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9" name="AutoShape 24">
            <a:extLst>
              <a:ext uri="{FF2B5EF4-FFF2-40B4-BE49-F238E27FC236}">
                <a16:creationId xmlns:a16="http://schemas.microsoft.com/office/drawing/2014/main" id="{68A6C2AA-EE23-0C14-EF23-FBA623E3060E}"/>
              </a:ext>
            </a:extLst>
          </p:cNvPr>
          <p:cNvSpPr/>
          <p:nvPr/>
        </p:nvSpPr>
        <p:spPr>
          <a:xfrm>
            <a:off x="5696894" y="2820767"/>
            <a:ext cx="922692" cy="1629251"/>
          </a:xfrm>
          <a:prstGeom prst="roundRect">
            <a:avLst>
              <a:gd name="adj" fmla="val 0"/>
            </a:avLst>
          </a:prstGeom>
          <a:solidFill>
            <a:srgbClr val="005A9C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0" name="AutoShape 24">
            <a:extLst>
              <a:ext uri="{FF2B5EF4-FFF2-40B4-BE49-F238E27FC236}">
                <a16:creationId xmlns:a16="http://schemas.microsoft.com/office/drawing/2014/main" id="{69ADAE58-9D0A-C35B-4969-53330E5B4A29}"/>
              </a:ext>
            </a:extLst>
          </p:cNvPr>
          <p:cNvSpPr/>
          <p:nvPr/>
        </p:nvSpPr>
        <p:spPr>
          <a:xfrm>
            <a:off x="6744254" y="2825114"/>
            <a:ext cx="922692" cy="1629251"/>
          </a:xfrm>
          <a:prstGeom prst="roundRect">
            <a:avLst>
              <a:gd name="adj" fmla="val 0"/>
            </a:avLst>
          </a:prstGeom>
          <a:solidFill>
            <a:srgbClr val="005A9C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1" name="AutoShape 24">
            <a:extLst>
              <a:ext uri="{FF2B5EF4-FFF2-40B4-BE49-F238E27FC236}">
                <a16:creationId xmlns:a16="http://schemas.microsoft.com/office/drawing/2014/main" id="{EF446797-53A7-76CD-9A3D-00A33C6A5EF6}"/>
              </a:ext>
            </a:extLst>
          </p:cNvPr>
          <p:cNvSpPr/>
          <p:nvPr/>
        </p:nvSpPr>
        <p:spPr>
          <a:xfrm>
            <a:off x="7766385" y="2820767"/>
            <a:ext cx="922692" cy="1629251"/>
          </a:xfrm>
          <a:prstGeom prst="roundRect">
            <a:avLst>
              <a:gd name="adj" fmla="val 0"/>
            </a:avLst>
          </a:prstGeom>
          <a:solidFill>
            <a:srgbClr val="005A9C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7" name="Picture 16">
            <a:extLst>
              <a:ext uri="{FF2B5EF4-FFF2-40B4-BE49-F238E27FC236}">
                <a16:creationId xmlns:a16="http://schemas.microsoft.com/office/drawing/2014/main" id="{E72062A9-8689-064E-9F4C-9EF2DB7E86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55116" y="2859069"/>
            <a:ext cx="228600" cy="228600"/>
          </a:xfrm>
          <a:prstGeom prst="rect">
            <a:avLst/>
          </a:prstGeom>
        </p:spPr>
      </p:pic>
      <p:pic>
        <p:nvPicPr>
          <p:cNvPr id="82" name="Picture 30">
            <a:extLst>
              <a:ext uri="{FF2B5EF4-FFF2-40B4-BE49-F238E27FC236}">
                <a16:creationId xmlns:a16="http://schemas.microsoft.com/office/drawing/2014/main" id="{91FF7510-37C0-4065-894E-93A3EE2F02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48080" y="2859069"/>
            <a:ext cx="228600" cy="228600"/>
          </a:xfrm>
          <a:prstGeom prst="rect">
            <a:avLst/>
          </a:prstGeom>
        </p:spPr>
      </p:pic>
      <p:pic>
        <p:nvPicPr>
          <p:cNvPr id="83" name="Picture 34">
            <a:extLst>
              <a:ext uri="{FF2B5EF4-FFF2-40B4-BE49-F238E27FC236}">
                <a16:creationId xmlns:a16="http://schemas.microsoft.com/office/drawing/2014/main" id="{CB34F4B5-D009-4553-45A5-DF142AFE36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16721" y="2859069"/>
            <a:ext cx="228600" cy="228600"/>
          </a:xfrm>
          <a:prstGeom prst="rect">
            <a:avLst/>
          </a:prstGeom>
        </p:spPr>
      </p:pic>
      <p:pic>
        <p:nvPicPr>
          <p:cNvPr id="85" name="Picture 42">
            <a:extLst>
              <a:ext uri="{FF2B5EF4-FFF2-40B4-BE49-F238E27FC236}">
                <a16:creationId xmlns:a16="http://schemas.microsoft.com/office/drawing/2014/main" id="{D560DA4F-7698-78B3-D9E6-E859BB335A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86688" y="2859069"/>
            <a:ext cx="228600" cy="228600"/>
          </a:xfrm>
          <a:prstGeom prst="rect">
            <a:avLst/>
          </a:prstGeom>
        </p:spPr>
      </p:pic>
      <p:pic>
        <p:nvPicPr>
          <p:cNvPr id="86" name="Picture 24">
            <a:extLst>
              <a:ext uri="{FF2B5EF4-FFF2-40B4-BE49-F238E27FC236}">
                <a16:creationId xmlns:a16="http://schemas.microsoft.com/office/drawing/2014/main" id="{F38BB504-D572-CEE3-807B-EDBB9416C7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0082" y="2955372"/>
            <a:ext cx="300280" cy="30028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76219B-B54B-F1F7-95DE-4316F5B49A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China RIMS Solution Proposal</a:t>
            </a:r>
          </a:p>
          <a:p>
            <a:endParaRPr lang="zh-CN" altLang="en-US"/>
          </a:p>
          <a:p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CD5161-B1F1-E5AD-D76F-3C8BB640C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009CDE"/>
                </a:solidFill>
              </a:rPr>
              <a:t>阶段二：能力优化与业务协同</a:t>
            </a:r>
            <a:br>
              <a:rPr lang="zh-CN" altLang="en-US">
                <a:solidFill>
                  <a:srgbClr val="009CDE"/>
                </a:solidFill>
              </a:rPr>
            </a:br>
            <a:endParaRPr lang="zh-CN" altLang="en-US"/>
          </a:p>
        </p:txBody>
      </p:sp>
      <p:sp>
        <p:nvSpPr>
          <p:cNvPr id="6" name="AutoShape 10">
            <a:extLst>
              <a:ext uri="{FF2B5EF4-FFF2-40B4-BE49-F238E27FC236}">
                <a16:creationId xmlns:a16="http://schemas.microsoft.com/office/drawing/2014/main" id="{7DA58F17-1811-2182-7CA9-C26EA274AC7A}"/>
              </a:ext>
            </a:extLst>
          </p:cNvPr>
          <p:cNvSpPr/>
          <p:nvPr/>
        </p:nvSpPr>
        <p:spPr>
          <a:xfrm>
            <a:off x="382904" y="2407919"/>
            <a:ext cx="2981328" cy="45719"/>
          </a:xfrm>
          <a:prstGeom prst="roundRect">
            <a:avLst>
              <a:gd name="adj" fmla="val 0"/>
            </a:avLst>
          </a:prstGeom>
          <a:solidFill>
            <a:srgbClr val="00B0F0"/>
          </a:solidFill>
          <a:ln w="25400" cap="flat" cmpd="sng">
            <a:solidFill>
              <a:srgbClr val="00B0F0"/>
            </a:solidFill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AutoShape 22">
            <a:extLst>
              <a:ext uri="{FF2B5EF4-FFF2-40B4-BE49-F238E27FC236}">
                <a16:creationId xmlns:a16="http://schemas.microsoft.com/office/drawing/2014/main" id="{8D49985B-CADC-615D-DCB4-41BBD22CA9BB}"/>
              </a:ext>
            </a:extLst>
          </p:cNvPr>
          <p:cNvSpPr/>
          <p:nvPr/>
        </p:nvSpPr>
        <p:spPr>
          <a:xfrm flipV="1">
            <a:off x="3543401" y="2407918"/>
            <a:ext cx="5240554" cy="45719"/>
          </a:xfrm>
          <a:prstGeom prst="roundRect">
            <a:avLst>
              <a:gd name="adj" fmla="val 0"/>
            </a:avLst>
          </a:prstGeom>
          <a:solidFill>
            <a:srgbClr val="00B0F0"/>
          </a:solidFill>
          <a:ln w="25400" cap="flat" cmpd="sng">
            <a:solidFill>
              <a:srgbClr val="00B0F0"/>
            </a:solidFill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1" name="Picture 31">
            <a:extLst>
              <a:ext uri="{FF2B5EF4-FFF2-40B4-BE49-F238E27FC236}">
                <a16:creationId xmlns:a16="http://schemas.microsoft.com/office/drawing/2014/main" id="{BB6F5E66-5492-E29E-8648-78D1F1FB14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25168" y="2858727"/>
            <a:ext cx="209550" cy="209550"/>
          </a:xfrm>
          <a:prstGeom prst="rect">
            <a:avLst/>
          </a:prstGeom>
        </p:spPr>
      </p:pic>
      <p:pic>
        <p:nvPicPr>
          <p:cNvPr id="13" name="Graphic 12" descr="Gauge with solid fill">
            <a:extLst>
              <a:ext uri="{FF2B5EF4-FFF2-40B4-BE49-F238E27FC236}">
                <a16:creationId xmlns:a16="http://schemas.microsoft.com/office/drawing/2014/main" id="{3960A16A-B505-69A4-7618-36525C8A9D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7659" y="3731416"/>
            <a:ext cx="312703" cy="29691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C97DB-AC01-03E0-AEDD-0D5B31799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AutoShape 5">
            <a:extLst>
              <a:ext uri="{FF2B5EF4-FFF2-40B4-BE49-F238E27FC236}">
                <a16:creationId xmlns:a16="http://schemas.microsoft.com/office/drawing/2014/main" id="{2C1AF3D0-3F72-BEE9-E30E-D899C8CF6A26}"/>
              </a:ext>
            </a:extLst>
          </p:cNvPr>
          <p:cNvSpPr/>
          <p:nvPr/>
        </p:nvSpPr>
        <p:spPr>
          <a:xfrm>
            <a:off x="377862" y="1323734"/>
            <a:ext cx="8382000" cy="809625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5A9C">
                <a:alpha val="10000"/>
              </a:srgbClr>
            </a:solidFill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6" name="AutoShape 6">
            <a:extLst>
              <a:ext uri="{FF2B5EF4-FFF2-40B4-BE49-F238E27FC236}">
                <a16:creationId xmlns:a16="http://schemas.microsoft.com/office/drawing/2014/main" id="{251FE3BD-3A47-EF03-57B5-CEE5F7FB7074}"/>
              </a:ext>
            </a:extLst>
          </p:cNvPr>
          <p:cNvSpPr/>
          <p:nvPr/>
        </p:nvSpPr>
        <p:spPr>
          <a:xfrm>
            <a:off x="370241" y="1318969"/>
            <a:ext cx="45719" cy="809625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B2F4549C-A426-DEB0-0140-CA9E1D20EEC7}"/>
              </a:ext>
            </a:extLst>
          </p:cNvPr>
          <p:cNvSpPr/>
          <p:nvPr/>
        </p:nvSpPr>
        <p:spPr>
          <a:xfrm>
            <a:off x="512444" y="1393980"/>
            <a:ext cx="8001000" cy="285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>
                <a:ln>
                  <a:noFill/>
                </a:ln>
                <a:solidFill>
                  <a:srgbClr val="005A9C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核心目标</a:t>
            </a:r>
            <a:endParaRPr kumimoji="0" lang="en-US" sz="82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A537B305-9FB3-5EF4-95E1-52C7F3E0AFBF}"/>
              </a:ext>
            </a:extLst>
          </p:cNvPr>
          <p:cNvSpPr/>
          <p:nvPr/>
        </p:nvSpPr>
        <p:spPr>
          <a:xfrm>
            <a:off x="536256" y="1610432"/>
            <a:ext cx="7953375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0" i="0" u="none" strike="noStrike" kern="120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引入</a:t>
            </a:r>
            <a:r>
              <a:rPr kumimoji="0" lang="en-US" altLang="zh-CN" sz="1050" b="0" i="0" u="none" strike="noStrike" kern="120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AI</a:t>
            </a:r>
            <a:r>
              <a:rPr kumimoji="0" lang="zh-CN" altLang="en-US" sz="1050" b="0" i="0" u="none" strike="noStrike" kern="120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智能化能力，突破传统归档系统纯存储、纯查询的基础属性，实现数据智能解析、智能检索、智能合规辅助，打造智能化归档管理平台，提升数据利用价值。</a:t>
            </a:r>
            <a:endParaRPr kumimoji="0" lang="en-US" sz="82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AutoShape 9">
            <a:extLst>
              <a:ext uri="{FF2B5EF4-FFF2-40B4-BE49-F238E27FC236}">
                <a16:creationId xmlns:a16="http://schemas.microsoft.com/office/drawing/2014/main" id="{D5F6EAD8-F215-F60A-6A0C-88A858E995E6}"/>
              </a:ext>
            </a:extLst>
          </p:cNvPr>
          <p:cNvSpPr/>
          <p:nvPr/>
        </p:nvSpPr>
        <p:spPr>
          <a:xfrm>
            <a:off x="360044" y="2447925"/>
            <a:ext cx="3004187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5A9C">
                <a:alpha val="10000"/>
              </a:srgbClr>
            </a:solidFill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AutoShape 10">
            <a:extLst>
              <a:ext uri="{FF2B5EF4-FFF2-40B4-BE49-F238E27FC236}">
                <a16:creationId xmlns:a16="http://schemas.microsoft.com/office/drawing/2014/main" id="{6810B504-CEEF-F554-97E4-01710D56DCE9}"/>
              </a:ext>
            </a:extLst>
          </p:cNvPr>
          <p:cNvSpPr/>
          <p:nvPr/>
        </p:nvSpPr>
        <p:spPr>
          <a:xfrm>
            <a:off x="382904" y="2407919"/>
            <a:ext cx="2981328" cy="45719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AutoShape 11">
            <a:extLst>
              <a:ext uri="{FF2B5EF4-FFF2-40B4-BE49-F238E27FC236}">
                <a16:creationId xmlns:a16="http://schemas.microsoft.com/office/drawing/2014/main" id="{32BAAC65-2561-BBB3-1437-F001F6BAC9B8}"/>
              </a:ext>
            </a:extLst>
          </p:cNvPr>
          <p:cNvSpPr/>
          <p:nvPr/>
        </p:nvSpPr>
        <p:spPr>
          <a:xfrm>
            <a:off x="472438" y="2455008"/>
            <a:ext cx="2687957" cy="28194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>
                <a:ln>
                  <a:noFill/>
                </a:ln>
                <a:solidFill>
                  <a:srgbClr val="005A9C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核心业务场景覆盖</a:t>
            </a:r>
            <a:endParaRPr kumimoji="0" lang="en-US" sz="82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AutoShape 12">
            <a:extLst>
              <a:ext uri="{FF2B5EF4-FFF2-40B4-BE49-F238E27FC236}">
                <a16:creationId xmlns:a16="http://schemas.microsoft.com/office/drawing/2014/main" id="{18FC3268-AD13-074B-20FF-1A822256E80F}"/>
              </a:ext>
            </a:extLst>
          </p:cNvPr>
          <p:cNvSpPr/>
          <p:nvPr/>
        </p:nvSpPr>
        <p:spPr>
          <a:xfrm>
            <a:off x="455294" y="2847973"/>
            <a:ext cx="2771775" cy="621031"/>
          </a:xfrm>
          <a:prstGeom prst="roundRect">
            <a:avLst>
              <a:gd name="adj" fmla="val 0"/>
            </a:avLst>
          </a:prstGeom>
          <a:solidFill>
            <a:srgbClr val="005A9C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AutoShape 14">
            <a:extLst>
              <a:ext uri="{FF2B5EF4-FFF2-40B4-BE49-F238E27FC236}">
                <a16:creationId xmlns:a16="http://schemas.microsoft.com/office/drawing/2014/main" id="{1044C694-777D-C26F-DB5B-AD6763CE79E8}"/>
              </a:ext>
            </a:extLst>
          </p:cNvPr>
          <p:cNvSpPr/>
          <p:nvPr/>
        </p:nvSpPr>
        <p:spPr>
          <a:xfrm>
            <a:off x="852969" y="2884044"/>
            <a:ext cx="23241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提升归档效率</a:t>
            </a:r>
            <a:endParaRPr kumimoji="0" lang="en-US" altLang="zh-CN" sz="1050" b="1" i="0" u="none" strike="noStrike" kern="1200" cap="none" spc="0" normalizeH="0" baseline="0" noProof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针对海量归档历史数据，解决人工检索低效、数据解读耗时、合规核查繁琐等问题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6B7280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2" name="AutoShape 15">
            <a:extLst>
              <a:ext uri="{FF2B5EF4-FFF2-40B4-BE49-F238E27FC236}">
                <a16:creationId xmlns:a16="http://schemas.microsoft.com/office/drawing/2014/main" id="{A029462E-2DE2-CDD8-EB68-D54FC5F8B10B}"/>
              </a:ext>
            </a:extLst>
          </p:cNvPr>
          <p:cNvSpPr/>
          <p:nvPr/>
        </p:nvSpPr>
        <p:spPr>
          <a:xfrm>
            <a:off x="461012" y="3555204"/>
            <a:ext cx="2766057" cy="841530"/>
          </a:xfrm>
          <a:prstGeom prst="roundRect">
            <a:avLst>
              <a:gd name="adj" fmla="val 0"/>
            </a:avLst>
          </a:prstGeom>
          <a:solidFill>
            <a:srgbClr val="005A9C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AutoShape 17">
            <a:extLst>
              <a:ext uri="{FF2B5EF4-FFF2-40B4-BE49-F238E27FC236}">
                <a16:creationId xmlns:a16="http://schemas.microsoft.com/office/drawing/2014/main" id="{43F4DFD2-E74E-7FA5-3EF0-0E1602EEE472}"/>
              </a:ext>
            </a:extLst>
          </p:cNvPr>
          <p:cNvSpPr/>
          <p:nvPr/>
        </p:nvSpPr>
        <p:spPr>
          <a:xfrm>
            <a:off x="868821" y="3675336"/>
            <a:ext cx="2223605" cy="60126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+mn-cs"/>
                <a:sym typeface="Noto Sans SC"/>
              </a:rPr>
              <a:t>智能化升级</a:t>
            </a:r>
            <a:endParaRPr kumimoji="0" lang="en-US" altLang="zh-CN" sz="1050" b="1" i="0" u="none" strike="noStrike" kern="1200" cap="none" spc="0" normalizeH="0" baseline="0" noProof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Noto Sans SC"/>
              <a:ea typeface="Noto Sans SC"/>
              <a:cs typeface="+mn-cs"/>
              <a:sym typeface="Noto Sans SC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支持智能内容解析、自动归类、风险识别，赋能审计核查、数据溯源、业务复盘等场景的智能化升级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6B7280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5" name="AutoShape 21">
            <a:extLst>
              <a:ext uri="{FF2B5EF4-FFF2-40B4-BE49-F238E27FC236}">
                <a16:creationId xmlns:a16="http://schemas.microsoft.com/office/drawing/2014/main" id="{8FAB0433-F2D9-7521-1D46-EC028CE8D623}"/>
              </a:ext>
            </a:extLst>
          </p:cNvPr>
          <p:cNvSpPr/>
          <p:nvPr/>
        </p:nvSpPr>
        <p:spPr>
          <a:xfrm>
            <a:off x="3541396" y="2446020"/>
            <a:ext cx="5242559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5A9C">
                <a:alpha val="10000"/>
              </a:srgbClr>
            </a:solidFill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AutoShape 22">
            <a:extLst>
              <a:ext uri="{FF2B5EF4-FFF2-40B4-BE49-F238E27FC236}">
                <a16:creationId xmlns:a16="http://schemas.microsoft.com/office/drawing/2014/main" id="{A736AC5D-4353-811B-3D90-05A879015D93}"/>
              </a:ext>
            </a:extLst>
          </p:cNvPr>
          <p:cNvSpPr/>
          <p:nvPr/>
        </p:nvSpPr>
        <p:spPr>
          <a:xfrm flipV="1">
            <a:off x="3543401" y="2407918"/>
            <a:ext cx="5240554" cy="45719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AutoShape 23">
            <a:extLst>
              <a:ext uri="{FF2B5EF4-FFF2-40B4-BE49-F238E27FC236}">
                <a16:creationId xmlns:a16="http://schemas.microsoft.com/office/drawing/2014/main" id="{0A6FA043-FD0D-E9C1-69DD-9A12C3B546DE}"/>
              </a:ext>
            </a:extLst>
          </p:cNvPr>
          <p:cNvSpPr/>
          <p:nvPr/>
        </p:nvSpPr>
        <p:spPr>
          <a:xfrm>
            <a:off x="3608070" y="2432417"/>
            <a:ext cx="5175885" cy="32712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>
                <a:ln>
                  <a:noFill/>
                </a:ln>
                <a:solidFill>
                  <a:srgbClr val="005A9C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关键系统功能支撑</a:t>
            </a:r>
            <a:endParaRPr kumimoji="0" lang="en-US" sz="82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AutoShape 24">
            <a:extLst>
              <a:ext uri="{FF2B5EF4-FFF2-40B4-BE49-F238E27FC236}">
                <a16:creationId xmlns:a16="http://schemas.microsoft.com/office/drawing/2014/main" id="{B707C16A-FAC8-8569-13A7-3E29B2BC9E9B}"/>
              </a:ext>
            </a:extLst>
          </p:cNvPr>
          <p:cNvSpPr/>
          <p:nvPr/>
        </p:nvSpPr>
        <p:spPr>
          <a:xfrm>
            <a:off x="3608070" y="2821062"/>
            <a:ext cx="922692" cy="1629251"/>
          </a:xfrm>
          <a:prstGeom prst="roundRect">
            <a:avLst>
              <a:gd name="adj" fmla="val 0"/>
            </a:avLst>
          </a:prstGeom>
          <a:solidFill>
            <a:srgbClr val="005A9C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AutoShape 26">
            <a:extLst>
              <a:ext uri="{FF2B5EF4-FFF2-40B4-BE49-F238E27FC236}">
                <a16:creationId xmlns:a16="http://schemas.microsoft.com/office/drawing/2014/main" id="{72CB0E6F-9386-5CCC-6E04-7F1805A165EA}"/>
              </a:ext>
            </a:extLst>
          </p:cNvPr>
          <p:cNvSpPr/>
          <p:nvPr/>
        </p:nvSpPr>
        <p:spPr>
          <a:xfrm>
            <a:off x="3721599" y="3022781"/>
            <a:ext cx="756760" cy="140113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50" b="1" i="0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AI</a:t>
            </a:r>
            <a:r>
              <a:rPr kumimoji="0" lang="zh-CN" altLang="en-US" sz="1050" b="1" i="0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智能检索</a:t>
            </a:r>
            <a:endParaRPr kumimoji="0" lang="en-US" altLang="zh-CN" sz="1050" b="1" i="0" u="none" strike="noStrike" kern="1200" cap="none" spc="0" normalizeH="0" baseline="0" noProof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6B7280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基于语义理解实现智能搜索与推荐。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6B7280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2" name="AutoShape 29">
            <a:extLst>
              <a:ext uri="{FF2B5EF4-FFF2-40B4-BE49-F238E27FC236}">
                <a16:creationId xmlns:a16="http://schemas.microsoft.com/office/drawing/2014/main" id="{293375A1-1ADF-DDFD-BDE9-8D455D0A5D4E}"/>
              </a:ext>
            </a:extLst>
          </p:cNvPr>
          <p:cNvSpPr/>
          <p:nvPr/>
        </p:nvSpPr>
        <p:spPr>
          <a:xfrm>
            <a:off x="5645726" y="3110889"/>
            <a:ext cx="855622" cy="124230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智能数据归类</a:t>
            </a:r>
            <a:endParaRPr kumimoji="0" lang="en-US" altLang="zh-CN" sz="1050" b="1" i="0" u="none" strike="noStrike" kern="1200" cap="none" spc="0" normalizeH="0" baseline="0" noProof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6B7280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自动分类、打标并识别重复数据。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6B7280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3" name="AutoShape 32">
            <a:extLst>
              <a:ext uri="{FF2B5EF4-FFF2-40B4-BE49-F238E27FC236}">
                <a16:creationId xmlns:a16="http://schemas.microsoft.com/office/drawing/2014/main" id="{99474EDD-3247-B60F-FABB-8966AA55083A}"/>
              </a:ext>
            </a:extLst>
          </p:cNvPr>
          <p:cNvSpPr/>
          <p:nvPr/>
        </p:nvSpPr>
        <p:spPr>
          <a:xfrm>
            <a:off x="7651640" y="3021000"/>
            <a:ext cx="855622" cy="140469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 智能数据统计</a:t>
            </a:r>
            <a:endParaRPr kumimoji="0" lang="en-US" altLang="zh-CN" sz="1050" b="1" i="0" u="none" strike="noStrike" kern="1200" cap="none" spc="0" normalizeH="0" baseline="0" noProof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6B7280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自动生成数据统计及业务分析结果。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6B7280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5" name="AutoShape 35">
            <a:extLst>
              <a:ext uri="{FF2B5EF4-FFF2-40B4-BE49-F238E27FC236}">
                <a16:creationId xmlns:a16="http://schemas.microsoft.com/office/drawing/2014/main" id="{8C35344C-79A4-5C46-0DE1-A5FC610AFF8B}"/>
              </a:ext>
            </a:extLst>
          </p:cNvPr>
          <p:cNvSpPr/>
          <p:nvPr/>
        </p:nvSpPr>
        <p:spPr>
          <a:xfrm>
            <a:off x="6659649" y="3060764"/>
            <a:ext cx="830067" cy="117014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智能合规辅助</a:t>
            </a:r>
            <a:endParaRPr kumimoji="0" lang="en-US" altLang="zh-CN" sz="1050" b="1" i="0" u="none" strike="noStrike" kern="1200" cap="none" spc="0" normalizeH="0" baseline="0" noProof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6B7280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自动识别异常并生成整改建议。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6B7280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7" name="AutoShape 32">
            <a:extLst>
              <a:ext uri="{FF2B5EF4-FFF2-40B4-BE49-F238E27FC236}">
                <a16:creationId xmlns:a16="http://schemas.microsoft.com/office/drawing/2014/main" id="{FE3D71B6-CA3A-5A5E-54BE-14323B71BFB8}"/>
              </a:ext>
            </a:extLst>
          </p:cNvPr>
          <p:cNvSpPr/>
          <p:nvPr/>
        </p:nvSpPr>
        <p:spPr>
          <a:xfrm>
            <a:off x="4672484" y="3110889"/>
            <a:ext cx="768012" cy="122491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50" b="1" i="0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 AI</a:t>
            </a:r>
            <a:r>
              <a:rPr kumimoji="0" lang="zh-CN" altLang="en-US" sz="1050" b="1" i="0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内容解析</a:t>
            </a:r>
            <a:endParaRPr kumimoji="0" lang="en-US" altLang="zh-CN" sz="1050" b="1" i="0" u="none" strike="noStrike" kern="1200" cap="none" spc="0" normalizeH="0" baseline="0" noProof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6B7280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自动解析文档、图片及结构化数据。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6B7280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8" name="AutoShape 24">
            <a:extLst>
              <a:ext uri="{FF2B5EF4-FFF2-40B4-BE49-F238E27FC236}">
                <a16:creationId xmlns:a16="http://schemas.microsoft.com/office/drawing/2014/main" id="{82E570B5-C3B1-4F20-6C1A-3D1D74B2E3E3}"/>
              </a:ext>
            </a:extLst>
          </p:cNvPr>
          <p:cNvSpPr/>
          <p:nvPr/>
        </p:nvSpPr>
        <p:spPr>
          <a:xfrm>
            <a:off x="4592077" y="2810134"/>
            <a:ext cx="922692" cy="1629251"/>
          </a:xfrm>
          <a:prstGeom prst="roundRect">
            <a:avLst>
              <a:gd name="adj" fmla="val 0"/>
            </a:avLst>
          </a:prstGeom>
          <a:solidFill>
            <a:srgbClr val="005A9C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9" name="AutoShape 24">
            <a:extLst>
              <a:ext uri="{FF2B5EF4-FFF2-40B4-BE49-F238E27FC236}">
                <a16:creationId xmlns:a16="http://schemas.microsoft.com/office/drawing/2014/main" id="{968FE87E-E032-042B-499E-0BAEDE302B80}"/>
              </a:ext>
            </a:extLst>
          </p:cNvPr>
          <p:cNvSpPr/>
          <p:nvPr/>
        </p:nvSpPr>
        <p:spPr>
          <a:xfrm>
            <a:off x="5595357" y="2810134"/>
            <a:ext cx="922692" cy="1629251"/>
          </a:xfrm>
          <a:prstGeom prst="roundRect">
            <a:avLst>
              <a:gd name="adj" fmla="val 0"/>
            </a:avLst>
          </a:prstGeom>
          <a:solidFill>
            <a:srgbClr val="005A9C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0" name="AutoShape 24">
            <a:extLst>
              <a:ext uri="{FF2B5EF4-FFF2-40B4-BE49-F238E27FC236}">
                <a16:creationId xmlns:a16="http://schemas.microsoft.com/office/drawing/2014/main" id="{4639DA1F-55C6-3705-BFA1-C818374DBABE}"/>
              </a:ext>
            </a:extLst>
          </p:cNvPr>
          <p:cNvSpPr/>
          <p:nvPr/>
        </p:nvSpPr>
        <p:spPr>
          <a:xfrm>
            <a:off x="6603811" y="2810134"/>
            <a:ext cx="922692" cy="1629251"/>
          </a:xfrm>
          <a:prstGeom prst="roundRect">
            <a:avLst>
              <a:gd name="adj" fmla="val 0"/>
            </a:avLst>
          </a:prstGeom>
          <a:solidFill>
            <a:srgbClr val="005A9C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1" name="AutoShape 24">
            <a:extLst>
              <a:ext uri="{FF2B5EF4-FFF2-40B4-BE49-F238E27FC236}">
                <a16:creationId xmlns:a16="http://schemas.microsoft.com/office/drawing/2014/main" id="{CBCBF0B3-A7C6-3906-79D2-BA5582532F65}"/>
              </a:ext>
            </a:extLst>
          </p:cNvPr>
          <p:cNvSpPr/>
          <p:nvPr/>
        </p:nvSpPr>
        <p:spPr>
          <a:xfrm>
            <a:off x="7602530" y="2810134"/>
            <a:ext cx="922692" cy="1629251"/>
          </a:xfrm>
          <a:prstGeom prst="roundRect">
            <a:avLst>
              <a:gd name="adj" fmla="val 0"/>
            </a:avLst>
          </a:prstGeom>
          <a:solidFill>
            <a:srgbClr val="005A9C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" name="Picture 10">
            <a:extLst>
              <a:ext uri="{FF2B5EF4-FFF2-40B4-BE49-F238E27FC236}">
                <a16:creationId xmlns:a16="http://schemas.microsoft.com/office/drawing/2014/main" id="{A655FB78-F7BC-7F06-2D97-4EE1D3CA48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55957" y="2892862"/>
            <a:ext cx="228600" cy="228600"/>
          </a:xfrm>
          <a:prstGeom prst="rect">
            <a:avLst/>
          </a:prstGeom>
        </p:spPr>
      </p:pic>
      <p:pic>
        <p:nvPicPr>
          <p:cNvPr id="3" name="Picture 14">
            <a:extLst>
              <a:ext uri="{FF2B5EF4-FFF2-40B4-BE49-F238E27FC236}">
                <a16:creationId xmlns:a16="http://schemas.microsoft.com/office/drawing/2014/main" id="{4973362A-8103-1789-5A4B-32F658106D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78353" y="2892862"/>
            <a:ext cx="228600" cy="228600"/>
          </a:xfrm>
          <a:prstGeom prst="rect">
            <a:avLst/>
          </a:prstGeom>
        </p:spPr>
      </p:pic>
      <p:pic>
        <p:nvPicPr>
          <p:cNvPr id="5" name="Picture 18">
            <a:extLst>
              <a:ext uri="{FF2B5EF4-FFF2-40B4-BE49-F238E27FC236}">
                <a16:creationId xmlns:a16="http://schemas.microsoft.com/office/drawing/2014/main" id="{0270E532-C609-756F-91F1-664417E9C5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55116" y="2892862"/>
            <a:ext cx="228600" cy="228600"/>
          </a:xfrm>
          <a:prstGeom prst="rect">
            <a:avLst/>
          </a:prstGeom>
        </p:spPr>
      </p:pic>
      <p:pic>
        <p:nvPicPr>
          <p:cNvPr id="6" name="Picture 22">
            <a:extLst>
              <a:ext uri="{FF2B5EF4-FFF2-40B4-BE49-F238E27FC236}">
                <a16:creationId xmlns:a16="http://schemas.microsoft.com/office/drawing/2014/main" id="{71374F59-AAF7-DD1A-9EC4-3A5067C3C6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93268" y="2892862"/>
            <a:ext cx="228600" cy="228600"/>
          </a:xfrm>
          <a:prstGeom prst="rect">
            <a:avLst/>
          </a:prstGeom>
        </p:spPr>
      </p:pic>
      <p:pic>
        <p:nvPicPr>
          <p:cNvPr id="9" name="Picture 36">
            <a:extLst>
              <a:ext uri="{FF2B5EF4-FFF2-40B4-BE49-F238E27FC236}">
                <a16:creationId xmlns:a16="http://schemas.microsoft.com/office/drawing/2014/main" id="{FBAE7DAF-118B-DBBE-C789-F047EC6673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30662" y="2892862"/>
            <a:ext cx="228600" cy="228600"/>
          </a:xfrm>
          <a:prstGeom prst="rect">
            <a:avLst/>
          </a:prstGeom>
        </p:spPr>
      </p:pic>
      <p:pic>
        <p:nvPicPr>
          <p:cNvPr id="11" name="Picture 28">
            <a:extLst>
              <a:ext uri="{FF2B5EF4-FFF2-40B4-BE49-F238E27FC236}">
                <a16:creationId xmlns:a16="http://schemas.microsoft.com/office/drawing/2014/main" id="{AB52420D-2185-B455-99F6-DF60224FC8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6728" y="2972148"/>
            <a:ext cx="296834" cy="296834"/>
          </a:xfrm>
          <a:prstGeom prst="rect">
            <a:avLst/>
          </a:prstGeom>
        </p:spPr>
      </p:pic>
      <p:pic>
        <p:nvPicPr>
          <p:cNvPr id="12" name="Picture 32">
            <a:extLst>
              <a:ext uri="{FF2B5EF4-FFF2-40B4-BE49-F238E27FC236}">
                <a16:creationId xmlns:a16="http://schemas.microsoft.com/office/drawing/2014/main" id="{2391EE15-585D-E1DA-9B89-DFD3F5117B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05602" y="3723346"/>
            <a:ext cx="299086" cy="299086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89EF8B-06B2-EBC7-9DC9-CC1E4BA581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China RIMS Solution Proposal</a:t>
            </a:r>
          </a:p>
          <a:p>
            <a:endParaRPr lang="zh-CN" altLang="en-US"/>
          </a:p>
          <a:p>
            <a:endParaRPr lang="zh-CN" alt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3B24B40B-0402-93A5-DFAF-164E3C72D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009CDE"/>
                </a:solidFill>
              </a:rPr>
              <a:t>阶段三：</a:t>
            </a:r>
            <a:r>
              <a:rPr lang="en-US" altLang="zh-CN">
                <a:solidFill>
                  <a:srgbClr val="009CDE"/>
                </a:solidFill>
              </a:rPr>
              <a:t>AI</a:t>
            </a:r>
            <a:r>
              <a:rPr lang="zh-CN" altLang="en-US">
                <a:solidFill>
                  <a:srgbClr val="009CDE"/>
                </a:solidFill>
              </a:rPr>
              <a:t>赋能与智能升级</a:t>
            </a:r>
            <a:br>
              <a:rPr lang="zh-CN" altLang="en-US">
                <a:solidFill>
                  <a:srgbClr val="009CDE"/>
                </a:solidFill>
              </a:rPr>
            </a:b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84477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2D9C3-415D-4959-F429-7952EB197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6D6DAAEA-DF0A-3BEA-287D-FDE12049BF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>
                <a:sym typeface="+mn-lt"/>
              </a:rPr>
              <a:t>5. Technology Solution &amp; Architecture Recommendation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5A37A-9F22-4895-0106-D299F551CD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0" tIns="0" rIns="68580" bIns="34290" rtlCol="0" anchor="t">
            <a:normAutofit/>
          </a:bodyPr>
          <a:lstStyle/>
          <a:p>
            <a:r>
              <a:rPr lang="en-US">
                <a:cs typeface="Calibri"/>
              </a:rPr>
              <a:t>Sep 2026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4DB59147-0057-4BF1-2459-53B52DA1294F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760944" y="2790973"/>
            <a:ext cx="4194505" cy="357671"/>
          </a:xfrm>
        </p:spPr>
        <p:txBody>
          <a:bodyPr>
            <a:normAutofit/>
          </a:bodyPr>
          <a:lstStyle/>
          <a:p>
            <a:r>
              <a:rPr lang="en-US" altLang="zh-CN">
                <a:latin typeface="Georgia (Headings)"/>
                <a:sym typeface="+mn-lt"/>
              </a:rPr>
              <a:t>China RIMS Solution Proposal</a:t>
            </a:r>
            <a:endParaRPr lang="zh-CN" altLang="en-US">
              <a:latin typeface="Georgia (Headings)"/>
            </a:endParaRPr>
          </a:p>
        </p:txBody>
      </p:sp>
    </p:spTree>
    <p:extLst>
      <p:ext uri="{BB962C8B-B14F-4D97-AF65-F5344CB8AC3E}">
        <p14:creationId xmlns:p14="http://schemas.microsoft.com/office/powerpoint/2010/main" val="5514141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33CB9-9A45-9480-0D87-3A590B761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2135310F-2F31-D8C2-D559-44714DF0EA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2921" y="266700"/>
            <a:ext cx="5241925" cy="261610"/>
          </a:xfrm>
        </p:spPr>
        <p:txBody>
          <a:bodyPr/>
          <a:lstStyle/>
          <a:p>
            <a:r>
              <a:rPr lang="en-US"/>
              <a:t>China RIMS Solution Proposal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939FA85-2858-D3AC-2E75-01C2D51A8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China RIMS </a:t>
            </a:r>
            <a:r>
              <a:rPr lang="zh-CN" altLang="en-US"/>
              <a:t>技术架构方案概览</a:t>
            </a:r>
          </a:p>
        </p:txBody>
      </p:sp>
      <p:sp>
        <p:nvSpPr>
          <p:cNvPr id="7" name="collect-note">
            <a:extLst>
              <a:ext uri="{FF2B5EF4-FFF2-40B4-BE49-F238E27FC236}">
                <a16:creationId xmlns:a16="http://schemas.microsoft.com/office/drawing/2014/main" id="{8A1D7D1F-000D-4C41-3037-493C74FD5757}"/>
              </a:ext>
            </a:extLst>
          </p:cNvPr>
          <p:cNvSpPr>
            <a:spLocks noGrp="1"/>
          </p:cNvSpPr>
          <p:nvPr/>
        </p:nvSpPr>
        <p:spPr>
          <a:xfrm>
            <a:off x="2157409" y="972040"/>
            <a:ext cx="4770120" cy="2221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750" b="0">
                <a:solidFill>
                  <a:srgbClr val="607384"/>
                </a:solidFill>
              </a:defRPr>
            </a:pPr>
            <a:r>
              <a:rPr lang="zh-CN" altLang="en-US" sz="1000"/>
              <a:t>我们从数据存储、查询引擎以及应用平台三个层面形成三种候选技术架构方案</a:t>
            </a:r>
            <a:endParaRPr sz="100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341DF93-89F2-3C07-0CA1-60198DDC9432}"/>
              </a:ext>
            </a:extLst>
          </p:cNvPr>
          <p:cNvSpPr/>
          <p:nvPr/>
        </p:nvSpPr>
        <p:spPr>
          <a:xfrm>
            <a:off x="389084" y="1453753"/>
            <a:ext cx="2780371" cy="3215111"/>
          </a:xfrm>
          <a:prstGeom prst="roundRect">
            <a:avLst>
              <a:gd name="adj" fmla="val 3887"/>
            </a:avLst>
          </a:prstGeom>
          <a:solidFill>
            <a:schemeClr val="bg1"/>
          </a:solidFill>
          <a:ln w="9525">
            <a:solidFill>
              <a:srgbClr val="7FCD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64E0158-E7C8-EE0D-5CD3-30AC72B030BC}"/>
              </a:ext>
            </a:extLst>
          </p:cNvPr>
          <p:cNvSpPr/>
          <p:nvPr/>
        </p:nvSpPr>
        <p:spPr>
          <a:xfrm>
            <a:off x="3252774" y="1453753"/>
            <a:ext cx="2780371" cy="3215111"/>
          </a:xfrm>
          <a:prstGeom prst="roundRect">
            <a:avLst>
              <a:gd name="adj" fmla="val 3887"/>
            </a:avLst>
          </a:prstGeom>
          <a:solidFill>
            <a:schemeClr val="bg1"/>
          </a:solidFill>
          <a:ln w="9525">
            <a:solidFill>
              <a:srgbClr val="009C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90B1086-6EBF-2255-5C27-C08460615C23}"/>
              </a:ext>
            </a:extLst>
          </p:cNvPr>
          <p:cNvSpPr/>
          <p:nvPr/>
        </p:nvSpPr>
        <p:spPr>
          <a:xfrm>
            <a:off x="6116464" y="1453753"/>
            <a:ext cx="2780371" cy="3215111"/>
          </a:xfrm>
          <a:prstGeom prst="roundRect">
            <a:avLst>
              <a:gd name="adj" fmla="val 3887"/>
            </a:avLst>
          </a:prstGeom>
          <a:solidFill>
            <a:schemeClr val="accent3">
              <a:lumMod val="20000"/>
              <a:lumOff val="80000"/>
              <a:alpha val="30000"/>
            </a:schemeClr>
          </a:solidFill>
          <a:ln w="9525">
            <a:solidFill>
              <a:srgbClr val="0075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BF64F02-B368-671A-0A1A-E4733B3B8BA0}"/>
              </a:ext>
            </a:extLst>
          </p:cNvPr>
          <p:cNvSpPr txBox="1"/>
          <p:nvPr/>
        </p:nvSpPr>
        <p:spPr>
          <a:xfrm>
            <a:off x="617219" y="1586088"/>
            <a:ext cx="2324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>
                <a:latin typeface="+mj-lt"/>
              </a:rPr>
              <a:t>PG</a:t>
            </a:r>
            <a:r>
              <a:rPr lang="zh-CN" altLang="en-US" sz="1200" b="1">
                <a:latin typeface="+mj-lt"/>
              </a:rPr>
              <a:t>合一群 </a:t>
            </a:r>
            <a:r>
              <a:rPr lang="en-US" altLang="zh-CN" sz="1200" b="1">
                <a:latin typeface="+mj-lt"/>
              </a:rPr>
              <a:t>+ Appsmith </a:t>
            </a:r>
            <a:r>
              <a:rPr lang="zh-CN" altLang="en-US" sz="1200" b="1">
                <a:latin typeface="+mj-lt"/>
              </a:rPr>
              <a:t>低代码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0FCCAC-F80A-8E86-5F98-48E1B12ECBCD}"/>
              </a:ext>
            </a:extLst>
          </p:cNvPr>
          <p:cNvSpPr txBox="1"/>
          <p:nvPr/>
        </p:nvSpPr>
        <p:spPr>
          <a:xfrm>
            <a:off x="3418258" y="1586088"/>
            <a:ext cx="24494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>
                <a:latin typeface="+mj-lt"/>
              </a:rPr>
              <a:t>湖仓一体 </a:t>
            </a:r>
            <a:r>
              <a:rPr lang="en-US" altLang="zh-CN" sz="1200" b="1">
                <a:latin typeface="+mj-lt"/>
              </a:rPr>
              <a:t>+ </a:t>
            </a:r>
            <a:r>
              <a:rPr lang="zh-CN" altLang="en-US" sz="1200" b="1">
                <a:latin typeface="+mj-lt"/>
              </a:rPr>
              <a:t>配置化平台 </a:t>
            </a:r>
            <a:r>
              <a:rPr lang="en-US" altLang="zh-CN" sz="1200" b="1">
                <a:latin typeface="+mj-lt"/>
              </a:rPr>
              <a:t>(Trino</a:t>
            </a:r>
            <a:r>
              <a:rPr lang="zh-CN" altLang="en-US" sz="1200" b="1">
                <a:latin typeface="+mj-lt"/>
              </a:rPr>
              <a:t>读</a:t>
            </a:r>
            <a:r>
              <a:rPr lang="en-US" altLang="zh-CN" sz="1200" b="1">
                <a:latin typeface="+mj-lt"/>
              </a:rPr>
              <a:t>)</a:t>
            </a:r>
            <a:endParaRPr lang="zh-CN" altLang="en-US" sz="1200" b="1">
              <a:latin typeface="+mj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5C1A861-9363-9602-A0DE-5BEF5A7A34B0}"/>
              </a:ext>
            </a:extLst>
          </p:cNvPr>
          <p:cNvSpPr txBox="1"/>
          <p:nvPr/>
        </p:nvSpPr>
        <p:spPr>
          <a:xfrm>
            <a:off x="6418051" y="1586088"/>
            <a:ext cx="21771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>
                <a:latin typeface="+mj-lt"/>
              </a:rPr>
              <a:t>湖仓一体</a:t>
            </a:r>
            <a:r>
              <a:rPr lang="en-US" altLang="zh-CN" sz="1200" b="1">
                <a:latin typeface="+mj-lt"/>
              </a:rPr>
              <a:t> + Databricks</a:t>
            </a:r>
            <a:r>
              <a:rPr lang="zh-CN" altLang="en-US" sz="1200" b="1">
                <a:latin typeface="+mj-lt"/>
              </a:rPr>
              <a:t>读写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9350BA0-A2B7-0EB9-97BF-997947232045}"/>
              </a:ext>
            </a:extLst>
          </p:cNvPr>
          <p:cNvSpPr/>
          <p:nvPr/>
        </p:nvSpPr>
        <p:spPr>
          <a:xfrm>
            <a:off x="1200149" y="1352514"/>
            <a:ext cx="1158240" cy="202478"/>
          </a:xfrm>
          <a:prstGeom prst="roundRect">
            <a:avLst>
              <a:gd name="adj" fmla="val 50000"/>
            </a:avLst>
          </a:prstGeom>
          <a:solidFill>
            <a:srgbClr val="7FCD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/>
              <a:t>方案 </a:t>
            </a:r>
            <a:r>
              <a:rPr lang="en-US" altLang="zh-CN" sz="1200" b="1"/>
              <a:t>A</a:t>
            </a:r>
            <a:endParaRPr lang="zh-CN" altLang="en-US" sz="1200" b="1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5E378DE-CDD2-9C37-9975-3C7310281154}"/>
              </a:ext>
            </a:extLst>
          </p:cNvPr>
          <p:cNvSpPr/>
          <p:nvPr/>
        </p:nvSpPr>
        <p:spPr>
          <a:xfrm>
            <a:off x="4063839" y="1352514"/>
            <a:ext cx="1158240" cy="202478"/>
          </a:xfrm>
          <a:prstGeom prst="roundRect">
            <a:avLst>
              <a:gd name="adj" fmla="val 50000"/>
            </a:avLst>
          </a:prstGeom>
          <a:solidFill>
            <a:srgbClr val="009C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/>
              <a:t>方案 </a:t>
            </a:r>
            <a:r>
              <a:rPr lang="en-US" altLang="zh-CN" sz="1200" b="1"/>
              <a:t>B1</a:t>
            </a:r>
            <a:endParaRPr lang="zh-CN" altLang="en-US" sz="1200" b="1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C114100-A4DA-4B39-F0DC-6AFEF3AFDBED}"/>
              </a:ext>
            </a:extLst>
          </p:cNvPr>
          <p:cNvSpPr/>
          <p:nvPr/>
        </p:nvSpPr>
        <p:spPr>
          <a:xfrm>
            <a:off x="6927529" y="1352514"/>
            <a:ext cx="1158240" cy="202478"/>
          </a:xfrm>
          <a:prstGeom prst="roundRect">
            <a:avLst>
              <a:gd name="adj" fmla="val 50000"/>
            </a:avLst>
          </a:prstGeom>
          <a:solidFill>
            <a:srgbClr val="0075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/>
              <a:t>方案 </a:t>
            </a:r>
            <a:r>
              <a:rPr lang="en-US" altLang="zh-CN" sz="1200" b="1"/>
              <a:t>B2</a:t>
            </a:r>
            <a:endParaRPr lang="zh-CN" altLang="en-US" sz="1200" b="1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13C42B95-9CC9-DD1E-6D1F-C76EADF96E47}"/>
              </a:ext>
            </a:extLst>
          </p:cNvPr>
          <p:cNvSpPr/>
          <p:nvPr/>
        </p:nvSpPr>
        <p:spPr>
          <a:xfrm>
            <a:off x="527731" y="1925808"/>
            <a:ext cx="2545080" cy="446341"/>
          </a:xfrm>
          <a:prstGeom prst="roundRect">
            <a:avLst>
              <a:gd name="adj" fmla="val 28660"/>
            </a:avLst>
          </a:prstGeom>
          <a:solidFill>
            <a:srgbClr val="7FCDEE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</a:rPr>
              <a:t>以</a:t>
            </a:r>
            <a:r>
              <a:rPr lang="en-US" altLang="zh-CN" sz="900">
                <a:solidFill>
                  <a:schemeClr val="tx1"/>
                </a:solidFill>
              </a:rPr>
              <a:t>PostgreSQL</a:t>
            </a:r>
            <a:r>
              <a:rPr lang="zh-CN" altLang="en-US" sz="900">
                <a:solidFill>
                  <a:schemeClr val="tx1"/>
                </a:solidFill>
              </a:rPr>
              <a:t>为核心归档数据库，结合</a:t>
            </a:r>
            <a:r>
              <a:rPr lang="en-US" altLang="zh-CN" sz="900">
                <a:solidFill>
                  <a:schemeClr val="tx1"/>
                </a:solidFill>
              </a:rPr>
              <a:t>Appsmith</a:t>
            </a:r>
            <a:r>
              <a:rPr lang="zh-CN" altLang="en-US" sz="900">
                <a:solidFill>
                  <a:schemeClr val="tx1"/>
                </a:solidFill>
              </a:rPr>
              <a:t>低代码平台快速构建查询与管理页面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8808E268-58A2-721D-D165-F75A687FFBE5}"/>
              </a:ext>
            </a:extLst>
          </p:cNvPr>
          <p:cNvSpPr/>
          <p:nvPr/>
        </p:nvSpPr>
        <p:spPr>
          <a:xfrm>
            <a:off x="3370419" y="1925808"/>
            <a:ext cx="2545080" cy="446341"/>
          </a:xfrm>
          <a:prstGeom prst="roundRect">
            <a:avLst>
              <a:gd name="adj" fmla="val 28660"/>
            </a:avLst>
          </a:prstGeom>
          <a:solidFill>
            <a:srgbClr val="009CDE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</a:rPr>
              <a:t>以开放湖仓作为统一数据底座，通过自建</a:t>
            </a:r>
            <a:r>
              <a:rPr lang="en-US" altLang="zh-CN" sz="900">
                <a:solidFill>
                  <a:schemeClr val="tx1"/>
                </a:solidFill>
              </a:rPr>
              <a:t>Trino</a:t>
            </a:r>
            <a:r>
              <a:rPr lang="zh-CN" altLang="en-US" sz="900">
                <a:solidFill>
                  <a:schemeClr val="tx1"/>
                </a:solidFill>
              </a:rPr>
              <a:t>查询引擎与配置化平台实现全量历史数据访问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D3B0586F-76F9-5F9B-7D09-E4FCC4829058}"/>
              </a:ext>
            </a:extLst>
          </p:cNvPr>
          <p:cNvSpPr/>
          <p:nvPr/>
        </p:nvSpPr>
        <p:spPr>
          <a:xfrm>
            <a:off x="6234109" y="1925808"/>
            <a:ext cx="2545080" cy="446341"/>
          </a:xfrm>
          <a:prstGeom prst="roundRect">
            <a:avLst>
              <a:gd name="adj" fmla="val 28660"/>
            </a:avLst>
          </a:prstGeom>
          <a:solidFill>
            <a:srgbClr val="0075A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</a:rPr>
              <a:t>基于同一湖仓数据底座，由</a:t>
            </a:r>
            <a:r>
              <a:rPr lang="en-US" altLang="zh-CN" sz="900">
                <a:solidFill>
                  <a:schemeClr val="tx1"/>
                </a:solidFill>
              </a:rPr>
              <a:t>Databrick</a:t>
            </a:r>
            <a:r>
              <a:rPr lang="zh-CN" altLang="en-US" sz="900">
                <a:solidFill>
                  <a:schemeClr val="tx1"/>
                </a:solidFill>
              </a:rPr>
              <a:t>统一承载数据处理、查询与治理能力</a:t>
            </a:r>
          </a:p>
        </p:txBody>
      </p:sp>
      <p:sp>
        <p:nvSpPr>
          <p:cNvPr id="36" name="archA-label">
            <a:extLst>
              <a:ext uri="{FF2B5EF4-FFF2-40B4-BE49-F238E27FC236}">
                <a16:creationId xmlns:a16="http://schemas.microsoft.com/office/drawing/2014/main" id="{893E2E8B-A6E3-CAB9-8DC0-F1878E65A833}"/>
              </a:ext>
            </a:extLst>
          </p:cNvPr>
          <p:cNvSpPr txBox="1"/>
          <p:nvPr/>
        </p:nvSpPr>
        <p:spPr>
          <a:xfrm>
            <a:off x="527731" y="2431841"/>
            <a:ext cx="536378" cy="14303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b="1" noProof="1">
                <a:solidFill>
                  <a:srgbClr val="7FCDEE"/>
                </a:solidFill>
                <a:latin typeface="Calibri (Body)"/>
                <a:ea typeface="MiSans"/>
                <a:cs typeface="MiSans"/>
              </a:rPr>
              <a:t>核心架构</a:t>
            </a:r>
            <a:endParaRPr lang="en-US" sz="1000" noProof="1">
              <a:solidFill>
                <a:srgbClr val="7FCDEE"/>
              </a:solidFill>
              <a:latin typeface="Calibri (Body)"/>
              <a:ea typeface="MiSans"/>
              <a:cs typeface="MiSans"/>
            </a:endParaRPr>
          </a:p>
        </p:txBody>
      </p:sp>
      <p:sp>
        <p:nvSpPr>
          <p:cNvPr id="40" name="aA-db">
            <a:extLst>
              <a:ext uri="{FF2B5EF4-FFF2-40B4-BE49-F238E27FC236}">
                <a16:creationId xmlns:a16="http://schemas.microsoft.com/office/drawing/2014/main" id="{E596DC94-9CC4-9011-67A0-FDBF8DCAD3B8}"/>
              </a:ext>
            </a:extLst>
          </p:cNvPr>
          <p:cNvSpPr/>
          <p:nvPr>
            <p:extLst>
              <p:ext uri="{F5677B7D-0D2A-4D9B-9A5C-6D8D7D0E5A5D}">
                <pptd:icon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="" encoding="base64url">eyJpY29uTmFtZSI6ImZhczpkYXRhYmFzZSJ9</pptd:icon>
              </p:ext>
            </p:extLst>
          </p:nvPr>
        </p:nvSpPr>
        <p:spPr>
          <a:xfrm>
            <a:off x="737518" y="2644776"/>
            <a:ext cx="213171" cy="23825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48" y="206"/>
                </a:moveTo>
                <a:cubicBezTo>
                  <a:pt x="433" y="216"/>
                  <a:pt x="416" y="224"/>
                  <a:pt x="399" y="230"/>
                </a:cubicBezTo>
                <a:cubicBezTo>
                  <a:pt x="352" y="247"/>
                  <a:pt x="290" y="256"/>
                  <a:pt x="224" y="256"/>
                </a:cubicBezTo>
                <a:cubicBezTo>
                  <a:pt x="158" y="256"/>
                  <a:pt x="96" y="247"/>
                  <a:pt x="50" y="230"/>
                </a:cubicBezTo>
                <a:cubicBezTo>
                  <a:pt x="32" y="224"/>
                  <a:pt x="15" y="216"/>
                  <a:pt x="0" y="206"/>
                </a:cubicBezTo>
                <a:lnTo>
                  <a:pt x="0" y="288"/>
                </a:lnTo>
                <a:cubicBezTo>
                  <a:pt x="0" y="332"/>
                  <a:pt x="100" y="368"/>
                  <a:pt x="224" y="368"/>
                </a:cubicBezTo>
                <a:cubicBezTo>
                  <a:pt x="348" y="368"/>
                  <a:pt x="448" y="332"/>
                  <a:pt x="448" y="288"/>
                </a:cubicBezTo>
                <a:lnTo>
                  <a:pt x="448" y="206"/>
                </a:lnTo>
                <a:close/>
              </a:path>
              <a:path w="448" h="512">
                <a:moveTo>
                  <a:pt x="448" y="128"/>
                </a:moveTo>
                <a:lnTo>
                  <a:pt x="448" y="80"/>
                </a:lnTo>
                <a:cubicBezTo>
                  <a:pt x="448" y="36"/>
                  <a:pt x="348" y="0"/>
                  <a:pt x="224" y="0"/>
                </a:cubicBezTo>
                <a:cubicBezTo>
                  <a:pt x="100" y="0"/>
                  <a:pt x="0" y="36"/>
                  <a:pt x="0" y="80"/>
                </a:cubicBezTo>
                <a:lnTo>
                  <a:pt x="0" y="128"/>
                </a:lnTo>
                <a:cubicBezTo>
                  <a:pt x="0" y="172"/>
                  <a:pt x="100" y="208"/>
                  <a:pt x="224" y="208"/>
                </a:cubicBezTo>
                <a:cubicBezTo>
                  <a:pt x="348" y="208"/>
                  <a:pt x="448" y="172"/>
                  <a:pt x="448" y="128"/>
                </a:cubicBezTo>
                <a:close/>
              </a:path>
              <a:path w="448" h="512">
                <a:moveTo>
                  <a:pt x="399" y="390"/>
                </a:moveTo>
                <a:cubicBezTo>
                  <a:pt x="352" y="407"/>
                  <a:pt x="290" y="416"/>
                  <a:pt x="224" y="416"/>
                </a:cubicBezTo>
                <a:cubicBezTo>
                  <a:pt x="158" y="416"/>
                  <a:pt x="96" y="407"/>
                  <a:pt x="50" y="390"/>
                </a:cubicBezTo>
                <a:cubicBezTo>
                  <a:pt x="32" y="384"/>
                  <a:pt x="15" y="376"/>
                  <a:pt x="0" y="366"/>
                </a:cubicBezTo>
                <a:lnTo>
                  <a:pt x="0" y="432"/>
                </a:lnTo>
                <a:cubicBezTo>
                  <a:pt x="0" y="476"/>
                  <a:pt x="100" y="512"/>
                  <a:pt x="224" y="512"/>
                </a:cubicBezTo>
                <a:cubicBezTo>
                  <a:pt x="348" y="512"/>
                  <a:pt x="448" y="476"/>
                  <a:pt x="448" y="432"/>
                </a:cubicBezTo>
                <a:lnTo>
                  <a:pt x="448" y="366"/>
                </a:lnTo>
                <a:cubicBezTo>
                  <a:pt x="433" y="376"/>
                  <a:pt x="416" y="384"/>
                  <a:pt x="399" y="390"/>
                </a:cubicBezTo>
                <a:close/>
              </a:path>
            </a:pathLst>
          </a:custGeom>
          <a:solidFill>
            <a:srgbClr val="9AA1AC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42" name="aA-db-label">
            <a:extLst>
              <a:ext uri="{FF2B5EF4-FFF2-40B4-BE49-F238E27FC236}">
                <a16:creationId xmlns:a16="http://schemas.microsoft.com/office/drawing/2014/main" id="{811825E1-5EA3-8466-B659-F170DECAF24F}"/>
              </a:ext>
            </a:extLst>
          </p:cNvPr>
          <p:cNvSpPr txBox="1"/>
          <p:nvPr/>
        </p:nvSpPr>
        <p:spPr>
          <a:xfrm>
            <a:off x="3724132" y="3846194"/>
            <a:ext cx="625775" cy="1251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endParaRPr lang="en-US" sz="800" noProof="1">
              <a:solidFill>
                <a:srgbClr val="000000"/>
              </a:solidFill>
              <a:ea typeface="MiSans"/>
              <a:cs typeface="MiSans"/>
            </a:endParaRPr>
          </a:p>
        </p:txBody>
      </p:sp>
      <p:sp>
        <p:nvSpPr>
          <p:cNvPr id="44" name="aA-arrow1">
            <a:extLst>
              <a:ext uri="{FF2B5EF4-FFF2-40B4-BE49-F238E27FC236}">
                <a16:creationId xmlns:a16="http://schemas.microsoft.com/office/drawing/2014/main" id="{6198CE6A-941E-23B5-7151-4FBEEEB2CD21}"/>
              </a:ext>
            </a:extLst>
          </p:cNvPr>
          <p:cNvSpPr/>
          <p:nvPr/>
        </p:nvSpPr>
        <p:spPr>
          <a:xfrm>
            <a:off x="1064097" y="2729019"/>
            <a:ext cx="232431" cy="125155"/>
          </a:xfrm>
          <a:prstGeom prst="rightArrow">
            <a:avLst>
              <a:gd name="adj1" fmla="val 32000"/>
              <a:gd name="adj2" fmla="val 42000"/>
            </a:avLst>
          </a:prstGeom>
          <a:solidFill>
            <a:srgbClr val="7FCDEE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pic>
        <p:nvPicPr>
          <p:cNvPr id="46" name="aA-pg">
            <a:extLst>
              <a:ext uri="{FF2B5EF4-FFF2-40B4-BE49-F238E27FC236}">
                <a16:creationId xmlns:a16="http://schemas.microsoft.com/office/drawing/2014/main" id="{67A9E93E-92A7-BD3F-3495-FD13718D152E}"/>
              </a:ext>
            </a:extLst>
          </p:cNvPr>
          <p:cNvPicPr/>
          <p:nvPr/>
        </p:nvPicPr>
        <p:blipFill>
          <a:blip r:embed="rId3"/>
          <a:srcRect l="-167" r="-167"/>
          <a:stretch>
            <a:fillRect/>
          </a:stretch>
        </p:blipFill>
        <p:spPr>
          <a:xfrm>
            <a:off x="1444104" y="2595247"/>
            <a:ext cx="308346" cy="315198"/>
          </a:xfrm>
          <a:prstGeom prst="rect">
            <a:avLst/>
          </a:prstGeom>
          <a:ln>
            <a:noFill/>
          </a:ln>
        </p:spPr>
      </p:pic>
      <p:sp>
        <p:nvSpPr>
          <p:cNvPr id="60" name="aA-arrow2">
            <a:extLst>
              <a:ext uri="{FF2B5EF4-FFF2-40B4-BE49-F238E27FC236}">
                <a16:creationId xmlns:a16="http://schemas.microsoft.com/office/drawing/2014/main" id="{F5258512-0CBD-208E-2930-9306B6F9E8DE}"/>
              </a:ext>
            </a:extLst>
          </p:cNvPr>
          <p:cNvSpPr/>
          <p:nvPr/>
        </p:nvSpPr>
        <p:spPr>
          <a:xfrm>
            <a:off x="1868665" y="2729019"/>
            <a:ext cx="232431" cy="125155"/>
          </a:xfrm>
          <a:prstGeom prst="rightArrow">
            <a:avLst>
              <a:gd name="adj1" fmla="val 32000"/>
              <a:gd name="adj2" fmla="val 42000"/>
            </a:avLst>
          </a:prstGeom>
          <a:solidFill>
            <a:srgbClr val="7FCDEE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02625FE-C441-0278-3988-2BA6D7FED076}"/>
              </a:ext>
            </a:extLst>
          </p:cNvPr>
          <p:cNvSpPr txBox="1"/>
          <p:nvPr/>
        </p:nvSpPr>
        <p:spPr>
          <a:xfrm>
            <a:off x="1289218" y="2910445"/>
            <a:ext cx="6724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00">
                <a:latin typeface="+mn-ea"/>
              </a:rPr>
              <a:t>PostgreSQL</a:t>
            </a:r>
            <a:r>
              <a:rPr lang="zh-CN" altLang="en-US" sz="700">
                <a:latin typeface="+mn-ea"/>
              </a:rPr>
              <a:t>合一群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12239F3-3129-459F-52BD-E6891518218F}"/>
              </a:ext>
            </a:extLst>
          </p:cNvPr>
          <p:cNvSpPr txBox="1"/>
          <p:nvPr/>
        </p:nvSpPr>
        <p:spPr>
          <a:xfrm>
            <a:off x="2101096" y="2910445"/>
            <a:ext cx="6724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00">
                <a:latin typeface="+mn-ea"/>
              </a:rPr>
              <a:t>Appsmith</a:t>
            </a:r>
          </a:p>
          <a:p>
            <a:pPr algn="ctr"/>
            <a:r>
              <a:rPr lang="zh-CN" altLang="en-US" sz="700">
                <a:latin typeface="+mn-ea"/>
              </a:rPr>
              <a:t>低代码平台</a:t>
            </a:r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B28FB0D1-3523-D0FE-5B33-3D68DD2920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8364" y="2645175"/>
            <a:ext cx="351228" cy="265017"/>
          </a:xfrm>
          <a:prstGeom prst="rect">
            <a:avLst/>
          </a:prstGeom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11B48FD0-5182-1EF9-390E-3F1CD0F92C40}"/>
              </a:ext>
            </a:extLst>
          </p:cNvPr>
          <p:cNvSpPr txBox="1"/>
          <p:nvPr/>
        </p:nvSpPr>
        <p:spPr>
          <a:xfrm>
            <a:off x="507894" y="2910445"/>
            <a:ext cx="672418" cy="211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700" noProof="1">
                <a:solidFill>
                  <a:srgbClr val="1F2430"/>
                </a:solidFill>
                <a:latin typeface="+mn-ea"/>
                <a:cs typeface="MiSans"/>
              </a:rPr>
              <a:t>源系统</a:t>
            </a:r>
            <a:endParaRPr lang="en-US" altLang="zh-CN" sz="700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82" name="archA-label">
            <a:extLst>
              <a:ext uri="{FF2B5EF4-FFF2-40B4-BE49-F238E27FC236}">
                <a16:creationId xmlns:a16="http://schemas.microsoft.com/office/drawing/2014/main" id="{A8BA975E-FB79-360B-39ED-76A79D3F6442}"/>
              </a:ext>
            </a:extLst>
          </p:cNvPr>
          <p:cNvSpPr txBox="1"/>
          <p:nvPr/>
        </p:nvSpPr>
        <p:spPr>
          <a:xfrm>
            <a:off x="527731" y="3174423"/>
            <a:ext cx="536378" cy="14303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000" b="1" noProof="1">
                <a:solidFill>
                  <a:srgbClr val="7FCDEE"/>
                </a:solidFill>
                <a:latin typeface="Calibri (Body)"/>
                <a:ea typeface="MiSans"/>
                <a:cs typeface="MiSans"/>
              </a:rPr>
              <a:t>方案特点</a:t>
            </a:r>
            <a:endParaRPr lang="en-US" sz="1000" noProof="1">
              <a:solidFill>
                <a:srgbClr val="7FCDEE"/>
              </a:solidFill>
              <a:latin typeface="Calibri (Body)"/>
              <a:ea typeface="MiSans"/>
              <a:cs typeface="MiSans"/>
            </a:endParaRP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B0F4D978-AFFD-5BE3-01D6-5B936E444DC1}"/>
              </a:ext>
            </a:extLst>
          </p:cNvPr>
          <p:cNvCxnSpPr>
            <a:cxnSpLocks/>
          </p:cNvCxnSpPr>
          <p:nvPr/>
        </p:nvCxnSpPr>
        <p:spPr>
          <a:xfrm>
            <a:off x="1083225" y="2511242"/>
            <a:ext cx="1858094" cy="0"/>
          </a:xfrm>
          <a:prstGeom prst="line">
            <a:avLst/>
          </a:prstGeom>
          <a:ln>
            <a:solidFill>
              <a:srgbClr val="7FCD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1A2BAF1A-86EA-6650-3164-8223B7FA9F00}"/>
              </a:ext>
            </a:extLst>
          </p:cNvPr>
          <p:cNvCxnSpPr>
            <a:cxnSpLocks/>
          </p:cNvCxnSpPr>
          <p:nvPr/>
        </p:nvCxnSpPr>
        <p:spPr>
          <a:xfrm>
            <a:off x="1083225" y="3256979"/>
            <a:ext cx="1858094" cy="0"/>
          </a:xfrm>
          <a:prstGeom prst="line">
            <a:avLst/>
          </a:prstGeom>
          <a:ln>
            <a:solidFill>
              <a:srgbClr val="7FCD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1" name="Group 300">
            <a:extLst>
              <a:ext uri="{FF2B5EF4-FFF2-40B4-BE49-F238E27FC236}">
                <a16:creationId xmlns:a16="http://schemas.microsoft.com/office/drawing/2014/main" id="{ABBFDDEE-F62C-7EB0-3F00-977D2700B813}"/>
              </a:ext>
            </a:extLst>
          </p:cNvPr>
          <p:cNvGrpSpPr/>
          <p:nvPr/>
        </p:nvGrpSpPr>
        <p:grpSpPr>
          <a:xfrm>
            <a:off x="520954" y="4316550"/>
            <a:ext cx="2558632" cy="256048"/>
            <a:chOff x="497740" y="4437063"/>
            <a:chExt cx="3454400" cy="330200"/>
          </a:xfrm>
        </p:grpSpPr>
        <p:sp>
          <p:nvSpPr>
            <p:cNvPr id="284" name="pillA1">
              <a:extLst>
                <a:ext uri="{FF2B5EF4-FFF2-40B4-BE49-F238E27FC236}">
                  <a16:creationId xmlns:a16="http://schemas.microsoft.com/office/drawing/2014/main" id="{762BCF4A-5FDD-A2A1-95F4-0848C3D7606D}"/>
                </a:ext>
              </a:extLst>
            </p:cNvPr>
            <p:cNvSpPr/>
            <p:nvPr/>
          </p:nvSpPr>
          <p:spPr>
            <a:xfrm>
              <a:off x="497740" y="4437063"/>
              <a:ext cx="1066800" cy="330200"/>
            </a:xfrm>
            <a:prstGeom prst="roundRect">
              <a:avLst>
                <a:gd name="adj" fmla="val 30000"/>
              </a:avLst>
            </a:prstGeom>
            <a:solidFill>
              <a:srgbClr val="D8F0FA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  <a:latin typeface="MiSans"/>
                <a:ea typeface="MiSans"/>
                <a:cs typeface="MiSans"/>
              </a:endParaRPr>
            </a:p>
          </p:txBody>
        </p:sp>
        <p:sp>
          <p:nvSpPr>
            <p:cNvPr id="286" name="pillA1-icon">
              <a:extLst>
                <a:ext uri="{FF2B5EF4-FFF2-40B4-BE49-F238E27FC236}">
                  <a16:creationId xmlns:a16="http://schemas.microsoft.com/office/drawing/2014/main" id="{1D70674E-1D3D-2047-F5BF-789869E44214}"/>
                </a:ext>
              </a:extLst>
            </p:cNvPr>
            <p:cNvSpPr/>
            <p:nvPr>
              <p:extLst>
                <p:ext uri="{F5677B7D-0D2A-4D9B-9A5C-6D8D7D0E5A5D}">
  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eyJpY29uTmFtZSI6ImZhczpib2x0In0</pptd:icon>
                </p:ext>
              </p:extLst>
            </p:nvPr>
          </p:nvSpPr>
          <p:spPr>
            <a:xfrm>
              <a:off x="713640" y="4525963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448" h="512">
                  <a:moveTo>
                    <a:pt x="339" y="-10"/>
                  </a:moveTo>
                  <a:cubicBezTo>
                    <a:pt x="351" y="-1"/>
                    <a:pt x="355" y="14"/>
                    <a:pt x="350" y="28"/>
                  </a:cubicBezTo>
                  <a:lnTo>
                    <a:pt x="271" y="224"/>
                  </a:lnTo>
                  <a:lnTo>
                    <a:pt x="416" y="224"/>
                  </a:lnTo>
                  <a:cubicBezTo>
                    <a:pt x="430" y="224"/>
                    <a:pt x="442" y="232"/>
                    <a:pt x="446" y="245"/>
                  </a:cubicBezTo>
                  <a:cubicBezTo>
                    <a:pt x="451" y="258"/>
                    <a:pt x="447" y="272"/>
                    <a:pt x="437" y="281"/>
                  </a:cubicBezTo>
                  <a:lnTo>
                    <a:pt x="149" y="521"/>
                  </a:lnTo>
                  <a:cubicBezTo>
                    <a:pt x="137" y="530"/>
                    <a:pt x="121" y="531"/>
                    <a:pt x="109" y="522"/>
                  </a:cubicBezTo>
                  <a:cubicBezTo>
                    <a:pt x="97" y="513"/>
                    <a:pt x="93" y="498"/>
                    <a:pt x="98" y="484"/>
                  </a:cubicBezTo>
                  <a:lnTo>
                    <a:pt x="177" y="288"/>
                  </a:lnTo>
                  <a:lnTo>
                    <a:pt x="32" y="288"/>
                  </a:lnTo>
                  <a:cubicBezTo>
                    <a:pt x="19" y="288"/>
                    <a:pt x="7" y="280"/>
                    <a:pt x="2" y="267"/>
                  </a:cubicBezTo>
                  <a:cubicBezTo>
                    <a:pt x="-3" y="254"/>
                    <a:pt x="1" y="240"/>
                    <a:pt x="11" y="231"/>
                  </a:cubicBezTo>
                  <a:lnTo>
                    <a:pt x="300" y="-9"/>
                  </a:lnTo>
                  <a:cubicBezTo>
                    <a:pt x="311" y="-18"/>
                    <a:pt x="327" y="-19"/>
                    <a:pt x="339" y="-10"/>
                  </a:cubicBezTo>
                  <a:close/>
                </a:path>
              </a:pathLst>
            </a:custGeom>
            <a:solidFill>
              <a:srgbClr val="1565D8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  <a:latin typeface="MiSans"/>
                <a:ea typeface="MiSans"/>
                <a:cs typeface="MiSans"/>
              </a:endParaRPr>
            </a:p>
          </p:txBody>
        </p:sp>
        <p:sp>
          <p:nvSpPr>
            <p:cNvPr id="288" name="pillA1-text">
              <a:extLst>
                <a:ext uri="{FF2B5EF4-FFF2-40B4-BE49-F238E27FC236}">
                  <a16:creationId xmlns:a16="http://schemas.microsoft.com/office/drawing/2014/main" id="{CDE85FC5-4B0C-3685-F2F6-FBF3336D7AFB}"/>
                </a:ext>
              </a:extLst>
            </p:cNvPr>
            <p:cNvSpPr txBox="1"/>
            <p:nvPr/>
          </p:nvSpPr>
          <p:spPr>
            <a:xfrm>
              <a:off x="916840" y="4437063"/>
              <a:ext cx="5588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50" b="1" noProof="1">
                  <a:ea typeface="MiSans"/>
                  <a:cs typeface="MiSans"/>
                </a:rPr>
                <a:t>简单</a:t>
              </a:r>
              <a:endParaRPr lang="en-US" sz="950" noProof="1">
                <a:ea typeface="MiSans"/>
                <a:cs typeface="MiSans"/>
              </a:endParaRPr>
            </a:p>
          </p:txBody>
        </p:sp>
        <p:sp>
          <p:nvSpPr>
            <p:cNvPr id="290" name="pillA2">
              <a:extLst>
                <a:ext uri="{FF2B5EF4-FFF2-40B4-BE49-F238E27FC236}">
                  <a16:creationId xmlns:a16="http://schemas.microsoft.com/office/drawing/2014/main" id="{00EFF886-2351-C9B1-921C-BAAD2771BC48}"/>
                </a:ext>
              </a:extLst>
            </p:cNvPr>
            <p:cNvSpPr/>
            <p:nvPr/>
          </p:nvSpPr>
          <p:spPr>
            <a:xfrm>
              <a:off x="1691540" y="4437063"/>
              <a:ext cx="1066800" cy="330200"/>
            </a:xfrm>
            <a:prstGeom prst="roundRect">
              <a:avLst>
                <a:gd name="adj" fmla="val 30000"/>
              </a:avLst>
            </a:prstGeom>
            <a:solidFill>
              <a:srgbClr val="D8F0FA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  <a:latin typeface="MiSans"/>
                <a:ea typeface="MiSans"/>
                <a:cs typeface="MiSans"/>
              </a:endParaRPr>
            </a:p>
          </p:txBody>
        </p:sp>
        <p:sp>
          <p:nvSpPr>
            <p:cNvPr id="292" name="pillA2-icon">
              <a:extLst>
                <a:ext uri="{FF2B5EF4-FFF2-40B4-BE49-F238E27FC236}">
                  <a16:creationId xmlns:a16="http://schemas.microsoft.com/office/drawing/2014/main" id="{3A98CC14-60CC-2CE8-EB02-46987FC760BF}"/>
                </a:ext>
              </a:extLst>
            </p:cNvPr>
            <p:cNvSpPr/>
            <p:nvPr>
              <p:extLst>
                <p:ext uri="{F5677B7D-0D2A-4D9B-9A5C-6D8D7D0E5A5D}">
  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eyJpY29uTmFtZSI6ImZhczpyb2NrZXQifQ</pptd:icon>
                </p:ext>
              </p:extLst>
            </p:nvPr>
          </p:nvSpPr>
          <p:spPr>
            <a:xfrm>
              <a:off x="1907440" y="4525963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512" h="512">
                  <a:moveTo>
                    <a:pt x="128" y="320"/>
                  </a:moveTo>
                  <a:lnTo>
                    <a:pt x="25" y="320"/>
                  </a:lnTo>
                  <a:cubicBezTo>
                    <a:pt x="0" y="320"/>
                    <a:pt x="-16" y="293"/>
                    <a:pt x="-3" y="272"/>
                  </a:cubicBezTo>
                  <a:lnTo>
                    <a:pt x="50" y="183"/>
                  </a:lnTo>
                  <a:cubicBezTo>
                    <a:pt x="59" y="169"/>
                    <a:pt x="74" y="160"/>
                    <a:pt x="91" y="160"/>
                  </a:cubicBezTo>
                  <a:lnTo>
                    <a:pt x="186" y="160"/>
                  </a:lnTo>
                  <a:cubicBezTo>
                    <a:pt x="262" y="31"/>
                    <a:pt x="376" y="25"/>
                    <a:pt x="452" y="36"/>
                  </a:cubicBezTo>
                  <a:cubicBezTo>
                    <a:pt x="465" y="38"/>
                    <a:pt x="475" y="48"/>
                    <a:pt x="476" y="60"/>
                  </a:cubicBezTo>
                  <a:cubicBezTo>
                    <a:pt x="487" y="136"/>
                    <a:pt x="481" y="250"/>
                    <a:pt x="352" y="326"/>
                  </a:cubicBezTo>
                  <a:lnTo>
                    <a:pt x="352" y="421"/>
                  </a:lnTo>
                  <a:cubicBezTo>
                    <a:pt x="352" y="438"/>
                    <a:pt x="343" y="453"/>
                    <a:pt x="329" y="462"/>
                  </a:cubicBezTo>
                  <a:lnTo>
                    <a:pt x="241" y="515"/>
                  </a:lnTo>
                  <a:cubicBezTo>
                    <a:pt x="219" y="528"/>
                    <a:pt x="192" y="512"/>
                    <a:pt x="192" y="488"/>
                  </a:cubicBezTo>
                  <a:lnTo>
                    <a:pt x="192" y="384"/>
                  </a:lnTo>
                  <a:cubicBezTo>
                    <a:pt x="192" y="349"/>
                    <a:pt x="163" y="320"/>
                    <a:pt x="128" y="320"/>
                  </a:cubicBezTo>
                  <a:lnTo>
                    <a:pt x="128" y="320"/>
                  </a:lnTo>
                  <a:close/>
                  <a:moveTo>
                    <a:pt x="400" y="160"/>
                  </a:moveTo>
                  <a:cubicBezTo>
                    <a:pt x="400" y="133"/>
                    <a:pt x="379" y="112"/>
                    <a:pt x="352" y="112"/>
                  </a:cubicBezTo>
                  <a:cubicBezTo>
                    <a:pt x="325" y="112"/>
                    <a:pt x="304" y="133"/>
                    <a:pt x="304" y="160"/>
                  </a:cubicBezTo>
                  <a:cubicBezTo>
                    <a:pt x="304" y="187"/>
                    <a:pt x="325" y="208"/>
                    <a:pt x="352" y="208"/>
                  </a:cubicBezTo>
                  <a:cubicBezTo>
                    <a:pt x="379" y="208"/>
                    <a:pt x="400" y="187"/>
                    <a:pt x="400" y="160"/>
                  </a:cubicBezTo>
                  <a:close/>
                </a:path>
              </a:pathLst>
            </a:custGeom>
            <a:solidFill>
              <a:srgbClr val="1565D8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  <a:latin typeface="MiSans"/>
                <a:ea typeface="MiSans"/>
                <a:cs typeface="MiSans"/>
              </a:endParaRPr>
            </a:p>
          </p:txBody>
        </p:sp>
        <p:sp>
          <p:nvSpPr>
            <p:cNvPr id="294" name="pillA2-text">
              <a:extLst>
                <a:ext uri="{FF2B5EF4-FFF2-40B4-BE49-F238E27FC236}">
                  <a16:creationId xmlns:a16="http://schemas.microsoft.com/office/drawing/2014/main" id="{BD77B48E-A83B-CBBF-BFED-3F45F9F0DF88}"/>
                </a:ext>
              </a:extLst>
            </p:cNvPr>
            <p:cNvSpPr txBox="1"/>
            <p:nvPr/>
          </p:nvSpPr>
          <p:spPr>
            <a:xfrm>
              <a:off x="2110640" y="4437063"/>
              <a:ext cx="5588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50" b="1" noProof="1">
                  <a:ea typeface="MiSans"/>
                  <a:cs typeface="MiSans"/>
                </a:rPr>
                <a:t>快速</a:t>
              </a:r>
              <a:endParaRPr lang="en-US" sz="950" noProof="1">
                <a:ea typeface="MiSans"/>
                <a:cs typeface="MiSans"/>
              </a:endParaRPr>
            </a:p>
          </p:txBody>
        </p:sp>
        <p:sp>
          <p:nvSpPr>
            <p:cNvPr id="296" name="pillA3">
              <a:extLst>
                <a:ext uri="{FF2B5EF4-FFF2-40B4-BE49-F238E27FC236}">
                  <a16:creationId xmlns:a16="http://schemas.microsoft.com/office/drawing/2014/main" id="{14381E81-5A2F-A5FF-F5E4-28AC52B57D82}"/>
                </a:ext>
              </a:extLst>
            </p:cNvPr>
            <p:cNvSpPr/>
            <p:nvPr/>
          </p:nvSpPr>
          <p:spPr>
            <a:xfrm>
              <a:off x="2885340" y="4437063"/>
              <a:ext cx="1066800" cy="330200"/>
            </a:xfrm>
            <a:prstGeom prst="roundRect">
              <a:avLst>
                <a:gd name="adj" fmla="val 30000"/>
              </a:avLst>
            </a:prstGeom>
            <a:solidFill>
              <a:srgbClr val="D8F0FA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  <a:latin typeface="MiSans"/>
                <a:ea typeface="MiSans"/>
                <a:cs typeface="MiSans"/>
              </a:endParaRPr>
            </a:p>
          </p:txBody>
        </p:sp>
        <p:sp>
          <p:nvSpPr>
            <p:cNvPr id="298" name="pillA3-icon">
              <a:extLst>
                <a:ext uri="{FF2B5EF4-FFF2-40B4-BE49-F238E27FC236}">
                  <a16:creationId xmlns:a16="http://schemas.microsoft.com/office/drawing/2014/main" id="{645CFC23-4E25-3225-6BF5-83A23CCEFCB2}"/>
                </a:ext>
              </a:extLst>
            </p:cNvPr>
            <p:cNvSpPr/>
            <p:nvPr>
              <p:extLst>
                <p:ext uri="{F5677B7D-0D2A-4D9B-9A5C-6D8D7D0E5A5D}">
  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eyJpY29uTmFtZSI6ImZhczpzaGllbGQtaGFsdmVkIn0</pptd:icon>
                </p:ext>
              </p:extLst>
            </p:nvPr>
          </p:nvSpPr>
          <p:spPr>
            <a:xfrm>
              <a:off x="3101240" y="4525963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512" h="512">
                  <a:moveTo>
                    <a:pt x="256" y="0"/>
                  </a:moveTo>
                  <a:cubicBezTo>
                    <a:pt x="261" y="0"/>
                    <a:pt x="265" y="1"/>
                    <a:pt x="269" y="3"/>
                  </a:cubicBezTo>
                  <a:lnTo>
                    <a:pt x="458" y="83"/>
                  </a:lnTo>
                  <a:cubicBezTo>
                    <a:pt x="480" y="92"/>
                    <a:pt x="496" y="114"/>
                    <a:pt x="496" y="140"/>
                  </a:cubicBezTo>
                  <a:cubicBezTo>
                    <a:pt x="496" y="239"/>
                    <a:pt x="455" y="421"/>
                    <a:pt x="283" y="503"/>
                  </a:cubicBezTo>
                  <a:cubicBezTo>
                    <a:pt x="266" y="511"/>
                    <a:pt x="246" y="511"/>
                    <a:pt x="230" y="503"/>
                  </a:cubicBezTo>
                  <a:cubicBezTo>
                    <a:pt x="57" y="421"/>
                    <a:pt x="17" y="239"/>
                    <a:pt x="16" y="140"/>
                  </a:cubicBezTo>
                  <a:cubicBezTo>
                    <a:pt x="16" y="114"/>
                    <a:pt x="32" y="92"/>
                    <a:pt x="54" y="83"/>
                  </a:cubicBezTo>
                  <a:lnTo>
                    <a:pt x="243" y="3"/>
                  </a:lnTo>
                  <a:cubicBezTo>
                    <a:pt x="247" y="1"/>
                    <a:pt x="251" y="0"/>
                    <a:pt x="256" y="0"/>
                  </a:cubicBezTo>
                  <a:close/>
                  <a:moveTo>
                    <a:pt x="256" y="67"/>
                  </a:moveTo>
                  <a:lnTo>
                    <a:pt x="256" y="445"/>
                  </a:lnTo>
                  <a:cubicBezTo>
                    <a:pt x="394" y="378"/>
                    <a:pt x="431" y="230"/>
                    <a:pt x="432" y="142"/>
                  </a:cubicBezTo>
                  <a:lnTo>
                    <a:pt x="256" y="67"/>
                  </a:lnTo>
                  <a:lnTo>
                    <a:pt x="256" y="67"/>
                  </a:lnTo>
                  <a:close/>
                </a:path>
              </a:pathLst>
            </a:custGeom>
            <a:solidFill>
              <a:srgbClr val="1565D8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  <a:latin typeface="MiSans"/>
                <a:ea typeface="MiSans"/>
                <a:cs typeface="MiSans"/>
              </a:endParaRPr>
            </a:p>
          </p:txBody>
        </p:sp>
        <p:sp>
          <p:nvSpPr>
            <p:cNvPr id="300" name="pillA3-text">
              <a:extLst>
                <a:ext uri="{FF2B5EF4-FFF2-40B4-BE49-F238E27FC236}">
                  <a16:creationId xmlns:a16="http://schemas.microsoft.com/office/drawing/2014/main" id="{5E728965-65A9-2568-C911-6B15E90AC72D}"/>
                </a:ext>
              </a:extLst>
            </p:cNvPr>
            <p:cNvSpPr txBox="1"/>
            <p:nvPr/>
          </p:nvSpPr>
          <p:spPr>
            <a:xfrm>
              <a:off x="3304440" y="4437063"/>
              <a:ext cx="5588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50" b="1" noProof="1">
                  <a:ea typeface="MiSans"/>
                  <a:cs typeface="MiSans"/>
                </a:rPr>
                <a:t>成熟</a:t>
              </a:r>
              <a:endParaRPr lang="en-US" sz="950" noProof="1">
                <a:ea typeface="MiSans"/>
                <a:cs typeface="MiSans"/>
              </a:endParaRPr>
            </a:p>
          </p:txBody>
        </p:sp>
      </p:grpSp>
      <p:sp>
        <p:nvSpPr>
          <p:cNvPr id="92" name="archA-label">
            <a:extLst>
              <a:ext uri="{FF2B5EF4-FFF2-40B4-BE49-F238E27FC236}">
                <a16:creationId xmlns:a16="http://schemas.microsoft.com/office/drawing/2014/main" id="{596BC849-B197-D96A-496D-21132399B757}"/>
              </a:ext>
            </a:extLst>
          </p:cNvPr>
          <p:cNvSpPr txBox="1"/>
          <p:nvPr/>
        </p:nvSpPr>
        <p:spPr>
          <a:xfrm>
            <a:off x="3388695" y="2431841"/>
            <a:ext cx="536378" cy="14303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b="1" noProof="1">
                <a:solidFill>
                  <a:srgbClr val="009CDE"/>
                </a:solidFill>
                <a:latin typeface="Calibri (Body)"/>
                <a:ea typeface="MiSans"/>
                <a:cs typeface="MiSans"/>
              </a:rPr>
              <a:t>核心架构</a:t>
            </a:r>
            <a:endParaRPr lang="en-US" sz="1000" noProof="1">
              <a:solidFill>
                <a:srgbClr val="009CDE"/>
              </a:solidFill>
              <a:latin typeface="Calibri (Body)"/>
              <a:ea typeface="MiSans"/>
              <a:cs typeface="MiSans"/>
            </a:endParaRPr>
          </a:p>
        </p:txBody>
      </p:sp>
      <p:sp>
        <p:nvSpPr>
          <p:cNvPr id="93" name="archA-label">
            <a:extLst>
              <a:ext uri="{FF2B5EF4-FFF2-40B4-BE49-F238E27FC236}">
                <a16:creationId xmlns:a16="http://schemas.microsoft.com/office/drawing/2014/main" id="{BDF7E402-AE6B-0BFD-8538-20EBC12C2749}"/>
              </a:ext>
            </a:extLst>
          </p:cNvPr>
          <p:cNvSpPr txBox="1"/>
          <p:nvPr/>
        </p:nvSpPr>
        <p:spPr>
          <a:xfrm>
            <a:off x="3388695" y="3174423"/>
            <a:ext cx="536378" cy="14303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000" b="1" noProof="1">
                <a:solidFill>
                  <a:srgbClr val="009CDE"/>
                </a:solidFill>
                <a:ea typeface="MiSans"/>
                <a:cs typeface="MiSans"/>
              </a:rPr>
              <a:t>方案特点</a:t>
            </a:r>
            <a:endParaRPr lang="en-US" sz="1000" noProof="1">
              <a:solidFill>
                <a:srgbClr val="009CDE"/>
              </a:solidFill>
              <a:ea typeface="MiSans"/>
              <a:cs typeface="MiSans"/>
            </a:endParaRP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F7BB21C1-8511-BDC7-80D2-CC1289EF29B3}"/>
              </a:ext>
            </a:extLst>
          </p:cNvPr>
          <p:cNvCxnSpPr>
            <a:cxnSpLocks/>
          </p:cNvCxnSpPr>
          <p:nvPr/>
        </p:nvCxnSpPr>
        <p:spPr>
          <a:xfrm>
            <a:off x="3944189" y="2511242"/>
            <a:ext cx="1858094" cy="0"/>
          </a:xfrm>
          <a:prstGeom prst="line">
            <a:avLst/>
          </a:prstGeom>
          <a:ln>
            <a:solidFill>
              <a:srgbClr val="009C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A440C4BC-D632-8A4A-A7FE-6A1924CA2DFC}"/>
              </a:ext>
            </a:extLst>
          </p:cNvPr>
          <p:cNvCxnSpPr>
            <a:cxnSpLocks/>
          </p:cNvCxnSpPr>
          <p:nvPr/>
        </p:nvCxnSpPr>
        <p:spPr>
          <a:xfrm>
            <a:off x="3944189" y="3256979"/>
            <a:ext cx="1858094" cy="0"/>
          </a:xfrm>
          <a:prstGeom prst="line">
            <a:avLst/>
          </a:prstGeom>
          <a:ln>
            <a:solidFill>
              <a:srgbClr val="009C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D589A1F1-B52D-2FF1-5286-CEE02449F1CF}"/>
              </a:ext>
            </a:extLst>
          </p:cNvPr>
          <p:cNvSpPr txBox="1"/>
          <p:nvPr/>
        </p:nvSpPr>
        <p:spPr>
          <a:xfrm>
            <a:off x="3324341" y="3348754"/>
            <a:ext cx="26094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900" b="1">
                <a:latin typeface="Calibri (Body)"/>
              </a:rPr>
              <a:t>全量湖仓归档：</a:t>
            </a:r>
            <a:r>
              <a:rPr lang="zh-CN" altLang="en-US" sz="900">
                <a:latin typeface="Calibri (Body)"/>
              </a:rPr>
              <a:t>历史数据统一进入 </a:t>
            </a:r>
            <a:r>
              <a:rPr lang="en-US" altLang="zh-CN" sz="900">
                <a:latin typeface="Calibri (Body)"/>
              </a:rPr>
              <a:t>Iceberg </a:t>
            </a:r>
            <a:r>
              <a:rPr lang="zh-CN" altLang="en-US" sz="900">
                <a:latin typeface="Calibri (Body)"/>
              </a:rPr>
              <a:t>湖仓，支持结构化数据长期归档与查询</a:t>
            </a:r>
            <a:endParaRPr lang="en-US" altLang="zh-CN" sz="900">
              <a:latin typeface="Calibri (Body)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900" b="1">
                <a:latin typeface="Calibri (Body)"/>
              </a:rPr>
              <a:t>读写分离架构：</a:t>
            </a:r>
            <a:r>
              <a:rPr lang="en-US" altLang="zh-CN" sz="900">
                <a:latin typeface="Calibri (Body)"/>
              </a:rPr>
              <a:t>Databricks </a:t>
            </a:r>
            <a:r>
              <a:rPr lang="zh-CN" altLang="en-US" sz="900">
                <a:latin typeface="Calibri (Body)"/>
              </a:rPr>
              <a:t>负责数据写入与处理，</a:t>
            </a:r>
            <a:r>
              <a:rPr lang="en-US" altLang="zh-CN" sz="900">
                <a:latin typeface="Calibri (Body)"/>
              </a:rPr>
              <a:t>Trino</a:t>
            </a:r>
            <a:r>
              <a:rPr lang="zh-CN" altLang="en-US" sz="900">
                <a:latin typeface="Calibri (Body)"/>
              </a:rPr>
              <a:t>独立承担查询</a:t>
            </a:r>
            <a:endParaRPr lang="en-US" altLang="zh-CN" sz="900">
              <a:latin typeface="Calibri (Body)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900" b="1">
                <a:latin typeface="Calibri (Body)"/>
              </a:rPr>
              <a:t>开放查询引擎：</a:t>
            </a:r>
            <a:r>
              <a:rPr lang="zh-CN" altLang="en-US" sz="900">
                <a:latin typeface="Calibri (Body)"/>
              </a:rPr>
              <a:t>采用自建 </a:t>
            </a:r>
            <a:r>
              <a:rPr lang="en-US" altLang="zh-CN" sz="900">
                <a:latin typeface="Calibri (Body)"/>
              </a:rPr>
              <a:t>Trino</a:t>
            </a:r>
            <a:r>
              <a:rPr lang="zh-CN" altLang="en-US" sz="900">
                <a:latin typeface="Calibri (Body)"/>
              </a:rPr>
              <a:t>，保持查询引擎中立，降低单一平台依赖</a:t>
            </a:r>
            <a:endParaRPr lang="en-US" altLang="zh-CN" sz="900">
              <a:latin typeface="Calibri (Body)"/>
            </a:endParaRPr>
          </a:p>
        </p:txBody>
      </p:sp>
      <p:sp>
        <p:nvSpPr>
          <p:cNvPr id="97" name="aA-db-label">
            <a:extLst>
              <a:ext uri="{FF2B5EF4-FFF2-40B4-BE49-F238E27FC236}">
                <a16:creationId xmlns:a16="http://schemas.microsoft.com/office/drawing/2014/main" id="{29D7DC97-A9C4-EABD-F4D6-75463BB2A610}"/>
              </a:ext>
            </a:extLst>
          </p:cNvPr>
          <p:cNvSpPr txBox="1"/>
          <p:nvPr/>
        </p:nvSpPr>
        <p:spPr>
          <a:xfrm>
            <a:off x="6600414" y="3846194"/>
            <a:ext cx="625775" cy="1251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endParaRPr lang="en-US" sz="800" noProof="1">
              <a:solidFill>
                <a:srgbClr val="000000"/>
              </a:solidFill>
              <a:latin typeface="Calibri (Body)"/>
              <a:ea typeface="MiSans"/>
              <a:cs typeface="MiSans"/>
            </a:endParaRPr>
          </a:p>
        </p:txBody>
      </p:sp>
      <p:sp>
        <p:nvSpPr>
          <p:cNvPr id="98" name="archA-label">
            <a:extLst>
              <a:ext uri="{FF2B5EF4-FFF2-40B4-BE49-F238E27FC236}">
                <a16:creationId xmlns:a16="http://schemas.microsoft.com/office/drawing/2014/main" id="{EAF9BD8F-1D83-BCDF-894F-3C9ECBB14989}"/>
              </a:ext>
            </a:extLst>
          </p:cNvPr>
          <p:cNvSpPr txBox="1"/>
          <p:nvPr/>
        </p:nvSpPr>
        <p:spPr>
          <a:xfrm>
            <a:off x="6264977" y="2431841"/>
            <a:ext cx="536378" cy="14303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b="1" noProof="1">
                <a:solidFill>
                  <a:srgbClr val="0075A6"/>
                </a:solidFill>
                <a:latin typeface="Calibri (Body)"/>
                <a:ea typeface="MiSans"/>
                <a:cs typeface="MiSans"/>
              </a:rPr>
              <a:t>核心架构</a:t>
            </a:r>
            <a:endParaRPr lang="en-US" sz="1000" noProof="1">
              <a:solidFill>
                <a:srgbClr val="0075A6"/>
              </a:solidFill>
              <a:latin typeface="Calibri (Body)"/>
              <a:ea typeface="MiSans"/>
              <a:cs typeface="MiSans"/>
            </a:endParaRPr>
          </a:p>
        </p:txBody>
      </p:sp>
      <p:sp>
        <p:nvSpPr>
          <p:cNvPr id="99" name="archA-label">
            <a:extLst>
              <a:ext uri="{FF2B5EF4-FFF2-40B4-BE49-F238E27FC236}">
                <a16:creationId xmlns:a16="http://schemas.microsoft.com/office/drawing/2014/main" id="{8A2E79FE-9332-D168-4494-B06E5CC56D79}"/>
              </a:ext>
            </a:extLst>
          </p:cNvPr>
          <p:cNvSpPr txBox="1"/>
          <p:nvPr/>
        </p:nvSpPr>
        <p:spPr>
          <a:xfrm>
            <a:off x="6264977" y="3174423"/>
            <a:ext cx="536378" cy="14303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000" b="1" noProof="1">
                <a:solidFill>
                  <a:srgbClr val="0075A6"/>
                </a:solidFill>
                <a:latin typeface="Calibri (Body)"/>
                <a:ea typeface="MiSans"/>
                <a:cs typeface="MiSans"/>
              </a:rPr>
              <a:t>方案特点</a:t>
            </a:r>
            <a:endParaRPr lang="en-US" sz="1000" noProof="1">
              <a:solidFill>
                <a:srgbClr val="0075A6"/>
              </a:solidFill>
              <a:latin typeface="Calibri (Body)"/>
              <a:ea typeface="MiSans"/>
              <a:cs typeface="MiSans"/>
            </a:endParaRP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FE19F2C8-C1BF-D2A6-545D-E44C7AEF45E2}"/>
              </a:ext>
            </a:extLst>
          </p:cNvPr>
          <p:cNvCxnSpPr>
            <a:cxnSpLocks/>
          </p:cNvCxnSpPr>
          <p:nvPr/>
        </p:nvCxnSpPr>
        <p:spPr>
          <a:xfrm>
            <a:off x="6820471" y="2511242"/>
            <a:ext cx="1858094" cy="0"/>
          </a:xfrm>
          <a:prstGeom prst="line">
            <a:avLst/>
          </a:prstGeom>
          <a:ln>
            <a:solidFill>
              <a:srgbClr val="0075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80FF3FE3-7B62-80E0-4018-1AEC11574FBE}"/>
              </a:ext>
            </a:extLst>
          </p:cNvPr>
          <p:cNvCxnSpPr>
            <a:cxnSpLocks/>
          </p:cNvCxnSpPr>
          <p:nvPr/>
        </p:nvCxnSpPr>
        <p:spPr>
          <a:xfrm>
            <a:off x="6820471" y="3256979"/>
            <a:ext cx="1858094" cy="0"/>
          </a:xfrm>
          <a:prstGeom prst="line">
            <a:avLst/>
          </a:prstGeom>
          <a:ln>
            <a:solidFill>
              <a:srgbClr val="0075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pillB1">
            <a:extLst>
              <a:ext uri="{FF2B5EF4-FFF2-40B4-BE49-F238E27FC236}">
                <a16:creationId xmlns:a16="http://schemas.microsoft.com/office/drawing/2014/main" id="{0DDC2A1C-7D62-98FB-8571-8CA5943544C0}"/>
              </a:ext>
            </a:extLst>
          </p:cNvPr>
          <p:cNvSpPr/>
          <p:nvPr/>
        </p:nvSpPr>
        <p:spPr>
          <a:xfrm>
            <a:off x="3370419" y="4326708"/>
            <a:ext cx="791625" cy="216924"/>
          </a:xfrm>
          <a:prstGeom prst="roundRect">
            <a:avLst>
              <a:gd name="adj" fmla="val 30000"/>
            </a:avLst>
          </a:prstGeom>
          <a:solidFill>
            <a:srgbClr val="B2E1F5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ea typeface="MiSans"/>
              <a:cs typeface="MiSans"/>
            </a:endParaRPr>
          </a:p>
        </p:txBody>
      </p:sp>
      <p:sp>
        <p:nvSpPr>
          <p:cNvPr id="106" name="pillB1-icon">
            <a:extLst>
              <a:ext uri="{FF2B5EF4-FFF2-40B4-BE49-F238E27FC236}">
                <a16:creationId xmlns:a16="http://schemas.microsoft.com/office/drawing/2014/main" id="{6A75F4D7-2303-406B-F5D5-0FF4019389F2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eyJpY29uTmFtZSI6ImZhczpnbG9iZSJ9</pptd:icon>
              </p:ext>
            </p:extLst>
          </p:nvPr>
        </p:nvSpPr>
        <p:spPr>
          <a:xfrm>
            <a:off x="3530629" y="4385111"/>
            <a:ext cx="113089" cy="100119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352" y="280"/>
                </a:moveTo>
                <a:lnTo>
                  <a:pt x="161" y="280"/>
                </a:lnTo>
                <a:cubicBezTo>
                  <a:pt x="164" y="345"/>
                  <a:pt x="178" y="404"/>
                  <a:pt x="198" y="447"/>
                </a:cubicBezTo>
                <a:cubicBezTo>
                  <a:pt x="210" y="472"/>
                  <a:pt x="222" y="489"/>
                  <a:pt x="234" y="500"/>
                </a:cubicBezTo>
                <a:cubicBezTo>
                  <a:pt x="245" y="510"/>
                  <a:pt x="252" y="512"/>
                  <a:pt x="256" y="512"/>
                </a:cubicBezTo>
                <a:cubicBezTo>
                  <a:pt x="260" y="512"/>
                  <a:pt x="268" y="510"/>
                  <a:pt x="279" y="500"/>
                </a:cubicBezTo>
                <a:cubicBezTo>
                  <a:pt x="291" y="489"/>
                  <a:pt x="303" y="472"/>
                  <a:pt x="314" y="447"/>
                </a:cubicBezTo>
                <a:cubicBezTo>
                  <a:pt x="335" y="404"/>
                  <a:pt x="349" y="345"/>
                  <a:pt x="352" y="280"/>
                </a:cubicBezTo>
                <a:close/>
              </a:path>
              <a:path w="512" h="512">
                <a:moveTo>
                  <a:pt x="161" y="232"/>
                </a:moveTo>
                <a:lnTo>
                  <a:pt x="352" y="232"/>
                </a:lnTo>
                <a:cubicBezTo>
                  <a:pt x="349" y="168"/>
                  <a:pt x="335" y="108"/>
                  <a:pt x="314" y="65"/>
                </a:cubicBezTo>
                <a:cubicBezTo>
                  <a:pt x="303" y="40"/>
                  <a:pt x="291" y="23"/>
                  <a:pt x="279" y="12"/>
                </a:cubicBezTo>
                <a:cubicBezTo>
                  <a:pt x="268" y="2"/>
                  <a:pt x="260" y="0"/>
                  <a:pt x="256" y="0"/>
                </a:cubicBezTo>
                <a:cubicBezTo>
                  <a:pt x="252" y="0"/>
                  <a:pt x="245" y="2"/>
                  <a:pt x="233" y="12"/>
                </a:cubicBezTo>
                <a:cubicBezTo>
                  <a:pt x="222" y="23"/>
                  <a:pt x="210" y="40"/>
                  <a:pt x="198" y="65"/>
                </a:cubicBezTo>
                <a:cubicBezTo>
                  <a:pt x="178" y="108"/>
                  <a:pt x="164" y="168"/>
                  <a:pt x="161" y="232"/>
                </a:cubicBezTo>
                <a:close/>
              </a:path>
              <a:path w="512" h="512">
                <a:moveTo>
                  <a:pt x="113" y="232"/>
                </a:moveTo>
                <a:cubicBezTo>
                  <a:pt x="116" y="146"/>
                  <a:pt x="139" y="67"/>
                  <a:pt x="171" y="15"/>
                </a:cubicBezTo>
                <a:cubicBezTo>
                  <a:pt x="79" y="47"/>
                  <a:pt x="11" y="131"/>
                  <a:pt x="2" y="232"/>
                </a:cubicBezTo>
                <a:lnTo>
                  <a:pt x="113" y="232"/>
                </a:lnTo>
                <a:close/>
              </a:path>
              <a:path w="512" h="512">
                <a:moveTo>
                  <a:pt x="2" y="280"/>
                </a:moveTo>
                <a:cubicBezTo>
                  <a:pt x="11" y="381"/>
                  <a:pt x="79" y="465"/>
                  <a:pt x="171" y="497"/>
                </a:cubicBezTo>
                <a:cubicBezTo>
                  <a:pt x="139" y="445"/>
                  <a:pt x="116" y="366"/>
                  <a:pt x="113" y="280"/>
                </a:cubicBezTo>
                <a:lnTo>
                  <a:pt x="2" y="280"/>
                </a:lnTo>
                <a:close/>
              </a:path>
              <a:path w="512" h="512">
                <a:moveTo>
                  <a:pt x="400" y="280"/>
                </a:moveTo>
                <a:cubicBezTo>
                  <a:pt x="396" y="366"/>
                  <a:pt x="374" y="445"/>
                  <a:pt x="342" y="497"/>
                </a:cubicBezTo>
                <a:cubicBezTo>
                  <a:pt x="434" y="465"/>
                  <a:pt x="502" y="381"/>
                  <a:pt x="511" y="280"/>
                </a:cubicBezTo>
                <a:lnTo>
                  <a:pt x="400" y="280"/>
                </a:lnTo>
                <a:close/>
              </a:path>
              <a:path w="512" h="512">
                <a:moveTo>
                  <a:pt x="511" y="232"/>
                </a:moveTo>
                <a:cubicBezTo>
                  <a:pt x="502" y="131"/>
                  <a:pt x="434" y="47"/>
                  <a:pt x="342" y="15"/>
                </a:cubicBezTo>
                <a:cubicBezTo>
                  <a:pt x="374" y="67"/>
                  <a:pt x="396" y="146"/>
                  <a:pt x="400" y="232"/>
                </a:cubicBezTo>
                <a:lnTo>
                  <a:pt x="511" y="232"/>
                </a:lnTo>
                <a:close/>
              </a:path>
            </a:pathLst>
          </a:custGeom>
          <a:solidFill>
            <a:srgbClr val="1565D8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ea typeface="MiSans"/>
              <a:cs typeface="MiSans"/>
            </a:endParaRPr>
          </a:p>
        </p:txBody>
      </p:sp>
      <p:sp>
        <p:nvSpPr>
          <p:cNvPr id="108" name="pillB1-text">
            <a:extLst>
              <a:ext uri="{FF2B5EF4-FFF2-40B4-BE49-F238E27FC236}">
                <a16:creationId xmlns:a16="http://schemas.microsoft.com/office/drawing/2014/main" id="{38DCFA1D-6A03-93AD-5774-7D4144D15D8C}"/>
              </a:ext>
            </a:extLst>
          </p:cNvPr>
          <p:cNvSpPr txBox="1"/>
          <p:nvPr/>
        </p:nvSpPr>
        <p:spPr>
          <a:xfrm>
            <a:off x="3681414" y="4326708"/>
            <a:ext cx="414661" cy="2169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noProof="1">
                <a:latin typeface="Calibri (Body)"/>
                <a:ea typeface="MiSans"/>
                <a:cs typeface="MiSans"/>
              </a:rPr>
              <a:t>开放</a:t>
            </a:r>
            <a:endParaRPr lang="en-US" sz="950" noProof="1">
              <a:latin typeface="Calibri (Body)"/>
              <a:ea typeface="MiSans"/>
              <a:cs typeface="MiSans"/>
            </a:endParaRPr>
          </a:p>
        </p:txBody>
      </p:sp>
      <p:sp>
        <p:nvSpPr>
          <p:cNvPr id="110" name="pillB2">
            <a:extLst>
              <a:ext uri="{FF2B5EF4-FFF2-40B4-BE49-F238E27FC236}">
                <a16:creationId xmlns:a16="http://schemas.microsoft.com/office/drawing/2014/main" id="{0B3F7AAB-4AD4-B824-AD02-DE6B9A3F55D8}"/>
              </a:ext>
            </a:extLst>
          </p:cNvPr>
          <p:cNvSpPr/>
          <p:nvPr/>
        </p:nvSpPr>
        <p:spPr>
          <a:xfrm>
            <a:off x="4256285" y="4326708"/>
            <a:ext cx="791625" cy="216924"/>
          </a:xfrm>
          <a:prstGeom prst="roundRect">
            <a:avLst>
              <a:gd name="adj" fmla="val 30000"/>
            </a:avLst>
          </a:prstGeom>
          <a:solidFill>
            <a:srgbClr val="B2E1F5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ea typeface="MiSans"/>
              <a:cs typeface="MiSans"/>
            </a:endParaRPr>
          </a:p>
        </p:txBody>
      </p:sp>
      <p:sp>
        <p:nvSpPr>
          <p:cNvPr id="112" name="pillB2-icon">
            <a:extLst>
              <a:ext uri="{FF2B5EF4-FFF2-40B4-BE49-F238E27FC236}">
                <a16:creationId xmlns:a16="http://schemas.microsoft.com/office/drawing/2014/main" id="{6925B7C7-7BF9-121B-08A3-6AFC774DA215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eyJpY29uTmFtZSI6ImZhczpkYXRhYmFzZSJ9</pptd:icon>
              </p:ext>
            </p:extLst>
          </p:nvPr>
        </p:nvSpPr>
        <p:spPr>
          <a:xfrm>
            <a:off x="4416494" y="4385111"/>
            <a:ext cx="113089" cy="100119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48" y="206"/>
                </a:moveTo>
                <a:cubicBezTo>
                  <a:pt x="433" y="216"/>
                  <a:pt x="416" y="224"/>
                  <a:pt x="399" y="230"/>
                </a:cubicBezTo>
                <a:cubicBezTo>
                  <a:pt x="352" y="247"/>
                  <a:pt x="290" y="256"/>
                  <a:pt x="224" y="256"/>
                </a:cubicBezTo>
                <a:cubicBezTo>
                  <a:pt x="158" y="256"/>
                  <a:pt x="96" y="247"/>
                  <a:pt x="50" y="230"/>
                </a:cubicBezTo>
                <a:cubicBezTo>
                  <a:pt x="32" y="224"/>
                  <a:pt x="15" y="216"/>
                  <a:pt x="0" y="206"/>
                </a:cubicBezTo>
                <a:lnTo>
                  <a:pt x="0" y="288"/>
                </a:lnTo>
                <a:cubicBezTo>
                  <a:pt x="0" y="332"/>
                  <a:pt x="100" y="368"/>
                  <a:pt x="224" y="368"/>
                </a:cubicBezTo>
                <a:cubicBezTo>
                  <a:pt x="348" y="368"/>
                  <a:pt x="448" y="332"/>
                  <a:pt x="448" y="288"/>
                </a:cubicBezTo>
                <a:lnTo>
                  <a:pt x="448" y="206"/>
                </a:lnTo>
                <a:close/>
              </a:path>
              <a:path w="448" h="512">
                <a:moveTo>
                  <a:pt x="448" y="128"/>
                </a:moveTo>
                <a:lnTo>
                  <a:pt x="448" y="80"/>
                </a:lnTo>
                <a:cubicBezTo>
                  <a:pt x="448" y="36"/>
                  <a:pt x="348" y="0"/>
                  <a:pt x="224" y="0"/>
                </a:cubicBezTo>
                <a:cubicBezTo>
                  <a:pt x="100" y="0"/>
                  <a:pt x="0" y="36"/>
                  <a:pt x="0" y="80"/>
                </a:cubicBezTo>
                <a:lnTo>
                  <a:pt x="0" y="128"/>
                </a:lnTo>
                <a:cubicBezTo>
                  <a:pt x="0" y="172"/>
                  <a:pt x="100" y="208"/>
                  <a:pt x="224" y="208"/>
                </a:cubicBezTo>
                <a:cubicBezTo>
                  <a:pt x="348" y="208"/>
                  <a:pt x="448" y="172"/>
                  <a:pt x="448" y="128"/>
                </a:cubicBezTo>
                <a:close/>
              </a:path>
              <a:path w="448" h="512">
                <a:moveTo>
                  <a:pt x="399" y="390"/>
                </a:moveTo>
                <a:cubicBezTo>
                  <a:pt x="352" y="407"/>
                  <a:pt x="290" y="416"/>
                  <a:pt x="224" y="416"/>
                </a:cubicBezTo>
                <a:cubicBezTo>
                  <a:pt x="158" y="416"/>
                  <a:pt x="96" y="407"/>
                  <a:pt x="50" y="390"/>
                </a:cubicBezTo>
                <a:cubicBezTo>
                  <a:pt x="32" y="384"/>
                  <a:pt x="15" y="376"/>
                  <a:pt x="0" y="366"/>
                </a:cubicBezTo>
                <a:lnTo>
                  <a:pt x="0" y="432"/>
                </a:lnTo>
                <a:cubicBezTo>
                  <a:pt x="0" y="476"/>
                  <a:pt x="100" y="512"/>
                  <a:pt x="224" y="512"/>
                </a:cubicBezTo>
                <a:cubicBezTo>
                  <a:pt x="348" y="512"/>
                  <a:pt x="448" y="476"/>
                  <a:pt x="448" y="432"/>
                </a:cubicBezTo>
                <a:lnTo>
                  <a:pt x="448" y="366"/>
                </a:lnTo>
                <a:cubicBezTo>
                  <a:pt x="433" y="376"/>
                  <a:pt x="416" y="384"/>
                  <a:pt x="399" y="390"/>
                </a:cubicBezTo>
                <a:close/>
              </a:path>
            </a:pathLst>
          </a:custGeom>
          <a:solidFill>
            <a:srgbClr val="1565D8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ea typeface="MiSans"/>
              <a:cs typeface="MiSans"/>
            </a:endParaRPr>
          </a:p>
        </p:txBody>
      </p:sp>
      <p:sp>
        <p:nvSpPr>
          <p:cNvPr id="114" name="pillB2-text">
            <a:extLst>
              <a:ext uri="{FF2B5EF4-FFF2-40B4-BE49-F238E27FC236}">
                <a16:creationId xmlns:a16="http://schemas.microsoft.com/office/drawing/2014/main" id="{44D170FD-0D3A-AA06-5491-B6D226FBC0B2}"/>
              </a:ext>
            </a:extLst>
          </p:cNvPr>
          <p:cNvSpPr txBox="1"/>
          <p:nvPr/>
        </p:nvSpPr>
        <p:spPr>
          <a:xfrm>
            <a:off x="4567280" y="4326708"/>
            <a:ext cx="414661" cy="2169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noProof="1">
                <a:latin typeface="Calibri (Body)"/>
                <a:ea typeface="MiSans"/>
                <a:cs typeface="MiSans"/>
              </a:rPr>
              <a:t>全量</a:t>
            </a:r>
            <a:endParaRPr lang="en-US" sz="950" noProof="1">
              <a:latin typeface="Calibri (Body)"/>
              <a:ea typeface="MiSans"/>
              <a:cs typeface="MiSans"/>
            </a:endParaRPr>
          </a:p>
        </p:txBody>
      </p:sp>
      <p:sp>
        <p:nvSpPr>
          <p:cNvPr id="116" name="pillB3">
            <a:extLst>
              <a:ext uri="{FF2B5EF4-FFF2-40B4-BE49-F238E27FC236}">
                <a16:creationId xmlns:a16="http://schemas.microsoft.com/office/drawing/2014/main" id="{EF15BF74-92FA-19D0-A2E7-390AB977B3CA}"/>
              </a:ext>
            </a:extLst>
          </p:cNvPr>
          <p:cNvSpPr/>
          <p:nvPr/>
        </p:nvSpPr>
        <p:spPr>
          <a:xfrm>
            <a:off x="5142150" y="4326708"/>
            <a:ext cx="791625" cy="216924"/>
          </a:xfrm>
          <a:prstGeom prst="roundRect">
            <a:avLst>
              <a:gd name="adj" fmla="val 30000"/>
            </a:avLst>
          </a:prstGeom>
          <a:solidFill>
            <a:srgbClr val="B2E1F5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ea typeface="MiSans"/>
              <a:cs typeface="MiSans"/>
            </a:endParaRPr>
          </a:p>
        </p:txBody>
      </p:sp>
      <p:sp>
        <p:nvSpPr>
          <p:cNvPr id="118" name="pillB3-icon">
            <a:extLst>
              <a:ext uri="{FF2B5EF4-FFF2-40B4-BE49-F238E27FC236}">
                <a16:creationId xmlns:a16="http://schemas.microsoft.com/office/drawing/2014/main" id="{9C3E7E8B-5603-E862-0A9A-50EA1322BA06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eyJpY29uTmFtZSI6ImZhczpsaW5rIn0</pptd:icon>
              </p:ext>
            </p:extLst>
          </p:nvPr>
        </p:nvSpPr>
        <p:spPr>
          <a:xfrm>
            <a:off x="5302360" y="4385111"/>
            <a:ext cx="113089" cy="100119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420" y="96"/>
                </a:moveTo>
                <a:cubicBezTo>
                  <a:pt x="403" y="96"/>
                  <a:pt x="387" y="101"/>
                  <a:pt x="373" y="109"/>
                </a:cubicBezTo>
                <a:cubicBezTo>
                  <a:pt x="357" y="93"/>
                  <a:pt x="339" y="79"/>
                  <a:pt x="318" y="69"/>
                </a:cubicBezTo>
                <a:cubicBezTo>
                  <a:pt x="346" y="45"/>
                  <a:pt x="382" y="32"/>
                  <a:pt x="420" y="32"/>
                </a:cubicBezTo>
                <a:cubicBezTo>
                  <a:pt x="506" y="32"/>
                  <a:pt x="576" y="102"/>
                  <a:pt x="576" y="189"/>
                </a:cubicBezTo>
                <a:cubicBezTo>
                  <a:pt x="576" y="230"/>
                  <a:pt x="560" y="270"/>
                  <a:pt x="530" y="299"/>
                </a:cubicBezTo>
                <a:lnTo>
                  <a:pt x="459" y="370"/>
                </a:lnTo>
                <a:cubicBezTo>
                  <a:pt x="430" y="400"/>
                  <a:pt x="390" y="416"/>
                  <a:pt x="349" y="416"/>
                </a:cubicBezTo>
                <a:cubicBezTo>
                  <a:pt x="262" y="416"/>
                  <a:pt x="192" y="346"/>
                  <a:pt x="192" y="260"/>
                </a:cubicBezTo>
                <a:cubicBezTo>
                  <a:pt x="192" y="258"/>
                  <a:pt x="192" y="257"/>
                  <a:pt x="192" y="255"/>
                </a:cubicBezTo>
                <a:cubicBezTo>
                  <a:pt x="193" y="237"/>
                  <a:pt x="207" y="223"/>
                  <a:pt x="225" y="224"/>
                </a:cubicBezTo>
                <a:cubicBezTo>
                  <a:pt x="243" y="224"/>
                  <a:pt x="257" y="239"/>
                  <a:pt x="256" y="257"/>
                </a:cubicBezTo>
                <a:cubicBezTo>
                  <a:pt x="256" y="258"/>
                  <a:pt x="256" y="259"/>
                  <a:pt x="256" y="259"/>
                </a:cubicBezTo>
                <a:cubicBezTo>
                  <a:pt x="256" y="311"/>
                  <a:pt x="298" y="352"/>
                  <a:pt x="349" y="352"/>
                </a:cubicBezTo>
                <a:cubicBezTo>
                  <a:pt x="373" y="352"/>
                  <a:pt x="397" y="342"/>
                  <a:pt x="414" y="325"/>
                </a:cubicBezTo>
                <a:lnTo>
                  <a:pt x="485" y="254"/>
                </a:lnTo>
                <a:cubicBezTo>
                  <a:pt x="502" y="236"/>
                  <a:pt x="512" y="213"/>
                  <a:pt x="512" y="188"/>
                </a:cubicBezTo>
                <a:cubicBezTo>
                  <a:pt x="512" y="137"/>
                  <a:pt x="471" y="96"/>
                  <a:pt x="420" y="96"/>
                </a:cubicBezTo>
                <a:close/>
                <a:moveTo>
                  <a:pt x="275" y="173"/>
                </a:moveTo>
                <a:cubicBezTo>
                  <a:pt x="273" y="173"/>
                  <a:pt x="271" y="171"/>
                  <a:pt x="270" y="170"/>
                </a:cubicBezTo>
                <a:cubicBezTo>
                  <a:pt x="257" y="164"/>
                  <a:pt x="243" y="160"/>
                  <a:pt x="228" y="160"/>
                </a:cubicBezTo>
                <a:cubicBezTo>
                  <a:pt x="203" y="160"/>
                  <a:pt x="180" y="170"/>
                  <a:pt x="162" y="187"/>
                </a:cubicBezTo>
                <a:lnTo>
                  <a:pt x="91" y="258"/>
                </a:lnTo>
                <a:cubicBezTo>
                  <a:pt x="74" y="276"/>
                  <a:pt x="64" y="299"/>
                  <a:pt x="64" y="324"/>
                </a:cubicBezTo>
                <a:cubicBezTo>
                  <a:pt x="64" y="375"/>
                  <a:pt x="105" y="416"/>
                  <a:pt x="157" y="416"/>
                </a:cubicBezTo>
                <a:cubicBezTo>
                  <a:pt x="173" y="416"/>
                  <a:pt x="189" y="412"/>
                  <a:pt x="203" y="404"/>
                </a:cubicBezTo>
                <a:cubicBezTo>
                  <a:pt x="219" y="420"/>
                  <a:pt x="237" y="433"/>
                  <a:pt x="258" y="443"/>
                </a:cubicBezTo>
                <a:cubicBezTo>
                  <a:pt x="230" y="467"/>
                  <a:pt x="194" y="480"/>
                  <a:pt x="157" y="480"/>
                </a:cubicBezTo>
                <a:cubicBezTo>
                  <a:pt x="70" y="480"/>
                  <a:pt x="0" y="410"/>
                  <a:pt x="0" y="324"/>
                </a:cubicBezTo>
                <a:cubicBezTo>
                  <a:pt x="0" y="282"/>
                  <a:pt x="17" y="242"/>
                  <a:pt x="46" y="213"/>
                </a:cubicBezTo>
                <a:lnTo>
                  <a:pt x="117" y="142"/>
                </a:lnTo>
                <a:cubicBezTo>
                  <a:pt x="146" y="113"/>
                  <a:pt x="186" y="96"/>
                  <a:pt x="228" y="96"/>
                </a:cubicBezTo>
                <a:cubicBezTo>
                  <a:pt x="314" y="96"/>
                  <a:pt x="384" y="167"/>
                  <a:pt x="384" y="253"/>
                </a:cubicBezTo>
                <a:cubicBezTo>
                  <a:pt x="384" y="254"/>
                  <a:pt x="384" y="256"/>
                  <a:pt x="384" y="257"/>
                </a:cubicBezTo>
                <a:cubicBezTo>
                  <a:pt x="384" y="275"/>
                  <a:pt x="369" y="289"/>
                  <a:pt x="351" y="288"/>
                </a:cubicBezTo>
                <a:cubicBezTo>
                  <a:pt x="334" y="288"/>
                  <a:pt x="320" y="273"/>
                  <a:pt x="320" y="255"/>
                </a:cubicBezTo>
                <a:cubicBezTo>
                  <a:pt x="320" y="255"/>
                  <a:pt x="320" y="254"/>
                  <a:pt x="320" y="253"/>
                </a:cubicBezTo>
                <a:cubicBezTo>
                  <a:pt x="320" y="219"/>
                  <a:pt x="302" y="190"/>
                  <a:pt x="275" y="173"/>
                </a:cubicBezTo>
                <a:close/>
              </a:path>
            </a:pathLst>
          </a:custGeom>
          <a:solidFill>
            <a:srgbClr val="1565D8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ea typeface="MiSans"/>
              <a:cs typeface="MiSans"/>
            </a:endParaRPr>
          </a:p>
        </p:txBody>
      </p:sp>
      <p:sp>
        <p:nvSpPr>
          <p:cNvPr id="120" name="pillB3-text">
            <a:extLst>
              <a:ext uri="{FF2B5EF4-FFF2-40B4-BE49-F238E27FC236}">
                <a16:creationId xmlns:a16="http://schemas.microsoft.com/office/drawing/2014/main" id="{DDD2958B-58E6-85F5-BD7B-503D11EA2E95}"/>
              </a:ext>
            </a:extLst>
          </p:cNvPr>
          <p:cNvSpPr txBox="1"/>
          <p:nvPr/>
        </p:nvSpPr>
        <p:spPr>
          <a:xfrm>
            <a:off x="5453146" y="4326708"/>
            <a:ext cx="414661" cy="2169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noProof="1">
                <a:latin typeface="Calibri (Body)"/>
                <a:ea typeface="MiSans"/>
                <a:cs typeface="MiSans"/>
              </a:rPr>
              <a:t>解耦</a:t>
            </a:r>
            <a:endParaRPr lang="en-US" sz="950" noProof="1">
              <a:latin typeface="Calibri (Body)"/>
              <a:ea typeface="MiSans"/>
              <a:cs typeface="MiSans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96983BDD-01D5-1CE3-752E-E178A07B17FB}"/>
              </a:ext>
            </a:extLst>
          </p:cNvPr>
          <p:cNvSpPr txBox="1"/>
          <p:nvPr/>
        </p:nvSpPr>
        <p:spPr>
          <a:xfrm>
            <a:off x="495554" y="3348754"/>
            <a:ext cx="26094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900" b="1">
                <a:latin typeface="Calibri (Body)"/>
              </a:rPr>
              <a:t>集中式关系数据库归档：</a:t>
            </a:r>
            <a:r>
              <a:rPr lang="zh-CN" altLang="en-US" sz="900">
                <a:latin typeface="Calibri (Body)"/>
              </a:rPr>
              <a:t>高频核心数据进入 </a:t>
            </a:r>
            <a:r>
              <a:rPr lang="en-US" altLang="zh-CN" sz="900">
                <a:latin typeface="Calibri (Body)"/>
              </a:rPr>
              <a:t>PostgreSQL</a:t>
            </a:r>
            <a:r>
              <a:rPr lang="zh-CN" altLang="en-US" sz="900">
                <a:latin typeface="Calibri (Body)"/>
              </a:rPr>
              <a:t>，低频数据及附件存储于 </a:t>
            </a:r>
            <a:r>
              <a:rPr lang="en-US" altLang="zh-CN" sz="900">
                <a:latin typeface="Calibri (Body)"/>
              </a:rPr>
              <a:t>Blob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900" b="1">
                <a:latin typeface="Calibri (Body)"/>
              </a:rPr>
              <a:t>低代码应用搭建：</a:t>
            </a:r>
            <a:r>
              <a:rPr lang="zh-CN" altLang="en-US" sz="900">
                <a:latin typeface="Calibri (Body)"/>
              </a:rPr>
              <a:t>基于 </a:t>
            </a:r>
            <a:r>
              <a:rPr lang="en-US" altLang="zh-CN" sz="900">
                <a:latin typeface="Calibri (Body)"/>
              </a:rPr>
              <a:t>Appsmith </a:t>
            </a:r>
            <a:r>
              <a:rPr lang="zh-CN" altLang="en-US" sz="900">
                <a:latin typeface="Calibri (Body)"/>
              </a:rPr>
              <a:t>拖拽配置查询、报表及管理页面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900" b="1">
                <a:latin typeface="Calibri (Body)"/>
              </a:rPr>
              <a:t>传统成熟技术栈：</a:t>
            </a:r>
            <a:r>
              <a:rPr lang="zh-CN" altLang="en-US" sz="900">
                <a:latin typeface="Calibri (Body)"/>
              </a:rPr>
              <a:t>架构相对简单，技术门槛较低，适合快速启动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6A526200-F0EF-9FA3-F3F6-94501D777C1C}"/>
              </a:ext>
            </a:extLst>
          </p:cNvPr>
          <p:cNvSpPr txBox="1"/>
          <p:nvPr/>
        </p:nvSpPr>
        <p:spPr>
          <a:xfrm>
            <a:off x="6176374" y="3348754"/>
            <a:ext cx="26094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900" b="1">
                <a:latin typeface="Calibri (Body)"/>
              </a:rPr>
              <a:t>全量湖仓归档：</a:t>
            </a:r>
            <a:r>
              <a:rPr lang="zh-CN" altLang="en-US" sz="900">
                <a:latin typeface="Calibri (Body)"/>
              </a:rPr>
              <a:t>与方案 </a:t>
            </a:r>
            <a:r>
              <a:rPr lang="en-US" altLang="zh-CN" sz="900">
                <a:latin typeface="Calibri (Body)"/>
              </a:rPr>
              <a:t>B </a:t>
            </a:r>
            <a:r>
              <a:rPr lang="zh-CN" altLang="en-US" sz="900">
                <a:latin typeface="Calibri (Body)"/>
              </a:rPr>
              <a:t>一致，以 </a:t>
            </a:r>
            <a:r>
              <a:rPr lang="en-US" altLang="zh-CN" sz="900">
                <a:latin typeface="Calibri (Body)"/>
              </a:rPr>
              <a:t>Iceberg </a:t>
            </a:r>
            <a:r>
              <a:rPr lang="zh-CN" altLang="en-US" sz="900">
                <a:latin typeface="Calibri (Body)"/>
              </a:rPr>
              <a:t>作为统一历史数据底座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900" b="1">
                <a:latin typeface="Calibri (Body)"/>
              </a:rPr>
              <a:t>Databricks </a:t>
            </a:r>
            <a:r>
              <a:rPr lang="zh-CN" altLang="en-US" sz="900" b="1">
                <a:latin typeface="Calibri (Body)"/>
              </a:rPr>
              <a:t>统一读写：</a:t>
            </a:r>
            <a:r>
              <a:rPr lang="zh-CN" altLang="en-US" sz="900">
                <a:latin typeface="Calibri (Body)"/>
              </a:rPr>
              <a:t>数据处理与查询均由 </a:t>
            </a:r>
            <a:r>
              <a:rPr lang="en-US" altLang="zh-CN" sz="900">
                <a:latin typeface="Calibri (Body)"/>
              </a:rPr>
              <a:t>Databricks </a:t>
            </a:r>
            <a:r>
              <a:rPr lang="zh-CN" altLang="en-US" sz="900">
                <a:latin typeface="Calibri (Body)"/>
              </a:rPr>
              <a:t>承载，减少独立查询组件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900" b="1">
                <a:latin typeface="Calibri (Body)"/>
              </a:rPr>
              <a:t>平台原生治理能力：</a:t>
            </a:r>
            <a:r>
              <a:rPr lang="zh-CN" altLang="en-US" sz="900">
                <a:latin typeface="Calibri (Body)"/>
              </a:rPr>
              <a:t>通过 </a:t>
            </a:r>
            <a:r>
              <a:rPr lang="en-US" altLang="zh-CN" sz="900">
                <a:latin typeface="Calibri (Body)"/>
              </a:rPr>
              <a:t>Unity Catalog </a:t>
            </a:r>
            <a:r>
              <a:rPr lang="zh-CN" altLang="en-US" sz="900">
                <a:latin typeface="Calibri (Body)"/>
              </a:rPr>
              <a:t>集成权限、血缘、审计及列级脱敏等治理能力</a:t>
            </a:r>
            <a:endParaRPr lang="en-US" altLang="zh-CN" sz="900">
              <a:latin typeface="Calibri (Body)"/>
            </a:endParaRPr>
          </a:p>
        </p:txBody>
      </p:sp>
      <p:sp>
        <p:nvSpPr>
          <p:cNvPr id="264" name="pillB2-1">
            <a:extLst>
              <a:ext uri="{FF2B5EF4-FFF2-40B4-BE49-F238E27FC236}">
                <a16:creationId xmlns:a16="http://schemas.microsoft.com/office/drawing/2014/main" id="{0F8F6896-008B-8FFC-EFB3-E65BDC52389F}"/>
              </a:ext>
            </a:extLst>
          </p:cNvPr>
          <p:cNvSpPr/>
          <p:nvPr/>
        </p:nvSpPr>
        <p:spPr>
          <a:xfrm>
            <a:off x="6234109" y="4324168"/>
            <a:ext cx="793809" cy="247175"/>
          </a:xfrm>
          <a:prstGeom prst="roundRect">
            <a:avLst>
              <a:gd name="adj" fmla="val 30000"/>
            </a:avLst>
          </a:prstGeom>
          <a:solidFill>
            <a:srgbClr val="B2D5E4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266" name="pillB2-1-icon">
            <a:extLst>
              <a:ext uri="{FF2B5EF4-FFF2-40B4-BE49-F238E27FC236}">
                <a16:creationId xmlns:a16="http://schemas.microsoft.com/office/drawing/2014/main" id="{6FD1653B-C459-5666-78AF-30333344123E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eyJpY29uTmFtZSI6ImZhczpwdXp6bGUtcGllY2UifQ</pptd:icon>
              </p:ext>
            </p:extLst>
          </p:nvPr>
        </p:nvSpPr>
        <p:spPr>
          <a:xfrm>
            <a:off x="6375861" y="4390715"/>
            <a:ext cx="113401" cy="114081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24" y="0"/>
                </a:moveTo>
                <a:cubicBezTo>
                  <a:pt x="259" y="0"/>
                  <a:pt x="288" y="22"/>
                  <a:pt x="288" y="48"/>
                </a:cubicBezTo>
                <a:cubicBezTo>
                  <a:pt x="288" y="58"/>
                  <a:pt x="284" y="68"/>
                  <a:pt x="276" y="76"/>
                </a:cubicBezTo>
                <a:cubicBezTo>
                  <a:pt x="269" y="83"/>
                  <a:pt x="264" y="91"/>
                  <a:pt x="264" y="101"/>
                </a:cubicBezTo>
                <a:cubicBezTo>
                  <a:pt x="264" y="116"/>
                  <a:pt x="276" y="128"/>
                  <a:pt x="291" y="128"/>
                </a:cubicBezTo>
                <a:lnTo>
                  <a:pt x="336" y="128"/>
                </a:lnTo>
                <a:cubicBezTo>
                  <a:pt x="363" y="128"/>
                  <a:pt x="384" y="150"/>
                  <a:pt x="384" y="176"/>
                </a:cubicBezTo>
                <a:lnTo>
                  <a:pt x="384" y="221"/>
                </a:lnTo>
                <a:cubicBezTo>
                  <a:pt x="384" y="236"/>
                  <a:pt x="396" y="248"/>
                  <a:pt x="411" y="248"/>
                </a:cubicBezTo>
                <a:cubicBezTo>
                  <a:pt x="421" y="248"/>
                  <a:pt x="429" y="243"/>
                  <a:pt x="436" y="236"/>
                </a:cubicBezTo>
                <a:cubicBezTo>
                  <a:pt x="444" y="229"/>
                  <a:pt x="454" y="224"/>
                  <a:pt x="464" y="224"/>
                </a:cubicBezTo>
                <a:cubicBezTo>
                  <a:pt x="490" y="224"/>
                  <a:pt x="512" y="253"/>
                  <a:pt x="512" y="288"/>
                </a:cubicBezTo>
                <a:cubicBezTo>
                  <a:pt x="512" y="323"/>
                  <a:pt x="490" y="352"/>
                  <a:pt x="464" y="352"/>
                </a:cubicBezTo>
                <a:cubicBezTo>
                  <a:pt x="454" y="352"/>
                  <a:pt x="444" y="348"/>
                  <a:pt x="436" y="340"/>
                </a:cubicBezTo>
                <a:cubicBezTo>
                  <a:pt x="429" y="333"/>
                  <a:pt x="421" y="328"/>
                  <a:pt x="411" y="328"/>
                </a:cubicBezTo>
                <a:cubicBezTo>
                  <a:pt x="396" y="328"/>
                  <a:pt x="384" y="340"/>
                  <a:pt x="384" y="355"/>
                </a:cubicBezTo>
                <a:lnTo>
                  <a:pt x="384" y="464"/>
                </a:lnTo>
                <a:cubicBezTo>
                  <a:pt x="384" y="491"/>
                  <a:pt x="363" y="512"/>
                  <a:pt x="336" y="512"/>
                </a:cubicBezTo>
                <a:lnTo>
                  <a:pt x="279" y="512"/>
                </a:lnTo>
                <a:cubicBezTo>
                  <a:pt x="266" y="512"/>
                  <a:pt x="256" y="502"/>
                  <a:pt x="256" y="489"/>
                </a:cubicBezTo>
                <a:cubicBezTo>
                  <a:pt x="256" y="480"/>
                  <a:pt x="262" y="472"/>
                  <a:pt x="269" y="466"/>
                </a:cubicBezTo>
                <a:cubicBezTo>
                  <a:pt x="281" y="457"/>
                  <a:pt x="288" y="445"/>
                  <a:pt x="288" y="432"/>
                </a:cubicBezTo>
                <a:cubicBezTo>
                  <a:pt x="288" y="406"/>
                  <a:pt x="259" y="384"/>
                  <a:pt x="224" y="384"/>
                </a:cubicBezTo>
                <a:cubicBezTo>
                  <a:pt x="189" y="384"/>
                  <a:pt x="160" y="406"/>
                  <a:pt x="160" y="432"/>
                </a:cubicBezTo>
                <a:cubicBezTo>
                  <a:pt x="160" y="445"/>
                  <a:pt x="167" y="457"/>
                  <a:pt x="179" y="466"/>
                </a:cubicBezTo>
                <a:cubicBezTo>
                  <a:pt x="186" y="472"/>
                  <a:pt x="192" y="480"/>
                  <a:pt x="192" y="489"/>
                </a:cubicBezTo>
                <a:cubicBezTo>
                  <a:pt x="192" y="502"/>
                  <a:pt x="182" y="512"/>
                  <a:pt x="169" y="512"/>
                </a:cubicBezTo>
                <a:lnTo>
                  <a:pt x="48" y="512"/>
                </a:lnTo>
                <a:cubicBezTo>
                  <a:pt x="22" y="512"/>
                  <a:pt x="0" y="491"/>
                  <a:pt x="0" y="464"/>
                </a:cubicBezTo>
                <a:lnTo>
                  <a:pt x="0" y="343"/>
                </a:lnTo>
                <a:cubicBezTo>
                  <a:pt x="0" y="330"/>
                  <a:pt x="10" y="320"/>
                  <a:pt x="23" y="320"/>
                </a:cubicBezTo>
                <a:cubicBezTo>
                  <a:pt x="32" y="320"/>
                  <a:pt x="41" y="326"/>
                  <a:pt x="46" y="333"/>
                </a:cubicBezTo>
                <a:cubicBezTo>
                  <a:pt x="55" y="345"/>
                  <a:pt x="67" y="352"/>
                  <a:pt x="80" y="352"/>
                </a:cubicBezTo>
                <a:cubicBezTo>
                  <a:pt x="107" y="352"/>
                  <a:pt x="128" y="323"/>
                  <a:pt x="128" y="288"/>
                </a:cubicBezTo>
                <a:cubicBezTo>
                  <a:pt x="128" y="253"/>
                  <a:pt x="107" y="224"/>
                  <a:pt x="80" y="224"/>
                </a:cubicBezTo>
                <a:cubicBezTo>
                  <a:pt x="67" y="224"/>
                  <a:pt x="55" y="231"/>
                  <a:pt x="46" y="243"/>
                </a:cubicBezTo>
                <a:cubicBezTo>
                  <a:pt x="41" y="250"/>
                  <a:pt x="33" y="256"/>
                  <a:pt x="23" y="256"/>
                </a:cubicBezTo>
                <a:cubicBezTo>
                  <a:pt x="10" y="256"/>
                  <a:pt x="0" y="246"/>
                  <a:pt x="0" y="233"/>
                </a:cubicBezTo>
                <a:lnTo>
                  <a:pt x="0" y="176"/>
                </a:lnTo>
                <a:cubicBezTo>
                  <a:pt x="0" y="150"/>
                  <a:pt x="22" y="128"/>
                  <a:pt x="48" y="128"/>
                </a:cubicBezTo>
                <a:lnTo>
                  <a:pt x="157" y="128"/>
                </a:lnTo>
                <a:cubicBezTo>
                  <a:pt x="172" y="128"/>
                  <a:pt x="184" y="116"/>
                  <a:pt x="184" y="101"/>
                </a:cubicBezTo>
                <a:cubicBezTo>
                  <a:pt x="184" y="91"/>
                  <a:pt x="179" y="83"/>
                  <a:pt x="172" y="76"/>
                </a:cubicBezTo>
                <a:cubicBezTo>
                  <a:pt x="165" y="68"/>
                  <a:pt x="160" y="58"/>
                  <a:pt x="160" y="48"/>
                </a:cubicBezTo>
                <a:cubicBezTo>
                  <a:pt x="160" y="22"/>
                  <a:pt x="189" y="0"/>
                  <a:pt x="224" y="0"/>
                </a:cubicBezTo>
                <a:close/>
              </a:path>
            </a:pathLst>
          </a:custGeom>
          <a:solidFill>
            <a:srgbClr val="1565D8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268" name="pillB2-1-text">
            <a:extLst>
              <a:ext uri="{FF2B5EF4-FFF2-40B4-BE49-F238E27FC236}">
                <a16:creationId xmlns:a16="http://schemas.microsoft.com/office/drawing/2014/main" id="{56456E4F-7C3F-8CF4-B678-50A27DDEE093}"/>
              </a:ext>
            </a:extLst>
          </p:cNvPr>
          <p:cNvSpPr txBox="1"/>
          <p:nvPr/>
        </p:nvSpPr>
        <p:spPr>
          <a:xfrm>
            <a:off x="6527062" y="4324168"/>
            <a:ext cx="472505" cy="24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noProof="1">
                <a:ea typeface="MiSans"/>
                <a:cs typeface="MiSans"/>
              </a:rPr>
              <a:t>一体化</a:t>
            </a:r>
            <a:endParaRPr lang="en-US" sz="950" noProof="1">
              <a:ea typeface="MiSans"/>
              <a:cs typeface="MiSans"/>
            </a:endParaRPr>
          </a:p>
        </p:txBody>
      </p:sp>
      <p:sp>
        <p:nvSpPr>
          <p:cNvPr id="270" name="pillB2-2">
            <a:extLst>
              <a:ext uri="{FF2B5EF4-FFF2-40B4-BE49-F238E27FC236}">
                <a16:creationId xmlns:a16="http://schemas.microsoft.com/office/drawing/2014/main" id="{AD7C3463-224A-C2A5-654F-13801EDC61BA}"/>
              </a:ext>
            </a:extLst>
          </p:cNvPr>
          <p:cNvSpPr/>
          <p:nvPr/>
        </p:nvSpPr>
        <p:spPr>
          <a:xfrm>
            <a:off x="7122419" y="4324168"/>
            <a:ext cx="793809" cy="247175"/>
          </a:xfrm>
          <a:prstGeom prst="roundRect">
            <a:avLst>
              <a:gd name="adj" fmla="val 30000"/>
            </a:avLst>
          </a:prstGeom>
          <a:solidFill>
            <a:srgbClr val="B2D5E4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272" name="pillB2-2-icon">
            <a:extLst>
              <a:ext uri="{FF2B5EF4-FFF2-40B4-BE49-F238E27FC236}">
                <a16:creationId xmlns:a16="http://schemas.microsoft.com/office/drawing/2014/main" id="{500E44A3-6A81-3EED-BFD8-591A9E084A4B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eyJpY29uTmFtZSI6ImZhczpzaGllbGQtaGFsdmVkIn0</pptd:icon>
              </p:ext>
            </p:extLst>
          </p:nvPr>
        </p:nvSpPr>
        <p:spPr>
          <a:xfrm>
            <a:off x="7283071" y="4390715"/>
            <a:ext cx="113401" cy="114081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61" y="0"/>
                  <a:pt x="265" y="1"/>
                  <a:pt x="269" y="3"/>
                </a:cubicBezTo>
                <a:lnTo>
                  <a:pt x="458" y="83"/>
                </a:lnTo>
                <a:cubicBezTo>
                  <a:pt x="480" y="92"/>
                  <a:pt x="496" y="114"/>
                  <a:pt x="496" y="140"/>
                </a:cubicBezTo>
                <a:cubicBezTo>
                  <a:pt x="496" y="239"/>
                  <a:pt x="455" y="421"/>
                  <a:pt x="283" y="503"/>
                </a:cubicBezTo>
                <a:cubicBezTo>
                  <a:pt x="266" y="511"/>
                  <a:pt x="246" y="511"/>
                  <a:pt x="230" y="503"/>
                </a:cubicBezTo>
                <a:cubicBezTo>
                  <a:pt x="57" y="421"/>
                  <a:pt x="17" y="239"/>
                  <a:pt x="16" y="140"/>
                </a:cubicBezTo>
                <a:cubicBezTo>
                  <a:pt x="16" y="114"/>
                  <a:pt x="32" y="92"/>
                  <a:pt x="54" y="83"/>
                </a:cubicBezTo>
                <a:lnTo>
                  <a:pt x="243" y="3"/>
                </a:lnTo>
                <a:cubicBezTo>
                  <a:pt x="247" y="1"/>
                  <a:pt x="251" y="0"/>
                  <a:pt x="256" y="0"/>
                </a:cubicBezTo>
                <a:close/>
                <a:moveTo>
                  <a:pt x="256" y="67"/>
                </a:moveTo>
                <a:lnTo>
                  <a:pt x="256" y="445"/>
                </a:lnTo>
                <a:cubicBezTo>
                  <a:pt x="394" y="378"/>
                  <a:pt x="431" y="230"/>
                  <a:pt x="432" y="142"/>
                </a:cubicBezTo>
                <a:lnTo>
                  <a:pt x="256" y="67"/>
                </a:lnTo>
                <a:lnTo>
                  <a:pt x="256" y="67"/>
                </a:lnTo>
                <a:close/>
              </a:path>
            </a:pathLst>
          </a:custGeom>
          <a:solidFill>
            <a:srgbClr val="1565D8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274" name="pillB2-2-text">
            <a:extLst>
              <a:ext uri="{FF2B5EF4-FFF2-40B4-BE49-F238E27FC236}">
                <a16:creationId xmlns:a16="http://schemas.microsoft.com/office/drawing/2014/main" id="{8B103998-6C3F-5468-318D-97178175EAE4}"/>
              </a:ext>
            </a:extLst>
          </p:cNvPr>
          <p:cNvSpPr txBox="1"/>
          <p:nvPr/>
        </p:nvSpPr>
        <p:spPr>
          <a:xfrm>
            <a:off x="7434273" y="4324168"/>
            <a:ext cx="415805" cy="24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noProof="1">
                <a:ea typeface="MiSans"/>
                <a:cs typeface="MiSans"/>
              </a:rPr>
              <a:t>治理</a:t>
            </a:r>
            <a:endParaRPr lang="en-US" sz="950" noProof="1">
              <a:ea typeface="MiSans"/>
              <a:cs typeface="MiSans"/>
            </a:endParaRPr>
          </a:p>
        </p:txBody>
      </p:sp>
      <p:sp>
        <p:nvSpPr>
          <p:cNvPr id="276" name="pillB2-3">
            <a:extLst>
              <a:ext uri="{FF2B5EF4-FFF2-40B4-BE49-F238E27FC236}">
                <a16:creationId xmlns:a16="http://schemas.microsoft.com/office/drawing/2014/main" id="{5B05C800-3298-C039-31E8-623FC158CAF6}"/>
              </a:ext>
            </a:extLst>
          </p:cNvPr>
          <p:cNvSpPr/>
          <p:nvPr/>
        </p:nvSpPr>
        <p:spPr>
          <a:xfrm>
            <a:off x="8010729" y="4324168"/>
            <a:ext cx="793809" cy="247175"/>
          </a:xfrm>
          <a:prstGeom prst="roundRect">
            <a:avLst>
              <a:gd name="adj" fmla="val 30000"/>
            </a:avLst>
          </a:prstGeom>
          <a:solidFill>
            <a:srgbClr val="B2D5E4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278" name="pillB2-3-icon">
            <a:extLst>
              <a:ext uri="{FF2B5EF4-FFF2-40B4-BE49-F238E27FC236}">
                <a16:creationId xmlns:a16="http://schemas.microsoft.com/office/drawing/2014/main" id="{49175666-B659-0130-8143-ADDD1D083A6F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eyJpY29uTmFtZSI6ImZhczpjaGFydC1saW5lIn0</pptd:icon>
              </p:ext>
            </p:extLst>
          </p:nvPr>
        </p:nvSpPr>
        <p:spPr>
          <a:xfrm>
            <a:off x="8171381" y="4390715"/>
            <a:ext cx="113401" cy="114081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64" y="64"/>
                </a:moveTo>
                <a:cubicBezTo>
                  <a:pt x="64" y="46"/>
                  <a:pt x="50" y="32"/>
                  <a:pt x="32" y="32"/>
                </a:cubicBezTo>
                <a:cubicBezTo>
                  <a:pt x="14" y="32"/>
                  <a:pt x="0" y="46"/>
                  <a:pt x="0" y="64"/>
                </a:cubicBezTo>
                <a:lnTo>
                  <a:pt x="0" y="400"/>
                </a:lnTo>
                <a:cubicBezTo>
                  <a:pt x="0" y="444"/>
                  <a:pt x="36" y="480"/>
                  <a:pt x="80" y="480"/>
                </a:cubicBezTo>
                <a:lnTo>
                  <a:pt x="480" y="480"/>
                </a:lnTo>
                <a:cubicBezTo>
                  <a:pt x="498" y="480"/>
                  <a:pt x="512" y="466"/>
                  <a:pt x="512" y="448"/>
                </a:cubicBezTo>
                <a:cubicBezTo>
                  <a:pt x="512" y="430"/>
                  <a:pt x="498" y="416"/>
                  <a:pt x="480" y="416"/>
                </a:cubicBezTo>
                <a:lnTo>
                  <a:pt x="80" y="416"/>
                </a:lnTo>
                <a:cubicBezTo>
                  <a:pt x="71" y="416"/>
                  <a:pt x="64" y="409"/>
                  <a:pt x="64" y="400"/>
                </a:cubicBezTo>
                <a:lnTo>
                  <a:pt x="64" y="64"/>
                </a:lnTo>
                <a:close/>
                <a:moveTo>
                  <a:pt x="471" y="151"/>
                </a:moveTo>
                <a:cubicBezTo>
                  <a:pt x="483" y="138"/>
                  <a:pt x="483" y="118"/>
                  <a:pt x="471" y="105"/>
                </a:cubicBezTo>
                <a:cubicBezTo>
                  <a:pt x="458" y="93"/>
                  <a:pt x="438" y="93"/>
                  <a:pt x="425" y="105"/>
                </a:cubicBezTo>
                <a:lnTo>
                  <a:pt x="320" y="211"/>
                </a:lnTo>
                <a:lnTo>
                  <a:pt x="263" y="153"/>
                </a:lnTo>
                <a:cubicBezTo>
                  <a:pt x="250" y="141"/>
                  <a:pt x="230" y="141"/>
                  <a:pt x="217" y="153"/>
                </a:cubicBezTo>
                <a:lnTo>
                  <a:pt x="121" y="249"/>
                </a:lnTo>
                <a:cubicBezTo>
                  <a:pt x="109" y="262"/>
                  <a:pt x="109" y="282"/>
                  <a:pt x="121" y="295"/>
                </a:cubicBezTo>
                <a:cubicBezTo>
                  <a:pt x="134" y="307"/>
                  <a:pt x="154" y="307"/>
                  <a:pt x="167" y="295"/>
                </a:cubicBezTo>
                <a:lnTo>
                  <a:pt x="240" y="221"/>
                </a:lnTo>
                <a:lnTo>
                  <a:pt x="297" y="279"/>
                </a:lnTo>
                <a:cubicBezTo>
                  <a:pt x="310" y="291"/>
                  <a:pt x="330" y="291"/>
                  <a:pt x="343" y="279"/>
                </a:cubicBezTo>
                <a:lnTo>
                  <a:pt x="471" y="151"/>
                </a:lnTo>
                <a:close/>
              </a:path>
            </a:pathLst>
          </a:custGeom>
          <a:solidFill>
            <a:srgbClr val="1565D8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280" name="pillB2-3-text">
            <a:extLst>
              <a:ext uri="{FF2B5EF4-FFF2-40B4-BE49-F238E27FC236}">
                <a16:creationId xmlns:a16="http://schemas.microsoft.com/office/drawing/2014/main" id="{C3DCA94B-B224-F44F-0CB7-3FF64C62FEB3}"/>
              </a:ext>
            </a:extLst>
          </p:cNvPr>
          <p:cNvSpPr txBox="1"/>
          <p:nvPr/>
        </p:nvSpPr>
        <p:spPr>
          <a:xfrm>
            <a:off x="8322583" y="4324168"/>
            <a:ext cx="415805" cy="24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noProof="1">
                <a:ea typeface="MiSans"/>
                <a:cs typeface="MiSans"/>
              </a:rPr>
              <a:t>弹性</a:t>
            </a:r>
            <a:endParaRPr lang="en-US" sz="950" noProof="1">
              <a:ea typeface="MiSans"/>
              <a:cs typeface="MiSans"/>
            </a:endParaRPr>
          </a:p>
        </p:txBody>
      </p:sp>
      <p:sp>
        <p:nvSpPr>
          <p:cNvPr id="282" name="aA-db">
            <a:extLst>
              <a:ext uri="{FF2B5EF4-FFF2-40B4-BE49-F238E27FC236}">
                <a16:creationId xmlns:a16="http://schemas.microsoft.com/office/drawing/2014/main" id="{2292C7C0-CBE9-88D2-B8B7-041CE6D13A12}"/>
              </a:ext>
            </a:extLst>
          </p:cNvPr>
          <p:cNvSpPr/>
          <p:nvPr>
            <p:extLst>
              <p:ext uri="{F5677B7D-0D2A-4D9B-9A5C-6D8D7D0E5A5D}">
                <pptd:icon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="" encoding="base64url">eyJpY29uTmFtZSI6ImZhczpkYXRhYmFzZSJ9</pptd:icon>
              </p:ext>
            </p:extLst>
          </p:nvPr>
        </p:nvSpPr>
        <p:spPr>
          <a:xfrm>
            <a:off x="3480588" y="2644776"/>
            <a:ext cx="213171" cy="23825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48" y="206"/>
                </a:moveTo>
                <a:cubicBezTo>
                  <a:pt x="433" y="216"/>
                  <a:pt x="416" y="224"/>
                  <a:pt x="399" y="230"/>
                </a:cubicBezTo>
                <a:cubicBezTo>
                  <a:pt x="352" y="247"/>
                  <a:pt x="290" y="256"/>
                  <a:pt x="224" y="256"/>
                </a:cubicBezTo>
                <a:cubicBezTo>
                  <a:pt x="158" y="256"/>
                  <a:pt x="96" y="247"/>
                  <a:pt x="50" y="230"/>
                </a:cubicBezTo>
                <a:cubicBezTo>
                  <a:pt x="32" y="224"/>
                  <a:pt x="15" y="216"/>
                  <a:pt x="0" y="206"/>
                </a:cubicBezTo>
                <a:lnTo>
                  <a:pt x="0" y="288"/>
                </a:lnTo>
                <a:cubicBezTo>
                  <a:pt x="0" y="332"/>
                  <a:pt x="100" y="368"/>
                  <a:pt x="224" y="368"/>
                </a:cubicBezTo>
                <a:cubicBezTo>
                  <a:pt x="348" y="368"/>
                  <a:pt x="448" y="332"/>
                  <a:pt x="448" y="288"/>
                </a:cubicBezTo>
                <a:lnTo>
                  <a:pt x="448" y="206"/>
                </a:lnTo>
                <a:close/>
              </a:path>
              <a:path w="448" h="512">
                <a:moveTo>
                  <a:pt x="448" y="128"/>
                </a:moveTo>
                <a:lnTo>
                  <a:pt x="448" y="80"/>
                </a:lnTo>
                <a:cubicBezTo>
                  <a:pt x="448" y="36"/>
                  <a:pt x="348" y="0"/>
                  <a:pt x="224" y="0"/>
                </a:cubicBezTo>
                <a:cubicBezTo>
                  <a:pt x="100" y="0"/>
                  <a:pt x="0" y="36"/>
                  <a:pt x="0" y="80"/>
                </a:cubicBezTo>
                <a:lnTo>
                  <a:pt x="0" y="128"/>
                </a:lnTo>
                <a:cubicBezTo>
                  <a:pt x="0" y="172"/>
                  <a:pt x="100" y="208"/>
                  <a:pt x="224" y="208"/>
                </a:cubicBezTo>
                <a:cubicBezTo>
                  <a:pt x="348" y="208"/>
                  <a:pt x="448" y="172"/>
                  <a:pt x="448" y="128"/>
                </a:cubicBezTo>
                <a:close/>
              </a:path>
              <a:path w="448" h="512">
                <a:moveTo>
                  <a:pt x="399" y="390"/>
                </a:moveTo>
                <a:cubicBezTo>
                  <a:pt x="352" y="407"/>
                  <a:pt x="290" y="416"/>
                  <a:pt x="224" y="416"/>
                </a:cubicBezTo>
                <a:cubicBezTo>
                  <a:pt x="158" y="416"/>
                  <a:pt x="96" y="407"/>
                  <a:pt x="50" y="390"/>
                </a:cubicBezTo>
                <a:cubicBezTo>
                  <a:pt x="32" y="384"/>
                  <a:pt x="15" y="376"/>
                  <a:pt x="0" y="366"/>
                </a:cubicBezTo>
                <a:lnTo>
                  <a:pt x="0" y="432"/>
                </a:lnTo>
                <a:cubicBezTo>
                  <a:pt x="0" y="476"/>
                  <a:pt x="100" y="512"/>
                  <a:pt x="224" y="512"/>
                </a:cubicBezTo>
                <a:cubicBezTo>
                  <a:pt x="348" y="512"/>
                  <a:pt x="448" y="476"/>
                  <a:pt x="448" y="432"/>
                </a:cubicBezTo>
                <a:lnTo>
                  <a:pt x="448" y="366"/>
                </a:lnTo>
                <a:cubicBezTo>
                  <a:pt x="433" y="376"/>
                  <a:pt x="416" y="384"/>
                  <a:pt x="399" y="390"/>
                </a:cubicBezTo>
                <a:close/>
              </a:path>
            </a:pathLst>
          </a:custGeom>
          <a:solidFill>
            <a:srgbClr val="9AA1AC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283" name="TextBox 282">
            <a:extLst>
              <a:ext uri="{FF2B5EF4-FFF2-40B4-BE49-F238E27FC236}">
                <a16:creationId xmlns:a16="http://schemas.microsoft.com/office/drawing/2014/main" id="{A56F9D58-EB64-6CDF-B624-DEA0ACB111DC}"/>
              </a:ext>
            </a:extLst>
          </p:cNvPr>
          <p:cNvSpPr txBox="1"/>
          <p:nvPr/>
        </p:nvSpPr>
        <p:spPr>
          <a:xfrm>
            <a:off x="3250964" y="2910445"/>
            <a:ext cx="672418" cy="211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700" noProof="1">
                <a:solidFill>
                  <a:srgbClr val="1F2430"/>
                </a:solidFill>
                <a:latin typeface="+mn-ea"/>
                <a:cs typeface="MiSans"/>
              </a:rPr>
              <a:t>源系统</a:t>
            </a:r>
            <a:endParaRPr lang="en-US" altLang="zh-CN" sz="700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pic>
        <p:nvPicPr>
          <p:cNvPr id="297" name="aB-trino">
            <a:extLst>
              <a:ext uri="{FF2B5EF4-FFF2-40B4-BE49-F238E27FC236}">
                <a16:creationId xmlns:a16="http://schemas.microsoft.com/office/drawing/2014/main" id="{103B215E-3223-7310-F837-0FB864FE8A36}"/>
              </a:ext>
            </a:extLst>
          </p:cNvPr>
          <p:cNvPicPr/>
          <p:nvPr/>
        </p:nvPicPr>
        <p:blipFill>
          <a:blip r:embed="rId5"/>
          <a:srcRect r="23624"/>
          <a:stretch>
            <a:fillRect/>
          </a:stretch>
        </p:blipFill>
        <p:spPr>
          <a:xfrm>
            <a:off x="4857756" y="2624347"/>
            <a:ext cx="213171" cy="279108"/>
          </a:xfrm>
          <a:prstGeom prst="rect">
            <a:avLst/>
          </a:prstGeom>
          <a:ln>
            <a:noFill/>
          </a:ln>
        </p:spPr>
      </p:pic>
      <p:pic>
        <p:nvPicPr>
          <p:cNvPr id="299" name="Picture 298">
            <a:extLst>
              <a:ext uri="{FF2B5EF4-FFF2-40B4-BE49-F238E27FC236}">
                <a16:creationId xmlns:a16="http://schemas.microsoft.com/office/drawing/2014/main" id="{008BAE44-25AB-992E-05E7-765B775A95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910" y="2645175"/>
            <a:ext cx="351228" cy="265017"/>
          </a:xfrm>
          <a:prstGeom prst="rect">
            <a:avLst/>
          </a:prstGeom>
        </p:spPr>
      </p:pic>
      <p:sp>
        <p:nvSpPr>
          <p:cNvPr id="302" name="aA-arrow1">
            <a:extLst>
              <a:ext uri="{FF2B5EF4-FFF2-40B4-BE49-F238E27FC236}">
                <a16:creationId xmlns:a16="http://schemas.microsoft.com/office/drawing/2014/main" id="{C3682FC4-11D1-C23D-5F77-3293FBCCDD27}"/>
              </a:ext>
            </a:extLst>
          </p:cNvPr>
          <p:cNvSpPr/>
          <p:nvPr/>
        </p:nvSpPr>
        <p:spPr>
          <a:xfrm>
            <a:off x="3753385" y="2729019"/>
            <a:ext cx="232431" cy="125155"/>
          </a:xfrm>
          <a:prstGeom prst="rightArrow">
            <a:avLst>
              <a:gd name="adj1" fmla="val 32000"/>
              <a:gd name="adj2" fmla="val 42000"/>
            </a:avLst>
          </a:prstGeom>
          <a:solidFill>
            <a:srgbClr val="009CDE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pic>
        <p:nvPicPr>
          <p:cNvPr id="304" name="Picture 303">
            <a:extLst>
              <a:ext uri="{FF2B5EF4-FFF2-40B4-BE49-F238E27FC236}">
                <a16:creationId xmlns:a16="http://schemas.microsoft.com/office/drawing/2014/main" id="{C3476A69-5DCA-74A9-BEA6-12E3C62B62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8412" y="2675577"/>
            <a:ext cx="422902" cy="177246"/>
          </a:xfrm>
          <a:prstGeom prst="rect">
            <a:avLst/>
          </a:prstGeom>
        </p:spPr>
      </p:pic>
      <p:sp>
        <p:nvSpPr>
          <p:cNvPr id="306" name="TextBox 305">
            <a:extLst>
              <a:ext uri="{FF2B5EF4-FFF2-40B4-BE49-F238E27FC236}">
                <a16:creationId xmlns:a16="http://schemas.microsoft.com/office/drawing/2014/main" id="{562E8E6D-B512-BB59-9155-A228BC7BCFD7}"/>
              </a:ext>
            </a:extLst>
          </p:cNvPr>
          <p:cNvSpPr txBox="1"/>
          <p:nvPr/>
        </p:nvSpPr>
        <p:spPr>
          <a:xfrm>
            <a:off x="3933654" y="2883026"/>
            <a:ext cx="6724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00">
                <a:latin typeface="+mn-ea"/>
              </a:rPr>
              <a:t>ICEBERG Lakehouse</a:t>
            </a:r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7430A4BB-EFFE-A8B0-EABC-B4C99BAE22D2}"/>
              </a:ext>
            </a:extLst>
          </p:cNvPr>
          <p:cNvSpPr txBox="1"/>
          <p:nvPr/>
        </p:nvSpPr>
        <p:spPr>
          <a:xfrm>
            <a:off x="4633308" y="2883026"/>
            <a:ext cx="6724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00">
                <a:latin typeface="+mn-ea"/>
              </a:rPr>
              <a:t>Trino</a:t>
            </a:r>
          </a:p>
          <a:p>
            <a:pPr algn="ctr"/>
            <a:r>
              <a:rPr lang="zh-CN" altLang="en-US" sz="700">
                <a:latin typeface="+mn-ea"/>
              </a:rPr>
              <a:t>查询引擎</a:t>
            </a:r>
            <a:endParaRPr lang="en-US" altLang="zh-CN" sz="700">
              <a:latin typeface="+mn-ea"/>
            </a:endParaRP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5F63E127-0D2E-2561-3A72-F6D093D8DD8A}"/>
              </a:ext>
            </a:extLst>
          </p:cNvPr>
          <p:cNvSpPr txBox="1"/>
          <p:nvPr/>
        </p:nvSpPr>
        <p:spPr>
          <a:xfrm>
            <a:off x="5251214" y="2883026"/>
            <a:ext cx="6724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700">
                <a:latin typeface="+mn-ea"/>
              </a:rPr>
              <a:t>配置化应用平台</a:t>
            </a:r>
            <a:endParaRPr lang="en-US" altLang="zh-CN" sz="700">
              <a:latin typeface="+mn-ea"/>
            </a:endParaRPr>
          </a:p>
        </p:txBody>
      </p:sp>
      <p:sp>
        <p:nvSpPr>
          <p:cNvPr id="309" name="aA-arrow1">
            <a:extLst>
              <a:ext uri="{FF2B5EF4-FFF2-40B4-BE49-F238E27FC236}">
                <a16:creationId xmlns:a16="http://schemas.microsoft.com/office/drawing/2014/main" id="{0CDFAFEA-6475-BBCB-CCB3-4D560C5326CB}"/>
              </a:ext>
            </a:extLst>
          </p:cNvPr>
          <p:cNvSpPr/>
          <p:nvPr/>
        </p:nvSpPr>
        <p:spPr>
          <a:xfrm>
            <a:off x="4589546" y="2729019"/>
            <a:ext cx="232431" cy="125155"/>
          </a:xfrm>
          <a:prstGeom prst="rightArrow">
            <a:avLst>
              <a:gd name="adj1" fmla="val 32000"/>
              <a:gd name="adj2" fmla="val 42000"/>
            </a:avLst>
          </a:prstGeom>
          <a:solidFill>
            <a:srgbClr val="009CDE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310" name="aA-arrow1">
            <a:extLst>
              <a:ext uri="{FF2B5EF4-FFF2-40B4-BE49-F238E27FC236}">
                <a16:creationId xmlns:a16="http://schemas.microsoft.com/office/drawing/2014/main" id="{473A1F7A-BFAF-078D-5985-BD4E53A756CA}"/>
              </a:ext>
            </a:extLst>
          </p:cNvPr>
          <p:cNvSpPr/>
          <p:nvPr/>
        </p:nvSpPr>
        <p:spPr>
          <a:xfrm>
            <a:off x="5106706" y="2729019"/>
            <a:ext cx="232431" cy="125155"/>
          </a:xfrm>
          <a:prstGeom prst="rightArrow">
            <a:avLst>
              <a:gd name="adj1" fmla="val 32000"/>
              <a:gd name="adj2" fmla="val 42000"/>
            </a:avLst>
          </a:prstGeom>
          <a:solidFill>
            <a:srgbClr val="009CDE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311" name="aA-db">
            <a:extLst>
              <a:ext uri="{FF2B5EF4-FFF2-40B4-BE49-F238E27FC236}">
                <a16:creationId xmlns:a16="http://schemas.microsoft.com/office/drawing/2014/main" id="{A875AB50-E536-6264-31E3-D6DE1FEEF345}"/>
              </a:ext>
            </a:extLst>
          </p:cNvPr>
          <p:cNvSpPr/>
          <p:nvPr>
            <p:extLst>
              <p:ext uri="{F5677B7D-0D2A-4D9B-9A5C-6D8D7D0E5A5D}">
                <pptd:icon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="" encoding="base64url">eyJpY29uTmFtZSI6ImZhczpkYXRhYmFzZSJ9</pptd:icon>
              </p:ext>
            </p:extLst>
          </p:nvPr>
        </p:nvSpPr>
        <p:spPr>
          <a:xfrm>
            <a:off x="6293037" y="2644776"/>
            <a:ext cx="213171" cy="23825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48" y="206"/>
                </a:moveTo>
                <a:cubicBezTo>
                  <a:pt x="433" y="216"/>
                  <a:pt x="416" y="224"/>
                  <a:pt x="399" y="230"/>
                </a:cubicBezTo>
                <a:cubicBezTo>
                  <a:pt x="352" y="247"/>
                  <a:pt x="290" y="256"/>
                  <a:pt x="224" y="256"/>
                </a:cubicBezTo>
                <a:cubicBezTo>
                  <a:pt x="158" y="256"/>
                  <a:pt x="96" y="247"/>
                  <a:pt x="50" y="230"/>
                </a:cubicBezTo>
                <a:cubicBezTo>
                  <a:pt x="32" y="224"/>
                  <a:pt x="15" y="216"/>
                  <a:pt x="0" y="206"/>
                </a:cubicBezTo>
                <a:lnTo>
                  <a:pt x="0" y="288"/>
                </a:lnTo>
                <a:cubicBezTo>
                  <a:pt x="0" y="332"/>
                  <a:pt x="100" y="368"/>
                  <a:pt x="224" y="368"/>
                </a:cubicBezTo>
                <a:cubicBezTo>
                  <a:pt x="348" y="368"/>
                  <a:pt x="448" y="332"/>
                  <a:pt x="448" y="288"/>
                </a:cubicBezTo>
                <a:lnTo>
                  <a:pt x="448" y="206"/>
                </a:lnTo>
                <a:close/>
              </a:path>
              <a:path w="448" h="512">
                <a:moveTo>
                  <a:pt x="448" y="128"/>
                </a:moveTo>
                <a:lnTo>
                  <a:pt x="448" y="80"/>
                </a:lnTo>
                <a:cubicBezTo>
                  <a:pt x="448" y="36"/>
                  <a:pt x="348" y="0"/>
                  <a:pt x="224" y="0"/>
                </a:cubicBezTo>
                <a:cubicBezTo>
                  <a:pt x="100" y="0"/>
                  <a:pt x="0" y="36"/>
                  <a:pt x="0" y="80"/>
                </a:cubicBezTo>
                <a:lnTo>
                  <a:pt x="0" y="128"/>
                </a:lnTo>
                <a:cubicBezTo>
                  <a:pt x="0" y="172"/>
                  <a:pt x="100" y="208"/>
                  <a:pt x="224" y="208"/>
                </a:cubicBezTo>
                <a:cubicBezTo>
                  <a:pt x="348" y="208"/>
                  <a:pt x="448" y="172"/>
                  <a:pt x="448" y="128"/>
                </a:cubicBezTo>
                <a:close/>
              </a:path>
              <a:path w="448" h="512">
                <a:moveTo>
                  <a:pt x="399" y="390"/>
                </a:moveTo>
                <a:cubicBezTo>
                  <a:pt x="352" y="407"/>
                  <a:pt x="290" y="416"/>
                  <a:pt x="224" y="416"/>
                </a:cubicBezTo>
                <a:cubicBezTo>
                  <a:pt x="158" y="416"/>
                  <a:pt x="96" y="407"/>
                  <a:pt x="50" y="390"/>
                </a:cubicBezTo>
                <a:cubicBezTo>
                  <a:pt x="32" y="384"/>
                  <a:pt x="15" y="376"/>
                  <a:pt x="0" y="366"/>
                </a:cubicBezTo>
                <a:lnTo>
                  <a:pt x="0" y="432"/>
                </a:lnTo>
                <a:cubicBezTo>
                  <a:pt x="0" y="476"/>
                  <a:pt x="100" y="512"/>
                  <a:pt x="224" y="512"/>
                </a:cubicBezTo>
                <a:cubicBezTo>
                  <a:pt x="348" y="512"/>
                  <a:pt x="448" y="476"/>
                  <a:pt x="448" y="432"/>
                </a:cubicBezTo>
                <a:lnTo>
                  <a:pt x="448" y="366"/>
                </a:lnTo>
                <a:cubicBezTo>
                  <a:pt x="433" y="376"/>
                  <a:pt x="416" y="384"/>
                  <a:pt x="399" y="390"/>
                </a:cubicBezTo>
                <a:close/>
              </a:path>
            </a:pathLst>
          </a:custGeom>
          <a:solidFill>
            <a:srgbClr val="9AA1AC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122BB222-CA2A-2E03-25B7-955F11972F93}"/>
              </a:ext>
            </a:extLst>
          </p:cNvPr>
          <p:cNvSpPr txBox="1"/>
          <p:nvPr/>
        </p:nvSpPr>
        <p:spPr>
          <a:xfrm>
            <a:off x="6063413" y="2910445"/>
            <a:ext cx="672418" cy="211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700" noProof="1">
                <a:solidFill>
                  <a:srgbClr val="1F2430"/>
                </a:solidFill>
                <a:latin typeface="+mn-ea"/>
                <a:cs typeface="MiSans"/>
              </a:rPr>
              <a:t>源系统</a:t>
            </a:r>
            <a:endParaRPr lang="en-US" altLang="zh-CN" sz="700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313" name="aA-arrow1">
            <a:extLst>
              <a:ext uri="{FF2B5EF4-FFF2-40B4-BE49-F238E27FC236}">
                <a16:creationId xmlns:a16="http://schemas.microsoft.com/office/drawing/2014/main" id="{14E59350-CFD8-69B3-1897-FFF922AA42D0}"/>
              </a:ext>
            </a:extLst>
          </p:cNvPr>
          <p:cNvSpPr/>
          <p:nvPr/>
        </p:nvSpPr>
        <p:spPr>
          <a:xfrm>
            <a:off x="6565834" y="2729019"/>
            <a:ext cx="232431" cy="125155"/>
          </a:xfrm>
          <a:prstGeom prst="rightArrow">
            <a:avLst>
              <a:gd name="adj1" fmla="val 32000"/>
              <a:gd name="adj2" fmla="val 42000"/>
            </a:avLst>
          </a:prstGeom>
          <a:solidFill>
            <a:srgbClr val="0075A6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pic>
        <p:nvPicPr>
          <p:cNvPr id="314" name="Picture 313">
            <a:extLst>
              <a:ext uri="{FF2B5EF4-FFF2-40B4-BE49-F238E27FC236}">
                <a16:creationId xmlns:a16="http://schemas.microsoft.com/office/drawing/2014/main" id="{B5AE5FF1-6107-30C4-C79B-251381B09C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0861" y="2675577"/>
            <a:ext cx="422902" cy="177246"/>
          </a:xfrm>
          <a:prstGeom prst="rect">
            <a:avLst/>
          </a:prstGeom>
        </p:spPr>
      </p:pic>
      <p:sp>
        <p:nvSpPr>
          <p:cNvPr id="315" name="TextBox 314">
            <a:extLst>
              <a:ext uri="{FF2B5EF4-FFF2-40B4-BE49-F238E27FC236}">
                <a16:creationId xmlns:a16="http://schemas.microsoft.com/office/drawing/2014/main" id="{F10475F8-F119-8B1D-6DB9-8B903E7A581F}"/>
              </a:ext>
            </a:extLst>
          </p:cNvPr>
          <p:cNvSpPr txBox="1"/>
          <p:nvPr/>
        </p:nvSpPr>
        <p:spPr>
          <a:xfrm>
            <a:off x="6746103" y="2883026"/>
            <a:ext cx="6724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00">
                <a:latin typeface="+mn-ea"/>
              </a:rPr>
              <a:t>ICEBERG Lakehouse</a:t>
            </a:r>
          </a:p>
        </p:txBody>
      </p:sp>
      <p:sp>
        <p:nvSpPr>
          <p:cNvPr id="316" name="aA-arrow1">
            <a:extLst>
              <a:ext uri="{FF2B5EF4-FFF2-40B4-BE49-F238E27FC236}">
                <a16:creationId xmlns:a16="http://schemas.microsoft.com/office/drawing/2014/main" id="{CAB106DA-9780-3D28-E5CA-C793E4733CF8}"/>
              </a:ext>
            </a:extLst>
          </p:cNvPr>
          <p:cNvSpPr/>
          <p:nvPr/>
        </p:nvSpPr>
        <p:spPr>
          <a:xfrm>
            <a:off x="7420942" y="2729019"/>
            <a:ext cx="232431" cy="125155"/>
          </a:xfrm>
          <a:prstGeom prst="rightArrow">
            <a:avLst>
              <a:gd name="adj1" fmla="val 32000"/>
              <a:gd name="adj2" fmla="val 42000"/>
            </a:avLst>
          </a:prstGeom>
          <a:solidFill>
            <a:srgbClr val="0075A6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B43808FA-97E1-F9F3-4985-865C763E416A}"/>
              </a:ext>
            </a:extLst>
          </p:cNvPr>
          <p:cNvSpPr txBox="1"/>
          <p:nvPr/>
        </p:nvSpPr>
        <p:spPr>
          <a:xfrm>
            <a:off x="7555663" y="2883026"/>
            <a:ext cx="6724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00">
                <a:latin typeface="+mn-ea"/>
              </a:rPr>
              <a:t>Databricks</a:t>
            </a:r>
            <a:r>
              <a:rPr lang="zh-CN" altLang="en-US" sz="700">
                <a:latin typeface="+mn-ea"/>
              </a:rPr>
              <a:t>读写</a:t>
            </a:r>
            <a:endParaRPr lang="en-US" altLang="zh-CN" sz="700">
              <a:latin typeface="+mn-ea"/>
            </a:endParaRPr>
          </a:p>
        </p:txBody>
      </p:sp>
      <p:sp>
        <p:nvSpPr>
          <p:cNvPr id="318" name="TextBox 317">
            <a:extLst>
              <a:ext uri="{FF2B5EF4-FFF2-40B4-BE49-F238E27FC236}">
                <a16:creationId xmlns:a16="http://schemas.microsoft.com/office/drawing/2014/main" id="{9386A88F-893B-2889-931C-5CBFF06F172F}"/>
              </a:ext>
            </a:extLst>
          </p:cNvPr>
          <p:cNvSpPr txBox="1"/>
          <p:nvPr/>
        </p:nvSpPr>
        <p:spPr>
          <a:xfrm>
            <a:off x="8194276" y="2883026"/>
            <a:ext cx="6724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700">
                <a:latin typeface="+mn-ea"/>
              </a:rPr>
              <a:t>定制化开发页面</a:t>
            </a:r>
            <a:endParaRPr lang="en-US" altLang="zh-CN" sz="700">
              <a:latin typeface="+mn-ea"/>
            </a:endParaRPr>
          </a:p>
        </p:txBody>
      </p:sp>
      <p:pic>
        <p:nvPicPr>
          <p:cNvPr id="319" name="Picture 318">
            <a:extLst>
              <a:ext uri="{FF2B5EF4-FFF2-40B4-BE49-F238E27FC236}">
                <a16:creationId xmlns:a16="http://schemas.microsoft.com/office/drawing/2014/main" id="{704C527B-B02C-713B-0B3B-BCF4F38FDA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7337" y="2645175"/>
            <a:ext cx="351228" cy="265017"/>
          </a:xfrm>
          <a:prstGeom prst="rect">
            <a:avLst/>
          </a:prstGeom>
        </p:spPr>
      </p:pic>
      <p:grpSp>
        <p:nvGrpSpPr>
          <p:cNvPr id="320" name="Group 319">
            <a:extLst>
              <a:ext uri="{FF2B5EF4-FFF2-40B4-BE49-F238E27FC236}">
                <a16:creationId xmlns:a16="http://schemas.microsoft.com/office/drawing/2014/main" id="{6073AE7E-4A03-E7FA-0B46-A303787DFA7B}"/>
              </a:ext>
            </a:extLst>
          </p:cNvPr>
          <p:cNvGrpSpPr>
            <a:grpSpLocks noChangeAspect="1"/>
          </p:cNvGrpSpPr>
          <p:nvPr/>
        </p:nvGrpSpPr>
        <p:grpSpPr>
          <a:xfrm>
            <a:off x="7775656" y="2657988"/>
            <a:ext cx="232432" cy="251929"/>
            <a:chOff x="963716" y="2870308"/>
            <a:chExt cx="2070043" cy="2666114"/>
          </a:xfrm>
        </p:grpSpPr>
        <p:sp>
          <p:nvSpPr>
            <p:cNvPr id="321" name="Freeform: Shape 60">
              <a:extLst>
                <a:ext uri="{FF2B5EF4-FFF2-40B4-BE49-F238E27FC236}">
                  <a16:creationId xmlns:a16="http://schemas.microsoft.com/office/drawing/2014/main" id="{87C8A6EB-A6FD-DF81-551B-6B9882A8F754}"/>
                </a:ext>
              </a:extLst>
            </p:cNvPr>
            <p:cNvSpPr/>
            <p:nvPr/>
          </p:nvSpPr>
          <p:spPr>
            <a:xfrm>
              <a:off x="1226501" y="3378352"/>
              <a:ext cx="1565978" cy="1960211"/>
            </a:xfrm>
            <a:custGeom>
              <a:avLst/>
              <a:gdLst>
                <a:gd name="connsiteX0" fmla="*/ 43804 w 1544077"/>
                <a:gd name="connsiteY0" fmla="*/ 54755 h 1960211"/>
                <a:gd name="connsiteX1" fmla="*/ 744661 w 1544077"/>
                <a:gd name="connsiteY1" fmla="*/ 383282 h 1960211"/>
                <a:gd name="connsiteX2" fmla="*/ 1544077 w 1544077"/>
                <a:gd name="connsiteY2" fmla="*/ 0 h 1960211"/>
                <a:gd name="connsiteX3" fmla="*/ 1522175 w 1544077"/>
                <a:gd name="connsiteY3" fmla="*/ 1609782 h 1960211"/>
                <a:gd name="connsiteX4" fmla="*/ 733711 w 1544077"/>
                <a:gd name="connsiteY4" fmla="*/ 1960211 h 1960211"/>
                <a:gd name="connsiteX5" fmla="*/ 0 w 1544077"/>
                <a:gd name="connsiteY5" fmla="*/ 1598831 h 1960211"/>
                <a:gd name="connsiteX6" fmla="*/ 43804 w 1544077"/>
                <a:gd name="connsiteY6" fmla="*/ 54755 h 1960211"/>
                <a:gd name="connsiteX0" fmla="*/ 0 w 1565978"/>
                <a:gd name="connsiteY0" fmla="*/ 21902 h 1960211"/>
                <a:gd name="connsiteX1" fmla="*/ 766562 w 1565978"/>
                <a:gd name="connsiteY1" fmla="*/ 383282 h 1960211"/>
                <a:gd name="connsiteX2" fmla="*/ 1565978 w 1565978"/>
                <a:gd name="connsiteY2" fmla="*/ 0 h 1960211"/>
                <a:gd name="connsiteX3" fmla="*/ 1544076 w 1565978"/>
                <a:gd name="connsiteY3" fmla="*/ 1609782 h 1960211"/>
                <a:gd name="connsiteX4" fmla="*/ 755612 w 1565978"/>
                <a:gd name="connsiteY4" fmla="*/ 1960211 h 1960211"/>
                <a:gd name="connsiteX5" fmla="*/ 21901 w 1565978"/>
                <a:gd name="connsiteY5" fmla="*/ 1598831 h 1960211"/>
                <a:gd name="connsiteX6" fmla="*/ 0 w 1565978"/>
                <a:gd name="connsiteY6" fmla="*/ 21902 h 1960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65978" h="1960211">
                  <a:moveTo>
                    <a:pt x="0" y="21902"/>
                  </a:moveTo>
                  <a:lnTo>
                    <a:pt x="766562" y="383282"/>
                  </a:lnTo>
                  <a:lnTo>
                    <a:pt x="1565978" y="0"/>
                  </a:lnTo>
                  <a:lnTo>
                    <a:pt x="1544076" y="1609782"/>
                  </a:lnTo>
                  <a:lnTo>
                    <a:pt x="755612" y="1960211"/>
                  </a:lnTo>
                  <a:lnTo>
                    <a:pt x="21901" y="1598831"/>
                  </a:lnTo>
                  <a:lnTo>
                    <a:pt x="0" y="21902"/>
                  </a:lnTo>
                  <a:close/>
                </a:path>
              </a:pathLst>
            </a:custGeom>
            <a:solidFill>
              <a:srgbClr val="FFFFFF">
                <a:lumMod val="9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322" name="Group 321">
              <a:extLst>
                <a:ext uri="{FF2B5EF4-FFF2-40B4-BE49-F238E27FC236}">
                  <a16:creationId xmlns:a16="http://schemas.microsoft.com/office/drawing/2014/main" id="{27BF25AB-354E-5472-56FF-6689E2E3117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63716" y="2870308"/>
              <a:ext cx="2070043" cy="2666114"/>
              <a:chOff x="3635375" y="141288"/>
              <a:chExt cx="552450" cy="711529"/>
            </a:xfrm>
            <a:solidFill>
              <a:srgbClr val="000000"/>
            </a:solidFill>
          </p:grpSpPr>
          <p:sp>
            <p:nvSpPr>
              <p:cNvPr id="323" name="Freeform 14">
                <a:extLst>
                  <a:ext uri="{FF2B5EF4-FFF2-40B4-BE49-F238E27FC236}">
                    <a16:creationId xmlns:a16="http://schemas.microsoft.com/office/drawing/2014/main" id="{18A86A40-91E4-2AD7-8394-E935A90738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5375" y="141288"/>
                <a:ext cx="552450" cy="263525"/>
              </a:xfrm>
              <a:custGeom>
                <a:avLst/>
                <a:gdLst>
                  <a:gd name="T0" fmla="*/ 662 w 1393"/>
                  <a:gd name="T1" fmla="*/ 9 h 662"/>
                  <a:gd name="T2" fmla="*/ 15 w 1393"/>
                  <a:gd name="T3" fmla="*/ 310 h 662"/>
                  <a:gd name="T4" fmla="*/ 15 w 1393"/>
                  <a:gd name="T5" fmla="*/ 310 h 662"/>
                  <a:gd name="T6" fmla="*/ 9 w 1393"/>
                  <a:gd name="T7" fmla="*/ 315 h 662"/>
                  <a:gd name="T8" fmla="*/ 3 w 1393"/>
                  <a:gd name="T9" fmla="*/ 320 h 662"/>
                  <a:gd name="T10" fmla="*/ 1 w 1393"/>
                  <a:gd name="T11" fmla="*/ 326 h 662"/>
                  <a:gd name="T12" fmla="*/ 0 w 1393"/>
                  <a:gd name="T13" fmla="*/ 333 h 662"/>
                  <a:gd name="T14" fmla="*/ 1 w 1393"/>
                  <a:gd name="T15" fmla="*/ 340 h 662"/>
                  <a:gd name="T16" fmla="*/ 3 w 1393"/>
                  <a:gd name="T17" fmla="*/ 347 h 662"/>
                  <a:gd name="T18" fmla="*/ 9 w 1393"/>
                  <a:gd name="T19" fmla="*/ 352 h 662"/>
                  <a:gd name="T20" fmla="*/ 15 w 1393"/>
                  <a:gd name="T21" fmla="*/ 356 h 662"/>
                  <a:gd name="T22" fmla="*/ 666 w 1393"/>
                  <a:gd name="T23" fmla="*/ 656 h 662"/>
                  <a:gd name="T24" fmla="*/ 666 w 1393"/>
                  <a:gd name="T25" fmla="*/ 656 h 662"/>
                  <a:gd name="T26" fmla="*/ 673 w 1393"/>
                  <a:gd name="T27" fmla="*/ 658 h 662"/>
                  <a:gd name="T28" fmla="*/ 681 w 1393"/>
                  <a:gd name="T29" fmla="*/ 660 h 662"/>
                  <a:gd name="T30" fmla="*/ 689 w 1393"/>
                  <a:gd name="T31" fmla="*/ 662 h 662"/>
                  <a:gd name="T32" fmla="*/ 697 w 1393"/>
                  <a:gd name="T33" fmla="*/ 662 h 662"/>
                  <a:gd name="T34" fmla="*/ 704 w 1393"/>
                  <a:gd name="T35" fmla="*/ 662 h 662"/>
                  <a:gd name="T36" fmla="*/ 712 w 1393"/>
                  <a:gd name="T37" fmla="*/ 660 h 662"/>
                  <a:gd name="T38" fmla="*/ 719 w 1393"/>
                  <a:gd name="T39" fmla="*/ 658 h 662"/>
                  <a:gd name="T40" fmla="*/ 727 w 1393"/>
                  <a:gd name="T41" fmla="*/ 656 h 662"/>
                  <a:gd name="T42" fmla="*/ 1378 w 1393"/>
                  <a:gd name="T43" fmla="*/ 356 h 662"/>
                  <a:gd name="T44" fmla="*/ 1378 w 1393"/>
                  <a:gd name="T45" fmla="*/ 356 h 662"/>
                  <a:gd name="T46" fmla="*/ 1385 w 1393"/>
                  <a:gd name="T47" fmla="*/ 352 h 662"/>
                  <a:gd name="T48" fmla="*/ 1389 w 1393"/>
                  <a:gd name="T49" fmla="*/ 347 h 662"/>
                  <a:gd name="T50" fmla="*/ 1392 w 1393"/>
                  <a:gd name="T51" fmla="*/ 340 h 662"/>
                  <a:gd name="T52" fmla="*/ 1393 w 1393"/>
                  <a:gd name="T53" fmla="*/ 333 h 662"/>
                  <a:gd name="T54" fmla="*/ 1392 w 1393"/>
                  <a:gd name="T55" fmla="*/ 326 h 662"/>
                  <a:gd name="T56" fmla="*/ 1389 w 1393"/>
                  <a:gd name="T57" fmla="*/ 320 h 662"/>
                  <a:gd name="T58" fmla="*/ 1385 w 1393"/>
                  <a:gd name="T59" fmla="*/ 315 h 662"/>
                  <a:gd name="T60" fmla="*/ 1378 w 1393"/>
                  <a:gd name="T61" fmla="*/ 310 h 662"/>
                  <a:gd name="T62" fmla="*/ 732 w 1393"/>
                  <a:gd name="T63" fmla="*/ 9 h 662"/>
                  <a:gd name="T64" fmla="*/ 732 w 1393"/>
                  <a:gd name="T65" fmla="*/ 9 h 662"/>
                  <a:gd name="T66" fmla="*/ 723 w 1393"/>
                  <a:gd name="T67" fmla="*/ 5 h 662"/>
                  <a:gd name="T68" fmla="*/ 715 w 1393"/>
                  <a:gd name="T69" fmla="*/ 2 h 662"/>
                  <a:gd name="T70" fmla="*/ 705 w 1393"/>
                  <a:gd name="T71" fmla="*/ 1 h 662"/>
                  <a:gd name="T72" fmla="*/ 697 w 1393"/>
                  <a:gd name="T73" fmla="*/ 0 h 662"/>
                  <a:gd name="T74" fmla="*/ 687 w 1393"/>
                  <a:gd name="T75" fmla="*/ 1 h 662"/>
                  <a:gd name="T76" fmla="*/ 679 w 1393"/>
                  <a:gd name="T77" fmla="*/ 2 h 662"/>
                  <a:gd name="T78" fmla="*/ 670 w 1393"/>
                  <a:gd name="T79" fmla="*/ 5 h 662"/>
                  <a:gd name="T80" fmla="*/ 662 w 1393"/>
                  <a:gd name="T81" fmla="*/ 9 h 662"/>
                  <a:gd name="T82" fmla="*/ 662 w 1393"/>
                  <a:gd name="T83" fmla="*/ 9 h 6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393" h="662">
                    <a:moveTo>
                      <a:pt x="662" y="9"/>
                    </a:moveTo>
                    <a:lnTo>
                      <a:pt x="15" y="310"/>
                    </a:lnTo>
                    <a:lnTo>
                      <a:pt x="15" y="310"/>
                    </a:lnTo>
                    <a:lnTo>
                      <a:pt x="9" y="315"/>
                    </a:lnTo>
                    <a:lnTo>
                      <a:pt x="3" y="320"/>
                    </a:lnTo>
                    <a:lnTo>
                      <a:pt x="1" y="326"/>
                    </a:lnTo>
                    <a:lnTo>
                      <a:pt x="0" y="333"/>
                    </a:lnTo>
                    <a:lnTo>
                      <a:pt x="1" y="340"/>
                    </a:lnTo>
                    <a:lnTo>
                      <a:pt x="3" y="347"/>
                    </a:lnTo>
                    <a:lnTo>
                      <a:pt x="9" y="352"/>
                    </a:lnTo>
                    <a:lnTo>
                      <a:pt x="15" y="356"/>
                    </a:lnTo>
                    <a:lnTo>
                      <a:pt x="666" y="656"/>
                    </a:lnTo>
                    <a:lnTo>
                      <a:pt x="666" y="656"/>
                    </a:lnTo>
                    <a:lnTo>
                      <a:pt x="673" y="658"/>
                    </a:lnTo>
                    <a:lnTo>
                      <a:pt x="681" y="660"/>
                    </a:lnTo>
                    <a:lnTo>
                      <a:pt x="689" y="662"/>
                    </a:lnTo>
                    <a:lnTo>
                      <a:pt x="697" y="662"/>
                    </a:lnTo>
                    <a:lnTo>
                      <a:pt x="704" y="662"/>
                    </a:lnTo>
                    <a:lnTo>
                      <a:pt x="712" y="660"/>
                    </a:lnTo>
                    <a:lnTo>
                      <a:pt x="719" y="658"/>
                    </a:lnTo>
                    <a:lnTo>
                      <a:pt x="727" y="656"/>
                    </a:lnTo>
                    <a:lnTo>
                      <a:pt x="1378" y="356"/>
                    </a:lnTo>
                    <a:lnTo>
                      <a:pt x="1378" y="356"/>
                    </a:lnTo>
                    <a:lnTo>
                      <a:pt x="1385" y="352"/>
                    </a:lnTo>
                    <a:lnTo>
                      <a:pt x="1389" y="347"/>
                    </a:lnTo>
                    <a:lnTo>
                      <a:pt x="1392" y="340"/>
                    </a:lnTo>
                    <a:lnTo>
                      <a:pt x="1393" y="333"/>
                    </a:lnTo>
                    <a:lnTo>
                      <a:pt x="1392" y="326"/>
                    </a:lnTo>
                    <a:lnTo>
                      <a:pt x="1389" y="320"/>
                    </a:lnTo>
                    <a:lnTo>
                      <a:pt x="1385" y="315"/>
                    </a:lnTo>
                    <a:lnTo>
                      <a:pt x="1378" y="310"/>
                    </a:lnTo>
                    <a:lnTo>
                      <a:pt x="732" y="9"/>
                    </a:lnTo>
                    <a:lnTo>
                      <a:pt x="732" y="9"/>
                    </a:lnTo>
                    <a:lnTo>
                      <a:pt x="723" y="5"/>
                    </a:lnTo>
                    <a:lnTo>
                      <a:pt x="715" y="2"/>
                    </a:lnTo>
                    <a:lnTo>
                      <a:pt x="705" y="1"/>
                    </a:lnTo>
                    <a:lnTo>
                      <a:pt x="697" y="0"/>
                    </a:lnTo>
                    <a:lnTo>
                      <a:pt x="687" y="1"/>
                    </a:lnTo>
                    <a:lnTo>
                      <a:pt x="679" y="2"/>
                    </a:lnTo>
                    <a:lnTo>
                      <a:pt x="670" y="5"/>
                    </a:lnTo>
                    <a:lnTo>
                      <a:pt x="662" y="9"/>
                    </a:lnTo>
                    <a:lnTo>
                      <a:pt x="662" y="9"/>
                    </a:lnTo>
                    <a:close/>
                  </a:path>
                </a:pathLst>
              </a:custGeom>
              <a:gradFill>
                <a:gsLst>
                  <a:gs pos="0">
                    <a:srgbClr val="FFCF00"/>
                  </a:gs>
                  <a:gs pos="60000">
                    <a:srgbClr val="FFCF00">
                      <a:lumMod val="60000"/>
                      <a:lumOff val="40000"/>
                    </a:srgb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4" name="Freeform 15">
                <a:extLst>
                  <a:ext uri="{FF2B5EF4-FFF2-40B4-BE49-F238E27FC236}">
                    <a16:creationId xmlns:a16="http://schemas.microsoft.com/office/drawing/2014/main" id="{3572016B-6E83-AFBB-1D8F-A5450392DD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5375" y="390525"/>
                <a:ext cx="552450" cy="166687"/>
              </a:xfrm>
              <a:custGeom>
                <a:avLst/>
                <a:gdLst>
                  <a:gd name="T0" fmla="*/ 1378 w 1393"/>
                  <a:gd name="T1" fmla="*/ 69 h 421"/>
                  <a:gd name="T2" fmla="*/ 1245 w 1393"/>
                  <a:gd name="T3" fmla="*/ 8 h 421"/>
                  <a:gd name="T4" fmla="*/ 1245 w 1393"/>
                  <a:gd name="T5" fmla="*/ 8 h 421"/>
                  <a:gd name="T6" fmla="*/ 1237 w 1393"/>
                  <a:gd name="T7" fmla="*/ 4 h 421"/>
                  <a:gd name="T8" fmla="*/ 1230 w 1393"/>
                  <a:gd name="T9" fmla="*/ 2 h 421"/>
                  <a:gd name="T10" fmla="*/ 1223 w 1393"/>
                  <a:gd name="T11" fmla="*/ 1 h 421"/>
                  <a:gd name="T12" fmla="*/ 1214 w 1393"/>
                  <a:gd name="T13" fmla="*/ 0 h 421"/>
                  <a:gd name="T14" fmla="*/ 1207 w 1393"/>
                  <a:gd name="T15" fmla="*/ 1 h 421"/>
                  <a:gd name="T16" fmla="*/ 1199 w 1393"/>
                  <a:gd name="T17" fmla="*/ 2 h 421"/>
                  <a:gd name="T18" fmla="*/ 1192 w 1393"/>
                  <a:gd name="T19" fmla="*/ 4 h 421"/>
                  <a:gd name="T20" fmla="*/ 1184 w 1393"/>
                  <a:gd name="T21" fmla="*/ 8 h 421"/>
                  <a:gd name="T22" fmla="*/ 727 w 1393"/>
                  <a:gd name="T23" fmla="*/ 218 h 421"/>
                  <a:gd name="T24" fmla="*/ 727 w 1393"/>
                  <a:gd name="T25" fmla="*/ 218 h 421"/>
                  <a:gd name="T26" fmla="*/ 719 w 1393"/>
                  <a:gd name="T27" fmla="*/ 221 h 421"/>
                  <a:gd name="T28" fmla="*/ 712 w 1393"/>
                  <a:gd name="T29" fmla="*/ 222 h 421"/>
                  <a:gd name="T30" fmla="*/ 704 w 1393"/>
                  <a:gd name="T31" fmla="*/ 224 h 421"/>
                  <a:gd name="T32" fmla="*/ 697 w 1393"/>
                  <a:gd name="T33" fmla="*/ 224 h 421"/>
                  <a:gd name="T34" fmla="*/ 689 w 1393"/>
                  <a:gd name="T35" fmla="*/ 224 h 421"/>
                  <a:gd name="T36" fmla="*/ 681 w 1393"/>
                  <a:gd name="T37" fmla="*/ 222 h 421"/>
                  <a:gd name="T38" fmla="*/ 673 w 1393"/>
                  <a:gd name="T39" fmla="*/ 221 h 421"/>
                  <a:gd name="T40" fmla="*/ 666 w 1393"/>
                  <a:gd name="T41" fmla="*/ 218 h 421"/>
                  <a:gd name="T42" fmla="*/ 209 w 1393"/>
                  <a:gd name="T43" fmla="*/ 8 h 421"/>
                  <a:gd name="T44" fmla="*/ 209 w 1393"/>
                  <a:gd name="T45" fmla="*/ 8 h 421"/>
                  <a:gd name="T46" fmla="*/ 202 w 1393"/>
                  <a:gd name="T47" fmla="*/ 4 h 421"/>
                  <a:gd name="T48" fmla="*/ 194 w 1393"/>
                  <a:gd name="T49" fmla="*/ 2 h 421"/>
                  <a:gd name="T50" fmla="*/ 187 w 1393"/>
                  <a:gd name="T51" fmla="*/ 1 h 421"/>
                  <a:gd name="T52" fmla="*/ 178 w 1393"/>
                  <a:gd name="T53" fmla="*/ 0 h 421"/>
                  <a:gd name="T54" fmla="*/ 171 w 1393"/>
                  <a:gd name="T55" fmla="*/ 1 h 421"/>
                  <a:gd name="T56" fmla="*/ 163 w 1393"/>
                  <a:gd name="T57" fmla="*/ 2 h 421"/>
                  <a:gd name="T58" fmla="*/ 156 w 1393"/>
                  <a:gd name="T59" fmla="*/ 4 h 421"/>
                  <a:gd name="T60" fmla="*/ 149 w 1393"/>
                  <a:gd name="T61" fmla="*/ 8 h 421"/>
                  <a:gd name="T62" fmla="*/ 15 w 1393"/>
                  <a:gd name="T63" fmla="*/ 69 h 421"/>
                  <a:gd name="T64" fmla="*/ 15 w 1393"/>
                  <a:gd name="T65" fmla="*/ 69 h 421"/>
                  <a:gd name="T66" fmla="*/ 9 w 1393"/>
                  <a:gd name="T67" fmla="*/ 74 h 421"/>
                  <a:gd name="T68" fmla="*/ 3 w 1393"/>
                  <a:gd name="T69" fmla="*/ 79 h 421"/>
                  <a:gd name="T70" fmla="*/ 1 w 1393"/>
                  <a:gd name="T71" fmla="*/ 85 h 421"/>
                  <a:gd name="T72" fmla="*/ 0 w 1393"/>
                  <a:gd name="T73" fmla="*/ 93 h 421"/>
                  <a:gd name="T74" fmla="*/ 1 w 1393"/>
                  <a:gd name="T75" fmla="*/ 99 h 421"/>
                  <a:gd name="T76" fmla="*/ 3 w 1393"/>
                  <a:gd name="T77" fmla="*/ 106 h 421"/>
                  <a:gd name="T78" fmla="*/ 9 w 1393"/>
                  <a:gd name="T79" fmla="*/ 111 h 421"/>
                  <a:gd name="T80" fmla="*/ 15 w 1393"/>
                  <a:gd name="T81" fmla="*/ 115 h 421"/>
                  <a:gd name="T82" fmla="*/ 666 w 1393"/>
                  <a:gd name="T83" fmla="*/ 415 h 421"/>
                  <a:gd name="T84" fmla="*/ 666 w 1393"/>
                  <a:gd name="T85" fmla="*/ 415 h 421"/>
                  <a:gd name="T86" fmla="*/ 673 w 1393"/>
                  <a:gd name="T87" fmla="*/ 418 h 421"/>
                  <a:gd name="T88" fmla="*/ 681 w 1393"/>
                  <a:gd name="T89" fmla="*/ 420 h 421"/>
                  <a:gd name="T90" fmla="*/ 689 w 1393"/>
                  <a:gd name="T91" fmla="*/ 421 h 421"/>
                  <a:gd name="T92" fmla="*/ 697 w 1393"/>
                  <a:gd name="T93" fmla="*/ 421 h 421"/>
                  <a:gd name="T94" fmla="*/ 704 w 1393"/>
                  <a:gd name="T95" fmla="*/ 421 h 421"/>
                  <a:gd name="T96" fmla="*/ 712 w 1393"/>
                  <a:gd name="T97" fmla="*/ 420 h 421"/>
                  <a:gd name="T98" fmla="*/ 719 w 1393"/>
                  <a:gd name="T99" fmla="*/ 418 h 421"/>
                  <a:gd name="T100" fmla="*/ 727 w 1393"/>
                  <a:gd name="T101" fmla="*/ 415 h 421"/>
                  <a:gd name="T102" fmla="*/ 1378 w 1393"/>
                  <a:gd name="T103" fmla="*/ 115 h 421"/>
                  <a:gd name="T104" fmla="*/ 1378 w 1393"/>
                  <a:gd name="T105" fmla="*/ 115 h 421"/>
                  <a:gd name="T106" fmla="*/ 1385 w 1393"/>
                  <a:gd name="T107" fmla="*/ 111 h 421"/>
                  <a:gd name="T108" fmla="*/ 1389 w 1393"/>
                  <a:gd name="T109" fmla="*/ 106 h 421"/>
                  <a:gd name="T110" fmla="*/ 1392 w 1393"/>
                  <a:gd name="T111" fmla="*/ 99 h 421"/>
                  <a:gd name="T112" fmla="*/ 1393 w 1393"/>
                  <a:gd name="T113" fmla="*/ 93 h 421"/>
                  <a:gd name="T114" fmla="*/ 1392 w 1393"/>
                  <a:gd name="T115" fmla="*/ 85 h 421"/>
                  <a:gd name="T116" fmla="*/ 1389 w 1393"/>
                  <a:gd name="T117" fmla="*/ 79 h 421"/>
                  <a:gd name="T118" fmla="*/ 1385 w 1393"/>
                  <a:gd name="T119" fmla="*/ 74 h 421"/>
                  <a:gd name="T120" fmla="*/ 1378 w 1393"/>
                  <a:gd name="T121" fmla="*/ 69 h 421"/>
                  <a:gd name="T122" fmla="*/ 1378 w 1393"/>
                  <a:gd name="T123" fmla="*/ 69 h 4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393" h="421">
                    <a:moveTo>
                      <a:pt x="1378" y="69"/>
                    </a:moveTo>
                    <a:lnTo>
                      <a:pt x="1245" y="8"/>
                    </a:lnTo>
                    <a:lnTo>
                      <a:pt x="1245" y="8"/>
                    </a:lnTo>
                    <a:lnTo>
                      <a:pt x="1237" y="4"/>
                    </a:lnTo>
                    <a:lnTo>
                      <a:pt x="1230" y="2"/>
                    </a:lnTo>
                    <a:lnTo>
                      <a:pt x="1223" y="1"/>
                    </a:lnTo>
                    <a:lnTo>
                      <a:pt x="1214" y="0"/>
                    </a:lnTo>
                    <a:lnTo>
                      <a:pt x="1207" y="1"/>
                    </a:lnTo>
                    <a:lnTo>
                      <a:pt x="1199" y="2"/>
                    </a:lnTo>
                    <a:lnTo>
                      <a:pt x="1192" y="4"/>
                    </a:lnTo>
                    <a:lnTo>
                      <a:pt x="1184" y="8"/>
                    </a:lnTo>
                    <a:lnTo>
                      <a:pt x="727" y="218"/>
                    </a:lnTo>
                    <a:lnTo>
                      <a:pt x="727" y="218"/>
                    </a:lnTo>
                    <a:lnTo>
                      <a:pt x="719" y="221"/>
                    </a:lnTo>
                    <a:lnTo>
                      <a:pt x="712" y="222"/>
                    </a:lnTo>
                    <a:lnTo>
                      <a:pt x="704" y="224"/>
                    </a:lnTo>
                    <a:lnTo>
                      <a:pt x="697" y="224"/>
                    </a:lnTo>
                    <a:lnTo>
                      <a:pt x="689" y="224"/>
                    </a:lnTo>
                    <a:lnTo>
                      <a:pt x="681" y="222"/>
                    </a:lnTo>
                    <a:lnTo>
                      <a:pt x="673" y="221"/>
                    </a:lnTo>
                    <a:lnTo>
                      <a:pt x="666" y="218"/>
                    </a:lnTo>
                    <a:lnTo>
                      <a:pt x="209" y="8"/>
                    </a:lnTo>
                    <a:lnTo>
                      <a:pt x="209" y="8"/>
                    </a:lnTo>
                    <a:lnTo>
                      <a:pt x="202" y="4"/>
                    </a:lnTo>
                    <a:lnTo>
                      <a:pt x="194" y="2"/>
                    </a:lnTo>
                    <a:lnTo>
                      <a:pt x="187" y="1"/>
                    </a:lnTo>
                    <a:lnTo>
                      <a:pt x="178" y="0"/>
                    </a:lnTo>
                    <a:lnTo>
                      <a:pt x="171" y="1"/>
                    </a:lnTo>
                    <a:lnTo>
                      <a:pt x="163" y="2"/>
                    </a:lnTo>
                    <a:lnTo>
                      <a:pt x="156" y="4"/>
                    </a:lnTo>
                    <a:lnTo>
                      <a:pt x="149" y="8"/>
                    </a:lnTo>
                    <a:lnTo>
                      <a:pt x="15" y="69"/>
                    </a:lnTo>
                    <a:lnTo>
                      <a:pt x="15" y="69"/>
                    </a:lnTo>
                    <a:lnTo>
                      <a:pt x="9" y="74"/>
                    </a:lnTo>
                    <a:lnTo>
                      <a:pt x="3" y="79"/>
                    </a:lnTo>
                    <a:lnTo>
                      <a:pt x="1" y="85"/>
                    </a:lnTo>
                    <a:lnTo>
                      <a:pt x="0" y="93"/>
                    </a:lnTo>
                    <a:lnTo>
                      <a:pt x="1" y="99"/>
                    </a:lnTo>
                    <a:lnTo>
                      <a:pt x="3" y="106"/>
                    </a:lnTo>
                    <a:lnTo>
                      <a:pt x="9" y="111"/>
                    </a:lnTo>
                    <a:lnTo>
                      <a:pt x="15" y="115"/>
                    </a:lnTo>
                    <a:lnTo>
                      <a:pt x="666" y="415"/>
                    </a:lnTo>
                    <a:lnTo>
                      <a:pt x="666" y="415"/>
                    </a:lnTo>
                    <a:lnTo>
                      <a:pt x="673" y="418"/>
                    </a:lnTo>
                    <a:lnTo>
                      <a:pt x="681" y="420"/>
                    </a:lnTo>
                    <a:lnTo>
                      <a:pt x="689" y="421"/>
                    </a:lnTo>
                    <a:lnTo>
                      <a:pt x="697" y="421"/>
                    </a:lnTo>
                    <a:lnTo>
                      <a:pt x="704" y="421"/>
                    </a:lnTo>
                    <a:lnTo>
                      <a:pt x="712" y="420"/>
                    </a:lnTo>
                    <a:lnTo>
                      <a:pt x="719" y="418"/>
                    </a:lnTo>
                    <a:lnTo>
                      <a:pt x="727" y="415"/>
                    </a:lnTo>
                    <a:lnTo>
                      <a:pt x="1378" y="115"/>
                    </a:lnTo>
                    <a:lnTo>
                      <a:pt x="1378" y="115"/>
                    </a:lnTo>
                    <a:lnTo>
                      <a:pt x="1385" y="111"/>
                    </a:lnTo>
                    <a:lnTo>
                      <a:pt x="1389" y="106"/>
                    </a:lnTo>
                    <a:lnTo>
                      <a:pt x="1392" y="99"/>
                    </a:lnTo>
                    <a:lnTo>
                      <a:pt x="1393" y="93"/>
                    </a:lnTo>
                    <a:lnTo>
                      <a:pt x="1392" y="85"/>
                    </a:lnTo>
                    <a:lnTo>
                      <a:pt x="1389" y="79"/>
                    </a:lnTo>
                    <a:lnTo>
                      <a:pt x="1385" y="74"/>
                    </a:lnTo>
                    <a:lnTo>
                      <a:pt x="1378" y="69"/>
                    </a:lnTo>
                    <a:lnTo>
                      <a:pt x="1378" y="69"/>
                    </a:lnTo>
                    <a:close/>
                  </a:path>
                </a:pathLst>
              </a:custGeom>
              <a:gradFill>
                <a:gsLst>
                  <a:gs pos="0">
                    <a:srgbClr val="D01012"/>
                  </a:gs>
                  <a:gs pos="60000">
                    <a:srgbClr val="D01012">
                      <a:lumMod val="60000"/>
                      <a:lumOff val="40000"/>
                    </a:srgb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5" name="Freeform 16">
                <a:extLst>
                  <a:ext uri="{FF2B5EF4-FFF2-40B4-BE49-F238E27FC236}">
                    <a16:creationId xmlns:a16="http://schemas.microsoft.com/office/drawing/2014/main" id="{1C637127-BE09-FDE5-823B-AC990866F2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5375" y="542925"/>
                <a:ext cx="552450" cy="166687"/>
              </a:xfrm>
              <a:custGeom>
                <a:avLst/>
                <a:gdLst>
                  <a:gd name="T0" fmla="*/ 1378 w 1393"/>
                  <a:gd name="T1" fmla="*/ 68 h 420"/>
                  <a:gd name="T2" fmla="*/ 1245 w 1393"/>
                  <a:gd name="T3" fmla="*/ 7 h 420"/>
                  <a:gd name="T4" fmla="*/ 1245 w 1393"/>
                  <a:gd name="T5" fmla="*/ 7 h 420"/>
                  <a:gd name="T6" fmla="*/ 1237 w 1393"/>
                  <a:gd name="T7" fmla="*/ 3 h 420"/>
                  <a:gd name="T8" fmla="*/ 1230 w 1393"/>
                  <a:gd name="T9" fmla="*/ 1 h 420"/>
                  <a:gd name="T10" fmla="*/ 1223 w 1393"/>
                  <a:gd name="T11" fmla="*/ 0 h 420"/>
                  <a:gd name="T12" fmla="*/ 1214 w 1393"/>
                  <a:gd name="T13" fmla="*/ 0 h 420"/>
                  <a:gd name="T14" fmla="*/ 1207 w 1393"/>
                  <a:gd name="T15" fmla="*/ 0 h 420"/>
                  <a:gd name="T16" fmla="*/ 1199 w 1393"/>
                  <a:gd name="T17" fmla="*/ 1 h 420"/>
                  <a:gd name="T18" fmla="*/ 1192 w 1393"/>
                  <a:gd name="T19" fmla="*/ 3 h 420"/>
                  <a:gd name="T20" fmla="*/ 1184 w 1393"/>
                  <a:gd name="T21" fmla="*/ 7 h 420"/>
                  <a:gd name="T22" fmla="*/ 727 w 1393"/>
                  <a:gd name="T23" fmla="*/ 217 h 420"/>
                  <a:gd name="T24" fmla="*/ 727 w 1393"/>
                  <a:gd name="T25" fmla="*/ 217 h 420"/>
                  <a:gd name="T26" fmla="*/ 719 w 1393"/>
                  <a:gd name="T27" fmla="*/ 220 h 420"/>
                  <a:gd name="T28" fmla="*/ 712 w 1393"/>
                  <a:gd name="T29" fmla="*/ 222 h 420"/>
                  <a:gd name="T30" fmla="*/ 704 w 1393"/>
                  <a:gd name="T31" fmla="*/ 223 h 420"/>
                  <a:gd name="T32" fmla="*/ 697 w 1393"/>
                  <a:gd name="T33" fmla="*/ 223 h 420"/>
                  <a:gd name="T34" fmla="*/ 689 w 1393"/>
                  <a:gd name="T35" fmla="*/ 223 h 420"/>
                  <a:gd name="T36" fmla="*/ 681 w 1393"/>
                  <a:gd name="T37" fmla="*/ 222 h 420"/>
                  <a:gd name="T38" fmla="*/ 673 w 1393"/>
                  <a:gd name="T39" fmla="*/ 220 h 420"/>
                  <a:gd name="T40" fmla="*/ 666 w 1393"/>
                  <a:gd name="T41" fmla="*/ 217 h 420"/>
                  <a:gd name="T42" fmla="*/ 209 w 1393"/>
                  <a:gd name="T43" fmla="*/ 7 h 420"/>
                  <a:gd name="T44" fmla="*/ 209 w 1393"/>
                  <a:gd name="T45" fmla="*/ 7 h 420"/>
                  <a:gd name="T46" fmla="*/ 202 w 1393"/>
                  <a:gd name="T47" fmla="*/ 3 h 420"/>
                  <a:gd name="T48" fmla="*/ 194 w 1393"/>
                  <a:gd name="T49" fmla="*/ 1 h 420"/>
                  <a:gd name="T50" fmla="*/ 187 w 1393"/>
                  <a:gd name="T51" fmla="*/ 0 h 420"/>
                  <a:gd name="T52" fmla="*/ 178 w 1393"/>
                  <a:gd name="T53" fmla="*/ 0 h 420"/>
                  <a:gd name="T54" fmla="*/ 171 w 1393"/>
                  <a:gd name="T55" fmla="*/ 0 h 420"/>
                  <a:gd name="T56" fmla="*/ 163 w 1393"/>
                  <a:gd name="T57" fmla="*/ 1 h 420"/>
                  <a:gd name="T58" fmla="*/ 156 w 1393"/>
                  <a:gd name="T59" fmla="*/ 3 h 420"/>
                  <a:gd name="T60" fmla="*/ 149 w 1393"/>
                  <a:gd name="T61" fmla="*/ 7 h 420"/>
                  <a:gd name="T62" fmla="*/ 15 w 1393"/>
                  <a:gd name="T63" fmla="*/ 68 h 420"/>
                  <a:gd name="T64" fmla="*/ 15 w 1393"/>
                  <a:gd name="T65" fmla="*/ 68 h 420"/>
                  <a:gd name="T66" fmla="*/ 9 w 1393"/>
                  <a:gd name="T67" fmla="*/ 73 h 420"/>
                  <a:gd name="T68" fmla="*/ 3 w 1393"/>
                  <a:gd name="T69" fmla="*/ 79 h 420"/>
                  <a:gd name="T70" fmla="*/ 1 w 1393"/>
                  <a:gd name="T71" fmla="*/ 85 h 420"/>
                  <a:gd name="T72" fmla="*/ 0 w 1393"/>
                  <a:gd name="T73" fmla="*/ 92 h 420"/>
                  <a:gd name="T74" fmla="*/ 1 w 1393"/>
                  <a:gd name="T75" fmla="*/ 98 h 420"/>
                  <a:gd name="T76" fmla="*/ 3 w 1393"/>
                  <a:gd name="T77" fmla="*/ 105 h 420"/>
                  <a:gd name="T78" fmla="*/ 9 w 1393"/>
                  <a:gd name="T79" fmla="*/ 110 h 420"/>
                  <a:gd name="T80" fmla="*/ 15 w 1393"/>
                  <a:gd name="T81" fmla="*/ 114 h 420"/>
                  <a:gd name="T82" fmla="*/ 666 w 1393"/>
                  <a:gd name="T83" fmla="*/ 414 h 420"/>
                  <a:gd name="T84" fmla="*/ 666 w 1393"/>
                  <a:gd name="T85" fmla="*/ 414 h 420"/>
                  <a:gd name="T86" fmla="*/ 673 w 1393"/>
                  <a:gd name="T87" fmla="*/ 417 h 420"/>
                  <a:gd name="T88" fmla="*/ 681 w 1393"/>
                  <a:gd name="T89" fmla="*/ 419 h 420"/>
                  <a:gd name="T90" fmla="*/ 689 w 1393"/>
                  <a:gd name="T91" fmla="*/ 420 h 420"/>
                  <a:gd name="T92" fmla="*/ 697 w 1393"/>
                  <a:gd name="T93" fmla="*/ 420 h 420"/>
                  <a:gd name="T94" fmla="*/ 704 w 1393"/>
                  <a:gd name="T95" fmla="*/ 420 h 420"/>
                  <a:gd name="T96" fmla="*/ 712 w 1393"/>
                  <a:gd name="T97" fmla="*/ 419 h 420"/>
                  <a:gd name="T98" fmla="*/ 719 w 1393"/>
                  <a:gd name="T99" fmla="*/ 417 h 420"/>
                  <a:gd name="T100" fmla="*/ 727 w 1393"/>
                  <a:gd name="T101" fmla="*/ 414 h 420"/>
                  <a:gd name="T102" fmla="*/ 1378 w 1393"/>
                  <a:gd name="T103" fmla="*/ 114 h 420"/>
                  <a:gd name="T104" fmla="*/ 1378 w 1393"/>
                  <a:gd name="T105" fmla="*/ 114 h 420"/>
                  <a:gd name="T106" fmla="*/ 1385 w 1393"/>
                  <a:gd name="T107" fmla="*/ 110 h 420"/>
                  <a:gd name="T108" fmla="*/ 1389 w 1393"/>
                  <a:gd name="T109" fmla="*/ 105 h 420"/>
                  <a:gd name="T110" fmla="*/ 1392 w 1393"/>
                  <a:gd name="T111" fmla="*/ 98 h 420"/>
                  <a:gd name="T112" fmla="*/ 1393 w 1393"/>
                  <a:gd name="T113" fmla="*/ 92 h 420"/>
                  <a:gd name="T114" fmla="*/ 1392 w 1393"/>
                  <a:gd name="T115" fmla="*/ 85 h 420"/>
                  <a:gd name="T116" fmla="*/ 1389 w 1393"/>
                  <a:gd name="T117" fmla="*/ 79 h 420"/>
                  <a:gd name="T118" fmla="*/ 1385 w 1393"/>
                  <a:gd name="T119" fmla="*/ 73 h 420"/>
                  <a:gd name="T120" fmla="*/ 1378 w 1393"/>
                  <a:gd name="T121" fmla="*/ 68 h 420"/>
                  <a:gd name="T122" fmla="*/ 1378 w 1393"/>
                  <a:gd name="T123" fmla="*/ 68 h 4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393" h="420">
                    <a:moveTo>
                      <a:pt x="1378" y="68"/>
                    </a:moveTo>
                    <a:lnTo>
                      <a:pt x="1245" y="7"/>
                    </a:lnTo>
                    <a:lnTo>
                      <a:pt x="1245" y="7"/>
                    </a:lnTo>
                    <a:lnTo>
                      <a:pt x="1237" y="3"/>
                    </a:lnTo>
                    <a:lnTo>
                      <a:pt x="1230" y="1"/>
                    </a:lnTo>
                    <a:lnTo>
                      <a:pt x="1223" y="0"/>
                    </a:lnTo>
                    <a:lnTo>
                      <a:pt x="1214" y="0"/>
                    </a:lnTo>
                    <a:lnTo>
                      <a:pt x="1207" y="0"/>
                    </a:lnTo>
                    <a:lnTo>
                      <a:pt x="1199" y="1"/>
                    </a:lnTo>
                    <a:lnTo>
                      <a:pt x="1192" y="3"/>
                    </a:lnTo>
                    <a:lnTo>
                      <a:pt x="1184" y="7"/>
                    </a:lnTo>
                    <a:lnTo>
                      <a:pt x="727" y="217"/>
                    </a:lnTo>
                    <a:lnTo>
                      <a:pt x="727" y="217"/>
                    </a:lnTo>
                    <a:lnTo>
                      <a:pt x="719" y="220"/>
                    </a:lnTo>
                    <a:lnTo>
                      <a:pt x="712" y="222"/>
                    </a:lnTo>
                    <a:lnTo>
                      <a:pt x="704" y="223"/>
                    </a:lnTo>
                    <a:lnTo>
                      <a:pt x="697" y="223"/>
                    </a:lnTo>
                    <a:lnTo>
                      <a:pt x="689" y="223"/>
                    </a:lnTo>
                    <a:lnTo>
                      <a:pt x="681" y="222"/>
                    </a:lnTo>
                    <a:lnTo>
                      <a:pt x="673" y="220"/>
                    </a:lnTo>
                    <a:lnTo>
                      <a:pt x="666" y="217"/>
                    </a:lnTo>
                    <a:lnTo>
                      <a:pt x="209" y="7"/>
                    </a:lnTo>
                    <a:lnTo>
                      <a:pt x="209" y="7"/>
                    </a:lnTo>
                    <a:lnTo>
                      <a:pt x="202" y="3"/>
                    </a:lnTo>
                    <a:lnTo>
                      <a:pt x="194" y="1"/>
                    </a:lnTo>
                    <a:lnTo>
                      <a:pt x="187" y="0"/>
                    </a:lnTo>
                    <a:lnTo>
                      <a:pt x="178" y="0"/>
                    </a:lnTo>
                    <a:lnTo>
                      <a:pt x="171" y="0"/>
                    </a:lnTo>
                    <a:lnTo>
                      <a:pt x="163" y="1"/>
                    </a:lnTo>
                    <a:lnTo>
                      <a:pt x="156" y="3"/>
                    </a:lnTo>
                    <a:lnTo>
                      <a:pt x="149" y="7"/>
                    </a:lnTo>
                    <a:lnTo>
                      <a:pt x="15" y="68"/>
                    </a:lnTo>
                    <a:lnTo>
                      <a:pt x="15" y="68"/>
                    </a:lnTo>
                    <a:lnTo>
                      <a:pt x="9" y="73"/>
                    </a:lnTo>
                    <a:lnTo>
                      <a:pt x="3" y="79"/>
                    </a:lnTo>
                    <a:lnTo>
                      <a:pt x="1" y="85"/>
                    </a:lnTo>
                    <a:lnTo>
                      <a:pt x="0" y="92"/>
                    </a:lnTo>
                    <a:lnTo>
                      <a:pt x="1" y="98"/>
                    </a:lnTo>
                    <a:lnTo>
                      <a:pt x="3" y="105"/>
                    </a:lnTo>
                    <a:lnTo>
                      <a:pt x="9" y="110"/>
                    </a:lnTo>
                    <a:lnTo>
                      <a:pt x="15" y="114"/>
                    </a:lnTo>
                    <a:lnTo>
                      <a:pt x="666" y="414"/>
                    </a:lnTo>
                    <a:lnTo>
                      <a:pt x="666" y="414"/>
                    </a:lnTo>
                    <a:lnTo>
                      <a:pt x="673" y="417"/>
                    </a:lnTo>
                    <a:lnTo>
                      <a:pt x="681" y="419"/>
                    </a:lnTo>
                    <a:lnTo>
                      <a:pt x="689" y="420"/>
                    </a:lnTo>
                    <a:lnTo>
                      <a:pt x="697" y="420"/>
                    </a:lnTo>
                    <a:lnTo>
                      <a:pt x="704" y="420"/>
                    </a:lnTo>
                    <a:lnTo>
                      <a:pt x="712" y="419"/>
                    </a:lnTo>
                    <a:lnTo>
                      <a:pt x="719" y="417"/>
                    </a:lnTo>
                    <a:lnTo>
                      <a:pt x="727" y="414"/>
                    </a:lnTo>
                    <a:lnTo>
                      <a:pt x="1378" y="114"/>
                    </a:lnTo>
                    <a:lnTo>
                      <a:pt x="1378" y="114"/>
                    </a:lnTo>
                    <a:lnTo>
                      <a:pt x="1385" y="110"/>
                    </a:lnTo>
                    <a:lnTo>
                      <a:pt x="1389" y="105"/>
                    </a:lnTo>
                    <a:lnTo>
                      <a:pt x="1392" y="98"/>
                    </a:lnTo>
                    <a:lnTo>
                      <a:pt x="1393" y="92"/>
                    </a:lnTo>
                    <a:lnTo>
                      <a:pt x="1392" y="85"/>
                    </a:lnTo>
                    <a:lnTo>
                      <a:pt x="1389" y="79"/>
                    </a:lnTo>
                    <a:lnTo>
                      <a:pt x="1385" y="73"/>
                    </a:lnTo>
                    <a:lnTo>
                      <a:pt x="1378" y="68"/>
                    </a:lnTo>
                    <a:lnTo>
                      <a:pt x="1378" y="68"/>
                    </a:lnTo>
                    <a:close/>
                  </a:path>
                </a:pathLst>
              </a:custGeom>
              <a:gradFill>
                <a:gsLst>
                  <a:gs pos="0">
                    <a:srgbClr val="BEBEBE"/>
                  </a:gs>
                  <a:gs pos="60000">
                    <a:srgbClr val="BEBEBE">
                      <a:lumMod val="60000"/>
                      <a:lumOff val="40000"/>
                    </a:srgb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6" name="Freeform 16">
                <a:extLst>
                  <a:ext uri="{FF2B5EF4-FFF2-40B4-BE49-F238E27FC236}">
                    <a16:creationId xmlns:a16="http://schemas.microsoft.com/office/drawing/2014/main" id="{1CAFF5A9-05B5-A802-5566-4196E2E7BE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5375" y="686130"/>
                <a:ext cx="552450" cy="166687"/>
              </a:xfrm>
              <a:custGeom>
                <a:avLst/>
                <a:gdLst>
                  <a:gd name="T0" fmla="*/ 1378 w 1393"/>
                  <a:gd name="T1" fmla="*/ 68 h 420"/>
                  <a:gd name="T2" fmla="*/ 1245 w 1393"/>
                  <a:gd name="T3" fmla="*/ 7 h 420"/>
                  <a:gd name="T4" fmla="*/ 1245 w 1393"/>
                  <a:gd name="T5" fmla="*/ 7 h 420"/>
                  <a:gd name="T6" fmla="*/ 1237 w 1393"/>
                  <a:gd name="T7" fmla="*/ 3 h 420"/>
                  <a:gd name="T8" fmla="*/ 1230 w 1393"/>
                  <a:gd name="T9" fmla="*/ 1 h 420"/>
                  <a:gd name="T10" fmla="*/ 1223 w 1393"/>
                  <a:gd name="T11" fmla="*/ 0 h 420"/>
                  <a:gd name="T12" fmla="*/ 1214 w 1393"/>
                  <a:gd name="T13" fmla="*/ 0 h 420"/>
                  <a:gd name="T14" fmla="*/ 1207 w 1393"/>
                  <a:gd name="T15" fmla="*/ 0 h 420"/>
                  <a:gd name="T16" fmla="*/ 1199 w 1393"/>
                  <a:gd name="T17" fmla="*/ 1 h 420"/>
                  <a:gd name="T18" fmla="*/ 1192 w 1393"/>
                  <a:gd name="T19" fmla="*/ 3 h 420"/>
                  <a:gd name="T20" fmla="*/ 1184 w 1393"/>
                  <a:gd name="T21" fmla="*/ 7 h 420"/>
                  <a:gd name="T22" fmla="*/ 727 w 1393"/>
                  <a:gd name="T23" fmla="*/ 217 h 420"/>
                  <a:gd name="T24" fmla="*/ 727 w 1393"/>
                  <a:gd name="T25" fmla="*/ 217 h 420"/>
                  <a:gd name="T26" fmla="*/ 719 w 1393"/>
                  <a:gd name="T27" fmla="*/ 220 h 420"/>
                  <a:gd name="T28" fmla="*/ 712 w 1393"/>
                  <a:gd name="T29" fmla="*/ 222 h 420"/>
                  <a:gd name="T30" fmla="*/ 704 w 1393"/>
                  <a:gd name="T31" fmla="*/ 223 h 420"/>
                  <a:gd name="T32" fmla="*/ 697 w 1393"/>
                  <a:gd name="T33" fmla="*/ 223 h 420"/>
                  <a:gd name="T34" fmla="*/ 689 w 1393"/>
                  <a:gd name="T35" fmla="*/ 223 h 420"/>
                  <a:gd name="T36" fmla="*/ 681 w 1393"/>
                  <a:gd name="T37" fmla="*/ 222 h 420"/>
                  <a:gd name="T38" fmla="*/ 673 w 1393"/>
                  <a:gd name="T39" fmla="*/ 220 h 420"/>
                  <a:gd name="T40" fmla="*/ 666 w 1393"/>
                  <a:gd name="T41" fmla="*/ 217 h 420"/>
                  <a:gd name="T42" fmla="*/ 209 w 1393"/>
                  <a:gd name="T43" fmla="*/ 7 h 420"/>
                  <a:gd name="T44" fmla="*/ 209 w 1393"/>
                  <a:gd name="T45" fmla="*/ 7 h 420"/>
                  <a:gd name="T46" fmla="*/ 202 w 1393"/>
                  <a:gd name="T47" fmla="*/ 3 h 420"/>
                  <a:gd name="T48" fmla="*/ 194 w 1393"/>
                  <a:gd name="T49" fmla="*/ 1 h 420"/>
                  <a:gd name="T50" fmla="*/ 187 w 1393"/>
                  <a:gd name="T51" fmla="*/ 0 h 420"/>
                  <a:gd name="T52" fmla="*/ 178 w 1393"/>
                  <a:gd name="T53" fmla="*/ 0 h 420"/>
                  <a:gd name="T54" fmla="*/ 171 w 1393"/>
                  <a:gd name="T55" fmla="*/ 0 h 420"/>
                  <a:gd name="T56" fmla="*/ 163 w 1393"/>
                  <a:gd name="T57" fmla="*/ 1 h 420"/>
                  <a:gd name="T58" fmla="*/ 156 w 1393"/>
                  <a:gd name="T59" fmla="*/ 3 h 420"/>
                  <a:gd name="T60" fmla="*/ 149 w 1393"/>
                  <a:gd name="T61" fmla="*/ 7 h 420"/>
                  <a:gd name="T62" fmla="*/ 15 w 1393"/>
                  <a:gd name="T63" fmla="*/ 68 h 420"/>
                  <a:gd name="T64" fmla="*/ 15 w 1393"/>
                  <a:gd name="T65" fmla="*/ 68 h 420"/>
                  <a:gd name="T66" fmla="*/ 9 w 1393"/>
                  <a:gd name="T67" fmla="*/ 73 h 420"/>
                  <a:gd name="T68" fmla="*/ 3 w 1393"/>
                  <a:gd name="T69" fmla="*/ 79 h 420"/>
                  <a:gd name="T70" fmla="*/ 1 w 1393"/>
                  <a:gd name="T71" fmla="*/ 85 h 420"/>
                  <a:gd name="T72" fmla="*/ 0 w 1393"/>
                  <a:gd name="T73" fmla="*/ 92 h 420"/>
                  <a:gd name="T74" fmla="*/ 1 w 1393"/>
                  <a:gd name="T75" fmla="*/ 98 h 420"/>
                  <a:gd name="T76" fmla="*/ 3 w 1393"/>
                  <a:gd name="T77" fmla="*/ 105 h 420"/>
                  <a:gd name="T78" fmla="*/ 9 w 1393"/>
                  <a:gd name="T79" fmla="*/ 110 h 420"/>
                  <a:gd name="T80" fmla="*/ 15 w 1393"/>
                  <a:gd name="T81" fmla="*/ 114 h 420"/>
                  <a:gd name="T82" fmla="*/ 666 w 1393"/>
                  <a:gd name="T83" fmla="*/ 414 h 420"/>
                  <a:gd name="T84" fmla="*/ 666 w 1393"/>
                  <a:gd name="T85" fmla="*/ 414 h 420"/>
                  <a:gd name="T86" fmla="*/ 673 w 1393"/>
                  <a:gd name="T87" fmla="*/ 417 h 420"/>
                  <a:gd name="T88" fmla="*/ 681 w 1393"/>
                  <a:gd name="T89" fmla="*/ 419 h 420"/>
                  <a:gd name="T90" fmla="*/ 689 w 1393"/>
                  <a:gd name="T91" fmla="*/ 420 h 420"/>
                  <a:gd name="T92" fmla="*/ 697 w 1393"/>
                  <a:gd name="T93" fmla="*/ 420 h 420"/>
                  <a:gd name="T94" fmla="*/ 704 w 1393"/>
                  <a:gd name="T95" fmla="*/ 420 h 420"/>
                  <a:gd name="T96" fmla="*/ 712 w 1393"/>
                  <a:gd name="T97" fmla="*/ 419 h 420"/>
                  <a:gd name="T98" fmla="*/ 719 w 1393"/>
                  <a:gd name="T99" fmla="*/ 417 h 420"/>
                  <a:gd name="T100" fmla="*/ 727 w 1393"/>
                  <a:gd name="T101" fmla="*/ 414 h 420"/>
                  <a:gd name="T102" fmla="*/ 1378 w 1393"/>
                  <a:gd name="T103" fmla="*/ 114 h 420"/>
                  <a:gd name="T104" fmla="*/ 1378 w 1393"/>
                  <a:gd name="T105" fmla="*/ 114 h 420"/>
                  <a:gd name="T106" fmla="*/ 1385 w 1393"/>
                  <a:gd name="T107" fmla="*/ 110 h 420"/>
                  <a:gd name="T108" fmla="*/ 1389 w 1393"/>
                  <a:gd name="T109" fmla="*/ 105 h 420"/>
                  <a:gd name="T110" fmla="*/ 1392 w 1393"/>
                  <a:gd name="T111" fmla="*/ 98 h 420"/>
                  <a:gd name="T112" fmla="*/ 1393 w 1393"/>
                  <a:gd name="T113" fmla="*/ 92 h 420"/>
                  <a:gd name="T114" fmla="*/ 1392 w 1393"/>
                  <a:gd name="T115" fmla="*/ 85 h 420"/>
                  <a:gd name="T116" fmla="*/ 1389 w 1393"/>
                  <a:gd name="T117" fmla="*/ 79 h 420"/>
                  <a:gd name="T118" fmla="*/ 1385 w 1393"/>
                  <a:gd name="T119" fmla="*/ 73 h 420"/>
                  <a:gd name="T120" fmla="*/ 1378 w 1393"/>
                  <a:gd name="T121" fmla="*/ 68 h 420"/>
                  <a:gd name="T122" fmla="*/ 1378 w 1393"/>
                  <a:gd name="T123" fmla="*/ 68 h 4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393" h="420">
                    <a:moveTo>
                      <a:pt x="1378" y="68"/>
                    </a:moveTo>
                    <a:lnTo>
                      <a:pt x="1245" y="7"/>
                    </a:lnTo>
                    <a:lnTo>
                      <a:pt x="1245" y="7"/>
                    </a:lnTo>
                    <a:lnTo>
                      <a:pt x="1237" y="3"/>
                    </a:lnTo>
                    <a:lnTo>
                      <a:pt x="1230" y="1"/>
                    </a:lnTo>
                    <a:lnTo>
                      <a:pt x="1223" y="0"/>
                    </a:lnTo>
                    <a:lnTo>
                      <a:pt x="1214" y="0"/>
                    </a:lnTo>
                    <a:lnTo>
                      <a:pt x="1207" y="0"/>
                    </a:lnTo>
                    <a:lnTo>
                      <a:pt x="1199" y="1"/>
                    </a:lnTo>
                    <a:lnTo>
                      <a:pt x="1192" y="3"/>
                    </a:lnTo>
                    <a:lnTo>
                      <a:pt x="1184" y="7"/>
                    </a:lnTo>
                    <a:lnTo>
                      <a:pt x="727" y="217"/>
                    </a:lnTo>
                    <a:lnTo>
                      <a:pt x="727" y="217"/>
                    </a:lnTo>
                    <a:lnTo>
                      <a:pt x="719" y="220"/>
                    </a:lnTo>
                    <a:lnTo>
                      <a:pt x="712" y="222"/>
                    </a:lnTo>
                    <a:lnTo>
                      <a:pt x="704" y="223"/>
                    </a:lnTo>
                    <a:lnTo>
                      <a:pt x="697" y="223"/>
                    </a:lnTo>
                    <a:lnTo>
                      <a:pt x="689" y="223"/>
                    </a:lnTo>
                    <a:lnTo>
                      <a:pt x="681" y="222"/>
                    </a:lnTo>
                    <a:lnTo>
                      <a:pt x="673" y="220"/>
                    </a:lnTo>
                    <a:lnTo>
                      <a:pt x="666" y="217"/>
                    </a:lnTo>
                    <a:lnTo>
                      <a:pt x="209" y="7"/>
                    </a:lnTo>
                    <a:lnTo>
                      <a:pt x="209" y="7"/>
                    </a:lnTo>
                    <a:lnTo>
                      <a:pt x="202" y="3"/>
                    </a:lnTo>
                    <a:lnTo>
                      <a:pt x="194" y="1"/>
                    </a:lnTo>
                    <a:lnTo>
                      <a:pt x="187" y="0"/>
                    </a:lnTo>
                    <a:lnTo>
                      <a:pt x="178" y="0"/>
                    </a:lnTo>
                    <a:lnTo>
                      <a:pt x="171" y="0"/>
                    </a:lnTo>
                    <a:lnTo>
                      <a:pt x="163" y="1"/>
                    </a:lnTo>
                    <a:lnTo>
                      <a:pt x="156" y="3"/>
                    </a:lnTo>
                    <a:lnTo>
                      <a:pt x="149" y="7"/>
                    </a:lnTo>
                    <a:lnTo>
                      <a:pt x="15" y="68"/>
                    </a:lnTo>
                    <a:lnTo>
                      <a:pt x="15" y="68"/>
                    </a:lnTo>
                    <a:lnTo>
                      <a:pt x="9" y="73"/>
                    </a:lnTo>
                    <a:lnTo>
                      <a:pt x="3" y="79"/>
                    </a:lnTo>
                    <a:lnTo>
                      <a:pt x="1" y="85"/>
                    </a:lnTo>
                    <a:lnTo>
                      <a:pt x="0" y="92"/>
                    </a:lnTo>
                    <a:lnTo>
                      <a:pt x="1" y="98"/>
                    </a:lnTo>
                    <a:lnTo>
                      <a:pt x="3" y="105"/>
                    </a:lnTo>
                    <a:lnTo>
                      <a:pt x="9" y="110"/>
                    </a:lnTo>
                    <a:lnTo>
                      <a:pt x="15" y="114"/>
                    </a:lnTo>
                    <a:lnTo>
                      <a:pt x="666" y="414"/>
                    </a:lnTo>
                    <a:lnTo>
                      <a:pt x="666" y="414"/>
                    </a:lnTo>
                    <a:lnTo>
                      <a:pt x="673" y="417"/>
                    </a:lnTo>
                    <a:lnTo>
                      <a:pt x="681" y="419"/>
                    </a:lnTo>
                    <a:lnTo>
                      <a:pt x="689" y="420"/>
                    </a:lnTo>
                    <a:lnTo>
                      <a:pt x="697" y="420"/>
                    </a:lnTo>
                    <a:lnTo>
                      <a:pt x="704" y="420"/>
                    </a:lnTo>
                    <a:lnTo>
                      <a:pt x="712" y="419"/>
                    </a:lnTo>
                    <a:lnTo>
                      <a:pt x="719" y="417"/>
                    </a:lnTo>
                    <a:lnTo>
                      <a:pt x="727" y="414"/>
                    </a:lnTo>
                    <a:lnTo>
                      <a:pt x="1378" y="114"/>
                    </a:lnTo>
                    <a:lnTo>
                      <a:pt x="1378" y="114"/>
                    </a:lnTo>
                    <a:lnTo>
                      <a:pt x="1385" y="110"/>
                    </a:lnTo>
                    <a:lnTo>
                      <a:pt x="1389" y="105"/>
                    </a:lnTo>
                    <a:lnTo>
                      <a:pt x="1392" y="98"/>
                    </a:lnTo>
                    <a:lnTo>
                      <a:pt x="1393" y="92"/>
                    </a:lnTo>
                    <a:lnTo>
                      <a:pt x="1392" y="85"/>
                    </a:lnTo>
                    <a:lnTo>
                      <a:pt x="1389" y="79"/>
                    </a:lnTo>
                    <a:lnTo>
                      <a:pt x="1385" y="73"/>
                    </a:lnTo>
                    <a:lnTo>
                      <a:pt x="1378" y="68"/>
                    </a:lnTo>
                    <a:lnTo>
                      <a:pt x="1378" y="68"/>
                    </a:lnTo>
                    <a:close/>
                  </a:path>
                </a:pathLst>
              </a:custGeom>
              <a:gradFill>
                <a:gsLst>
                  <a:gs pos="0">
                    <a:srgbClr val="009D2F"/>
                  </a:gs>
                  <a:gs pos="60000">
                    <a:srgbClr val="009D2F">
                      <a:lumMod val="60000"/>
                      <a:lumOff val="40000"/>
                    </a:srgb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327" name="aA-arrow1">
            <a:extLst>
              <a:ext uri="{FF2B5EF4-FFF2-40B4-BE49-F238E27FC236}">
                <a16:creationId xmlns:a16="http://schemas.microsoft.com/office/drawing/2014/main" id="{20AF90F7-AEB7-4FDD-FC87-84EE5E6B13CF}"/>
              </a:ext>
            </a:extLst>
          </p:cNvPr>
          <p:cNvSpPr/>
          <p:nvPr/>
        </p:nvSpPr>
        <p:spPr>
          <a:xfrm>
            <a:off x="8057183" y="2729019"/>
            <a:ext cx="232431" cy="125155"/>
          </a:xfrm>
          <a:prstGeom prst="rightArrow">
            <a:avLst>
              <a:gd name="adj1" fmla="val 32000"/>
              <a:gd name="adj2" fmla="val 42000"/>
            </a:avLst>
          </a:prstGeom>
          <a:solidFill>
            <a:srgbClr val="0075A6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pic>
        <p:nvPicPr>
          <p:cNvPr id="331" name="Graphic 330">
            <a:extLst>
              <a:ext uri="{FF2B5EF4-FFF2-40B4-BE49-F238E27FC236}">
                <a16:creationId xmlns:a16="http://schemas.microsoft.com/office/drawing/2014/main" id="{335DE580-BAA2-5FA3-1C60-58C641B4A9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32561" y="1214703"/>
            <a:ext cx="414101" cy="414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060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95F06-14ED-DDDC-1572-2E9F574EB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C8955052-2EA0-825C-9CA0-1E8AC5484F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2921" y="266700"/>
            <a:ext cx="5241925" cy="261610"/>
          </a:xfrm>
        </p:spPr>
        <p:txBody>
          <a:bodyPr/>
          <a:lstStyle/>
          <a:p>
            <a:r>
              <a:rPr lang="en-US"/>
              <a:t>China RIMS Solution Proposal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2631547-A9F2-E10F-BB55-ACBEF98C5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China RIMS </a:t>
            </a:r>
            <a:r>
              <a:rPr lang="zh-CN" altLang="en-US"/>
              <a:t>技术架构评估框架</a:t>
            </a:r>
          </a:p>
        </p:txBody>
      </p:sp>
      <p:sp>
        <p:nvSpPr>
          <p:cNvPr id="4" name="collect-note">
            <a:extLst>
              <a:ext uri="{FF2B5EF4-FFF2-40B4-BE49-F238E27FC236}">
                <a16:creationId xmlns:a16="http://schemas.microsoft.com/office/drawing/2014/main" id="{B804EBCD-17F2-6FBA-C76C-EAD570CD219C}"/>
              </a:ext>
            </a:extLst>
          </p:cNvPr>
          <p:cNvSpPr>
            <a:spLocks noGrp="1"/>
          </p:cNvSpPr>
          <p:nvPr/>
        </p:nvSpPr>
        <p:spPr>
          <a:xfrm>
            <a:off x="819912" y="1001404"/>
            <a:ext cx="7504176" cy="2221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50" b="0">
                <a:solidFill>
                  <a:srgbClr val="607384"/>
                </a:solidFill>
              </a:defRPr>
            </a:pPr>
            <a:r>
              <a:rPr lang="zh-CN" altLang="en-US" sz="1000"/>
              <a:t>我们基于业务需求、合规要求与长期运营考虑，建立五大核心评估维度，综合衡量三种技术架构方案的适配度与可行性</a:t>
            </a:r>
            <a:endParaRPr sz="1000"/>
          </a:p>
        </p:txBody>
      </p:sp>
      <p:sp>
        <p:nvSpPr>
          <p:cNvPr id="170" name="c1">
            <a:extLst>
              <a:ext uri="{FF2B5EF4-FFF2-40B4-BE49-F238E27FC236}">
                <a16:creationId xmlns:a16="http://schemas.microsoft.com/office/drawing/2014/main" id="{0C471516-0A20-22F3-63C6-59556CCA9DF8}"/>
              </a:ext>
            </a:extLst>
          </p:cNvPr>
          <p:cNvSpPr/>
          <p:nvPr/>
        </p:nvSpPr>
        <p:spPr>
          <a:xfrm>
            <a:off x="308285" y="1621110"/>
            <a:ext cx="1660548" cy="28440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7E1F4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172" name="c1-badge">
            <a:extLst>
              <a:ext uri="{FF2B5EF4-FFF2-40B4-BE49-F238E27FC236}">
                <a16:creationId xmlns:a16="http://schemas.microsoft.com/office/drawing/2014/main" id="{AC14BA7A-2153-094F-0892-AB52681F863F}"/>
              </a:ext>
            </a:extLst>
          </p:cNvPr>
          <p:cNvSpPr/>
          <p:nvPr/>
        </p:nvSpPr>
        <p:spPr>
          <a:xfrm>
            <a:off x="400028" y="1666982"/>
            <a:ext cx="275229" cy="183486"/>
          </a:xfrm>
          <a:prstGeom prst="roundRect">
            <a:avLst>
              <a:gd name="adj" fmla="val 22000"/>
            </a:avLst>
          </a:prstGeom>
          <a:solidFill>
            <a:srgbClr val="0296D5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174" name="c1-badge-text">
            <a:extLst>
              <a:ext uri="{FF2B5EF4-FFF2-40B4-BE49-F238E27FC236}">
                <a16:creationId xmlns:a16="http://schemas.microsoft.com/office/drawing/2014/main" id="{38BC7A86-3B73-4814-4396-33988232B350}"/>
              </a:ext>
            </a:extLst>
          </p:cNvPr>
          <p:cNvSpPr txBox="1"/>
          <p:nvPr/>
        </p:nvSpPr>
        <p:spPr>
          <a:xfrm>
            <a:off x="400028" y="1666982"/>
            <a:ext cx="275229" cy="1834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788" b="1" noProof="1">
                <a:solidFill>
                  <a:srgbClr val="FFFFFF"/>
                </a:solidFill>
                <a:latin typeface="Calibri"/>
                <a:ea typeface="MiSans"/>
                <a:cs typeface="MiSans"/>
              </a:rPr>
              <a:t>01</a:t>
            </a:r>
            <a:endParaRPr lang="en-US" sz="788" noProof="1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grpSp>
        <p:nvGrpSpPr>
          <p:cNvPr id="327" name="Group 326">
            <a:extLst>
              <a:ext uri="{FF2B5EF4-FFF2-40B4-BE49-F238E27FC236}">
                <a16:creationId xmlns:a16="http://schemas.microsoft.com/office/drawing/2014/main" id="{3A05847D-A7BC-514F-141E-043B5190EC45}"/>
              </a:ext>
            </a:extLst>
          </p:cNvPr>
          <p:cNvGrpSpPr/>
          <p:nvPr/>
        </p:nvGrpSpPr>
        <p:grpSpPr>
          <a:xfrm>
            <a:off x="938996" y="1410057"/>
            <a:ext cx="399126" cy="399126"/>
            <a:chOff x="938996" y="1410057"/>
            <a:chExt cx="399126" cy="399126"/>
          </a:xfrm>
        </p:grpSpPr>
        <p:sp>
          <p:nvSpPr>
            <p:cNvPr id="176" name="c1-circle">
              <a:extLst>
                <a:ext uri="{FF2B5EF4-FFF2-40B4-BE49-F238E27FC236}">
                  <a16:creationId xmlns:a16="http://schemas.microsoft.com/office/drawing/2014/main" id="{2D70B0EF-E01A-5B56-993B-8D521A5488B7}"/>
                </a:ext>
              </a:extLst>
            </p:cNvPr>
            <p:cNvSpPr/>
            <p:nvPr/>
          </p:nvSpPr>
          <p:spPr>
            <a:xfrm>
              <a:off x="938996" y="1410057"/>
              <a:ext cx="399126" cy="399126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A5D7F5"/>
              </a:solidFill>
            </a:ln>
          </p:spPr>
          <p:txBody>
            <a:bodyPr/>
            <a:lstStyle/>
            <a:p>
              <a:pPr defTabSz="685800"/>
              <a:endParaRPr lang="zh-CN" altLang="en-US" sz="1350">
                <a:solidFill>
                  <a:srgbClr val="000000"/>
                </a:solidFill>
                <a:latin typeface="MiSans"/>
                <a:ea typeface="MiSans"/>
                <a:cs typeface="MiSans"/>
              </a:endParaRPr>
            </a:p>
          </p:txBody>
        </p:sp>
        <p:sp>
          <p:nvSpPr>
            <p:cNvPr id="178" name="c1-icon">
              <a:extLst>
                <a:ext uri="{FF2B5EF4-FFF2-40B4-BE49-F238E27FC236}">
                  <a16:creationId xmlns:a16="http://schemas.microsoft.com/office/drawing/2014/main" id="{498877E4-141D-071D-F4E6-63E5A4262361}"/>
                </a:ext>
              </a:extLst>
            </p:cNvPr>
            <p:cNvSpPr/>
            <p:nvPr>
              <p:extLst>
                <p:ext uri="{F5677B7D-0D2A-4D9B-9A5C-6D8D7D0E5A5D}">
  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eyJpY29uTmFtZSI6ImZhczpidWxsc2V5ZSJ9</pptd:icon>
                </p:ext>
              </p:extLst>
            </p:nvPr>
          </p:nvSpPr>
          <p:spPr>
            <a:xfrm>
              <a:off x="1000945" y="1472006"/>
              <a:ext cx="275229" cy="275229"/>
            </a:xfrm>
            <a:custGeom>
              <a:avLst/>
              <a:gdLst/>
              <a:ahLst/>
              <a:cxnLst/>
              <a:rect l="l" t="t" r="r" b="b"/>
              <a:pathLst>
                <a:path w="512" h="512">
                  <a:moveTo>
                    <a:pt x="0" y="256"/>
                  </a:moveTo>
                  <a:cubicBezTo>
                    <a:pt x="0" y="115"/>
                    <a:pt x="115" y="0"/>
                    <a:pt x="256" y="0"/>
                  </a:cubicBezTo>
                  <a:cubicBezTo>
                    <a:pt x="397" y="0"/>
                    <a:pt x="512" y="115"/>
                    <a:pt x="512" y="256"/>
                  </a:cubicBezTo>
                  <a:cubicBezTo>
                    <a:pt x="512" y="397"/>
                    <a:pt x="397" y="512"/>
                    <a:pt x="256" y="512"/>
                  </a:cubicBezTo>
                  <a:cubicBezTo>
                    <a:pt x="115" y="512"/>
                    <a:pt x="0" y="397"/>
                    <a:pt x="0" y="256"/>
                  </a:cubicBezTo>
                  <a:close/>
                  <a:moveTo>
                    <a:pt x="448" y="256"/>
                  </a:moveTo>
                  <a:cubicBezTo>
                    <a:pt x="448" y="150"/>
                    <a:pt x="362" y="64"/>
                    <a:pt x="256" y="64"/>
                  </a:cubicBezTo>
                  <a:cubicBezTo>
                    <a:pt x="150" y="64"/>
                    <a:pt x="64" y="150"/>
                    <a:pt x="64" y="256"/>
                  </a:cubicBezTo>
                  <a:cubicBezTo>
                    <a:pt x="64" y="362"/>
                    <a:pt x="150" y="448"/>
                    <a:pt x="256" y="448"/>
                  </a:cubicBezTo>
                  <a:cubicBezTo>
                    <a:pt x="362" y="448"/>
                    <a:pt x="448" y="362"/>
                    <a:pt x="448" y="256"/>
                  </a:cubicBezTo>
                  <a:close/>
                </a:path>
                <a:path w="512" h="512">
                  <a:moveTo>
                    <a:pt x="256" y="112"/>
                  </a:moveTo>
                  <a:cubicBezTo>
                    <a:pt x="336" y="112"/>
                    <a:pt x="400" y="176"/>
                    <a:pt x="400" y="256"/>
                  </a:cubicBezTo>
                  <a:cubicBezTo>
                    <a:pt x="400" y="336"/>
                    <a:pt x="336" y="400"/>
                    <a:pt x="256" y="400"/>
                  </a:cubicBezTo>
                  <a:cubicBezTo>
                    <a:pt x="176" y="400"/>
                    <a:pt x="112" y="336"/>
                    <a:pt x="112" y="256"/>
                  </a:cubicBezTo>
                  <a:cubicBezTo>
                    <a:pt x="112" y="176"/>
                    <a:pt x="176" y="112"/>
                    <a:pt x="256" y="112"/>
                  </a:cubicBezTo>
                  <a:close/>
                  <a:moveTo>
                    <a:pt x="256" y="336"/>
                  </a:moveTo>
                  <a:cubicBezTo>
                    <a:pt x="300" y="336"/>
                    <a:pt x="336" y="300"/>
                    <a:pt x="336" y="256"/>
                  </a:cubicBezTo>
                  <a:cubicBezTo>
                    <a:pt x="336" y="212"/>
                    <a:pt x="300" y="176"/>
                    <a:pt x="256" y="176"/>
                  </a:cubicBezTo>
                  <a:cubicBezTo>
                    <a:pt x="212" y="176"/>
                    <a:pt x="176" y="212"/>
                    <a:pt x="176" y="256"/>
                  </a:cubicBezTo>
                  <a:cubicBezTo>
                    <a:pt x="176" y="300"/>
                    <a:pt x="212" y="336"/>
                    <a:pt x="256" y="336"/>
                  </a:cubicBezTo>
                  <a:close/>
                </a:path>
                <a:path w="512" h="512">
                  <a:moveTo>
                    <a:pt x="224" y="256"/>
                  </a:moveTo>
                  <a:cubicBezTo>
                    <a:pt x="224" y="238"/>
                    <a:pt x="238" y="224"/>
                    <a:pt x="256" y="224"/>
                  </a:cubicBezTo>
                  <a:cubicBezTo>
                    <a:pt x="274" y="224"/>
                    <a:pt x="288" y="238"/>
                    <a:pt x="288" y="256"/>
                  </a:cubicBezTo>
                  <a:cubicBezTo>
                    <a:pt x="288" y="274"/>
                    <a:pt x="274" y="288"/>
                    <a:pt x="256" y="288"/>
                  </a:cubicBezTo>
                  <a:cubicBezTo>
                    <a:pt x="238" y="288"/>
                    <a:pt x="224" y="274"/>
                    <a:pt x="224" y="256"/>
                  </a:cubicBezTo>
                  <a:close/>
                </a:path>
              </a:pathLst>
            </a:custGeom>
            <a:solidFill>
              <a:srgbClr val="008ACB"/>
            </a:solidFill>
            <a:ln>
              <a:noFill/>
            </a:ln>
          </p:spPr>
          <p:txBody>
            <a:bodyPr/>
            <a:lstStyle/>
            <a:p>
              <a:pPr defTabSz="685800"/>
              <a:endParaRPr lang="zh-CN" altLang="en-US" sz="1350">
                <a:solidFill>
                  <a:srgbClr val="000000"/>
                </a:solidFill>
                <a:latin typeface="MiSans"/>
                <a:ea typeface="MiSans"/>
                <a:cs typeface="MiSans"/>
              </a:endParaRPr>
            </a:p>
          </p:txBody>
        </p:sp>
      </p:grpSp>
      <p:sp>
        <p:nvSpPr>
          <p:cNvPr id="180" name="c1-title">
            <a:extLst>
              <a:ext uri="{FF2B5EF4-FFF2-40B4-BE49-F238E27FC236}">
                <a16:creationId xmlns:a16="http://schemas.microsoft.com/office/drawing/2014/main" id="{F9F35B90-EC01-5628-A9A5-4191A6F1A3FD}"/>
              </a:ext>
            </a:extLst>
          </p:cNvPr>
          <p:cNvSpPr txBox="1"/>
          <p:nvPr/>
        </p:nvSpPr>
        <p:spPr>
          <a:xfrm>
            <a:off x="354156" y="1906943"/>
            <a:ext cx="1568805" cy="385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1200" b="1" noProof="1">
                <a:solidFill>
                  <a:srgbClr val="008ACB"/>
                </a:solidFill>
                <a:latin typeface="Calibri"/>
                <a:ea typeface="MiSans"/>
                <a:cs typeface="MiSans"/>
              </a:rPr>
              <a:t>业务能力与</a:t>
            </a:r>
            <a:endParaRPr lang="en-US" sz="1200" noProof="1">
              <a:solidFill>
                <a:srgbClr val="000000"/>
              </a:solidFill>
              <a:latin typeface="MiSans"/>
              <a:ea typeface="MiSans"/>
              <a:cs typeface="MiSans"/>
            </a:endParaRPr>
          </a:p>
          <a:p>
            <a:pPr algn="ctr" defTabSz="685800">
              <a:lnSpc>
                <a:spcPct val="140000"/>
              </a:lnSpc>
            </a:pPr>
            <a:r>
              <a:rPr lang="en-US" sz="1200" b="1" noProof="1">
                <a:solidFill>
                  <a:srgbClr val="008ACB"/>
                </a:solidFill>
                <a:latin typeface="Calibri"/>
                <a:ea typeface="MiSans"/>
                <a:cs typeface="MiSans"/>
              </a:rPr>
              <a:t>数据可用性</a:t>
            </a:r>
            <a:endParaRPr lang="en-US" sz="1200" noProof="1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182" name="c1-desc">
            <a:extLst>
              <a:ext uri="{FF2B5EF4-FFF2-40B4-BE49-F238E27FC236}">
                <a16:creationId xmlns:a16="http://schemas.microsoft.com/office/drawing/2014/main" id="{E8FEDA50-B9CE-073B-2B1C-70DBFDC92BB3}"/>
              </a:ext>
            </a:extLst>
          </p:cNvPr>
          <p:cNvSpPr txBox="1"/>
          <p:nvPr/>
        </p:nvSpPr>
        <p:spPr>
          <a:xfrm>
            <a:off x="400028" y="2383635"/>
            <a:ext cx="1477062" cy="42201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 defTabSz="685800">
              <a:lnSpc>
                <a:spcPct val="150000"/>
              </a:lnSpc>
            </a:pPr>
            <a:r>
              <a:rPr lang="en-US" sz="700" noProof="1">
                <a:latin typeface="Calibri (Body)"/>
                <a:ea typeface="MiSans"/>
                <a:cs typeface="MiSans"/>
              </a:rPr>
              <a:t>平台是否能够完整承接历史数据，并支持业务与审计人员高效访问与利用归档数据</a:t>
            </a:r>
          </a:p>
        </p:txBody>
      </p:sp>
      <p:sp>
        <p:nvSpPr>
          <p:cNvPr id="184" name="c1-divider">
            <a:extLst>
              <a:ext uri="{FF2B5EF4-FFF2-40B4-BE49-F238E27FC236}">
                <a16:creationId xmlns:a16="http://schemas.microsoft.com/office/drawing/2014/main" id="{84D332FF-4E66-28DE-5216-B40E26F9E4B2}"/>
              </a:ext>
            </a:extLst>
          </p:cNvPr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eyJ2aWV3Qm94IjpbMSwxXSwicG9pbnRzIjoiMCwwLjUgMSwwLjUifQ</pptd:line>
              </p:ext>
            </p:extLst>
          </p:nvPr>
        </p:nvSpPr>
        <p:spPr>
          <a:xfrm>
            <a:off x="400028" y="2870932"/>
            <a:ext cx="1477062" cy="18349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1"/>
                </a:moveTo>
                <a:lnTo>
                  <a:pt x="1" y="1"/>
                </a:lnTo>
              </a:path>
            </a:pathLst>
          </a:custGeom>
          <a:noFill/>
          <a:ln w="12700" cap="rnd">
            <a:solidFill>
              <a:srgbClr val="A5D7F5"/>
            </a:solidFill>
            <a:prstDash val="dash"/>
            <a:round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186" name="c1-i1-icon">
            <a:extLst>
              <a:ext uri="{FF2B5EF4-FFF2-40B4-BE49-F238E27FC236}">
                <a16:creationId xmlns:a16="http://schemas.microsoft.com/office/drawing/2014/main" id="{D75282C7-35EA-201B-9185-A4D0E142F230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eyJpY29uTmFtZSI6ImZhczpjaXJjbGUtY2hlY2sifQ</pptd:icon>
              </p:ext>
            </p:extLst>
          </p:nvPr>
        </p:nvSpPr>
        <p:spPr>
          <a:xfrm>
            <a:off x="427551" y="3035011"/>
            <a:ext cx="100917" cy="100917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>
            <a:srgbClr val="008ACB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188" name="c1-i1">
            <a:extLst>
              <a:ext uri="{FF2B5EF4-FFF2-40B4-BE49-F238E27FC236}">
                <a16:creationId xmlns:a16="http://schemas.microsoft.com/office/drawing/2014/main" id="{4F0BC822-3DF5-C0E9-5CFF-37315424691F}"/>
              </a:ext>
            </a:extLst>
          </p:cNvPr>
          <p:cNvSpPr txBox="1"/>
          <p:nvPr/>
        </p:nvSpPr>
        <p:spPr>
          <a:xfrm>
            <a:off x="583514" y="2998314"/>
            <a:ext cx="1357796" cy="27522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>
              <a:lnSpc>
                <a:spcPct val="135000"/>
              </a:lnSpc>
            </a:pPr>
            <a:r>
              <a:rPr lang="en-US" sz="713" b="1" noProof="1">
                <a:solidFill>
                  <a:srgbClr val="1F2430"/>
                </a:solidFill>
                <a:latin typeface="Calibri"/>
                <a:ea typeface="MiSans"/>
                <a:cs typeface="MiSans"/>
              </a:rPr>
              <a:t>全量数据可查性</a:t>
            </a:r>
            <a:endParaRPr lang="en-US" sz="713" noProof="1">
              <a:solidFill>
                <a:srgbClr val="000000"/>
              </a:solidFill>
              <a:latin typeface="MiSans"/>
              <a:ea typeface="MiSans"/>
              <a:cs typeface="MiSans"/>
            </a:endParaRPr>
          </a:p>
          <a:p>
            <a:pPr defTabSz="685800">
              <a:lnSpc>
                <a:spcPct val="135000"/>
              </a:lnSpc>
            </a:pPr>
            <a:r>
              <a:rPr lang="en-US" sz="600" noProof="1">
                <a:solidFill>
                  <a:srgbClr val="6B7280"/>
                </a:solidFill>
                <a:latin typeface="Calibri"/>
                <a:ea typeface="MiSans"/>
                <a:cs typeface="MiSans"/>
              </a:rPr>
              <a:t>（结构化数据）</a:t>
            </a:r>
            <a:endParaRPr lang="en-US" sz="713" noProof="1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190" name="c1-i2-icon">
            <a:extLst>
              <a:ext uri="{FF2B5EF4-FFF2-40B4-BE49-F238E27FC236}">
                <a16:creationId xmlns:a16="http://schemas.microsoft.com/office/drawing/2014/main" id="{A50ADF83-5BAD-0BBD-ECEB-AB579BB5DABF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eyJpY29uTmFtZSI6ImZhczpjaXJjbGUtY2hlY2sifQ</pptd:icon>
              </p:ext>
            </p:extLst>
          </p:nvPr>
        </p:nvSpPr>
        <p:spPr>
          <a:xfrm>
            <a:off x="427551" y="3457028"/>
            <a:ext cx="100917" cy="100917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>
            <a:srgbClr val="008ACB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192" name="c1-i2">
            <a:extLst>
              <a:ext uri="{FF2B5EF4-FFF2-40B4-BE49-F238E27FC236}">
                <a16:creationId xmlns:a16="http://schemas.microsoft.com/office/drawing/2014/main" id="{FF806977-07C7-BE22-F315-20C948592312}"/>
              </a:ext>
            </a:extLst>
          </p:cNvPr>
          <p:cNvSpPr txBox="1"/>
          <p:nvPr/>
        </p:nvSpPr>
        <p:spPr>
          <a:xfrm>
            <a:off x="583514" y="3420331"/>
            <a:ext cx="1357796" cy="27522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>
              <a:lnSpc>
                <a:spcPct val="135000"/>
              </a:lnSpc>
            </a:pPr>
            <a:r>
              <a:rPr lang="en-US" sz="713" b="1" noProof="1">
                <a:solidFill>
                  <a:srgbClr val="1F2430"/>
                </a:solidFill>
                <a:latin typeface="Calibri"/>
                <a:ea typeface="MiSans"/>
                <a:cs typeface="MiSans"/>
              </a:rPr>
              <a:t>查询与使用体验</a:t>
            </a:r>
            <a:endParaRPr lang="en-US" sz="713" noProof="1">
              <a:solidFill>
                <a:srgbClr val="000000"/>
              </a:solidFill>
              <a:latin typeface="MiSans"/>
              <a:ea typeface="MiSans"/>
              <a:cs typeface="MiSans"/>
            </a:endParaRPr>
          </a:p>
          <a:p>
            <a:pPr defTabSz="685800">
              <a:lnSpc>
                <a:spcPct val="135000"/>
              </a:lnSpc>
            </a:pPr>
            <a:r>
              <a:rPr lang="en-US" sz="600" noProof="1">
                <a:solidFill>
                  <a:srgbClr val="6B7280"/>
                </a:solidFill>
                <a:latin typeface="Calibri"/>
                <a:ea typeface="MiSans"/>
                <a:cs typeface="MiSans"/>
              </a:rPr>
              <a:t>（检索效率、易用性）</a:t>
            </a:r>
            <a:endParaRPr lang="en-US" sz="713" noProof="1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194" name="c1-i3-icon">
            <a:extLst>
              <a:ext uri="{FF2B5EF4-FFF2-40B4-BE49-F238E27FC236}">
                <a16:creationId xmlns:a16="http://schemas.microsoft.com/office/drawing/2014/main" id="{744197F0-AF87-032C-5112-E2CD2BB0AEDE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eyJpY29uTmFtZSI6ImZhczpjaXJjbGUtY2hlY2sifQ</pptd:icon>
              </p:ext>
            </p:extLst>
          </p:nvPr>
        </p:nvSpPr>
        <p:spPr>
          <a:xfrm>
            <a:off x="427551" y="3879046"/>
            <a:ext cx="100917" cy="100917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>
            <a:srgbClr val="008ACB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196" name="c1-i3">
            <a:extLst>
              <a:ext uri="{FF2B5EF4-FFF2-40B4-BE49-F238E27FC236}">
                <a16:creationId xmlns:a16="http://schemas.microsoft.com/office/drawing/2014/main" id="{54ABFC79-D637-A557-F879-7BCC09B77EC0}"/>
              </a:ext>
            </a:extLst>
          </p:cNvPr>
          <p:cNvSpPr txBox="1"/>
          <p:nvPr/>
        </p:nvSpPr>
        <p:spPr>
          <a:xfrm>
            <a:off x="583514" y="3842349"/>
            <a:ext cx="1357796" cy="27522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>
              <a:lnSpc>
                <a:spcPct val="135000"/>
              </a:lnSpc>
            </a:pPr>
            <a:r>
              <a:rPr lang="en-US" sz="713" b="1" noProof="1">
                <a:solidFill>
                  <a:srgbClr val="1F2430"/>
                </a:solidFill>
                <a:latin typeface="Calibri"/>
                <a:ea typeface="MiSans"/>
                <a:cs typeface="MiSans"/>
              </a:rPr>
              <a:t>多形态数据访问</a:t>
            </a:r>
            <a:endParaRPr lang="en-US" sz="713" noProof="1">
              <a:solidFill>
                <a:srgbClr val="000000"/>
              </a:solidFill>
              <a:latin typeface="MiSans"/>
              <a:ea typeface="MiSans"/>
              <a:cs typeface="MiSans"/>
            </a:endParaRPr>
          </a:p>
          <a:p>
            <a:pPr defTabSz="685800">
              <a:lnSpc>
                <a:spcPct val="135000"/>
              </a:lnSpc>
            </a:pPr>
            <a:r>
              <a:rPr lang="en-US" sz="600" noProof="1">
                <a:solidFill>
                  <a:srgbClr val="6B7280"/>
                </a:solidFill>
                <a:latin typeface="Calibri"/>
                <a:ea typeface="MiSans"/>
                <a:cs typeface="MiSans"/>
              </a:rPr>
              <a:t>（附件、文档等）</a:t>
            </a:r>
            <a:endParaRPr lang="en-US" sz="713" noProof="1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198" name="c2">
            <a:extLst>
              <a:ext uri="{FF2B5EF4-FFF2-40B4-BE49-F238E27FC236}">
                <a16:creationId xmlns:a16="http://schemas.microsoft.com/office/drawing/2014/main" id="{5E0204C4-7F13-E440-3277-6A5FC1A44A2F}"/>
              </a:ext>
            </a:extLst>
          </p:cNvPr>
          <p:cNvSpPr/>
          <p:nvPr/>
        </p:nvSpPr>
        <p:spPr>
          <a:xfrm>
            <a:off x="2036493" y="1621110"/>
            <a:ext cx="1660548" cy="28440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7E1F4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200" name="c2-badge">
            <a:extLst>
              <a:ext uri="{FF2B5EF4-FFF2-40B4-BE49-F238E27FC236}">
                <a16:creationId xmlns:a16="http://schemas.microsoft.com/office/drawing/2014/main" id="{A2BF04BF-DF7D-ECF9-1AE7-C22A25AE6212}"/>
              </a:ext>
            </a:extLst>
          </p:cNvPr>
          <p:cNvSpPr/>
          <p:nvPr/>
        </p:nvSpPr>
        <p:spPr>
          <a:xfrm>
            <a:off x="2128236" y="1666982"/>
            <a:ext cx="275229" cy="183486"/>
          </a:xfrm>
          <a:prstGeom prst="roundRect">
            <a:avLst>
              <a:gd name="adj" fmla="val 22000"/>
            </a:avLst>
          </a:prstGeom>
          <a:solidFill>
            <a:srgbClr val="0296D5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202" name="c2-badge-text">
            <a:extLst>
              <a:ext uri="{FF2B5EF4-FFF2-40B4-BE49-F238E27FC236}">
                <a16:creationId xmlns:a16="http://schemas.microsoft.com/office/drawing/2014/main" id="{1E71E41E-B147-C4E0-04DC-036AE28D88D0}"/>
              </a:ext>
            </a:extLst>
          </p:cNvPr>
          <p:cNvSpPr txBox="1"/>
          <p:nvPr/>
        </p:nvSpPr>
        <p:spPr>
          <a:xfrm>
            <a:off x="2128236" y="1666982"/>
            <a:ext cx="275229" cy="1834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788" b="1" noProof="1">
                <a:solidFill>
                  <a:srgbClr val="FFFFFF"/>
                </a:solidFill>
                <a:latin typeface="Calibri"/>
                <a:ea typeface="MiSans"/>
                <a:cs typeface="MiSans"/>
              </a:rPr>
              <a:t>02</a:t>
            </a:r>
            <a:endParaRPr lang="en-US" sz="788" noProof="1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grpSp>
        <p:nvGrpSpPr>
          <p:cNvPr id="328" name="Group 327">
            <a:extLst>
              <a:ext uri="{FF2B5EF4-FFF2-40B4-BE49-F238E27FC236}">
                <a16:creationId xmlns:a16="http://schemas.microsoft.com/office/drawing/2014/main" id="{BE9CA13E-2172-6967-9018-86D0FCA49C42}"/>
              </a:ext>
            </a:extLst>
          </p:cNvPr>
          <p:cNvGrpSpPr/>
          <p:nvPr/>
        </p:nvGrpSpPr>
        <p:grpSpPr>
          <a:xfrm>
            <a:off x="2666967" y="1409583"/>
            <a:ext cx="399600" cy="399600"/>
            <a:chOff x="2666967" y="1409583"/>
            <a:chExt cx="399600" cy="399600"/>
          </a:xfrm>
        </p:grpSpPr>
        <p:sp>
          <p:nvSpPr>
            <p:cNvPr id="204" name="c2-circle">
              <a:extLst>
                <a:ext uri="{FF2B5EF4-FFF2-40B4-BE49-F238E27FC236}">
                  <a16:creationId xmlns:a16="http://schemas.microsoft.com/office/drawing/2014/main" id="{BF2E9725-074A-A628-72C9-6AE921E25445}"/>
                </a:ext>
              </a:extLst>
            </p:cNvPr>
            <p:cNvSpPr/>
            <p:nvPr/>
          </p:nvSpPr>
          <p:spPr>
            <a:xfrm>
              <a:off x="2666967" y="1409583"/>
              <a:ext cx="399600" cy="3996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A5D7F5"/>
              </a:solidFill>
            </a:ln>
          </p:spPr>
          <p:txBody>
            <a:bodyPr/>
            <a:lstStyle/>
            <a:p>
              <a:pPr defTabSz="685800"/>
              <a:endParaRPr lang="zh-CN" altLang="en-US" sz="1350">
                <a:solidFill>
                  <a:srgbClr val="000000"/>
                </a:solidFill>
                <a:latin typeface="MiSans"/>
                <a:ea typeface="MiSans"/>
                <a:cs typeface="MiSans"/>
              </a:endParaRPr>
            </a:p>
          </p:txBody>
        </p:sp>
        <p:sp>
          <p:nvSpPr>
            <p:cNvPr id="206" name="c2-icon">
              <a:extLst>
                <a:ext uri="{FF2B5EF4-FFF2-40B4-BE49-F238E27FC236}">
                  <a16:creationId xmlns:a16="http://schemas.microsoft.com/office/drawing/2014/main" id="{F87DC112-EC55-2505-2B5C-B29119F0CFA1}"/>
                </a:ext>
              </a:extLst>
            </p:cNvPr>
            <p:cNvSpPr/>
            <p:nvPr>
              <p:extLst>
                <p:ext uri="{F5677B7D-0D2A-4D9B-9A5C-6D8D7D0E5A5D}">
  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eyJpY29uTmFtZSI6ImZhczpzaGllbGQtaGFsdmVkIn0</pptd:icon>
                </p:ext>
              </p:extLst>
            </p:nvPr>
          </p:nvSpPr>
          <p:spPr>
            <a:xfrm>
              <a:off x="2739390" y="1501385"/>
              <a:ext cx="239449" cy="239449"/>
            </a:xfrm>
            <a:custGeom>
              <a:avLst/>
              <a:gdLst/>
              <a:ahLst/>
              <a:cxnLst/>
              <a:rect l="l" t="t" r="r" b="b"/>
              <a:pathLst>
                <a:path w="512" h="512">
                  <a:moveTo>
                    <a:pt x="256" y="0"/>
                  </a:moveTo>
                  <a:cubicBezTo>
                    <a:pt x="261" y="0"/>
                    <a:pt x="265" y="1"/>
                    <a:pt x="269" y="3"/>
                  </a:cubicBezTo>
                  <a:lnTo>
                    <a:pt x="458" y="83"/>
                  </a:lnTo>
                  <a:cubicBezTo>
                    <a:pt x="480" y="92"/>
                    <a:pt x="496" y="114"/>
                    <a:pt x="496" y="140"/>
                  </a:cubicBezTo>
                  <a:cubicBezTo>
                    <a:pt x="496" y="239"/>
                    <a:pt x="455" y="421"/>
                    <a:pt x="283" y="503"/>
                  </a:cubicBezTo>
                  <a:cubicBezTo>
                    <a:pt x="266" y="511"/>
                    <a:pt x="246" y="511"/>
                    <a:pt x="230" y="503"/>
                  </a:cubicBezTo>
                  <a:cubicBezTo>
                    <a:pt x="57" y="421"/>
                    <a:pt x="17" y="239"/>
                    <a:pt x="16" y="140"/>
                  </a:cubicBezTo>
                  <a:cubicBezTo>
                    <a:pt x="16" y="114"/>
                    <a:pt x="32" y="92"/>
                    <a:pt x="54" y="83"/>
                  </a:cubicBezTo>
                  <a:lnTo>
                    <a:pt x="243" y="3"/>
                  </a:lnTo>
                  <a:cubicBezTo>
                    <a:pt x="247" y="1"/>
                    <a:pt x="251" y="0"/>
                    <a:pt x="256" y="0"/>
                  </a:cubicBezTo>
                  <a:close/>
                  <a:moveTo>
                    <a:pt x="256" y="67"/>
                  </a:moveTo>
                  <a:lnTo>
                    <a:pt x="256" y="445"/>
                  </a:lnTo>
                  <a:cubicBezTo>
                    <a:pt x="394" y="378"/>
                    <a:pt x="431" y="230"/>
                    <a:pt x="432" y="142"/>
                  </a:cubicBezTo>
                  <a:lnTo>
                    <a:pt x="256" y="67"/>
                  </a:lnTo>
                  <a:lnTo>
                    <a:pt x="256" y="67"/>
                  </a:lnTo>
                  <a:close/>
                </a:path>
              </a:pathLst>
            </a:custGeom>
            <a:solidFill>
              <a:srgbClr val="008ACB"/>
            </a:solidFill>
            <a:ln>
              <a:noFill/>
            </a:ln>
          </p:spPr>
          <p:txBody>
            <a:bodyPr/>
            <a:lstStyle/>
            <a:p>
              <a:pPr defTabSz="685800"/>
              <a:endParaRPr lang="zh-CN" altLang="en-US" sz="1350">
                <a:solidFill>
                  <a:srgbClr val="000000"/>
                </a:solidFill>
                <a:latin typeface="MiSans"/>
                <a:ea typeface="MiSans"/>
                <a:cs typeface="MiSans"/>
              </a:endParaRPr>
            </a:p>
          </p:txBody>
        </p:sp>
      </p:grpSp>
      <p:sp>
        <p:nvSpPr>
          <p:cNvPr id="208" name="c2-title">
            <a:extLst>
              <a:ext uri="{FF2B5EF4-FFF2-40B4-BE49-F238E27FC236}">
                <a16:creationId xmlns:a16="http://schemas.microsoft.com/office/drawing/2014/main" id="{541EC790-6C44-A1B5-C6A7-0B13C03D37E0}"/>
              </a:ext>
            </a:extLst>
          </p:cNvPr>
          <p:cNvSpPr txBox="1"/>
          <p:nvPr/>
        </p:nvSpPr>
        <p:spPr>
          <a:xfrm>
            <a:off x="2082364" y="1906943"/>
            <a:ext cx="1568805" cy="385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1200" b="1" noProof="1">
                <a:solidFill>
                  <a:srgbClr val="008ACB"/>
                </a:solidFill>
                <a:latin typeface="Calibri"/>
                <a:ea typeface="MiSans"/>
                <a:cs typeface="MiSans"/>
              </a:rPr>
              <a:t>安全、治理与</a:t>
            </a:r>
            <a:endParaRPr lang="en-US" sz="1200" noProof="1">
              <a:solidFill>
                <a:srgbClr val="000000"/>
              </a:solidFill>
              <a:latin typeface="MiSans"/>
              <a:ea typeface="MiSans"/>
              <a:cs typeface="MiSans"/>
            </a:endParaRPr>
          </a:p>
          <a:p>
            <a:pPr algn="ctr" defTabSz="685800"/>
            <a:r>
              <a:rPr lang="en-US" sz="1200" b="1" noProof="1">
                <a:solidFill>
                  <a:srgbClr val="008ACB"/>
                </a:solidFill>
                <a:latin typeface="Calibri"/>
                <a:ea typeface="MiSans"/>
                <a:cs typeface="MiSans"/>
              </a:rPr>
              <a:t>合规</a:t>
            </a:r>
            <a:endParaRPr lang="en-US" sz="1200" noProof="1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210" name="c2-desc">
            <a:extLst>
              <a:ext uri="{FF2B5EF4-FFF2-40B4-BE49-F238E27FC236}">
                <a16:creationId xmlns:a16="http://schemas.microsoft.com/office/drawing/2014/main" id="{4DBD6665-7B4D-CF2B-2FD9-2A7ACF91C04F}"/>
              </a:ext>
            </a:extLst>
          </p:cNvPr>
          <p:cNvSpPr txBox="1"/>
          <p:nvPr/>
        </p:nvSpPr>
        <p:spPr>
          <a:xfrm>
            <a:off x="2128236" y="2383635"/>
            <a:ext cx="1477062" cy="42201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 defTabSz="685800">
              <a:lnSpc>
                <a:spcPct val="150000"/>
              </a:lnSpc>
            </a:pPr>
            <a:r>
              <a:rPr lang="en-US" sz="700" noProof="1">
                <a:latin typeface="Calibri (Body)"/>
                <a:ea typeface="MiSans"/>
                <a:cs typeface="MiSans"/>
              </a:rPr>
              <a:t>平台是否具备满足企业与监管要求的数据保护、访问控制、审计追踪及生命周期治理能力</a:t>
            </a:r>
          </a:p>
        </p:txBody>
      </p:sp>
      <p:sp>
        <p:nvSpPr>
          <p:cNvPr id="212" name="c2-divider">
            <a:extLst>
              <a:ext uri="{FF2B5EF4-FFF2-40B4-BE49-F238E27FC236}">
                <a16:creationId xmlns:a16="http://schemas.microsoft.com/office/drawing/2014/main" id="{B05B3449-18B5-A4DB-4D5B-6205B9723EC9}"/>
              </a:ext>
            </a:extLst>
          </p:cNvPr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eyJ2aWV3Qm94IjpbMSwxXSwicG9pbnRzIjoiMCwwLjUgMSwwLjUifQ</pptd:line>
              </p:ext>
            </p:extLst>
          </p:nvPr>
        </p:nvSpPr>
        <p:spPr>
          <a:xfrm>
            <a:off x="2128236" y="2870932"/>
            <a:ext cx="1477062" cy="18349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1"/>
                </a:moveTo>
                <a:lnTo>
                  <a:pt x="1" y="1"/>
                </a:lnTo>
              </a:path>
            </a:pathLst>
          </a:custGeom>
          <a:noFill/>
          <a:ln w="12700" cap="rnd">
            <a:solidFill>
              <a:srgbClr val="A5D7F5"/>
            </a:solidFill>
            <a:prstDash val="dash"/>
            <a:round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214" name="c2-i1-icon">
            <a:extLst>
              <a:ext uri="{FF2B5EF4-FFF2-40B4-BE49-F238E27FC236}">
                <a16:creationId xmlns:a16="http://schemas.microsoft.com/office/drawing/2014/main" id="{6E6E8B6B-2250-1506-D0AF-5998FEFC06EB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eyJpY29uTmFtZSI6ImZhczpjaXJjbGUtY2hlY2sifQ</pptd:icon>
              </p:ext>
            </p:extLst>
          </p:nvPr>
        </p:nvSpPr>
        <p:spPr>
          <a:xfrm>
            <a:off x="2155759" y="3035011"/>
            <a:ext cx="100917" cy="100917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>
            <a:srgbClr val="008ACB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216" name="c2-i1">
            <a:extLst>
              <a:ext uri="{FF2B5EF4-FFF2-40B4-BE49-F238E27FC236}">
                <a16:creationId xmlns:a16="http://schemas.microsoft.com/office/drawing/2014/main" id="{032D3168-664A-1BA3-D0A9-2F6AEFADF300}"/>
              </a:ext>
            </a:extLst>
          </p:cNvPr>
          <p:cNvSpPr txBox="1"/>
          <p:nvPr/>
        </p:nvSpPr>
        <p:spPr>
          <a:xfrm>
            <a:off x="2311722" y="2998314"/>
            <a:ext cx="1357796" cy="27522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>
              <a:lnSpc>
                <a:spcPct val="135000"/>
              </a:lnSpc>
            </a:pPr>
            <a:r>
              <a:rPr lang="en-US" sz="713" b="1" noProof="1">
                <a:solidFill>
                  <a:srgbClr val="1F2430"/>
                </a:solidFill>
                <a:latin typeface="Calibri"/>
                <a:ea typeface="MiSans"/>
                <a:cs typeface="MiSans"/>
              </a:rPr>
              <a:t>权限与访问控制</a:t>
            </a:r>
            <a:endParaRPr lang="en-US" sz="713" noProof="1">
              <a:solidFill>
                <a:srgbClr val="000000"/>
              </a:solidFill>
              <a:latin typeface="MiSans"/>
              <a:ea typeface="MiSans"/>
              <a:cs typeface="MiSans"/>
            </a:endParaRPr>
          </a:p>
          <a:p>
            <a:pPr defTabSz="685800">
              <a:lnSpc>
                <a:spcPct val="135000"/>
              </a:lnSpc>
            </a:pPr>
            <a:r>
              <a:rPr lang="en-US" sz="600" noProof="1">
                <a:solidFill>
                  <a:srgbClr val="6B7280"/>
                </a:solidFill>
                <a:latin typeface="Calibri"/>
                <a:ea typeface="MiSans"/>
                <a:cs typeface="MiSans"/>
              </a:rPr>
              <a:t>（系统/表/页面）</a:t>
            </a:r>
            <a:endParaRPr lang="en-US" sz="713" noProof="1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218" name="c2-i2-icon">
            <a:extLst>
              <a:ext uri="{FF2B5EF4-FFF2-40B4-BE49-F238E27FC236}">
                <a16:creationId xmlns:a16="http://schemas.microsoft.com/office/drawing/2014/main" id="{D319AA6D-3720-DFC2-8A3B-A6AF5B735231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eyJpY29uTmFtZSI6ImZhczpjaXJjbGUtY2hlY2sifQ</pptd:icon>
              </p:ext>
            </p:extLst>
          </p:nvPr>
        </p:nvSpPr>
        <p:spPr>
          <a:xfrm>
            <a:off x="2155759" y="3383634"/>
            <a:ext cx="100917" cy="100917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>
            <a:srgbClr val="008ACB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220" name="c2-i2">
            <a:extLst>
              <a:ext uri="{FF2B5EF4-FFF2-40B4-BE49-F238E27FC236}">
                <a16:creationId xmlns:a16="http://schemas.microsoft.com/office/drawing/2014/main" id="{92DBB41D-9E9B-CE68-9ABB-EAA8D3190E94}"/>
              </a:ext>
            </a:extLst>
          </p:cNvPr>
          <p:cNvSpPr txBox="1"/>
          <p:nvPr/>
        </p:nvSpPr>
        <p:spPr>
          <a:xfrm>
            <a:off x="2311722" y="3346937"/>
            <a:ext cx="1357796" cy="27522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>
              <a:lnSpc>
                <a:spcPct val="135000"/>
              </a:lnSpc>
            </a:pPr>
            <a:r>
              <a:rPr lang="en-US" sz="713" b="1" noProof="1">
                <a:solidFill>
                  <a:srgbClr val="1F2430"/>
                </a:solidFill>
                <a:latin typeface="Calibri"/>
                <a:ea typeface="MiSans"/>
                <a:cs typeface="MiSans"/>
              </a:rPr>
              <a:t>数据保护与隐私</a:t>
            </a:r>
            <a:endParaRPr lang="en-US" sz="713" noProof="1">
              <a:solidFill>
                <a:srgbClr val="000000"/>
              </a:solidFill>
              <a:latin typeface="MiSans"/>
              <a:ea typeface="MiSans"/>
              <a:cs typeface="MiSans"/>
            </a:endParaRPr>
          </a:p>
          <a:p>
            <a:pPr defTabSz="685800">
              <a:lnSpc>
                <a:spcPct val="135000"/>
              </a:lnSpc>
            </a:pPr>
            <a:r>
              <a:rPr lang="en-US" sz="600" noProof="1">
                <a:solidFill>
                  <a:srgbClr val="6B7280"/>
                </a:solidFill>
                <a:latin typeface="Calibri"/>
                <a:ea typeface="MiSans"/>
                <a:cs typeface="MiSans"/>
              </a:rPr>
              <a:t>（加密、脱敏、密钥管理）</a:t>
            </a:r>
            <a:endParaRPr lang="en-US" sz="713" noProof="1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222" name="c2-i3-icon">
            <a:extLst>
              <a:ext uri="{FF2B5EF4-FFF2-40B4-BE49-F238E27FC236}">
                <a16:creationId xmlns:a16="http://schemas.microsoft.com/office/drawing/2014/main" id="{7D40B826-7752-33D6-6E8C-56FFD05E4B09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eyJpY29uTmFtZSI6ImZhczpjaXJjbGUtY2hlY2sifQ</pptd:icon>
              </p:ext>
            </p:extLst>
          </p:nvPr>
        </p:nvSpPr>
        <p:spPr>
          <a:xfrm>
            <a:off x="2155759" y="3732257"/>
            <a:ext cx="100917" cy="100917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>
            <a:srgbClr val="008ACB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224" name="c2-i3">
            <a:extLst>
              <a:ext uri="{FF2B5EF4-FFF2-40B4-BE49-F238E27FC236}">
                <a16:creationId xmlns:a16="http://schemas.microsoft.com/office/drawing/2014/main" id="{CC672FE9-1975-22AD-11A5-3060A5930AEE}"/>
              </a:ext>
            </a:extLst>
          </p:cNvPr>
          <p:cNvSpPr txBox="1"/>
          <p:nvPr/>
        </p:nvSpPr>
        <p:spPr>
          <a:xfrm>
            <a:off x="2311722" y="3695560"/>
            <a:ext cx="1357796" cy="27522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>
              <a:lnSpc>
                <a:spcPct val="135000"/>
              </a:lnSpc>
            </a:pPr>
            <a:r>
              <a:rPr lang="en-US" sz="713" b="1" noProof="1">
                <a:solidFill>
                  <a:srgbClr val="1F2430"/>
                </a:solidFill>
                <a:latin typeface="Calibri"/>
                <a:ea typeface="MiSans"/>
                <a:cs typeface="MiSans"/>
              </a:rPr>
              <a:t>审计与追踪</a:t>
            </a:r>
            <a:endParaRPr lang="en-US" sz="713" noProof="1">
              <a:solidFill>
                <a:srgbClr val="000000"/>
              </a:solidFill>
              <a:latin typeface="MiSans"/>
              <a:ea typeface="MiSans"/>
              <a:cs typeface="MiSans"/>
            </a:endParaRPr>
          </a:p>
          <a:p>
            <a:pPr defTabSz="685800">
              <a:lnSpc>
                <a:spcPct val="135000"/>
              </a:lnSpc>
            </a:pPr>
            <a:r>
              <a:rPr lang="en-US" sz="600" noProof="1">
                <a:solidFill>
                  <a:srgbClr val="6B7280"/>
                </a:solidFill>
                <a:latin typeface="Calibri"/>
                <a:ea typeface="MiSans"/>
                <a:cs typeface="MiSans"/>
              </a:rPr>
              <a:t>（日志、审计举证）</a:t>
            </a:r>
            <a:endParaRPr lang="en-US" sz="713" noProof="1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226" name="c2-i4-icon">
            <a:extLst>
              <a:ext uri="{FF2B5EF4-FFF2-40B4-BE49-F238E27FC236}">
                <a16:creationId xmlns:a16="http://schemas.microsoft.com/office/drawing/2014/main" id="{B0749988-7C6F-A65B-0D5E-E2B26B64D4F6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eyJpY29uTmFtZSI6ImZhczpjaXJjbGUtY2hlY2sifQ</pptd:icon>
              </p:ext>
            </p:extLst>
          </p:nvPr>
        </p:nvSpPr>
        <p:spPr>
          <a:xfrm>
            <a:off x="2155759" y="4080880"/>
            <a:ext cx="100917" cy="100917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>
            <a:srgbClr val="008ACB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228" name="c2-i4">
            <a:extLst>
              <a:ext uri="{FF2B5EF4-FFF2-40B4-BE49-F238E27FC236}">
                <a16:creationId xmlns:a16="http://schemas.microsoft.com/office/drawing/2014/main" id="{73C7813B-8629-12A1-DF25-ABC16ED2075C}"/>
              </a:ext>
            </a:extLst>
          </p:cNvPr>
          <p:cNvSpPr txBox="1"/>
          <p:nvPr/>
        </p:nvSpPr>
        <p:spPr>
          <a:xfrm>
            <a:off x="2311722" y="4044183"/>
            <a:ext cx="1357796" cy="27522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>
              <a:lnSpc>
                <a:spcPct val="135000"/>
              </a:lnSpc>
            </a:pPr>
            <a:r>
              <a:rPr lang="en-US" sz="713" b="1" noProof="1">
                <a:solidFill>
                  <a:srgbClr val="1F2430"/>
                </a:solidFill>
                <a:latin typeface="Calibri"/>
                <a:ea typeface="MiSans"/>
                <a:cs typeface="MiSans"/>
              </a:rPr>
              <a:t>生命周期与合规</a:t>
            </a:r>
            <a:endParaRPr lang="en-US" sz="713" noProof="1">
              <a:solidFill>
                <a:srgbClr val="000000"/>
              </a:solidFill>
              <a:latin typeface="MiSans"/>
              <a:ea typeface="MiSans"/>
              <a:cs typeface="MiSans"/>
            </a:endParaRPr>
          </a:p>
          <a:p>
            <a:pPr defTabSz="685800">
              <a:lnSpc>
                <a:spcPct val="135000"/>
              </a:lnSpc>
            </a:pPr>
            <a:r>
              <a:rPr lang="en-US" sz="600" noProof="1">
                <a:solidFill>
                  <a:srgbClr val="6B7280"/>
                </a:solidFill>
                <a:latin typeface="Calibri"/>
                <a:ea typeface="MiSans"/>
                <a:cs typeface="MiSans"/>
              </a:rPr>
              <a:t>（过期删除、销毁管理）</a:t>
            </a:r>
            <a:endParaRPr lang="en-US" sz="713" noProof="1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230" name="c3">
            <a:extLst>
              <a:ext uri="{FF2B5EF4-FFF2-40B4-BE49-F238E27FC236}">
                <a16:creationId xmlns:a16="http://schemas.microsoft.com/office/drawing/2014/main" id="{6F273E1B-6F78-BA83-4291-BF8CB33844D1}"/>
              </a:ext>
            </a:extLst>
          </p:cNvPr>
          <p:cNvSpPr/>
          <p:nvPr/>
        </p:nvSpPr>
        <p:spPr>
          <a:xfrm>
            <a:off x="3764701" y="1621110"/>
            <a:ext cx="1660548" cy="28440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7E1F4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232" name="c3-badge">
            <a:extLst>
              <a:ext uri="{FF2B5EF4-FFF2-40B4-BE49-F238E27FC236}">
                <a16:creationId xmlns:a16="http://schemas.microsoft.com/office/drawing/2014/main" id="{B654DA1E-BD34-9635-37C0-40B47D2A4EAA}"/>
              </a:ext>
            </a:extLst>
          </p:cNvPr>
          <p:cNvSpPr/>
          <p:nvPr/>
        </p:nvSpPr>
        <p:spPr>
          <a:xfrm>
            <a:off x="3856444" y="1666982"/>
            <a:ext cx="275229" cy="183486"/>
          </a:xfrm>
          <a:prstGeom prst="roundRect">
            <a:avLst>
              <a:gd name="adj" fmla="val 22000"/>
            </a:avLst>
          </a:prstGeom>
          <a:solidFill>
            <a:srgbClr val="0296D5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234" name="c3-badge-text">
            <a:extLst>
              <a:ext uri="{FF2B5EF4-FFF2-40B4-BE49-F238E27FC236}">
                <a16:creationId xmlns:a16="http://schemas.microsoft.com/office/drawing/2014/main" id="{9092EF39-7592-90FB-423F-523F27EC8CF1}"/>
              </a:ext>
            </a:extLst>
          </p:cNvPr>
          <p:cNvSpPr txBox="1"/>
          <p:nvPr/>
        </p:nvSpPr>
        <p:spPr>
          <a:xfrm>
            <a:off x="3856444" y="1666982"/>
            <a:ext cx="275229" cy="1834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788" b="1" noProof="1">
                <a:solidFill>
                  <a:srgbClr val="FFFFFF"/>
                </a:solidFill>
                <a:latin typeface="Calibri"/>
                <a:ea typeface="MiSans"/>
                <a:cs typeface="MiSans"/>
              </a:rPr>
              <a:t>03</a:t>
            </a:r>
            <a:endParaRPr lang="en-US" sz="788" noProof="1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grpSp>
        <p:nvGrpSpPr>
          <p:cNvPr id="329" name="Group 328">
            <a:extLst>
              <a:ext uri="{FF2B5EF4-FFF2-40B4-BE49-F238E27FC236}">
                <a16:creationId xmlns:a16="http://schemas.microsoft.com/office/drawing/2014/main" id="{571B3B6F-100D-2810-96A4-DA780DE0B7A0}"/>
              </a:ext>
            </a:extLst>
          </p:cNvPr>
          <p:cNvGrpSpPr/>
          <p:nvPr/>
        </p:nvGrpSpPr>
        <p:grpSpPr>
          <a:xfrm>
            <a:off x="4395175" y="1409583"/>
            <a:ext cx="399600" cy="399600"/>
            <a:chOff x="4395175" y="1409583"/>
            <a:chExt cx="399600" cy="399600"/>
          </a:xfrm>
        </p:grpSpPr>
        <p:sp>
          <p:nvSpPr>
            <p:cNvPr id="236" name="c3-circle">
              <a:extLst>
                <a:ext uri="{FF2B5EF4-FFF2-40B4-BE49-F238E27FC236}">
                  <a16:creationId xmlns:a16="http://schemas.microsoft.com/office/drawing/2014/main" id="{D862D5C1-A7AE-D297-8E75-00F9B2D45A18}"/>
                </a:ext>
              </a:extLst>
            </p:cNvPr>
            <p:cNvSpPr/>
            <p:nvPr/>
          </p:nvSpPr>
          <p:spPr>
            <a:xfrm>
              <a:off x="4395175" y="1409583"/>
              <a:ext cx="399600" cy="3996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A5D7F5"/>
              </a:solidFill>
            </a:ln>
          </p:spPr>
          <p:txBody>
            <a:bodyPr/>
            <a:lstStyle/>
            <a:p>
              <a:pPr defTabSz="685800"/>
              <a:endParaRPr lang="zh-CN" altLang="en-US" sz="1350">
                <a:solidFill>
                  <a:srgbClr val="000000"/>
                </a:solidFill>
                <a:latin typeface="MiSans"/>
                <a:ea typeface="MiSans"/>
                <a:cs typeface="MiSans"/>
              </a:endParaRPr>
            </a:p>
          </p:txBody>
        </p:sp>
        <p:sp>
          <p:nvSpPr>
            <p:cNvPr id="238" name="c3-icon">
              <a:extLst>
                <a:ext uri="{FF2B5EF4-FFF2-40B4-BE49-F238E27FC236}">
                  <a16:creationId xmlns:a16="http://schemas.microsoft.com/office/drawing/2014/main" id="{1A081CBC-DC8A-95E6-9B88-2A3E2BB83774}"/>
                </a:ext>
              </a:extLst>
            </p:cNvPr>
            <p:cNvSpPr/>
            <p:nvPr>
              <p:extLst>
                <p:ext uri="{F5677B7D-0D2A-4D9B-9A5C-6D8D7D0E5A5D}">
  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eyJpY29uTmFtZSI6ImZhczpnYXVnZS1oaWdoIn0</pptd:icon>
                </p:ext>
              </p:extLst>
            </p:nvPr>
          </p:nvSpPr>
          <p:spPr>
            <a:xfrm>
              <a:off x="4452773" y="1471768"/>
              <a:ext cx="275229" cy="275229"/>
            </a:xfrm>
            <a:custGeom>
              <a:avLst/>
              <a:gdLst/>
              <a:ahLst/>
              <a:cxnLst/>
              <a:rect l="l" t="t" r="r" b="b"/>
              <a:pathLst>
                <a:path w="512" h="512">
                  <a:moveTo>
                    <a:pt x="0" y="256"/>
                  </a:moveTo>
                  <a:cubicBezTo>
                    <a:pt x="0" y="115"/>
                    <a:pt x="115" y="0"/>
                    <a:pt x="256" y="0"/>
                  </a:cubicBezTo>
                  <a:cubicBezTo>
                    <a:pt x="397" y="0"/>
                    <a:pt x="512" y="115"/>
                    <a:pt x="512" y="256"/>
                  </a:cubicBezTo>
                  <a:cubicBezTo>
                    <a:pt x="512" y="397"/>
                    <a:pt x="397" y="512"/>
                    <a:pt x="256" y="512"/>
                  </a:cubicBezTo>
                  <a:cubicBezTo>
                    <a:pt x="115" y="512"/>
                    <a:pt x="0" y="397"/>
                    <a:pt x="0" y="256"/>
                  </a:cubicBezTo>
                  <a:close/>
                  <a:moveTo>
                    <a:pt x="288" y="96"/>
                  </a:moveTo>
                  <a:cubicBezTo>
                    <a:pt x="288" y="78"/>
                    <a:pt x="274" y="64"/>
                    <a:pt x="256" y="64"/>
                  </a:cubicBezTo>
                  <a:cubicBezTo>
                    <a:pt x="238" y="64"/>
                    <a:pt x="224" y="78"/>
                    <a:pt x="224" y="96"/>
                  </a:cubicBezTo>
                  <a:cubicBezTo>
                    <a:pt x="224" y="114"/>
                    <a:pt x="238" y="128"/>
                    <a:pt x="256" y="128"/>
                  </a:cubicBezTo>
                  <a:cubicBezTo>
                    <a:pt x="274" y="128"/>
                    <a:pt x="288" y="114"/>
                    <a:pt x="288" y="96"/>
                  </a:cubicBezTo>
                  <a:close/>
                  <a:moveTo>
                    <a:pt x="256" y="416"/>
                  </a:moveTo>
                  <a:cubicBezTo>
                    <a:pt x="291" y="416"/>
                    <a:pt x="320" y="387"/>
                    <a:pt x="320" y="352"/>
                  </a:cubicBezTo>
                  <a:cubicBezTo>
                    <a:pt x="320" y="336"/>
                    <a:pt x="314" y="321"/>
                    <a:pt x="304" y="310"/>
                  </a:cubicBezTo>
                  <a:lnTo>
                    <a:pt x="374" y="171"/>
                  </a:lnTo>
                  <a:cubicBezTo>
                    <a:pt x="379" y="159"/>
                    <a:pt x="375" y="144"/>
                    <a:pt x="363" y="139"/>
                  </a:cubicBezTo>
                  <a:cubicBezTo>
                    <a:pt x="351" y="133"/>
                    <a:pt x="337" y="137"/>
                    <a:pt x="331" y="149"/>
                  </a:cubicBezTo>
                  <a:lnTo>
                    <a:pt x="261" y="288"/>
                  </a:lnTo>
                  <a:cubicBezTo>
                    <a:pt x="259" y="288"/>
                    <a:pt x="258" y="288"/>
                    <a:pt x="256" y="288"/>
                  </a:cubicBezTo>
                  <a:cubicBezTo>
                    <a:pt x="221" y="288"/>
                    <a:pt x="192" y="317"/>
                    <a:pt x="192" y="352"/>
                  </a:cubicBezTo>
                  <a:cubicBezTo>
                    <a:pt x="192" y="387"/>
                    <a:pt x="221" y="416"/>
                    <a:pt x="256" y="416"/>
                  </a:cubicBezTo>
                  <a:close/>
                  <a:moveTo>
                    <a:pt x="176" y="144"/>
                  </a:moveTo>
                  <a:cubicBezTo>
                    <a:pt x="176" y="126"/>
                    <a:pt x="162" y="112"/>
                    <a:pt x="144" y="112"/>
                  </a:cubicBezTo>
                  <a:cubicBezTo>
                    <a:pt x="126" y="112"/>
                    <a:pt x="112" y="126"/>
                    <a:pt x="112" y="144"/>
                  </a:cubicBezTo>
                  <a:cubicBezTo>
                    <a:pt x="112" y="162"/>
                    <a:pt x="126" y="176"/>
                    <a:pt x="144" y="176"/>
                  </a:cubicBezTo>
                  <a:cubicBezTo>
                    <a:pt x="162" y="176"/>
                    <a:pt x="176" y="162"/>
                    <a:pt x="176" y="144"/>
                  </a:cubicBezTo>
                  <a:close/>
                  <a:moveTo>
                    <a:pt x="96" y="288"/>
                  </a:moveTo>
                  <a:cubicBezTo>
                    <a:pt x="114" y="288"/>
                    <a:pt x="128" y="274"/>
                    <a:pt x="128" y="256"/>
                  </a:cubicBezTo>
                  <a:cubicBezTo>
                    <a:pt x="128" y="238"/>
                    <a:pt x="114" y="224"/>
                    <a:pt x="96" y="224"/>
                  </a:cubicBezTo>
                  <a:cubicBezTo>
                    <a:pt x="78" y="224"/>
                    <a:pt x="64" y="238"/>
                    <a:pt x="64" y="256"/>
                  </a:cubicBezTo>
                  <a:cubicBezTo>
                    <a:pt x="64" y="274"/>
                    <a:pt x="78" y="288"/>
                    <a:pt x="96" y="288"/>
                  </a:cubicBezTo>
                  <a:close/>
                  <a:moveTo>
                    <a:pt x="448" y="256"/>
                  </a:moveTo>
                  <a:cubicBezTo>
                    <a:pt x="448" y="238"/>
                    <a:pt x="434" y="224"/>
                    <a:pt x="416" y="224"/>
                  </a:cubicBezTo>
                  <a:cubicBezTo>
                    <a:pt x="398" y="224"/>
                    <a:pt x="384" y="238"/>
                    <a:pt x="384" y="256"/>
                  </a:cubicBezTo>
                  <a:cubicBezTo>
                    <a:pt x="384" y="274"/>
                    <a:pt x="398" y="288"/>
                    <a:pt x="416" y="288"/>
                  </a:cubicBezTo>
                  <a:cubicBezTo>
                    <a:pt x="434" y="288"/>
                    <a:pt x="448" y="274"/>
                    <a:pt x="448" y="256"/>
                  </a:cubicBezTo>
                  <a:close/>
                </a:path>
              </a:pathLst>
            </a:custGeom>
            <a:solidFill>
              <a:srgbClr val="008ACB"/>
            </a:solidFill>
            <a:ln>
              <a:noFill/>
            </a:ln>
          </p:spPr>
          <p:txBody>
            <a:bodyPr/>
            <a:lstStyle/>
            <a:p>
              <a:pPr defTabSz="685800"/>
              <a:endParaRPr lang="zh-CN" altLang="en-US" sz="1350">
                <a:solidFill>
                  <a:srgbClr val="000000"/>
                </a:solidFill>
                <a:latin typeface="MiSans"/>
                <a:ea typeface="MiSans"/>
                <a:cs typeface="MiSans"/>
              </a:endParaRPr>
            </a:p>
          </p:txBody>
        </p:sp>
      </p:grpSp>
      <p:sp>
        <p:nvSpPr>
          <p:cNvPr id="240" name="c3-title">
            <a:extLst>
              <a:ext uri="{FF2B5EF4-FFF2-40B4-BE49-F238E27FC236}">
                <a16:creationId xmlns:a16="http://schemas.microsoft.com/office/drawing/2014/main" id="{297B14D2-19A1-500B-B6A9-4BE945DB2E5E}"/>
              </a:ext>
            </a:extLst>
          </p:cNvPr>
          <p:cNvSpPr txBox="1"/>
          <p:nvPr/>
        </p:nvSpPr>
        <p:spPr>
          <a:xfrm>
            <a:off x="3810572" y="1906943"/>
            <a:ext cx="1568805" cy="385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1200" b="1" noProof="1">
                <a:solidFill>
                  <a:srgbClr val="008ACB"/>
                </a:solidFill>
                <a:latin typeface="Calibri"/>
                <a:ea typeface="MiSans"/>
                <a:cs typeface="MiSans"/>
              </a:rPr>
              <a:t>性能与</a:t>
            </a:r>
            <a:endParaRPr lang="en-US" sz="1200" noProof="1">
              <a:solidFill>
                <a:srgbClr val="000000"/>
              </a:solidFill>
              <a:latin typeface="MiSans"/>
              <a:ea typeface="MiSans"/>
              <a:cs typeface="MiSans"/>
            </a:endParaRPr>
          </a:p>
          <a:p>
            <a:pPr algn="ctr" defTabSz="685800"/>
            <a:r>
              <a:rPr lang="en-US" sz="1200" b="1" noProof="1">
                <a:solidFill>
                  <a:srgbClr val="008ACB"/>
                </a:solidFill>
                <a:latin typeface="Calibri"/>
                <a:ea typeface="MiSans"/>
                <a:cs typeface="MiSans"/>
              </a:rPr>
              <a:t>可扩展性</a:t>
            </a:r>
            <a:endParaRPr lang="en-US" sz="1200" noProof="1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242" name="c3-desc">
            <a:extLst>
              <a:ext uri="{FF2B5EF4-FFF2-40B4-BE49-F238E27FC236}">
                <a16:creationId xmlns:a16="http://schemas.microsoft.com/office/drawing/2014/main" id="{197384CF-6D39-D824-1D65-18F4784CD9C0}"/>
              </a:ext>
            </a:extLst>
          </p:cNvPr>
          <p:cNvSpPr txBox="1"/>
          <p:nvPr/>
        </p:nvSpPr>
        <p:spPr>
          <a:xfrm>
            <a:off x="3856444" y="2383635"/>
            <a:ext cx="1477062" cy="42201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 defTabSz="685800">
              <a:lnSpc>
                <a:spcPct val="150000"/>
              </a:lnSpc>
            </a:pPr>
            <a:r>
              <a:rPr lang="en-US" sz="700" noProof="1">
                <a:latin typeface="Calibri (Body)"/>
                <a:ea typeface="MiSans"/>
                <a:cs typeface="MiSans"/>
              </a:rPr>
              <a:t>平台能否在数据量、系统数量及并发需求增长的情况下，保持稳定性能并灵活扩展</a:t>
            </a:r>
          </a:p>
        </p:txBody>
      </p:sp>
      <p:sp>
        <p:nvSpPr>
          <p:cNvPr id="244" name="c3-divider">
            <a:extLst>
              <a:ext uri="{FF2B5EF4-FFF2-40B4-BE49-F238E27FC236}">
                <a16:creationId xmlns:a16="http://schemas.microsoft.com/office/drawing/2014/main" id="{04F878BD-C3EA-8EE1-C6EA-C6B3EDBA6079}"/>
              </a:ext>
            </a:extLst>
          </p:cNvPr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eyJ2aWV3Qm94IjpbMSwxXSwicG9pbnRzIjoiMCwwLjUgMSwwLjUifQ</pptd:line>
              </p:ext>
            </p:extLst>
          </p:nvPr>
        </p:nvSpPr>
        <p:spPr>
          <a:xfrm>
            <a:off x="3856444" y="2870932"/>
            <a:ext cx="1477062" cy="18349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1"/>
                </a:moveTo>
                <a:lnTo>
                  <a:pt x="1" y="1"/>
                </a:lnTo>
              </a:path>
            </a:pathLst>
          </a:custGeom>
          <a:noFill/>
          <a:ln w="12700" cap="rnd">
            <a:solidFill>
              <a:srgbClr val="A5D7F5"/>
            </a:solidFill>
            <a:prstDash val="dash"/>
            <a:round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246" name="c3-i1-icon">
            <a:extLst>
              <a:ext uri="{FF2B5EF4-FFF2-40B4-BE49-F238E27FC236}">
                <a16:creationId xmlns:a16="http://schemas.microsoft.com/office/drawing/2014/main" id="{2EDB4DE1-C039-94C8-CADC-F6BB63FF5064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eyJpY29uTmFtZSI6ImZhczpjaXJjbGUtY2hlY2sifQ</pptd:icon>
              </p:ext>
            </p:extLst>
          </p:nvPr>
        </p:nvSpPr>
        <p:spPr>
          <a:xfrm>
            <a:off x="3883967" y="3035011"/>
            <a:ext cx="100917" cy="100917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>
            <a:srgbClr val="008ACB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248" name="c3-i1">
            <a:extLst>
              <a:ext uri="{FF2B5EF4-FFF2-40B4-BE49-F238E27FC236}">
                <a16:creationId xmlns:a16="http://schemas.microsoft.com/office/drawing/2014/main" id="{CE0E07E7-93CF-706C-225A-8D53B8DFBA92}"/>
              </a:ext>
            </a:extLst>
          </p:cNvPr>
          <p:cNvSpPr txBox="1"/>
          <p:nvPr/>
        </p:nvSpPr>
        <p:spPr>
          <a:xfrm>
            <a:off x="4039930" y="2998314"/>
            <a:ext cx="1357796" cy="27522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>
              <a:lnSpc>
                <a:spcPct val="135000"/>
              </a:lnSpc>
            </a:pPr>
            <a:r>
              <a:rPr lang="en-US" sz="713" b="1" noProof="1">
                <a:solidFill>
                  <a:srgbClr val="1F2430"/>
                </a:solidFill>
                <a:latin typeface="Calibri"/>
                <a:ea typeface="MiSans"/>
                <a:cs typeface="MiSans"/>
              </a:rPr>
              <a:t>查询性能与响应</a:t>
            </a:r>
            <a:endParaRPr lang="en-US" sz="713" noProof="1">
              <a:solidFill>
                <a:srgbClr val="000000"/>
              </a:solidFill>
              <a:latin typeface="MiSans"/>
              <a:ea typeface="MiSans"/>
              <a:cs typeface="MiSans"/>
            </a:endParaRPr>
          </a:p>
          <a:p>
            <a:pPr defTabSz="685800">
              <a:lnSpc>
                <a:spcPct val="135000"/>
              </a:lnSpc>
            </a:pPr>
            <a:r>
              <a:rPr lang="en-US" sz="600" noProof="1">
                <a:solidFill>
                  <a:srgbClr val="6B7280"/>
                </a:solidFill>
                <a:latin typeface="Calibri"/>
                <a:ea typeface="MiSans"/>
                <a:cs typeface="MiSans"/>
              </a:rPr>
              <a:t>（大数据量下稳定性）</a:t>
            </a:r>
            <a:endParaRPr lang="en-US" sz="713" noProof="1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250" name="c3-i2-icon">
            <a:extLst>
              <a:ext uri="{FF2B5EF4-FFF2-40B4-BE49-F238E27FC236}">
                <a16:creationId xmlns:a16="http://schemas.microsoft.com/office/drawing/2014/main" id="{1032A11D-2ED7-25B9-2CD9-56A9101E3C06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eyJpY29uTmFtZSI6ImZhczpjaXJjbGUtY2hlY2sifQ</pptd:icon>
              </p:ext>
            </p:extLst>
          </p:nvPr>
        </p:nvSpPr>
        <p:spPr>
          <a:xfrm>
            <a:off x="3883967" y="3457028"/>
            <a:ext cx="100917" cy="100917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>
            <a:srgbClr val="008ACB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252" name="c3-i2">
            <a:extLst>
              <a:ext uri="{FF2B5EF4-FFF2-40B4-BE49-F238E27FC236}">
                <a16:creationId xmlns:a16="http://schemas.microsoft.com/office/drawing/2014/main" id="{2F8F457D-3C26-99C1-50C3-0D1712F939CB}"/>
              </a:ext>
            </a:extLst>
          </p:cNvPr>
          <p:cNvSpPr txBox="1"/>
          <p:nvPr/>
        </p:nvSpPr>
        <p:spPr>
          <a:xfrm>
            <a:off x="4039930" y="3420331"/>
            <a:ext cx="1357796" cy="27522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>
              <a:lnSpc>
                <a:spcPct val="135000"/>
              </a:lnSpc>
            </a:pPr>
            <a:r>
              <a:rPr lang="en-US" sz="713" b="1" noProof="1">
                <a:solidFill>
                  <a:srgbClr val="1F2430"/>
                </a:solidFill>
                <a:latin typeface="Calibri"/>
                <a:ea typeface="MiSans"/>
                <a:cs typeface="MiSans"/>
              </a:rPr>
              <a:t>容量与扩展能力</a:t>
            </a:r>
            <a:endParaRPr lang="en-US" sz="713" noProof="1">
              <a:solidFill>
                <a:srgbClr val="000000"/>
              </a:solidFill>
              <a:latin typeface="MiSans"/>
              <a:ea typeface="MiSans"/>
              <a:cs typeface="MiSans"/>
            </a:endParaRPr>
          </a:p>
          <a:p>
            <a:pPr defTabSz="685800">
              <a:lnSpc>
                <a:spcPct val="135000"/>
              </a:lnSpc>
            </a:pPr>
            <a:r>
              <a:rPr lang="en-US" sz="600" noProof="1">
                <a:solidFill>
                  <a:srgbClr val="6B7280"/>
                </a:solidFill>
                <a:latin typeface="Calibri"/>
                <a:ea typeface="MiSans"/>
                <a:cs typeface="MiSans"/>
              </a:rPr>
              <a:t>（存储/计算独立扩展）</a:t>
            </a:r>
            <a:endParaRPr lang="en-US" sz="713" noProof="1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254" name="c3-i3-icon">
            <a:extLst>
              <a:ext uri="{FF2B5EF4-FFF2-40B4-BE49-F238E27FC236}">
                <a16:creationId xmlns:a16="http://schemas.microsoft.com/office/drawing/2014/main" id="{A524BCC9-BC7D-868F-4ED0-831A8AA406A2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eyJpY29uTmFtZSI6ImZhczpjaXJjbGUtY2hlY2sifQ</pptd:icon>
              </p:ext>
            </p:extLst>
          </p:nvPr>
        </p:nvSpPr>
        <p:spPr>
          <a:xfrm>
            <a:off x="3883967" y="3879046"/>
            <a:ext cx="100917" cy="100917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>
            <a:srgbClr val="008ACB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256" name="c3-i3">
            <a:extLst>
              <a:ext uri="{FF2B5EF4-FFF2-40B4-BE49-F238E27FC236}">
                <a16:creationId xmlns:a16="http://schemas.microsoft.com/office/drawing/2014/main" id="{6CE3A52E-4CD7-02E7-956F-91B2D7594FB1}"/>
              </a:ext>
            </a:extLst>
          </p:cNvPr>
          <p:cNvSpPr txBox="1"/>
          <p:nvPr/>
        </p:nvSpPr>
        <p:spPr>
          <a:xfrm>
            <a:off x="4039930" y="3842349"/>
            <a:ext cx="1357796" cy="27522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>
              <a:lnSpc>
                <a:spcPct val="135000"/>
              </a:lnSpc>
            </a:pPr>
            <a:r>
              <a:rPr lang="en-US" sz="713" b="1" noProof="1">
                <a:solidFill>
                  <a:srgbClr val="1F2430"/>
                </a:solidFill>
                <a:latin typeface="Calibri"/>
                <a:ea typeface="MiSans"/>
                <a:cs typeface="MiSans"/>
              </a:rPr>
              <a:t>架构弹性</a:t>
            </a:r>
            <a:endParaRPr lang="en-US" sz="713" noProof="1">
              <a:solidFill>
                <a:srgbClr val="000000"/>
              </a:solidFill>
              <a:latin typeface="MiSans"/>
              <a:ea typeface="MiSans"/>
              <a:cs typeface="MiSans"/>
            </a:endParaRPr>
          </a:p>
          <a:p>
            <a:pPr defTabSz="685800">
              <a:lnSpc>
                <a:spcPct val="135000"/>
              </a:lnSpc>
            </a:pPr>
            <a:r>
              <a:rPr lang="en-US" sz="600" noProof="1">
                <a:solidFill>
                  <a:srgbClr val="6B7280"/>
                </a:solidFill>
                <a:latin typeface="Calibri"/>
                <a:ea typeface="MiSans"/>
                <a:cs typeface="MiSans"/>
              </a:rPr>
              <a:t>（按需伸缩、资源利用率）</a:t>
            </a:r>
            <a:endParaRPr lang="en-US" sz="713" noProof="1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258" name="c4">
            <a:extLst>
              <a:ext uri="{FF2B5EF4-FFF2-40B4-BE49-F238E27FC236}">
                <a16:creationId xmlns:a16="http://schemas.microsoft.com/office/drawing/2014/main" id="{9F94B885-6349-4954-44D1-D7901ABE1A62}"/>
              </a:ext>
            </a:extLst>
          </p:cNvPr>
          <p:cNvSpPr/>
          <p:nvPr/>
        </p:nvSpPr>
        <p:spPr>
          <a:xfrm>
            <a:off x="5492909" y="1621110"/>
            <a:ext cx="1660548" cy="28440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7E1F4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260" name="c4-badge">
            <a:extLst>
              <a:ext uri="{FF2B5EF4-FFF2-40B4-BE49-F238E27FC236}">
                <a16:creationId xmlns:a16="http://schemas.microsoft.com/office/drawing/2014/main" id="{51AF0BBC-C102-C90E-856B-D39C3E61E287}"/>
              </a:ext>
            </a:extLst>
          </p:cNvPr>
          <p:cNvSpPr/>
          <p:nvPr/>
        </p:nvSpPr>
        <p:spPr>
          <a:xfrm>
            <a:off x="5584652" y="1666982"/>
            <a:ext cx="275229" cy="183486"/>
          </a:xfrm>
          <a:prstGeom prst="roundRect">
            <a:avLst>
              <a:gd name="adj" fmla="val 22000"/>
            </a:avLst>
          </a:prstGeom>
          <a:solidFill>
            <a:srgbClr val="0296D5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262" name="c4-badge-text">
            <a:extLst>
              <a:ext uri="{FF2B5EF4-FFF2-40B4-BE49-F238E27FC236}">
                <a16:creationId xmlns:a16="http://schemas.microsoft.com/office/drawing/2014/main" id="{3AC30A31-EF68-A219-1C45-CF1102612204}"/>
              </a:ext>
            </a:extLst>
          </p:cNvPr>
          <p:cNvSpPr txBox="1"/>
          <p:nvPr/>
        </p:nvSpPr>
        <p:spPr>
          <a:xfrm>
            <a:off x="5584652" y="1666982"/>
            <a:ext cx="275229" cy="1834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788" b="1" noProof="1">
                <a:solidFill>
                  <a:srgbClr val="FFFFFF"/>
                </a:solidFill>
                <a:latin typeface="Calibri"/>
                <a:ea typeface="MiSans"/>
                <a:cs typeface="MiSans"/>
              </a:rPr>
              <a:t>04</a:t>
            </a:r>
            <a:endParaRPr lang="en-US" sz="788" noProof="1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7298052D-0A28-85F1-D54C-77B1EC5B0F31}"/>
              </a:ext>
            </a:extLst>
          </p:cNvPr>
          <p:cNvGrpSpPr/>
          <p:nvPr/>
        </p:nvGrpSpPr>
        <p:grpSpPr>
          <a:xfrm>
            <a:off x="6123383" y="1409583"/>
            <a:ext cx="399600" cy="399600"/>
            <a:chOff x="6123383" y="1409583"/>
            <a:chExt cx="399600" cy="399600"/>
          </a:xfrm>
        </p:grpSpPr>
        <p:sp>
          <p:nvSpPr>
            <p:cNvPr id="264" name="c4-circle">
              <a:extLst>
                <a:ext uri="{FF2B5EF4-FFF2-40B4-BE49-F238E27FC236}">
                  <a16:creationId xmlns:a16="http://schemas.microsoft.com/office/drawing/2014/main" id="{749E0BE4-F35E-8D69-1BDA-0CB0DDF071F8}"/>
                </a:ext>
              </a:extLst>
            </p:cNvPr>
            <p:cNvSpPr/>
            <p:nvPr/>
          </p:nvSpPr>
          <p:spPr>
            <a:xfrm>
              <a:off x="6123383" y="1409583"/>
              <a:ext cx="399600" cy="3996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A5D7F5"/>
              </a:solidFill>
            </a:ln>
          </p:spPr>
          <p:txBody>
            <a:bodyPr/>
            <a:lstStyle/>
            <a:p>
              <a:pPr defTabSz="685800"/>
              <a:endParaRPr lang="zh-CN" altLang="en-US" sz="1350">
                <a:solidFill>
                  <a:srgbClr val="000000"/>
                </a:solidFill>
                <a:latin typeface="MiSans"/>
                <a:ea typeface="MiSans"/>
                <a:cs typeface="MiSans"/>
              </a:endParaRPr>
            </a:p>
          </p:txBody>
        </p:sp>
        <p:sp>
          <p:nvSpPr>
            <p:cNvPr id="266" name="c4-icon">
              <a:extLst>
                <a:ext uri="{FF2B5EF4-FFF2-40B4-BE49-F238E27FC236}">
                  <a16:creationId xmlns:a16="http://schemas.microsoft.com/office/drawing/2014/main" id="{C2FD96BD-0FA0-EEAE-FBDF-7925FCEF9508}"/>
                </a:ext>
              </a:extLst>
            </p:cNvPr>
            <p:cNvSpPr/>
            <p:nvPr>
              <p:extLst>
                <p:ext uri="{F5677B7D-0D2A-4D9B-9A5C-6D8D7D0E5A5D}">
  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eyJpY29uTmFtZSI6ImZhczpnZWFyIn0</pptd:icon>
                </p:ext>
              </p:extLst>
            </p:nvPr>
          </p:nvSpPr>
          <p:spPr>
            <a:xfrm>
              <a:off x="6200228" y="1486428"/>
              <a:ext cx="245910" cy="245910"/>
            </a:xfrm>
            <a:custGeom>
              <a:avLst/>
              <a:gdLst/>
              <a:ahLst/>
              <a:cxnLst/>
              <a:rect l="l" t="t" r="r" b="b"/>
              <a:pathLst>
                <a:path w="512" h="512">
                  <a:moveTo>
                    <a:pt x="195" y="10"/>
                  </a:moveTo>
                  <a:cubicBezTo>
                    <a:pt x="198" y="-5"/>
                    <a:pt x="211" y="-16"/>
                    <a:pt x="226" y="-16"/>
                  </a:cubicBezTo>
                  <a:lnTo>
                    <a:pt x="286" y="-16"/>
                  </a:lnTo>
                  <a:cubicBezTo>
                    <a:pt x="301" y="-16"/>
                    <a:pt x="315" y="-5"/>
                    <a:pt x="318" y="10"/>
                  </a:cubicBezTo>
                  <a:lnTo>
                    <a:pt x="332" y="80"/>
                  </a:lnTo>
                  <a:cubicBezTo>
                    <a:pt x="346" y="86"/>
                    <a:pt x="359" y="93"/>
                    <a:pt x="371" y="102"/>
                  </a:cubicBezTo>
                  <a:lnTo>
                    <a:pt x="439" y="80"/>
                  </a:lnTo>
                  <a:cubicBezTo>
                    <a:pt x="454" y="75"/>
                    <a:pt x="469" y="81"/>
                    <a:pt x="477" y="94"/>
                  </a:cubicBezTo>
                  <a:lnTo>
                    <a:pt x="507" y="146"/>
                  </a:lnTo>
                  <a:cubicBezTo>
                    <a:pt x="514" y="159"/>
                    <a:pt x="512" y="176"/>
                    <a:pt x="500" y="186"/>
                  </a:cubicBezTo>
                  <a:lnTo>
                    <a:pt x="447" y="233"/>
                  </a:lnTo>
                  <a:cubicBezTo>
                    <a:pt x="448" y="241"/>
                    <a:pt x="448" y="248"/>
                    <a:pt x="448" y="256"/>
                  </a:cubicBezTo>
                  <a:cubicBezTo>
                    <a:pt x="448" y="264"/>
                    <a:pt x="448" y="271"/>
                    <a:pt x="447" y="279"/>
                  </a:cubicBezTo>
                  <a:lnTo>
                    <a:pt x="500" y="326"/>
                  </a:lnTo>
                  <a:cubicBezTo>
                    <a:pt x="512" y="336"/>
                    <a:pt x="514" y="353"/>
                    <a:pt x="507" y="366"/>
                  </a:cubicBezTo>
                  <a:lnTo>
                    <a:pt x="477" y="418"/>
                  </a:lnTo>
                  <a:cubicBezTo>
                    <a:pt x="469" y="431"/>
                    <a:pt x="454" y="437"/>
                    <a:pt x="439" y="432"/>
                  </a:cubicBezTo>
                  <a:lnTo>
                    <a:pt x="371" y="410"/>
                  </a:lnTo>
                  <a:cubicBezTo>
                    <a:pt x="359" y="419"/>
                    <a:pt x="346" y="426"/>
                    <a:pt x="332" y="433"/>
                  </a:cubicBezTo>
                  <a:lnTo>
                    <a:pt x="318" y="503"/>
                  </a:lnTo>
                  <a:cubicBezTo>
                    <a:pt x="315" y="517"/>
                    <a:pt x="302" y="528"/>
                    <a:pt x="286" y="528"/>
                  </a:cubicBezTo>
                  <a:lnTo>
                    <a:pt x="227" y="528"/>
                  </a:lnTo>
                  <a:cubicBezTo>
                    <a:pt x="211" y="528"/>
                    <a:pt x="198" y="517"/>
                    <a:pt x="195" y="503"/>
                  </a:cubicBezTo>
                  <a:lnTo>
                    <a:pt x="181" y="433"/>
                  </a:lnTo>
                  <a:cubicBezTo>
                    <a:pt x="167" y="427"/>
                    <a:pt x="154" y="419"/>
                    <a:pt x="142" y="410"/>
                  </a:cubicBezTo>
                  <a:lnTo>
                    <a:pt x="74" y="432"/>
                  </a:lnTo>
                  <a:cubicBezTo>
                    <a:pt x="59" y="437"/>
                    <a:pt x="43" y="431"/>
                    <a:pt x="36" y="418"/>
                  </a:cubicBezTo>
                  <a:lnTo>
                    <a:pt x="6" y="366"/>
                  </a:lnTo>
                  <a:cubicBezTo>
                    <a:pt x="-2" y="353"/>
                    <a:pt x="1" y="336"/>
                    <a:pt x="12" y="326"/>
                  </a:cubicBezTo>
                  <a:lnTo>
                    <a:pt x="66" y="279"/>
                  </a:lnTo>
                  <a:cubicBezTo>
                    <a:pt x="65" y="271"/>
                    <a:pt x="64" y="264"/>
                    <a:pt x="64" y="256"/>
                  </a:cubicBezTo>
                  <a:cubicBezTo>
                    <a:pt x="64" y="248"/>
                    <a:pt x="65" y="241"/>
                    <a:pt x="66" y="233"/>
                  </a:cubicBezTo>
                  <a:lnTo>
                    <a:pt x="12" y="186"/>
                  </a:lnTo>
                  <a:cubicBezTo>
                    <a:pt x="1" y="176"/>
                    <a:pt x="-2" y="159"/>
                    <a:pt x="6" y="146"/>
                  </a:cubicBezTo>
                  <a:lnTo>
                    <a:pt x="36" y="94"/>
                  </a:lnTo>
                  <a:cubicBezTo>
                    <a:pt x="43" y="81"/>
                    <a:pt x="59" y="75"/>
                    <a:pt x="74" y="80"/>
                  </a:cubicBezTo>
                  <a:lnTo>
                    <a:pt x="141" y="102"/>
                  </a:lnTo>
                  <a:cubicBezTo>
                    <a:pt x="153" y="93"/>
                    <a:pt x="167" y="85"/>
                    <a:pt x="181" y="79"/>
                  </a:cubicBezTo>
                  <a:lnTo>
                    <a:pt x="195" y="10"/>
                  </a:lnTo>
                  <a:close/>
                  <a:moveTo>
                    <a:pt x="256" y="336"/>
                  </a:moveTo>
                  <a:cubicBezTo>
                    <a:pt x="285" y="336"/>
                    <a:pt x="311" y="321"/>
                    <a:pt x="325" y="296"/>
                  </a:cubicBezTo>
                  <a:cubicBezTo>
                    <a:pt x="340" y="271"/>
                    <a:pt x="340" y="240"/>
                    <a:pt x="325" y="216"/>
                  </a:cubicBezTo>
                  <a:cubicBezTo>
                    <a:pt x="311" y="191"/>
                    <a:pt x="284" y="176"/>
                    <a:pt x="256" y="176"/>
                  </a:cubicBezTo>
                  <a:cubicBezTo>
                    <a:pt x="227" y="176"/>
                    <a:pt x="201" y="191"/>
                    <a:pt x="187" y="216"/>
                  </a:cubicBezTo>
                  <a:cubicBezTo>
                    <a:pt x="172" y="241"/>
                    <a:pt x="172" y="272"/>
                    <a:pt x="187" y="296"/>
                  </a:cubicBezTo>
                  <a:cubicBezTo>
                    <a:pt x="201" y="321"/>
                    <a:pt x="228" y="336"/>
                    <a:pt x="256" y="336"/>
                  </a:cubicBezTo>
                  <a:close/>
                </a:path>
              </a:pathLst>
            </a:custGeom>
            <a:solidFill>
              <a:srgbClr val="008ACB"/>
            </a:solidFill>
            <a:ln>
              <a:noFill/>
            </a:ln>
          </p:spPr>
          <p:txBody>
            <a:bodyPr/>
            <a:lstStyle/>
            <a:p>
              <a:pPr defTabSz="685800"/>
              <a:endParaRPr lang="zh-CN" altLang="en-US" sz="1350">
                <a:solidFill>
                  <a:srgbClr val="000000"/>
                </a:solidFill>
                <a:latin typeface="MiSans"/>
                <a:ea typeface="MiSans"/>
                <a:cs typeface="MiSans"/>
              </a:endParaRPr>
            </a:p>
          </p:txBody>
        </p:sp>
      </p:grpSp>
      <p:sp>
        <p:nvSpPr>
          <p:cNvPr id="268" name="c4-title">
            <a:extLst>
              <a:ext uri="{FF2B5EF4-FFF2-40B4-BE49-F238E27FC236}">
                <a16:creationId xmlns:a16="http://schemas.microsoft.com/office/drawing/2014/main" id="{ECF92E44-83A4-D9C0-1AB5-25E428D21AF9}"/>
              </a:ext>
            </a:extLst>
          </p:cNvPr>
          <p:cNvSpPr txBox="1"/>
          <p:nvPr/>
        </p:nvSpPr>
        <p:spPr>
          <a:xfrm>
            <a:off x="5538780" y="1906943"/>
            <a:ext cx="1568805" cy="385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1200" b="1" noProof="1">
                <a:solidFill>
                  <a:srgbClr val="008ACB"/>
                </a:solidFill>
                <a:latin typeface="Calibri"/>
                <a:ea typeface="MiSans"/>
                <a:cs typeface="MiSans"/>
              </a:rPr>
              <a:t>实施与运维</a:t>
            </a:r>
            <a:endParaRPr lang="en-US" sz="1200" noProof="1">
              <a:solidFill>
                <a:srgbClr val="000000"/>
              </a:solidFill>
              <a:latin typeface="MiSans"/>
              <a:ea typeface="MiSans"/>
              <a:cs typeface="MiSans"/>
            </a:endParaRPr>
          </a:p>
          <a:p>
            <a:pPr algn="ctr" defTabSz="685800"/>
            <a:r>
              <a:rPr lang="en-US" sz="1200" b="1" noProof="1">
                <a:solidFill>
                  <a:srgbClr val="008ACB"/>
                </a:solidFill>
                <a:latin typeface="Calibri"/>
                <a:ea typeface="MiSans"/>
                <a:cs typeface="MiSans"/>
              </a:rPr>
              <a:t>复杂度</a:t>
            </a:r>
            <a:endParaRPr lang="en-US" sz="1200" noProof="1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270" name="c4-desc">
            <a:extLst>
              <a:ext uri="{FF2B5EF4-FFF2-40B4-BE49-F238E27FC236}">
                <a16:creationId xmlns:a16="http://schemas.microsoft.com/office/drawing/2014/main" id="{C1232FCC-B176-46AB-BFEB-1F54D9DD374C}"/>
              </a:ext>
            </a:extLst>
          </p:cNvPr>
          <p:cNvSpPr txBox="1"/>
          <p:nvPr/>
        </p:nvSpPr>
        <p:spPr>
          <a:xfrm>
            <a:off x="5584652" y="2383635"/>
            <a:ext cx="1477062" cy="42201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 defTabSz="685800">
              <a:lnSpc>
                <a:spcPct val="150000"/>
              </a:lnSpc>
            </a:pPr>
            <a:r>
              <a:rPr lang="en-US" sz="700" noProof="1">
                <a:latin typeface="Calibri (Body)"/>
                <a:ea typeface="MiSans"/>
                <a:cs typeface="MiSans"/>
              </a:rPr>
              <a:t>平台从建设到后续系统接入与日常运营，所需的技术投入与维护复杂度</a:t>
            </a:r>
          </a:p>
        </p:txBody>
      </p:sp>
      <p:sp>
        <p:nvSpPr>
          <p:cNvPr id="272" name="c4-divider">
            <a:extLst>
              <a:ext uri="{FF2B5EF4-FFF2-40B4-BE49-F238E27FC236}">
                <a16:creationId xmlns:a16="http://schemas.microsoft.com/office/drawing/2014/main" id="{5CD8FBFB-3FFB-5C60-C88A-9F7E43A7FF60}"/>
              </a:ext>
            </a:extLst>
          </p:cNvPr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eyJ2aWV3Qm94IjpbMSwxXSwicG9pbnRzIjoiMCwwLjUgMSwwLjUifQ</pptd:line>
              </p:ext>
            </p:extLst>
          </p:nvPr>
        </p:nvSpPr>
        <p:spPr>
          <a:xfrm>
            <a:off x="5584652" y="2870932"/>
            <a:ext cx="1477062" cy="18349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1"/>
                </a:moveTo>
                <a:lnTo>
                  <a:pt x="1" y="1"/>
                </a:lnTo>
              </a:path>
            </a:pathLst>
          </a:custGeom>
          <a:noFill/>
          <a:ln w="12700" cap="rnd">
            <a:solidFill>
              <a:srgbClr val="A5D7F5"/>
            </a:solidFill>
            <a:prstDash val="dash"/>
            <a:round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274" name="c4-i1-icon">
            <a:extLst>
              <a:ext uri="{FF2B5EF4-FFF2-40B4-BE49-F238E27FC236}">
                <a16:creationId xmlns:a16="http://schemas.microsoft.com/office/drawing/2014/main" id="{9FE1F525-0817-8A0D-C23B-E01A2FD4D394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eyJpY29uTmFtZSI6ImZhczpjaXJjbGUtY2hlY2sifQ</pptd:icon>
              </p:ext>
            </p:extLst>
          </p:nvPr>
        </p:nvSpPr>
        <p:spPr>
          <a:xfrm>
            <a:off x="5612175" y="3035011"/>
            <a:ext cx="100917" cy="100917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>
            <a:srgbClr val="008ACB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276" name="c4-i1">
            <a:extLst>
              <a:ext uri="{FF2B5EF4-FFF2-40B4-BE49-F238E27FC236}">
                <a16:creationId xmlns:a16="http://schemas.microsoft.com/office/drawing/2014/main" id="{023F620A-BC87-DF3B-960E-EB8B95818F7B}"/>
              </a:ext>
            </a:extLst>
          </p:cNvPr>
          <p:cNvSpPr txBox="1"/>
          <p:nvPr/>
        </p:nvSpPr>
        <p:spPr>
          <a:xfrm>
            <a:off x="5768138" y="2998314"/>
            <a:ext cx="1357796" cy="27522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>
              <a:lnSpc>
                <a:spcPct val="135000"/>
              </a:lnSpc>
            </a:pPr>
            <a:r>
              <a:rPr lang="en-US" sz="713" b="1" noProof="1">
                <a:solidFill>
                  <a:srgbClr val="1F2430"/>
                </a:solidFill>
                <a:latin typeface="Calibri"/>
                <a:ea typeface="MiSans"/>
                <a:cs typeface="MiSans"/>
              </a:rPr>
              <a:t>初期实施复杂度</a:t>
            </a:r>
            <a:endParaRPr lang="en-US" sz="713" noProof="1">
              <a:solidFill>
                <a:srgbClr val="000000"/>
              </a:solidFill>
              <a:latin typeface="MiSans"/>
              <a:ea typeface="MiSans"/>
              <a:cs typeface="MiSans"/>
            </a:endParaRPr>
          </a:p>
          <a:p>
            <a:pPr defTabSz="685800">
              <a:lnSpc>
                <a:spcPct val="135000"/>
              </a:lnSpc>
            </a:pPr>
            <a:r>
              <a:rPr lang="en-US" sz="600" noProof="1">
                <a:solidFill>
                  <a:srgbClr val="6B7280"/>
                </a:solidFill>
                <a:latin typeface="Calibri"/>
                <a:ea typeface="MiSans"/>
                <a:cs typeface="MiSans"/>
              </a:rPr>
              <a:t>（开发时间、技术门槛）</a:t>
            </a:r>
            <a:endParaRPr lang="en-US" sz="713" noProof="1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278" name="c4-i2-icon">
            <a:extLst>
              <a:ext uri="{FF2B5EF4-FFF2-40B4-BE49-F238E27FC236}">
                <a16:creationId xmlns:a16="http://schemas.microsoft.com/office/drawing/2014/main" id="{60C7B046-F85D-158B-D23E-9CA0D4BA0A7F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eyJpY29uTmFtZSI6ImZhczpjaXJjbGUtY2hlY2sifQ</pptd:icon>
              </p:ext>
            </p:extLst>
          </p:nvPr>
        </p:nvSpPr>
        <p:spPr>
          <a:xfrm>
            <a:off x="5612175" y="3383634"/>
            <a:ext cx="100917" cy="100917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>
            <a:srgbClr val="008ACB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280" name="c4-i2">
            <a:extLst>
              <a:ext uri="{FF2B5EF4-FFF2-40B4-BE49-F238E27FC236}">
                <a16:creationId xmlns:a16="http://schemas.microsoft.com/office/drawing/2014/main" id="{34CBBEAC-574E-719A-C5DB-0E3736E659F4}"/>
              </a:ext>
            </a:extLst>
          </p:cNvPr>
          <p:cNvSpPr txBox="1"/>
          <p:nvPr/>
        </p:nvSpPr>
        <p:spPr>
          <a:xfrm>
            <a:off x="5768138" y="3346937"/>
            <a:ext cx="1357796" cy="27522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>
              <a:lnSpc>
                <a:spcPct val="135000"/>
              </a:lnSpc>
            </a:pPr>
            <a:r>
              <a:rPr lang="en-US" sz="713" b="1" noProof="1">
                <a:solidFill>
                  <a:srgbClr val="1F2430"/>
                </a:solidFill>
                <a:latin typeface="Calibri"/>
                <a:ea typeface="MiSans"/>
                <a:cs typeface="MiSans"/>
              </a:rPr>
              <a:t>新系统接入效率</a:t>
            </a:r>
            <a:endParaRPr lang="en-US" sz="713" noProof="1">
              <a:solidFill>
                <a:srgbClr val="000000"/>
              </a:solidFill>
              <a:latin typeface="MiSans"/>
              <a:ea typeface="MiSans"/>
              <a:cs typeface="MiSans"/>
            </a:endParaRPr>
          </a:p>
          <a:p>
            <a:pPr defTabSz="685800">
              <a:lnSpc>
                <a:spcPct val="135000"/>
              </a:lnSpc>
            </a:pPr>
            <a:r>
              <a:rPr lang="en-US" sz="600" noProof="1">
                <a:solidFill>
                  <a:srgbClr val="6B7280"/>
                </a:solidFill>
                <a:latin typeface="Calibri"/>
                <a:ea typeface="MiSans"/>
                <a:cs typeface="MiSans"/>
              </a:rPr>
              <a:t>（可配置化、复用性）</a:t>
            </a:r>
            <a:endParaRPr lang="en-US" sz="713" noProof="1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282" name="c4-i3-icon">
            <a:extLst>
              <a:ext uri="{FF2B5EF4-FFF2-40B4-BE49-F238E27FC236}">
                <a16:creationId xmlns:a16="http://schemas.microsoft.com/office/drawing/2014/main" id="{B12C0CA4-5FD4-DFA3-8649-E9B64D604333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eyJpY29uTmFtZSI6ImZhczpjaXJjbGUtY2hlY2sifQ</pptd:icon>
              </p:ext>
            </p:extLst>
          </p:nvPr>
        </p:nvSpPr>
        <p:spPr>
          <a:xfrm>
            <a:off x="5612175" y="3732257"/>
            <a:ext cx="100917" cy="100917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>
            <a:srgbClr val="008ACB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284" name="c4-i3">
            <a:extLst>
              <a:ext uri="{FF2B5EF4-FFF2-40B4-BE49-F238E27FC236}">
                <a16:creationId xmlns:a16="http://schemas.microsoft.com/office/drawing/2014/main" id="{CA1E8938-B5DD-3542-3314-9F89C9F99B1C}"/>
              </a:ext>
            </a:extLst>
          </p:cNvPr>
          <p:cNvSpPr txBox="1"/>
          <p:nvPr/>
        </p:nvSpPr>
        <p:spPr>
          <a:xfrm>
            <a:off x="5768138" y="3695560"/>
            <a:ext cx="1357796" cy="27522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>
              <a:lnSpc>
                <a:spcPct val="135000"/>
              </a:lnSpc>
            </a:pPr>
            <a:r>
              <a:rPr lang="en-US" sz="713" b="1" noProof="1">
                <a:solidFill>
                  <a:srgbClr val="1F2430"/>
                </a:solidFill>
                <a:latin typeface="Calibri"/>
                <a:ea typeface="MiSans"/>
                <a:cs typeface="MiSans"/>
              </a:rPr>
              <a:t>运维与维护负担</a:t>
            </a:r>
            <a:endParaRPr lang="en-US" sz="713" noProof="1">
              <a:solidFill>
                <a:srgbClr val="000000"/>
              </a:solidFill>
              <a:latin typeface="MiSans"/>
              <a:ea typeface="MiSans"/>
              <a:cs typeface="MiSans"/>
            </a:endParaRPr>
          </a:p>
          <a:p>
            <a:pPr defTabSz="685800">
              <a:lnSpc>
                <a:spcPct val="135000"/>
              </a:lnSpc>
            </a:pPr>
            <a:r>
              <a:rPr lang="en-US" sz="600" noProof="1">
                <a:solidFill>
                  <a:srgbClr val="6B7280"/>
                </a:solidFill>
                <a:latin typeface="Calibri"/>
                <a:ea typeface="MiSans"/>
                <a:cs typeface="MiSans"/>
              </a:rPr>
              <a:t>（组件数量、运维工作量）</a:t>
            </a:r>
            <a:endParaRPr lang="en-US" sz="713" noProof="1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286" name="c4-i4-icon">
            <a:extLst>
              <a:ext uri="{FF2B5EF4-FFF2-40B4-BE49-F238E27FC236}">
                <a16:creationId xmlns:a16="http://schemas.microsoft.com/office/drawing/2014/main" id="{9C4C95DC-1BF9-0322-2FF2-E87E0215FCCC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eyJpY29uTmFtZSI6ImZhczpjaXJjbGUtY2hlY2sifQ</pptd:icon>
              </p:ext>
            </p:extLst>
          </p:nvPr>
        </p:nvSpPr>
        <p:spPr>
          <a:xfrm>
            <a:off x="5612175" y="4080880"/>
            <a:ext cx="100917" cy="100917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>
            <a:srgbClr val="008ACB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288" name="c4-i4">
            <a:extLst>
              <a:ext uri="{FF2B5EF4-FFF2-40B4-BE49-F238E27FC236}">
                <a16:creationId xmlns:a16="http://schemas.microsoft.com/office/drawing/2014/main" id="{C7C24BC1-D847-9C2E-16A5-F9D594FCC32F}"/>
              </a:ext>
            </a:extLst>
          </p:cNvPr>
          <p:cNvSpPr txBox="1"/>
          <p:nvPr/>
        </p:nvSpPr>
        <p:spPr>
          <a:xfrm>
            <a:off x="5768138" y="4044183"/>
            <a:ext cx="1357796" cy="27522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>
              <a:lnSpc>
                <a:spcPct val="135000"/>
              </a:lnSpc>
            </a:pPr>
            <a:r>
              <a:rPr lang="en-US" sz="713" b="1" noProof="1">
                <a:solidFill>
                  <a:srgbClr val="1F2430"/>
                </a:solidFill>
                <a:latin typeface="Calibri"/>
                <a:ea typeface="MiSans"/>
                <a:cs typeface="MiSans"/>
              </a:rPr>
              <a:t>日志与监控能力</a:t>
            </a:r>
            <a:endParaRPr lang="en-US" sz="713" noProof="1">
              <a:solidFill>
                <a:srgbClr val="000000"/>
              </a:solidFill>
              <a:latin typeface="MiSans"/>
              <a:ea typeface="MiSans"/>
              <a:cs typeface="MiSans"/>
            </a:endParaRPr>
          </a:p>
          <a:p>
            <a:pPr defTabSz="685800">
              <a:lnSpc>
                <a:spcPct val="135000"/>
              </a:lnSpc>
            </a:pPr>
            <a:r>
              <a:rPr lang="en-US" sz="600" noProof="1">
                <a:solidFill>
                  <a:srgbClr val="6B7280"/>
                </a:solidFill>
                <a:latin typeface="Calibri"/>
                <a:ea typeface="MiSans"/>
                <a:cs typeface="MiSans"/>
              </a:rPr>
              <a:t>（统一管理、可追溯）</a:t>
            </a:r>
            <a:endParaRPr lang="en-US" sz="713" noProof="1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290" name="c5">
            <a:extLst>
              <a:ext uri="{FF2B5EF4-FFF2-40B4-BE49-F238E27FC236}">
                <a16:creationId xmlns:a16="http://schemas.microsoft.com/office/drawing/2014/main" id="{5002831F-3552-2190-719F-79E5FFC5ACBC}"/>
              </a:ext>
            </a:extLst>
          </p:cNvPr>
          <p:cNvSpPr/>
          <p:nvPr/>
        </p:nvSpPr>
        <p:spPr>
          <a:xfrm>
            <a:off x="7221117" y="1621110"/>
            <a:ext cx="1660548" cy="28440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7E1F4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292" name="c5-badge">
            <a:extLst>
              <a:ext uri="{FF2B5EF4-FFF2-40B4-BE49-F238E27FC236}">
                <a16:creationId xmlns:a16="http://schemas.microsoft.com/office/drawing/2014/main" id="{2ADA8892-9024-1413-6992-B0100CDFD140}"/>
              </a:ext>
            </a:extLst>
          </p:cNvPr>
          <p:cNvSpPr/>
          <p:nvPr/>
        </p:nvSpPr>
        <p:spPr>
          <a:xfrm>
            <a:off x="7312860" y="1666982"/>
            <a:ext cx="275229" cy="183486"/>
          </a:xfrm>
          <a:prstGeom prst="roundRect">
            <a:avLst>
              <a:gd name="adj" fmla="val 22000"/>
            </a:avLst>
          </a:prstGeom>
          <a:solidFill>
            <a:srgbClr val="0296D5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294" name="c5-badge-text">
            <a:extLst>
              <a:ext uri="{FF2B5EF4-FFF2-40B4-BE49-F238E27FC236}">
                <a16:creationId xmlns:a16="http://schemas.microsoft.com/office/drawing/2014/main" id="{CDF56A19-2F7F-323B-4F78-1C4071DD9B6B}"/>
              </a:ext>
            </a:extLst>
          </p:cNvPr>
          <p:cNvSpPr txBox="1"/>
          <p:nvPr/>
        </p:nvSpPr>
        <p:spPr>
          <a:xfrm>
            <a:off x="7312860" y="1666982"/>
            <a:ext cx="275229" cy="1834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788" b="1" noProof="1">
                <a:solidFill>
                  <a:srgbClr val="FFFFFF"/>
                </a:solidFill>
                <a:latin typeface="Calibri"/>
                <a:ea typeface="MiSans"/>
                <a:cs typeface="MiSans"/>
              </a:rPr>
              <a:t>05</a:t>
            </a:r>
            <a:endParaRPr lang="en-US" sz="788" noProof="1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grpSp>
        <p:nvGrpSpPr>
          <p:cNvPr id="331" name="Group 330">
            <a:extLst>
              <a:ext uri="{FF2B5EF4-FFF2-40B4-BE49-F238E27FC236}">
                <a16:creationId xmlns:a16="http://schemas.microsoft.com/office/drawing/2014/main" id="{8A97E806-2FEE-72AE-ADE4-73E146FE8E85}"/>
              </a:ext>
            </a:extLst>
          </p:cNvPr>
          <p:cNvGrpSpPr/>
          <p:nvPr/>
        </p:nvGrpSpPr>
        <p:grpSpPr>
          <a:xfrm>
            <a:off x="7851591" y="1409583"/>
            <a:ext cx="399600" cy="399600"/>
            <a:chOff x="7851591" y="1409583"/>
            <a:chExt cx="399600" cy="399600"/>
          </a:xfrm>
        </p:grpSpPr>
        <p:sp>
          <p:nvSpPr>
            <p:cNvPr id="296" name="c5-circle">
              <a:extLst>
                <a:ext uri="{FF2B5EF4-FFF2-40B4-BE49-F238E27FC236}">
                  <a16:creationId xmlns:a16="http://schemas.microsoft.com/office/drawing/2014/main" id="{3E363F79-BEAC-5980-DD4E-C078C36F012D}"/>
                </a:ext>
              </a:extLst>
            </p:cNvPr>
            <p:cNvSpPr/>
            <p:nvPr/>
          </p:nvSpPr>
          <p:spPr>
            <a:xfrm>
              <a:off x="7851591" y="1409583"/>
              <a:ext cx="399600" cy="3996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A5D7F5"/>
              </a:solidFill>
            </a:ln>
          </p:spPr>
          <p:txBody>
            <a:bodyPr/>
            <a:lstStyle/>
            <a:p>
              <a:pPr defTabSz="685800"/>
              <a:endParaRPr lang="zh-CN" altLang="en-US" sz="1350">
                <a:solidFill>
                  <a:srgbClr val="000000"/>
                </a:solidFill>
                <a:latin typeface="MiSans"/>
                <a:ea typeface="MiSans"/>
                <a:cs typeface="MiSans"/>
              </a:endParaRPr>
            </a:p>
          </p:txBody>
        </p:sp>
        <p:sp>
          <p:nvSpPr>
            <p:cNvPr id="298" name="c5-icon">
              <a:extLst>
                <a:ext uri="{FF2B5EF4-FFF2-40B4-BE49-F238E27FC236}">
                  <a16:creationId xmlns:a16="http://schemas.microsoft.com/office/drawing/2014/main" id="{B78F4EEC-EB30-755D-E09B-2A75BD5F7E45}"/>
                </a:ext>
              </a:extLst>
            </p:cNvPr>
            <p:cNvSpPr/>
            <p:nvPr>
              <p:extLst>
                <p:ext uri="{F5677B7D-0D2A-4D9B-9A5C-6D8D7D0E5A5D}">
  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eyJpY29uTmFtZSI6ImZhczpjb2lucyJ9</pptd:icon>
                </p:ext>
              </p:extLst>
            </p:nvPr>
          </p:nvSpPr>
          <p:spPr>
            <a:xfrm>
              <a:off x="7932856" y="1490848"/>
              <a:ext cx="237070" cy="237070"/>
            </a:xfrm>
            <a:custGeom>
              <a:avLst/>
              <a:gdLst/>
              <a:ahLst/>
              <a:cxnLst/>
              <a:rect l="l" t="t" r="r" b="b"/>
              <a:pathLst>
                <a:path w="512" h="512">
                  <a:moveTo>
                    <a:pt x="128" y="96"/>
                  </a:moveTo>
                  <a:lnTo>
                    <a:pt x="128" y="80"/>
                  </a:lnTo>
                  <a:cubicBezTo>
                    <a:pt x="128" y="36"/>
                    <a:pt x="214" y="0"/>
                    <a:pt x="320" y="0"/>
                  </a:cubicBezTo>
                  <a:cubicBezTo>
                    <a:pt x="426" y="0"/>
                    <a:pt x="512" y="36"/>
                    <a:pt x="512" y="80"/>
                  </a:cubicBezTo>
                  <a:lnTo>
                    <a:pt x="512" y="96"/>
                  </a:lnTo>
                  <a:cubicBezTo>
                    <a:pt x="512" y="127"/>
                    <a:pt x="471" y="153"/>
                    <a:pt x="410" y="167"/>
                  </a:cubicBezTo>
                  <a:cubicBezTo>
                    <a:pt x="408" y="164"/>
                    <a:pt x="405" y="161"/>
                    <a:pt x="403" y="159"/>
                  </a:cubicBezTo>
                  <a:cubicBezTo>
                    <a:pt x="387" y="143"/>
                    <a:pt x="367" y="132"/>
                    <a:pt x="346" y="123"/>
                  </a:cubicBezTo>
                  <a:cubicBezTo>
                    <a:pt x="304" y="106"/>
                    <a:pt x="250" y="96"/>
                    <a:pt x="192" y="96"/>
                  </a:cubicBezTo>
                  <a:cubicBezTo>
                    <a:pt x="170" y="96"/>
                    <a:pt x="149" y="98"/>
                    <a:pt x="128" y="100"/>
                  </a:cubicBezTo>
                  <a:cubicBezTo>
                    <a:pt x="128" y="99"/>
                    <a:pt x="128" y="97"/>
                    <a:pt x="128" y="96"/>
                  </a:cubicBezTo>
                  <a:close/>
                </a:path>
                <a:path w="512" h="512">
                  <a:moveTo>
                    <a:pt x="432" y="353"/>
                  </a:moveTo>
                  <a:lnTo>
                    <a:pt x="432" y="307"/>
                  </a:lnTo>
                  <a:cubicBezTo>
                    <a:pt x="447" y="303"/>
                    <a:pt x="461" y="298"/>
                    <a:pt x="474" y="293"/>
                  </a:cubicBezTo>
                  <a:cubicBezTo>
                    <a:pt x="487" y="287"/>
                    <a:pt x="500" y="281"/>
                    <a:pt x="512" y="273"/>
                  </a:cubicBezTo>
                  <a:lnTo>
                    <a:pt x="512" y="288"/>
                  </a:lnTo>
                  <a:cubicBezTo>
                    <a:pt x="512" y="315"/>
                    <a:pt x="481" y="339"/>
                    <a:pt x="432" y="353"/>
                  </a:cubicBezTo>
                  <a:close/>
                </a:path>
                <a:path w="512" h="512">
                  <a:moveTo>
                    <a:pt x="432" y="257"/>
                  </a:moveTo>
                  <a:lnTo>
                    <a:pt x="432" y="224"/>
                  </a:lnTo>
                  <a:cubicBezTo>
                    <a:pt x="432" y="220"/>
                    <a:pt x="432" y="215"/>
                    <a:pt x="431" y="211"/>
                  </a:cubicBezTo>
                  <a:cubicBezTo>
                    <a:pt x="447" y="207"/>
                    <a:pt x="461" y="202"/>
                    <a:pt x="474" y="197"/>
                  </a:cubicBezTo>
                  <a:cubicBezTo>
                    <a:pt x="487" y="191"/>
                    <a:pt x="500" y="185"/>
                    <a:pt x="512" y="177"/>
                  </a:cubicBezTo>
                  <a:lnTo>
                    <a:pt x="512" y="192"/>
                  </a:lnTo>
                  <a:cubicBezTo>
                    <a:pt x="512" y="219"/>
                    <a:pt x="481" y="242"/>
                    <a:pt x="432" y="257"/>
                  </a:cubicBezTo>
                  <a:close/>
                </a:path>
                <a:path w="512" h="512">
                  <a:moveTo>
                    <a:pt x="0" y="240"/>
                  </a:moveTo>
                  <a:lnTo>
                    <a:pt x="0" y="224"/>
                  </a:lnTo>
                  <a:cubicBezTo>
                    <a:pt x="0" y="180"/>
                    <a:pt x="86" y="144"/>
                    <a:pt x="192" y="144"/>
                  </a:cubicBezTo>
                  <a:cubicBezTo>
                    <a:pt x="298" y="144"/>
                    <a:pt x="384" y="180"/>
                    <a:pt x="384" y="224"/>
                  </a:cubicBezTo>
                  <a:lnTo>
                    <a:pt x="384" y="240"/>
                  </a:lnTo>
                  <a:cubicBezTo>
                    <a:pt x="384" y="284"/>
                    <a:pt x="298" y="320"/>
                    <a:pt x="192" y="320"/>
                  </a:cubicBezTo>
                  <a:cubicBezTo>
                    <a:pt x="86" y="320"/>
                    <a:pt x="0" y="284"/>
                    <a:pt x="0" y="240"/>
                  </a:cubicBezTo>
                  <a:close/>
                </a:path>
                <a:path w="512" h="512">
                  <a:moveTo>
                    <a:pt x="384" y="336"/>
                  </a:moveTo>
                  <a:cubicBezTo>
                    <a:pt x="384" y="380"/>
                    <a:pt x="298" y="416"/>
                    <a:pt x="192" y="416"/>
                  </a:cubicBezTo>
                  <a:cubicBezTo>
                    <a:pt x="86" y="416"/>
                    <a:pt x="0" y="380"/>
                    <a:pt x="0" y="336"/>
                  </a:cubicBezTo>
                  <a:lnTo>
                    <a:pt x="0" y="321"/>
                  </a:lnTo>
                  <a:cubicBezTo>
                    <a:pt x="12" y="329"/>
                    <a:pt x="25" y="335"/>
                    <a:pt x="38" y="341"/>
                  </a:cubicBezTo>
                  <a:cubicBezTo>
                    <a:pt x="80" y="358"/>
                    <a:pt x="134" y="368"/>
                    <a:pt x="192" y="368"/>
                  </a:cubicBezTo>
                  <a:cubicBezTo>
                    <a:pt x="250" y="368"/>
                    <a:pt x="304" y="358"/>
                    <a:pt x="346" y="341"/>
                  </a:cubicBezTo>
                  <a:cubicBezTo>
                    <a:pt x="359" y="335"/>
                    <a:pt x="372" y="329"/>
                    <a:pt x="384" y="321"/>
                  </a:cubicBezTo>
                  <a:lnTo>
                    <a:pt x="384" y="336"/>
                  </a:lnTo>
                  <a:close/>
                </a:path>
                <a:path w="512" h="512">
                  <a:moveTo>
                    <a:pt x="384" y="417"/>
                  </a:moveTo>
                  <a:lnTo>
                    <a:pt x="384" y="432"/>
                  </a:lnTo>
                  <a:cubicBezTo>
                    <a:pt x="384" y="476"/>
                    <a:pt x="298" y="512"/>
                    <a:pt x="192" y="512"/>
                  </a:cubicBezTo>
                  <a:cubicBezTo>
                    <a:pt x="86" y="512"/>
                    <a:pt x="0" y="476"/>
                    <a:pt x="0" y="432"/>
                  </a:cubicBezTo>
                  <a:lnTo>
                    <a:pt x="0" y="417"/>
                  </a:lnTo>
                  <a:cubicBezTo>
                    <a:pt x="12" y="425"/>
                    <a:pt x="25" y="431"/>
                    <a:pt x="38" y="437"/>
                  </a:cubicBezTo>
                  <a:cubicBezTo>
                    <a:pt x="80" y="454"/>
                    <a:pt x="134" y="464"/>
                    <a:pt x="192" y="464"/>
                  </a:cubicBezTo>
                  <a:cubicBezTo>
                    <a:pt x="250" y="464"/>
                    <a:pt x="304" y="454"/>
                    <a:pt x="346" y="437"/>
                  </a:cubicBezTo>
                  <a:cubicBezTo>
                    <a:pt x="359" y="431"/>
                    <a:pt x="372" y="425"/>
                    <a:pt x="384" y="417"/>
                  </a:cubicBezTo>
                  <a:close/>
                </a:path>
              </a:pathLst>
            </a:custGeom>
            <a:solidFill>
              <a:srgbClr val="008ACB"/>
            </a:solidFill>
            <a:ln>
              <a:noFill/>
            </a:ln>
          </p:spPr>
          <p:txBody>
            <a:bodyPr/>
            <a:lstStyle/>
            <a:p>
              <a:pPr defTabSz="685800"/>
              <a:endParaRPr lang="zh-CN" altLang="en-US" sz="1350">
                <a:solidFill>
                  <a:srgbClr val="000000"/>
                </a:solidFill>
                <a:latin typeface="MiSans"/>
                <a:ea typeface="MiSans"/>
                <a:cs typeface="MiSans"/>
              </a:endParaRPr>
            </a:p>
          </p:txBody>
        </p:sp>
      </p:grpSp>
      <p:sp>
        <p:nvSpPr>
          <p:cNvPr id="300" name="c5-title">
            <a:extLst>
              <a:ext uri="{FF2B5EF4-FFF2-40B4-BE49-F238E27FC236}">
                <a16:creationId xmlns:a16="http://schemas.microsoft.com/office/drawing/2014/main" id="{AD92CE02-954B-7D2D-ED20-EC5611742896}"/>
              </a:ext>
            </a:extLst>
          </p:cNvPr>
          <p:cNvSpPr txBox="1"/>
          <p:nvPr/>
        </p:nvSpPr>
        <p:spPr>
          <a:xfrm>
            <a:off x="7266988" y="1906943"/>
            <a:ext cx="1568805" cy="385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1200" b="1" noProof="1">
                <a:solidFill>
                  <a:srgbClr val="008ACB"/>
                </a:solidFill>
                <a:latin typeface="Calibri"/>
                <a:ea typeface="MiSans"/>
                <a:cs typeface="MiSans"/>
              </a:rPr>
              <a:t>成本与长期可</a:t>
            </a:r>
            <a:endParaRPr lang="en-US" sz="1200" noProof="1">
              <a:solidFill>
                <a:srgbClr val="000000"/>
              </a:solidFill>
              <a:latin typeface="MiSans"/>
              <a:ea typeface="MiSans"/>
              <a:cs typeface="MiSans"/>
            </a:endParaRPr>
          </a:p>
          <a:p>
            <a:pPr algn="ctr" defTabSz="685800"/>
            <a:r>
              <a:rPr lang="en-US" sz="1200" b="1" noProof="1">
                <a:solidFill>
                  <a:srgbClr val="008ACB"/>
                </a:solidFill>
                <a:latin typeface="Calibri"/>
                <a:ea typeface="MiSans"/>
                <a:cs typeface="MiSans"/>
              </a:rPr>
              <a:t>持续性</a:t>
            </a:r>
            <a:endParaRPr lang="en-US" sz="1200" noProof="1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302" name="c5-desc">
            <a:extLst>
              <a:ext uri="{FF2B5EF4-FFF2-40B4-BE49-F238E27FC236}">
                <a16:creationId xmlns:a16="http://schemas.microsoft.com/office/drawing/2014/main" id="{1EF1D426-B083-89C3-BC8E-EA31BC9DAA27}"/>
              </a:ext>
            </a:extLst>
          </p:cNvPr>
          <p:cNvSpPr txBox="1"/>
          <p:nvPr/>
        </p:nvSpPr>
        <p:spPr>
          <a:xfrm>
            <a:off x="7312860" y="2383635"/>
            <a:ext cx="1477062" cy="42201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 defTabSz="685800">
              <a:lnSpc>
                <a:spcPct val="150000"/>
              </a:lnSpc>
            </a:pPr>
            <a:r>
              <a:rPr lang="en-US" sz="700" noProof="1">
                <a:latin typeface="Calibri (Body)"/>
                <a:ea typeface="MiSans"/>
                <a:cs typeface="MiSans"/>
              </a:rPr>
              <a:t>综合考虑建设、运行、许可及未来扩容后的总成本，评估经济性与长期可持续性</a:t>
            </a:r>
          </a:p>
        </p:txBody>
      </p:sp>
      <p:sp>
        <p:nvSpPr>
          <p:cNvPr id="304" name="c5-divider">
            <a:extLst>
              <a:ext uri="{FF2B5EF4-FFF2-40B4-BE49-F238E27FC236}">
                <a16:creationId xmlns:a16="http://schemas.microsoft.com/office/drawing/2014/main" id="{B3A35159-26CF-7493-3153-0BDEFA00EDBA}"/>
              </a:ext>
            </a:extLst>
          </p:cNvPr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eyJ2aWV3Qm94IjpbMSwxXSwicG9pbnRzIjoiMCwwLjUgMSwwLjUifQ</pptd:line>
              </p:ext>
            </p:extLst>
          </p:nvPr>
        </p:nvSpPr>
        <p:spPr>
          <a:xfrm>
            <a:off x="7312860" y="2870932"/>
            <a:ext cx="1477062" cy="18349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1"/>
                </a:moveTo>
                <a:lnTo>
                  <a:pt x="1" y="1"/>
                </a:lnTo>
              </a:path>
            </a:pathLst>
          </a:custGeom>
          <a:noFill/>
          <a:ln w="12700" cap="rnd">
            <a:solidFill>
              <a:srgbClr val="A5D7F5"/>
            </a:solidFill>
            <a:prstDash val="dash"/>
            <a:round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306" name="c5-i1-icon">
            <a:extLst>
              <a:ext uri="{FF2B5EF4-FFF2-40B4-BE49-F238E27FC236}">
                <a16:creationId xmlns:a16="http://schemas.microsoft.com/office/drawing/2014/main" id="{258D2CA3-F8CA-D948-87D3-8836CB5E2719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eyJpY29uTmFtZSI6ImZhczpjaXJjbGUtY2hlY2sifQ</pptd:icon>
              </p:ext>
            </p:extLst>
          </p:nvPr>
        </p:nvSpPr>
        <p:spPr>
          <a:xfrm>
            <a:off x="7340383" y="3035011"/>
            <a:ext cx="100917" cy="100917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>
            <a:srgbClr val="008ACB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308" name="c5-i1">
            <a:extLst>
              <a:ext uri="{FF2B5EF4-FFF2-40B4-BE49-F238E27FC236}">
                <a16:creationId xmlns:a16="http://schemas.microsoft.com/office/drawing/2014/main" id="{11055A72-15FF-E051-C476-9331868F21F2}"/>
              </a:ext>
            </a:extLst>
          </p:cNvPr>
          <p:cNvSpPr txBox="1"/>
          <p:nvPr/>
        </p:nvSpPr>
        <p:spPr>
          <a:xfrm>
            <a:off x="7496346" y="2998314"/>
            <a:ext cx="1357796" cy="27522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>
              <a:lnSpc>
                <a:spcPct val="135000"/>
              </a:lnSpc>
            </a:pPr>
            <a:r>
              <a:rPr lang="en-US" sz="713" b="1" noProof="1">
                <a:solidFill>
                  <a:srgbClr val="1F2430"/>
                </a:solidFill>
                <a:latin typeface="Calibri"/>
                <a:ea typeface="MiSans"/>
                <a:cs typeface="MiSans"/>
              </a:rPr>
              <a:t>建设成本</a:t>
            </a:r>
            <a:endParaRPr lang="en-US" sz="713" noProof="1">
              <a:solidFill>
                <a:srgbClr val="000000"/>
              </a:solidFill>
              <a:latin typeface="MiSans"/>
              <a:ea typeface="MiSans"/>
              <a:cs typeface="MiSans"/>
            </a:endParaRPr>
          </a:p>
          <a:p>
            <a:pPr defTabSz="685800">
              <a:lnSpc>
                <a:spcPct val="135000"/>
              </a:lnSpc>
            </a:pPr>
            <a:r>
              <a:rPr lang="en-US" sz="600" noProof="1">
                <a:solidFill>
                  <a:srgbClr val="6B7280"/>
                </a:solidFill>
                <a:latin typeface="Calibri"/>
                <a:ea typeface="MiSans"/>
                <a:cs typeface="MiSans"/>
              </a:rPr>
              <a:t>（研发投入、平台建设）</a:t>
            </a:r>
            <a:endParaRPr lang="en-US" sz="713" noProof="1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310" name="c5-i2-icon">
            <a:extLst>
              <a:ext uri="{FF2B5EF4-FFF2-40B4-BE49-F238E27FC236}">
                <a16:creationId xmlns:a16="http://schemas.microsoft.com/office/drawing/2014/main" id="{B4E280A8-E43E-0806-292E-346CD0BCC0AB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eyJpY29uTmFtZSI6ImZhczpjaXJjbGUtY2hlY2sifQ</pptd:icon>
              </p:ext>
            </p:extLst>
          </p:nvPr>
        </p:nvSpPr>
        <p:spPr>
          <a:xfrm>
            <a:off x="7340383" y="3383634"/>
            <a:ext cx="100917" cy="100917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>
            <a:srgbClr val="008ACB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312" name="c5-i2">
            <a:extLst>
              <a:ext uri="{FF2B5EF4-FFF2-40B4-BE49-F238E27FC236}">
                <a16:creationId xmlns:a16="http://schemas.microsoft.com/office/drawing/2014/main" id="{493A0C4E-9238-BEB7-D02C-81A047102D9B}"/>
              </a:ext>
            </a:extLst>
          </p:cNvPr>
          <p:cNvSpPr txBox="1"/>
          <p:nvPr/>
        </p:nvSpPr>
        <p:spPr>
          <a:xfrm>
            <a:off x="7496346" y="3346937"/>
            <a:ext cx="1357796" cy="27522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>
              <a:lnSpc>
                <a:spcPct val="135000"/>
              </a:lnSpc>
            </a:pPr>
            <a:r>
              <a:rPr lang="en-US" sz="713" b="1" noProof="1">
                <a:solidFill>
                  <a:srgbClr val="1F2430"/>
                </a:solidFill>
                <a:latin typeface="Calibri"/>
                <a:ea typeface="MiSans"/>
                <a:cs typeface="MiSans"/>
              </a:rPr>
              <a:t>运行成本</a:t>
            </a:r>
            <a:endParaRPr lang="en-US" sz="713" noProof="1">
              <a:solidFill>
                <a:srgbClr val="000000"/>
              </a:solidFill>
              <a:latin typeface="MiSans"/>
              <a:ea typeface="MiSans"/>
              <a:cs typeface="MiSans"/>
            </a:endParaRPr>
          </a:p>
          <a:p>
            <a:pPr defTabSz="685800">
              <a:lnSpc>
                <a:spcPct val="135000"/>
              </a:lnSpc>
            </a:pPr>
            <a:r>
              <a:rPr lang="en-US" sz="600" noProof="1">
                <a:solidFill>
                  <a:srgbClr val="6B7280"/>
                </a:solidFill>
                <a:latin typeface="Calibri"/>
                <a:ea typeface="MiSans"/>
                <a:cs typeface="MiSans"/>
              </a:rPr>
              <a:t>（云资源、基础设施）</a:t>
            </a:r>
            <a:endParaRPr lang="en-US" sz="713" noProof="1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314" name="c5-i3-icon">
            <a:extLst>
              <a:ext uri="{FF2B5EF4-FFF2-40B4-BE49-F238E27FC236}">
                <a16:creationId xmlns:a16="http://schemas.microsoft.com/office/drawing/2014/main" id="{EEE59CC5-5930-D85F-5245-4C2C1F233E79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eyJpY29uTmFtZSI6ImZhczpjaXJjbGUtY2hlY2sifQ</pptd:icon>
              </p:ext>
            </p:extLst>
          </p:nvPr>
        </p:nvSpPr>
        <p:spPr>
          <a:xfrm>
            <a:off x="7340383" y="3732257"/>
            <a:ext cx="100917" cy="100917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>
            <a:srgbClr val="008ACB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316" name="c5-i3">
            <a:extLst>
              <a:ext uri="{FF2B5EF4-FFF2-40B4-BE49-F238E27FC236}">
                <a16:creationId xmlns:a16="http://schemas.microsoft.com/office/drawing/2014/main" id="{D5C5FAD7-4408-150D-0862-09E985932530}"/>
              </a:ext>
            </a:extLst>
          </p:cNvPr>
          <p:cNvSpPr txBox="1"/>
          <p:nvPr/>
        </p:nvSpPr>
        <p:spPr>
          <a:xfrm>
            <a:off x="7496346" y="3695560"/>
            <a:ext cx="1357796" cy="27522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>
              <a:lnSpc>
                <a:spcPct val="135000"/>
              </a:lnSpc>
            </a:pPr>
            <a:r>
              <a:rPr lang="en-US" sz="713" b="1" noProof="1">
                <a:solidFill>
                  <a:srgbClr val="1F2430"/>
                </a:solidFill>
                <a:latin typeface="Calibri"/>
                <a:ea typeface="MiSans"/>
                <a:cs typeface="MiSans"/>
              </a:rPr>
              <a:t>许可与软件成本</a:t>
            </a:r>
            <a:endParaRPr lang="en-US" sz="713" noProof="1">
              <a:solidFill>
                <a:srgbClr val="000000"/>
              </a:solidFill>
              <a:latin typeface="MiSans"/>
              <a:ea typeface="MiSans"/>
              <a:cs typeface="MiSans"/>
            </a:endParaRPr>
          </a:p>
          <a:p>
            <a:pPr defTabSz="685800">
              <a:lnSpc>
                <a:spcPct val="135000"/>
              </a:lnSpc>
            </a:pPr>
            <a:r>
              <a:rPr lang="en-US" sz="600" noProof="1">
                <a:solidFill>
                  <a:srgbClr val="6B7280"/>
                </a:solidFill>
                <a:latin typeface="Calibri"/>
                <a:ea typeface="MiSans"/>
                <a:cs typeface="MiSans"/>
              </a:rPr>
              <a:t>（商业许可、席位等）</a:t>
            </a:r>
            <a:endParaRPr lang="en-US" sz="713" noProof="1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318" name="c5-i4-icon">
            <a:extLst>
              <a:ext uri="{FF2B5EF4-FFF2-40B4-BE49-F238E27FC236}">
                <a16:creationId xmlns:a16="http://schemas.microsoft.com/office/drawing/2014/main" id="{F2E646AE-2BE8-5F97-7BDD-4836BDA6EE56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eyJpY29uTmFtZSI6ImZhczpjaXJjbGUtY2hlY2sifQ</pptd:icon>
              </p:ext>
            </p:extLst>
          </p:nvPr>
        </p:nvSpPr>
        <p:spPr>
          <a:xfrm>
            <a:off x="7340383" y="4080880"/>
            <a:ext cx="100917" cy="100917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>
            <a:srgbClr val="008ACB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320" name="c5-i4">
            <a:extLst>
              <a:ext uri="{FF2B5EF4-FFF2-40B4-BE49-F238E27FC236}">
                <a16:creationId xmlns:a16="http://schemas.microsoft.com/office/drawing/2014/main" id="{66F35413-87E7-78CC-218E-79A2D7D5BFF0}"/>
              </a:ext>
            </a:extLst>
          </p:cNvPr>
          <p:cNvSpPr txBox="1"/>
          <p:nvPr/>
        </p:nvSpPr>
        <p:spPr>
          <a:xfrm>
            <a:off x="7496346" y="4044183"/>
            <a:ext cx="1357796" cy="27522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>
              <a:lnSpc>
                <a:spcPct val="135000"/>
              </a:lnSpc>
            </a:pPr>
            <a:r>
              <a:rPr lang="en-US" sz="713" b="1" noProof="1">
                <a:solidFill>
                  <a:srgbClr val="1F2430"/>
                </a:solidFill>
                <a:latin typeface="Calibri"/>
                <a:ea typeface="MiSans"/>
                <a:cs typeface="MiSans"/>
              </a:rPr>
              <a:t>规模经济性</a:t>
            </a:r>
            <a:endParaRPr lang="en-US" sz="713" noProof="1">
              <a:solidFill>
                <a:srgbClr val="000000"/>
              </a:solidFill>
              <a:latin typeface="MiSans"/>
              <a:ea typeface="MiSans"/>
              <a:cs typeface="MiSans"/>
            </a:endParaRPr>
          </a:p>
          <a:p>
            <a:pPr defTabSz="685800">
              <a:lnSpc>
                <a:spcPct val="135000"/>
              </a:lnSpc>
            </a:pPr>
            <a:r>
              <a:rPr lang="en-US" sz="600" noProof="1">
                <a:solidFill>
                  <a:srgbClr val="6B7280"/>
                </a:solidFill>
                <a:latin typeface="Calibri"/>
                <a:ea typeface="MiSans"/>
                <a:cs typeface="MiSans"/>
              </a:rPr>
              <a:t>（长期总体拥有成本）</a:t>
            </a:r>
            <a:endParaRPr lang="en-US" sz="713" noProof="1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</p:spTree>
    <p:extLst>
      <p:ext uri="{BB962C8B-B14F-4D97-AF65-F5344CB8AC3E}">
        <p14:creationId xmlns:p14="http://schemas.microsoft.com/office/powerpoint/2010/main" val="27726117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9F89ED5-2872-0FE8-7D97-1D4732BCBD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China RIMS Solution Proposal</a:t>
            </a:r>
          </a:p>
          <a:p>
            <a:endParaRPr lang="zh-CN" altLang="en-US"/>
          </a:p>
          <a:p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FE9B5AF-968A-7780-5BAE-D56418C86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China RIMS </a:t>
            </a:r>
            <a:r>
              <a:rPr lang="zh-CN" altLang="en-US"/>
              <a:t>技术架构评估与推荐</a:t>
            </a:r>
            <a:br>
              <a:rPr lang="zh-CN" altLang="en-US"/>
            </a:br>
            <a:endParaRPr lang="zh-CN" altLang="en-US"/>
          </a:p>
        </p:txBody>
      </p:sp>
      <p:sp>
        <p:nvSpPr>
          <p:cNvPr id="90" name="th-a">
            <a:extLst>
              <a:ext uri="{FF2B5EF4-FFF2-40B4-BE49-F238E27FC236}">
                <a16:creationId xmlns:a16="http://schemas.microsoft.com/office/drawing/2014/main" id="{72680F03-28F8-A183-60FA-4082D42695A2}"/>
              </a:ext>
            </a:extLst>
          </p:cNvPr>
          <p:cNvSpPr txBox="1"/>
          <p:nvPr/>
        </p:nvSpPr>
        <p:spPr>
          <a:xfrm>
            <a:off x="1971675" y="943168"/>
            <a:ext cx="2105025" cy="2721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defTabSz="685800">
              <a:lnSpc>
                <a:spcPct val="130000"/>
              </a:lnSpc>
            </a:pPr>
            <a:r>
              <a:rPr lang="en-US" sz="863" b="1" noProof="1">
                <a:solidFill>
                  <a:srgbClr val="009CDE"/>
                </a:solidFill>
                <a:latin typeface="+mn-ea"/>
                <a:cs typeface="MiSans"/>
              </a:rPr>
              <a:t>方案 A｜PG + Appsmith</a:t>
            </a:r>
            <a:endParaRPr lang="en-US" sz="863" noProof="1">
              <a:solidFill>
                <a:srgbClr val="009CDE"/>
              </a:solidFill>
              <a:latin typeface="+mn-ea"/>
              <a:cs typeface="MiSans"/>
            </a:endParaRPr>
          </a:p>
          <a:p>
            <a:pPr algn="ctr" defTabSz="685800">
              <a:lnSpc>
                <a:spcPct val="130000"/>
              </a:lnSpc>
            </a:pPr>
            <a:r>
              <a:rPr lang="en-US" sz="600" noProof="1">
                <a:solidFill>
                  <a:srgbClr val="6B7280"/>
                </a:solidFill>
                <a:latin typeface="+mn-ea"/>
                <a:cs typeface="MiSans"/>
              </a:rPr>
              <a:t>低代码快速方案</a:t>
            </a:r>
            <a:endParaRPr lang="en-US" sz="863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92" name="th-b">
            <a:extLst>
              <a:ext uri="{FF2B5EF4-FFF2-40B4-BE49-F238E27FC236}">
                <a16:creationId xmlns:a16="http://schemas.microsoft.com/office/drawing/2014/main" id="{D066C170-881A-9D98-B82D-C908FC26DFFB}"/>
              </a:ext>
            </a:extLst>
          </p:cNvPr>
          <p:cNvSpPr txBox="1"/>
          <p:nvPr/>
        </p:nvSpPr>
        <p:spPr>
          <a:xfrm>
            <a:off x="4114800" y="943168"/>
            <a:ext cx="2105025" cy="2721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defTabSz="685800">
              <a:lnSpc>
                <a:spcPct val="130000"/>
              </a:lnSpc>
            </a:pPr>
            <a:r>
              <a:rPr lang="en-US" sz="863" b="1" noProof="1">
                <a:solidFill>
                  <a:srgbClr val="009CDE"/>
                </a:solidFill>
                <a:latin typeface="+mn-ea"/>
                <a:cs typeface="MiSans"/>
              </a:rPr>
              <a:t>方案 B｜湖仓 + Trino</a:t>
            </a:r>
            <a:endParaRPr lang="en-US" sz="863" noProof="1">
              <a:solidFill>
                <a:srgbClr val="009CDE"/>
              </a:solidFill>
              <a:latin typeface="+mn-ea"/>
              <a:cs typeface="MiSans"/>
            </a:endParaRPr>
          </a:p>
          <a:p>
            <a:pPr algn="ctr" defTabSz="685800">
              <a:lnSpc>
                <a:spcPct val="130000"/>
              </a:lnSpc>
            </a:pPr>
            <a:r>
              <a:rPr lang="en-US" sz="600" noProof="1">
                <a:solidFill>
                  <a:srgbClr val="6B7280"/>
                </a:solidFill>
                <a:latin typeface="+mn-ea"/>
                <a:cs typeface="MiSans"/>
              </a:rPr>
              <a:t>开放灵活方案</a:t>
            </a:r>
            <a:endParaRPr lang="en-US" sz="863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94" name="th-b2">
            <a:extLst>
              <a:ext uri="{FF2B5EF4-FFF2-40B4-BE49-F238E27FC236}">
                <a16:creationId xmlns:a16="http://schemas.microsoft.com/office/drawing/2014/main" id="{DF43B6C0-3EA0-C898-49EB-EA9728059974}"/>
              </a:ext>
            </a:extLst>
          </p:cNvPr>
          <p:cNvSpPr/>
          <p:nvPr/>
        </p:nvSpPr>
        <p:spPr>
          <a:xfrm>
            <a:off x="6257925" y="925027"/>
            <a:ext cx="2619375" cy="308390"/>
          </a:xfrm>
          <a:prstGeom prst="roundRect">
            <a:avLst>
              <a:gd name="adj" fmla="val 12000"/>
            </a:avLst>
          </a:prstGeom>
          <a:solidFill>
            <a:srgbClr val="0099E6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96" name="th-b2-text">
            <a:extLst>
              <a:ext uri="{FF2B5EF4-FFF2-40B4-BE49-F238E27FC236}">
                <a16:creationId xmlns:a16="http://schemas.microsoft.com/office/drawing/2014/main" id="{2CC0053B-D054-4B67-8290-7EA14A1B5C46}"/>
              </a:ext>
            </a:extLst>
          </p:cNvPr>
          <p:cNvSpPr txBox="1"/>
          <p:nvPr/>
        </p:nvSpPr>
        <p:spPr>
          <a:xfrm>
            <a:off x="6257925" y="943168"/>
            <a:ext cx="2619375" cy="2721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defTabSz="685800">
              <a:lnSpc>
                <a:spcPct val="130000"/>
              </a:lnSpc>
            </a:pPr>
            <a:r>
              <a:rPr lang="en-US" sz="863" b="1" noProof="1">
                <a:solidFill>
                  <a:srgbClr val="FFFFFF"/>
                </a:solidFill>
                <a:latin typeface="+mn-ea"/>
                <a:cs typeface="MiSans"/>
              </a:rPr>
              <a:t>方案 B2｜湖仓 + Databricks</a:t>
            </a:r>
            <a:endParaRPr lang="en-US" sz="863" noProof="1">
              <a:solidFill>
                <a:srgbClr val="000000"/>
              </a:solidFill>
              <a:latin typeface="+mn-ea"/>
              <a:cs typeface="MiSans"/>
            </a:endParaRPr>
          </a:p>
          <a:p>
            <a:pPr algn="ctr" defTabSz="685800">
              <a:lnSpc>
                <a:spcPct val="130000"/>
              </a:lnSpc>
            </a:pPr>
            <a:r>
              <a:rPr lang="en-US" sz="600" noProof="1">
                <a:solidFill>
                  <a:srgbClr val="E3F3FD"/>
                </a:solidFill>
                <a:latin typeface="+mn-ea"/>
                <a:cs typeface="MiSans"/>
              </a:rPr>
              <a:t>平台化高效方案</a:t>
            </a:r>
            <a:endParaRPr lang="en-US" sz="863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98" name="b2-col-bg">
            <a:extLst>
              <a:ext uri="{FF2B5EF4-FFF2-40B4-BE49-F238E27FC236}">
                <a16:creationId xmlns:a16="http://schemas.microsoft.com/office/drawing/2014/main" id="{2DA98D7F-6C90-E4E5-9FAB-5702D188E7DC}"/>
              </a:ext>
            </a:extLst>
          </p:cNvPr>
          <p:cNvSpPr/>
          <p:nvPr/>
        </p:nvSpPr>
        <p:spPr>
          <a:xfrm>
            <a:off x="6257925" y="1260625"/>
            <a:ext cx="2619375" cy="3055623"/>
          </a:xfrm>
          <a:prstGeom prst="roundRect">
            <a:avLst>
              <a:gd name="adj" fmla="val 4000"/>
            </a:avLst>
          </a:prstGeom>
          <a:solidFill>
            <a:srgbClr val="F6FBFE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100" name="d1-num-bg">
            <a:extLst>
              <a:ext uri="{FF2B5EF4-FFF2-40B4-BE49-F238E27FC236}">
                <a16:creationId xmlns:a16="http://schemas.microsoft.com/office/drawing/2014/main" id="{1E61B030-D896-C51E-0153-5336BF3063D6}"/>
              </a:ext>
            </a:extLst>
          </p:cNvPr>
          <p:cNvSpPr/>
          <p:nvPr/>
        </p:nvSpPr>
        <p:spPr>
          <a:xfrm>
            <a:off x="676275" y="1304529"/>
            <a:ext cx="190500" cy="181406"/>
          </a:xfrm>
          <a:prstGeom prst="ellipse">
            <a:avLst/>
          </a:prstGeom>
          <a:solidFill>
            <a:srgbClr val="009CDE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102" name="d1-num">
            <a:extLst>
              <a:ext uri="{FF2B5EF4-FFF2-40B4-BE49-F238E27FC236}">
                <a16:creationId xmlns:a16="http://schemas.microsoft.com/office/drawing/2014/main" id="{FA18F502-C355-1861-EE80-21F37A27DF00}"/>
              </a:ext>
            </a:extLst>
          </p:cNvPr>
          <p:cNvSpPr txBox="1"/>
          <p:nvPr/>
        </p:nvSpPr>
        <p:spPr>
          <a:xfrm>
            <a:off x="676275" y="1304529"/>
            <a:ext cx="190500" cy="1814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713" b="1" noProof="1">
                <a:solidFill>
                  <a:srgbClr val="FFFFFF"/>
                </a:solidFill>
                <a:latin typeface="+mn-ea"/>
                <a:cs typeface="MiSans"/>
              </a:rPr>
              <a:t>01</a:t>
            </a:r>
            <a:endParaRPr lang="en-US" sz="713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104" name="d1-text">
            <a:extLst>
              <a:ext uri="{FF2B5EF4-FFF2-40B4-BE49-F238E27FC236}">
                <a16:creationId xmlns:a16="http://schemas.microsoft.com/office/drawing/2014/main" id="{30CDF1B7-EF6E-3B5D-7A8C-9678C6DF23F6}"/>
              </a:ext>
            </a:extLst>
          </p:cNvPr>
          <p:cNvSpPr txBox="1"/>
          <p:nvPr/>
        </p:nvSpPr>
        <p:spPr>
          <a:xfrm>
            <a:off x="923925" y="1324119"/>
            <a:ext cx="981075" cy="56235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>
              <a:lnSpc>
                <a:spcPct val="135000"/>
              </a:lnSpc>
            </a:pPr>
            <a:r>
              <a:rPr lang="en-US" sz="713" b="1" noProof="1">
                <a:solidFill>
                  <a:srgbClr val="333333"/>
                </a:solidFill>
                <a:latin typeface="+mn-ea"/>
                <a:cs typeface="MiSans"/>
              </a:rPr>
              <a:t>业务能力与数据可用性</a:t>
            </a:r>
            <a:endParaRPr lang="en-US" sz="713" noProof="1">
              <a:solidFill>
                <a:srgbClr val="000000"/>
              </a:solidFill>
              <a:latin typeface="+mn-ea"/>
              <a:cs typeface="MiSans"/>
            </a:endParaRPr>
          </a:p>
          <a:p>
            <a:pPr defTabSz="685800">
              <a:lnSpc>
                <a:spcPct val="135000"/>
              </a:lnSpc>
              <a:spcBef>
                <a:spcPts val="225"/>
              </a:spcBef>
            </a:pPr>
            <a:r>
              <a:rPr lang="en-US" sz="525" noProof="1">
                <a:solidFill>
                  <a:srgbClr val="8A94A3"/>
                </a:solidFill>
                <a:latin typeface="+mn-ea"/>
                <a:cs typeface="MiSans"/>
              </a:rPr>
              <a:t>平台是否能够完整承接历史数据，并支持业务与审计人员高效访问与利用归档数据</a:t>
            </a:r>
            <a:endParaRPr lang="en-US" sz="713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106" name="d1-a">
            <a:extLst>
              <a:ext uri="{FF2B5EF4-FFF2-40B4-BE49-F238E27FC236}">
                <a16:creationId xmlns:a16="http://schemas.microsoft.com/office/drawing/2014/main" id="{6C9FD181-2B19-8452-DB7C-68792D586EA0}"/>
              </a:ext>
            </a:extLst>
          </p:cNvPr>
          <p:cNvSpPr txBox="1"/>
          <p:nvPr/>
        </p:nvSpPr>
        <p:spPr>
          <a:xfrm>
            <a:off x="2057400" y="1324119"/>
            <a:ext cx="1971675" cy="56235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>
              <a:lnSpc>
                <a:spcPct val="135000"/>
              </a:lnSpc>
            </a:pPr>
            <a:r>
              <a:rPr lang="en-US" sz="638" noProof="1">
                <a:solidFill>
                  <a:srgbClr val="F5B20E"/>
                </a:solidFill>
                <a:latin typeface="+mn-ea"/>
                <a:cs typeface="MiSans"/>
              </a:rPr>
              <a:t>▲</a:t>
            </a:r>
            <a:r>
              <a:rPr lang="en-US" sz="638" noProof="1">
                <a:solidFill>
                  <a:srgbClr val="1F2430"/>
                </a:solidFill>
                <a:latin typeface="+mn-ea"/>
                <a:cs typeface="MiSans"/>
              </a:rPr>
              <a:t> </a:t>
            </a:r>
            <a:r>
              <a:rPr lang="en-US" sz="638" b="1" noProof="1">
                <a:solidFill>
                  <a:srgbClr val="1F2430"/>
                </a:solidFill>
                <a:latin typeface="+mn-ea"/>
                <a:cs typeface="MiSans"/>
              </a:rPr>
              <a:t>存在明显局限</a:t>
            </a:r>
            <a:endParaRPr lang="en-US" sz="638" noProof="1">
              <a:solidFill>
                <a:srgbClr val="000000"/>
              </a:solidFill>
              <a:latin typeface="+mn-ea"/>
              <a:cs typeface="MiSans"/>
            </a:endParaRPr>
          </a:p>
          <a:p>
            <a:pPr defTabSz="685800">
              <a:lnSpc>
                <a:spcPct val="135000"/>
              </a:lnSpc>
              <a:spcBef>
                <a:spcPts val="150"/>
              </a:spcBef>
            </a:pPr>
            <a:r>
              <a:rPr lang="en-US" sz="638" noProof="1">
                <a:solidFill>
                  <a:srgbClr val="9AA1AC"/>
                </a:solidFill>
                <a:latin typeface="+mn-ea"/>
                <a:cs typeface="MiSans"/>
              </a:rPr>
              <a:t>•</a:t>
            </a:r>
            <a:r>
              <a:rPr lang="en-US" sz="638" noProof="1">
                <a:solidFill>
                  <a:srgbClr val="1F2430"/>
                </a:solidFill>
                <a:latin typeface="+mn-ea"/>
                <a:cs typeface="MiSans"/>
              </a:rPr>
              <a:t> 仅约 10% 高频关联表进入 PG</a:t>
            </a:r>
            <a:endParaRPr lang="en-US" sz="638" noProof="1">
              <a:solidFill>
                <a:srgbClr val="000000"/>
              </a:solidFill>
              <a:latin typeface="+mn-ea"/>
              <a:cs typeface="MiSans"/>
            </a:endParaRPr>
          </a:p>
          <a:p>
            <a:pPr defTabSz="685800">
              <a:lnSpc>
                <a:spcPct val="135000"/>
              </a:lnSpc>
            </a:pPr>
            <a:r>
              <a:rPr lang="en-US" sz="638" noProof="1">
                <a:solidFill>
                  <a:srgbClr val="9AA1AC"/>
                </a:solidFill>
                <a:latin typeface="+mn-ea"/>
                <a:cs typeface="MiSans"/>
              </a:rPr>
              <a:t>•</a:t>
            </a:r>
            <a:r>
              <a:rPr lang="en-US" sz="638" noProof="1">
                <a:solidFill>
                  <a:srgbClr val="1F2430"/>
                </a:solidFill>
                <a:latin typeface="+mn-ea"/>
                <a:cs typeface="MiSans"/>
              </a:rPr>
              <a:t> 冷数据仅文件留存，无法 SQL 检索</a:t>
            </a:r>
            <a:endParaRPr lang="en-US" sz="638" noProof="1">
              <a:solidFill>
                <a:srgbClr val="000000"/>
              </a:solidFill>
              <a:latin typeface="+mn-ea"/>
              <a:cs typeface="MiSans"/>
            </a:endParaRPr>
          </a:p>
          <a:p>
            <a:pPr defTabSz="685800">
              <a:lnSpc>
                <a:spcPct val="135000"/>
              </a:lnSpc>
            </a:pPr>
            <a:r>
              <a:rPr lang="en-US" sz="638" noProof="1">
                <a:solidFill>
                  <a:srgbClr val="9AA1AC"/>
                </a:solidFill>
                <a:latin typeface="+mn-ea"/>
                <a:cs typeface="MiSans"/>
              </a:rPr>
              <a:t>•</a:t>
            </a:r>
            <a:r>
              <a:rPr lang="en-US" sz="638" noProof="1">
                <a:solidFill>
                  <a:srgbClr val="1F2430"/>
                </a:solidFill>
                <a:latin typeface="+mn-ea"/>
                <a:cs typeface="MiSans"/>
              </a:rPr>
              <a:t> 不支持跨系统联邦查询</a:t>
            </a:r>
            <a:endParaRPr lang="en-US" sz="638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108" name="d1-b">
            <a:extLst>
              <a:ext uri="{FF2B5EF4-FFF2-40B4-BE49-F238E27FC236}">
                <a16:creationId xmlns:a16="http://schemas.microsoft.com/office/drawing/2014/main" id="{89846FF9-D3C3-11A9-074A-55A8C001A1E6}"/>
              </a:ext>
            </a:extLst>
          </p:cNvPr>
          <p:cNvSpPr txBox="1"/>
          <p:nvPr/>
        </p:nvSpPr>
        <p:spPr>
          <a:xfrm>
            <a:off x="4200525" y="1324119"/>
            <a:ext cx="1971675" cy="56235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>
              <a:lnSpc>
                <a:spcPct val="135000"/>
              </a:lnSpc>
            </a:pPr>
            <a:r>
              <a:rPr lang="en-US" sz="638" noProof="1">
                <a:solidFill>
                  <a:srgbClr val="13956B"/>
                </a:solidFill>
                <a:latin typeface="+mn-ea"/>
                <a:cs typeface="MiSans"/>
              </a:rPr>
              <a:t>●</a:t>
            </a:r>
            <a:r>
              <a:rPr lang="en-US" sz="638" noProof="1">
                <a:solidFill>
                  <a:srgbClr val="1F2430"/>
                </a:solidFill>
                <a:latin typeface="+mn-ea"/>
                <a:cs typeface="MiSans"/>
              </a:rPr>
              <a:t> </a:t>
            </a:r>
            <a:r>
              <a:rPr lang="en-US" sz="638" b="1" noProof="1">
                <a:solidFill>
                  <a:srgbClr val="1F2430"/>
                </a:solidFill>
                <a:latin typeface="+mn-ea"/>
                <a:cs typeface="MiSans"/>
              </a:rPr>
              <a:t>能力较强</a:t>
            </a:r>
            <a:endParaRPr lang="en-US" sz="638" noProof="1">
              <a:solidFill>
                <a:srgbClr val="000000"/>
              </a:solidFill>
              <a:latin typeface="+mn-ea"/>
              <a:cs typeface="MiSans"/>
            </a:endParaRPr>
          </a:p>
          <a:p>
            <a:pPr defTabSz="685800">
              <a:lnSpc>
                <a:spcPct val="135000"/>
              </a:lnSpc>
              <a:spcBef>
                <a:spcPts val="150"/>
              </a:spcBef>
            </a:pPr>
            <a:r>
              <a:rPr lang="en-US" sz="638" noProof="1">
                <a:solidFill>
                  <a:srgbClr val="9AA1AC"/>
                </a:solidFill>
                <a:latin typeface="+mn-ea"/>
                <a:cs typeface="MiSans"/>
              </a:rPr>
              <a:t>•</a:t>
            </a:r>
            <a:r>
              <a:rPr lang="en-US" sz="638" noProof="1">
                <a:solidFill>
                  <a:srgbClr val="1F2430"/>
                </a:solidFill>
                <a:latin typeface="+mn-ea"/>
                <a:cs typeface="MiSans"/>
              </a:rPr>
              <a:t> 历史数据全量入湖，100% 可 SQL 查询</a:t>
            </a:r>
            <a:endParaRPr lang="en-US" sz="638" noProof="1">
              <a:solidFill>
                <a:srgbClr val="000000"/>
              </a:solidFill>
              <a:latin typeface="+mn-ea"/>
              <a:cs typeface="MiSans"/>
            </a:endParaRPr>
          </a:p>
          <a:p>
            <a:pPr defTabSz="685800">
              <a:lnSpc>
                <a:spcPct val="135000"/>
              </a:lnSpc>
            </a:pPr>
            <a:r>
              <a:rPr lang="en-US" sz="638" noProof="1">
                <a:solidFill>
                  <a:srgbClr val="9AA1AC"/>
                </a:solidFill>
                <a:latin typeface="+mn-ea"/>
                <a:cs typeface="MiSans"/>
              </a:rPr>
              <a:t>•</a:t>
            </a:r>
            <a:r>
              <a:rPr lang="en-US" sz="638" noProof="1">
                <a:solidFill>
                  <a:srgbClr val="1F2430"/>
                </a:solidFill>
                <a:latin typeface="+mn-ea"/>
                <a:cs typeface="MiSans"/>
              </a:rPr>
              <a:t> 通过 Trino 提供统一 SQL 访问能力</a:t>
            </a:r>
            <a:endParaRPr lang="en-US" sz="638" noProof="1">
              <a:solidFill>
                <a:srgbClr val="000000"/>
              </a:solidFill>
              <a:latin typeface="+mn-ea"/>
              <a:cs typeface="MiSans"/>
            </a:endParaRPr>
          </a:p>
          <a:p>
            <a:pPr defTabSz="685800">
              <a:lnSpc>
                <a:spcPct val="135000"/>
              </a:lnSpc>
            </a:pPr>
            <a:r>
              <a:rPr lang="en-US" sz="638" noProof="1">
                <a:solidFill>
                  <a:srgbClr val="9AA1AC"/>
                </a:solidFill>
                <a:latin typeface="+mn-ea"/>
                <a:cs typeface="MiSans"/>
              </a:rPr>
              <a:t>•</a:t>
            </a:r>
            <a:r>
              <a:rPr lang="en-US" sz="638" noProof="1">
                <a:solidFill>
                  <a:srgbClr val="1F2430"/>
                </a:solidFill>
                <a:latin typeface="+mn-ea"/>
                <a:cs typeface="MiSans"/>
              </a:rPr>
              <a:t> 不支持跨系统联邦查询</a:t>
            </a:r>
            <a:endParaRPr lang="en-US" sz="638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110" name="d1-b2">
            <a:extLst>
              <a:ext uri="{FF2B5EF4-FFF2-40B4-BE49-F238E27FC236}">
                <a16:creationId xmlns:a16="http://schemas.microsoft.com/office/drawing/2014/main" id="{290D949B-F8A7-7918-DDD2-224A50908A75}"/>
              </a:ext>
            </a:extLst>
          </p:cNvPr>
          <p:cNvSpPr txBox="1"/>
          <p:nvPr/>
        </p:nvSpPr>
        <p:spPr>
          <a:xfrm>
            <a:off x="6343650" y="1324119"/>
            <a:ext cx="2466975" cy="4535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>
              <a:lnSpc>
                <a:spcPct val="135000"/>
              </a:lnSpc>
            </a:pPr>
            <a:r>
              <a:rPr lang="en-US" sz="638" noProof="1">
                <a:solidFill>
                  <a:srgbClr val="13956B"/>
                </a:solidFill>
                <a:latin typeface="+mn-ea"/>
                <a:cs typeface="MiSans"/>
              </a:rPr>
              <a:t>●</a:t>
            </a:r>
            <a:r>
              <a:rPr lang="en-US" sz="638" noProof="1">
                <a:solidFill>
                  <a:srgbClr val="1F2430"/>
                </a:solidFill>
                <a:latin typeface="+mn-ea"/>
                <a:cs typeface="MiSans"/>
              </a:rPr>
              <a:t> </a:t>
            </a:r>
            <a:r>
              <a:rPr lang="en-US" sz="638" b="1" noProof="1">
                <a:solidFill>
                  <a:srgbClr val="1F2430"/>
                </a:solidFill>
                <a:latin typeface="+mn-ea"/>
                <a:cs typeface="MiSans"/>
              </a:rPr>
              <a:t>优势明显</a:t>
            </a:r>
            <a:endParaRPr lang="en-US" sz="638" noProof="1">
              <a:solidFill>
                <a:srgbClr val="000000"/>
              </a:solidFill>
              <a:latin typeface="+mn-ea"/>
              <a:cs typeface="MiSans"/>
            </a:endParaRPr>
          </a:p>
          <a:p>
            <a:pPr defTabSz="685800">
              <a:lnSpc>
                <a:spcPct val="135000"/>
              </a:lnSpc>
              <a:spcBef>
                <a:spcPts val="150"/>
              </a:spcBef>
            </a:pPr>
            <a:r>
              <a:rPr lang="en-US" sz="638" noProof="1">
                <a:solidFill>
                  <a:srgbClr val="9AA1AC"/>
                </a:solidFill>
                <a:latin typeface="+mn-ea"/>
                <a:cs typeface="MiSans"/>
              </a:rPr>
              <a:t>•</a:t>
            </a:r>
            <a:r>
              <a:rPr lang="en-US" sz="638" noProof="1">
                <a:solidFill>
                  <a:srgbClr val="1F2430"/>
                </a:solidFill>
                <a:latin typeface="+mn-ea"/>
                <a:cs typeface="MiSans"/>
              </a:rPr>
              <a:t> 历史数据全量入湖，100% 可 SQL 查询</a:t>
            </a:r>
            <a:endParaRPr lang="en-US" sz="638" noProof="1">
              <a:solidFill>
                <a:srgbClr val="000000"/>
              </a:solidFill>
              <a:latin typeface="+mn-ea"/>
              <a:cs typeface="MiSans"/>
            </a:endParaRPr>
          </a:p>
          <a:p>
            <a:pPr defTabSz="685800">
              <a:lnSpc>
                <a:spcPct val="135000"/>
              </a:lnSpc>
            </a:pPr>
            <a:r>
              <a:rPr lang="en-US" sz="638" noProof="1">
                <a:solidFill>
                  <a:srgbClr val="9AA1AC"/>
                </a:solidFill>
                <a:latin typeface="+mn-ea"/>
                <a:cs typeface="MiSans"/>
              </a:rPr>
              <a:t>•</a:t>
            </a:r>
            <a:r>
              <a:rPr lang="en-US" sz="638" noProof="1">
                <a:solidFill>
                  <a:srgbClr val="1F2430"/>
                </a:solidFill>
                <a:latin typeface="+mn-ea"/>
                <a:cs typeface="MiSans"/>
              </a:rPr>
              <a:t> 支持跨系统联邦查询与统一审计</a:t>
            </a:r>
            <a:endParaRPr lang="en-US" sz="638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114" name="d2-num-bg">
            <a:extLst>
              <a:ext uri="{FF2B5EF4-FFF2-40B4-BE49-F238E27FC236}">
                <a16:creationId xmlns:a16="http://schemas.microsoft.com/office/drawing/2014/main" id="{47152349-367C-6B2C-3455-9F75D29812B4}"/>
              </a:ext>
            </a:extLst>
          </p:cNvPr>
          <p:cNvSpPr/>
          <p:nvPr/>
        </p:nvSpPr>
        <p:spPr>
          <a:xfrm>
            <a:off x="676275" y="2044854"/>
            <a:ext cx="190500" cy="181406"/>
          </a:xfrm>
          <a:prstGeom prst="ellipse">
            <a:avLst/>
          </a:prstGeom>
          <a:solidFill>
            <a:srgbClr val="009CDE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116" name="d2-num">
            <a:extLst>
              <a:ext uri="{FF2B5EF4-FFF2-40B4-BE49-F238E27FC236}">
                <a16:creationId xmlns:a16="http://schemas.microsoft.com/office/drawing/2014/main" id="{20244C24-A1BA-C911-1AD8-0D78053EA400}"/>
              </a:ext>
            </a:extLst>
          </p:cNvPr>
          <p:cNvSpPr txBox="1"/>
          <p:nvPr/>
        </p:nvSpPr>
        <p:spPr>
          <a:xfrm>
            <a:off x="676275" y="2044854"/>
            <a:ext cx="190500" cy="1814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713" b="1" noProof="1">
                <a:solidFill>
                  <a:srgbClr val="FFFFFF"/>
                </a:solidFill>
                <a:latin typeface="+mn-ea"/>
                <a:cs typeface="MiSans"/>
              </a:rPr>
              <a:t>02</a:t>
            </a:r>
            <a:endParaRPr lang="en-US" sz="713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118" name="d2-text">
            <a:extLst>
              <a:ext uri="{FF2B5EF4-FFF2-40B4-BE49-F238E27FC236}">
                <a16:creationId xmlns:a16="http://schemas.microsoft.com/office/drawing/2014/main" id="{EACA0C37-7009-2B2B-3506-BF4FEF4F1AE6}"/>
              </a:ext>
            </a:extLst>
          </p:cNvPr>
          <p:cNvSpPr txBox="1"/>
          <p:nvPr/>
        </p:nvSpPr>
        <p:spPr>
          <a:xfrm>
            <a:off x="923925" y="2053562"/>
            <a:ext cx="981075" cy="409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>
              <a:lnSpc>
                <a:spcPct val="135000"/>
              </a:lnSpc>
            </a:pPr>
            <a:r>
              <a:rPr lang="en-US" sz="713" b="1" noProof="1">
                <a:solidFill>
                  <a:srgbClr val="333333"/>
                </a:solidFill>
                <a:latin typeface="+mn-ea"/>
                <a:cs typeface="MiSans"/>
              </a:rPr>
              <a:t>安全、治理与合规</a:t>
            </a:r>
            <a:endParaRPr lang="en-US" sz="713" noProof="1">
              <a:solidFill>
                <a:srgbClr val="000000"/>
              </a:solidFill>
              <a:latin typeface="+mn-ea"/>
              <a:cs typeface="MiSans"/>
            </a:endParaRPr>
          </a:p>
          <a:p>
            <a:pPr defTabSz="685800">
              <a:lnSpc>
                <a:spcPct val="135000"/>
              </a:lnSpc>
              <a:spcBef>
                <a:spcPts val="225"/>
              </a:spcBef>
            </a:pPr>
            <a:r>
              <a:rPr lang="en-US" sz="525" noProof="1">
                <a:solidFill>
                  <a:srgbClr val="8A94A3"/>
                </a:solidFill>
                <a:latin typeface="+mn-ea"/>
                <a:cs typeface="MiSans"/>
              </a:rPr>
              <a:t>平台是否具备完整的安全保护、访问控制、审计与合规举证能力</a:t>
            </a:r>
            <a:endParaRPr lang="en-US" sz="713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120" name="d2-a">
            <a:extLst>
              <a:ext uri="{FF2B5EF4-FFF2-40B4-BE49-F238E27FC236}">
                <a16:creationId xmlns:a16="http://schemas.microsoft.com/office/drawing/2014/main" id="{9F858E65-0904-AEAA-558B-81F5382D6416}"/>
              </a:ext>
            </a:extLst>
          </p:cNvPr>
          <p:cNvSpPr txBox="1"/>
          <p:nvPr/>
        </p:nvSpPr>
        <p:spPr>
          <a:xfrm>
            <a:off x="2057400" y="1946638"/>
            <a:ext cx="1971675" cy="56235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>
              <a:lnSpc>
                <a:spcPct val="135000"/>
              </a:lnSpc>
            </a:pPr>
            <a:r>
              <a:rPr lang="en-US" sz="638" noProof="1">
                <a:solidFill>
                  <a:srgbClr val="F5B20E"/>
                </a:solidFill>
                <a:latin typeface="+mn-ea"/>
                <a:cs typeface="MiSans"/>
              </a:rPr>
              <a:t>▲</a:t>
            </a:r>
            <a:r>
              <a:rPr lang="en-US" sz="638" noProof="1">
                <a:solidFill>
                  <a:srgbClr val="1F2430"/>
                </a:solidFill>
                <a:latin typeface="+mn-ea"/>
                <a:cs typeface="MiSans"/>
              </a:rPr>
              <a:t> </a:t>
            </a:r>
            <a:r>
              <a:rPr lang="en-US" sz="638" b="1" noProof="1">
                <a:solidFill>
                  <a:srgbClr val="1F2430"/>
                </a:solidFill>
                <a:latin typeface="+mn-ea"/>
                <a:cs typeface="MiSans"/>
              </a:rPr>
              <a:t>部分满足，能力分散</a:t>
            </a:r>
            <a:endParaRPr lang="en-US" sz="638" noProof="1">
              <a:solidFill>
                <a:srgbClr val="000000"/>
              </a:solidFill>
              <a:latin typeface="+mn-ea"/>
              <a:cs typeface="MiSans"/>
            </a:endParaRPr>
          </a:p>
          <a:p>
            <a:pPr defTabSz="685800">
              <a:lnSpc>
                <a:spcPct val="135000"/>
              </a:lnSpc>
              <a:spcBef>
                <a:spcPts val="150"/>
              </a:spcBef>
            </a:pPr>
            <a:r>
              <a:rPr lang="en-US" sz="638" noProof="1">
                <a:solidFill>
                  <a:srgbClr val="9AA1AC"/>
                </a:solidFill>
                <a:latin typeface="+mn-ea"/>
                <a:cs typeface="MiSans"/>
              </a:rPr>
              <a:t>•</a:t>
            </a:r>
            <a:r>
              <a:rPr lang="en-US" sz="638" noProof="1">
                <a:solidFill>
                  <a:srgbClr val="1F2430"/>
                </a:solidFill>
                <a:latin typeface="+mn-ea"/>
                <a:cs typeface="MiSans"/>
              </a:rPr>
              <a:t> 存储/传输加密可满足，字段保护需自建</a:t>
            </a:r>
            <a:endParaRPr lang="en-US" sz="638" noProof="1">
              <a:solidFill>
                <a:srgbClr val="000000"/>
              </a:solidFill>
              <a:latin typeface="+mn-ea"/>
              <a:cs typeface="MiSans"/>
            </a:endParaRPr>
          </a:p>
          <a:p>
            <a:pPr defTabSz="685800">
              <a:lnSpc>
                <a:spcPct val="135000"/>
              </a:lnSpc>
            </a:pPr>
            <a:r>
              <a:rPr lang="en-US" sz="638" noProof="1">
                <a:solidFill>
                  <a:srgbClr val="9AA1AC"/>
                </a:solidFill>
                <a:latin typeface="+mn-ea"/>
                <a:cs typeface="MiSans"/>
              </a:rPr>
              <a:t>•</a:t>
            </a:r>
            <a:r>
              <a:rPr lang="en-US" sz="638" noProof="1">
                <a:solidFill>
                  <a:srgbClr val="1F2430"/>
                </a:solidFill>
                <a:latin typeface="+mn-ea"/>
                <a:cs typeface="MiSans"/>
              </a:rPr>
              <a:t> 加密字段不可检索、不可排序</a:t>
            </a:r>
            <a:endParaRPr lang="en-US" sz="638" noProof="1">
              <a:solidFill>
                <a:srgbClr val="000000"/>
              </a:solidFill>
              <a:latin typeface="+mn-ea"/>
              <a:cs typeface="MiSans"/>
            </a:endParaRPr>
          </a:p>
          <a:p>
            <a:pPr defTabSz="685800">
              <a:lnSpc>
                <a:spcPct val="135000"/>
              </a:lnSpc>
            </a:pPr>
            <a:r>
              <a:rPr lang="en-US" sz="638" noProof="1">
                <a:solidFill>
                  <a:srgbClr val="9AA1AC"/>
                </a:solidFill>
                <a:latin typeface="+mn-ea"/>
                <a:cs typeface="MiSans"/>
              </a:rPr>
              <a:t>•</a:t>
            </a:r>
            <a:r>
              <a:rPr lang="en-US" sz="638" noProof="1">
                <a:solidFill>
                  <a:srgbClr val="1F2430"/>
                </a:solidFill>
                <a:latin typeface="+mn-ea"/>
                <a:cs typeface="MiSans"/>
              </a:rPr>
              <a:t> 审计需关联多套日志，举证需人工</a:t>
            </a:r>
            <a:endParaRPr lang="en-US" sz="638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122" name="d2-b">
            <a:extLst>
              <a:ext uri="{FF2B5EF4-FFF2-40B4-BE49-F238E27FC236}">
                <a16:creationId xmlns:a16="http://schemas.microsoft.com/office/drawing/2014/main" id="{7675E79A-7484-4A62-3FA1-9811EC383CD7}"/>
              </a:ext>
            </a:extLst>
          </p:cNvPr>
          <p:cNvSpPr txBox="1"/>
          <p:nvPr/>
        </p:nvSpPr>
        <p:spPr>
          <a:xfrm>
            <a:off x="4200525" y="1946638"/>
            <a:ext cx="1971675" cy="56235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>
              <a:lnSpc>
                <a:spcPct val="135000"/>
              </a:lnSpc>
            </a:pPr>
            <a:r>
              <a:rPr lang="en-US" sz="638" noProof="1">
                <a:solidFill>
                  <a:srgbClr val="F5B20E"/>
                </a:solidFill>
                <a:latin typeface="+mn-ea"/>
                <a:cs typeface="MiSans"/>
              </a:rPr>
              <a:t>▲</a:t>
            </a:r>
            <a:r>
              <a:rPr lang="en-US" sz="638" noProof="1">
                <a:solidFill>
                  <a:srgbClr val="1F2430"/>
                </a:solidFill>
                <a:latin typeface="+mn-ea"/>
                <a:cs typeface="MiSans"/>
              </a:rPr>
              <a:t> </a:t>
            </a:r>
            <a:r>
              <a:rPr lang="en-US" sz="638" b="1" noProof="1">
                <a:solidFill>
                  <a:srgbClr val="1F2430"/>
                </a:solidFill>
                <a:latin typeface="+mn-ea"/>
                <a:cs typeface="MiSans"/>
              </a:rPr>
              <a:t>可满足，但需自建较多</a:t>
            </a:r>
            <a:endParaRPr lang="en-US" sz="638" noProof="1">
              <a:solidFill>
                <a:srgbClr val="000000"/>
              </a:solidFill>
              <a:latin typeface="+mn-ea"/>
              <a:cs typeface="MiSans"/>
            </a:endParaRPr>
          </a:p>
          <a:p>
            <a:pPr defTabSz="685800">
              <a:lnSpc>
                <a:spcPct val="135000"/>
              </a:lnSpc>
              <a:spcBef>
                <a:spcPts val="150"/>
              </a:spcBef>
            </a:pPr>
            <a:r>
              <a:rPr lang="en-US" sz="638" noProof="1">
                <a:solidFill>
                  <a:srgbClr val="9AA1AC"/>
                </a:solidFill>
                <a:latin typeface="+mn-ea"/>
                <a:cs typeface="MiSans"/>
              </a:rPr>
              <a:t>•</a:t>
            </a:r>
            <a:r>
              <a:rPr lang="en-US" sz="638" noProof="1">
                <a:solidFill>
                  <a:srgbClr val="1F2430"/>
                </a:solidFill>
                <a:latin typeface="+mn-ea"/>
                <a:cs typeface="MiSans"/>
              </a:rPr>
              <a:t> 采用更强湖仓加密体系，可满足主要安全要求</a:t>
            </a:r>
            <a:endParaRPr lang="en-US" sz="638" noProof="1">
              <a:solidFill>
                <a:srgbClr val="000000"/>
              </a:solidFill>
              <a:latin typeface="+mn-ea"/>
              <a:cs typeface="MiSans"/>
            </a:endParaRPr>
          </a:p>
          <a:p>
            <a:pPr defTabSz="685800">
              <a:lnSpc>
                <a:spcPct val="135000"/>
              </a:lnSpc>
            </a:pPr>
            <a:r>
              <a:rPr lang="en-US" sz="638" noProof="1">
                <a:solidFill>
                  <a:srgbClr val="9AA1AC"/>
                </a:solidFill>
                <a:latin typeface="+mn-ea"/>
                <a:cs typeface="MiSans"/>
              </a:rPr>
              <a:t>•</a:t>
            </a:r>
            <a:r>
              <a:rPr lang="en-US" sz="638" noProof="1">
                <a:solidFill>
                  <a:srgbClr val="1F2430"/>
                </a:solidFill>
                <a:latin typeface="+mn-ea"/>
                <a:cs typeface="MiSans"/>
              </a:rPr>
              <a:t> Trino 权限、审计、脱敏及销毁举证需自建</a:t>
            </a:r>
            <a:endParaRPr lang="en-US" sz="638" noProof="1">
              <a:solidFill>
                <a:srgbClr val="000000"/>
              </a:solidFill>
              <a:latin typeface="+mn-ea"/>
              <a:cs typeface="MiSans"/>
            </a:endParaRPr>
          </a:p>
          <a:p>
            <a:pPr defTabSz="685800">
              <a:lnSpc>
                <a:spcPct val="135000"/>
              </a:lnSpc>
            </a:pPr>
            <a:r>
              <a:rPr lang="en-US" sz="638" noProof="1">
                <a:solidFill>
                  <a:srgbClr val="9AA1AC"/>
                </a:solidFill>
                <a:latin typeface="+mn-ea"/>
                <a:cs typeface="MiSans"/>
              </a:rPr>
              <a:t>•</a:t>
            </a:r>
            <a:r>
              <a:rPr lang="en-US" sz="638" noProof="1">
                <a:solidFill>
                  <a:srgbClr val="1F2430"/>
                </a:solidFill>
                <a:latin typeface="+mn-ea"/>
                <a:cs typeface="MiSans"/>
              </a:rPr>
              <a:t> 列级脱敏不可用，需维护明文+脱敏双份数据</a:t>
            </a:r>
            <a:endParaRPr lang="en-US" sz="638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124" name="d2-b2">
            <a:extLst>
              <a:ext uri="{FF2B5EF4-FFF2-40B4-BE49-F238E27FC236}">
                <a16:creationId xmlns:a16="http://schemas.microsoft.com/office/drawing/2014/main" id="{1FD76221-7126-FEEE-6F92-908153A3F33C}"/>
              </a:ext>
            </a:extLst>
          </p:cNvPr>
          <p:cNvSpPr txBox="1"/>
          <p:nvPr/>
        </p:nvSpPr>
        <p:spPr>
          <a:xfrm>
            <a:off x="6343650" y="1946638"/>
            <a:ext cx="2466975" cy="56235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>
              <a:lnSpc>
                <a:spcPct val="135000"/>
              </a:lnSpc>
            </a:pPr>
            <a:r>
              <a:rPr lang="en-US" sz="638" noProof="1">
                <a:solidFill>
                  <a:srgbClr val="13956B"/>
                </a:solidFill>
                <a:latin typeface="+mn-ea"/>
                <a:cs typeface="MiSans"/>
              </a:rPr>
              <a:t>●</a:t>
            </a:r>
            <a:r>
              <a:rPr lang="en-US" sz="638" noProof="1">
                <a:solidFill>
                  <a:srgbClr val="1F2430"/>
                </a:solidFill>
                <a:latin typeface="+mn-ea"/>
                <a:cs typeface="MiSans"/>
              </a:rPr>
              <a:t> </a:t>
            </a:r>
            <a:r>
              <a:rPr lang="en-US" sz="638" b="1" noProof="1">
                <a:solidFill>
                  <a:srgbClr val="1F2430"/>
                </a:solidFill>
                <a:latin typeface="+mn-ea"/>
                <a:cs typeface="MiSans"/>
              </a:rPr>
              <a:t>优势明显</a:t>
            </a:r>
            <a:endParaRPr lang="en-US" sz="638" noProof="1">
              <a:solidFill>
                <a:srgbClr val="000000"/>
              </a:solidFill>
              <a:latin typeface="+mn-ea"/>
              <a:cs typeface="MiSans"/>
            </a:endParaRPr>
          </a:p>
          <a:p>
            <a:pPr defTabSz="685800">
              <a:lnSpc>
                <a:spcPct val="135000"/>
              </a:lnSpc>
              <a:spcBef>
                <a:spcPts val="150"/>
              </a:spcBef>
            </a:pPr>
            <a:r>
              <a:rPr lang="en-US" sz="638" noProof="1">
                <a:solidFill>
                  <a:srgbClr val="9AA1AC"/>
                </a:solidFill>
                <a:latin typeface="+mn-ea"/>
                <a:cs typeface="MiSans"/>
              </a:rPr>
              <a:t>•</a:t>
            </a:r>
            <a:r>
              <a:rPr lang="en-US" sz="638" noProof="1">
                <a:solidFill>
                  <a:srgbClr val="1F2430"/>
                </a:solidFill>
                <a:latin typeface="+mn-ea"/>
                <a:cs typeface="MiSans"/>
              </a:rPr>
              <a:t> Unity Catalog 原生支持表/行/列级权限</a:t>
            </a:r>
            <a:endParaRPr lang="en-US" sz="638" noProof="1">
              <a:solidFill>
                <a:srgbClr val="000000"/>
              </a:solidFill>
              <a:latin typeface="+mn-ea"/>
              <a:cs typeface="MiSans"/>
            </a:endParaRPr>
          </a:p>
          <a:p>
            <a:pPr defTabSz="685800">
              <a:lnSpc>
                <a:spcPct val="135000"/>
              </a:lnSpc>
            </a:pPr>
            <a:r>
              <a:rPr lang="en-US" sz="638" noProof="1">
                <a:solidFill>
                  <a:srgbClr val="9AA1AC"/>
                </a:solidFill>
                <a:latin typeface="+mn-ea"/>
                <a:cs typeface="MiSans"/>
              </a:rPr>
              <a:t>•</a:t>
            </a:r>
            <a:r>
              <a:rPr lang="en-US" sz="638" noProof="1">
                <a:solidFill>
                  <a:srgbClr val="1F2430"/>
                </a:solidFill>
                <a:latin typeface="+mn-ea"/>
                <a:cs typeface="MiSans"/>
              </a:rPr>
              <a:t> 原生列级脱敏，权限见明文，无权限见掩码</a:t>
            </a:r>
            <a:endParaRPr lang="en-US" sz="638" noProof="1">
              <a:solidFill>
                <a:srgbClr val="000000"/>
              </a:solidFill>
              <a:latin typeface="+mn-ea"/>
              <a:cs typeface="MiSans"/>
            </a:endParaRPr>
          </a:p>
          <a:p>
            <a:pPr defTabSz="685800">
              <a:lnSpc>
                <a:spcPct val="135000"/>
              </a:lnSpc>
            </a:pPr>
            <a:r>
              <a:rPr lang="en-US" sz="638" noProof="1">
                <a:solidFill>
                  <a:srgbClr val="9AA1AC"/>
                </a:solidFill>
                <a:latin typeface="+mn-ea"/>
                <a:cs typeface="MiSans"/>
              </a:rPr>
              <a:t>•</a:t>
            </a:r>
            <a:r>
              <a:rPr lang="en-US" sz="638" noProof="1">
                <a:solidFill>
                  <a:srgbClr val="1F2430"/>
                </a:solidFill>
                <a:latin typeface="+mn-ea"/>
                <a:cs typeface="MiSans"/>
              </a:rPr>
              <a:t> 血缘与审计原生支持，销毁过程可追踪举证</a:t>
            </a:r>
            <a:endParaRPr lang="en-US" sz="638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128" name="d3-num-bg">
            <a:extLst>
              <a:ext uri="{FF2B5EF4-FFF2-40B4-BE49-F238E27FC236}">
                <a16:creationId xmlns:a16="http://schemas.microsoft.com/office/drawing/2014/main" id="{D22F8DC6-A4C3-2417-BB36-835E5F49FE5C}"/>
              </a:ext>
            </a:extLst>
          </p:cNvPr>
          <p:cNvSpPr/>
          <p:nvPr/>
        </p:nvSpPr>
        <p:spPr>
          <a:xfrm>
            <a:off x="676275" y="2612634"/>
            <a:ext cx="190500" cy="181406"/>
          </a:xfrm>
          <a:prstGeom prst="ellipse">
            <a:avLst/>
          </a:prstGeom>
          <a:solidFill>
            <a:srgbClr val="009CDE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130" name="d3-num">
            <a:extLst>
              <a:ext uri="{FF2B5EF4-FFF2-40B4-BE49-F238E27FC236}">
                <a16:creationId xmlns:a16="http://schemas.microsoft.com/office/drawing/2014/main" id="{73C95042-A71A-5341-E623-50F0DA5872EA}"/>
              </a:ext>
            </a:extLst>
          </p:cNvPr>
          <p:cNvSpPr txBox="1"/>
          <p:nvPr/>
        </p:nvSpPr>
        <p:spPr>
          <a:xfrm>
            <a:off x="676275" y="2612634"/>
            <a:ext cx="190500" cy="1814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713" b="1" noProof="1">
                <a:solidFill>
                  <a:srgbClr val="FFFFFF"/>
                </a:solidFill>
                <a:latin typeface="+mn-ea"/>
                <a:cs typeface="MiSans"/>
              </a:rPr>
              <a:t>03</a:t>
            </a:r>
            <a:endParaRPr lang="en-US" sz="713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132" name="d3-text">
            <a:extLst>
              <a:ext uri="{FF2B5EF4-FFF2-40B4-BE49-F238E27FC236}">
                <a16:creationId xmlns:a16="http://schemas.microsoft.com/office/drawing/2014/main" id="{F728CA15-5F2B-E4CC-C103-BF1CE29C42E0}"/>
              </a:ext>
            </a:extLst>
          </p:cNvPr>
          <p:cNvSpPr txBox="1"/>
          <p:nvPr/>
        </p:nvSpPr>
        <p:spPr>
          <a:xfrm>
            <a:off x="923925" y="2615537"/>
            <a:ext cx="981075" cy="39725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>
              <a:lnSpc>
                <a:spcPct val="135000"/>
              </a:lnSpc>
            </a:pPr>
            <a:r>
              <a:rPr lang="en-US" sz="713" b="1" noProof="1">
                <a:solidFill>
                  <a:srgbClr val="333333"/>
                </a:solidFill>
                <a:latin typeface="+mn-ea"/>
                <a:cs typeface="MiSans"/>
              </a:rPr>
              <a:t>性能与可扩展性</a:t>
            </a:r>
            <a:endParaRPr lang="en-US" sz="713" noProof="1">
              <a:solidFill>
                <a:srgbClr val="000000"/>
              </a:solidFill>
              <a:latin typeface="+mn-ea"/>
              <a:cs typeface="MiSans"/>
            </a:endParaRPr>
          </a:p>
          <a:p>
            <a:pPr defTabSz="685800">
              <a:lnSpc>
                <a:spcPct val="135000"/>
              </a:lnSpc>
              <a:spcBef>
                <a:spcPts val="225"/>
              </a:spcBef>
            </a:pPr>
            <a:r>
              <a:rPr lang="en-US" sz="525" noProof="1">
                <a:solidFill>
                  <a:srgbClr val="8A94A3"/>
                </a:solidFill>
                <a:latin typeface="+mn-ea"/>
                <a:cs typeface="MiSans"/>
              </a:rPr>
              <a:t>平台能否在数据增长和并发需求增加时保持稳定性能与弹性扩展</a:t>
            </a:r>
            <a:endParaRPr lang="en-US" sz="713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134" name="d3-a">
            <a:extLst>
              <a:ext uri="{FF2B5EF4-FFF2-40B4-BE49-F238E27FC236}">
                <a16:creationId xmlns:a16="http://schemas.microsoft.com/office/drawing/2014/main" id="{AFE52922-9BFA-9D3B-399A-B2EED9F77462}"/>
              </a:ext>
            </a:extLst>
          </p:cNvPr>
          <p:cNvSpPr txBox="1"/>
          <p:nvPr/>
        </p:nvSpPr>
        <p:spPr>
          <a:xfrm>
            <a:off x="2057400" y="2615538"/>
            <a:ext cx="2076450" cy="4335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>
              <a:lnSpc>
                <a:spcPct val="135000"/>
              </a:lnSpc>
            </a:pPr>
            <a:r>
              <a:rPr lang="en-US" sz="638" noProof="1">
                <a:solidFill>
                  <a:srgbClr val="F5B20E"/>
                </a:solidFill>
                <a:latin typeface="+mn-ea"/>
                <a:cs typeface="MiSans"/>
              </a:rPr>
              <a:t>▲</a:t>
            </a:r>
            <a:r>
              <a:rPr lang="en-US" sz="638" noProof="1">
                <a:solidFill>
                  <a:srgbClr val="1F2430"/>
                </a:solidFill>
                <a:latin typeface="+mn-ea"/>
                <a:cs typeface="MiSans"/>
              </a:rPr>
              <a:t> </a:t>
            </a:r>
            <a:r>
              <a:rPr lang="en-US" sz="638" b="1" noProof="1">
                <a:solidFill>
                  <a:srgbClr val="1F2430"/>
                </a:solidFill>
                <a:latin typeface="+mn-ea"/>
                <a:cs typeface="MiSans"/>
              </a:rPr>
              <a:t>存在明显局限</a:t>
            </a:r>
            <a:endParaRPr lang="en-US" sz="638" noProof="1">
              <a:solidFill>
                <a:srgbClr val="000000"/>
              </a:solidFill>
              <a:latin typeface="+mn-ea"/>
              <a:cs typeface="MiSans"/>
            </a:endParaRPr>
          </a:p>
          <a:p>
            <a:pPr defTabSz="685800">
              <a:lnSpc>
                <a:spcPct val="135000"/>
              </a:lnSpc>
              <a:spcBef>
                <a:spcPts val="150"/>
              </a:spcBef>
            </a:pPr>
            <a:r>
              <a:rPr lang="en-US" sz="638" noProof="1">
                <a:solidFill>
                  <a:srgbClr val="9AA1AC"/>
                </a:solidFill>
                <a:latin typeface="+mn-ea"/>
                <a:cs typeface="MiSans"/>
              </a:rPr>
              <a:t>•</a:t>
            </a:r>
            <a:r>
              <a:rPr lang="en-US" sz="638" noProof="1">
                <a:solidFill>
                  <a:srgbClr val="1F2430"/>
                </a:solidFill>
                <a:latin typeface="+mn-ea"/>
                <a:cs typeface="MiSans"/>
              </a:rPr>
              <a:t> PG 单实例存在容量天花板（有效约 15-20 TB）</a:t>
            </a:r>
            <a:endParaRPr lang="en-US" sz="638" noProof="1">
              <a:solidFill>
                <a:srgbClr val="000000"/>
              </a:solidFill>
              <a:latin typeface="+mn-ea"/>
              <a:cs typeface="MiSans"/>
            </a:endParaRPr>
          </a:p>
          <a:p>
            <a:pPr defTabSz="685800">
              <a:lnSpc>
                <a:spcPct val="135000"/>
              </a:lnSpc>
            </a:pPr>
            <a:r>
              <a:rPr lang="en-US" sz="638" noProof="1">
                <a:solidFill>
                  <a:srgbClr val="9AA1AC"/>
                </a:solidFill>
                <a:latin typeface="+mn-ea"/>
                <a:cs typeface="MiSans"/>
              </a:rPr>
              <a:t>•</a:t>
            </a:r>
            <a:r>
              <a:rPr lang="en-US" sz="638" noProof="1">
                <a:solidFill>
                  <a:srgbClr val="1F2430"/>
                </a:solidFill>
                <a:latin typeface="+mn-ea"/>
                <a:cs typeface="MiSans"/>
              </a:rPr>
              <a:t> 数据增长后索引重建、VACUUM、慢查询调优压力上升</a:t>
            </a:r>
            <a:endParaRPr lang="en-US" sz="638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136" name="d3-b">
            <a:extLst>
              <a:ext uri="{FF2B5EF4-FFF2-40B4-BE49-F238E27FC236}">
                <a16:creationId xmlns:a16="http://schemas.microsoft.com/office/drawing/2014/main" id="{CE07D781-7966-AA04-98A4-CBA734F8C4A5}"/>
              </a:ext>
            </a:extLst>
          </p:cNvPr>
          <p:cNvSpPr txBox="1"/>
          <p:nvPr/>
        </p:nvSpPr>
        <p:spPr>
          <a:xfrm>
            <a:off x="4200525" y="2557678"/>
            <a:ext cx="1971675" cy="5986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>
              <a:lnSpc>
                <a:spcPct val="135000"/>
              </a:lnSpc>
            </a:pPr>
            <a:r>
              <a:rPr lang="en-US" sz="638" noProof="1">
                <a:solidFill>
                  <a:srgbClr val="13956B"/>
                </a:solidFill>
                <a:latin typeface="+mn-ea"/>
                <a:cs typeface="MiSans"/>
              </a:rPr>
              <a:t>●</a:t>
            </a:r>
            <a:r>
              <a:rPr lang="en-US" sz="638" noProof="1">
                <a:solidFill>
                  <a:srgbClr val="1F2430"/>
                </a:solidFill>
                <a:latin typeface="+mn-ea"/>
                <a:cs typeface="MiSans"/>
              </a:rPr>
              <a:t> </a:t>
            </a:r>
            <a:r>
              <a:rPr lang="en-US" sz="638" b="1" noProof="1">
                <a:solidFill>
                  <a:srgbClr val="1F2430"/>
                </a:solidFill>
                <a:latin typeface="+mn-ea"/>
                <a:cs typeface="MiSans"/>
              </a:rPr>
              <a:t>能力较强</a:t>
            </a:r>
            <a:endParaRPr lang="en-US" sz="638" noProof="1">
              <a:solidFill>
                <a:srgbClr val="000000"/>
              </a:solidFill>
              <a:latin typeface="+mn-ea"/>
              <a:cs typeface="MiSans"/>
            </a:endParaRPr>
          </a:p>
          <a:p>
            <a:pPr defTabSz="685800">
              <a:lnSpc>
                <a:spcPct val="135000"/>
              </a:lnSpc>
              <a:spcBef>
                <a:spcPts val="150"/>
              </a:spcBef>
            </a:pPr>
            <a:r>
              <a:rPr lang="en-US" sz="638" noProof="1">
                <a:solidFill>
                  <a:srgbClr val="9AA1AC"/>
                </a:solidFill>
                <a:latin typeface="+mn-ea"/>
                <a:cs typeface="MiSans"/>
              </a:rPr>
              <a:t>•</a:t>
            </a:r>
            <a:r>
              <a:rPr lang="en-US" sz="638" noProof="1">
                <a:solidFill>
                  <a:srgbClr val="1F2430"/>
                </a:solidFill>
                <a:latin typeface="+mn-ea"/>
                <a:cs typeface="MiSans"/>
              </a:rPr>
              <a:t> 存算分离，读写解耦，分布式 MPP 查询</a:t>
            </a:r>
            <a:endParaRPr lang="en-US" sz="638" noProof="1">
              <a:solidFill>
                <a:srgbClr val="000000"/>
              </a:solidFill>
              <a:latin typeface="+mn-ea"/>
              <a:cs typeface="MiSans"/>
            </a:endParaRPr>
          </a:p>
          <a:p>
            <a:pPr defTabSz="685800">
              <a:lnSpc>
                <a:spcPct val="135000"/>
              </a:lnSpc>
            </a:pPr>
            <a:r>
              <a:rPr lang="en-US" sz="638" noProof="1">
                <a:solidFill>
                  <a:srgbClr val="9AA1AC"/>
                </a:solidFill>
                <a:latin typeface="+mn-ea"/>
                <a:cs typeface="MiSans"/>
              </a:rPr>
              <a:t>•</a:t>
            </a:r>
            <a:r>
              <a:rPr lang="en-US" sz="638" noProof="1">
                <a:solidFill>
                  <a:srgbClr val="1F2430"/>
                </a:solidFill>
                <a:latin typeface="+mn-ea"/>
                <a:cs typeface="MiSans"/>
              </a:rPr>
              <a:t> 支持 PB 级数据规模扩展</a:t>
            </a:r>
            <a:endParaRPr lang="en-US" sz="638" noProof="1">
              <a:solidFill>
                <a:srgbClr val="000000"/>
              </a:solidFill>
              <a:latin typeface="+mn-ea"/>
              <a:cs typeface="MiSans"/>
            </a:endParaRPr>
          </a:p>
          <a:p>
            <a:pPr defTabSz="685800">
              <a:lnSpc>
                <a:spcPct val="135000"/>
              </a:lnSpc>
            </a:pPr>
            <a:r>
              <a:rPr lang="en-US" sz="638" noProof="1">
                <a:solidFill>
                  <a:srgbClr val="9AA1AC"/>
                </a:solidFill>
                <a:latin typeface="+mn-ea"/>
                <a:cs typeface="MiSans"/>
              </a:rPr>
              <a:t>•</a:t>
            </a:r>
            <a:r>
              <a:rPr lang="en-US" sz="638" noProof="1">
                <a:solidFill>
                  <a:srgbClr val="1F2430"/>
                </a:solidFill>
                <a:latin typeface="+mn-ea"/>
                <a:cs typeface="MiSans"/>
              </a:rPr>
              <a:t> 需自行部署与调优 Trino 集群</a:t>
            </a:r>
            <a:endParaRPr lang="en-US" sz="638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138" name="d3-b2">
            <a:extLst>
              <a:ext uri="{FF2B5EF4-FFF2-40B4-BE49-F238E27FC236}">
                <a16:creationId xmlns:a16="http://schemas.microsoft.com/office/drawing/2014/main" id="{BBF8AA3C-9C02-272B-71AF-128A6A9A9167}"/>
              </a:ext>
            </a:extLst>
          </p:cNvPr>
          <p:cNvSpPr txBox="1"/>
          <p:nvPr/>
        </p:nvSpPr>
        <p:spPr>
          <a:xfrm>
            <a:off x="6343650" y="2557678"/>
            <a:ext cx="2466975" cy="5986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>
              <a:lnSpc>
                <a:spcPct val="135000"/>
              </a:lnSpc>
            </a:pPr>
            <a:r>
              <a:rPr lang="en-US" sz="638" noProof="1">
                <a:solidFill>
                  <a:srgbClr val="13956B"/>
                </a:solidFill>
                <a:latin typeface="+mn-ea"/>
                <a:cs typeface="MiSans"/>
              </a:rPr>
              <a:t>●</a:t>
            </a:r>
            <a:r>
              <a:rPr lang="en-US" sz="638" noProof="1">
                <a:solidFill>
                  <a:srgbClr val="1F2430"/>
                </a:solidFill>
                <a:latin typeface="+mn-ea"/>
                <a:cs typeface="MiSans"/>
              </a:rPr>
              <a:t> </a:t>
            </a:r>
            <a:r>
              <a:rPr lang="en-US" sz="638" b="1" noProof="1">
                <a:solidFill>
                  <a:srgbClr val="1F2430"/>
                </a:solidFill>
                <a:latin typeface="+mn-ea"/>
                <a:cs typeface="MiSans"/>
              </a:rPr>
              <a:t>优势明显</a:t>
            </a:r>
            <a:endParaRPr lang="en-US" sz="638" noProof="1">
              <a:solidFill>
                <a:srgbClr val="000000"/>
              </a:solidFill>
              <a:latin typeface="+mn-ea"/>
              <a:cs typeface="MiSans"/>
            </a:endParaRPr>
          </a:p>
          <a:p>
            <a:pPr defTabSz="685800">
              <a:lnSpc>
                <a:spcPct val="135000"/>
              </a:lnSpc>
              <a:spcBef>
                <a:spcPts val="150"/>
              </a:spcBef>
            </a:pPr>
            <a:r>
              <a:rPr lang="en-US" sz="638" noProof="1">
                <a:solidFill>
                  <a:srgbClr val="9AA1AC"/>
                </a:solidFill>
                <a:latin typeface="+mn-ea"/>
                <a:cs typeface="MiSans"/>
              </a:rPr>
              <a:t>•</a:t>
            </a:r>
            <a:r>
              <a:rPr lang="en-US" sz="638" noProof="1">
                <a:solidFill>
                  <a:srgbClr val="1F2430"/>
                </a:solidFill>
                <a:latin typeface="+mn-ea"/>
                <a:cs typeface="MiSans"/>
              </a:rPr>
              <a:t> Databricks Serverless 弹性并行计算</a:t>
            </a:r>
            <a:endParaRPr lang="en-US" sz="638" noProof="1">
              <a:solidFill>
                <a:srgbClr val="000000"/>
              </a:solidFill>
              <a:latin typeface="+mn-ea"/>
              <a:cs typeface="MiSans"/>
            </a:endParaRPr>
          </a:p>
          <a:p>
            <a:pPr defTabSz="685800">
              <a:lnSpc>
                <a:spcPct val="135000"/>
              </a:lnSpc>
            </a:pPr>
            <a:r>
              <a:rPr lang="en-US" sz="638" noProof="1">
                <a:solidFill>
                  <a:srgbClr val="9AA1AC"/>
                </a:solidFill>
                <a:latin typeface="+mn-ea"/>
                <a:cs typeface="MiSans"/>
              </a:rPr>
              <a:t>•</a:t>
            </a:r>
            <a:r>
              <a:rPr lang="en-US" sz="638" noProof="1">
                <a:solidFill>
                  <a:srgbClr val="1F2430"/>
                </a:solidFill>
                <a:latin typeface="+mn-ea"/>
                <a:cs typeface="MiSans"/>
              </a:rPr>
              <a:t> 按需扩缩，支持突发并发查询</a:t>
            </a:r>
            <a:endParaRPr lang="en-US" sz="638" noProof="1">
              <a:solidFill>
                <a:srgbClr val="000000"/>
              </a:solidFill>
              <a:latin typeface="+mn-ea"/>
              <a:cs typeface="MiSans"/>
            </a:endParaRPr>
          </a:p>
          <a:p>
            <a:pPr defTabSz="685800">
              <a:lnSpc>
                <a:spcPct val="135000"/>
              </a:lnSpc>
            </a:pPr>
            <a:r>
              <a:rPr lang="en-US" sz="638" noProof="1">
                <a:solidFill>
                  <a:srgbClr val="9AA1AC"/>
                </a:solidFill>
                <a:latin typeface="+mn-ea"/>
                <a:cs typeface="MiSans"/>
              </a:rPr>
              <a:t>•</a:t>
            </a:r>
            <a:r>
              <a:rPr lang="en-US" sz="638" noProof="1">
                <a:solidFill>
                  <a:srgbClr val="1F2430"/>
                </a:solidFill>
                <a:latin typeface="+mn-ea"/>
                <a:cs typeface="MiSans"/>
              </a:rPr>
              <a:t> 无需维护独立查询集群</a:t>
            </a:r>
            <a:endParaRPr lang="en-US" sz="638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142" name="d4-num-bg">
            <a:extLst>
              <a:ext uri="{FF2B5EF4-FFF2-40B4-BE49-F238E27FC236}">
                <a16:creationId xmlns:a16="http://schemas.microsoft.com/office/drawing/2014/main" id="{7549CB79-F096-5E8D-300D-E00B6F9B1E7A}"/>
              </a:ext>
            </a:extLst>
          </p:cNvPr>
          <p:cNvSpPr/>
          <p:nvPr/>
        </p:nvSpPr>
        <p:spPr>
          <a:xfrm>
            <a:off x="676275" y="3228561"/>
            <a:ext cx="190500" cy="181406"/>
          </a:xfrm>
          <a:prstGeom prst="ellipse">
            <a:avLst/>
          </a:prstGeom>
          <a:solidFill>
            <a:srgbClr val="009CDE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144" name="d4-num">
            <a:extLst>
              <a:ext uri="{FF2B5EF4-FFF2-40B4-BE49-F238E27FC236}">
                <a16:creationId xmlns:a16="http://schemas.microsoft.com/office/drawing/2014/main" id="{AC1CD940-7073-EF49-0532-C2B2E29B8C45}"/>
              </a:ext>
            </a:extLst>
          </p:cNvPr>
          <p:cNvSpPr txBox="1"/>
          <p:nvPr/>
        </p:nvSpPr>
        <p:spPr>
          <a:xfrm>
            <a:off x="676275" y="3228561"/>
            <a:ext cx="190500" cy="1814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713" b="1" noProof="1">
                <a:solidFill>
                  <a:srgbClr val="FFFFFF"/>
                </a:solidFill>
                <a:latin typeface="+mn-ea"/>
                <a:cs typeface="MiSans"/>
              </a:rPr>
              <a:t>04</a:t>
            </a:r>
            <a:endParaRPr lang="en-US" sz="713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146" name="d4-text">
            <a:extLst>
              <a:ext uri="{FF2B5EF4-FFF2-40B4-BE49-F238E27FC236}">
                <a16:creationId xmlns:a16="http://schemas.microsoft.com/office/drawing/2014/main" id="{1855D5C3-D8B7-4681-4EC9-82F6AEC7E199}"/>
              </a:ext>
            </a:extLst>
          </p:cNvPr>
          <p:cNvSpPr txBox="1"/>
          <p:nvPr/>
        </p:nvSpPr>
        <p:spPr>
          <a:xfrm>
            <a:off x="923925" y="3229921"/>
            <a:ext cx="981075" cy="4153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>
              <a:lnSpc>
                <a:spcPct val="135000"/>
              </a:lnSpc>
            </a:pPr>
            <a:r>
              <a:rPr lang="en-US" sz="713" b="1" noProof="1">
                <a:solidFill>
                  <a:srgbClr val="333333"/>
                </a:solidFill>
                <a:latin typeface="+mn-ea"/>
                <a:cs typeface="MiSans"/>
              </a:rPr>
              <a:t>实施与运维复杂度</a:t>
            </a:r>
            <a:endParaRPr lang="en-US" sz="713" noProof="1">
              <a:solidFill>
                <a:srgbClr val="000000"/>
              </a:solidFill>
              <a:latin typeface="+mn-ea"/>
              <a:cs typeface="MiSans"/>
            </a:endParaRPr>
          </a:p>
          <a:p>
            <a:pPr defTabSz="685800">
              <a:lnSpc>
                <a:spcPct val="135000"/>
              </a:lnSpc>
              <a:spcBef>
                <a:spcPts val="225"/>
              </a:spcBef>
            </a:pPr>
            <a:r>
              <a:rPr lang="en-US" sz="525" noProof="1">
                <a:solidFill>
                  <a:srgbClr val="8A94A3"/>
                </a:solidFill>
                <a:latin typeface="+mn-ea"/>
                <a:cs typeface="MiSans"/>
              </a:rPr>
              <a:t>从建设到日常运维所需的技术投入、开发工作量与维护复杂度</a:t>
            </a:r>
            <a:endParaRPr lang="en-US" sz="713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148" name="d4-a">
            <a:extLst>
              <a:ext uri="{FF2B5EF4-FFF2-40B4-BE49-F238E27FC236}">
                <a16:creationId xmlns:a16="http://schemas.microsoft.com/office/drawing/2014/main" id="{11C496D5-D764-3C01-4B53-6703FDB5F385}"/>
              </a:ext>
            </a:extLst>
          </p:cNvPr>
          <p:cNvSpPr txBox="1"/>
          <p:nvPr/>
        </p:nvSpPr>
        <p:spPr>
          <a:xfrm>
            <a:off x="2057400" y="3134010"/>
            <a:ext cx="1971675" cy="5986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>
              <a:lnSpc>
                <a:spcPct val="135000"/>
              </a:lnSpc>
            </a:pPr>
            <a:r>
              <a:rPr lang="en-US" altLang="zh-CN" sz="638" noProof="1">
                <a:solidFill>
                  <a:srgbClr val="13956B"/>
                </a:solidFill>
                <a:latin typeface="+mn-ea"/>
                <a:cs typeface="MiSans"/>
              </a:rPr>
              <a:t>● </a:t>
            </a:r>
            <a:r>
              <a:rPr lang="en-US" sz="638" b="1" noProof="1">
                <a:solidFill>
                  <a:srgbClr val="1F2430"/>
                </a:solidFill>
                <a:latin typeface="+mn-ea"/>
                <a:cs typeface="MiSans"/>
              </a:rPr>
              <a:t>前期最简单，后期投入线性增长</a:t>
            </a:r>
            <a:endParaRPr lang="en-US" sz="638" noProof="1">
              <a:solidFill>
                <a:srgbClr val="000000"/>
              </a:solidFill>
              <a:latin typeface="+mn-ea"/>
              <a:cs typeface="MiSans"/>
            </a:endParaRPr>
          </a:p>
          <a:p>
            <a:pPr defTabSz="685800">
              <a:lnSpc>
                <a:spcPct val="135000"/>
              </a:lnSpc>
              <a:spcBef>
                <a:spcPts val="150"/>
              </a:spcBef>
            </a:pPr>
            <a:r>
              <a:rPr lang="en-US" sz="638" noProof="1">
                <a:solidFill>
                  <a:srgbClr val="9AA1AC"/>
                </a:solidFill>
                <a:latin typeface="+mn-ea"/>
                <a:cs typeface="MiSans"/>
              </a:rPr>
              <a:t>•</a:t>
            </a:r>
            <a:r>
              <a:rPr lang="en-US" sz="638" noProof="1">
                <a:solidFill>
                  <a:srgbClr val="1F2430"/>
                </a:solidFill>
                <a:latin typeface="+mn-ea"/>
                <a:cs typeface="MiSans"/>
              </a:rPr>
              <a:t> 拖拽建页，首期最快（约 1 个月）</a:t>
            </a:r>
            <a:endParaRPr lang="en-US" sz="638" noProof="1">
              <a:solidFill>
                <a:srgbClr val="000000"/>
              </a:solidFill>
              <a:latin typeface="+mn-ea"/>
              <a:cs typeface="MiSans"/>
            </a:endParaRPr>
          </a:p>
          <a:p>
            <a:pPr defTabSz="685800">
              <a:lnSpc>
                <a:spcPct val="135000"/>
              </a:lnSpc>
            </a:pPr>
            <a:r>
              <a:rPr lang="en-US" sz="638" noProof="1">
                <a:solidFill>
                  <a:srgbClr val="9AA1AC"/>
                </a:solidFill>
                <a:latin typeface="+mn-ea"/>
                <a:cs typeface="MiSans"/>
              </a:rPr>
              <a:t>•</a:t>
            </a:r>
            <a:r>
              <a:rPr lang="en-US" sz="638" noProof="1">
                <a:solidFill>
                  <a:srgbClr val="1F2430"/>
                </a:solidFill>
                <a:latin typeface="+mn-ea"/>
                <a:cs typeface="MiSans"/>
              </a:rPr>
              <a:t> 每接入一个新系统需重复建页、ETL 与调优</a:t>
            </a:r>
            <a:endParaRPr lang="en-US" sz="638" noProof="1">
              <a:solidFill>
                <a:srgbClr val="000000"/>
              </a:solidFill>
              <a:latin typeface="+mn-ea"/>
              <a:cs typeface="MiSans"/>
            </a:endParaRPr>
          </a:p>
          <a:p>
            <a:pPr defTabSz="685800">
              <a:lnSpc>
                <a:spcPct val="135000"/>
              </a:lnSpc>
            </a:pPr>
            <a:r>
              <a:rPr lang="en-US" sz="638" noProof="1">
                <a:solidFill>
                  <a:srgbClr val="9AA1AC"/>
                </a:solidFill>
                <a:latin typeface="+mn-ea"/>
                <a:cs typeface="MiSans"/>
              </a:rPr>
              <a:t>•</a:t>
            </a:r>
            <a:r>
              <a:rPr lang="en-US" sz="638" noProof="1">
                <a:solidFill>
                  <a:srgbClr val="1F2430"/>
                </a:solidFill>
                <a:latin typeface="+mn-ea"/>
                <a:cs typeface="MiSans"/>
              </a:rPr>
              <a:t> DBA 持续投入，无法被新系统摊薄</a:t>
            </a:r>
            <a:endParaRPr lang="en-US" sz="638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150" name="d4-b">
            <a:extLst>
              <a:ext uri="{FF2B5EF4-FFF2-40B4-BE49-F238E27FC236}">
                <a16:creationId xmlns:a16="http://schemas.microsoft.com/office/drawing/2014/main" id="{30B9AA6B-2051-FFB3-5617-9A18439B0F02}"/>
              </a:ext>
            </a:extLst>
          </p:cNvPr>
          <p:cNvSpPr txBox="1"/>
          <p:nvPr/>
        </p:nvSpPr>
        <p:spPr>
          <a:xfrm>
            <a:off x="4200525" y="3156316"/>
            <a:ext cx="1971675" cy="5986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>
              <a:lnSpc>
                <a:spcPct val="135000"/>
              </a:lnSpc>
            </a:pPr>
            <a:r>
              <a:rPr lang="en-US" sz="638" noProof="1">
                <a:solidFill>
                  <a:srgbClr val="D12D3A"/>
                </a:solidFill>
                <a:latin typeface="+mn-ea"/>
                <a:cs typeface="MiSans"/>
              </a:rPr>
              <a:t>●</a:t>
            </a:r>
            <a:r>
              <a:rPr lang="en-US" sz="638" noProof="1">
                <a:solidFill>
                  <a:srgbClr val="1F2430"/>
                </a:solidFill>
                <a:latin typeface="+mn-ea"/>
                <a:cs typeface="MiSans"/>
              </a:rPr>
              <a:t> </a:t>
            </a:r>
            <a:r>
              <a:rPr lang="en-US" sz="638" b="1" noProof="1">
                <a:solidFill>
                  <a:srgbClr val="1F2430"/>
                </a:solidFill>
                <a:latin typeface="+mn-ea"/>
                <a:cs typeface="MiSans"/>
              </a:rPr>
              <a:t>复杂度最高</a:t>
            </a:r>
            <a:endParaRPr lang="en-US" sz="638" noProof="1">
              <a:solidFill>
                <a:srgbClr val="000000"/>
              </a:solidFill>
              <a:latin typeface="+mn-ea"/>
              <a:cs typeface="MiSans"/>
            </a:endParaRPr>
          </a:p>
          <a:p>
            <a:pPr defTabSz="685800">
              <a:lnSpc>
                <a:spcPct val="135000"/>
              </a:lnSpc>
              <a:spcBef>
                <a:spcPts val="150"/>
              </a:spcBef>
            </a:pPr>
            <a:r>
              <a:rPr lang="en-US" sz="638" noProof="1">
                <a:solidFill>
                  <a:srgbClr val="9AA1AC"/>
                </a:solidFill>
                <a:latin typeface="+mn-ea"/>
                <a:cs typeface="MiSans"/>
              </a:rPr>
              <a:t>•</a:t>
            </a:r>
            <a:r>
              <a:rPr lang="en-US" sz="638" noProof="1">
                <a:solidFill>
                  <a:srgbClr val="1F2430"/>
                </a:solidFill>
                <a:latin typeface="+mn-ea"/>
                <a:cs typeface="MiSans"/>
              </a:rPr>
              <a:t> 前期需建设配置化平台</a:t>
            </a:r>
            <a:endParaRPr lang="en-US" sz="638" noProof="1">
              <a:solidFill>
                <a:srgbClr val="000000"/>
              </a:solidFill>
              <a:latin typeface="+mn-ea"/>
              <a:cs typeface="MiSans"/>
            </a:endParaRPr>
          </a:p>
          <a:p>
            <a:pPr defTabSz="685800">
              <a:lnSpc>
                <a:spcPct val="135000"/>
              </a:lnSpc>
            </a:pPr>
            <a:r>
              <a:rPr lang="en-US" sz="638" noProof="1">
                <a:solidFill>
                  <a:srgbClr val="9AA1AC"/>
                </a:solidFill>
                <a:latin typeface="+mn-ea"/>
                <a:cs typeface="MiSans"/>
              </a:rPr>
              <a:t>•</a:t>
            </a:r>
            <a:r>
              <a:rPr lang="en-US" sz="638" noProof="1">
                <a:solidFill>
                  <a:srgbClr val="1F2430"/>
                </a:solidFill>
                <a:latin typeface="+mn-ea"/>
                <a:cs typeface="MiSans"/>
              </a:rPr>
              <a:t> 需自行部署、升级、HA、扩缩容及调优 Trino</a:t>
            </a:r>
            <a:endParaRPr lang="en-US" sz="638" noProof="1">
              <a:solidFill>
                <a:srgbClr val="000000"/>
              </a:solidFill>
              <a:latin typeface="+mn-ea"/>
              <a:cs typeface="MiSans"/>
            </a:endParaRPr>
          </a:p>
          <a:p>
            <a:pPr defTabSz="685800">
              <a:lnSpc>
                <a:spcPct val="135000"/>
              </a:lnSpc>
            </a:pPr>
            <a:r>
              <a:rPr lang="en-US" sz="638" noProof="1">
                <a:solidFill>
                  <a:srgbClr val="9AA1AC"/>
                </a:solidFill>
                <a:latin typeface="+mn-ea"/>
                <a:cs typeface="MiSans"/>
              </a:rPr>
              <a:t>•</a:t>
            </a:r>
            <a:r>
              <a:rPr lang="en-US" sz="638" noProof="1">
                <a:solidFill>
                  <a:srgbClr val="1F2430"/>
                </a:solidFill>
                <a:latin typeface="+mn-ea"/>
                <a:cs typeface="MiSans"/>
              </a:rPr>
              <a:t> 自研前端维护、权限与审计组件</a:t>
            </a:r>
            <a:endParaRPr lang="en-US" sz="638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152" name="d4-b2">
            <a:extLst>
              <a:ext uri="{FF2B5EF4-FFF2-40B4-BE49-F238E27FC236}">
                <a16:creationId xmlns:a16="http://schemas.microsoft.com/office/drawing/2014/main" id="{D11435C9-F53C-337E-EF4B-4F5748050DDD}"/>
              </a:ext>
            </a:extLst>
          </p:cNvPr>
          <p:cNvSpPr txBox="1"/>
          <p:nvPr/>
        </p:nvSpPr>
        <p:spPr>
          <a:xfrm>
            <a:off x="6343650" y="3156316"/>
            <a:ext cx="2466975" cy="5986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>
              <a:lnSpc>
                <a:spcPct val="135000"/>
              </a:lnSpc>
            </a:pPr>
            <a:r>
              <a:rPr lang="en-US" altLang="zh-CN" sz="638" noProof="1">
                <a:solidFill>
                  <a:srgbClr val="F5B20E"/>
                </a:solidFill>
                <a:latin typeface="+mn-ea"/>
                <a:cs typeface="MiSans"/>
              </a:rPr>
              <a:t>▲</a:t>
            </a:r>
            <a:r>
              <a:rPr lang="zh-CN" altLang="en-US" sz="638" b="1" noProof="1">
                <a:latin typeface="+mn-ea"/>
                <a:cs typeface="MiSans"/>
              </a:rPr>
              <a:t>首期约 </a:t>
            </a:r>
            <a:r>
              <a:rPr lang="en-US" altLang="zh-CN" sz="638" b="1" noProof="1">
                <a:latin typeface="+mn-ea"/>
                <a:cs typeface="MiSans"/>
              </a:rPr>
              <a:t>3 </a:t>
            </a:r>
            <a:r>
              <a:rPr lang="zh-CN" altLang="en-US" sz="638" b="1" noProof="1">
                <a:latin typeface="+mn-ea"/>
                <a:cs typeface="MiSans"/>
              </a:rPr>
              <a:t>个月建平台</a:t>
            </a:r>
            <a:endParaRPr lang="en-US" altLang="zh-CN" sz="638" b="1" noProof="1">
              <a:latin typeface="+mn-ea"/>
              <a:cs typeface="MiSans"/>
            </a:endParaRPr>
          </a:p>
          <a:p>
            <a:pPr defTabSz="685800">
              <a:lnSpc>
                <a:spcPct val="135000"/>
              </a:lnSpc>
            </a:pPr>
            <a:r>
              <a:rPr lang="en-US" sz="638" noProof="1">
                <a:solidFill>
                  <a:srgbClr val="9AA1AC"/>
                </a:solidFill>
                <a:latin typeface="+mn-ea"/>
                <a:cs typeface="MiSans"/>
              </a:rPr>
              <a:t>•</a:t>
            </a:r>
            <a:r>
              <a:rPr lang="en-US" sz="638" noProof="1">
                <a:solidFill>
                  <a:srgbClr val="1F2430"/>
                </a:solidFill>
                <a:latin typeface="+mn-ea"/>
                <a:cs typeface="MiSans"/>
              </a:rPr>
              <a:t> 前期需建设配置化平台</a:t>
            </a:r>
            <a:endParaRPr lang="en-US" sz="638" noProof="1">
              <a:solidFill>
                <a:srgbClr val="000000"/>
              </a:solidFill>
              <a:latin typeface="+mn-ea"/>
              <a:cs typeface="MiSans"/>
            </a:endParaRPr>
          </a:p>
          <a:p>
            <a:pPr defTabSz="685800">
              <a:lnSpc>
                <a:spcPct val="135000"/>
              </a:lnSpc>
            </a:pPr>
            <a:r>
              <a:rPr lang="en-US" sz="638" noProof="1">
                <a:solidFill>
                  <a:srgbClr val="9AA1AC"/>
                </a:solidFill>
                <a:latin typeface="+mn-ea"/>
                <a:cs typeface="MiSans"/>
              </a:rPr>
              <a:t>•</a:t>
            </a:r>
            <a:r>
              <a:rPr lang="en-US" sz="638" noProof="1">
                <a:solidFill>
                  <a:srgbClr val="1F2430"/>
                </a:solidFill>
                <a:latin typeface="+mn-ea"/>
                <a:cs typeface="MiSans"/>
              </a:rPr>
              <a:t> 查询引擎、权限与审计由平台托管</a:t>
            </a:r>
            <a:endParaRPr lang="en-US" sz="638" noProof="1">
              <a:solidFill>
                <a:srgbClr val="000000"/>
              </a:solidFill>
              <a:latin typeface="+mn-ea"/>
              <a:cs typeface="MiSans"/>
            </a:endParaRPr>
          </a:p>
          <a:p>
            <a:pPr defTabSz="685800">
              <a:lnSpc>
                <a:spcPct val="135000"/>
              </a:lnSpc>
            </a:pPr>
            <a:r>
              <a:rPr lang="en-US" altLang="zh-CN" sz="638" noProof="1">
                <a:solidFill>
                  <a:srgbClr val="9AA1AC"/>
                </a:solidFill>
                <a:latin typeface="+mn-ea"/>
                <a:cs typeface="MiSans"/>
              </a:rPr>
              <a:t>• </a:t>
            </a:r>
            <a:r>
              <a:rPr lang="zh-CN" altLang="en-US" sz="638" noProof="1">
                <a:latin typeface="+mn-ea"/>
                <a:cs typeface="MiSans"/>
              </a:rPr>
              <a:t>新系统接入零代码，规模越大越省</a:t>
            </a:r>
            <a:endParaRPr lang="en-US" sz="638" noProof="1">
              <a:latin typeface="+mn-ea"/>
              <a:cs typeface="MiSans"/>
            </a:endParaRPr>
          </a:p>
        </p:txBody>
      </p:sp>
      <p:sp>
        <p:nvSpPr>
          <p:cNvPr id="156" name="d5-num-bg">
            <a:extLst>
              <a:ext uri="{FF2B5EF4-FFF2-40B4-BE49-F238E27FC236}">
                <a16:creationId xmlns:a16="http://schemas.microsoft.com/office/drawing/2014/main" id="{1F5AA845-36F5-52A7-FA54-FFE8BBE6DA41}"/>
              </a:ext>
            </a:extLst>
          </p:cNvPr>
          <p:cNvSpPr/>
          <p:nvPr/>
        </p:nvSpPr>
        <p:spPr>
          <a:xfrm>
            <a:off x="676275" y="3812312"/>
            <a:ext cx="190500" cy="181406"/>
          </a:xfrm>
          <a:prstGeom prst="ellipse">
            <a:avLst/>
          </a:prstGeom>
          <a:solidFill>
            <a:srgbClr val="009CDE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158" name="d5-num">
            <a:extLst>
              <a:ext uri="{FF2B5EF4-FFF2-40B4-BE49-F238E27FC236}">
                <a16:creationId xmlns:a16="http://schemas.microsoft.com/office/drawing/2014/main" id="{D590EE93-2E5D-1545-B2C8-8989CD64B819}"/>
              </a:ext>
            </a:extLst>
          </p:cNvPr>
          <p:cNvSpPr txBox="1"/>
          <p:nvPr/>
        </p:nvSpPr>
        <p:spPr>
          <a:xfrm>
            <a:off x="676275" y="3812312"/>
            <a:ext cx="190500" cy="1814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713" b="1" noProof="1">
                <a:solidFill>
                  <a:srgbClr val="FFFFFF"/>
                </a:solidFill>
                <a:latin typeface="+mn-ea"/>
                <a:cs typeface="MiSans"/>
              </a:rPr>
              <a:t>05</a:t>
            </a:r>
            <a:endParaRPr lang="en-US" sz="713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160" name="d5-text">
            <a:extLst>
              <a:ext uri="{FF2B5EF4-FFF2-40B4-BE49-F238E27FC236}">
                <a16:creationId xmlns:a16="http://schemas.microsoft.com/office/drawing/2014/main" id="{F4FED872-42AC-7A0E-1134-F41DBE2C54B5}"/>
              </a:ext>
            </a:extLst>
          </p:cNvPr>
          <p:cNvSpPr txBox="1"/>
          <p:nvPr/>
        </p:nvSpPr>
        <p:spPr>
          <a:xfrm>
            <a:off x="923925" y="3795532"/>
            <a:ext cx="981075" cy="4335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>
              <a:lnSpc>
                <a:spcPct val="135000"/>
              </a:lnSpc>
            </a:pPr>
            <a:r>
              <a:rPr lang="en-US" sz="713" b="1" noProof="1">
                <a:solidFill>
                  <a:srgbClr val="333333"/>
                </a:solidFill>
                <a:latin typeface="+mn-ea"/>
                <a:cs typeface="MiSans"/>
              </a:rPr>
              <a:t>成本与长期可持续性</a:t>
            </a:r>
            <a:endParaRPr lang="en-US" sz="713" noProof="1">
              <a:solidFill>
                <a:srgbClr val="000000"/>
              </a:solidFill>
              <a:latin typeface="+mn-ea"/>
              <a:cs typeface="MiSans"/>
            </a:endParaRPr>
          </a:p>
          <a:p>
            <a:pPr defTabSz="685800">
              <a:lnSpc>
                <a:spcPct val="135000"/>
              </a:lnSpc>
              <a:spcBef>
                <a:spcPts val="225"/>
              </a:spcBef>
            </a:pPr>
            <a:r>
              <a:rPr lang="en-US" sz="525" noProof="1">
                <a:solidFill>
                  <a:srgbClr val="8A94A3"/>
                </a:solidFill>
                <a:latin typeface="+mn-ea"/>
                <a:cs typeface="MiSans"/>
              </a:rPr>
              <a:t>综合考虑基础设施、软件许可及持续运行所需的成本投入</a:t>
            </a:r>
            <a:endParaRPr lang="en-US" sz="713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162" name="d5-a">
            <a:extLst>
              <a:ext uri="{FF2B5EF4-FFF2-40B4-BE49-F238E27FC236}">
                <a16:creationId xmlns:a16="http://schemas.microsoft.com/office/drawing/2014/main" id="{9161185E-E00D-7771-7DB1-04C0D83B04A7}"/>
              </a:ext>
            </a:extLst>
          </p:cNvPr>
          <p:cNvSpPr txBox="1"/>
          <p:nvPr/>
        </p:nvSpPr>
        <p:spPr>
          <a:xfrm>
            <a:off x="2057400" y="3779120"/>
            <a:ext cx="1971675" cy="449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>
              <a:lnSpc>
                <a:spcPct val="135000"/>
              </a:lnSpc>
            </a:pPr>
            <a:r>
              <a:rPr lang="en-US" sz="638" noProof="1">
                <a:solidFill>
                  <a:srgbClr val="F5B20E"/>
                </a:solidFill>
                <a:latin typeface="+mn-ea"/>
                <a:cs typeface="MiSans"/>
              </a:rPr>
              <a:t>▲</a:t>
            </a:r>
            <a:r>
              <a:rPr lang="en-US" sz="638" noProof="1">
                <a:solidFill>
                  <a:srgbClr val="1F2430"/>
                </a:solidFill>
                <a:latin typeface="+mn-ea"/>
                <a:cs typeface="MiSans"/>
              </a:rPr>
              <a:t> </a:t>
            </a:r>
            <a:r>
              <a:rPr lang="en-US" sz="638" b="1" noProof="1">
                <a:solidFill>
                  <a:srgbClr val="1F2430"/>
                </a:solidFill>
                <a:latin typeface="+mn-ea"/>
                <a:cs typeface="MiSans"/>
              </a:rPr>
              <a:t>固定资源与许可成本较高</a:t>
            </a:r>
            <a:endParaRPr lang="en-US" sz="638" noProof="1">
              <a:solidFill>
                <a:srgbClr val="000000"/>
              </a:solidFill>
              <a:latin typeface="+mn-ea"/>
              <a:cs typeface="MiSans"/>
            </a:endParaRPr>
          </a:p>
          <a:p>
            <a:pPr defTabSz="685800">
              <a:lnSpc>
                <a:spcPct val="135000"/>
              </a:lnSpc>
              <a:spcBef>
                <a:spcPts val="150"/>
              </a:spcBef>
            </a:pPr>
            <a:r>
              <a:rPr lang="en-US" sz="638" noProof="1">
                <a:solidFill>
                  <a:srgbClr val="9AA1AC"/>
                </a:solidFill>
                <a:latin typeface="+mn-ea"/>
                <a:cs typeface="MiSans"/>
              </a:rPr>
              <a:t>•</a:t>
            </a:r>
            <a:r>
              <a:rPr lang="en-US" sz="638" noProof="1">
                <a:solidFill>
                  <a:srgbClr val="1F2430"/>
                </a:solidFill>
                <a:latin typeface="+mn-ea"/>
                <a:cs typeface="MiSans"/>
              </a:rPr>
              <a:t> PG 需常驻资源，Appsmith 存在商业许可费用</a:t>
            </a:r>
            <a:endParaRPr lang="en-US" sz="638" noProof="1">
              <a:solidFill>
                <a:srgbClr val="000000"/>
              </a:solidFill>
              <a:latin typeface="+mn-ea"/>
              <a:cs typeface="MiSans"/>
            </a:endParaRPr>
          </a:p>
          <a:p>
            <a:pPr defTabSz="685800">
              <a:lnSpc>
                <a:spcPct val="135000"/>
              </a:lnSpc>
            </a:pPr>
            <a:r>
              <a:rPr lang="en-US" sz="638" noProof="1">
                <a:solidFill>
                  <a:srgbClr val="9AA1AC"/>
                </a:solidFill>
                <a:latin typeface="+mn-ea"/>
                <a:cs typeface="MiSans"/>
              </a:rPr>
              <a:t>•</a:t>
            </a:r>
            <a:r>
              <a:rPr lang="en-US" sz="638" noProof="1">
                <a:solidFill>
                  <a:srgbClr val="1F2430"/>
                </a:solidFill>
                <a:latin typeface="+mn-ea"/>
                <a:cs typeface="MiSans"/>
              </a:rPr>
              <a:t> 系统与数据规模增加时，扩容与调优成本持续增加</a:t>
            </a:r>
            <a:endParaRPr lang="en-US" sz="638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164" name="d5-b">
            <a:extLst>
              <a:ext uri="{FF2B5EF4-FFF2-40B4-BE49-F238E27FC236}">
                <a16:creationId xmlns:a16="http://schemas.microsoft.com/office/drawing/2014/main" id="{43107BC6-4430-405D-C1BC-50CBE48463BC}"/>
              </a:ext>
            </a:extLst>
          </p:cNvPr>
          <p:cNvSpPr txBox="1"/>
          <p:nvPr/>
        </p:nvSpPr>
        <p:spPr>
          <a:xfrm>
            <a:off x="4200525" y="3736814"/>
            <a:ext cx="1971675" cy="5986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>
              <a:lnSpc>
                <a:spcPct val="135000"/>
              </a:lnSpc>
            </a:pPr>
            <a:r>
              <a:rPr lang="en-US" sz="638" noProof="1">
                <a:solidFill>
                  <a:srgbClr val="F5B20E"/>
                </a:solidFill>
                <a:latin typeface="+mn-ea"/>
                <a:cs typeface="MiSans"/>
              </a:rPr>
              <a:t>▲</a:t>
            </a:r>
            <a:r>
              <a:rPr lang="en-US" sz="638" noProof="1">
                <a:solidFill>
                  <a:srgbClr val="1F2430"/>
                </a:solidFill>
                <a:latin typeface="+mn-ea"/>
                <a:cs typeface="MiSans"/>
              </a:rPr>
              <a:t> </a:t>
            </a:r>
            <a:r>
              <a:rPr lang="en-US" sz="638" b="1" noProof="1">
                <a:solidFill>
                  <a:srgbClr val="1F2430"/>
                </a:solidFill>
                <a:latin typeface="+mn-ea"/>
                <a:cs typeface="MiSans"/>
              </a:rPr>
              <a:t>运行成本与运维投入较高</a:t>
            </a:r>
            <a:endParaRPr lang="en-US" sz="638" noProof="1">
              <a:solidFill>
                <a:srgbClr val="000000"/>
              </a:solidFill>
              <a:latin typeface="+mn-ea"/>
              <a:cs typeface="MiSans"/>
            </a:endParaRPr>
          </a:p>
          <a:p>
            <a:pPr defTabSz="685800">
              <a:lnSpc>
                <a:spcPct val="135000"/>
              </a:lnSpc>
              <a:spcBef>
                <a:spcPts val="150"/>
              </a:spcBef>
            </a:pPr>
            <a:r>
              <a:rPr lang="en-US" sz="638" noProof="1">
                <a:solidFill>
                  <a:srgbClr val="9AA1AC"/>
                </a:solidFill>
                <a:latin typeface="+mn-ea"/>
                <a:cs typeface="MiSans"/>
              </a:rPr>
              <a:t>•</a:t>
            </a:r>
            <a:r>
              <a:rPr lang="en-US" sz="638" noProof="1">
                <a:solidFill>
                  <a:srgbClr val="1F2430"/>
                </a:solidFill>
                <a:latin typeface="+mn-ea"/>
                <a:cs typeface="MiSans"/>
              </a:rPr>
              <a:t> Trino 需常驻集群，空闲时仍产生资源费用</a:t>
            </a:r>
            <a:endParaRPr lang="en-US" sz="638" noProof="1">
              <a:solidFill>
                <a:srgbClr val="000000"/>
              </a:solidFill>
              <a:latin typeface="+mn-ea"/>
              <a:cs typeface="MiSans"/>
            </a:endParaRPr>
          </a:p>
          <a:p>
            <a:pPr defTabSz="685800">
              <a:lnSpc>
                <a:spcPct val="135000"/>
              </a:lnSpc>
            </a:pPr>
            <a:r>
              <a:rPr lang="en-US" sz="638" noProof="1">
                <a:solidFill>
                  <a:srgbClr val="9AA1AC"/>
                </a:solidFill>
                <a:latin typeface="+mn-ea"/>
                <a:cs typeface="MiSans"/>
              </a:rPr>
              <a:t>•</a:t>
            </a:r>
            <a:r>
              <a:rPr lang="en-US" sz="638" noProof="1">
                <a:solidFill>
                  <a:srgbClr val="1F2430"/>
                </a:solidFill>
                <a:latin typeface="+mn-ea"/>
                <a:cs typeface="MiSans"/>
              </a:rPr>
              <a:t> 需专业团队持续运维与优化</a:t>
            </a:r>
            <a:endParaRPr lang="en-US" sz="638" noProof="1">
              <a:solidFill>
                <a:srgbClr val="000000"/>
              </a:solidFill>
              <a:latin typeface="+mn-ea"/>
              <a:cs typeface="MiSans"/>
            </a:endParaRPr>
          </a:p>
          <a:p>
            <a:pPr defTabSz="685800">
              <a:lnSpc>
                <a:spcPct val="135000"/>
              </a:lnSpc>
            </a:pPr>
            <a:r>
              <a:rPr lang="en-US" sz="638" noProof="1">
                <a:solidFill>
                  <a:srgbClr val="9AA1AC"/>
                </a:solidFill>
                <a:latin typeface="+mn-ea"/>
                <a:cs typeface="MiSans"/>
              </a:rPr>
              <a:t>•</a:t>
            </a:r>
            <a:r>
              <a:rPr lang="en-US" sz="638" noProof="1">
                <a:solidFill>
                  <a:srgbClr val="1F2430"/>
                </a:solidFill>
                <a:latin typeface="+mn-ea"/>
                <a:cs typeface="MiSans"/>
              </a:rPr>
              <a:t> 超大规模（&gt;120TB）下具成本优势</a:t>
            </a:r>
            <a:endParaRPr lang="en-US" sz="638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166" name="d5-b2">
            <a:extLst>
              <a:ext uri="{FF2B5EF4-FFF2-40B4-BE49-F238E27FC236}">
                <a16:creationId xmlns:a16="http://schemas.microsoft.com/office/drawing/2014/main" id="{48BDF723-5697-81E8-3CA8-DE5BAA3E4899}"/>
              </a:ext>
            </a:extLst>
          </p:cNvPr>
          <p:cNvSpPr txBox="1"/>
          <p:nvPr/>
        </p:nvSpPr>
        <p:spPr>
          <a:xfrm>
            <a:off x="6343650" y="3736815"/>
            <a:ext cx="2466975" cy="54421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>
              <a:lnSpc>
                <a:spcPct val="135000"/>
              </a:lnSpc>
            </a:pPr>
            <a:r>
              <a:rPr lang="en-US" sz="638" noProof="1">
                <a:solidFill>
                  <a:srgbClr val="13956B"/>
                </a:solidFill>
                <a:latin typeface="+mn-ea"/>
                <a:cs typeface="MiSans"/>
              </a:rPr>
              <a:t>●</a:t>
            </a:r>
            <a:r>
              <a:rPr lang="en-US" sz="638" noProof="1">
                <a:solidFill>
                  <a:srgbClr val="1F2430"/>
                </a:solidFill>
                <a:latin typeface="+mn-ea"/>
                <a:cs typeface="MiSans"/>
              </a:rPr>
              <a:t> </a:t>
            </a:r>
            <a:r>
              <a:rPr lang="en-US" sz="638" b="1" noProof="1">
                <a:solidFill>
                  <a:srgbClr val="1F2430"/>
                </a:solidFill>
                <a:latin typeface="+mn-ea"/>
                <a:cs typeface="MiSans"/>
              </a:rPr>
              <a:t>成本结构更灵活</a:t>
            </a:r>
            <a:endParaRPr lang="en-US" sz="638" noProof="1">
              <a:solidFill>
                <a:srgbClr val="000000"/>
              </a:solidFill>
              <a:latin typeface="+mn-ea"/>
              <a:cs typeface="MiSans"/>
            </a:endParaRPr>
          </a:p>
          <a:p>
            <a:pPr defTabSz="685800">
              <a:lnSpc>
                <a:spcPct val="135000"/>
              </a:lnSpc>
              <a:spcBef>
                <a:spcPts val="150"/>
              </a:spcBef>
            </a:pPr>
            <a:r>
              <a:rPr lang="en-US" sz="638" noProof="1">
                <a:solidFill>
                  <a:srgbClr val="9AA1AC"/>
                </a:solidFill>
                <a:latin typeface="+mn-ea"/>
                <a:cs typeface="MiSans"/>
              </a:rPr>
              <a:t>•</a:t>
            </a:r>
            <a:r>
              <a:rPr lang="en-US" sz="638" noProof="1">
                <a:solidFill>
                  <a:srgbClr val="1F2430"/>
                </a:solidFill>
                <a:latin typeface="+mn-ea"/>
                <a:cs typeface="MiSans"/>
              </a:rPr>
              <a:t> Serverless 按需计费，空闲自动缩零</a:t>
            </a:r>
            <a:endParaRPr lang="en-US" sz="638" noProof="1">
              <a:solidFill>
                <a:srgbClr val="000000"/>
              </a:solidFill>
              <a:latin typeface="+mn-ea"/>
              <a:cs typeface="MiSans"/>
            </a:endParaRPr>
          </a:p>
          <a:p>
            <a:pPr defTabSz="685800">
              <a:lnSpc>
                <a:spcPct val="135000"/>
              </a:lnSpc>
            </a:pPr>
            <a:r>
              <a:rPr lang="en-US" sz="638" noProof="1">
                <a:solidFill>
                  <a:srgbClr val="9AA1AC"/>
                </a:solidFill>
                <a:latin typeface="+mn-ea"/>
                <a:cs typeface="MiSans"/>
              </a:rPr>
              <a:t>•</a:t>
            </a:r>
            <a:r>
              <a:rPr lang="en-US" sz="638" noProof="1">
                <a:solidFill>
                  <a:srgbClr val="1F2430"/>
                </a:solidFill>
                <a:latin typeface="+mn-ea"/>
                <a:cs typeface="MiSans"/>
              </a:rPr>
              <a:t> 减少常驻查询资源与独立集群运维投入</a:t>
            </a:r>
            <a:endParaRPr lang="en-US" sz="638" noProof="1">
              <a:solidFill>
                <a:srgbClr val="000000"/>
              </a:solidFill>
              <a:latin typeface="+mn-ea"/>
              <a:cs typeface="MiSans"/>
            </a:endParaRPr>
          </a:p>
          <a:p>
            <a:pPr defTabSz="685800">
              <a:lnSpc>
                <a:spcPct val="135000"/>
              </a:lnSpc>
            </a:pPr>
            <a:r>
              <a:rPr lang="en-US" sz="638" noProof="1">
                <a:solidFill>
                  <a:srgbClr val="9AA1AC"/>
                </a:solidFill>
                <a:latin typeface="+mn-ea"/>
                <a:cs typeface="MiSans"/>
              </a:rPr>
              <a:t>•</a:t>
            </a:r>
            <a:r>
              <a:rPr lang="en-US" sz="638" noProof="1">
                <a:solidFill>
                  <a:srgbClr val="1F2430"/>
                </a:solidFill>
                <a:latin typeface="+mn-ea"/>
                <a:cs typeface="MiSans"/>
              </a:rPr>
              <a:t> （当前 15 系统 / 20TB / 3 年 TCO 测算下成本最低）</a:t>
            </a:r>
            <a:endParaRPr lang="en-US" sz="638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CD36233E-83AD-B479-B52D-539320DE1A2E}"/>
              </a:ext>
            </a:extLst>
          </p:cNvPr>
          <p:cNvCxnSpPr>
            <a:cxnSpLocks/>
          </p:cNvCxnSpPr>
          <p:nvPr/>
        </p:nvCxnSpPr>
        <p:spPr>
          <a:xfrm>
            <a:off x="615432" y="1919130"/>
            <a:ext cx="821805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7FC7F3BD-0C85-9EBE-3C38-EC4530396963}"/>
              </a:ext>
            </a:extLst>
          </p:cNvPr>
          <p:cNvCxnSpPr>
            <a:cxnSpLocks/>
          </p:cNvCxnSpPr>
          <p:nvPr/>
        </p:nvCxnSpPr>
        <p:spPr>
          <a:xfrm>
            <a:off x="615432" y="2533732"/>
            <a:ext cx="821805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BFC3E28D-B88F-8A3F-93AE-5E1B2ACF32F3}"/>
              </a:ext>
            </a:extLst>
          </p:cNvPr>
          <p:cNvCxnSpPr>
            <a:cxnSpLocks/>
          </p:cNvCxnSpPr>
          <p:nvPr/>
        </p:nvCxnSpPr>
        <p:spPr>
          <a:xfrm>
            <a:off x="615432" y="3120035"/>
            <a:ext cx="821805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487D3763-26DD-47C1-93A3-CD08CF6EA2FB}"/>
              </a:ext>
            </a:extLst>
          </p:cNvPr>
          <p:cNvCxnSpPr>
            <a:cxnSpLocks/>
          </p:cNvCxnSpPr>
          <p:nvPr/>
        </p:nvCxnSpPr>
        <p:spPr>
          <a:xfrm>
            <a:off x="615432" y="3718674"/>
            <a:ext cx="821805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4" name="Graphic 173">
            <a:extLst>
              <a:ext uri="{FF2B5EF4-FFF2-40B4-BE49-F238E27FC236}">
                <a16:creationId xmlns:a16="http://schemas.microsoft.com/office/drawing/2014/main" id="{4BAAEBD4-D8B7-99C7-42B3-0D3A39050A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50580" y="962440"/>
            <a:ext cx="250270" cy="238322"/>
          </a:xfrm>
          <a:prstGeom prst="rect">
            <a:avLst/>
          </a:prstGeom>
        </p:spPr>
      </p:pic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FB8064AF-34D2-9DB1-E435-D694733AC5C9}"/>
              </a:ext>
            </a:extLst>
          </p:cNvPr>
          <p:cNvCxnSpPr>
            <a:cxnSpLocks/>
          </p:cNvCxnSpPr>
          <p:nvPr/>
        </p:nvCxnSpPr>
        <p:spPr>
          <a:xfrm>
            <a:off x="615432" y="1233417"/>
            <a:ext cx="821805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rec-card">
            <a:extLst>
              <a:ext uri="{FF2B5EF4-FFF2-40B4-BE49-F238E27FC236}">
                <a16:creationId xmlns:a16="http://schemas.microsoft.com/office/drawing/2014/main" id="{22117232-FEDD-7AC5-9F36-427C75771D40}"/>
              </a:ext>
            </a:extLst>
          </p:cNvPr>
          <p:cNvSpPr/>
          <p:nvPr/>
        </p:nvSpPr>
        <p:spPr>
          <a:xfrm>
            <a:off x="615432" y="4345009"/>
            <a:ext cx="4623318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F6FE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47200441-BB55-4A34-6AFA-FE3056BAD92C}"/>
              </a:ext>
            </a:extLst>
          </p:cNvPr>
          <p:cNvGrpSpPr/>
          <p:nvPr/>
        </p:nvGrpSpPr>
        <p:grpSpPr>
          <a:xfrm>
            <a:off x="695325" y="4438945"/>
            <a:ext cx="342900" cy="307428"/>
            <a:chOff x="695325" y="4475436"/>
            <a:chExt cx="342900" cy="307428"/>
          </a:xfrm>
        </p:grpSpPr>
        <p:sp>
          <p:nvSpPr>
            <p:cNvPr id="180" name="rec-circle">
              <a:extLst>
                <a:ext uri="{FF2B5EF4-FFF2-40B4-BE49-F238E27FC236}">
                  <a16:creationId xmlns:a16="http://schemas.microsoft.com/office/drawing/2014/main" id="{923D7A5E-7490-B499-F364-05163782817A}"/>
                </a:ext>
              </a:extLst>
            </p:cNvPr>
            <p:cNvSpPr/>
            <p:nvPr/>
          </p:nvSpPr>
          <p:spPr>
            <a:xfrm>
              <a:off x="695325" y="4475436"/>
              <a:ext cx="342900" cy="307428"/>
            </a:xfrm>
            <a:prstGeom prst="ellipse">
              <a:avLst/>
            </a:prstGeom>
            <a:solidFill>
              <a:srgbClr val="129AE2"/>
            </a:solidFill>
            <a:ln>
              <a:noFill/>
            </a:ln>
          </p:spPr>
          <p:txBody>
            <a:bodyPr/>
            <a:lstStyle/>
            <a:p>
              <a:pPr defTabSz="685800"/>
              <a:endParaRPr lang="zh-CN" altLang="en-US" sz="1350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182" name="rec-trophy">
              <a:extLst>
                <a:ext uri="{FF2B5EF4-FFF2-40B4-BE49-F238E27FC236}">
                  <a16:creationId xmlns:a16="http://schemas.microsoft.com/office/drawing/2014/main" id="{63EEA03D-5613-4A68-6B35-4C8E30371AB2}"/>
                </a:ext>
              </a:extLst>
            </p:cNvPr>
            <p:cNvSpPr/>
            <p:nvPr>
              <p:extLst>
                <p:ext uri="{F5677B7D-0D2A-4D9B-9A5C-6D8D7D0E5A5D}">
  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eyJpY29uTmFtZSI6ImZhczp0cm9waHkifQ</pptd:icon>
                </p:ext>
              </p:extLst>
            </p:nvPr>
          </p:nvSpPr>
          <p:spPr>
            <a:xfrm>
              <a:off x="781050" y="4552293"/>
              <a:ext cx="171450" cy="153714"/>
            </a:xfrm>
            <a:custGeom>
              <a:avLst/>
              <a:gdLst/>
              <a:ahLst/>
              <a:cxnLst/>
              <a:rect l="l" t="t" r="r" b="b"/>
              <a:pathLst>
                <a:path w="512" h="512">
                  <a:moveTo>
                    <a:pt x="144" y="0"/>
                  </a:moveTo>
                  <a:lnTo>
                    <a:pt x="368" y="0"/>
                  </a:lnTo>
                  <a:cubicBezTo>
                    <a:pt x="395" y="0"/>
                    <a:pt x="416" y="22"/>
                    <a:pt x="415" y="48"/>
                  </a:cubicBezTo>
                  <a:cubicBezTo>
                    <a:pt x="415" y="54"/>
                    <a:pt x="415" y="59"/>
                    <a:pt x="415" y="64"/>
                  </a:cubicBezTo>
                  <a:lnTo>
                    <a:pt x="464" y="64"/>
                  </a:lnTo>
                  <a:cubicBezTo>
                    <a:pt x="490" y="64"/>
                    <a:pt x="513" y="86"/>
                    <a:pt x="511" y="114"/>
                  </a:cubicBezTo>
                  <a:cubicBezTo>
                    <a:pt x="504" y="218"/>
                    <a:pt x="451" y="275"/>
                    <a:pt x="393" y="304"/>
                  </a:cubicBezTo>
                  <a:cubicBezTo>
                    <a:pt x="378" y="313"/>
                    <a:pt x="362" y="319"/>
                    <a:pt x="346" y="323"/>
                  </a:cubicBezTo>
                  <a:cubicBezTo>
                    <a:pt x="326" y="352"/>
                    <a:pt x="305" y="367"/>
                    <a:pt x="288" y="375"/>
                  </a:cubicBezTo>
                  <a:lnTo>
                    <a:pt x="288" y="448"/>
                  </a:lnTo>
                  <a:lnTo>
                    <a:pt x="352" y="448"/>
                  </a:lnTo>
                  <a:cubicBezTo>
                    <a:pt x="370" y="448"/>
                    <a:pt x="384" y="462"/>
                    <a:pt x="384" y="480"/>
                  </a:cubicBezTo>
                  <a:cubicBezTo>
                    <a:pt x="384" y="498"/>
                    <a:pt x="370" y="512"/>
                    <a:pt x="352" y="512"/>
                  </a:cubicBezTo>
                  <a:lnTo>
                    <a:pt x="160" y="512"/>
                  </a:lnTo>
                  <a:cubicBezTo>
                    <a:pt x="143" y="512"/>
                    <a:pt x="128" y="498"/>
                    <a:pt x="128" y="480"/>
                  </a:cubicBezTo>
                  <a:cubicBezTo>
                    <a:pt x="128" y="462"/>
                    <a:pt x="143" y="448"/>
                    <a:pt x="160" y="448"/>
                  </a:cubicBezTo>
                  <a:lnTo>
                    <a:pt x="224" y="448"/>
                  </a:lnTo>
                  <a:lnTo>
                    <a:pt x="224" y="375"/>
                  </a:lnTo>
                  <a:cubicBezTo>
                    <a:pt x="208" y="367"/>
                    <a:pt x="188" y="353"/>
                    <a:pt x="169" y="327"/>
                  </a:cubicBezTo>
                  <a:cubicBezTo>
                    <a:pt x="151" y="322"/>
                    <a:pt x="131" y="314"/>
                    <a:pt x="111" y="303"/>
                  </a:cubicBezTo>
                  <a:cubicBezTo>
                    <a:pt x="57" y="273"/>
                    <a:pt x="8" y="216"/>
                    <a:pt x="1" y="114"/>
                  </a:cubicBezTo>
                  <a:cubicBezTo>
                    <a:pt x="-1" y="85"/>
                    <a:pt x="22" y="64"/>
                    <a:pt x="48" y="64"/>
                  </a:cubicBezTo>
                  <a:lnTo>
                    <a:pt x="98" y="64"/>
                  </a:lnTo>
                  <a:cubicBezTo>
                    <a:pt x="98" y="59"/>
                    <a:pt x="97" y="53"/>
                    <a:pt x="97" y="48"/>
                  </a:cubicBezTo>
                  <a:cubicBezTo>
                    <a:pt x="96" y="22"/>
                    <a:pt x="118" y="0"/>
                    <a:pt x="144" y="0"/>
                  </a:cubicBezTo>
                  <a:close/>
                  <a:moveTo>
                    <a:pt x="102" y="112"/>
                  </a:moveTo>
                  <a:lnTo>
                    <a:pt x="49" y="112"/>
                  </a:lnTo>
                  <a:cubicBezTo>
                    <a:pt x="55" y="197"/>
                    <a:pt x="94" y="239"/>
                    <a:pt x="134" y="262"/>
                  </a:cubicBezTo>
                  <a:cubicBezTo>
                    <a:pt x="120" y="224"/>
                    <a:pt x="108" y="176"/>
                    <a:pt x="102" y="112"/>
                  </a:cubicBezTo>
                  <a:close/>
                  <a:moveTo>
                    <a:pt x="380" y="257"/>
                  </a:moveTo>
                  <a:cubicBezTo>
                    <a:pt x="421" y="233"/>
                    <a:pt x="457" y="191"/>
                    <a:pt x="463" y="112"/>
                  </a:cubicBezTo>
                  <a:lnTo>
                    <a:pt x="411" y="112"/>
                  </a:lnTo>
                  <a:cubicBezTo>
                    <a:pt x="405" y="173"/>
                    <a:pt x="394" y="220"/>
                    <a:pt x="380" y="2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pPr defTabSz="685800"/>
              <a:endParaRPr lang="zh-CN" altLang="en-US" sz="1350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</p:grpSp>
      <p:sp>
        <p:nvSpPr>
          <p:cNvPr id="184" name="rec-title">
            <a:extLst>
              <a:ext uri="{FF2B5EF4-FFF2-40B4-BE49-F238E27FC236}">
                <a16:creationId xmlns:a16="http://schemas.microsoft.com/office/drawing/2014/main" id="{569EEDC4-4D38-442D-AAEE-331FFD86DC79}"/>
              </a:ext>
            </a:extLst>
          </p:cNvPr>
          <p:cNvSpPr txBox="1"/>
          <p:nvPr/>
        </p:nvSpPr>
        <p:spPr>
          <a:xfrm>
            <a:off x="1092420" y="4490360"/>
            <a:ext cx="485556" cy="17079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900" b="1" noProof="1">
                <a:solidFill>
                  <a:srgbClr val="3197E4"/>
                </a:solidFill>
                <a:latin typeface="+mn-ea"/>
                <a:cs typeface="MiSans"/>
              </a:rPr>
              <a:t>推荐结论</a:t>
            </a:r>
            <a:endParaRPr lang="en-US" sz="900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186" name="rec-vline">
            <a:extLst>
              <a:ext uri="{FF2B5EF4-FFF2-40B4-BE49-F238E27FC236}">
                <a16:creationId xmlns:a16="http://schemas.microsoft.com/office/drawing/2014/main" id="{08C0BE33-D89E-E0D9-D210-1FC8EEBDAAE3}"/>
              </a:ext>
            </a:extLst>
          </p:cNvPr>
          <p:cNvSpPr/>
          <p:nvPr/>
        </p:nvSpPr>
        <p:spPr>
          <a:xfrm>
            <a:off x="1695451" y="4413326"/>
            <a:ext cx="9525" cy="358666"/>
          </a:xfrm>
          <a:prstGeom prst="rect">
            <a:avLst/>
          </a:prstGeom>
          <a:solidFill>
            <a:srgbClr val="E2E9F0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188" name="rec-body">
            <a:extLst>
              <a:ext uri="{FF2B5EF4-FFF2-40B4-BE49-F238E27FC236}">
                <a16:creationId xmlns:a16="http://schemas.microsoft.com/office/drawing/2014/main" id="{60F5D956-4402-1055-0B7D-D9AB3BC8CD5A}"/>
              </a:ext>
            </a:extLst>
          </p:cNvPr>
          <p:cNvSpPr txBox="1"/>
          <p:nvPr/>
        </p:nvSpPr>
        <p:spPr>
          <a:xfrm>
            <a:off x="1752600" y="4379168"/>
            <a:ext cx="3457573" cy="4269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defTabSz="685800">
              <a:lnSpc>
                <a:spcPct val="140000"/>
              </a:lnSpc>
            </a:pPr>
            <a:r>
              <a:rPr lang="en-US" sz="638" b="1" noProof="1">
                <a:solidFill>
                  <a:srgbClr val="0075D8"/>
                </a:solidFill>
                <a:latin typeface="+mn-ea"/>
                <a:cs typeface="MiSans"/>
              </a:rPr>
              <a:t>推荐方案：方案 B2（湖仓 + Databricks）</a:t>
            </a:r>
            <a:endParaRPr lang="en-US" sz="638" noProof="1">
              <a:solidFill>
                <a:srgbClr val="000000"/>
              </a:solidFill>
              <a:latin typeface="+mn-ea"/>
              <a:cs typeface="MiSans"/>
            </a:endParaRPr>
          </a:p>
          <a:p>
            <a:pPr defTabSz="685800">
              <a:lnSpc>
                <a:spcPct val="140000"/>
              </a:lnSpc>
            </a:pPr>
            <a:r>
              <a:rPr lang="en-US" sz="638" noProof="1">
                <a:solidFill>
                  <a:srgbClr val="1F2430"/>
                </a:solidFill>
                <a:latin typeface="+mn-ea"/>
                <a:cs typeface="MiSans"/>
              </a:rPr>
              <a:t>在当前 15 系统 / 20TB / 3 年规划基线下，方案 B2 在全量数据可用性、原生安全治理、弹性扩展与运维效率方面具备综合优势，同时 3 年 TCO 最低，是实现 China RIMS 目标的最佳平衡方案。</a:t>
            </a:r>
            <a:endParaRPr lang="en-US" sz="638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190" name="trade-card">
            <a:extLst>
              <a:ext uri="{FF2B5EF4-FFF2-40B4-BE49-F238E27FC236}">
                <a16:creationId xmlns:a16="http://schemas.microsoft.com/office/drawing/2014/main" id="{C6DA3989-AE81-1981-0328-3629DA2A97DC}"/>
              </a:ext>
            </a:extLst>
          </p:cNvPr>
          <p:cNvSpPr/>
          <p:nvPr/>
        </p:nvSpPr>
        <p:spPr>
          <a:xfrm>
            <a:off x="5286375" y="4345009"/>
            <a:ext cx="3590925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F6FE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192" name="trade-icon">
            <a:extLst>
              <a:ext uri="{FF2B5EF4-FFF2-40B4-BE49-F238E27FC236}">
                <a16:creationId xmlns:a16="http://schemas.microsoft.com/office/drawing/2014/main" id="{D0B31679-ED21-4D64-9191-FAD5B5C4849D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eyJpY29uTmFtZSI6ImZhczpzY2FsZS1iYWxhbmNlZCJ9</pptd:icon>
              </p:ext>
            </p:extLst>
          </p:nvPr>
        </p:nvSpPr>
        <p:spPr>
          <a:xfrm>
            <a:off x="5340569" y="4481643"/>
            <a:ext cx="247650" cy="222031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384" y="32"/>
                </a:moveTo>
                <a:lnTo>
                  <a:pt x="512" y="32"/>
                </a:lnTo>
                <a:cubicBezTo>
                  <a:pt x="530" y="32"/>
                  <a:pt x="544" y="46"/>
                  <a:pt x="544" y="64"/>
                </a:cubicBezTo>
                <a:cubicBezTo>
                  <a:pt x="544" y="82"/>
                  <a:pt x="530" y="96"/>
                  <a:pt x="512" y="96"/>
                </a:cubicBezTo>
                <a:lnTo>
                  <a:pt x="398" y="96"/>
                </a:lnTo>
                <a:cubicBezTo>
                  <a:pt x="393" y="122"/>
                  <a:pt x="376" y="143"/>
                  <a:pt x="352" y="153"/>
                </a:cubicBezTo>
                <a:lnTo>
                  <a:pt x="352" y="448"/>
                </a:lnTo>
                <a:lnTo>
                  <a:pt x="512" y="448"/>
                </a:lnTo>
                <a:cubicBezTo>
                  <a:pt x="530" y="448"/>
                  <a:pt x="544" y="462"/>
                  <a:pt x="544" y="480"/>
                </a:cubicBezTo>
                <a:cubicBezTo>
                  <a:pt x="544" y="498"/>
                  <a:pt x="530" y="512"/>
                  <a:pt x="512" y="512"/>
                </a:cubicBezTo>
                <a:lnTo>
                  <a:pt x="128" y="512"/>
                </a:lnTo>
                <a:cubicBezTo>
                  <a:pt x="110" y="512"/>
                  <a:pt x="96" y="498"/>
                  <a:pt x="96" y="480"/>
                </a:cubicBezTo>
                <a:cubicBezTo>
                  <a:pt x="96" y="462"/>
                  <a:pt x="110" y="448"/>
                  <a:pt x="128" y="448"/>
                </a:cubicBezTo>
                <a:lnTo>
                  <a:pt x="288" y="448"/>
                </a:lnTo>
                <a:lnTo>
                  <a:pt x="288" y="153"/>
                </a:lnTo>
                <a:cubicBezTo>
                  <a:pt x="265" y="143"/>
                  <a:pt x="247" y="122"/>
                  <a:pt x="242" y="96"/>
                </a:cubicBezTo>
                <a:lnTo>
                  <a:pt x="128" y="96"/>
                </a:lnTo>
                <a:cubicBezTo>
                  <a:pt x="110" y="96"/>
                  <a:pt x="96" y="82"/>
                  <a:pt x="96" y="64"/>
                </a:cubicBezTo>
                <a:cubicBezTo>
                  <a:pt x="96" y="46"/>
                  <a:pt x="110" y="32"/>
                  <a:pt x="128" y="32"/>
                </a:cubicBezTo>
                <a:lnTo>
                  <a:pt x="256" y="32"/>
                </a:lnTo>
                <a:cubicBezTo>
                  <a:pt x="271" y="13"/>
                  <a:pt x="294" y="0"/>
                  <a:pt x="320" y="0"/>
                </a:cubicBezTo>
                <a:cubicBezTo>
                  <a:pt x="346" y="0"/>
                  <a:pt x="369" y="13"/>
                  <a:pt x="384" y="32"/>
                </a:cubicBezTo>
                <a:close/>
              </a:path>
              <a:path w="640" h="512">
                <a:moveTo>
                  <a:pt x="512" y="416"/>
                </a:moveTo>
                <a:cubicBezTo>
                  <a:pt x="449" y="416"/>
                  <a:pt x="397" y="382"/>
                  <a:pt x="386" y="337"/>
                </a:cubicBezTo>
                <a:cubicBezTo>
                  <a:pt x="383" y="326"/>
                  <a:pt x="387" y="315"/>
                  <a:pt x="393" y="305"/>
                </a:cubicBezTo>
                <a:lnTo>
                  <a:pt x="488" y="142"/>
                </a:lnTo>
                <a:cubicBezTo>
                  <a:pt x="493" y="133"/>
                  <a:pt x="502" y="128"/>
                  <a:pt x="512" y="128"/>
                </a:cubicBezTo>
                <a:cubicBezTo>
                  <a:pt x="522" y="128"/>
                  <a:pt x="531" y="133"/>
                  <a:pt x="536" y="142"/>
                </a:cubicBezTo>
                <a:lnTo>
                  <a:pt x="631" y="305"/>
                </a:lnTo>
                <a:cubicBezTo>
                  <a:pt x="637" y="315"/>
                  <a:pt x="641" y="326"/>
                  <a:pt x="638" y="337"/>
                </a:cubicBezTo>
                <a:cubicBezTo>
                  <a:pt x="627" y="382"/>
                  <a:pt x="575" y="416"/>
                  <a:pt x="512" y="416"/>
                </a:cubicBezTo>
                <a:close/>
                <a:moveTo>
                  <a:pt x="440" y="320"/>
                </a:moveTo>
                <a:lnTo>
                  <a:pt x="584" y="320"/>
                </a:lnTo>
                <a:lnTo>
                  <a:pt x="512" y="196"/>
                </a:lnTo>
                <a:lnTo>
                  <a:pt x="440" y="320"/>
                </a:lnTo>
                <a:close/>
              </a:path>
              <a:path w="640" h="512">
                <a:moveTo>
                  <a:pt x="1" y="337"/>
                </a:moveTo>
                <a:cubicBezTo>
                  <a:pt x="-2" y="326"/>
                  <a:pt x="2" y="315"/>
                  <a:pt x="8" y="305"/>
                </a:cubicBezTo>
                <a:lnTo>
                  <a:pt x="103" y="142"/>
                </a:lnTo>
                <a:cubicBezTo>
                  <a:pt x="108" y="133"/>
                  <a:pt x="117" y="128"/>
                  <a:pt x="127" y="128"/>
                </a:cubicBezTo>
                <a:cubicBezTo>
                  <a:pt x="137" y="128"/>
                  <a:pt x="146" y="133"/>
                  <a:pt x="151" y="142"/>
                </a:cubicBezTo>
                <a:lnTo>
                  <a:pt x="246" y="305"/>
                </a:lnTo>
                <a:cubicBezTo>
                  <a:pt x="252" y="315"/>
                  <a:pt x="256" y="326"/>
                  <a:pt x="253" y="337"/>
                </a:cubicBezTo>
                <a:cubicBezTo>
                  <a:pt x="242" y="382"/>
                  <a:pt x="190" y="416"/>
                  <a:pt x="127" y="416"/>
                </a:cubicBezTo>
                <a:cubicBezTo>
                  <a:pt x="64" y="416"/>
                  <a:pt x="12" y="382"/>
                  <a:pt x="1" y="337"/>
                </a:cubicBezTo>
                <a:close/>
                <a:moveTo>
                  <a:pt x="127" y="196"/>
                </a:moveTo>
                <a:lnTo>
                  <a:pt x="54" y="320"/>
                </a:lnTo>
                <a:lnTo>
                  <a:pt x="199" y="320"/>
                </a:lnTo>
                <a:lnTo>
                  <a:pt x="127" y="196"/>
                </a:lnTo>
                <a:close/>
              </a:path>
            </a:pathLst>
          </a:custGeom>
          <a:solidFill>
            <a:srgbClr val="129AE2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194" name="trade-title">
            <a:extLst>
              <a:ext uri="{FF2B5EF4-FFF2-40B4-BE49-F238E27FC236}">
                <a16:creationId xmlns:a16="http://schemas.microsoft.com/office/drawing/2014/main" id="{0FE16385-63D8-B7E0-8282-C960B9EF9001}"/>
              </a:ext>
            </a:extLst>
          </p:cNvPr>
          <p:cNvSpPr txBox="1"/>
          <p:nvPr/>
        </p:nvSpPr>
        <p:spPr>
          <a:xfrm>
            <a:off x="5669280" y="4379168"/>
            <a:ext cx="1905000" cy="13663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788" b="1" noProof="1">
                <a:solidFill>
                  <a:srgbClr val="3595E3"/>
                </a:solidFill>
                <a:latin typeface="+mn-ea"/>
                <a:cs typeface="MiSans"/>
              </a:rPr>
              <a:t>关键取舍（Trade-off）</a:t>
            </a:r>
            <a:endParaRPr lang="en-US" sz="788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196" name="trade-body">
            <a:extLst>
              <a:ext uri="{FF2B5EF4-FFF2-40B4-BE49-F238E27FC236}">
                <a16:creationId xmlns:a16="http://schemas.microsoft.com/office/drawing/2014/main" id="{1379A0D2-B1F6-D6C7-6EAE-5EB6EAAE82C4}"/>
              </a:ext>
            </a:extLst>
          </p:cNvPr>
          <p:cNvSpPr txBox="1"/>
          <p:nvPr/>
        </p:nvSpPr>
        <p:spPr>
          <a:xfrm>
            <a:off x="5669279" y="4532881"/>
            <a:ext cx="3208021" cy="2732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defTabSz="685800">
              <a:lnSpc>
                <a:spcPct val="140000"/>
              </a:lnSpc>
            </a:pPr>
            <a:r>
              <a:rPr lang="en-US" sz="638" noProof="1">
                <a:solidFill>
                  <a:srgbClr val="1F2430"/>
                </a:solidFill>
                <a:latin typeface="+mn-ea"/>
                <a:cs typeface="MiSans"/>
              </a:rPr>
              <a:t>方案 B2 的治理能力依赖 Databricks Unity Catalog，存在厂商锁定；但底层数据采用开放 Iceberg 格式，数据可随时迁移，保留未来技术灵活性。</a:t>
            </a:r>
            <a:endParaRPr lang="en-US" sz="638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</p:spTree>
    <p:extLst>
      <p:ext uri="{BB962C8B-B14F-4D97-AF65-F5344CB8AC3E}">
        <p14:creationId xmlns:p14="http://schemas.microsoft.com/office/powerpoint/2010/main" val="31881466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C0A6F-4FC8-8906-58A3-90785AA8B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l1-c1">
            <a:extLst>
              <a:ext uri="{FF2B5EF4-FFF2-40B4-BE49-F238E27FC236}">
                <a16:creationId xmlns:a16="http://schemas.microsoft.com/office/drawing/2014/main" id="{82A5E1BC-C273-55FE-6BDF-46A1E43B7D95}"/>
              </a:ext>
            </a:extLst>
          </p:cNvPr>
          <p:cNvSpPr/>
          <p:nvPr/>
        </p:nvSpPr>
        <p:spPr>
          <a:xfrm>
            <a:off x="1632068" y="1258880"/>
            <a:ext cx="6954371" cy="7136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4F71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cs typeface="MiSans"/>
            </a:endParaRP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29B2BF8B-45CC-B7AC-64AF-3157363CAD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2921" y="266700"/>
            <a:ext cx="5241925" cy="261610"/>
          </a:xfrm>
        </p:spPr>
        <p:txBody>
          <a:bodyPr/>
          <a:lstStyle/>
          <a:p>
            <a:r>
              <a:rPr lang="en-US"/>
              <a:t>China RIMS Solution Proposal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4D6CE36-D3B5-4D9F-B6E0-FFB0F8151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推荐架构：方案</a:t>
            </a:r>
            <a:r>
              <a:rPr lang="en-US" altLang="zh-CN"/>
              <a:t>B2</a:t>
            </a:r>
            <a:r>
              <a:rPr lang="zh-CN" altLang="en-US"/>
              <a:t>四层架构视图</a:t>
            </a:r>
            <a:endParaRPr lang="en-US" altLang="zh-CN"/>
          </a:p>
        </p:txBody>
      </p:sp>
      <p:sp>
        <p:nvSpPr>
          <p:cNvPr id="4" name="collect-note">
            <a:extLst>
              <a:ext uri="{FF2B5EF4-FFF2-40B4-BE49-F238E27FC236}">
                <a16:creationId xmlns:a16="http://schemas.microsoft.com/office/drawing/2014/main" id="{AB5EB299-5034-374C-AB01-0B8ED5F31A06}"/>
              </a:ext>
            </a:extLst>
          </p:cNvPr>
          <p:cNvSpPr>
            <a:spLocks noGrp="1"/>
          </p:cNvSpPr>
          <p:nvPr/>
        </p:nvSpPr>
        <p:spPr>
          <a:xfrm>
            <a:off x="502920" y="969542"/>
            <a:ext cx="8293608" cy="2221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750" b="0">
                <a:solidFill>
                  <a:srgbClr val="607384"/>
                </a:solidFill>
              </a:defRPr>
            </a:pPr>
            <a:r>
              <a:rPr lang="zh-CN" altLang="en-US" sz="1000"/>
              <a:t>方案 </a:t>
            </a:r>
            <a:r>
              <a:rPr lang="en-US" altLang="zh-CN" sz="1000"/>
              <a:t>B2 </a:t>
            </a:r>
            <a:r>
              <a:rPr lang="zh-CN" altLang="en-US" sz="1000"/>
              <a:t>采用分层解耦架构，通过统一的表现层与业务服务层承接用户需求，并以 </a:t>
            </a:r>
            <a:r>
              <a:rPr lang="en-US" altLang="zh-CN" sz="1000"/>
              <a:t>Databricks + Iceberg </a:t>
            </a:r>
            <a:r>
              <a:rPr lang="zh-CN" altLang="en-US" sz="1000"/>
              <a:t>构建可扩展、可治理的数据访问与存储底座</a:t>
            </a:r>
          </a:p>
        </p:txBody>
      </p:sp>
      <p:sp>
        <p:nvSpPr>
          <p:cNvPr id="20" name="l1-label">
            <a:extLst>
              <a:ext uri="{FF2B5EF4-FFF2-40B4-BE49-F238E27FC236}">
                <a16:creationId xmlns:a16="http://schemas.microsoft.com/office/drawing/2014/main" id="{54C6D726-F8EE-E49E-0DB9-CA5AEE5D15A4}"/>
              </a:ext>
            </a:extLst>
          </p:cNvPr>
          <p:cNvSpPr/>
          <p:nvPr/>
        </p:nvSpPr>
        <p:spPr>
          <a:xfrm>
            <a:off x="285750" y="1258880"/>
            <a:ext cx="1261110" cy="713652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ea typeface="MiSans"/>
              <a:cs typeface="MiSans"/>
            </a:endParaRPr>
          </a:p>
        </p:txBody>
      </p:sp>
      <p:sp>
        <p:nvSpPr>
          <p:cNvPr id="22" name="l1-num-bg">
            <a:extLst>
              <a:ext uri="{FF2B5EF4-FFF2-40B4-BE49-F238E27FC236}">
                <a16:creationId xmlns:a16="http://schemas.microsoft.com/office/drawing/2014/main" id="{D5834D90-4758-6ABA-A5B1-67EF945B369F}"/>
              </a:ext>
            </a:extLst>
          </p:cNvPr>
          <p:cNvSpPr/>
          <p:nvPr/>
        </p:nvSpPr>
        <p:spPr>
          <a:xfrm>
            <a:off x="793291" y="1340148"/>
            <a:ext cx="232729" cy="23272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anchor="ctr"/>
          <a:lstStyle/>
          <a:p>
            <a:pPr algn="ctr" defTabSz="685800"/>
            <a:r>
              <a:rPr lang="en-US" altLang="zh-CN" sz="900" b="1">
                <a:solidFill>
                  <a:srgbClr val="000000"/>
                </a:solidFill>
                <a:ea typeface="MiSans"/>
                <a:cs typeface="MiSans"/>
              </a:rPr>
              <a:t>01</a:t>
            </a:r>
            <a:endParaRPr lang="zh-CN" altLang="en-US" sz="900" b="1">
              <a:solidFill>
                <a:srgbClr val="000000"/>
              </a:solidFill>
              <a:ea typeface="MiSans"/>
              <a:cs typeface="MiSans"/>
            </a:endParaRPr>
          </a:p>
        </p:txBody>
      </p:sp>
      <p:sp>
        <p:nvSpPr>
          <p:cNvPr id="26" name="l1-title">
            <a:extLst>
              <a:ext uri="{FF2B5EF4-FFF2-40B4-BE49-F238E27FC236}">
                <a16:creationId xmlns:a16="http://schemas.microsoft.com/office/drawing/2014/main" id="{3F71B34C-0480-56A6-9436-887551D1CFBE}"/>
              </a:ext>
            </a:extLst>
          </p:cNvPr>
          <p:cNvSpPr txBox="1"/>
          <p:nvPr/>
        </p:nvSpPr>
        <p:spPr>
          <a:xfrm>
            <a:off x="447726" y="1611331"/>
            <a:ext cx="903227" cy="1618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1200" b="1" noProof="1">
                <a:solidFill>
                  <a:srgbClr val="FFFFFF"/>
                </a:solidFill>
                <a:ea typeface="MiSans"/>
                <a:cs typeface="MiSans"/>
              </a:rPr>
              <a:t>表现层</a:t>
            </a:r>
            <a:endParaRPr lang="en-US" sz="1200" noProof="1">
              <a:solidFill>
                <a:srgbClr val="000000"/>
              </a:solidFill>
              <a:ea typeface="MiSans"/>
              <a:cs typeface="MiSans"/>
            </a:endParaRPr>
          </a:p>
        </p:txBody>
      </p:sp>
      <p:sp>
        <p:nvSpPr>
          <p:cNvPr id="28" name="l1-en">
            <a:extLst>
              <a:ext uri="{FF2B5EF4-FFF2-40B4-BE49-F238E27FC236}">
                <a16:creationId xmlns:a16="http://schemas.microsoft.com/office/drawing/2014/main" id="{F7DE81B0-89D9-CE54-4E55-0FDC2C1C76E6}"/>
              </a:ext>
            </a:extLst>
          </p:cNvPr>
          <p:cNvSpPr txBox="1"/>
          <p:nvPr/>
        </p:nvSpPr>
        <p:spPr>
          <a:xfrm>
            <a:off x="370960" y="1790272"/>
            <a:ext cx="1105415" cy="10225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900" b="1" kern="0" spc="113" noProof="1">
                <a:solidFill>
                  <a:srgbClr val="CFE8FA"/>
                </a:solidFill>
                <a:ea typeface="MiSans"/>
                <a:cs typeface="MiSans"/>
              </a:rPr>
              <a:t>INTERFACE LAYER</a:t>
            </a:r>
            <a:endParaRPr lang="en-US" sz="900" noProof="1">
              <a:solidFill>
                <a:srgbClr val="000000"/>
              </a:solidFill>
              <a:ea typeface="MiSans"/>
              <a:cs typeface="MiSans"/>
            </a:endParaRPr>
          </a:p>
        </p:txBody>
      </p:sp>
      <p:sp>
        <p:nvSpPr>
          <p:cNvPr id="32" name="l2-label">
            <a:extLst>
              <a:ext uri="{FF2B5EF4-FFF2-40B4-BE49-F238E27FC236}">
                <a16:creationId xmlns:a16="http://schemas.microsoft.com/office/drawing/2014/main" id="{436567C5-7162-31D5-FEAE-EEC8CC802440}"/>
              </a:ext>
            </a:extLst>
          </p:cNvPr>
          <p:cNvSpPr/>
          <p:nvPr/>
        </p:nvSpPr>
        <p:spPr>
          <a:xfrm>
            <a:off x="285750" y="2138106"/>
            <a:ext cx="1261110" cy="1159752"/>
          </a:xfrm>
          <a:prstGeom prst="roundRect">
            <a:avLst>
              <a:gd name="adj" fmla="val 6077"/>
            </a:avLst>
          </a:prstGeom>
          <a:solidFill>
            <a:srgbClr val="2A83C8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ea typeface="MiSans"/>
              <a:cs typeface="MiSans"/>
            </a:endParaRPr>
          </a:p>
        </p:txBody>
      </p:sp>
      <p:sp>
        <p:nvSpPr>
          <p:cNvPr id="82" name="l1-c1">
            <a:extLst>
              <a:ext uri="{FF2B5EF4-FFF2-40B4-BE49-F238E27FC236}">
                <a16:creationId xmlns:a16="http://schemas.microsoft.com/office/drawing/2014/main" id="{98DC6CE1-2798-89C4-385B-568A232C6B9F}"/>
              </a:ext>
            </a:extLst>
          </p:cNvPr>
          <p:cNvSpPr/>
          <p:nvPr/>
        </p:nvSpPr>
        <p:spPr>
          <a:xfrm>
            <a:off x="1632068" y="2138106"/>
            <a:ext cx="6954371" cy="1159753"/>
          </a:xfrm>
          <a:prstGeom prst="roundRect">
            <a:avLst>
              <a:gd name="adj" fmla="val 5372"/>
            </a:avLst>
          </a:prstGeom>
          <a:solidFill>
            <a:srgbClr val="FFFFFF"/>
          </a:solidFill>
          <a:ln w="12700">
            <a:solidFill>
              <a:srgbClr val="2A83C8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ea typeface="MiSans"/>
              <a:cs typeface="MiSans"/>
            </a:endParaRPr>
          </a:p>
        </p:txBody>
      </p:sp>
      <p:sp>
        <p:nvSpPr>
          <p:cNvPr id="85" name="l1-num-bg">
            <a:extLst>
              <a:ext uri="{FF2B5EF4-FFF2-40B4-BE49-F238E27FC236}">
                <a16:creationId xmlns:a16="http://schemas.microsoft.com/office/drawing/2014/main" id="{DFD44211-5904-129D-DF79-629C68BD7BA8}"/>
              </a:ext>
            </a:extLst>
          </p:cNvPr>
          <p:cNvSpPr/>
          <p:nvPr/>
        </p:nvSpPr>
        <p:spPr>
          <a:xfrm>
            <a:off x="793291" y="2349340"/>
            <a:ext cx="232729" cy="23272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anchor="ctr"/>
          <a:lstStyle/>
          <a:p>
            <a:pPr algn="ctr" defTabSz="685800"/>
            <a:r>
              <a:rPr lang="en-US" altLang="zh-CN" sz="900" b="1">
                <a:solidFill>
                  <a:srgbClr val="000000"/>
                </a:solidFill>
                <a:ea typeface="MiSans"/>
                <a:cs typeface="MiSans"/>
              </a:rPr>
              <a:t>02</a:t>
            </a:r>
            <a:endParaRPr lang="zh-CN" altLang="en-US" sz="900" b="1">
              <a:solidFill>
                <a:srgbClr val="000000"/>
              </a:solidFill>
              <a:ea typeface="MiSans"/>
              <a:cs typeface="MiSans"/>
            </a:endParaRPr>
          </a:p>
        </p:txBody>
      </p:sp>
      <p:sp>
        <p:nvSpPr>
          <p:cNvPr id="86" name="l1-title">
            <a:extLst>
              <a:ext uri="{FF2B5EF4-FFF2-40B4-BE49-F238E27FC236}">
                <a16:creationId xmlns:a16="http://schemas.microsoft.com/office/drawing/2014/main" id="{306C2875-4AB5-0802-C22E-096083EC3417}"/>
              </a:ext>
            </a:extLst>
          </p:cNvPr>
          <p:cNvSpPr txBox="1"/>
          <p:nvPr/>
        </p:nvSpPr>
        <p:spPr>
          <a:xfrm>
            <a:off x="447726" y="2679785"/>
            <a:ext cx="903227" cy="1618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zh-CN" altLang="en-US" sz="1200" b="1" noProof="1">
                <a:solidFill>
                  <a:srgbClr val="FFFFFF"/>
                </a:solidFill>
                <a:ea typeface="MiSans"/>
                <a:cs typeface="MiSans"/>
              </a:rPr>
              <a:t>业务服务层</a:t>
            </a:r>
          </a:p>
        </p:txBody>
      </p:sp>
      <p:sp>
        <p:nvSpPr>
          <p:cNvPr id="87" name="l1-en">
            <a:extLst>
              <a:ext uri="{FF2B5EF4-FFF2-40B4-BE49-F238E27FC236}">
                <a16:creationId xmlns:a16="http://schemas.microsoft.com/office/drawing/2014/main" id="{ABBD1B14-B416-5153-FC49-7FD2EF7F2A9A}"/>
              </a:ext>
            </a:extLst>
          </p:cNvPr>
          <p:cNvSpPr txBox="1"/>
          <p:nvPr/>
        </p:nvSpPr>
        <p:spPr>
          <a:xfrm>
            <a:off x="370960" y="2858726"/>
            <a:ext cx="1105415" cy="10225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900" b="1" kern="0" spc="113" noProof="1">
                <a:solidFill>
                  <a:srgbClr val="CFE8FA"/>
                </a:solidFill>
                <a:ea typeface="MiSans"/>
                <a:cs typeface="MiSans"/>
              </a:rPr>
              <a:t>SERVICE LAYER</a:t>
            </a:r>
          </a:p>
        </p:txBody>
      </p:sp>
      <p:sp>
        <p:nvSpPr>
          <p:cNvPr id="44" name="l3-label">
            <a:extLst>
              <a:ext uri="{FF2B5EF4-FFF2-40B4-BE49-F238E27FC236}">
                <a16:creationId xmlns:a16="http://schemas.microsoft.com/office/drawing/2014/main" id="{CBF4AE9D-8238-5F20-E82C-61C2234AD309}"/>
              </a:ext>
            </a:extLst>
          </p:cNvPr>
          <p:cNvSpPr/>
          <p:nvPr/>
        </p:nvSpPr>
        <p:spPr>
          <a:xfrm>
            <a:off x="285750" y="3463433"/>
            <a:ext cx="1261110" cy="616284"/>
          </a:xfrm>
          <a:prstGeom prst="roundRect">
            <a:avLst>
              <a:gd name="adj" fmla="val 8000"/>
            </a:avLst>
          </a:prstGeom>
          <a:solidFill>
            <a:srgbClr val="009CDE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ea typeface="MiSans"/>
              <a:cs typeface="MiSans"/>
            </a:endParaRPr>
          </a:p>
        </p:txBody>
      </p:sp>
      <p:sp>
        <p:nvSpPr>
          <p:cNvPr id="56" name="l4-label">
            <a:extLst>
              <a:ext uri="{FF2B5EF4-FFF2-40B4-BE49-F238E27FC236}">
                <a16:creationId xmlns:a16="http://schemas.microsoft.com/office/drawing/2014/main" id="{4F986011-C624-1C95-28EF-3A4CB3FFFBF7}"/>
              </a:ext>
            </a:extLst>
          </p:cNvPr>
          <p:cNvSpPr/>
          <p:nvPr/>
        </p:nvSpPr>
        <p:spPr>
          <a:xfrm>
            <a:off x="285750" y="4244760"/>
            <a:ext cx="1261110" cy="616284"/>
          </a:xfrm>
          <a:prstGeom prst="roundRect">
            <a:avLst>
              <a:gd name="adj" fmla="val 8000"/>
            </a:avLst>
          </a:prstGeom>
          <a:solidFill>
            <a:srgbClr val="DCECF5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ea typeface="MiSans"/>
              <a:cs typeface="MiSans"/>
            </a:endParaRPr>
          </a:p>
        </p:txBody>
      </p:sp>
      <p:sp>
        <p:nvSpPr>
          <p:cNvPr id="83" name="l1-c1">
            <a:extLst>
              <a:ext uri="{FF2B5EF4-FFF2-40B4-BE49-F238E27FC236}">
                <a16:creationId xmlns:a16="http://schemas.microsoft.com/office/drawing/2014/main" id="{AFB60602-C3FA-222A-43EE-2E668FC4825B}"/>
              </a:ext>
            </a:extLst>
          </p:cNvPr>
          <p:cNvSpPr/>
          <p:nvPr/>
        </p:nvSpPr>
        <p:spPr>
          <a:xfrm>
            <a:off x="1632068" y="3463434"/>
            <a:ext cx="6954371" cy="6162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9CDE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ea typeface="MiSans"/>
              <a:cs typeface="MiSans"/>
            </a:endParaRPr>
          </a:p>
        </p:txBody>
      </p:sp>
      <p:sp>
        <p:nvSpPr>
          <p:cNvPr id="84" name="l1-c1">
            <a:extLst>
              <a:ext uri="{FF2B5EF4-FFF2-40B4-BE49-F238E27FC236}">
                <a16:creationId xmlns:a16="http://schemas.microsoft.com/office/drawing/2014/main" id="{3DD4E4E0-ADBB-3AED-B2EB-98E938B08483}"/>
              </a:ext>
            </a:extLst>
          </p:cNvPr>
          <p:cNvSpPr/>
          <p:nvPr/>
        </p:nvSpPr>
        <p:spPr>
          <a:xfrm>
            <a:off x="1632068" y="4244760"/>
            <a:ext cx="6954371" cy="6162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CF5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88" name="l1-num-bg">
            <a:extLst>
              <a:ext uri="{FF2B5EF4-FFF2-40B4-BE49-F238E27FC236}">
                <a16:creationId xmlns:a16="http://schemas.microsoft.com/office/drawing/2014/main" id="{51B96BBA-0938-5A36-2B54-CA4172B6040B}"/>
              </a:ext>
            </a:extLst>
          </p:cNvPr>
          <p:cNvSpPr/>
          <p:nvPr/>
        </p:nvSpPr>
        <p:spPr>
          <a:xfrm>
            <a:off x="793291" y="3535668"/>
            <a:ext cx="232729" cy="21858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anchor="ctr"/>
          <a:lstStyle/>
          <a:p>
            <a:pPr algn="ctr" defTabSz="685800"/>
            <a:r>
              <a:rPr lang="en-US" altLang="zh-CN" sz="900" b="1">
                <a:solidFill>
                  <a:srgbClr val="000000"/>
                </a:solidFill>
                <a:ea typeface="MiSans"/>
                <a:cs typeface="MiSans"/>
              </a:rPr>
              <a:t>03</a:t>
            </a:r>
            <a:endParaRPr lang="zh-CN" altLang="en-US" sz="900" b="1">
              <a:solidFill>
                <a:srgbClr val="000000"/>
              </a:solidFill>
              <a:ea typeface="MiSans"/>
              <a:cs typeface="MiSans"/>
            </a:endParaRPr>
          </a:p>
        </p:txBody>
      </p:sp>
      <p:sp>
        <p:nvSpPr>
          <p:cNvPr id="89" name="l1-title">
            <a:extLst>
              <a:ext uri="{FF2B5EF4-FFF2-40B4-BE49-F238E27FC236}">
                <a16:creationId xmlns:a16="http://schemas.microsoft.com/office/drawing/2014/main" id="{0C1EDC98-360B-E9FB-40DF-627C772F471B}"/>
              </a:ext>
            </a:extLst>
          </p:cNvPr>
          <p:cNvSpPr txBox="1"/>
          <p:nvPr/>
        </p:nvSpPr>
        <p:spPr>
          <a:xfrm>
            <a:off x="447726" y="3763177"/>
            <a:ext cx="903227" cy="1520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zh-CN" altLang="en-US" sz="1200" b="1" noProof="1">
                <a:solidFill>
                  <a:srgbClr val="FFFFFF"/>
                </a:solidFill>
                <a:ea typeface="MiSans"/>
                <a:cs typeface="MiSans"/>
              </a:rPr>
              <a:t>数据访问层</a:t>
            </a:r>
          </a:p>
        </p:txBody>
      </p:sp>
      <p:sp>
        <p:nvSpPr>
          <p:cNvPr id="90" name="l1-en">
            <a:extLst>
              <a:ext uri="{FF2B5EF4-FFF2-40B4-BE49-F238E27FC236}">
                <a16:creationId xmlns:a16="http://schemas.microsoft.com/office/drawing/2014/main" id="{37A5982F-E23A-3FAB-40F1-F7D28FD62776}"/>
              </a:ext>
            </a:extLst>
          </p:cNvPr>
          <p:cNvSpPr txBox="1"/>
          <p:nvPr/>
        </p:nvSpPr>
        <p:spPr>
          <a:xfrm>
            <a:off x="370960" y="3931247"/>
            <a:ext cx="1105415" cy="96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900" b="1" kern="0" spc="113" noProof="1">
                <a:solidFill>
                  <a:srgbClr val="CFE8FA"/>
                </a:solidFill>
                <a:ea typeface="MiSans"/>
                <a:cs typeface="MiSans"/>
              </a:rPr>
              <a:t>DATA ACCESS LAYER</a:t>
            </a:r>
          </a:p>
        </p:txBody>
      </p:sp>
      <p:sp>
        <p:nvSpPr>
          <p:cNvPr id="91" name="l1-num-bg">
            <a:extLst>
              <a:ext uri="{FF2B5EF4-FFF2-40B4-BE49-F238E27FC236}">
                <a16:creationId xmlns:a16="http://schemas.microsoft.com/office/drawing/2014/main" id="{10F61B35-A29B-7457-A87F-F5E25C23FC1F}"/>
              </a:ext>
            </a:extLst>
          </p:cNvPr>
          <p:cNvSpPr/>
          <p:nvPr/>
        </p:nvSpPr>
        <p:spPr>
          <a:xfrm>
            <a:off x="793291" y="4298923"/>
            <a:ext cx="232729" cy="21858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anchor="ctr"/>
          <a:lstStyle/>
          <a:p>
            <a:pPr algn="ctr" defTabSz="685800"/>
            <a:r>
              <a:rPr lang="en-US" altLang="zh-CN" sz="900" b="1">
                <a:solidFill>
                  <a:srgbClr val="000000"/>
                </a:solidFill>
                <a:ea typeface="MiSans"/>
                <a:cs typeface="MiSans"/>
              </a:rPr>
              <a:t>04</a:t>
            </a:r>
            <a:endParaRPr lang="zh-CN" altLang="en-US" sz="900" b="1">
              <a:solidFill>
                <a:srgbClr val="000000"/>
              </a:solidFill>
              <a:ea typeface="MiSans"/>
              <a:cs typeface="MiSans"/>
            </a:endParaRPr>
          </a:p>
        </p:txBody>
      </p:sp>
      <p:sp>
        <p:nvSpPr>
          <p:cNvPr id="92" name="l1-title">
            <a:extLst>
              <a:ext uri="{FF2B5EF4-FFF2-40B4-BE49-F238E27FC236}">
                <a16:creationId xmlns:a16="http://schemas.microsoft.com/office/drawing/2014/main" id="{B1F019A5-829B-CBFD-906B-638D22562C1A}"/>
              </a:ext>
            </a:extLst>
          </p:cNvPr>
          <p:cNvSpPr txBox="1"/>
          <p:nvPr/>
        </p:nvSpPr>
        <p:spPr>
          <a:xfrm>
            <a:off x="447726" y="4526432"/>
            <a:ext cx="903227" cy="1520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zh-CN" altLang="en-US" sz="1200" b="1" noProof="1">
                <a:ea typeface="MiSans"/>
                <a:cs typeface="MiSans"/>
              </a:rPr>
              <a:t>存储层</a:t>
            </a:r>
          </a:p>
        </p:txBody>
      </p:sp>
      <p:sp>
        <p:nvSpPr>
          <p:cNvPr id="93" name="l1-en">
            <a:extLst>
              <a:ext uri="{FF2B5EF4-FFF2-40B4-BE49-F238E27FC236}">
                <a16:creationId xmlns:a16="http://schemas.microsoft.com/office/drawing/2014/main" id="{F9119DF2-0A0F-3279-ECB1-F29DFB586FAA}"/>
              </a:ext>
            </a:extLst>
          </p:cNvPr>
          <p:cNvSpPr txBox="1"/>
          <p:nvPr/>
        </p:nvSpPr>
        <p:spPr>
          <a:xfrm>
            <a:off x="370960" y="4694501"/>
            <a:ext cx="1105415" cy="96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900" b="1" kern="0" spc="113" noProof="1">
                <a:ea typeface="MiSans"/>
                <a:cs typeface="MiSans"/>
              </a:rPr>
              <a:t>STORAGE LAYER</a:t>
            </a:r>
          </a:p>
        </p:txBody>
      </p:sp>
      <p:sp>
        <p:nvSpPr>
          <p:cNvPr id="105" name="l1-c1">
            <a:extLst>
              <a:ext uri="{FF2B5EF4-FFF2-40B4-BE49-F238E27FC236}">
                <a16:creationId xmlns:a16="http://schemas.microsoft.com/office/drawing/2014/main" id="{6093AB6E-5932-6892-010C-8BFD519C1DD7}"/>
              </a:ext>
            </a:extLst>
          </p:cNvPr>
          <p:cNvSpPr/>
          <p:nvPr/>
        </p:nvSpPr>
        <p:spPr>
          <a:xfrm>
            <a:off x="1708836" y="1335627"/>
            <a:ext cx="1647774" cy="586077"/>
          </a:xfrm>
          <a:prstGeom prst="roundRect">
            <a:avLst>
              <a:gd name="adj" fmla="val 8000"/>
            </a:avLst>
          </a:prstGeom>
          <a:solidFill>
            <a:srgbClr val="FBFDFF"/>
          </a:solidFill>
          <a:ln w="12700">
            <a:solidFill>
              <a:srgbClr val="EDF1F6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cs typeface="MiSans"/>
            </a:endParaRPr>
          </a:p>
        </p:txBody>
      </p:sp>
      <p:sp>
        <p:nvSpPr>
          <p:cNvPr id="97" name="l1-c1-icon">
            <a:extLst>
              <a:ext uri="{FF2B5EF4-FFF2-40B4-BE49-F238E27FC236}">
                <a16:creationId xmlns:a16="http://schemas.microsoft.com/office/drawing/2014/main" id="{F6477263-8CC2-33F0-6A12-A454CB611DE2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eyJpY29uTmFtZSI6ImZhczpkZXNrdG9wIn0</pptd:icon>
              </p:ext>
            </p:extLst>
          </p:nvPr>
        </p:nvSpPr>
        <p:spPr>
          <a:xfrm>
            <a:off x="1814770" y="1511263"/>
            <a:ext cx="193100" cy="1931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352"/>
                </a:lnTo>
                <a:cubicBezTo>
                  <a:pt x="0" y="387"/>
                  <a:pt x="29" y="416"/>
                  <a:pt x="64" y="416"/>
                </a:cubicBezTo>
                <a:lnTo>
                  <a:pt x="208" y="416"/>
                </a:lnTo>
                <a:lnTo>
                  <a:pt x="192" y="464"/>
                </a:lnTo>
                <a:lnTo>
                  <a:pt x="120" y="464"/>
                </a:lnTo>
                <a:cubicBezTo>
                  <a:pt x="107" y="464"/>
                  <a:pt x="96" y="475"/>
                  <a:pt x="96" y="488"/>
                </a:cubicBezTo>
                <a:cubicBezTo>
                  <a:pt x="96" y="501"/>
                  <a:pt x="107" y="512"/>
                  <a:pt x="120" y="512"/>
                </a:cubicBezTo>
                <a:lnTo>
                  <a:pt x="392" y="512"/>
                </a:lnTo>
                <a:cubicBezTo>
                  <a:pt x="405" y="512"/>
                  <a:pt x="416" y="501"/>
                  <a:pt x="416" y="488"/>
                </a:cubicBezTo>
                <a:cubicBezTo>
                  <a:pt x="416" y="475"/>
                  <a:pt x="405" y="464"/>
                  <a:pt x="392" y="464"/>
                </a:cubicBezTo>
                <a:lnTo>
                  <a:pt x="320" y="464"/>
                </a:lnTo>
                <a:lnTo>
                  <a:pt x="304" y="416"/>
                </a:lnTo>
                <a:lnTo>
                  <a:pt x="448" y="416"/>
                </a:lnTo>
                <a:cubicBezTo>
                  <a:pt x="483" y="416"/>
                  <a:pt x="512" y="387"/>
                  <a:pt x="512" y="352"/>
                </a:cubicBezTo>
                <a:lnTo>
                  <a:pt x="512" y="96"/>
                </a:lnTo>
                <a:cubicBezTo>
                  <a:pt x="512" y="61"/>
                  <a:pt x="483" y="32"/>
                  <a:pt x="448" y="32"/>
                </a:cubicBezTo>
                <a:lnTo>
                  <a:pt x="64" y="32"/>
                </a:lnTo>
                <a:close/>
                <a:moveTo>
                  <a:pt x="96" y="96"/>
                </a:moveTo>
                <a:lnTo>
                  <a:pt x="416" y="96"/>
                </a:lnTo>
                <a:cubicBezTo>
                  <a:pt x="434" y="96"/>
                  <a:pt x="448" y="110"/>
                  <a:pt x="448" y="128"/>
                </a:cubicBezTo>
                <a:lnTo>
                  <a:pt x="448" y="288"/>
                </a:lnTo>
                <a:cubicBezTo>
                  <a:pt x="448" y="306"/>
                  <a:pt x="434" y="320"/>
                  <a:pt x="416" y="320"/>
                </a:cubicBezTo>
                <a:lnTo>
                  <a:pt x="96" y="320"/>
                </a:lnTo>
                <a:cubicBezTo>
                  <a:pt x="78" y="320"/>
                  <a:pt x="64" y="306"/>
                  <a:pt x="64" y="288"/>
                </a:cubicBezTo>
                <a:lnTo>
                  <a:pt x="64" y="128"/>
                </a:lnTo>
                <a:cubicBezTo>
                  <a:pt x="64" y="110"/>
                  <a:pt x="78" y="96"/>
                  <a:pt x="96" y="96"/>
                </a:cubicBezTo>
                <a:close/>
              </a:path>
            </a:pathLst>
          </a:custGeom>
          <a:solidFill>
            <a:srgbClr val="004F71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cs typeface="MiSans"/>
            </a:endParaRPr>
          </a:p>
        </p:txBody>
      </p:sp>
      <p:sp>
        <p:nvSpPr>
          <p:cNvPr id="99" name="l1-c1-title">
            <a:extLst>
              <a:ext uri="{FF2B5EF4-FFF2-40B4-BE49-F238E27FC236}">
                <a16:creationId xmlns:a16="http://schemas.microsoft.com/office/drawing/2014/main" id="{0509F39B-37A8-8354-E009-1BFC4752A7FA}"/>
              </a:ext>
            </a:extLst>
          </p:cNvPr>
          <p:cNvSpPr txBox="1"/>
          <p:nvPr/>
        </p:nvSpPr>
        <p:spPr>
          <a:xfrm>
            <a:off x="2114550" y="1387438"/>
            <a:ext cx="1226534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900" b="1" noProof="1">
                <a:solidFill>
                  <a:srgbClr val="1F2430"/>
                </a:solidFill>
                <a:cs typeface="MiSans"/>
              </a:rPr>
              <a:t>配置化查询平台 (React)</a:t>
            </a:r>
            <a:endParaRPr lang="en-US" sz="900" noProof="1">
              <a:solidFill>
                <a:srgbClr val="000000"/>
              </a:solidFill>
              <a:cs typeface="MiSans"/>
            </a:endParaRPr>
          </a:p>
        </p:txBody>
      </p:sp>
      <p:sp>
        <p:nvSpPr>
          <p:cNvPr id="101" name="l1-c1-desc">
            <a:extLst>
              <a:ext uri="{FF2B5EF4-FFF2-40B4-BE49-F238E27FC236}">
                <a16:creationId xmlns:a16="http://schemas.microsoft.com/office/drawing/2014/main" id="{825125EF-3210-CC68-6B3C-DB2771043481}"/>
              </a:ext>
            </a:extLst>
          </p:cNvPr>
          <p:cNvSpPr txBox="1"/>
          <p:nvPr/>
        </p:nvSpPr>
        <p:spPr>
          <a:xfrm>
            <a:off x="2114550" y="1544866"/>
            <a:ext cx="1208758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/>
            <a:r>
              <a:rPr lang="en-US" sz="700" noProof="1">
                <a:solidFill>
                  <a:srgbClr val="6B7280"/>
                </a:solidFill>
                <a:cs typeface="MiSans"/>
              </a:rPr>
              <a:t>按元数据动态渲染查询表单、结果表格与明细页，不逐系统开发页面</a:t>
            </a:r>
            <a:endParaRPr lang="en-US" sz="700" noProof="1">
              <a:solidFill>
                <a:srgbClr val="000000"/>
              </a:solidFill>
              <a:cs typeface="MiSans"/>
            </a:endParaRPr>
          </a:p>
        </p:txBody>
      </p:sp>
      <p:sp>
        <p:nvSpPr>
          <p:cNvPr id="109" name="l1-c1">
            <a:extLst>
              <a:ext uri="{FF2B5EF4-FFF2-40B4-BE49-F238E27FC236}">
                <a16:creationId xmlns:a16="http://schemas.microsoft.com/office/drawing/2014/main" id="{373D4BF1-4FDE-A5E3-CC02-CCD6E75B6612}"/>
              </a:ext>
            </a:extLst>
          </p:cNvPr>
          <p:cNvSpPr/>
          <p:nvPr/>
        </p:nvSpPr>
        <p:spPr>
          <a:xfrm>
            <a:off x="3426292" y="1335627"/>
            <a:ext cx="1648800" cy="586077"/>
          </a:xfrm>
          <a:prstGeom prst="roundRect">
            <a:avLst>
              <a:gd name="adj" fmla="val 8000"/>
            </a:avLst>
          </a:prstGeom>
          <a:solidFill>
            <a:srgbClr val="FBFDFF"/>
          </a:solidFill>
          <a:ln w="12700">
            <a:solidFill>
              <a:srgbClr val="EDF1F6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cs typeface="MiSans"/>
            </a:endParaRPr>
          </a:p>
        </p:txBody>
      </p:sp>
      <p:sp>
        <p:nvSpPr>
          <p:cNvPr id="111" name="l1-c1-title">
            <a:extLst>
              <a:ext uri="{FF2B5EF4-FFF2-40B4-BE49-F238E27FC236}">
                <a16:creationId xmlns:a16="http://schemas.microsoft.com/office/drawing/2014/main" id="{8C51CD91-4BDE-30FD-03D5-B55EC1B2D4EC}"/>
              </a:ext>
            </a:extLst>
          </p:cNvPr>
          <p:cNvSpPr txBox="1"/>
          <p:nvPr/>
        </p:nvSpPr>
        <p:spPr>
          <a:xfrm>
            <a:off x="3832006" y="1387438"/>
            <a:ext cx="1185764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zh-CN" altLang="en-US" sz="900" b="1" noProof="1">
                <a:solidFill>
                  <a:srgbClr val="1F2430"/>
                </a:solidFill>
                <a:cs typeface="MiSans"/>
              </a:rPr>
              <a:t>附件预览 </a:t>
            </a:r>
            <a:r>
              <a:rPr lang="en-US" altLang="zh-CN" sz="900" b="1" noProof="1">
                <a:solidFill>
                  <a:srgbClr val="1F2430"/>
                </a:solidFill>
                <a:cs typeface="MiSans"/>
              </a:rPr>
              <a:t>/ </a:t>
            </a:r>
            <a:r>
              <a:rPr lang="zh-CN" altLang="en-US" sz="900" b="1" noProof="1">
                <a:solidFill>
                  <a:srgbClr val="1F2430"/>
                </a:solidFill>
                <a:cs typeface="MiSans"/>
              </a:rPr>
              <a:t>下载</a:t>
            </a:r>
          </a:p>
        </p:txBody>
      </p:sp>
      <p:sp>
        <p:nvSpPr>
          <p:cNvPr id="112" name="l1-c1-desc">
            <a:extLst>
              <a:ext uri="{FF2B5EF4-FFF2-40B4-BE49-F238E27FC236}">
                <a16:creationId xmlns:a16="http://schemas.microsoft.com/office/drawing/2014/main" id="{F71D867E-1032-3540-384C-16BE5A182430}"/>
              </a:ext>
            </a:extLst>
          </p:cNvPr>
          <p:cNvSpPr txBox="1"/>
          <p:nvPr/>
        </p:nvSpPr>
        <p:spPr>
          <a:xfrm>
            <a:off x="3832006" y="1544866"/>
            <a:ext cx="1128614" cy="24540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/>
            <a:r>
              <a:rPr lang="zh-CN" altLang="en-US" sz="700" noProof="1">
                <a:solidFill>
                  <a:srgbClr val="6B7280"/>
                </a:solidFill>
                <a:cs typeface="MiSans"/>
              </a:rPr>
              <a:t>后端签发 </a:t>
            </a:r>
            <a:r>
              <a:rPr lang="en-US" altLang="zh-CN" sz="700" noProof="1">
                <a:solidFill>
                  <a:srgbClr val="6B7280"/>
                </a:solidFill>
                <a:cs typeface="MiSans"/>
              </a:rPr>
              <a:t>SAS </a:t>
            </a:r>
            <a:r>
              <a:rPr lang="zh-CN" altLang="en-US" sz="700" noProof="1">
                <a:solidFill>
                  <a:srgbClr val="6B7280"/>
                </a:solidFill>
                <a:cs typeface="MiSans"/>
              </a:rPr>
              <a:t>令牌后，前端直连 </a:t>
            </a:r>
            <a:r>
              <a:rPr lang="en-US" altLang="zh-CN" sz="700" noProof="1">
                <a:solidFill>
                  <a:srgbClr val="6B7280"/>
                </a:solidFill>
                <a:cs typeface="MiSans"/>
              </a:rPr>
              <a:t>Blob </a:t>
            </a:r>
            <a:r>
              <a:rPr lang="zh-CN" altLang="en-US" sz="700" noProof="1">
                <a:solidFill>
                  <a:srgbClr val="6B7280"/>
                </a:solidFill>
                <a:cs typeface="MiSans"/>
              </a:rPr>
              <a:t>流式预览与下载</a:t>
            </a:r>
          </a:p>
        </p:txBody>
      </p:sp>
      <p:sp>
        <p:nvSpPr>
          <p:cNvPr id="116" name="l1-c1">
            <a:extLst>
              <a:ext uri="{FF2B5EF4-FFF2-40B4-BE49-F238E27FC236}">
                <a16:creationId xmlns:a16="http://schemas.microsoft.com/office/drawing/2014/main" id="{E772156E-BDA0-3B8D-7EC9-A0A96F798E57}"/>
              </a:ext>
            </a:extLst>
          </p:cNvPr>
          <p:cNvSpPr/>
          <p:nvPr/>
        </p:nvSpPr>
        <p:spPr>
          <a:xfrm>
            <a:off x="5144774" y="1335627"/>
            <a:ext cx="1648800" cy="586077"/>
          </a:xfrm>
          <a:prstGeom prst="roundRect">
            <a:avLst>
              <a:gd name="adj" fmla="val 8000"/>
            </a:avLst>
          </a:prstGeom>
          <a:solidFill>
            <a:srgbClr val="FBFDFF"/>
          </a:solidFill>
          <a:ln w="12700">
            <a:solidFill>
              <a:srgbClr val="EDF1F6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cs typeface="MiSans"/>
            </a:endParaRPr>
          </a:p>
        </p:txBody>
      </p:sp>
      <p:sp>
        <p:nvSpPr>
          <p:cNvPr id="117" name="l1-c1">
            <a:extLst>
              <a:ext uri="{FF2B5EF4-FFF2-40B4-BE49-F238E27FC236}">
                <a16:creationId xmlns:a16="http://schemas.microsoft.com/office/drawing/2014/main" id="{C4410A6A-C1A8-42B5-A23C-0E31FEBCD15A}"/>
              </a:ext>
            </a:extLst>
          </p:cNvPr>
          <p:cNvSpPr/>
          <p:nvPr/>
        </p:nvSpPr>
        <p:spPr>
          <a:xfrm>
            <a:off x="6863256" y="1335627"/>
            <a:ext cx="1648800" cy="586077"/>
          </a:xfrm>
          <a:prstGeom prst="roundRect">
            <a:avLst>
              <a:gd name="adj" fmla="val 8000"/>
            </a:avLst>
          </a:prstGeom>
          <a:solidFill>
            <a:srgbClr val="FBFDFF"/>
          </a:solidFill>
          <a:ln w="12700">
            <a:solidFill>
              <a:srgbClr val="EDF1F6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cs typeface="MiSans"/>
            </a:endParaRPr>
          </a:p>
        </p:txBody>
      </p:sp>
      <p:sp>
        <p:nvSpPr>
          <p:cNvPr id="119" name="l1-c1-title">
            <a:extLst>
              <a:ext uri="{FF2B5EF4-FFF2-40B4-BE49-F238E27FC236}">
                <a16:creationId xmlns:a16="http://schemas.microsoft.com/office/drawing/2014/main" id="{9F0FF039-B7D0-8E3D-9601-2A5F4D29978C}"/>
              </a:ext>
            </a:extLst>
          </p:cNvPr>
          <p:cNvSpPr txBox="1"/>
          <p:nvPr/>
        </p:nvSpPr>
        <p:spPr>
          <a:xfrm>
            <a:off x="5565556" y="1387438"/>
            <a:ext cx="1185764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zh-CN" altLang="en-US" sz="900" b="1" noProof="1">
                <a:solidFill>
                  <a:srgbClr val="1F2430"/>
                </a:solidFill>
                <a:cs typeface="MiSans"/>
              </a:rPr>
              <a:t>报表与导出</a:t>
            </a:r>
          </a:p>
        </p:txBody>
      </p:sp>
      <p:sp>
        <p:nvSpPr>
          <p:cNvPr id="120" name="l1-c1-desc">
            <a:extLst>
              <a:ext uri="{FF2B5EF4-FFF2-40B4-BE49-F238E27FC236}">
                <a16:creationId xmlns:a16="http://schemas.microsoft.com/office/drawing/2014/main" id="{FF58D950-0BF7-E72D-FB69-2FE5A5181BF9}"/>
              </a:ext>
            </a:extLst>
          </p:cNvPr>
          <p:cNvSpPr txBox="1"/>
          <p:nvPr/>
        </p:nvSpPr>
        <p:spPr>
          <a:xfrm>
            <a:off x="5565556" y="1544866"/>
            <a:ext cx="1128614" cy="2283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/>
            <a:r>
              <a:rPr lang="zh-CN" altLang="en-US" sz="700" noProof="1">
                <a:solidFill>
                  <a:srgbClr val="6B7280"/>
                </a:solidFill>
                <a:cs typeface="MiSans"/>
              </a:rPr>
              <a:t>查询结果导出 </a:t>
            </a:r>
            <a:r>
              <a:rPr lang="en-US" altLang="zh-CN" sz="700" noProof="1">
                <a:solidFill>
                  <a:srgbClr val="6B7280"/>
                </a:solidFill>
                <a:cs typeface="MiSans"/>
              </a:rPr>
              <a:t>CSV/Excel</a:t>
            </a:r>
            <a:r>
              <a:rPr lang="zh-CN" altLang="en-US" sz="700" noProof="1">
                <a:solidFill>
                  <a:srgbClr val="6B7280"/>
                </a:solidFill>
                <a:cs typeface="MiSans"/>
              </a:rPr>
              <a:t>，供审计与离线分析</a:t>
            </a:r>
          </a:p>
        </p:txBody>
      </p:sp>
      <p:sp>
        <p:nvSpPr>
          <p:cNvPr id="121" name="l1-c1-title">
            <a:extLst>
              <a:ext uri="{FF2B5EF4-FFF2-40B4-BE49-F238E27FC236}">
                <a16:creationId xmlns:a16="http://schemas.microsoft.com/office/drawing/2014/main" id="{2332119C-D026-A124-581F-D0B7D422B4AE}"/>
              </a:ext>
            </a:extLst>
          </p:cNvPr>
          <p:cNvSpPr txBox="1"/>
          <p:nvPr/>
        </p:nvSpPr>
        <p:spPr>
          <a:xfrm>
            <a:off x="7214355" y="1387438"/>
            <a:ext cx="1255275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zh-CN" altLang="en-US" sz="900" b="1" noProof="1">
                <a:solidFill>
                  <a:srgbClr val="1F2430"/>
                </a:solidFill>
                <a:cs typeface="MiSans"/>
              </a:rPr>
              <a:t>统一登录 </a:t>
            </a:r>
            <a:r>
              <a:rPr lang="en-US" altLang="zh-CN" sz="900" b="1" noProof="1">
                <a:solidFill>
                  <a:srgbClr val="1F2430"/>
                </a:solidFill>
                <a:cs typeface="MiSans"/>
              </a:rPr>
              <a:t>(Entra ID SSO)</a:t>
            </a:r>
          </a:p>
        </p:txBody>
      </p:sp>
      <p:sp>
        <p:nvSpPr>
          <p:cNvPr id="122" name="l1-c1-desc">
            <a:extLst>
              <a:ext uri="{FF2B5EF4-FFF2-40B4-BE49-F238E27FC236}">
                <a16:creationId xmlns:a16="http://schemas.microsoft.com/office/drawing/2014/main" id="{42174D52-8F2C-A2B2-5864-1FF6DF89AF3F}"/>
              </a:ext>
            </a:extLst>
          </p:cNvPr>
          <p:cNvSpPr txBox="1"/>
          <p:nvPr/>
        </p:nvSpPr>
        <p:spPr>
          <a:xfrm>
            <a:off x="7214356" y="1544866"/>
            <a:ext cx="1128614" cy="2283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/>
            <a:r>
              <a:rPr lang="en-US" altLang="zh-CN" sz="700" noProof="1">
                <a:solidFill>
                  <a:srgbClr val="6B7280"/>
                </a:solidFill>
                <a:cs typeface="MiSans"/>
              </a:rPr>
              <a:t>OIDC </a:t>
            </a:r>
            <a:r>
              <a:rPr lang="zh-CN" altLang="en-US" sz="700" noProof="1">
                <a:solidFill>
                  <a:srgbClr val="6B7280"/>
                </a:solidFill>
                <a:cs typeface="MiSans"/>
              </a:rPr>
              <a:t>单点登录，角色决定可见系统与页面</a:t>
            </a:r>
          </a:p>
        </p:txBody>
      </p:sp>
      <p:sp>
        <p:nvSpPr>
          <p:cNvPr id="124" name="conn1-a1">
            <a:extLst>
              <a:ext uri="{FF2B5EF4-FFF2-40B4-BE49-F238E27FC236}">
                <a16:creationId xmlns:a16="http://schemas.microsoft.com/office/drawing/2014/main" id="{9890AA23-B90C-2811-2104-61BE84076B8D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eyJpY29uTmFtZSI6ImZhczphcnJvdy1kb3duIn0</pptd:icon>
              </p:ext>
            </p:extLst>
          </p:nvPr>
        </p:nvSpPr>
        <p:spPr>
          <a:xfrm>
            <a:off x="3914775" y="1997322"/>
            <a:ext cx="85725" cy="123825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169" y="503"/>
                </a:moveTo>
                <a:cubicBezTo>
                  <a:pt x="182" y="515"/>
                  <a:pt x="202" y="515"/>
                  <a:pt x="215" y="503"/>
                </a:cubicBezTo>
                <a:lnTo>
                  <a:pt x="375" y="343"/>
                </a:lnTo>
                <a:cubicBezTo>
                  <a:pt x="387" y="330"/>
                  <a:pt x="387" y="310"/>
                  <a:pt x="375" y="297"/>
                </a:cubicBezTo>
                <a:cubicBezTo>
                  <a:pt x="362" y="285"/>
                  <a:pt x="342" y="285"/>
                  <a:pt x="329" y="297"/>
                </a:cubicBezTo>
                <a:lnTo>
                  <a:pt x="224" y="403"/>
                </a:lnTo>
                <a:lnTo>
                  <a:pt x="224" y="32"/>
                </a:lnTo>
                <a:cubicBezTo>
                  <a:pt x="224" y="14"/>
                  <a:pt x="210" y="0"/>
                  <a:pt x="192" y="0"/>
                </a:cubicBezTo>
                <a:cubicBezTo>
                  <a:pt x="174" y="0"/>
                  <a:pt x="160" y="14"/>
                  <a:pt x="160" y="32"/>
                </a:cubicBezTo>
                <a:lnTo>
                  <a:pt x="160" y="403"/>
                </a:lnTo>
                <a:lnTo>
                  <a:pt x="55" y="297"/>
                </a:lnTo>
                <a:cubicBezTo>
                  <a:pt x="42" y="285"/>
                  <a:pt x="22" y="285"/>
                  <a:pt x="9" y="297"/>
                </a:cubicBezTo>
                <a:cubicBezTo>
                  <a:pt x="-3" y="310"/>
                  <a:pt x="-3" y="330"/>
                  <a:pt x="9" y="343"/>
                </a:cubicBezTo>
                <a:lnTo>
                  <a:pt x="169" y="503"/>
                </a:lnTo>
                <a:close/>
              </a:path>
            </a:pathLst>
          </a:custGeom>
          <a:solidFill>
            <a:srgbClr val="2C7BD8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ea typeface="MiSans"/>
              <a:cs typeface="MiSans"/>
            </a:endParaRPr>
          </a:p>
        </p:txBody>
      </p:sp>
      <p:sp>
        <p:nvSpPr>
          <p:cNvPr id="126" name="conn1-icon">
            <a:extLst>
              <a:ext uri="{FF2B5EF4-FFF2-40B4-BE49-F238E27FC236}">
                <a16:creationId xmlns:a16="http://schemas.microsoft.com/office/drawing/2014/main" id="{CE521C92-CD1D-C42C-27CE-85D8C7763730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eyJpY29uTmFtZSI6ImZhczpsb2NrIn0</pptd:icon>
              </p:ext>
            </p:extLst>
          </p:nvPr>
        </p:nvSpPr>
        <p:spPr>
          <a:xfrm>
            <a:off x="4191000" y="2011609"/>
            <a:ext cx="95250" cy="9525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128" y="96"/>
                </a:moveTo>
                <a:lnTo>
                  <a:pt x="128" y="160"/>
                </a:lnTo>
                <a:lnTo>
                  <a:pt x="256" y="160"/>
                </a:lnTo>
                <a:lnTo>
                  <a:pt x="256" y="96"/>
                </a:lnTo>
                <a:cubicBezTo>
                  <a:pt x="256" y="61"/>
                  <a:pt x="227" y="32"/>
                  <a:pt x="192" y="32"/>
                </a:cubicBezTo>
                <a:cubicBezTo>
                  <a:pt x="157" y="32"/>
                  <a:pt x="128" y="61"/>
                  <a:pt x="128" y="96"/>
                </a:cubicBezTo>
                <a:close/>
                <a:moveTo>
                  <a:pt x="64" y="160"/>
                </a:moveTo>
                <a:lnTo>
                  <a:pt x="64" y="96"/>
                </a:lnTo>
                <a:cubicBezTo>
                  <a:pt x="64" y="25"/>
                  <a:pt x="121" y="-32"/>
                  <a:pt x="192" y="-32"/>
                </a:cubicBezTo>
                <a:cubicBezTo>
                  <a:pt x="263" y="-32"/>
                  <a:pt x="320" y="25"/>
                  <a:pt x="320" y="96"/>
                </a:cubicBezTo>
                <a:lnTo>
                  <a:pt x="320" y="160"/>
                </a:lnTo>
                <a:cubicBezTo>
                  <a:pt x="355" y="160"/>
                  <a:pt x="384" y="189"/>
                  <a:pt x="384" y="224"/>
                </a:cubicBezTo>
                <a:lnTo>
                  <a:pt x="384" y="448"/>
                </a:lnTo>
                <a:cubicBezTo>
                  <a:pt x="384" y="483"/>
                  <a:pt x="355" y="512"/>
                  <a:pt x="320" y="512"/>
                </a:cubicBezTo>
                <a:lnTo>
                  <a:pt x="64" y="512"/>
                </a:lnTo>
                <a:cubicBezTo>
                  <a:pt x="29" y="512"/>
                  <a:pt x="0" y="483"/>
                  <a:pt x="0" y="448"/>
                </a:cubicBezTo>
                <a:lnTo>
                  <a:pt x="0" y="224"/>
                </a:lnTo>
                <a:cubicBezTo>
                  <a:pt x="0" y="189"/>
                  <a:pt x="29" y="160"/>
                  <a:pt x="64" y="160"/>
                </a:cubicBezTo>
                <a:close/>
              </a:path>
            </a:pathLst>
          </a:custGeom>
          <a:solidFill>
            <a:srgbClr val="2C7BD8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ea typeface="MiSans"/>
              <a:cs typeface="MiSans"/>
            </a:endParaRPr>
          </a:p>
        </p:txBody>
      </p:sp>
      <p:sp>
        <p:nvSpPr>
          <p:cNvPr id="128" name="conn1-text">
            <a:extLst>
              <a:ext uri="{FF2B5EF4-FFF2-40B4-BE49-F238E27FC236}">
                <a16:creationId xmlns:a16="http://schemas.microsoft.com/office/drawing/2014/main" id="{892F6FBB-7A9E-F2EC-47A2-9E0B2887630A}"/>
              </a:ext>
            </a:extLst>
          </p:cNvPr>
          <p:cNvSpPr txBox="1"/>
          <p:nvPr/>
        </p:nvSpPr>
        <p:spPr>
          <a:xfrm>
            <a:off x="4324350" y="1987797"/>
            <a:ext cx="209550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638" b="1" noProof="1">
                <a:solidFill>
                  <a:srgbClr val="2C7BD8"/>
                </a:solidFill>
                <a:ea typeface="MiSans"/>
                <a:cs typeface="MiSans"/>
              </a:rPr>
              <a:t>HTTPS 443 · REST/JSON · JWT</a:t>
            </a:r>
            <a:endParaRPr lang="en-US" sz="638" noProof="1">
              <a:solidFill>
                <a:srgbClr val="000000"/>
              </a:solidFill>
              <a:ea typeface="MiSans"/>
              <a:cs typeface="MiSans"/>
            </a:endParaRPr>
          </a:p>
        </p:txBody>
      </p:sp>
      <p:sp>
        <p:nvSpPr>
          <p:cNvPr id="129" name="l1-c1">
            <a:extLst>
              <a:ext uri="{FF2B5EF4-FFF2-40B4-BE49-F238E27FC236}">
                <a16:creationId xmlns:a16="http://schemas.microsoft.com/office/drawing/2014/main" id="{EB54A576-A595-441E-B944-05004131EC0C}"/>
              </a:ext>
            </a:extLst>
          </p:cNvPr>
          <p:cNvSpPr/>
          <p:nvPr/>
        </p:nvSpPr>
        <p:spPr>
          <a:xfrm>
            <a:off x="1708836" y="2184431"/>
            <a:ext cx="1331544" cy="510188"/>
          </a:xfrm>
          <a:prstGeom prst="roundRect">
            <a:avLst>
              <a:gd name="adj" fmla="val 8000"/>
            </a:avLst>
          </a:prstGeom>
          <a:solidFill>
            <a:srgbClr val="FBFDFF"/>
          </a:solidFill>
          <a:ln w="12700">
            <a:solidFill>
              <a:srgbClr val="EDF1F6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cs typeface="MiSans"/>
            </a:endParaRPr>
          </a:p>
        </p:txBody>
      </p:sp>
      <p:sp>
        <p:nvSpPr>
          <p:cNvPr id="130" name="l1-c1">
            <a:extLst>
              <a:ext uri="{FF2B5EF4-FFF2-40B4-BE49-F238E27FC236}">
                <a16:creationId xmlns:a16="http://schemas.microsoft.com/office/drawing/2014/main" id="{6EA9BF5E-0341-D89B-6B5E-3FA1BAB52794}"/>
              </a:ext>
            </a:extLst>
          </p:cNvPr>
          <p:cNvSpPr/>
          <p:nvPr/>
        </p:nvSpPr>
        <p:spPr>
          <a:xfrm>
            <a:off x="3093344" y="2184431"/>
            <a:ext cx="1331544" cy="510188"/>
          </a:xfrm>
          <a:prstGeom prst="roundRect">
            <a:avLst>
              <a:gd name="adj" fmla="val 8000"/>
            </a:avLst>
          </a:prstGeom>
          <a:solidFill>
            <a:srgbClr val="FBFDFF"/>
          </a:solidFill>
          <a:ln w="12700">
            <a:solidFill>
              <a:srgbClr val="EDF1F6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cs typeface="MiSans"/>
            </a:endParaRPr>
          </a:p>
        </p:txBody>
      </p:sp>
      <p:sp>
        <p:nvSpPr>
          <p:cNvPr id="131" name="l1-c1">
            <a:extLst>
              <a:ext uri="{FF2B5EF4-FFF2-40B4-BE49-F238E27FC236}">
                <a16:creationId xmlns:a16="http://schemas.microsoft.com/office/drawing/2014/main" id="{150A0D25-9008-474E-2AE0-F77021A49029}"/>
              </a:ext>
            </a:extLst>
          </p:cNvPr>
          <p:cNvSpPr/>
          <p:nvPr/>
        </p:nvSpPr>
        <p:spPr>
          <a:xfrm>
            <a:off x="4479002" y="2184431"/>
            <a:ext cx="1331544" cy="510188"/>
          </a:xfrm>
          <a:prstGeom prst="roundRect">
            <a:avLst>
              <a:gd name="adj" fmla="val 8000"/>
            </a:avLst>
          </a:prstGeom>
          <a:solidFill>
            <a:srgbClr val="FBFDFF"/>
          </a:solidFill>
          <a:ln w="12700">
            <a:solidFill>
              <a:srgbClr val="EDF1F6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cs typeface="MiSans"/>
            </a:endParaRPr>
          </a:p>
        </p:txBody>
      </p:sp>
      <p:sp>
        <p:nvSpPr>
          <p:cNvPr id="132" name="l1-c1">
            <a:extLst>
              <a:ext uri="{FF2B5EF4-FFF2-40B4-BE49-F238E27FC236}">
                <a16:creationId xmlns:a16="http://schemas.microsoft.com/office/drawing/2014/main" id="{7C5E3A56-5A67-1FD7-7E18-9BE429E50BE2}"/>
              </a:ext>
            </a:extLst>
          </p:cNvPr>
          <p:cNvSpPr/>
          <p:nvPr/>
        </p:nvSpPr>
        <p:spPr>
          <a:xfrm>
            <a:off x="5882811" y="2184431"/>
            <a:ext cx="1331544" cy="510188"/>
          </a:xfrm>
          <a:prstGeom prst="roundRect">
            <a:avLst>
              <a:gd name="adj" fmla="val 8000"/>
            </a:avLst>
          </a:prstGeom>
          <a:solidFill>
            <a:srgbClr val="FBFDFF"/>
          </a:solidFill>
          <a:ln w="12700">
            <a:solidFill>
              <a:srgbClr val="EDF1F6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cs typeface="MiSans"/>
            </a:endParaRPr>
          </a:p>
        </p:txBody>
      </p:sp>
      <p:sp>
        <p:nvSpPr>
          <p:cNvPr id="133" name="l1-c1">
            <a:extLst>
              <a:ext uri="{FF2B5EF4-FFF2-40B4-BE49-F238E27FC236}">
                <a16:creationId xmlns:a16="http://schemas.microsoft.com/office/drawing/2014/main" id="{BDA083A2-430A-5107-9924-D36DF1F99980}"/>
              </a:ext>
            </a:extLst>
          </p:cNvPr>
          <p:cNvSpPr/>
          <p:nvPr/>
        </p:nvSpPr>
        <p:spPr>
          <a:xfrm>
            <a:off x="7261945" y="2184431"/>
            <a:ext cx="1294286" cy="510188"/>
          </a:xfrm>
          <a:prstGeom prst="roundRect">
            <a:avLst>
              <a:gd name="adj" fmla="val 8000"/>
            </a:avLst>
          </a:prstGeom>
          <a:solidFill>
            <a:srgbClr val="FBFDFF"/>
          </a:solidFill>
          <a:ln w="12700">
            <a:solidFill>
              <a:srgbClr val="EDF1F6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cs typeface="MiSans"/>
            </a:endParaRPr>
          </a:p>
        </p:txBody>
      </p:sp>
      <p:sp>
        <p:nvSpPr>
          <p:cNvPr id="134" name="l1-c1">
            <a:extLst>
              <a:ext uri="{FF2B5EF4-FFF2-40B4-BE49-F238E27FC236}">
                <a16:creationId xmlns:a16="http://schemas.microsoft.com/office/drawing/2014/main" id="{3590A26F-9F16-6C79-01F7-EE264648AAFA}"/>
              </a:ext>
            </a:extLst>
          </p:cNvPr>
          <p:cNvSpPr/>
          <p:nvPr/>
        </p:nvSpPr>
        <p:spPr>
          <a:xfrm>
            <a:off x="1708836" y="2732585"/>
            <a:ext cx="1331544" cy="510188"/>
          </a:xfrm>
          <a:prstGeom prst="roundRect">
            <a:avLst>
              <a:gd name="adj" fmla="val 8000"/>
            </a:avLst>
          </a:prstGeom>
          <a:solidFill>
            <a:srgbClr val="FBFDFF"/>
          </a:solidFill>
          <a:ln w="12700">
            <a:solidFill>
              <a:srgbClr val="EDF1F6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cs typeface="MiSans"/>
            </a:endParaRPr>
          </a:p>
        </p:txBody>
      </p:sp>
      <p:sp>
        <p:nvSpPr>
          <p:cNvPr id="137" name="l1-c1-title">
            <a:extLst>
              <a:ext uri="{FF2B5EF4-FFF2-40B4-BE49-F238E27FC236}">
                <a16:creationId xmlns:a16="http://schemas.microsoft.com/office/drawing/2014/main" id="{3C5A4B58-57D6-7559-5D7F-8943D0B64530}"/>
              </a:ext>
            </a:extLst>
          </p:cNvPr>
          <p:cNvSpPr txBox="1"/>
          <p:nvPr/>
        </p:nvSpPr>
        <p:spPr>
          <a:xfrm>
            <a:off x="1941881" y="2208808"/>
            <a:ext cx="1047981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zh-CN" altLang="en-US" sz="800" b="1" noProof="1">
                <a:solidFill>
                  <a:srgbClr val="1F2430"/>
                </a:solidFill>
                <a:cs typeface="MiSans"/>
              </a:rPr>
              <a:t>认证与权限服务</a:t>
            </a:r>
          </a:p>
        </p:txBody>
      </p:sp>
      <p:sp>
        <p:nvSpPr>
          <p:cNvPr id="139" name="l1-c1-desc">
            <a:extLst>
              <a:ext uri="{FF2B5EF4-FFF2-40B4-BE49-F238E27FC236}">
                <a16:creationId xmlns:a16="http://schemas.microsoft.com/office/drawing/2014/main" id="{E81AA4DE-D887-B3D7-5BE4-6DEA92F89710}"/>
              </a:ext>
            </a:extLst>
          </p:cNvPr>
          <p:cNvSpPr txBox="1"/>
          <p:nvPr/>
        </p:nvSpPr>
        <p:spPr>
          <a:xfrm>
            <a:off x="1941881" y="2358729"/>
            <a:ext cx="1032793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/>
            <a:r>
              <a:rPr lang="zh-CN" altLang="en-US" sz="700" noProof="1">
                <a:solidFill>
                  <a:srgbClr val="6B7280"/>
                </a:solidFill>
                <a:cs typeface="MiSans"/>
              </a:rPr>
              <a:t>校验 </a:t>
            </a:r>
            <a:r>
              <a:rPr lang="en-US" altLang="zh-CN" sz="700" noProof="1">
                <a:solidFill>
                  <a:srgbClr val="6B7280"/>
                </a:solidFill>
                <a:cs typeface="MiSans"/>
              </a:rPr>
              <a:t>JWT</a:t>
            </a:r>
            <a:r>
              <a:rPr lang="zh-CN" altLang="en-US" sz="700" noProof="1">
                <a:solidFill>
                  <a:srgbClr val="6B7280"/>
                </a:solidFill>
                <a:cs typeface="MiSans"/>
              </a:rPr>
              <a:t>，按</a:t>
            </a:r>
            <a:r>
              <a:rPr lang="en-US" altLang="zh-CN" sz="700" noProof="1">
                <a:solidFill>
                  <a:srgbClr val="6B7280"/>
                </a:solidFill>
                <a:cs typeface="MiSans"/>
              </a:rPr>
              <a:t>"</a:t>
            </a:r>
            <a:r>
              <a:rPr lang="zh-CN" altLang="en-US" sz="700" noProof="1">
                <a:solidFill>
                  <a:srgbClr val="6B7280"/>
                </a:solidFill>
                <a:cs typeface="MiSans"/>
              </a:rPr>
              <a:t>用户→系统→表</a:t>
            </a:r>
            <a:r>
              <a:rPr lang="en-US" altLang="zh-CN" sz="700" noProof="1">
                <a:solidFill>
                  <a:srgbClr val="6B7280"/>
                </a:solidFill>
                <a:cs typeface="MiSans"/>
              </a:rPr>
              <a:t>"</a:t>
            </a:r>
            <a:r>
              <a:rPr lang="zh-CN" altLang="en-US" sz="700" noProof="1">
                <a:solidFill>
                  <a:srgbClr val="6B7280"/>
                </a:solidFill>
                <a:cs typeface="MiSans"/>
              </a:rPr>
              <a:t>元数据判定可访问范围（导航层闸门）</a:t>
            </a:r>
          </a:p>
        </p:txBody>
      </p:sp>
      <p:sp>
        <p:nvSpPr>
          <p:cNvPr id="140" name="l1-c1-title">
            <a:extLst>
              <a:ext uri="{FF2B5EF4-FFF2-40B4-BE49-F238E27FC236}">
                <a16:creationId xmlns:a16="http://schemas.microsoft.com/office/drawing/2014/main" id="{2B38BDE8-39F5-FBA3-E900-2BBA664B6A72}"/>
              </a:ext>
            </a:extLst>
          </p:cNvPr>
          <p:cNvSpPr txBox="1"/>
          <p:nvPr/>
        </p:nvSpPr>
        <p:spPr>
          <a:xfrm>
            <a:off x="3356610" y="2218034"/>
            <a:ext cx="1047981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zh-CN" altLang="en-US" sz="800" b="1" noProof="1">
                <a:solidFill>
                  <a:srgbClr val="1F2430"/>
                </a:solidFill>
                <a:cs typeface="MiSans"/>
              </a:rPr>
              <a:t>元数据管理</a:t>
            </a:r>
          </a:p>
        </p:txBody>
      </p:sp>
      <p:sp>
        <p:nvSpPr>
          <p:cNvPr id="141" name="l1-c1-desc">
            <a:extLst>
              <a:ext uri="{FF2B5EF4-FFF2-40B4-BE49-F238E27FC236}">
                <a16:creationId xmlns:a16="http://schemas.microsoft.com/office/drawing/2014/main" id="{37302BB7-D8D8-16AF-C480-F1740D85C8ED}"/>
              </a:ext>
            </a:extLst>
          </p:cNvPr>
          <p:cNvSpPr txBox="1"/>
          <p:nvPr/>
        </p:nvSpPr>
        <p:spPr>
          <a:xfrm>
            <a:off x="3356610" y="2358729"/>
            <a:ext cx="1032793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/>
            <a:r>
              <a:rPr lang="zh-CN" altLang="en-US" sz="700" noProof="1">
                <a:solidFill>
                  <a:srgbClr val="6B7280"/>
                </a:solidFill>
                <a:cs typeface="MiSans"/>
              </a:rPr>
              <a:t>系统台账、源库</a:t>
            </a:r>
            <a:r>
              <a:rPr lang="en-US" altLang="zh-CN" sz="700" noProof="1">
                <a:solidFill>
                  <a:srgbClr val="6B7280"/>
                </a:solidFill>
                <a:cs typeface="MiSans"/>
              </a:rPr>
              <a:t>/</a:t>
            </a:r>
            <a:r>
              <a:rPr lang="zh-CN" altLang="en-US" sz="700" noProof="1">
                <a:solidFill>
                  <a:srgbClr val="6B7280"/>
                </a:solidFill>
                <a:cs typeface="MiSans"/>
              </a:rPr>
              <a:t>表清单、字段映射、保留策略与权限配置</a:t>
            </a:r>
          </a:p>
        </p:txBody>
      </p:sp>
      <p:sp>
        <p:nvSpPr>
          <p:cNvPr id="142" name="l1-c1-title">
            <a:extLst>
              <a:ext uri="{FF2B5EF4-FFF2-40B4-BE49-F238E27FC236}">
                <a16:creationId xmlns:a16="http://schemas.microsoft.com/office/drawing/2014/main" id="{A0B24E8A-3E7D-9DDC-2484-26555BB56EBA}"/>
              </a:ext>
            </a:extLst>
          </p:cNvPr>
          <p:cNvSpPr txBox="1"/>
          <p:nvPr/>
        </p:nvSpPr>
        <p:spPr>
          <a:xfrm>
            <a:off x="4768606" y="2218034"/>
            <a:ext cx="1047981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zh-CN" altLang="en-US" sz="800" b="1" noProof="1">
                <a:solidFill>
                  <a:srgbClr val="1F2430"/>
                </a:solidFill>
                <a:cs typeface="MiSans"/>
              </a:rPr>
              <a:t>查询代理服务</a:t>
            </a:r>
          </a:p>
        </p:txBody>
      </p:sp>
      <p:sp>
        <p:nvSpPr>
          <p:cNvPr id="143" name="l1-c1-desc">
            <a:extLst>
              <a:ext uri="{FF2B5EF4-FFF2-40B4-BE49-F238E27FC236}">
                <a16:creationId xmlns:a16="http://schemas.microsoft.com/office/drawing/2014/main" id="{3F6F9827-3113-752D-9C4F-4B2F27B69563}"/>
              </a:ext>
            </a:extLst>
          </p:cNvPr>
          <p:cNvSpPr txBox="1"/>
          <p:nvPr/>
        </p:nvSpPr>
        <p:spPr>
          <a:xfrm>
            <a:off x="4768606" y="2358729"/>
            <a:ext cx="1032793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/>
            <a:r>
              <a:rPr lang="zh-CN" altLang="en-US" sz="700" noProof="1">
                <a:solidFill>
                  <a:srgbClr val="6B7280"/>
                </a:solidFill>
                <a:cs typeface="MiSans"/>
              </a:rPr>
              <a:t>拼装并校验 </a:t>
            </a:r>
            <a:r>
              <a:rPr lang="en-US" altLang="zh-CN" sz="700" noProof="1">
                <a:solidFill>
                  <a:srgbClr val="6B7280"/>
                </a:solidFill>
                <a:cs typeface="MiSans"/>
              </a:rPr>
              <a:t>SQL</a:t>
            </a:r>
            <a:r>
              <a:rPr lang="zh-CN" altLang="en-US" sz="700" noProof="1">
                <a:solidFill>
                  <a:srgbClr val="6B7280"/>
                </a:solidFill>
                <a:cs typeface="MiSans"/>
              </a:rPr>
              <a:t>（表白名单）、权限、超时控制，结果裁剪与脱敏</a:t>
            </a:r>
          </a:p>
        </p:txBody>
      </p:sp>
      <p:sp>
        <p:nvSpPr>
          <p:cNvPr id="144" name="l1-c1-title">
            <a:extLst>
              <a:ext uri="{FF2B5EF4-FFF2-40B4-BE49-F238E27FC236}">
                <a16:creationId xmlns:a16="http://schemas.microsoft.com/office/drawing/2014/main" id="{BCA4C2F8-6DB5-600C-586E-8282F1B7FF0F}"/>
              </a:ext>
            </a:extLst>
          </p:cNvPr>
          <p:cNvSpPr txBox="1"/>
          <p:nvPr/>
        </p:nvSpPr>
        <p:spPr>
          <a:xfrm>
            <a:off x="6110482" y="2218034"/>
            <a:ext cx="1047981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zh-CN" altLang="en-US" sz="800" b="1" noProof="1">
                <a:solidFill>
                  <a:srgbClr val="1F2430"/>
                </a:solidFill>
                <a:cs typeface="MiSans"/>
              </a:rPr>
              <a:t>附件服务</a:t>
            </a:r>
          </a:p>
        </p:txBody>
      </p:sp>
      <p:sp>
        <p:nvSpPr>
          <p:cNvPr id="145" name="l1-c1-desc">
            <a:extLst>
              <a:ext uri="{FF2B5EF4-FFF2-40B4-BE49-F238E27FC236}">
                <a16:creationId xmlns:a16="http://schemas.microsoft.com/office/drawing/2014/main" id="{77AAB03E-DD85-DEF8-5671-B36713017155}"/>
              </a:ext>
            </a:extLst>
          </p:cNvPr>
          <p:cNvSpPr txBox="1"/>
          <p:nvPr/>
        </p:nvSpPr>
        <p:spPr>
          <a:xfrm>
            <a:off x="6110482" y="2358729"/>
            <a:ext cx="1032793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/>
            <a:r>
              <a:rPr lang="zh-CN" altLang="en-US" sz="700" noProof="1">
                <a:solidFill>
                  <a:srgbClr val="6B7280"/>
                </a:solidFill>
                <a:cs typeface="MiSans"/>
              </a:rPr>
              <a:t>附件索引检索、</a:t>
            </a:r>
            <a:r>
              <a:rPr lang="en-US" altLang="zh-CN" sz="700" noProof="1">
                <a:solidFill>
                  <a:srgbClr val="6B7280"/>
                </a:solidFill>
                <a:cs typeface="MiSans"/>
              </a:rPr>
              <a:t>SAS </a:t>
            </a:r>
            <a:r>
              <a:rPr lang="zh-CN" altLang="en-US" sz="700" noProof="1">
                <a:solidFill>
                  <a:srgbClr val="6B7280"/>
                </a:solidFill>
                <a:cs typeface="MiSans"/>
              </a:rPr>
              <a:t>令牌签发、</a:t>
            </a:r>
            <a:r>
              <a:rPr lang="en-US" altLang="zh-CN" sz="700" noProof="1">
                <a:solidFill>
                  <a:srgbClr val="6B7280"/>
                </a:solidFill>
                <a:cs typeface="MiSans"/>
              </a:rPr>
              <a:t>SHA-256 </a:t>
            </a:r>
            <a:r>
              <a:rPr lang="zh-CN" altLang="en-US" sz="700" noProof="1">
                <a:solidFill>
                  <a:srgbClr val="6B7280"/>
                </a:solidFill>
                <a:cs typeface="MiSans"/>
              </a:rPr>
              <a:t>校验与台账核对</a:t>
            </a:r>
          </a:p>
        </p:txBody>
      </p:sp>
      <p:sp>
        <p:nvSpPr>
          <p:cNvPr id="146" name="l1-c1-title">
            <a:extLst>
              <a:ext uri="{FF2B5EF4-FFF2-40B4-BE49-F238E27FC236}">
                <a16:creationId xmlns:a16="http://schemas.microsoft.com/office/drawing/2014/main" id="{9F91EEB3-AD08-8BA4-AD66-E9C58BB618B7}"/>
              </a:ext>
            </a:extLst>
          </p:cNvPr>
          <p:cNvSpPr txBox="1"/>
          <p:nvPr/>
        </p:nvSpPr>
        <p:spPr>
          <a:xfrm>
            <a:off x="7467546" y="2218034"/>
            <a:ext cx="1047981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zh-CN" altLang="en-US" sz="800" b="1" noProof="1">
                <a:solidFill>
                  <a:srgbClr val="1F2430"/>
                </a:solidFill>
                <a:cs typeface="MiSans"/>
              </a:rPr>
              <a:t>生命周期 </a:t>
            </a:r>
            <a:r>
              <a:rPr lang="en-US" altLang="zh-CN" sz="800" b="1" noProof="1">
                <a:solidFill>
                  <a:srgbClr val="1F2430"/>
                </a:solidFill>
                <a:cs typeface="MiSans"/>
              </a:rPr>
              <a:t>/ </a:t>
            </a:r>
            <a:r>
              <a:rPr lang="zh-CN" altLang="en-US" sz="800" b="1" noProof="1">
                <a:solidFill>
                  <a:srgbClr val="1F2430"/>
                </a:solidFill>
                <a:cs typeface="MiSans"/>
              </a:rPr>
              <a:t>销毁调度</a:t>
            </a:r>
          </a:p>
        </p:txBody>
      </p:sp>
      <p:sp>
        <p:nvSpPr>
          <p:cNvPr id="147" name="l1-c1-desc">
            <a:extLst>
              <a:ext uri="{FF2B5EF4-FFF2-40B4-BE49-F238E27FC236}">
                <a16:creationId xmlns:a16="http://schemas.microsoft.com/office/drawing/2014/main" id="{44929929-A512-DF4F-1EAD-E0C4EC494692}"/>
              </a:ext>
            </a:extLst>
          </p:cNvPr>
          <p:cNvSpPr txBox="1"/>
          <p:nvPr/>
        </p:nvSpPr>
        <p:spPr>
          <a:xfrm>
            <a:off x="7467546" y="2358729"/>
            <a:ext cx="1103873" cy="2511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/>
            <a:r>
              <a:rPr lang="zh-CN" altLang="en-US" sz="700" noProof="1">
                <a:solidFill>
                  <a:srgbClr val="6B7280"/>
                </a:solidFill>
                <a:cs typeface="MiSans"/>
              </a:rPr>
              <a:t>到期扫描、触发 </a:t>
            </a:r>
            <a:r>
              <a:rPr lang="en-US" altLang="zh-CN" sz="700" noProof="1">
                <a:solidFill>
                  <a:srgbClr val="6B7280"/>
                </a:solidFill>
                <a:cs typeface="MiSans"/>
              </a:rPr>
              <a:t>Databricks </a:t>
            </a:r>
            <a:r>
              <a:rPr lang="zh-CN" altLang="en-US" sz="700" noProof="1">
                <a:solidFill>
                  <a:srgbClr val="6B7280"/>
                </a:solidFill>
                <a:cs typeface="MiSans"/>
              </a:rPr>
              <a:t>销毁作业，结果回写台账</a:t>
            </a:r>
          </a:p>
        </p:txBody>
      </p:sp>
      <p:sp>
        <p:nvSpPr>
          <p:cNvPr id="148" name="l1-c1-title">
            <a:extLst>
              <a:ext uri="{FF2B5EF4-FFF2-40B4-BE49-F238E27FC236}">
                <a16:creationId xmlns:a16="http://schemas.microsoft.com/office/drawing/2014/main" id="{754D865B-DF85-CD6F-1D25-2A6F5A3D6D4B}"/>
              </a:ext>
            </a:extLst>
          </p:cNvPr>
          <p:cNvSpPr txBox="1"/>
          <p:nvPr/>
        </p:nvSpPr>
        <p:spPr>
          <a:xfrm>
            <a:off x="1941881" y="2800310"/>
            <a:ext cx="1047981" cy="832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zh-CN" altLang="en-US" sz="800" b="1" noProof="1">
                <a:solidFill>
                  <a:srgbClr val="1F2430"/>
                </a:solidFill>
                <a:cs typeface="MiSans"/>
              </a:rPr>
              <a:t>审计与通知</a:t>
            </a:r>
          </a:p>
        </p:txBody>
      </p:sp>
      <p:sp>
        <p:nvSpPr>
          <p:cNvPr id="149" name="l1-c1-desc">
            <a:extLst>
              <a:ext uri="{FF2B5EF4-FFF2-40B4-BE49-F238E27FC236}">
                <a16:creationId xmlns:a16="http://schemas.microsoft.com/office/drawing/2014/main" id="{556850E4-9CD8-35AE-5266-C8CE6A179EF7}"/>
              </a:ext>
            </a:extLst>
          </p:cNvPr>
          <p:cNvSpPr txBox="1"/>
          <p:nvPr/>
        </p:nvSpPr>
        <p:spPr>
          <a:xfrm>
            <a:off x="1941881" y="2941005"/>
            <a:ext cx="1032793" cy="24332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/>
            <a:r>
              <a:rPr lang="zh-CN" altLang="en-US" sz="700" noProof="1">
                <a:solidFill>
                  <a:srgbClr val="6B7280"/>
                </a:solidFill>
                <a:cs typeface="MiSans"/>
              </a:rPr>
              <a:t>操作留痕、查询与脱敏日志，异常与作业通知推送</a:t>
            </a:r>
          </a:p>
        </p:txBody>
      </p:sp>
      <p:sp>
        <p:nvSpPr>
          <p:cNvPr id="151" name="conn2-a1">
            <a:extLst>
              <a:ext uri="{FF2B5EF4-FFF2-40B4-BE49-F238E27FC236}">
                <a16:creationId xmlns:a16="http://schemas.microsoft.com/office/drawing/2014/main" id="{E57262E9-2D9C-1C57-F275-EA9E2F2441FF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eyJpY29uTmFtZSI6ImZhczphcnJvdy1kb3duIn0</pptd:icon>
              </p:ext>
            </p:extLst>
          </p:nvPr>
        </p:nvSpPr>
        <p:spPr>
          <a:xfrm>
            <a:off x="3914775" y="3323763"/>
            <a:ext cx="85725" cy="123825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169" y="503"/>
                </a:moveTo>
                <a:cubicBezTo>
                  <a:pt x="182" y="515"/>
                  <a:pt x="202" y="515"/>
                  <a:pt x="215" y="503"/>
                </a:cubicBezTo>
                <a:lnTo>
                  <a:pt x="375" y="343"/>
                </a:lnTo>
                <a:cubicBezTo>
                  <a:pt x="387" y="330"/>
                  <a:pt x="387" y="310"/>
                  <a:pt x="375" y="297"/>
                </a:cubicBezTo>
                <a:cubicBezTo>
                  <a:pt x="362" y="285"/>
                  <a:pt x="342" y="285"/>
                  <a:pt x="329" y="297"/>
                </a:cubicBezTo>
                <a:lnTo>
                  <a:pt x="224" y="403"/>
                </a:lnTo>
                <a:lnTo>
                  <a:pt x="224" y="32"/>
                </a:lnTo>
                <a:cubicBezTo>
                  <a:pt x="224" y="14"/>
                  <a:pt x="210" y="0"/>
                  <a:pt x="192" y="0"/>
                </a:cubicBezTo>
                <a:cubicBezTo>
                  <a:pt x="174" y="0"/>
                  <a:pt x="160" y="14"/>
                  <a:pt x="160" y="32"/>
                </a:cubicBezTo>
                <a:lnTo>
                  <a:pt x="160" y="403"/>
                </a:lnTo>
                <a:lnTo>
                  <a:pt x="55" y="297"/>
                </a:lnTo>
                <a:cubicBezTo>
                  <a:pt x="42" y="285"/>
                  <a:pt x="22" y="285"/>
                  <a:pt x="9" y="297"/>
                </a:cubicBezTo>
                <a:cubicBezTo>
                  <a:pt x="-3" y="310"/>
                  <a:pt x="-3" y="330"/>
                  <a:pt x="9" y="343"/>
                </a:cubicBezTo>
                <a:lnTo>
                  <a:pt x="169" y="503"/>
                </a:lnTo>
                <a:close/>
              </a:path>
            </a:pathLst>
          </a:custGeom>
          <a:solidFill>
            <a:srgbClr val="2C7BD8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ea typeface="MiSans"/>
              <a:cs typeface="MiSans"/>
            </a:endParaRPr>
          </a:p>
        </p:txBody>
      </p:sp>
      <p:sp>
        <p:nvSpPr>
          <p:cNvPr id="153" name="conn2-icon">
            <a:extLst>
              <a:ext uri="{FF2B5EF4-FFF2-40B4-BE49-F238E27FC236}">
                <a16:creationId xmlns:a16="http://schemas.microsoft.com/office/drawing/2014/main" id="{1BB46B54-CAF6-2648-65AE-0843444FF7BC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eyJpY29uTmFtZSI6ImZhczpsb2NrIn0</pptd:icon>
              </p:ext>
            </p:extLst>
          </p:nvPr>
        </p:nvSpPr>
        <p:spPr>
          <a:xfrm>
            <a:off x="4191000" y="3338050"/>
            <a:ext cx="95250" cy="9525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128" y="96"/>
                </a:moveTo>
                <a:lnTo>
                  <a:pt x="128" y="160"/>
                </a:lnTo>
                <a:lnTo>
                  <a:pt x="256" y="160"/>
                </a:lnTo>
                <a:lnTo>
                  <a:pt x="256" y="96"/>
                </a:lnTo>
                <a:cubicBezTo>
                  <a:pt x="256" y="61"/>
                  <a:pt x="227" y="32"/>
                  <a:pt x="192" y="32"/>
                </a:cubicBezTo>
                <a:cubicBezTo>
                  <a:pt x="157" y="32"/>
                  <a:pt x="128" y="61"/>
                  <a:pt x="128" y="96"/>
                </a:cubicBezTo>
                <a:close/>
                <a:moveTo>
                  <a:pt x="64" y="160"/>
                </a:moveTo>
                <a:lnTo>
                  <a:pt x="64" y="96"/>
                </a:lnTo>
                <a:cubicBezTo>
                  <a:pt x="64" y="25"/>
                  <a:pt x="121" y="-32"/>
                  <a:pt x="192" y="-32"/>
                </a:cubicBezTo>
                <a:cubicBezTo>
                  <a:pt x="263" y="-32"/>
                  <a:pt x="320" y="25"/>
                  <a:pt x="320" y="96"/>
                </a:cubicBezTo>
                <a:lnTo>
                  <a:pt x="320" y="160"/>
                </a:lnTo>
                <a:cubicBezTo>
                  <a:pt x="355" y="160"/>
                  <a:pt x="384" y="189"/>
                  <a:pt x="384" y="224"/>
                </a:cubicBezTo>
                <a:lnTo>
                  <a:pt x="384" y="448"/>
                </a:lnTo>
                <a:cubicBezTo>
                  <a:pt x="384" y="483"/>
                  <a:pt x="355" y="512"/>
                  <a:pt x="320" y="512"/>
                </a:cubicBezTo>
                <a:lnTo>
                  <a:pt x="64" y="512"/>
                </a:lnTo>
                <a:cubicBezTo>
                  <a:pt x="29" y="512"/>
                  <a:pt x="0" y="483"/>
                  <a:pt x="0" y="448"/>
                </a:cubicBezTo>
                <a:lnTo>
                  <a:pt x="0" y="224"/>
                </a:lnTo>
                <a:cubicBezTo>
                  <a:pt x="0" y="189"/>
                  <a:pt x="29" y="160"/>
                  <a:pt x="64" y="160"/>
                </a:cubicBezTo>
                <a:close/>
              </a:path>
            </a:pathLst>
          </a:custGeom>
          <a:solidFill>
            <a:srgbClr val="2C7BD8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ea typeface="MiSans"/>
              <a:cs typeface="MiSans"/>
            </a:endParaRPr>
          </a:p>
        </p:txBody>
      </p:sp>
      <p:sp>
        <p:nvSpPr>
          <p:cNvPr id="155" name="conn2-text">
            <a:extLst>
              <a:ext uri="{FF2B5EF4-FFF2-40B4-BE49-F238E27FC236}">
                <a16:creationId xmlns:a16="http://schemas.microsoft.com/office/drawing/2014/main" id="{BEE02400-78D1-500D-55D8-D565B5193CC4}"/>
              </a:ext>
            </a:extLst>
          </p:cNvPr>
          <p:cNvSpPr txBox="1"/>
          <p:nvPr/>
        </p:nvSpPr>
        <p:spPr>
          <a:xfrm>
            <a:off x="4324350" y="3314238"/>
            <a:ext cx="228600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638" b="1" noProof="1">
                <a:solidFill>
                  <a:srgbClr val="2C7BD8"/>
                </a:solidFill>
                <a:ea typeface="MiSans"/>
                <a:cs typeface="MiSans"/>
              </a:rPr>
              <a:t>私有端点 · 托管标识免密访问</a:t>
            </a:r>
            <a:endParaRPr lang="en-US" sz="638" noProof="1">
              <a:solidFill>
                <a:srgbClr val="000000"/>
              </a:solidFill>
              <a:ea typeface="MiSans"/>
              <a:cs typeface="MiSans"/>
            </a:endParaRPr>
          </a:p>
        </p:txBody>
      </p:sp>
      <p:sp>
        <p:nvSpPr>
          <p:cNvPr id="156" name="l1-c1">
            <a:extLst>
              <a:ext uri="{FF2B5EF4-FFF2-40B4-BE49-F238E27FC236}">
                <a16:creationId xmlns:a16="http://schemas.microsoft.com/office/drawing/2014/main" id="{A36C97BE-A989-24D4-89C8-3E20FB8BDB0E}"/>
              </a:ext>
            </a:extLst>
          </p:cNvPr>
          <p:cNvSpPr/>
          <p:nvPr/>
        </p:nvSpPr>
        <p:spPr>
          <a:xfrm>
            <a:off x="1708836" y="3531016"/>
            <a:ext cx="1647774" cy="481118"/>
          </a:xfrm>
          <a:prstGeom prst="roundRect">
            <a:avLst>
              <a:gd name="adj" fmla="val 8000"/>
            </a:avLst>
          </a:prstGeom>
          <a:solidFill>
            <a:srgbClr val="FBFDFF"/>
          </a:solidFill>
          <a:ln w="12700">
            <a:solidFill>
              <a:srgbClr val="EDF1F6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cs typeface="MiSans"/>
            </a:endParaRPr>
          </a:p>
        </p:txBody>
      </p:sp>
      <p:sp>
        <p:nvSpPr>
          <p:cNvPr id="157" name="l1-c1">
            <a:extLst>
              <a:ext uri="{FF2B5EF4-FFF2-40B4-BE49-F238E27FC236}">
                <a16:creationId xmlns:a16="http://schemas.microsoft.com/office/drawing/2014/main" id="{05E2E003-6EC0-FB3C-050B-7D6E31CB7BDB}"/>
              </a:ext>
            </a:extLst>
          </p:cNvPr>
          <p:cNvSpPr/>
          <p:nvPr/>
        </p:nvSpPr>
        <p:spPr>
          <a:xfrm>
            <a:off x="3426292" y="3531016"/>
            <a:ext cx="1647774" cy="481118"/>
          </a:xfrm>
          <a:prstGeom prst="roundRect">
            <a:avLst>
              <a:gd name="adj" fmla="val 8000"/>
            </a:avLst>
          </a:prstGeom>
          <a:solidFill>
            <a:srgbClr val="FBFDFF"/>
          </a:solidFill>
          <a:ln w="12700">
            <a:solidFill>
              <a:srgbClr val="EDF1F6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cs typeface="MiSans"/>
            </a:endParaRPr>
          </a:p>
        </p:txBody>
      </p:sp>
      <p:sp>
        <p:nvSpPr>
          <p:cNvPr id="158" name="l1-c1">
            <a:extLst>
              <a:ext uri="{FF2B5EF4-FFF2-40B4-BE49-F238E27FC236}">
                <a16:creationId xmlns:a16="http://schemas.microsoft.com/office/drawing/2014/main" id="{D3733A81-C767-62A5-41E8-F8A5B70736CD}"/>
              </a:ext>
            </a:extLst>
          </p:cNvPr>
          <p:cNvSpPr/>
          <p:nvPr/>
        </p:nvSpPr>
        <p:spPr>
          <a:xfrm>
            <a:off x="5145800" y="3531016"/>
            <a:ext cx="1647774" cy="481118"/>
          </a:xfrm>
          <a:prstGeom prst="roundRect">
            <a:avLst>
              <a:gd name="adj" fmla="val 8000"/>
            </a:avLst>
          </a:prstGeom>
          <a:solidFill>
            <a:srgbClr val="FBFDFF"/>
          </a:solidFill>
          <a:ln w="12700">
            <a:solidFill>
              <a:srgbClr val="EDF1F6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cs typeface="MiSans"/>
            </a:endParaRPr>
          </a:p>
        </p:txBody>
      </p:sp>
      <p:sp>
        <p:nvSpPr>
          <p:cNvPr id="159" name="l1-c1">
            <a:extLst>
              <a:ext uri="{FF2B5EF4-FFF2-40B4-BE49-F238E27FC236}">
                <a16:creationId xmlns:a16="http://schemas.microsoft.com/office/drawing/2014/main" id="{221A5052-E698-4D8D-7F96-F0275E5CB3D9}"/>
              </a:ext>
            </a:extLst>
          </p:cNvPr>
          <p:cNvSpPr/>
          <p:nvPr/>
        </p:nvSpPr>
        <p:spPr>
          <a:xfrm>
            <a:off x="6863256" y="3531016"/>
            <a:ext cx="1647774" cy="481118"/>
          </a:xfrm>
          <a:prstGeom prst="roundRect">
            <a:avLst>
              <a:gd name="adj" fmla="val 8000"/>
            </a:avLst>
          </a:prstGeom>
          <a:solidFill>
            <a:srgbClr val="FBFDFF"/>
          </a:solidFill>
          <a:ln w="12700">
            <a:solidFill>
              <a:srgbClr val="EDF1F6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cs typeface="MiSans"/>
            </a:endParaRPr>
          </a:p>
        </p:txBody>
      </p:sp>
      <p:sp>
        <p:nvSpPr>
          <p:cNvPr id="160" name="l1-c1-title">
            <a:extLst>
              <a:ext uri="{FF2B5EF4-FFF2-40B4-BE49-F238E27FC236}">
                <a16:creationId xmlns:a16="http://schemas.microsoft.com/office/drawing/2014/main" id="{8E51E6C3-CFB2-61E8-905C-4EBB2ADDB87E}"/>
              </a:ext>
            </a:extLst>
          </p:cNvPr>
          <p:cNvSpPr txBox="1"/>
          <p:nvPr/>
        </p:nvSpPr>
        <p:spPr>
          <a:xfrm>
            <a:off x="2093079" y="3591556"/>
            <a:ext cx="1230230" cy="832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zh-CN" altLang="en-US" sz="800" b="1" noProof="1">
                <a:solidFill>
                  <a:srgbClr val="1F2430"/>
                </a:solidFill>
                <a:cs typeface="MiSans"/>
              </a:rPr>
              <a:t>数据编排与接入</a:t>
            </a:r>
          </a:p>
        </p:txBody>
      </p:sp>
      <p:sp>
        <p:nvSpPr>
          <p:cNvPr id="161" name="l1-c1-desc">
            <a:extLst>
              <a:ext uri="{FF2B5EF4-FFF2-40B4-BE49-F238E27FC236}">
                <a16:creationId xmlns:a16="http://schemas.microsoft.com/office/drawing/2014/main" id="{31A9C538-69F8-A211-30C4-719CC31D7610}"/>
              </a:ext>
            </a:extLst>
          </p:cNvPr>
          <p:cNvSpPr txBox="1"/>
          <p:nvPr/>
        </p:nvSpPr>
        <p:spPr>
          <a:xfrm>
            <a:off x="2095719" y="3717544"/>
            <a:ext cx="1212401" cy="24332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/>
            <a:r>
              <a:rPr lang="en-US" altLang="zh-CN" sz="700" noProof="1">
                <a:solidFill>
                  <a:srgbClr val="6B7280"/>
                </a:solidFill>
                <a:cs typeface="MiSans"/>
              </a:rPr>
              <a:t>Azure Data Factory </a:t>
            </a:r>
            <a:r>
              <a:rPr lang="zh-CN" altLang="en-US" sz="700" noProof="1">
                <a:solidFill>
                  <a:srgbClr val="6B7280"/>
                </a:solidFill>
                <a:cs typeface="MiSans"/>
              </a:rPr>
              <a:t>定时 </a:t>
            </a:r>
            <a:r>
              <a:rPr lang="en-US" altLang="zh-CN" sz="700" noProof="1">
                <a:solidFill>
                  <a:srgbClr val="6B7280"/>
                </a:solidFill>
                <a:cs typeface="MiSans"/>
              </a:rPr>
              <a:t>/ </a:t>
            </a:r>
            <a:r>
              <a:rPr lang="zh-CN" altLang="en-US" sz="700" noProof="1">
                <a:solidFill>
                  <a:srgbClr val="6B7280"/>
                </a:solidFill>
                <a:cs typeface="MiSans"/>
              </a:rPr>
              <a:t>事件触发编排</a:t>
            </a:r>
            <a:r>
              <a:rPr lang="en-US" altLang="zh-CN" sz="700" noProof="1">
                <a:solidFill>
                  <a:srgbClr val="6B7280"/>
                </a:solidFill>
                <a:cs typeface="MiSans"/>
              </a:rPr>
              <a:t>; SeaTunnel </a:t>
            </a:r>
            <a:r>
              <a:rPr lang="zh-CN" altLang="en-US" sz="700" noProof="1">
                <a:solidFill>
                  <a:srgbClr val="6B7280"/>
                </a:solidFill>
                <a:cs typeface="MiSans"/>
              </a:rPr>
              <a:t>抽取多源数据写入 </a:t>
            </a:r>
            <a:r>
              <a:rPr lang="en-US" altLang="zh-CN" sz="700" noProof="1">
                <a:solidFill>
                  <a:srgbClr val="6B7280"/>
                </a:solidFill>
                <a:cs typeface="MiSans"/>
              </a:rPr>
              <a:t>Lakehouse</a:t>
            </a:r>
          </a:p>
        </p:txBody>
      </p:sp>
      <p:sp>
        <p:nvSpPr>
          <p:cNvPr id="162" name="l1-c1-title">
            <a:extLst>
              <a:ext uri="{FF2B5EF4-FFF2-40B4-BE49-F238E27FC236}">
                <a16:creationId xmlns:a16="http://schemas.microsoft.com/office/drawing/2014/main" id="{59D7736B-EA0C-9228-9BB1-74F0E1EF14E8}"/>
              </a:ext>
            </a:extLst>
          </p:cNvPr>
          <p:cNvSpPr txBox="1"/>
          <p:nvPr/>
        </p:nvSpPr>
        <p:spPr>
          <a:xfrm>
            <a:off x="3836819" y="3591556"/>
            <a:ext cx="1100962" cy="832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zh-CN" altLang="en-US" sz="800" b="1" noProof="1">
                <a:solidFill>
                  <a:srgbClr val="1F2430"/>
                </a:solidFill>
                <a:cs typeface="MiSans"/>
              </a:rPr>
              <a:t>数据处理与查询</a:t>
            </a:r>
          </a:p>
        </p:txBody>
      </p:sp>
      <p:sp>
        <p:nvSpPr>
          <p:cNvPr id="163" name="l1-c1-desc">
            <a:extLst>
              <a:ext uri="{FF2B5EF4-FFF2-40B4-BE49-F238E27FC236}">
                <a16:creationId xmlns:a16="http://schemas.microsoft.com/office/drawing/2014/main" id="{2D7C54BF-60AC-5338-CB1A-5030514F1313}"/>
              </a:ext>
            </a:extLst>
          </p:cNvPr>
          <p:cNvSpPr txBox="1"/>
          <p:nvPr/>
        </p:nvSpPr>
        <p:spPr>
          <a:xfrm>
            <a:off x="3832007" y="3732251"/>
            <a:ext cx="1200952" cy="24332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/>
            <a:r>
              <a:rPr lang="en-US" altLang="zh-CN" sz="700" noProof="1">
                <a:solidFill>
                  <a:srgbClr val="6B7280"/>
                </a:solidFill>
                <a:cs typeface="MiSans"/>
              </a:rPr>
              <a:t>Databricks Serverless </a:t>
            </a:r>
            <a:r>
              <a:rPr lang="zh-CN" altLang="en-US" sz="700" noProof="1">
                <a:solidFill>
                  <a:srgbClr val="6B7280"/>
                </a:solidFill>
                <a:cs typeface="MiSans"/>
              </a:rPr>
              <a:t>提供 </a:t>
            </a:r>
            <a:r>
              <a:rPr lang="en-US" altLang="zh-CN" sz="700" noProof="1">
                <a:solidFill>
                  <a:srgbClr val="6B7280"/>
                </a:solidFill>
                <a:cs typeface="MiSans"/>
              </a:rPr>
              <a:t>SQL Warehouse</a:t>
            </a:r>
            <a:r>
              <a:rPr lang="zh-CN" altLang="en-US" sz="700" noProof="1">
                <a:solidFill>
                  <a:srgbClr val="6B7280"/>
                </a:solidFill>
                <a:cs typeface="MiSans"/>
              </a:rPr>
              <a:t>，支持高并发弹性查询</a:t>
            </a:r>
          </a:p>
        </p:txBody>
      </p:sp>
      <p:sp>
        <p:nvSpPr>
          <p:cNvPr id="164" name="l1-c1-title">
            <a:extLst>
              <a:ext uri="{FF2B5EF4-FFF2-40B4-BE49-F238E27FC236}">
                <a16:creationId xmlns:a16="http://schemas.microsoft.com/office/drawing/2014/main" id="{4DBDC348-A3C9-1BFD-D278-C71073384649}"/>
              </a:ext>
            </a:extLst>
          </p:cNvPr>
          <p:cNvSpPr txBox="1"/>
          <p:nvPr/>
        </p:nvSpPr>
        <p:spPr>
          <a:xfrm>
            <a:off x="5545455" y="3591556"/>
            <a:ext cx="1163904" cy="832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zh-CN" altLang="en-US" sz="800" b="1" noProof="1">
                <a:solidFill>
                  <a:srgbClr val="1F2430"/>
                </a:solidFill>
                <a:cs typeface="MiSans"/>
              </a:rPr>
              <a:t>数据治理</a:t>
            </a:r>
          </a:p>
        </p:txBody>
      </p:sp>
      <p:sp>
        <p:nvSpPr>
          <p:cNvPr id="165" name="l1-c1-desc">
            <a:extLst>
              <a:ext uri="{FF2B5EF4-FFF2-40B4-BE49-F238E27FC236}">
                <a16:creationId xmlns:a16="http://schemas.microsoft.com/office/drawing/2014/main" id="{E2D3D241-81FD-6195-3DD4-B2D6509C1C13}"/>
              </a:ext>
            </a:extLst>
          </p:cNvPr>
          <p:cNvSpPr txBox="1"/>
          <p:nvPr/>
        </p:nvSpPr>
        <p:spPr>
          <a:xfrm>
            <a:off x="5547135" y="3732251"/>
            <a:ext cx="1147036" cy="24332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/>
            <a:r>
              <a:rPr lang="en-US" altLang="zh-CN" sz="700" noProof="1">
                <a:solidFill>
                  <a:srgbClr val="6B7280"/>
                </a:solidFill>
                <a:cs typeface="MiSans"/>
              </a:rPr>
              <a:t>Unity Catalog </a:t>
            </a:r>
            <a:r>
              <a:rPr lang="zh-CN" altLang="en-US" sz="700" noProof="1">
                <a:solidFill>
                  <a:srgbClr val="6B7280"/>
                </a:solidFill>
                <a:cs typeface="MiSans"/>
              </a:rPr>
              <a:t>提供表 </a:t>
            </a:r>
            <a:r>
              <a:rPr lang="en-US" altLang="zh-CN" sz="700" noProof="1">
                <a:solidFill>
                  <a:srgbClr val="6B7280"/>
                </a:solidFill>
                <a:cs typeface="MiSans"/>
              </a:rPr>
              <a:t>/ </a:t>
            </a:r>
            <a:r>
              <a:rPr lang="zh-CN" altLang="en-US" sz="700" noProof="1">
                <a:solidFill>
                  <a:srgbClr val="6B7280"/>
                </a:solidFill>
                <a:cs typeface="MiSans"/>
              </a:rPr>
              <a:t>行 </a:t>
            </a:r>
            <a:r>
              <a:rPr lang="en-US" altLang="zh-CN" sz="700" noProof="1">
                <a:solidFill>
                  <a:srgbClr val="6B7280"/>
                </a:solidFill>
                <a:cs typeface="MiSans"/>
              </a:rPr>
              <a:t>/ </a:t>
            </a:r>
            <a:r>
              <a:rPr lang="zh-CN" altLang="en-US" sz="700" noProof="1">
                <a:solidFill>
                  <a:srgbClr val="6B7280"/>
                </a:solidFill>
                <a:cs typeface="MiSans"/>
              </a:rPr>
              <a:t>列级权限、列级脱敏、血缘与审计</a:t>
            </a:r>
          </a:p>
        </p:txBody>
      </p:sp>
      <p:sp>
        <p:nvSpPr>
          <p:cNvPr id="166" name="l1-c1-title">
            <a:extLst>
              <a:ext uri="{FF2B5EF4-FFF2-40B4-BE49-F238E27FC236}">
                <a16:creationId xmlns:a16="http://schemas.microsoft.com/office/drawing/2014/main" id="{BAFE5801-3B29-364B-D5E6-D1BEE827560D}"/>
              </a:ext>
            </a:extLst>
          </p:cNvPr>
          <p:cNvSpPr txBox="1"/>
          <p:nvPr/>
        </p:nvSpPr>
        <p:spPr>
          <a:xfrm>
            <a:off x="7238097" y="3591556"/>
            <a:ext cx="1207685" cy="832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zh-CN" altLang="en-US" sz="800" b="1" noProof="1">
                <a:solidFill>
                  <a:srgbClr val="1F2430"/>
                </a:solidFill>
                <a:cs typeface="MiSans"/>
              </a:rPr>
              <a:t>密钥管理</a:t>
            </a:r>
          </a:p>
        </p:txBody>
      </p:sp>
      <p:sp>
        <p:nvSpPr>
          <p:cNvPr id="167" name="l1-c1-desc">
            <a:extLst>
              <a:ext uri="{FF2B5EF4-FFF2-40B4-BE49-F238E27FC236}">
                <a16:creationId xmlns:a16="http://schemas.microsoft.com/office/drawing/2014/main" id="{E38B5EC0-D1B7-3E4C-45AF-387343957069}"/>
              </a:ext>
            </a:extLst>
          </p:cNvPr>
          <p:cNvSpPr txBox="1"/>
          <p:nvPr/>
        </p:nvSpPr>
        <p:spPr>
          <a:xfrm>
            <a:off x="7240413" y="3732251"/>
            <a:ext cx="1190182" cy="24332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/>
            <a:r>
              <a:rPr lang="en-US" altLang="zh-CN" sz="700" noProof="1">
                <a:solidFill>
                  <a:srgbClr val="6B7280"/>
                </a:solidFill>
                <a:cs typeface="MiSans"/>
              </a:rPr>
              <a:t>Azure Key Vault </a:t>
            </a:r>
            <a:r>
              <a:rPr lang="zh-CN" altLang="en-US" sz="700" noProof="1">
                <a:solidFill>
                  <a:srgbClr val="6B7280"/>
                </a:solidFill>
                <a:cs typeface="MiSans"/>
              </a:rPr>
              <a:t>管理密钥，统一签名与加解密服务</a:t>
            </a:r>
          </a:p>
        </p:txBody>
      </p:sp>
      <p:sp>
        <p:nvSpPr>
          <p:cNvPr id="169" name="l3-c1-icon">
            <a:extLst>
              <a:ext uri="{FF2B5EF4-FFF2-40B4-BE49-F238E27FC236}">
                <a16:creationId xmlns:a16="http://schemas.microsoft.com/office/drawing/2014/main" id="{4848FD0F-A5E9-3FC5-FB84-AF2CF653F0A3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eyJpY29uTmFtZSI6ImZhczpzaGFyZS1ub2RlcyJ9</pptd:icon>
              </p:ext>
            </p:extLst>
          </p:nvPr>
        </p:nvSpPr>
        <p:spPr>
          <a:xfrm>
            <a:off x="1821875" y="363345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384" y="192"/>
                </a:moveTo>
                <a:cubicBezTo>
                  <a:pt x="437" y="192"/>
                  <a:pt x="480" y="149"/>
                  <a:pt x="480" y="96"/>
                </a:cubicBezTo>
                <a:cubicBezTo>
                  <a:pt x="480" y="43"/>
                  <a:pt x="437" y="0"/>
                  <a:pt x="384" y="0"/>
                </a:cubicBezTo>
                <a:cubicBezTo>
                  <a:pt x="331" y="0"/>
                  <a:pt x="288" y="43"/>
                  <a:pt x="288" y="96"/>
                </a:cubicBezTo>
                <a:cubicBezTo>
                  <a:pt x="288" y="101"/>
                  <a:pt x="289" y="107"/>
                  <a:pt x="289" y="112"/>
                </a:cubicBezTo>
                <a:lnTo>
                  <a:pt x="160" y="184"/>
                </a:lnTo>
                <a:cubicBezTo>
                  <a:pt x="143" y="169"/>
                  <a:pt x="120" y="160"/>
                  <a:pt x="96" y="160"/>
                </a:cubicBezTo>
                <a:cubicBezTo>
                  <a:pt x="43" y="160"/>
                  <a:pt x="0" y="203"/>
                  <a:pt x="0" y="256"/>
                </a:cubicBezTo>
                <a:cubicBezTo>
                  <a:pt x="0" y="309"/>
                  <a:pt x="43" y="352"/>
                  <a:pt x="96" y="352"/>
                </a:cubicBezTo>
                <a:cubicBezTo>
                  <a:pt x="120" y="352"/>
                  <a:pt x="143" y="343"/>
                  <a:pt x="160" y="328"/>
                </a:cubicBezTo>
                <a:lnTo>
                  <a:pt x="289" y="400"/>
                </a:lnTo>
                <a:cubicBezTo>
                  <a:pt x="288" y="405"/>
                  <a:pt x="288" y="411"/>
                  <a:pt x="288" y="416"/>
                </a:cubicBezTo>
                <a:cubicBezTo>
                  <a:pt x="288" y="469"/>
                  <a:pt x="331" y="512"/>
                  <a:pt x="384" y="512"/>
                </a:cubicBezTo>
                <a:cubicBezTo>
                  <a:pt x="437" y="512"/>
                  <a:pt x="480" y="469"/>
                  <a:pt x="480" y="416"/>
                </a:cubicBezTo>
                <a:cubicBezTo>
                  <a:pt x="480" y="363"/>
                  <a:pt x="437" y="320"/>
                  <a:pt x="384" y="320"/>
                </a:cubicBezTo>
                <a:cubicBezTo>
                  <a:pt x="360" y="320"/>
                  <a:pt x="337" y="329"/>
                  <a:pt x="320" y="344"/>
                </a:cubicBezTo>
                <a:lnTo>
                  <a:pt x="191" y="272"/>
                </a:lnTo>
                <a:cubicBezTo>
                  <a:pt x="192" y="267"/>
                  <a:pt x="192" y="262"/>
                  <a:pt x="192" y="256"/>
                </a:cubicBezTo>
                <a:cubicBezTo>
                  <a:pt x="192" y="251"/>
                  <a:pt x="192" y="245"/>
                  <a:pt x="191" y="240"/>
                </a:cubicBezTo>
                <a:lnTo>
                  <a:pt x="320" y="168"/>
                </a:lnTo>
                <a:cubicBezTo>
                  <a:pt x="337" y="183"/>
                  <a:pt x="360" y="192"/>
                  <a:pt x="384" y="192"/>
                </a:cubicBezTo>
                <a:close/>
              </a:path>
            </a:pathLst>
          </a:custGeom>
          <a:solidFill>
            <a:srgbClr val="009CDE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ea typeface="MiSans"/>
              <a:cs typeface="MiSans"/>
            </a:endParaRPr>
          </a:p>
        </p:txBody>
      </p:sp>
      <p:sp>
        <p:nvSpPr>
          <p:cNvPr id="171" name="l3-c2-icon">
            <a:extLst>
              <a:ext uri="{FF2B5EF4-FFF2-40B4-BE49-F238E27FC236}">
                <a16:creationId xmlns:a16="http://schemas.microsoft.com/office/drawing/2014/main" id="{3BE2340E-B46D-C820-A8D0-D2C9496BB117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eyJpY29uTmFtZSI6ImZhczpjaXJjbGUtbm9kZXMifQ</pptd:icon>
              </p:ext>
            </p:extLst>
          </p:nvPr>
        </p:nvSpPr>
        <p:spPr>
          <a:xfrm>
            <a:off x="3563798" y="363345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418" y="158"/>
                </a:moveTo>
                <a:cubicBezTo>
                  <a:pt x="454" y="150"/>
                  <a:pt x="480" y="118"/>
                  <a:pt x="480" y="80"/>
                </a:cubicBezTo>
                <a:cubicBezTo>
                  <a:pt x="480" y="36"/>
                  <a:pt x="444" y="0"/>
                  <a:pt x="400" y="0"/>
                </a:cubicBezTo>
                <a:cubicBezTo>
                  <a:pt x="357" y="0"/>
                  <a:pt x="321" y="35"/>
                  <a:pt x="320" y="78"/>
                </a:cubicBezTo>
                <a:lnTo>
                  <a:pt x="136" y="151"/>
                </a:lnTo>
                <a:cubicBezTo>
                  <a:pt x="122" y="137"/>
                  <a:pt x="102" y="128"/>
                  <a:pt x="80" y="128"/>
                </a:cubicBezTo>
                <a:cubicBezTo>
                  <a:pt x="36" y="128"/>
                  <a:pt x="0" y="164"/>
                  <a:pt x="0" y="208"/>
                </a:cubicBezTo>
                <a:cubicBezTo>
                  <a:pt x="0" y="252"/>
                  <a:pt x="36" y="288"/>
                  <a:pt x="80" y="288"/>
                </a:cubicBezTo>
                <a:cubicBezTo>
                  <a:pt x="92" y="288"/>
                  <a:pt x="104" y="285"/>
                  <a:pt x="114" y="280"/>
                </a:cubicBezTo>
                <a:lnTo>
                  <a:pt x="260" y="408"/>
                </a:lnTo>
                <a:cubicBezTo>
                  <a:pt x="257" y="415"/>
                  <a:pt x="256" y="424"/>
                  <a:pt x="256" y="432"/>
                </a:cubicBezTo>
                <a:cubicBezTo>
                  <a:pt x="256" y="476"/>
                  <a:pt x="292" y="512"/>
                  <a:pt x="336" y="512"/>
                </a:cubicBezTo>
                <a:cubicBezTo>
                  <a:pt x="380" y="512"/>
                  <a:pt x="416" y="476"/>
                  <a:pt x="416" y="432"/>
                </a:cubicBezTo>
                <a:cubicBezTo>
                  <a:pt x="416" y="404"/>
                  <a:pt x="402" y="380"/>
                  <a:pt x="381" y="366"/>
                </a:cubicBezTo>
                <a:lnTo>
                  <a:pt x="418" y="158"/>
                </a:lnTo>
                <a:close/>
                <a:moveTo>
                  <a:pt x="156" y="232"/>
                </a:moveTo>
                <a:cubicBezTo>
                  <a:pt x="159" y="225"/>
                  <a:pt x="160" y="218"/>
                  <a:pt x="160" y="211"/>
                </a:cubicBezTo>
                <a:lnTo>
                  <a:pt x="344" y="137"/>
                </a:lnTo>
                <a:cubicBezTo>
                  <a:pt x="347" y="141"/>
                  <a:pt x="351" y="144"/>
                  <a:pt x="355" y="147"/>
                </a:cubicBezTo>
                <a:lnTo>
                  <a:pt x="318" y="354"/>
                </a:lnTo>
                <a:cubicBezTo>
                  <a:pt x="312" y="355"/>
                  <a:pt x="307" y="357"/>
                  <a:pt x="302" y="360"/>
                </a:cubicBezTo>
                <a:lnTo>
                  <a:pt x="156" y="232"/>
                </a:lnTo>
                <a:close/>
              </a:path>
            </a:pathLst>
          </a:custGeom>
          <a:solidFill>
            <a:srgbClr val="009CDE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ea typeface="MiSans"/>
              <a:cs typeface="MiSans"/>
            </a:endParaRPr>
          </a:p>
        </p:txBody>
      </p:sp>
      <p:sp>
        <p:nvSpPr>
          <p:cNvPr id="173" name="l3-c3-icon">
            <a:extLst>
              <a:ext uri="{FF2B5EF4-FFF2-40B4-BE49-F238E27FC236}">
                <a16:creationId xmlns:a16="http://schemas.microsoft.com/office/drawing/2014/main" id="{6A18219E-AB1D-6CB8-26DE-DE0F3FA9DA2F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eyJpY29uTmFtZSI6ImZhczpzaGllbGQtaGFsdmVkIn0</pptd:icon>
              </p:ext>
            </p:extLst>
          </p:nvPr>
        </p:nvSpPr>
        <p:spPr>
          <a:xfrm>
            <a:off x="5286274" y="365605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61" y="0"/>
                  <a:pt x="265" y="1"/>
                  <a:pt x="269" y="3"/>
                </a:cubicBezTo>
                <a:lnTo>
                  <a:pt x="458" y="83"/>
                </a:lnTo>
                <a:cubicBezTo>
                  <a:pt x="480" y="92"/>
                  <a:pt x="496" y="114"/>
                  <a:pt x="496" y="140"/>
                </a:cubicBezTo>
                <a:cubicBezTo>
                  <a:pt x="496" y="239"/>
                  <a:pt x="455" y="421"/>
                  <a:pt x="283" y="503"/>
                </a:cubicBezTo>
                <a:cubicBezTo>
                  <a:pt x="266" y="511"/>
                  <a:pt x="246" y="511"/>
                  <a:pt x="230" y="503"/>
                </a:cubicBezTo>
                <a:cubicBezTo>
                  <a:pt x="57" y="421"/>
                  <a:pt x="17" y="239"/>
                  <a:pt x="16" y="140"/>
                </a:cubicBezTo>
                <a:cubicBezTo>
                  <a:pt x="16" y="114"/>
                  <a:pt x="32" y="92"/>
                  <a:pt x="54" y="83"/>
                </a:cubicBezTo>
                <a:lnTo>
                  <a:pt x="243" y="3"/>
                </a:lnTo>
                <a:cubicBezTo>
                  <a:pt x="247" y="1"/>
                  <a:pt x="251" y="0"/>
                  <a:pt x="256" y="0"/>
                </a:cubicBezTo>
                <a:close/>
                <a:moveTo>
                  <a:pt x="256" y="67"/>
                </a:moveTo>
                <a:lnTo>
                  <a:pt x="256" y="445"/>
                </a:lnTo>
                <a:cubicBezTo>
                  <a:pt x="394" y="378"/>
                  <a:pt x="431" y="230"/>
                  <a:pt x="432" y="142"/>
                </a:cubicBezTo>
                <a:lnTo>
                  <a:pt x="256" y="67"/>
                </a:lnTo>
                <a:lnTo>
                  <a:pt x="256" y="67"/>
                </a:lnTo>
                <a:close/>
              </a:path>
            </a:pathLst>
          </a:custGeom>
          <a:solidFill>
            <a:srgbClr val="009CDE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ea typeface="MiSans"/>
              <a:cs typeface="MiSans"/>
            </a:endParaRPr>
          </a:p>
        </p:txBody>
      </p:sp>
      <p:sp>
        <p:nvSpPr>
          <p:cNvPr id="175" name="l3-c4-icon">
            <a:extLst>
              <a:ext uri="{FF2B5EF4-FFF2-40B4-BE49-F238E27FC236}">
                <a16:creationId xmlns:a16="http://schemas.microsoft.com/office/drawing/2014/main" id="{F8A09099-E176-8385-97AF-E33D0EEFDA9B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eyJpY29uTmFtZSI6ImZhczprZXkifQ</pptd:icon>
              </p:ext>
            </p:extLst>
          </p:nvPr>
        </p:nvSpPr>
        <p:spPr>
          <a:xfrm>
            <a:off x="7001482" y="363345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336" y="352"/>
                </a:moveTo>
                <a:cubicBezTo>
                  <a:pt x="433" y="352"/>
                  <a:pt x="512" y="273"/>
                  <a:pt x="512" y="176"/>
                </a:cubicBezTo>
                <a:cubicBezTo>
                  <a:pt x="512" y="79"/>
                  <a:pt x="433" y="0"/>
                  <a:pt x="336" y="0"/>
                </a:cubicBezTo>
                <a:cubicBezTo>
                  <a:pt x="239" y="0"/>
                  <a:pt x="160" y="79"/>
                  <a:pt x="160" y="176"/>
                </a:cubicBezTo>
                <a:cubicBezTo>
                  <a:pt x="160" y="195"/>
                  <a:pt x="163" y="213"/>
                  <a:pt x="168" y="230"/>
                </a:cubicBezTo>
                <a:lnTo>
                  <a:pt x="7" y="391"/>
                </a:lnTo>
                <a:cubicBezTo>
                  <a:pt x="3" y="396"/>
                  <a:pt x="0" y="402"/>
                  <a:pt x="0" y="408"/>
                </a:cubicBezTo>
                <a:lnTo>
                  <a:pt x="0" y="488"/>
                </a:lnTo>
                <a:cubicBezTo>
                  <a:pt x="0" y="501"/>
                  <a:pt x="11" y="512"/>
                  <a:pt x="24" y="512"/>
                </a:cubicBezTo>
                <a:lnTo>
                  <a:pt x="104" y="512"/>
                </a:lnTo>
                <a:cubicBezTo>
                  <a:pt x="117" y="512"/>
                  <a:pt x="128" y="501"/>
                  <a:pt x="128" y="488"/>
                </a:cubicBezTo>
                <a:lnTo>
                  <a:pt x="128" y="448"/>
                </a:lnTo>
                <a:lnTo>
                  <a:pt x="168" y="448"/>
                </a:lnTo>
                <a:cubicBezTo>
                  <a:pt x="181" y="448"/>
                  <a:pt x="192" y="437"/>
                  <a:pt x="192" y="424"/>
                </a:cubicBezTo>
                <a:lnTo>
                  <a:pt x="192" y="384"/>
                </a:lnTo>
                <a:lnTo>
                  <a:pt x="232" y="384"/>
                </a:lnTo>
                <a:cubicBezTo>
                  <a:pt x="238" y="384"/>
                  <a:pt x="245" y="382"/>
                  <a:pt x="249" y="377"/>
                </a:cubicBezTo>
                <a:lnTo>
                  <a:pt x="282" y="344"/>
                </a:lnTo>
                <a:cubicBezTo>
                  <a:pt x="299" y="349"/>
                  <a:pt x="317" y="352"/>
                  <a:pt x="336" y="352"/>
                </a:cubicBezTo>
                <a:close/>
                <a:moveTo>
                  <a:pt x="376" y="96"/>
                </a:moveTo>
                <a:cubicBezTo>
                  <a:pt x="398" y="96"/>
                  <a:pt x="416" y="114"/>
                  <a:pt x="416" y="136"/>
                </a:cubicBezTo>
                <a:cubicBezTo>
                  <a:pt x="416" y="158"/>
                  <a:pt x="398" y="176"/>
                  <a:pt x="376" y="176"/>
                </a:cubicBezTo>
                <a:cubicBezTo>
                  <a:pt x="354" y="176"/>
                  <a:pt x="336" y="158"/>
                  <a:pt x="336" y="136"/>
                </a:cubicBezTo>
                <a:cubicBezTo>
                  <a:pt x="336" y="114"/>
                  <a:pt x="354" y="96"/>
                  <a:pt x="376" y="96"/>
                </a:cubicBezTo>
                <a:close/>
              </a:path>
            </a:pathLst>
          </a:custGeom>
          <a:solidFill>
            <a:srgbClr val="009CDE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ea typeface="MiSans"/>
              <a:cs typeface="MiSans"/>
            </a:endParaRPr>
          </a:p>
        </p:txBody>
      </p:sp>
      <p:sp>
        <p:nvSpPr>
          <p:cNvPr id="177" name="conn3-a1">
            <a:extLst>
              <a:ext uri="{FF2B5EF4-FFF2-40B4-BE49-F238E27FC236}">
                <a16:creationId xmlns:a16="http://schemas.microsoft.com/office/drawing/2014/main" id="{702929A5-55F3-DE1E-7602-D5E04BC24780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eyJpY29uTmFtZSI6ImZhczphcnJvdy1kb3duIn0</pptd:icon>
              </p:ext>
            </p:extLst>
          </p:nvPr>
        </p:nvSpPr>
        <p:spPr>
          <a:xfrm>
            <a:off x="3914775" y="4095564"/>
            <a:ext cx="85725" cy="123825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169" y="503"/>
                </a:moveTo>
                <a:cubicBezTo>
                  <a:pt x="182" y="515"/>
                  <a:pt x="202" y="515"/>
                  <a:pt x="215" y="503"/>
                </a:cubicBezTo>
                <a:lnTo>
                  <a:pt x="375" y="343"/>
                </a:lnTo>
                <a:cubicBezTo>
                  <a:pt x="387" y="330"/>
                  <a:pt x="387" y="310"/>
                  <a:pt x="375" y="297"/>
                </a:cubicBezTo>
                <a:cubicBezTo>
                  <a:pt x="362" y="285"/>
                  <a:pt x="342" y="285"/>
                  <a:pt x="329" y="297"/>
                </a:cubicBezTo>
                <a:lnTo>
                  <a:pt x="224" y="403"/>
                </a:lnTo>
                <a:lnTo>
                  <a:pt x="224" y="32"/>
                </a:lnTo>
                <a:cubicBezTo>
                  <a:pt x="224" y="14"/>
                  <a:pt x="210" y="0"/>
                  <a:pt x="192" y="0"/>
                </a:cubicBezTo>
                <a:cubicBezTo>
                  <a:pt x="174" y="0"/>
                  <a:pt x="160" y="14"/>
                  <a:pt x="160" y="32"/>
                </a:cubicBezTo>
                <a:lnTo>
                  <a:pt x="160" y="403"/>
                </a:lnTo>
                <a:lnTo>
                  <a:pt x="55" y="297"/>
                </a:lnTo>
                <a:cubicBezTo>
                  <a:pt x="42" y="285"/>
                  <a:pt x="22" y="285"/>
                  <a:pt x="9" y="297"/>
                </a:cubicBezTo>
                <a:cubicBezTo>
                  <a:pt x="-3" y="310"/>
                  <a:pt x="-3" y="330"/>
                  <a:pt x="9" y="343"/>
                </a:cubicBezTo>
                <a:lnTo>
                  <a:pt x="169" y="503"/>
                </a:lnTo>
                <a:close/>
              </a:path>
            </a:pathLst>
          </a:custGeom>
          <a:solidFill>
            <a:srgbClr val="2C7BD8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179" name="conn3-icon">
            <a:extLst>
              <a:ext uri="{FF2B5EF4-FFF2-40B4-BE49-F238E27FC236}">
                <a16:creationId xmlns:a16="http://schemas.microsoft.com/office/drawing/2014/main" id="{29777F58-921B-A664-3F81-2285D7D957AB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eyJpY29uTmFtZSI6ImZhczpsb2NrIn0</pptd:icon>
              </p:ext>
            </p:extLst>
          </p:nvPr>
        </p:nvSpPr>
        <p:spPr>
          <a:xfrm>
            <a:off x="4191000" y="4109851"/>
            <a:ext cx="95250" cy="9525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128" y="96"/>
                </a:moveTo>
                <a:lnTo>
                  <a:pt x="128" y="160"/>
                </a:lnTo>
                <a:lnTo>
                  <a:pt x="256" y="160"/>
                </a:lnTo>
                <a:lnTo>
                  <a:pt x="256" y="96"/>
                </a:lnTo>
                <a:cubicBezTo>
                  <a:pt x="256" y="61"/>
                  <a:pt x="227" y="32"/>
                  <a:pt x="192" y="32"/>
                </a:cubicBezTo>
                <a:cubicBezTo>
                  <a:pt x="157" y="32"/>
                  <a:pt x="128" y="61"/>
                  <a:pt x="128" y="96"/>
                </a:cubicBezTo>
                <a:close/>
                <a:moveTo>
                  <a:pt x="64" y="160"/>
                </a:moveTo>
                <a:lnTo>
                  <a:pt x="64" y="96"/>
                </a:lnTo>
                <a:cubicBezTo>
                  <a:pt x="64" y="25"/>
                  <a:pt x="121" y="-32"/>
                  <a:pt x="192" y="-32"/>
                </a:cubicBezTo>
                <a:cubicBezTo>
                  <a:pt x="263" y="-32"/>
                  <a:pt x="320" y="25"/>
                  <a:pt x="320" y="96"/>
                </a:cubicBezTo>
                <a:lnTo>
                  <a:pt x="320" y="160"/>
                </a:lnTo>
                <a:cubicBezTo>
                  <a:pt x="355" y="160"/>
                  <a:pt x="384" y="189"/>
                  <a:pt x="384" y="224"/>
                </a:cubicBezTo>
                <a:lnTo>
                  <a:pt x="384" y="448"/>
                </a:lnTo>
                <a:cubicBezTo>
                  <a:pt x="384" y="483"/>
                  <a:pt x="355" y="512"/>
                  <a:pt x="320" y="512"/>
                </a:cubicBezTo>
                <a:lnTo>
                  <a:pt x="64" y="512"/>
                </a:lnTo>
                <a:cubicBezTo>
                  <a:pt x="29" y="512"/>
                  <a:pt x="0" y="483"/>
                  <a:pt x="0" y="448"/>
                </a:cubicBezTo>
                <a:lnTo>
                  <a:pt x="0" y="224"/>
                </a:lnTo>
                <a:cubicBezTo>
                  <a:pt x="0" y="189"/>
                  <a:pt x="29" y="160"/>
                  <a:pt x="64" y="160"/>
                </a:cubicBezTo>
                <a:close/>
              </a:path>
            </a:pathLst>
          </a:custGeom>
          <a:solidFill>
            <a:srgbClr val="2C7BD8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181" name="conn3-text">
            <a:extLst>
              <a:ext uri="{FF2B5EF4-FFF2-40B4-BE49-F238E27FC236}">
                <a16:creationId xmlns:a16="http://schemas.microsoft.com/office/drawing/2014/main" id="{63E6F7FD-F85A-A690-E3C1-7A0A0789D5E2}"/>
              </a:ext>
            </a:extLst>
          </p:cNvPr>
          <p:cNvSpPr txBox="1"/>
          <p:nvPr/>
        </p:nvSpPr>
        <p:spPr>
          <a:xfrm>
            <a:off x="4324350" y="4086039"/>
            <a:ext cx="228600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638" b="1" noProof="1">
                <a:solidFill>
                  <a:srgbClr val="2C7BD8"/>
                </a:solidFill>
                <a:latin typeface="Calibri"/>
                <a:ea typeface="MiSans"/>
                <a:cs typeface="MiSans"/>
              </a:rPr>
              <a:t>ABFS · JDBC/ODBC · 私有端点</a:t>
            </a:r>
            <a:endParaRPr lang="en-US" sz="638" noProof="1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182" name="l1-c1">
            <a:extLst>
              <a:ext uri="{FF2B5EF4-FFF2-40B4-BE49-F238E27FC236}">
                <a16:creationId xmlns:a16="http://schemas.microsoft.com/office/drawing/2014/main" id="{F27B672E-67AB-D18D-F29F-D71F58BB0399}"/>
              </a:ext>
            </a:extLst>
          </p:cNvPr>
          <p:cNvSpPr/>
          <p:nvPr/>
        </p:nvSpPr>
        <p:spPr>
          <a:xfrm>
            <a:off x="1708836" y="4312343"/>
            <a:ext cx="1647774" cy="481118"/>
          </a:xfrm>
          <a:prstGeom prst="roundRect">
            <a:avLst>
              <a:gd name="adj" fmla="val 8000"/>
            </a:avLst>
          </a:prstGeom>
          <a:solidFill>
            <a:srgbClr val="FBFDFF"/>
          </a:solidFill>
          <a:ln w="12700">
            <a:solidFill>
              <a:srgbClr val="EDF1F6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cs typeface="MiSans"/>
            </a:endParaRPr>
          </a:p>
        </p:txBody>
      </p:sp>
      <p:sp>
        <p:nvSpPr>
          <p:cNvPr id="183" name="l1-c1">
            <a:extLst>
              <a:ext uri="{FF2B5EF4-FFF2-40B4-BE49-F238E27FC236}">
                <a16:creationId xmlns:a16="http://schemas.microsoft.com/office/drawing/2014/main" id="{B1C175A3-2AE0-EDA2-4805-C0ADF7B8ED62}"/>
              </a:ext>
            </a:extLst>
          </p:cNvPr>
          <p:cNvSpPr/>
          <p:nvPr/>
        </p:nvSpPr>
        <p:spPr>
          <a:xfrm>
            <a:off x="3426292" y="4312343"/>
            <a:ext cx="1647774" cy="481118"/>
          </a:xfrm>
          <a:prstGeom prst="roundRect">
            <a:avLst>
              <a:gd name="adj" fmla="val 8000"/>
            </a:avLst>
          </a:prstGeom>
          <a:solidFill>
            <a:srgbClr val="FBFDFF"/>
          </a:solidFill>
          <a:ln w="12700">
            <a:solidFill>
              <a:srgbClr val="EDF1F6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cs typeface="MiSans"/>
            </a:endParaRPr>
          </a:p>
        </p:txBody>
      </p:sp>
      <p:sp>
        <p:nvSpPr>
          <p:cNvPr id="184" name="l1-c1">
            <a:extLst>
              <a:ext uri="{FF2B5EF4-FFF2-40B4-BE49-F238E27FC236}">
                <a16:creationId xmlns:a16="http://schemas.microsoft.com/office/drawing/2014/main" id="{D3E09A1A-1BE3-D2CA-3784-C66328DBD67A}"/>
              </a:ext>
            </a:extLst>
          </p:cNvPr>
          <p:cNvSpPr/>
          <p:nvPr/>
        </p:nvSpPr>
        <p:spPr>
          <a:xfrm>
            <a:off x="5144774" y="4312343"/>
            <a:ext cx="1647774" cy="481118"/>
          </a:xfrm>
          <a:prstGeom prst="roundRect">
            <a:avLst>
              <a:gd name="adj" fmla="val 8000"/>
            </a:avLst>
          </a:prstGeom>
          <a:solidFill>
            <a:srgbClr val="FBFDFF"/>
          </a:solidFill>
          <a:ln w="12700">
            <a:solidFill>
              <a:srgbClr val="EDF1F6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cs typeface="MiSans"/>
            </a:endParaRPr>
          </a:p>
        </p:txBody>
      </p:sp>
      <p:sp>
        <p:nvSpPr>
          <p:cNvPr id="185" name="l1-c1">
            <a:extLst>
              <a:ext uri="{FF2B5EF4-FFF2-40B4-BE49-F238E27FC236}">
                <a16:creationId xmlns:a16="http://schemas.microsoft.com/office/drawing/2014/main" id="{C399D0EA-5AA9-8390-01AA-6DBCFC91095B}"/>
              </a:ext>
            </a:extLst>
          </p:cNvPr>
          <p:cNvSpPr/>
          <p:nvPr/>
        </p:nvSpPr>
        <p:spPr>
          <a:xfrm>
            <a:off x="6863256" y="4312343"/>
            <a:ext cx="1647774" cy="481118"/>
          </a:xfrm>
          <a:prstGeom prst="roundRect">
            <a:avLst>
              <a:gd name="adj" fmla="val 8000"/>
            </a:avLst>
          </a:prstGeom>
          <a:solidFill>
            <a:srgbClr val="FBFDFF"/>
          </a:solidFill>
          <a:ln w="12700">
            <a:solidFill>
              <a:srgbClr val="EDF1F6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cs typeface="MiSans"/>
            </a:endParaRPr>
          </a:p>
        </p:txBody>
      </p:sp>
      <p:sp>
        <p:nvSpPr>
          <p:cNvPr id="186" name="l1-c1-title">
            <a:extLst>
              <a:ext uri="{FF2B5EF4-FFF2-40B4-BE49-F238E27FC236}">
                <a16:creationId xmlns:a16="http://schemas.microsoft.com/office/drawing/2014/main" id="{88946840-1260-4202-CA41-C9DE895387C9}"/>
              </a:ext>
            </a:extLst>
          </p:cNvPr>
          <p:cNvSpPr txBox="1"/>
          <p:nvPr/>
        </p:nvSpPr>
        <p:spPr>
          <a:xfrm>
            <a:off x="2093079" y="4373744"/>
            <a:ext cx="1230230" cy="832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zh-CN" altLang="en-US" sz="800" b="1" noProof="1">
                <a:solidFill>
                  <a:srgbClr val="1F2430"/>
                </a:solidFill>
                <a:cs typeface="MiSans"/>
              </a:rPr>
              <a:t>结构化历史数据</a:t>
            </a:r>
          </a:p>
        </p:txBody>
      </p:sp>
      <p:sp>
        <p:nvSpPr>
          <p:cNvPr id="187" name="l1-c1-desc">
            <a:extLst>
              <a:ext uri="{FF2B5EF4-FFF2-40B4-BE49-F238E27FC236}">
                <a16:creationId xmlns:a16="http://schemas.microsoft.com/office/drawing/2014/main" id="{F4E03BD6-E3EA-DE19-FA7C-EF342A07C2D1}"/>
              </a:ext>
            </a:extLst>
          </p:cNvPr>
          <p:cNvSpPr txBox="1"/>
          <p:nvPr/>
        </p:nvSpPr>
        <p:spPr>
          <a:xfrm>
            <a:off x="2095719" y="4499732"/>
            <a:ext cx="1212401" cy="24332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/>
            <a:r>
              <a:rPr lang="en-US" altLang="zh-CN" sz="700" noProof="1">
                <a:solidFill>
                  <a:srgbClr val="6B7280"/>
                </a:solidFill>
                <a:cs typeface="MiSans"/>
              </a:rPr>
              <a:t>ADLS Gen2 + Iceberg Lakehouse </a:t>
            </a:r>
            <a:r>
              <a:rPr lang="zh-CN" altLang="en-US" sz="700" noProof="1">
                <a:solidFill>
                  <a:srgbClr val="6B7280"/>
                </a:solidFill>
                <a:cs typeface="MiSans"/>
              </a:rPr>
              <a:t>分层存储（</a:t>
            </a:r>
            <a:r>
              <a:rPr lang="en-US" altLang="zh-CN" sz="700" noProof="1">
                <a:solidFill>
                  <a:srgbClr val="6B7280"/>
                </a:solidFill>
                <a:cs typeface="MiSans"/>
              </a:rPr>
              <a:t>RAW → CURATED → SERVE</a:t>
            </a:r>
            <a:r>
              <a:rPr lang="zh-CN" altLang="en-US" sz="700" noProof="1">
                <a:solidFill>
                  <a:srgbClr val="6B7280"/>
                </a:solidFill>
                <a:cs typeface="MiSans"/>
              </a:rPr>
              <a:t>），支持 </a:t>
            </a:r>
            <a:r>
              <a:rPr lang="en-US" altLang="zh-CN" sz="700" noProof="1">
                <a:solidFill>
                  <a:srgbClr val="6B7280"/>
                </a:solidFill>
                <a:cs typeface="MiSans"/>
              </a:rPr>
              <a:t>PB </a:t>
            </a:r>
            <a:r>
              <a:rPr lang="zh-CN" altLang="en-US" sz="700" noProof="1">
                <a:solidFill>
                  <a:srgbClr val="6B7280"/>
                </a:solidFill>
                <a:cs typeface="MiSans"/>
              </a:rPr>
              <a:t>级容量</a:t>
            </a:r>
          </a:p>
        </p:txBody>
      </p:sp>
      <p:sp>
        <p:nvSpPr>
          <p:cNvPr id="188" name="l1-c1-title">
            <a:extLst>
              <a:ext uri="{FF2B5EF4-FFF2-40B4-BE49-F238E27FC236}">
                <a16:creationId xmlns:a16="http://schemas.microsoft.com/office/drawing/2014/main" id="{D8A0E771-3A54-4B22-130D-36EF7F5E3132}"/>
              </a:ext>
            </a:extLst>
          </p:cNvPr>
          <p:cNvSpPr txBox="1"/>
          <p:nvPr/>
        </p:nvSpPr>
        <p:spPr>
          <a:xfrm>
            <a:off x="3829366" y="4373744"/>
            <a:ext cx="1230230" cy="832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zh-CN" altLang="en-US" sz="800" b="1" noProof="1">
                <a:solidFill>
                  <a:srgbClr val="1F2430"/>
                </a:solidFill>
                <a:cs typeface="MiSans"/>
              </a:rPr>
              <a:t>非结构化附件</a:t>
            </a:r>
          </a:p>
        </p:txBody>
      </p:sp>
      <p:sp>
        <p:nvSpPr>
          <p:cNvPr id="189" name="l1-c1-desc">
            <a:extLst>
              <a:ext uri="{FF2B5EF4-FFF2-40B4-BE49-F238E27FC236}">
                <a16:creationId xmlns:a16="http://schemas.microsoft.com/office/drawing/2014/main" id="{2170B275-5B90-3ECC-7310-3FDBD695D6A5}"/>
              </a:ext>
            </a:extLst>
          </p:cNvPr>
          <p:cNvSpPr txBox="1"/>
          <p:nvPr/>
        </p:nvSpPr>
        <p:spPr>
          <a:xfrm>
            <a:off x="3832006" y="4499732"/>
            <a:ext cx="1212401" cy="24332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/>
            <a:r>
              <a:rPr lang="en-US" altLang="zh-CN" sz="700" noProof="1">
                <a:solidFill>
                  <a:srgbClr val="6B7280"/>
                </a:solidFill>
                <a:cs typeface="MiSans"/>
              </a:rPr>
              <a:t>Azure Blob </a:t>
            </a:r>
            <a:r>
              <a:rPr lang="zh-CN" altLang="en-US" sz="700" noProof="1">
                <a:solidFill>
                  <a:srgbClr val="6B7280"/>
                </a:solidFill>
                <a:cs typeface="MiSans"/>
              </a:rPr>
              <a:t>存储附件文件（</a:t>
            </a:r>
            <a:r>
              <a:rPr lang="en-US" altLang="zh-CN" sz="700" noProof="1">
                <a:solidFill>
                  <a:srgbClr val="6B7280"/>
                </a:solidFill>
                <a:cs typeface="MiSans"/>
              </a:rPr>
              <a:t>FNS</a:t>
            </a:r>
            <a:r>
              <a:rPr lang="zh-CN" altLang="en-US" sz="700" noProof="1">
                <a:solidFill>
                  <a:srgbClr val="6B7280"/>
                </a:solidFill>
                <a:cs typeface="MiSans"/>
              </a:rPr>
              <a:t>），</a:t>
            </a:r>
            <a:r>
              <a:rPr lang="en-US" altLang="zh-CN" sz="700" noProof="1">
                <a:solidFill>
                  <a:srgbClr val="6B7280"/>
                </a:solidFill>
                <a:cs typeface="MiSans"/>
              </a:rPr>
              <a:t>Cool-Cold </a:t>
            </a:r>
            <a:r>
              <a:rPr lang="zh-CN" altLang="en-US" sz="700" noProof="1">
                <a:solidFill>
                  <a:srgbClr val="6B7280"/>
                </a:solidFill>
                <a:cs typeface="MiSans"/>
              </a:rPr>
              <a:t>自动降冷，支持 </a:t>
            </a:r>
            <a:r>
              <a:rPr lang="en-US" altLang="zh-CN" sz="700" noProof="1">
                <a:solidFill>
                  <a:srgbClr val="6B7280"/>
                </a:solidFill>
                <a:cs typeface="MiSans"/>
              </a:rPr>
              <a:t>WORM</a:t>
            </a:r>
          </a:p>
        </p:txBody>
      </p:sp>
      <p:sp>
        <p:nvSpPr>
          <p:cNvPr id="190" name="l1-c1-title">
            <a:extLst>
              <a:ext uri="{FF2B5EF4-FFF2-40B4-BE49-F238E27FC236}">
                <a16:creationId xmlns:a16="http://schemas.microsoft.com/office/drawing/2014/main" id="{9C23A8DC-CF2F-B508-1B0B-4CC8ECC50F4F}"/>
              </a:ext>
            </a:extLst>
          </p:cNvPr>
          <p:cNvSpPr txBox="1"/>
          <p:nvPr/>
        </p:nvSpPr>
        <p:spPr>
          <a:xfrm>
            <a:off x="5550612" y="4373744"/>
            <a:ext cx="1230230" cy="832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zh-CN" altLang="en-US" sz="800" b="1" noProof="1">
                <a:solidFill>
                  <a:srgbClr val="1F2430"/>
                </a:solidFill>
                <a:cs typeface="MiSans"/>
              </a:rPr>
              <a:t>平台元数据</a:t>
            </a:r>
          </a:p>
        </p:txBody>
      </p:sp>
      <p:sp>
        <p:nvSpPr>
          <p:cNvPr id="191" name="l1-c1-desc">
            <a:extLst>
              <a:ext uri="{FF2B5EF4-FFF2-40B4-BE49-F238E27FC236}">
                <a16:creationId xmlns:a16="http://schemas.microsoft.com/office/drawing/2014/main" id="{D98552DA-2A74-57C6-A277-D3CDF41AD983}"/>
              </a:ext>
            </a:extLst>
          </p:cNvPr>
          <p:cNvSpPr txBox="1"/>
          <p:nvPr/>
        </p:nvSpPr>
        <p:spPr>
          <a:xfrm>
            <a:off x="5553252" y="4499732"/>
            <a:ext cx="1212401" cy="24332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/>
            <a:r>
              <a:rPr lang="en-US" altLang="zh-CN" sz="700" noProof="1">
                <a:solidFill>
                  <a:srgbClr val="6B7280"/>
                </a:solidFill>
                <a:cs typeface="MiSans"/>
              </a:rPr>
              <a:t>Azure SQL Database </a:t>
            </a:r>
            <a:r>
              <a:rPr lang="zh-CN" altLang="en-US" sz="700" noProof="1">
                <a:solidFill>
                  <a:srgbClr val="6B7280"/>
                </a:solidFill>
                <a:cs typeface="MiSans"/>
              </a:rPr>
              <a:t>存储系统台账、表清单、配置、保留策略与审计索引（</a:t>
            </a:r>
            <a:r>
              <a:rPr lang="en-US" altLang="zh-CN" sz="700" noProof="1">
                <a:solidFill>
                  <a:srgbClr val="6B7280"/>
                </a:solidFill>
                <a:cs typeface="MiSans"/>
              </a:rPr>
              <a:t>35 </a:t>
            </a:r>
            <a:r>
              <a:rPr lang="zh-CN" altLang="en-US" sz="700" noProof="1">
                <a:solidFill>
                  <a:srgbClr val="6B7280"/>
                </a:solidFill>
                <a:cs typeface="MiSans"/>
              </a:rPr>
              <a:t>张表）</a:t>
            </a:r>
          </a:p>
        </p:txBody>
      </p:sp>
      <p:sp>
        <p:nvSpPr>
          <p:cNvPr id="192" name="l1-c1-title">
            <a:extLst>
              <a:ext uri="{FF2B5EF4-FFF2-40B4-BE49-F238E27FC236}">
                <a16:creationId xmlns:a16="http://schemas.microsoft.com/office/drawing/2014/main" id="{E376DBD4-A776-E327-00BD-81D199C921BD}"/>
              </a:ext>
            </a:extLst>
          </p:cNvPr>
          <p:cNvSpPr txBox="1"/>
          <p:nvPr/>
        </p:nvSpPr>
        <p:spPr>
          <a:xfrm>
            <a:off x="7239400" y="4373744"/>
            <a:ext cx="1230230" cy="832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zh-CN" altLang="en-US" sz="800" b="1" noProof="1">
                <a:solidFill>
                  <a:srgbClr val="1F2430"/>
                </a:solidFill>
                <a:cs typeface="MiSans"/>
              </a:rPr>
              <a:t>监控与日志</a:t>
            </a:r>
          </a:p>
        </p:txBody>
      </p:sp>
      <p:sp>
        <p:nvSpPr>
          <p:cNvPr id="193" name="l1-c1-desc">
            <a:extLst>
              <a:ext uri="{FF2B5EF4-FFF2-40B4-BE49-F238E27FC236}">
                <a16:creationId xmlns:a16="http://schemas.microsoft.com/office/drawing/2014/main" id="{82E227C7-53A2-716E-8030-5D0634DB9899}"/>
              </a:ext>
            </a:extLst>
          </p:cNvPr>
          <p:cNvSpPr txBox="1"/>
          <p:nvPr/>
        </p:nvSpPr>
        <p:spPr>
          <a:xfrm>
            <a:off x="7242040" y="4499732"/>
            <a:ext cx="1212401" cy="24332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/>
            <a:r>
              <a:rPr lang="en-US" altLang="zh-CN" sz="700" noProof="1">
                <a:solidFill>
                  <a:srgbClr val="6B7280"/>
                </a:solidFill>
                <a:cs typeface="MiSans"/>
              </a:rPr>
              <a:t>App Insights + Azure Monitor</a:t>
            </a:r>
            <a:r>
              <a:rPr lang="zh-CN" altLang="en-US" sz="700" noProof="1">
                <a:solidFill>
                  <a:srgbClr val="6B7280"/>
                </a:solidFill>
                <a:cs typeface="MiSans"/>
              </a:rPr>
              <a:t>：指标、告警、审计流水留存，支持审计与运维可观测</a:t>
            </a:r>
          </a:p>
        </p:txBody>
      </p:sp>
      <p:sp>
        <p:nvSpPr>
          <p:cNvPr id="195" name="l4-c1-icon">
            <a:extLst>
              <a:ext uri="{FF2B5EF4-FFF2-40B4-BE49-F238E27FC236}">
                <a16:creationId xmlns:a16="http://schemas.microsoft.com/office/drawing/2014/main" id="{E9808FF5-9CF0-AFA7-240A-285E8513B496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eyJpY29uTmFtZSI6ImZhczpkYXRhYmFzZSJ9</pptd:icon>
              </p:ext>
            </p:extLst>
          </p:nvPr>
        </p:nvSpPr>
        <p:spPr>
          <a:xfrm>
            <a:off x="1821875" y="444131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48" y="206"/>
                </a:moveTo>
                <a:cubicBezTo>
                  <a:pt x="433" y="216"/>
                  <a:pt x="416" y="224"/>
                  <a:pt x="399" y="230"/>
                </a:cubicBezTo>
                <a:cubicBezTo>
                  <a:pt x="352" y="247"/>
                  <a:pt x="290" y="256"/>
                  <a:pt x="224" y="256"/>
                </a:cubicBezTo>
                <a:cubicBezTo>
                  <a:pt x="158" y="256"/>
                  <a:pt x="96" y="247"/>
                  <a:pt x="50" y="230"/>
                </a:cubicBezTo>
                <a:cubicBezTo>
                  <a:pt x="32" y="224"/>
                  <a:pt x="15" y="216"/>
                  <a:pt x="0" y="206"/>
                </a:cubicBezTo>
                <a:lnTo>
                  <a:pt x="0" y="288"/>
                </a:lnTo>
                <a:cubicBezTo>
                  <a:pt x="0" y="332"/>
                  <a:pt x="100" y="368"/>
                  <a:pt x="224" y="368"/>
                </a:cubicBezTo>
                <a:cubicBezTo>
                  <a:pt x="348" y="368"/>
                  <a:pt x="448" y="332"/>
                  <a:pt x="448" y="288"/>
                </a:cubicBezTo>
                <a:lnTo>
                  <a:pt x="448" y="206"/>
                </a:lnTo>
                <a:close/>
              </a:path>
              <a:path w="448" h="512">
                <a:moveTo>
                  <a:pt x="448" y="128"/>
                </a:moveTo>
                <a:lnTo>
                  <a:pt x="448" y="80"/>
                </a:lnTo>
                <a:cubicBezTo>
                  <a:pt x="448" y="36"/>
                  <a:pt x="348" y="0"/>
                  <a:pt x="224" y="0"/>
                </a:cubicBezTo>
                <a:cubicBezTo>
                  <a:pt x="100" y="0"/>
                  <a:pt x="0" y="36"/>
                  <a:pt x="0" y="80"/>
                </a:cubicBezTo>
                <a:lnTo>
                  <a:pt x="0" y="128"/>
                </a:lnTo>
                <a:cubicBezTo>
                  <a:pt x="0" y="172"/>
                  <a:pt x="100" y="208"/>
                  <a:pt x="224" y="208"/>
                </a:cubicBezTo>
                <a:cubicBezTo>
                  <a:pt x="348" y="208"/>
                  <a:pt x="448" y="172"/>
                  <a:pt x="448" y="128"/>
                </a:cubicBezTo>
                <a:close/>
              </a:path>
              <a:path w="448" h="512">
                <a:moveTo>
                  <a:pt x="399" y="390"/>
                </a:moveTo>
                <a:cubicBezTo>
                  <a:pt x="352" y="407"/>
                  <a:pt x="290" y="416"/>
                  <a:pt x="224" y="416"/>
                </a:cubicBezTo>
                <a:cubicBezTo>
                  <a:pt x="158" y="416"/>
                  <a:pt x="96" y="407"/>
                  <a:pt x="50" y="390"/>
                </a:cubicBezTo>
                <a:cubicBezTo>
                  <a:pt x="32" y="384"/>
                  <a:pt x="15" y="376"/>
                  <a:pt x="0" y="366"/>
                </a:cubicBezTo>
                <a:lnTo>
                  <a:pt x="0" y="432"/>
                </a:lnTo>
                <a:cubicBezTo>
                  <a:pt x="0" y="476"/>
                  <a:pt x="100" y="512"/>
                  <a:pt x="224" y="512"/>
                </a:cubicBezTo>
                <a:cubicBezTo>
                  <a:pt x="348" y="512"/>
                  <a:pt x="448" y="476"/>
                  <a:pt x="448" y="432"/>
                </a:cubicBezTo>
                <a:lnTo>
                  <a:pt x="448" y="366"/>
                </a:lnTo>
                <a:cubicBezTo>
                  <a:pt x="433" y="376"/>
                  <a:pt x="416" y="384"/>
                  <a:pt x="399" y="390"/>
                </a:cubicBezTo>
                <a:close/>
              </a:path>
            </a:pathLst>
          </a:custGeom>
          <a:solidFill>
            <a:srgbClr val="9DCAE3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197" name="l4-c2-icon">
            <a:extLst>
              <a:ext uri="{FF2B5EF4-FFF2-40B4-BE49-F238E27FC236}">
                <a16:creationId xmlns:a16="http://schemas.microsoft.com/office/drawing/2014/main" id="{5713B534-8A9A-3494-EEFD-A0C1B7D6DB7E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eyJpY29uTmFtZSI6ImZhczpmb2xkZXItb3BlbiJ9</pptd:icon>
              </p:ext>
            </p:extLst>
          </p:nvPr>
        </p:nvSpPr>
        <p:spPr>
          <a:xfrm>
            <a:off x="3563798" y="444131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56" y="226"/>
                </a:moveTo>
                <a:lnTo>
                  <a:pt x="32" y="296"/>
                </a:lnTo>
                <a:lnTo>
                  <a:pt x="32" y="96"/>
                </a:lnTo>
                <a:cubicBezTo>
                  <a:pt x="32" y="61"/>
                  <a:pt x="61" y="32"/>
                  <a:pt x="96" y="32"/>
                </a:cubicBezTo>
                <a:lnTo>
                  <a:pt x="235" y="32"/>
                </a:lnTo>
                <a:cubicBezTo>
                  <a:pt x="249" y="32"/>
                  <a:pt x="262" y="37"/>
                  <a:pt x="274" y="45"/>
                </a:cubicBezTo>
                <a:lnTo>
                  <a:pt x="312" y="74"/>
                </a:lnTo>
                <a:cubicBezTo>
                  <a:pt x="317" y="78"/>
                  <a:pt x="324" y="80"/>
                  <a:pt x="331" y="80"/>
                </a:cubicBezTo>
                <a:lnTo>
                  <a:pt x="448" y="80"/>
                </a:lnTo>
                <a:cubicBezTo>
                  <a:pt x="484" y="80"/>
                  <a:pt x="512" y="109"/>
                  <a:pt x="512" y="144"/>
                </a:cubicBezTo>
                <a:lnTo>
                  <a:pt x="512" y="160"/>
                </a:lnTo>
                <a:lnTo>
                  <a:pt x="147" y="160"/>
                </a:lnTo>
                <a:cubicBezTo>
                  <a:pt x="106" y="160"/>
                  <a:pt x="69" y="186"/>
                  <a:pt x="56" y="226"/>
                </a:cubicBezTo>
                <a:close/>
                <a:moveTo>
                  <a:pt x="478" y="448"/>
                </a:moveTo>
                <a:lnTo>
                  <a:pt x="99" y="448"/>
                </a:lnTo>
                <a:cubicBezTo>
                  <a:pt x="66" y="448"/>
                  <a:pt x="43" y="416"/>
                  <a:pt x="54" y="385"/>
                </a:cubicBezTo>
                <a:lnTo>
                  <a:pt x="102" y="241"/>
                </a:lnTo>
                <a:cubicBezTo>
                  <a:pt x="108" y="221"/>
                  <a:pt x="126" y="208"/>
                  <a:pt x="147" y="208"/>
                </a:cubicBezTo>
                <a:lnTo>
                  <a:pt x="526" y="208"/>
                </a:lnTo>
                <a:cubicBezTo>
                  <a:pt x="559" y="208"/>
                  <a:pt x="582" y="240"/>
                  <a:pt x="571" y="271"/>
                </a:cubicBezTo>
                <a:lnTo>
                  <a:pt x="523" y="415"/>
                </a:lnTo>
                <a:cubicBezTo>
                  <a:pt x="517" y="435"/>
                  <a:pt x="498" y="448"/>
                  <a:pt x="478" y="448"/>
                </a:cubicBezTo>
                <a:close/>
              </a:path>
            </a:pathLst>
          </a:custGeom>
          <a:solidFill>
            <a:srgbClr val="9DCAE3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199" name="l4-c3-icon">
            <a:extLst>
              <a:ext uri="{FF2B5EF4-FFF2-40B4-BE49-F238E27FC236}">
                <a16:creationId xmlns:a16="http://schemas.microsoft.com/office/drawing/2014/main" id="{E1DF6912-1292-2A9E-16DD-16C7310C8432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eyJpY29uTmFtZSI6ImZhczpzZXJ2ZXIifQ</pptd:icon>
              </p:ext>
            </p:extLst>
          </p:nvPr>
        </p:nvSpPr>
        <p:spPr>
          <a:xfrm>
            <a:off x="5286274" y="444131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160"/>
                </a:lnTo>
                <a:cubicBezTo>
                  <a:pt x="0" y="195"/>
                  <a:pt x="29" y="224"/>
                  <a:pt x="64" y="224"/>
                </a:cubicBezTo>
                <a:lnTo>
                  <a:pt x="384" y="224"/>
                </a:lnTo>
                <a:cubicBezTo>
                  <a:pt x="419" y="224"/>
                  <a:pt x="448" y="195"/>
                  <a:pt x="448" y="160"/>
                </a:cubicBezTo>
                <a:lnTo>
                  <a:pt x="448" y="96"/>
                </a:lnTo>
                <a:cubicBezTo>
                  <a:pt x="448" y="61"/>
                  <a:pt x="419" y="32"/>
                  <a:pt x="384" y="32"/>
                </a:cubicBezTo>
                <a:lnTo>
                  <a:pt x="64" y="32"/>
                </a:lnTo>
                <a:close/>
                <a:moveTo>
                  <a:pt x="280" y="104"/>
                </a:moveTo>
                <a:cubicBezTo>
                  <a:pt x="293" y="104"/>
                  <a:pt x="304" y="115"/>
                  <a:pt x="304" y="128"/>
                </a:cubicBezTo>
                <a:cubicBezTo>
                  <a:pt x="304" y="141"/>
                  <a:pt x="293" y="152"/>
                  <a:pt x="280" y="152"/>
                </a:cubicBezTo>
                <a:cubicBezTo>
                  <a:pt x="267" y="152"/>
                  <a:pt x="256" y="141"/>
                  <a:pt x="256" y="128"/>
                </a:cubicBezTo>
                <a:cubicBezTo>
                  <a:pt x="256" y="115"/>
                  <a:pt x="267" y="104"/>
                  <a:pt x="280" y="104"/>
                </a:cubicBezTo>
                <a:close/>
                <a:moveTo>
                  <a:pt x="336" y="128"/>
                </a:moveTo>
                <a:cubicBezTo>
                  <a:pt x="336" y="115"/>
                  <a:pt x="347" y="104"/>
                  <a:pt x="360" y="104"/>
                </a:cubicBezTo>
                <a:cubicBezTo>
                  <a:pt x="373" y="104"/>
                  <a:pt x="384" y="115"/>
                  <a:pt x="384" y="128"/>
                </a:cubicBezTo>
                <a:cubicBezTo>
                  <a:pt x="384" y="141"/>
                  <a:pt x="373" y="152"/>
                  <a:pt x="360" y="152"/>
                </a:cubicBezTo>
                <a:cubicBezTo>
                  <a:pt x="347" y="152"/>
                  <a:pt x="336" y="141"/>
                  <a:pt x="336" y="128"/>
                </a:cubicBezTo>
                <a:close/>
              </a:path>
              <a:path w="448" h="512">
                <a:moveTo>
                  <a:pt x="64" y="288"/>
                </a:moveTo>
                <a:cubicBezTo>
                  <a:pt x="29" y="288"/>
                  <a:pt x="0" y="317"/>
                  <a:pt x="0" y="352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384" y="480"/>
                </a:lnTo>
                <a:cubicBezTo>
                  <a:pt x="419" y="480"/>
                  <a:pt x="448" y="451"/>
                  <a:pt x="448" y="416"/>
                </a:cubicBezTo>
                <a:lnTo>
                  <a:pt x="448" y="352"/>
                </a:lnTo>
                <a:cubicBezTo>
                  <a:pt x="448" y="317"/>
                  <a:pt x="419" y="288"/>
                  <a:pt x="384" y="288"/>
                </a:cubicBezTo>
                <a:lnTo>
                  <a:pt x="64" y="288"/>
                </a:lnTo>
                <a:close/>
                <a:moveTo>
                  <a:pt x="280" y="360"/>
                </a:moveTo>
                <a:cubicBezTo>
                  <a:pt x="293" y="360"/>
                  <a:pt x="304" y="371"/>
                  <a:pt x="304" y="384"/>
                </a:cubicBezTo>
                <a:cubicBezTo>
                  <a:pt x="304" y="397"/>
                  <a:pt x="293" y="408"/>
                  <a:pt x="280" y="408"/>
                </a:cubicBezTo>
                <a:cubicBezTo>
                  <a:pt x="267" y="408"/>
                  <a:pt x="256" y="397"/>
                  <a:pt x="256" y="384"/>
                </a:cubicBezTo>
                <a:cubicBezTo>
                  <a:pt x="256" y="371"/>
                  <a:pt x="267" y="360"/>
                  <a:pt x="280" y="360"/>
                </a:cubicBezTo>
                <a:close/>
                <a:moveTo>
                  <a:pt x="336" y="384"/>
                </a:moveTo>
                <a:cubicBezTo>
                  <a:pt x="336" y="371"/>
                  <a:pt x="347" y="360"/>
                  <a:pt x="360" y="360"/>
                </a:cubicBezTo>
                <a:cubicBezTo>
                  <a:pt x="373" y="360"/>
                  <a:pt x="384" y="371"/>
                  <a:pt x="384" y="384"/>
                </a:cubicBezTo>
                <a:cubicBezTo>
                  <a:pt x="384" y="397"/>
                  <a:pt x="373" y="408"/>
                  <a:pt x="360" y="408"/>
                </a:cubicBezTo>
                <a:cubicBezTo>
                  <a:pt x="347" y="408"/>
                  <a:pt x="336" y="397"/>
                  <a:pt x="336" y="384"/>
                </a:cubicBezTo>
                <a:close/>
              </a:path>
            </a:pathLst>
          </a:custGeom>
          <a:solidFill>
            <a:srgbClr val="9DCAE3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201" name="l4-c4-icon">
            <a:extLst>
              <a:ext uri="{FF2B5EF4-FFF2-40B4-BE49-F238E27FC236}">
                <a16:creationId xmlns:a16="http://schemas.microsoft.com/office/drawing/2014/main" id="{97B05109-CC87-0444-91C2-4133CDEE9E7C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eyJpY29uTmFtZSI6ImZhczpkaXNwbGF5In0</pptd:icon>
              </p:ext>
            </p:extLst>
          </p:nvPr>
        </p:nvSpPr>
        <p:spPr>
          <a:xfrm>
            <a:off x="7001482" y="444131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448" y="96"/>
                </a:moveTo>
                <a:lnTo>
                  <a:pt x="448" y="352"/>
                </a:lnTo>
                <a:lnTo>
                  <a:pt x="64" y="352"/>
                </a:lnTo>
                <a:lnTo>
                  <a:pt x="64" y="96"/>
                </a:lnTo>
                <a:lnTo>
                  <a:pt x="448" y="96"/>
                </a:lnTo>
                <a:close/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352"/>
                </a:lnTo>
                <a:cubicBezTo>
                  <a:pt x="0" y="387"/>
                  <a:pt x="29" y="416"/>
                  <a:pt x="64" y="416"/>
                </a:cubicBezTo>
                <a:lnTo>
                  <a:pt x="208" y="416"/>
                </a:lnTo>
                <a:lnTo>
                  <a:pt x="192" y="464"/>
                </a:lnTo>
                <a:lnTo>
                  <a:pt x="120" y="464"/>
                </a:lnTo>
                <a:cubicBezTo>
                  <a:pt x="107" y="464"/>
                  <a:pt x="96" y="475"/>
                  <a:pt x="96" y="488"/>
                </a:cubicBezTo>
                <a:cubicBezTo>
                  <a:pt x="96" y="501"/>
                  <a:pt x="107" y="512"/>
                  <a:pt x="120" y="512"/>
                </a:cubicBezTo>
                <a:lnTo>
                  <a:pt x="392" y="512"/>
                </a:lnTo>
                <a:cubicBezTo>
                  <a:pt x="405" y="512"/>
                  <a:pt x="416" y="501"/>
                  <a:pt x="416" y="488"/>
                </a:cubicBezTo>
                <a:cubicBezTo>
                  <a:pt x="416" y="475"/>
                  <a:pt x="405" y="464"/>
                  <a:pt x="392" y="464"/>
                </a:cubicBezTo>
                <a:lnTo>
                  <a:pt x="320" y="464"/>
                </a:lnTo>
                <a:lnTo>
                  <a:pt x="304" y="416"/>
                </a:lnTo>
                <a:lnTo>
                  <a:pt x="448" y="416"/>
                </a:lnTo>
                <a:cubicBezTo>
                  <a:pt x="483" y="416"/>
                  <a:pt x="512" y="387"/>
                  <a:pt x="512" y="352"/>
                </a:cubicBezTo>
                <a:lnTo>
                  <a:pt x="512" y="96"/>
                </a:lnTo>
                <a:cubicBezTo>
                  <a:pt x="512" y="61"/>
                  <a:pt x="483" y="32"/>
                  <a:pt x="448" y="32"/>
                </a:cubicBezTo>
                <a:lnTo>
                  <a:pt x="64" y="32"/>
                </a:lnTo>
                <a:close/>
              </a:path>
            </a:pathLst>
          </a:custGeom>
          <a:solidFill>
            <a:srgbClr val="9DCAE3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203" name="l1-c2-icon">
            <a:extLst>
              <a:ext uri="{FF2B5EF4-FFF2-40B4-BE49-F238E27FC236}">
                <a16:creationId xmlns:a16="http://schemas.microsoft.com/office/drawing/2014/main" id="{B5D5100F-4674-C2F8-AA9A-752206FA7CB1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eyJpY29uTmFtZSI6ImZhczpmaWxlLWFycm93LWRvd24ifQ</pptd:icon>
              </p:ext>
            </p:extLst>
          </p:nvPr>
        </p:nvSpPr>
        <p:spPr>
          <a:xfrm>
            <a:off x="3543424" y="1510872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0" y="64"/>
                </a:moveTo>
                <a:cubicBezTo>
                  <a:pt x="0" y="29"/>
                  <a:pt x="29" y="0"/>
                  <a:pt x="64" y="0"/>
                </a:cubicBezTo>
                <a:lnTo>
                  <a:pt x="214" y="0"/>
                </a:lnTo>
                <a:cubicBezTo>
                  <a:pt x="231" y="0"/>
                  <a:pt x="247" y="7"/>
                  <a:pt x="259" y="19"/>
                </a:cubicBezTo>
                <a:lnTo>
                  <a:pt x="365" y="125"/>
                </a:lnTo>
                <a:cubicBezTo>
                  <a:pt x="377" y="137"/>
                  <a:pt x="384" y="154"/>
                  <a:pt x="384" y="171"/>
                </a:cubicBezTo>
                <a:lnTo>
                  <a:pt x="384" y="448"/>
                </a:lnTo>
                <a:cubicBezTo>
                  <a:pt x="384" y="483"/>
                  <a:pt x="355" y="512"/>
                  <a:pt x="320" y="512"/>
                </a:cubicBezTo>
                <a:lnTo>
                  <a:pt x="64" y="512"/>
                </a:lnTo>
                <a:cubicBezTo>
                  <a:pt x="29" y="512"/>
                  <a:pt x="0" y="483"/>
                  <a:pt x="0" y="448"/>
                </a:cubicBezTo>
                <a:lnTo>
                  <a:pt x="0" y="64"/>
                </a:lnTo>
                <a:close/>
                <a:moveTo>
                  <a:pt x="208" y="59"/>
                </a:moveTo>
                <a:lnTo>
                  <a:pt x="208" y="152"/>
                </a:lnTo>
                <a:cubicBezTo>
                  <a:pt x="208" y="165"/>
                  <a:pt x="219" y="176"/>
                  <a:pt x="232" y="176"/>
                </a:cubicBezTo>
                <a:lnTo>
                  <a:pt x="326" y="176"/>
                </a:lnTo>
                <a:lnTo>
                  <a:pt x="208" y="59"/>
                </a:lnTo>
                <a:close/>
                <a:moveTo>
                  <a:pt x="175" y="441"/>
                </a:moveTo>
                <a:cubicBezTo>
                  <a:pt x="184" y="450"/>
                  <a:pt x="200" y="450"/>
                  <a:pt x="209" y="441"/>
                </a:cubicBezTo>
                <a:lnTo>
                  <a:pt x="273" y="377"/>
                </a:lnTo>
                <a:cubicBezTo>
                  <a:pt x="282" y="368"/>
                  <a:pt x="282" y="352"/>
                  <a:pt x="273" y="343"/>
                </a:cubicBezTo>
                <a:cubicBezTo>
                  <a:pt x="264" y="334"/>
                  <a:pt x="248" y="334"/>
                  <a:pt x="239" y="343"/>
                </a:cubicBezTo>
                <a:lnTo>
                  <a:pt x="216" y="366"/>
                </a:lnTo>
                <a:lnTo>
                  <a:pt x="216" y="280"/>
                </a:lnTo>
                <a:cubicBezTo>
                  <a:pt x="216" y="267"/>
                  <a:pt x="205" y="256"/>
                  <a:pt x="192" y="256"/>
                </a:cubicBezTo>
                <a:cubicBezTo>
                  <a:pt x="179" y="256"/>
                  <a:pt x="168" y="267"/>
                  <a:pt x="168" y="280"/>
                </a:cubicBezTo>
                <a:lnTo>
                  <a:pt x="168" y="366"/>
                </a:lnTo>
                <a:lnTo>
                  <a:pt x="145" y="343"/>
                </a:lnTo>
                <a:cubicBezTo>
                  <a:pt x="136" y="334"/>
                  <a:pt x="120" y="334"/>
                  <a:pt x="111" y="343"/>
                </a:cubicBezTo>
                <a:cubicBezTo>
                  <a:pt x="102" y="353"/>
                  <a:pt x="102" y="368"/>
                  <a:pt x="111" y="377"/>
                </a:cubicBezTo>
                <a:lnTo>
                  <a:pt x="175" y="441"/>
                </a:lnTo>
                <a:close/>
              </a:path>
            </a:pathLst>
          </a:custGeom>
          <a:solidFill>
            <a:srgbClr val="004F71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207" name="l1-c3-icon">
            <a:extLst>
              <a:ext uri="{FF2B5EF4-FFF2-40B4-BE49-F238E27FC236}">
                <a16:creationId xmlns:a16="http://schemas.microsoft.com/office/drawing/2014/main" id="{4BDA57FC-0996-926B-821D-7723D09F654E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eyJpY29uTmFtZSI6ImZhczpjaGFydC1jb2x1bW4ifQ</pptd:icon>
              </p:ext>
            </p:extLst>
          </p:nvPr>
        </p:nvSpPr>
        <p:spPr>
          <a:xfrm>
            <a:off x="5239750" y="1511263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32" y="32"/>
                </a:moveTo>
                <a:cubicBezTo>
                  <a:pt x="50" y="32"/>
                  <a:pt x="64" y="46"/>
                  <a:pt x="64" y="64"/>
                </a:cubicBezTo>
                <a:lnTo>
                  <a:pt x="64" y="400"/>
                </a:lnTo>
                <a:cubicBezTo>
                  <a:pt x="64" y="409"/>
                  <a:pt x="71" y="416"/>
                  <a:pt x="80" y="416"/>
                </a:cubicBezTo>
                <a:lnTo>
                  <a:pt x="480" y="416"/>
                </a:lnTo>
                <a:cubicBezTo>
                  <a:pt x="498" y="416"/>
                  <a:pt x="512" y="430"/>
                  <a:pt x="512" y="448"/>
                </a:cubicBezTo>
                <a:cubicBezTo>
                  <a:pt x="512" y="466"/>
                  <a:pt x="498" y="480"/>
                  <a:pt x="480" y="480"/>
                </a:cubicBezTo>
                <a:lnTo>
                  <a:pt x="80" y="480"/>
                </a:lnTo>
                <a:cubicBezTo>
                  <a:pt x="36" y="480"/>
                  <a:pt x="0" y="444"/>
                  <a:pt x="0" y="400"/>
                </a:cubicBezTo>
                <a:lnTo>
                  <a:pt x="0" y="64"/>
                </a:lnTo>
                <a:cubicBezTo>
                  <a:pt x="0" y="46"/>
                  <a:pt x="14" y="32"/>
                  <a:pt x="32" y="32"/>
                </a:cubicBezTo>
                <a:close/>
              </a:path>
              <a:path w="512" h="512">
                <a:moveTo>
                  <a:pt x="144" y="224"/>
                </a:moveTo>
                <a:cubicBezTo>
                  <a:pt x="162" y="224"/>
                  <a:pt x="176" y="238"/>
                  <a:pt x="176" y="256"/>
                </a:cubicBezTo>
                <a:lnTo>
                  <a:pt x="176" y="320"/>
                </a:lnTo>
                <a:cubicBezTo>
                  <a:pt x="176" y="338"/>
                  <a:pt x="162" y="352"/>
                  <a:pt x="144" y="352"/>
                </a:cubicBezTo>
                <a:cubicBezTo>
                  <a:pt x="126" y="352"/>
                  <a:pt x="112" y="338"/>
                  <a:pt x="112" y="320"/>
                </a:cubicBezTo>
                <a:lnTo>
                  <a:pt x="112" y="256"/>
                </a:lnTo>
                <a:cubicBezTo>
                  <a:pt x="112" y="238"/>
                  <a:pt x="126" y="224"/>
                  <a:pt x="144" y="224"/>
                </a:cubicBezTo>
                <a:close/>
              </a:path>
              <a:path w="512" h="512">
                <a:moveTo>
                  <a:pt x="288" y="160"/>
                </a:moveTo>
                <a:lnTo>
                  <a:pt x="288" y="320"/>
                </a:lnTo>
                <a:cubicBezTo>
                  <a:pt x="288" y="338"/>
                  <a:pt x="274" y="352"/>
                  <a:pt x="256" y="352"/>
                </a:cubicBezTo>
                <a:cubicBezTo>
                  <a:pt x="238" y="352"/>
                  <a:pt x="224" y="338"/>
                  <a:pt x="224" y="320"/>
                </a:cubicBezTo>
                <a:lnTo>
                  <a:pt x="224" y="160"/>
                </a:lnTo>
                <a:cubicBezTo>
                  <a:pt x="224" y="142"/>
                  <a:pt x="238" y="128"/>
                  <a:pt x="256" y="128"/>
                </a:cubicBezTo>
                <a:cubicBezTo>
                  <a:pt x="274" y="128"/>
                  <a:pt x="288" y="142"/>
                  <a:pt x="288" y="160"/>
                </a:cubicBezTo>
                <a:close/>
              </a:path>
              <a:path w="512" h="512">
                <a:moveTo>
                  <a:pt x="368" y="192"/>
                </a:moveTo>
                <a:cubicBezTo>
                  <a:pt x="386" y="192"/>
                  <a:pt x="400" y="206"/>
                  <a:pt x="400" y="224"/>
                </a:cubicBezTo>
                <a:lnTo>
                  <a:pt x="400" y="320"/>
                </a:lnTo>
                <a:cubicBezTo>
                  <a:pt x="400" y="338"/>
                  <a:pt x="386" y="352"/>
                  <a:pt x="368" y="352"/>
                </a:cubicBezTo>
                <a:cubicBezTo>
                  <a:pt x="350" y="352"/>
                  <a:pt x="336" y="338"/>
                  <a:pt x="336" y="320"/>
                </a:cubicBezTo>
                <a:lnTo>
                  <a:pt x="336" y="224"/>
                </a:lnTo>
                <a:cubicBezTo>
                  <a:pt x="336" y="206"/>
                  <a:pt x="350" y="192"/>
                  <a:pt x="368" y="192"/>
                </a:cubicBezTo>
                <a:close/>
              </a:path>
              <a:path w="512" h="512">
                <a:moveTo>
                  <a:pt x="512" y="96"/>
                </a:moveTo>
                <a:lnTo>
                  <a:pt x="512" y="320"/>
                </a:lnTo>
                <a:cubicBezTo>
                  <a:pt x="512" y="338"/>
                  <a:pt x="498" y="352"/>
                  <a:pt x="480" y="352"/>
                </a:cubicBezTo>
                <a:cubicBezTo>
                  <a:pt x="462" y="352"/>
                  <a:pt x="448" y="338"/>
                  <a:pt x="448" y="320"/>
                </a:cubicBezTo>
                <a:lnTo>
                  <a:pt x="448" y="96"/>
                </a:lnTo>
                <a:cubicBezTo>
                  <a:pt x="448" y="78"/>
                  <a:pt x="462" y="64"/>
                  <a:pt x="480" y="64"/>
                </a:cubicBezTo>
                <a:cubicBezTo>
                  <a:pt x="498" y="64"/>
                  <a:pt x="512" y="78"/>
                  <a:pt x="512" y="96"/>
                </a:cubicBezTo>
                <a:close/>
              </a:path>
            </a:pathLst>
          </a:custGeom>
          <a:solidFill>
            <a:srgbClr val="004F71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209" name="l1-c4-icon">
            <a:extLst>
              <a:ext uri="{FF2B5EF4-FFF2-40B4-BE49-F238E27FC236}">
                <a16:creationId xmlns:a16="http://schemas.microsoft.com/office/drawing/2014/main" id="{B4A30907-3C36-9F7D-D99A-0FB7AE59BC55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eyJpY29uTmFtZSI6ImZhczp1c2VyLXNoaWVsZCJ9</pptd:icon>
              </p:ext>
            </p:extLst>
          </p:nvPr>
        </p:nvSpPr>
        <p:spPr>
          <a:xfrm>
            <a:off x="6943502" y="1511263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224" y="248"/>
                </a:moveTo>
                <a:cubicBezTo>
                  <a:pt x="290" y="248"/>
                  <a:pt x="344" y="194"/>
                  <a:pt x="344" y="128"/>
                </a:cubicBezTo>
                <a:cubicBezTo>
                  <a:pt x="344" y="62"/>
                  <a:pt x="290" y="8"/>
                  <a:pt x="224" y="8"/>
                </a:cubicBezTo>
                <a:cubicBezTo>
                  <a:pt x="158" y="8"/>
                  <a:pt x="104" y="62"/>
                  <a:pt x="104" y="128"/>
                </a:cubicBezTo>
                <a:cubicBezTo>
                  <a:pt x="104" y="194"/>
                  <a:pt x="158" y="248"/>
                  <a:pt x="224" y="248"/>
                </a:cubicBezTo>
                <a:close/>
              </a:path>
              <a:path w="576" h="512">
                <a:moveTo>
                  <a:pt x="194" y="304"/>
                </a:moveTo>
                <a:cubicBezTo>
                  <a:pt x="96" y="304"/>
                  <a:pt x="16" y="384"/>
                  <a:pt x="16" y="482"/>
                </a:cubicBezTo>
                <a:cubicBezTo>
                  <a:pt x="16" y="499"/>
                  <a:pt x="29" y="512"/>
                  <a:pt x="46" y="512"/>
                </a:cubicBezTo>
                <a:lnTo>
                  <a:pt x="297" y="512"/>
                </a:lnTo>
                <a:cubicBezTo>
                  <a:pt x="261" y="469"/>
                  <a:pt x="240" y="415"/>
                  <a:pt x="240" y="356"/>
                </a:cubicBezTo>
                <a:lnTo>
                  <a:pt x="240" y="325"/>
                </a:lnTo>
                <a:cubicBezTo>
                  <a:pt x="240" y="318"/>
                  <a:pt x="241" y="311"/>
                  <a:pt x="243" y="304"/>
                </a:cubicBezTo>
                <a:lnTo>
                  <a:pt x="194" y="304"/>
                </a:lnTo>
                <a:close/>
              </a:path>
              <a:path w="576" h="512">
                <a:moveTo>
                  <a:pt x="422" y="260"/>
                </a:moveTo>
                <a:lnTo>
                  <a:pt x="310" y="297"/>
                </a:lnTo>
                <a:cubicBezTo>
                  <a:pt x="297" y="301"/>
                  <a:pt x="288" y="313"/>
                  <a:pt x="288" y="327"/>
                </a:cubicBezTo>
                <a:lnTo>
                  <a:pt x="288" y="358"/>
                </a:lnTo>
                <a:cubicBezTo>
                  <a:pt x="288" y="433"/>
                  <a:pt x="331" y="500"/>
                  <a:pt x="398" y="532"/>
                </a:cubicBezTo>
                <a:lnTo>
                  <a:pt x="417" y="541"/>
                </a:lnTo>
                <a:cubicBezTo>
                  <a:pt x="422" y="543"/>
                  <a:pt x="427" y="544"/>
                  <a:pt x="432" y="544"/>
                </a:cubicBezTo>
                <a:cubicBezTo>
                  <a:pt x="437" y="544"/>
                  <a:pt x="442" y="543"/>
                  <a:pt x="447" y="541"/>
                </a:cubicBezTo>
                <a:lnTo>
                  <a:pt x="466" y="532"/>
                </a:lnTo>
                <a:cubicBezTo>
                  <a:pt x="533" y="500"/>
                  <a:pt x="576" y="433"/>
                  <a:pt x="576" y="358"/>
                </a:cubicBezTo>
                <a:lnTo>
                  <a:pt x="576" y="327"/>
                </a:lnTo>
                <a:cubicBezTo>
                  <a:pt x="576" y="313"/>
                  <a:pt x="567" y="301"/>
                  <a:pt x="554" y="297"/>
                </a:cubicBezTo>
                <a:lnTo>
                  <a:pt x="442" y="259"/>
                </a:lnTo>
                <a:cubicBezTo>
                  <a:pt x="436" y="257"/>
                  <a:pt x="428" y="257"/>
                  <a:pt x="422" y="259"/>
                </a:cubicBezTo>
                <a:close/>
                <a:moveTo>
                  <a:pt x="445" y="489"/>
                </a:moveTo>
                <a:lnTo>
                  <a:pt x="432" y="495"/>
                </a:lnTo>
                <a:lnTo>
                  <a:pt x="432" y="307"/>
                </a:lnTo>
                <a:lnTo>
                  <a:pt x="528" y="339"/>
                </a:lnTo>
                <a:lnTo>
                  <a:pt x="528" y="358"/>
                </a:lnTo>
                <a:cubicBezTo>
                  <a:pt x="528" y="414"/>
                  <a:pt x="496" y="465"/>
                  <a:pt x="445" y="489"/>
                </a:cubicBezTo>
                <a:close/>
              </a:path>
            </a:pathLst>
          </a:custGeom>
          <a:solidFill>
            <a:srgbClr val="004F71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211" name="l2-c1-icon">
            <a:extLst>
              <a:ext uri="{FF2B5EF4-FFF2-40B4-BE49-F238E27FC236}">
                <a16:creationId xmlns:a16="http://schemas.microsoft.com/office/drawing/2014/main" id="{D3717B47-BE31-4C09-629E-5342C874C7D5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eyJpY29uTmFtZSI6ImZhczp1c2VyLWNoZWNrIn0</pptd:icon>
              </p:ext>
            </p:extLst>
          </p:nvPr>
        </p:nvSpPr>
        <p:spPr>
          <a:xfrm>
            <a:off x="1743332" y="2243478"/>
            <a:ext cx="168341" cy="142875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286" y="304"/>
                </a:moveTo>
                <a:cubicBezTo>
                  <a:pt x="385" y="304"/>
                  <a:pt x="464" y="384"/>
                  <a:pt x="464" y="482"/>
                </a:cubicBezTo>
                <a:cubicBezTo>
                  <a:pt x="464" y="499"/>
                  <a:pt x="451" y="512"/>
                  <a:pt x="435" y="512"/>
                </a:cubicBezTo>
                <a:lnTo>
                  <a:pt x="78" y="512"/>
                </a:lnTo>
                <a:cubicBezTo>
                  <a:pt x="62" y="512"/>
                  <a:pt x="48" y="499"/>
                  <a:pt x="48" y="482"/>
                </a:cubicBezTo>
                <a:cubicBezTo>
                  <a:pt x="48" y="384"/>
                  <a:pt x="128" y="304"/>
                  <a:pt x="227" y="304"/>
                </a:cubicBezTo>
                <a:lnTo>
                  <a:pt x="286" y="304"/>
                </a:lnTo>
                <a:close/>
              </a:path>
              <a:path w="640" h="512">
                <a:moveTo>
                  <a:pt x="586" y="106"/>
                </a:moveTo>
                <a:cubicBezTo>
                  <a:pt x="594" y="95"/>
                  <a:pt x="609" y="93"/>
                  <a:pt x="619" y="101"/>
                </a:cubicBezTo>
                <a:cubicBezTo>
                  <a:pt x="630" y="108"/>
                  <a:pt x="632" y="123"/>
                  <a:pt x="625" y="134"/>
                </a:cubicBezTo>
                <a:lnTo>
                  <a:pt x="522" y="275"/>
                </a:lnTo>
                <a:cubicBezTo>
                  <a:pt x="518" y="281"/>
                  <a:pt x="511" y="284"/>
                  <a:pt x="504" y="285"/>
                </a:cubicBezTo>
                <a:cubicBezTo>
                  <a:pt x="497" y="285"/>
                  <a:pt x="490" y="283"/>
                  <a:pt x="486" y="277"/>
                </a:cubicBezTo>
                <a:lnTo>
                  <a:pt x="439" y="229"/>
                </a:lnTo>
                <a:cubicBezTo>
                  <a:pt x="430" y="220"/>
                  <a:pt x="430" y="205"/>
                  <a:pt x="440" y="195"/>
                </a:cubicBezTo>
                <a:cubicBezTo>
                  <a:pt x="449" y="186"/>
                  <a:pt x="464" y="187"/>
                  <a:pt x="474" y="196"/>
                </a:cubicBezTo>
                <a:lnTo>
                  <a:pt x="500" y="223"/>
                </a:lnTo>
                <a:lnTo>
                  <a:pt x="586" y="106"/>
                </a:lnTo>
                <a:close/>
              </a:path>
              <a:path w="640" h="512">
                <a:moveTo>
                  <a:pt x="256" y="248"/>
                </a:moveTo>
                <a:cubicBezTo>
                  <a:pt x="190" y="248"/>
                  <a:pt x="136" y="194"/>
                  <a:pt x="136" y="128"/>
                </a:cubicBezTo>
                <a:cubicBezTo>
                  <a:pt x="136" y="62"/>
                  <a:pt x="190" y="8"/>
                  <a:pt x="256" y="8"/>
                </a:cubicBezTo>
                <a:cubicBezTo>
                  <a:pt x="323" y="8"/>
                  <a:pt x="376" y="62"/>
                  <a:pt x="376" y="128"/>
                </a:cubicBezTo>
                <a:cubicBezTo>
                  <a:pt x="376" y="194"/>
                  <a:pt x="323" y="248"/>
                  <a:pt x="256" y="248"/>
                </a:cubicBezTo>
                <a:close/>
              </a:path>
            </a:pathLst>
          </a:custGeom>
          <a:solidFill>
            <a:srgbClr val="2A83C8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213" name="l2-c2-icon">
            <a:extLst>
              <a:ext uri="{FF2B5EF4-FFF2-40B4-BE49-F238E27FC236}">
                <a16:creationId xmlns:a16="http://schemas.microsoft.com/office/drawing/2014/main" id="{4D0FDBA4-4DF1-05CB-B47F-A6AE9AB1683B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eyJpY29uTmFtZSI6ImZhczpkYXRhYmFzZSJ9</pptd:icon>
              </p:ext>
            </p:extLst>
          </p:nvPr>
        </p:nvSpPr>
        <p:spPr>
          <a:xfrm>
            <a:off x="3150013" y="2243478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48" y="206"/>
                </a:moveTo>
                <a:cubicBezTo>
                  <a:pt x="433" y="216"/>
                  <a:pt x="416" y="224"/>
                  <a:pt x="399" y="230"/>
                </a:cubicBezTo>
                <a:cubicBezTo>
                  <a:pt x="352" y="247"/>
                  <a:pt x="290" y="256"/>
                  <a:pt x="224" y="256"/>
                </a:cubicBezTo>
                <a:cubicBezTo>
                  <a:pt x="158" y="256"/>
                  <a:pt x="96" y="247"/>
                  <a:pt x="50" y="230"/>
                </a:cubicBezTo>
                <a:cubicBezTo>
                  <a:pt x="32" y="224"/>
                  <a:pt x="15" y="216"/>
                  <a:pt x="0" y="206"/>
                </a:cubicBezTo>
                <a:lnTo>
                  <a:pt x="0" y="288"/>
                </a:lnTo>
                <a:cubicBezTo>
                  <a:pt x="0" y="332"/>
                  <a:pt x="100" y="368"/>
                  <a:pt x="224" y="368"/>
                </a:cubicBezTo>
                <a:cubicBezTo>
                  <a:pt x="348" y="368"/>
                  <a:pt x="448" y="332"/>
                  <a:pt x="448" y="288"/>
                </a:cubicBezTo>
                <a:lnTo>
                  <a:pt x="448" y="206"/>
                </a:lnTo>
                <a:close/>
              </a:path>
              <a:path w="448" h="512">
                <a:moveTo>
                  <a:pt x="448" y="128"/>
                </a:moveTo>
                <a:lnTo>
                  <a:pt x="448" y="80"/>
                </a:lnTo>
                <a:cubicBezTo>
                  <a:pt x="448" y="36"/>
                  <a:pt x="348" y="0"/>
                  <a:pt x="224" y="0"/>
                </a:cubicBezTo>
                <a:cubicBezTo>
                  <a:pt x="100" y="0"/>
                  <a:pt x="0" y="36"/>
                  <a:pt x="0" y="80"/>
                </a:cubicBezTo>
                <a:lnTo>
                  <a:pt x="0" y="128"/>
                </a:lnTo>
                <a:cubicBezTo>
                  <a:pt x="0" y="172"/>
                  <a:pt x="100" y="208"/>
                  <a:pt x="224" y="208"/>
                </a:cubicBezTo>
                <a:cubicBezTo>
                  <a:pt x="348" y="208"/>
                  <a:pt x="448" y="172"/>
                  <a:pt x="448" y="128"/>
                </a:cubicBezTo>
                <a:close/>
              </a:path>
              <a:path w="448" h="512">
                <a:moveTo>
                  <a:pt x="399" y="390"/>
                </a:moveTo>
                <a:cubicBezTo>
                  <a:pt x="352" y="407"/>
                  <a:pt x="290" y="416"/>
                  <a:pt x="224" y="416"/>
                </a:cubicBezTo>
                <a:cubicBezTo>
                  <a:pt x="158" y="416"/>
                  <a:pt x="96" y="407"/>
                  <a:pt x="50" y="390"/>
                </a:cubicBezTo>
                <a:cubicBezTo>
                  <a:pt x="32" y="384"/>
                  <a:pt x="15" y="376"/>
                  <a:pt x="0" y="366"/>
                </a:cubicBezTo>
                <a:lnTo>
                  <a:pt x="0" y="432"/>
                </a:lnTo>
                <a:cubicBezTo>
                  <a:pt x="0" y="476"/>
                  <a:pt x="100" y="512"/>
                  <a:pt x="224" y="512"/>
                </a:cubicBezTo>
                <a:cubicBezTo>
                  <a:pt x="348" y="512"/>
                  <a:pt x="448" y="476"/>
                  <a:pt x="448" y="432"/>
                </a:cubicBezTo>
                <a:lnTo>
                  <a:pt x="448" y="366"/>
                </a:lnTo>
                <a:cubicBezTo>
                  <a:pt x="433" y="376"/>
                  <a:pt x="416" y="384"/>
                  <a:pt x="399" y="390"/>
                </a:cubicBezTo>
                <a:close/>
              </a:path>
            </a:pathLst>
          </a:custGeom>
          <a:solidFill>
            <a:srgbClr val="2A83C8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215" name="l2-c3-icon">
            <a:extLst>
              <a:ext uri="{FF2B5EF4-FFF2-40B4-BE49-F238E27FC236}">
                <a16:creationId xmlns:a16="http://schemas.microsoft.com/office/drawing/2014/main" id="{04A422B2-855B-AC29-C85F-4ED5C89A8D17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eyJpY29uTmFtZSI6ImZhczptYWduaWZ5aW5nLWdsYXNzIn0</pptd:icon>
              </p:ext>
            </p:extLst>
          </p:nvPr>
        </p:nvSpPr>
        <p:spPr>
          <a:xfrm>
            <a:off x="4545636" y="2243478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416" y="208"/>
                </a:moveTo>
                <a:cubicBezTo>
                  <a:pt x="416" y="254"/>
                  <a:pt x="401" y="296"/>
                  <a:pt x="376" y="331"/>
                </a:cubicBezTo>
                <a:lnTo>
                  <a:pt x="503" y="457"/>
                </a:lnTo>
                <a:cubicBezTo>
                  <a:pt x="515" y="470"/>
                  <a:pt x="515" y="490"/>
                  <a:pt x="503" y="503"/>
                </a:cubicBezTo>
                <a:cubicBezTo>
                  <a:pt x="490" y="515"/>
                  <a:pt x="470" y="515"/>
                  <a:pt x="457" y="503"/>
                </a:cubicBezTo>
                <a:lnTo>
                  <a:pt x="331" y="376"/>
                </a:lnTo>
                <a:cubicBezTo>
                  <a:pt x="296" y="401"/>
                  <a:pt x="254" y="416"/>
                  <a:pt x="208" y="416"/>
                </a:cubicBezTo>
                <a:cubicBezTo>
                  <a:pt x="93" y="416"/>
                  <a:pt x="0" y="323"/>
                  <a:pt x="0" y="208"/>
                </a:cubicBezTo>
                <a:cubicBezTo>
                  <a:pt x="0" y="93"/>
                  <a:pt x="93" y="0"/>
                  <a:pt x="208" y="0"/>
                </a:cubicBezTo>
                <a:cubicBezTo>
                  <a:pt x="323" y="0"/>
                  <a:pt x="416" y="93"/>
                  <a:pt x="416" y="208"/>
                </a:cubicBezTo>
                <a:close/>
                <a:moveTo>
                  <a:pt x="208" y="352"/>
                </a:moveTo>
                <a:cubicBezTo>
                  <a:pt x="288" y="352"/>
                  <a:pt x="352" y="288"/>
                  <a:pt x="352" y="208"/>
                </a:cubicBezTo>
                <a:cubicBezTo>
                  <a:pt x="352" y="128"/>
                  <a:pt x="288" y="64"/>
                  <a:pt x="208" y="64"/>
                </a:cubicBezTo>
                <a:cubicBezTo>
                  <a:pt x="128" y="64"/>
                  <a:pt x="64" y="128"/>
                  <a:pt x="64" y="208"/>
                </a:cubicBezTo>
                <a:cubicBezTo>
                  <a:pt x="64" y="288"/>
                  <a:pt x="128" y="352"/>
                  <a:pt x="208" y="352"/>
                </a:cubicBezTo>
                <a:close/>
              </a:path>
            </a:pathLst>
          </a:custGeom>
          <a:solidFill>
            <a:srgbClr val="2A83C8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217" name="l2-c4-icon">
            <a:extLst>
              <a:ext uri="{FF2B5EF4-FFF2-40B4-BE49-F238E27FC236}">
                <a16:creationId xmlns:a16="http://schemas.microsoft.com/office/drawing/2014/main" id="{85CFCC6E-3DD0-3C24-CBA2-61C25B2BFBB6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eyJpY29uTmFtZSI6ImZhczpwYXBlcmNsaXAifQ</pptd:icon>
              </p:ext>
            </p:extLst>
          </p:nvPr>
        </p:nvSpPr>
        <p:spPr>
          <a:xfrm>
            <a:off x="5921401" y="2243478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25" y="13"/>
                </a:moveTo>
                <a:cubicBezTo>
                  <a:pt x="281" y="-43"/>
                  <a:pt x="372" y="-43"/>
                  <a:pt x="428" y="13"/>
                </a:cubicBezTo>
                <a:cubicBezTo>
                  <a:pt x="484" y="69"/>
                  <a:pt x="484" y="160"/>
                  <a:pt x="428" y="216"/>
                </a:cubicBezTo>
                <a:lnTo>
                  <a:pt x="264" y="380"/>
                </a:lnTo>
                <a:cubicBezTo>
                  <a:pt x="230" y="415"/>
                  <a:pt x="174" y="415"/>
                  <a:pt x="140" y="380"/>
                </a:cubicBezTo>
                <a:cubicBezTo>
                  <a:pt x="105" y="346"/>
                  <a:pt x="105" y="290"/>
                  <a:pt x="140" y="256"/>
                </a:cubicBezTo>
                <a:lnTo>
                  <a:pt x="293" y="103"/>
                </a:lnTo>
                <a:cubicBezTo>
                  <a:pt x="305" y="91"/>
                  <a:pt x="325" y="91"/>
                  <a:pt x="338" y="103"/>
                </a:cubicBezTo>
                <a:cubicBezTo>
                  <a:pt x="350" y="116"/>
                  <a:pt x="350" y="136"/>
                  <a:pt x="338" y="149"/>
                </a:cubicBezTo>
                <a:lnTo>
                  <a:pt x="185" y="301"/>
                </a:lnTo>
                <a:cubicBezTo>
                  <a:pt x="176" y="311"/>
                  <a:pt x="176" y="326"/>
                  <a:pt x="185" y="335"/>
                </a:cubicBezTo>
                <a:cubicBezTo>
                  <a:pt x="194" y="344"/>
                  <a:pt x="210" y="345"/>
                  <a:pt x="219" y="335"/>
                </a:cubicBezTo>
                <a:lnTo>
                  <a:pt x="383" y="171"/>
                </a:lnTo>
                <a:cubicBezTo>
                  <a:pt x="414" y="140"/>
                  <a:pt x="414" y="89"/>
                  <a:pt x="383" y="58"/>
                </a:cubicBezTo>
                <a:cubicBezTo>
                  <a:pt x="352" y="27"/>
                  <a:pt x="301" y="27"/>
                  <a:pt x="270" y="58"/>
                </a:cubicBezTo>
                <a:lnTo>
                  <a:pt x="106" y="222"/>
                </a:lnTo>
                <a:cubicBezTo>
                  <a:pt x="53" y="275"/>
                  <a:pt x="53" y="361"/>
                  <a:pt x="106" y="414"/>
                </a:cubicBezTo>
                <a:cubicBezTo>
                  <a:pt x="159" y="468"/>
                  <a:pt x="245" y="468"/>
                  <a:pt x="298" y="414"/>
                </a:cubicBezTo>
                <a:lnTo>
                  <a:pt x="428" y="284"/>
                </a:lnTo>
                <a:cubicBezTo>
                  <a:pt x="441" y="272"/>
                  <a:pt x="461" y="272"/>
                  <a:pt x="474" y="284"/>
                </a:cubicBezTo>
                <a:cubicBezTo>
                  <a:pt x="486" y="297"/>
                  <a:pt x="486" y="317"/>
                  <a:pt x="474" y="330"/>
                </a:cubicBezTo>
                <a:lnTo>
                  <a:pt x="343" y="460"/>
                </a:lnTo>
                <a:cubicBezTo>
                  <a:pt x="265" y="538"/>
                  <a:pt x="139" y="538"/>
                  <a:pt x="61" y="460"/>
                </a:cubicBezTo>
                <a:cubicBezTo>
                  <a:pt x="-18" y="382"/>
                  <a:pt x="-18" y="255"/>
                  <a:pt x="61" y="177"/>
                </a:cubicBezTo>
                <a:lnTo>
                  <a:pt x="225" y="13"/>
                </a:lnTo>
                <a:close/>
              </a:path>
            </a:pathLst>
          </a:custGeom>
          <a:solidFill>
            <a:srgbClr val="2A83C8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219" name="l2-c5-icon">
            <a:extLst>
              <a:ext uri="{FF2B5EF4-FFF2-40B4-BE49-F238E27FC236}">
                <a16:creationId xmlns:a16="http://schemas.microsoft.com/office/drawing/2014/main" id="{C553A80F-88F1-71DA-34C5-FCA9BE8790FA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eyJpY29uTmFtZSI6ImZhczpjYWxlbmRhci1jaGVjayJ9</pptd:icon>
              </p:ext>
            </p:extLst>
          </p:nvPr>
        </p:nvSpPr>
        <p:spPr>
          <a:xfrm>
            <a:off x="7293308" y="2243478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320" y="0"/>
                </a:moveTo>
                <a:cubicBezTo>
                  <a:pt x="338" y="0"/>
                  <a:pt x="352" y="14"/>
                  <a:pt x="352" y="32"/>
                </a:cubicBezTo>
                <a:lnTo>
                  <a:pt x="352" y="64"/>
                </a:lnTo>
                <a:lnTo>
                  <a:pt x="384" y="64"/>
                </a:lnTo>
                <a:cubicBezTo>
                  <a:pt x="419" y="64"/>
                  <a:pt x="448" y="93"/>
                  <a:pt x="448" y="128"/>
                </a:cubicBezTo>
                <a:lnTo>
                  <a:pt x="448" y="416"/>
                </a:lnTo>
                <a:cubicBezTo>
                  <a:pt x="448" y="451"/>
                  <a:pt x="419" y="480"/>
                  <a:pt x="384" y="480"/>
                </a:cubicBezTo>
                <a:lnTo>
                  <a:pt x="64" y="480"/>
                </a:lnTo>
                <a:cubicBezTo>
                  <a:pt x="29" y="480"/>
                  <a:pt x="0" y="451"/>
                  <a:pt x="0" y="416"/>
                </a:cubicBezTo>
                <a:lnTo>
                  <a:pt x="0" y="128"/>
                </a:lnTo>
                <a:cubicBezTo>
                  <a:pt x="0" y="93"/>
                  <a:pt x="29" y="64"/>
                  <a:pt x="64" y="64"/>
                </a:cubicBezTo>
                <a:lnTo>
                  <a:pt x="96" y="64"/>
                </a:lnTo>
                <a:lnTo>
                  <a:pt x="96" y="32"/>
                </a:lnTo>
                <a:cubicBezTo>
                  <a:pt x="96" y="14"/>
                  <a:pt x="110" y="0"/>
                  <a:pt x="128" y="0"/>
                </a:cubicBezTo>
                <a:cubicBezTo>
                  <a:pt x="146" y="0"/>
                  <a:pt x="160" y="14"/>
                  <a:pt x="160" y="32"/>
                </a:cubicBezTo>
                <a:lnTo>
                  <a:pt x="160" y="64"/>
                </a:lnTo>
                <a:lnTo>
                  <a:pt x="288" y="64"/>
                </a:lnTo>
                <a:lnTo>
                  <a:pt x="288" y="32"/>
                </a:lnTo>
                <a:cubicBezTo>
                  <a:pt x="288" y="14"/>
                  <a:pt x="302" y="0"/>
                  <a:pt x="320" y="0"/>
                </a:cubicBezTo>
                <a:close/>
                <a:moveTo>
                  <a:pt x="342" y="162"/>
                </a:moveTo>
                <a:cubicBezTo>
                  <a:pt x="331" y="154"/>
                  <a:pt x="316" y="156"/>
                  <a:pt x="309" y="167"/>
                </a:cubicBezTo>
                <a:lnTo>
                  <a:pt x="189" y="331"/>
                </a:lnTo>
                <a:lnTo>
                  <a:pt x="137" y="279"/>
                </a:lnTo>
                <a:cubicBezTo>
                  <a:pt x="128" y="270"/>
                  <a:pt x="112" y="270"/>
                  <a:pt x="103" y="279"/>
                </a:cubicBezTo>
                <a:cubicBezTo>
                  <a:pt x="94" y="289"/>
                  <a:pt x="94" y="304"/>
                  <a:pt x="103" y="313"/>
                </a:cubicBezTo>
                <a:lnTo>
                  <a:pt x="175" y="385"/>
                </a:lnTo>
                <a:cubicBezTo>
                  <a:pt x="180" y="390"/>
                  <a:pt x="187" y="393"/>
                  <a:pt x="194" y="392"/>
                </a:cubicBezTo>
                <a:cubicBezTo>
                  <a:pt x="201" y="392"/>
                  <a:pt x="207" y="388"/>
                  <a:pt x="211" y="382"/>
                </a:cubicBezTo>
                <a:lnTo>
                  <a:pt x="347" y="195"/>
                </a:lnTo>
                <a:cubicBezTo>
                  <a:pt x="355" y="185"/>
                  <a:pt x="353" y="170"/>
                  <a:pt x="342" y="162"/>
                </a:cubicBezTo>
                <a:close/>
              </a:path>
            </a:pathLst>
          </a:custGeom>
          <a:solidFill>
            <a:srgbClr val="2A83C8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221" name="l2-c6-icon">
            <a:extLst>
              <a:ext uri="{FF2B5EF4-FFF2-40B4-BE49-F238E27FC236}">
                <a16:creationId xmlns:a16="http://schemas.microsoft.com/office/drawing/2014/main" id="{13617E63-3834-8730-9A50-C9A97D4BC5DC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eyJpY29uTmFtZSI6ImZhczpiZWxsIn0</pptd:icon>
              </p:ext>
            </p:extLst>
          </p:nvPr>
        </p:nvSpPr>
        <p:spPr>
          <a:xfrm>
            <a:off x="1743332" y="2834028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224" y="0"/>
                </a:moveTo>
                <a:cubicBezTo>
                  <a:pt x="206" y="0"/>
                  <a:pt x="192" y="14"/>
                  <a:pt x="192" y="32"/>
                </a:cubicBezTo>
                <a:lnTo>
                  <a:pt x="192" y="35"/>
                </a:lnTo>
                <a:cubicBezTo>
                  <a:pt x="119" y="50"/>
                  <a:pt x="64" y="115"/>
                  <a:pt x="64" y="192"/>
                </a:cubicBezTo>
                <a:lnTo>
                  <a:pt x="64" y="214"/>
                </a:lnTo>
                <a:cubicBezTo>
                  <a:pt x="64" y="262"/>
                  <a:pt x="48" y="309"/>
                  <a:pt x="18" y="346"/>
                </a:cubicBezTo>
                <a:lnTo>
                  <a:pt x="8" y="358"/>
                </a:lnTo>
                <a:cubicBezTo>
                  <a:pt x="3" y="365"/>
                  <a:pt x="0" y="372"/>
                  <a:pt x="0" y="381"/>
                </a:cubicBezTo>
                <a:cubicBezTo>
                  <a:pt x="0" y="400"/>
                  <a:pt x="16" y="416"/>
                  <a:pt x="36" y="416"/>
                </a:cubicBezTo>
                <a:lnTo>
                  <a:pt x="412" y="416"/>
                </a:lnTo>
                <a:cubicBezTo>
                  <a:pt x="432" y="416"/>
                  <a:pt x="448" y="400"/>
                  <a:pt x="448" y="381"/>
                </a:cubicBezTo>
                <a:cubicBezTo>
                  <a:pt x="448" y="372"/>
                  <a:pt x="445" y="365"/>
                  <a:pt x="440" y="358"/>
                </a:cubicBezTo>
                <a:lnTo>
                  <a:pt x="430" y="346"/>
                </a:lnTo>
                <a:cubicBezTo>
                  <a:pt x="400" y="309"/>
                  <a:pt x="384" y="262"/>
                  <a:pt x="384" y="214"/>
                </a:cubicBezTo>
                <a:lnTo>
                  <a:pt x="384" y="192"/>
                </a:lnTo>
                <a:cubicBezTo>
                  <a:pt x="384" y="115"/>
                  <a:pt x="329" y="50"/>
                  <a:pt x="256" y="35"/>
                </a:cubicBezTo>
                <a:lnTo>
                  <a:pt x="256" y="32"/>
                </a:lnTo>
                <a:cubicBezTo>
                  <a:pt x="256" y="14"/>
                  <a:pt x="242" y="0"/>
                  <a:pt x="224" y="0"/>
                </a:cubicBezTo>
                <a:close/>
                <a:moveTo>
                  <a:pt x="162" y="464"/>
                </a:moveTo>
                <a:cubicBezTo>
                  <a:pt x="169" y="492"/>
                  <a:pt x="194" y="512"/>
                  <a:pt x="224" y="512"/>
                </a:cubicBezTo>
                <a:cubicBezTo>
                  <a:pt x="254" y="512"/>
                  <a:pt x="279" y="492"/>
                  <a:pt x="286" y="464"/>
                </a:cubicBezTo>
                <a:lnTo>
                  <a:pt x="162" y="464"/>
                </a:lnTo>
                <a:close/>
              </a:path>
            </a:pathLst>
          </a:custGeom>
          <a:solidFill>
            <a:srgbClr val="2A83C8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</p:spTree>
    <p:extLst>
      <p:ext uri="{BB962C8B-B14F-4D97-AF65-F5344CB8AC3E}">
        <p14:creationId xmlns:p14="http://schemas.microsoft.com/office/powerpoint/2010/main" val="13154336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30F5A-AF12-C624-1901-BF442FAF8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3DF5B786-F9B6-3472-81A5-2E49CF8BDA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2921" y="266700"/>
            <a:ext cx="5241925" cy="261610"/>
          </a:xfrm>
        </p:spPr>
        <p:txBody>
          <a:bodyPr/>
          <a:lstStyle/>
          <a:p>
            <a:r>
              <a:rPr lang="en-US"/>
              <a:t>China RIMS Solution Proposal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11A63D1-B80B-CA0F-E9D9-62D63A74F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推荐架构：方案</a:t>
            </a:r>
            <a:r>
              <a:rPr lang="en-US" altLang="zh-CN"/>
              <a:t>B2</a:t>
            </a:r>
            <a:r>
              <a:rPr lang="zh-CN" altLang="en-US"/>
              <a:t>端到端应用视角</a:t>
            </a:r>
            <a:endParaRPr lang="en-US" altLang="zh-CN"/>
          </a:p>
        </p:txBody>
      </p:sp>
      <p:sp>
        <p:nvSpPr>
          <p:cNvPr id="40" name="s1-box">
            <a:extLst>
              <a:ext uri="{FF2B5EF4-FFF2-40B4-BE49-F238E27FC236}">
                <a16:creationId xmlns:a16="http://schemas.microsoft.com/office/drawing/2014/main" id="{BA70FD69-2320-FF01-E26F-691914B5E1C0}"/>
              </a:ext>
            </a:extLst>
          </p:cNvPr>
          <p:cNvSpPr/>
          <p:nvPr/>
        </p:nvSpPr>
        <p:spPr>
          <a:xfrm>
            <a:off x="444734" y="1002981"/>
            <a:ext cx="8254532" cy="461026"/>
          </a:xfrm>
          <a:prstGeom prst="roundRect">
            <a:avLst>
              <a:gd name="adj" fmla="val 8000"/>
            </a:avLst>
          </a:prstGeom>
          <a:noFill/>
          <a:ln w="9525"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2" name="s1-tab">
            <a:extLst>
              <a:ext uri="{FF2B5EF4-FFF2-40B4-BE49-F238E27FC236}">
                <a16:creationId xmlns:a16="http://schemas.microsoft.com/office/drawing/2014/main" id="{D84D1D64-4B3A-7723-C285-E6E61912BE4F}"/>
              </a:ext>
            </a:extLst>
          </p:cNvPr>
          <p:cNvSpPr/>
          <p:nvPr/>
        </p:nvSpPr>
        <p:spPr>
          <a:xfrm>
            <a:off x="480009" y="1035334"/>
            <a:ext cx="800151" cy="399457"/>
          </a:xfrm>
          <a:prstGeom prst="roundRect">
            <a:avLst>
              <a:gd name="adj" fmla="val 8739"/>
            </a:avLst>
          </a:prstGeom>
          <a:solidFill>
            <a:srgbClr val="0D8AE6"/>
          </a:solidFill>
          <a:ln>
            <a:noFill/>
          </a:ln>
        </p:spPr>
        <p:txBody>
          <a:bodyPr/>
          <a:lstStyle/>
          <a:p>
            <a:pPr algn="ctr" defTabSz="685800">
              <a:lnSpc>
                <a:spcPct val="120000"/>
              </a:lnSpc>
            </a:pPr>
            <a:r>
              <a:rPr lang="en-US" altLang="zh-CN" sz="1050" b="1" noProof="1">
                <a:solidFill>
                  <a:srgbClr val="FFFFFF"/>
                </a:solidFill>
                <a:latin typeface="+mn-ea"/>
              </a:rPr>
              <a:t>01 </a:t>
            </a:r>
          </a:p>
          <a:p>
            <a:pPr algn="ctr" defTabSz="685800">
              <a:lnSpc>
                <a:spcPct val="120000"/>
              </a:lnSpc>
            </a:pPr>
            <a:r>
              <a:rPr lang="en-US" altLang="zh-CN" sz="800" b="1" noProof="1">
                <a:solidFill>
                  <a:srgbClr val="FFFFFF"/>
                </a:solidFill>
                <a:latin typeface="+mn-ea"/>
              </a:rPr>
              <a:t>访问入口</a:t>
            </a:r>
            <a:endParaRPr lang="en-US" altLang="zh-CN" sz="800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7" name="s1-c1">
            <a:extLst>
              <a:ext uri="{FF2B5EF4-FFF2-40B4-BE49-F238E27FC236}">
                <a16:creationId xmlns:a16="http://schemas.microsoft.com/office/drawing/2014/main" id="{A1E25A30-A27A-6C0B-08C3-A7800DAAB82A}"/>
              </a:ext>
            </a:extLst>
          </p:cNvPr>
          <p:cNvSpPr/>
          <p:nvPr/>
        </p:nvSpPr>
        <p:spPr>
          <a:xfrm>
            <a:off x="1379542" y="1083863"/>
            <a:ext cx="1419850" cy="33161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DF7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9" name="s1-c1-icon">
            <a:extLst>
              <a:ext uri="{FF2B5EF4-FFF2-40B4-BE49-F238E27FC236}">
                <a16:creationId xmlns:a16="http://schemas.microsoft.com/office/drawing/2014/main" id="{0226513F-E041-9787-A5B5-6B52DCE2D448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eyJpY29uTmFtZSI6ImZhczp1c2VyIn0</pptd:icon>
              </p:ext>
            </p:extLst>
          </p:nvPr>
        </p:nvSpPr>
        <p:spPr>
          <a:xfrm>
            <a:off x="1503007" y="1156656"/>
            <a:ext cx="194017" cy="17794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224" y="248"/>
                </a:moveTo>
                <a:cubicBezTo>
                  <a:pt x="290" y="248"/>
                  <a:pt x="344" y="194"/>
                  <a:pt x="344" y="128"/>
                </a:cubicBezTo>
                <a:cubicBezTo>
                  <a:pt x="344" y="62"/>
                  <a:pt x="290" y="8"/>
                  <a:pt x="224" y="8"/>
                </a:cubicBezTo>
                <a:cubicBezTo>
                  <a:pt x="158" y="8"/>
                  <a:pt x="104" y="62"/>
                  <a:pt x="104" y="128"/>
                </a:cubicBezTo>
                <a:cubicBezTo>
                  <a:pt x="104" y="194"/>
                  <a:pt x="158" y="248"/>
                  <a:pt x="224" y="248"/>
                </a:cubicBezTo>
                <a:close/>
                <a:moveTo>
                  <a:pt x="194" y="304"/>
                </a:moveTo>
                <a:cubicBezTo>
                  <a:pt x="96" y="304"/>
                  <a:pt x="16" y="384"/>
                  <a:pt x="16" y="482"/>
                </a:cubicBezTo>
                <a:cubicBezTo>
                  <a:pt x="16" y="499"/>
                  <a:pt x="29" y="512"/>
                  <a:pt x="46" y="512"/>
                </a:cubicBezTo>
                <a:lnTo>
                  <a:pt x="402" y="512"/>
                </a:lnTo>
                <a:cubicBezTo>
                  <a:pt x="419" y="512"/>
                  <a:pt x="432" y="499"/>
                  <a:pt x="432" y="482"/>
                </a:cubicBezTo>
                <a:cubicBezTo>
                  <a:pt x="432" y="384"/>
                  <a:pt x="352" y="304"/>
                  <a:pt x="254" y="304"/>
                </a:cubicBezTo>
                <a:lnTo>
                  <a:pt x="194" y="304"/>
                </a:lnTo>
                <a:close/>
              </a:path>
            </a:pathLst>
          </a:custGeom>
          <a:solidFill>
            <a:srgbClr val="0A5AC2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1" name="s1-c1-title">
            <a:extLst>
              <a:ext uri="{FF2B5EF4-FFF2-40B4-BE49-F238E27FC236}">
                <a16:creationId xmlns:a16="http://schemas.microsoft.com/office/drawing/2014/main" id="{1578A101-0734-7F9F-E088-6413DD87BF36}"/>
              </a:ext>
            </a:extLst>
          </p:cNvPr>
          <p:cNvSpPr txBox="1"/>
          <p:nvPr/>
        </p:nvSpPr>
        <p:spPr>
          <a:xfrm>
            <a:off x="1749938" y="1124304"/>
            <a:ext cx="987722" cy="1213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800" b="1" noProof="1">
                <a:solidFill>
                  <a:srgbClr val="1F2430"/>
                </a:solidFill>
                <a:latin typeface="+mn-ea"/>
              </a:rPr>
              <a:t>业务查询员</a:t>
            </a:r>
            <a:endParaRPr lang="en-US" sz="800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3" name="s1-c1-desc">
            <a:extLst>
              <a:ext uri="{FF2B5EF4-FFF2-40B4-BE49-F238E27FC236}">
                <a16:creationId xmlns:a16="http://schemas.microsoft.com/office/drawing/2014/main" id="{A47FF7DA-C90B-9D62-B89E-211BE1D62FB8}"/>
              </a:ext>
            </a:extLst>
          </p:cNvPr>
          <p:cNvSpPr txBox="1"/>
          <p:nvPr/>
        </p:nvSpPr>
        <p:spPr>
          <a:xfrm>
            <a:off x="1749938" y="1261803"/>
            <a:ext cx="1022998" cy="970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638" noProof="1">
                <a:solidFill>
                  <a:srgbClr val="5B6472"/>
                </a:solidFill>
                <a:latin typeface="+mn-ea"/>
              </a:rPr>
              <a:t>历史数据查询与分析</a:t>
            </a:r>
            <a:endParaRPr lang="en-US" sz="638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5" name="s1-c2">
            <a:extLst>
              <a:ext uri="{FF2B5EF4-FFF2-40B4-BE49-F238E27FC236}">
                <a16:creationId xmlns:a16="http://schemas.microsoft.com/office/drawing/2014/main" id="{3C675784-F4D4-5313-89AC-C4DB5636154D}"/>
              </a:ext>
            </a:extLst>
          </p:cNvPr>
          <p:cNvSpPr/>
          <p:nvPr/>
        </p:nvSpPr>
        <p:spPr>
          <a:xfrm>
            <a:off x="2949314" y="1083863"/>
            <a:ext cx="1446307" cy="33161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DF7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8" name="s1-c2-icon">
            <a:extLst>
              <a:ext uri="{FF2B5EF4-FFF2-40B4-BE49-F238E27FC236}">
                <a16:creationId xmlns:a16="http://schemas.microsoft.com/office/drawing/2014/main" id="{479544A8-99D3-72FF-D96C-5ABB3ADDB8FB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eyJpY29uTmFtZSI6ImZhczp1c2VyIn0</pptd:icon>
              </p:ext>
            </p:extLst>
          </p:nvPr>
        </p:nvSpPr>
        <p:spPr>
          <a:xfrm>
            <a:off x="3072779" y="1156656"/>
            <a:ext cx="194017" cy="17794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224" y="248"/>
                </a:moveTo>
                <a:cubicBezTo>
                  <a:pt x="290" y="248"/>
                  <a:pt x="344" y="194"/>
                  <a:pt x="344" y="128"/>
                </a:cubicBezTo>
                <a:cubicBezTo>
                  <a:pt x="344" y="62"/>
                  <a:pt x="290" y="8"/>
                  <a:pt x="224" y="8"/>
                </a:cubicBezTo>
                <a:cubicBezTo>
                  <a:pt x="158" y="8"/>
                  <a:pt x="104" y="62"/>
                  <a:pt x="104" y="128"/>
                </a:cubicBezTo>
                <a:cubicBezTo>
                  <a:pt x="104" y="194"/>
                  <a:pt x="158" y="248"/>
                  <a:pt x="224" y="248"/>
                </a:cubicBezTo>
                <a:close/>
                <a:moveTo>
                  <a:pt x="194" y="304"/>
                </a:moveTo>
                <a:cubicBezTo>
                  <a:pt x="96" y="304"/>
                  <a:pt x="16" y="384"/>
                  <a:pt x="16" y="482"/>
                </a:cubicBezTo>
                <a:cubicBezTo>
                  <a:pt x="16" y="499"/>
                  <a:pt x="29" y="512"/>
                  <a:pt x="46" y="512"/>
                </a:cubicBezTo>
                <a:lnTo>
                  <a:pt x="402" y="512"/>
                </a:lnTo>
                <a:cubicBezTo>
                  <a:pt x="419" y="512"/>
                  <a:pt x="432" y="499"/>
                  <a:pt x="432" y="482"/>
                </a:cubicBezTo>
                <a:cubicBezTo>
                  <a:pt x="432" y="384"/>
                  <a:pt x="352" y="304"/>
                  <a:pt x="254" y="304"/>
                </a:cubicBezTo>
                <a:lnTo>
                  <a:pt x="194" y="304"/>
                </a:lnTo>
                <a:close/>
              </a:path>
            </a:pathLst>
          </a:custGeom>
          <a:solidFill>
            <a:srgbClr val="0A5AC2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0" name="s1-c2-title">
            <a:extLst>
              <a:ext uri="{FF2B5EF4-FFF2-40B4-BE49-F238E27FC236}">
                <a16:creationId xmlns:a16="http://schemas.microsoft.com/office/drawing/2014/main" id="{33E5FC1D-5F00-A92B-973B-E43AD549A5BA}"/>
              </a:ext>
            </a:extLst>
          </p:cNvPr>
          <p:cNvSpPr txBox="1"/>
          <p:nvPr/>
        </p:nvSpPr>
        <p:spPr>
          <a:xfrm>
            <a:off x="3319710" y="1124304"/>
            <a:ext cx="1040635" cy="1213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800" b="1" noProof="1">
                <a:solidFill>
                  <a:srgbClr val="1F2430"/>
                </a:solidFill>
                <a:latin typeface="+mn-ea"/>
              </a:rPr>
              <a:t>审计 / 合规岗</a:t>
            </a:r>
            <a:endParaRPr lang="en-US" sz="800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2" name="s1-c2-desc">
            <a:extLst>
              <a:ext uri="{FF2B5EF4-FFF2-40B4-BE49-F238E27FC236}">
                <a16:creationId xmlns:a16="http://schemas.microsoft.com/office/drawing/2014/main" id="{565BE94F-A1D1-4BDA-85D4-36826D4BCAB6}"/>
              </a:ext>
            </a:extLst>
          </p:cNvPr>
          <p:cNvSpPr txBox="1"/>
          <p:nvPr/>
        </p:nvSpPr>
        <p:spPr>
          <a:xfrm>
            <a:off x="3319710" y="1261803"/>
            <a:ext cx="1040635" cy="970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638" noProof="1">
                <a:solidFill>
                  <a:srgbClr val="5B6472"/>
                </a:solidFill>
                <a:latin typeface="+mn-ea"/>
              </a:rPr>
              <a:t>合规检查与审计追溯</a:t>
            </a:r>
            <a:endParaRPr lang="en-US" sz="638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4" name="s1-c3">
            <a:extLst>
              <a:ext uri="{FF2B5EF4-FFF2-40B4-BE49-F238E27FC236}">
                <a16:creationId xmlns:a16="http://schemas.microsoft.com/office/drawing/2014/main" id="{470E4EB5-2D38-DDB8-00A9-5595B736C6BF}"/>
              </a:ext>
            </a:extLst>
          </p:cNvPr>
          <p:cNvSpPr/>
          <p:nvPr/>
        </p:nvSpPr>
        <p:spPr>
          <a:xfrm>
            <a:off x="4510267" y="1083863"/>
            <a:ext cx="1446307" cy="33161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DF7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6" name="s1-c3-icon">
            <a:extLst>
              <a:ext uri="{FF2B5EF4-FFF2-40B4-BE49-F238E27FC236}">
                <a16:creationId xmlns:a16="http://schemas.microsoft.com/office/drawing/2014/main" id="{7204ABA4-F3FC-8045-2098-5FDD4F7CA2A7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eyJpY29uTmFtZSI6ImZhczp1c2VyIn0</pptd:icon>
              </p:ext>
            </p:extLst>
          </p:nvPr>
        </p:nvSpPr>
        <p:spPr>
          <a:xfrm>
            <a:off x="4633733" y="1156656"/>
            <a:ext cx="194017" cy="17794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224" y="248"/>
                </a:moveTo>
                <a:cubicBezTo>
                  <a:pt x="290" y="248"/>
                  <a:pt x="344" y="194"/>
                  <a:pt x="344" y="128"/>
                </a:cubicBezTo>
                <a:cubicBezTo>
                  <a:pt x="344" y="62"/>
                  <a:pt x="290" y="8"/>
                  <a:pt x="224" y="8"/>
                </a:cubicBezTo>
                <a:cubicBezTo>
                  <a:pt x="158" y="8"/>
                  <a:pt x="104" y="62"/>
                  <a:pt x="104" y="128"/>
                </a:cubicBezTo>
                <a:cubicBezTo>
                  <a:pt x="104" y="194"/>
                  <a:pt x="158" y="248"/>
                  <a:pt x="224" y="248"/>
                </a:cubicBezTo>
                <a:close/>
                <a:moveTo>
                  <a:pt x="194" y="304"/>
                </a:moveTo>
                <a:cubicBezTo>
                  <a:pt x="96" y="304"/>
                  <a:pt x="16" y="384"/>
                  <a:pt x="16" y="482"/>
                </a:cubicBezTo>
                <a:cubicBezTo>
                  <a:pt x="16" y="499"/>
                  <a:pt x="29" y="512"/>
                  <a:pt x="46" y="512"/>
                </a:cubicBezTo>
                <a:lnTo>
                  <a:pt x="402" y="512"/>
                </a:lnTo>
                <a:cubicBezTo>
                  <a:pt x="419" y="512"/>
                  <a:pt x="432" y="499"/>
                  <a:pt x="432" y="482"/>
                </a:cubicBezTo>
                <a:cubicBezTo>
                  <a:pt x="432" y="384"/>
                  <a:pt x="352" y="304"/>
                  <a:pt x="254" y="304"/>
                </a:cubicBezTo>
                <a:lnTo>
                  <a:pt x="194" y="304"/>
                </a:lnTo>
                <a:close/>
              </a:path>
            </a:pathLst>
          </a:custGeom>
          <a:solidFill>
            <a:srgbClr val="0A5AC2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8" name="s1-c3-title">
            <a:extLst>
              <a:ext uri="{FF2B5EF4-FFF2-40B4-BE49-F238E27FC236}">
                <a16:creationId xmlns:a16="http://schemas.microsoft.com/office/drawing/2014/main" id="{147E35D9-CAA6-5BDB-E2C4-B00CFBE3048E}"/>
              </a:ext>
            </a:extLst>
          </p:cNvPr>
          <p:cNvSpPr txBox="1"/>
          <p:nvPr/>
        </p:nvSpPr>
        <p:spPr>
          <a:xfrm>
            <a:off x="4880663" y="1124304"/>
            <a:ext cx="1040635" cy="1213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800" b="1" noProof="1">
                <a:solidFill>
                  <a:srgbClr val="1F2430"/>
                </a:solidFill>
                <a:latin typeface="+mn-ea"/>
              </a:rPr>
              <a:t>平台运维</a:t>
            </a:r>
            <a:endParaRPr lang="en-US" sz="800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0" name="s1-c3-desc">
            <a:extLst>
              <a:ext uri="{FF2B5EF4-FFF2-40B4-BE49-F238E27FC236}">
                <a16:creationId xmlns:a16="http://schemas.microsoft.com/office/drawing/2014/main" id="{41D9F010-D507-15BD-1EE2-B9AE8001FB77}"/>
              </a:ext>
            </a:extLst>
          </p:cNvPr>
          <p:cNvSpPr txBox="1"/>
          <p:nvPr/>
        </p:nvSpPr>
        <p:spPr>
          <a:xfrm>
            <a:off x="4880663" y="1261803"/>
            <a:ext cx="1040635" cy="970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638" noProof="1">
                <a:solidFill>
                  <a:srgbClr val="5B6472"/>
                </a:solidFill>
                <a:latin typeface="+mn-ea"/>
              </a:rPr>
              <a:t>系统运维与监控</a:t>
            </a:r>
            <a:endParaRPr lang="en-US" sz="638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2" name="s1-sso-label">
            <a:extLst>
              <a:ext uri="{FF2B5EF4-FFF2-40B4-BE49-F238E27FC236}">
                <a16:creationId xmlns:a16="http://schemas.microsoft.com/office/drawing/2014/main" id="{B14C4032-3B40-E732-B98B-7569142D88D1}"/>
              </a:ext>
            </a:extLst>
          </p:cNvPr>
          <p:cNvSpPr txBox="1"/>
          <p:nvPr/>
        </p:nvSpPr>
        <p:spPr>
          <a:xfrm>
            <a:off x="6053583" y="1201141"/>
            <a:ext cx="987722" cy="889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638" noProof="1">
                <a:solidFill>
                  <a:srgbClr val="5B6472"/>
                </a:solidFill>
                <a:latin typeface="+mn-ea"/>
              </a:rPr>
              <a:t>统一身份 · 单点登录</a:t>
            </a:r>
            <a:endParaRPr lang="en-US" sz="638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6" name="s1-entra">
            <a:extLst>
              <a:ext uri="{FF2B5EF4-FFF2-40B4-BE49-F238E27FC236}">
                <a16:creationId xmlns:a16="http://schemas.microsoft.com/office/drawing/2014/main" id="{4088D6B9-5EE2-2EEA-7F34-2060D92D2553}"/>
              </a:ext>
            </a:extLst>
          </p:cNvPr>
          <p:cNvSpPr/>
          <p:nvPr/>
        </p:nvSpPr>
        <p:spPr>
          <a:xfrm>
            <a:off x="7027213" y="1043422"/>
            <a:ext cx="1613867" cy="3720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1F4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79" name="s1-entra-icon">
            <a:extLst>
              <a:ext uri="{FF2B5EF4-FFF2-40B4-BE49-F238E27FC236}">
                <a16:creationId xmlns:a16="http://schemas.microsoft.com/office/drawing/2014/main" id="{4831A2EE-BEE4-93B7-0587-3E27391DDD51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097765" y="1124304"/>
            <a:ext cx="202836" cy="202204"/>
          </a:xfrm>
          <a:prstGeom prst="rect">
            <a:avLst/>
          </a:prstGeom>
          <a:ln>
            <a:noFill/>
          </a:ln>
        </p:spPr>
      </p:pic>
      <p:sp>
        <p:nvSpPr>
          <p:cNvPr id="81" name="s1-entra-title">
            <a:extLst>
              <a:ext uri="{FF2B5EF4-FFF2-40B4-BE49-F238E27FC236}">
                <a16:creationId xmlns:a16="http://schemas.microsoft.com/office/drawing/2014/main" id="{F03C2735-7D20-BBAD-D32B-D2FD6B2133D6}"/>
              </a:ext>
            </a:extLst>
          </p:cNvPr>
          <p:cNvSpPr txBox="1"/>
          <p:nvPr/>
        </p:nvSpPr>
        <p:spPr>
          <a:xfrm>
            <a:off x="7353514" y="1108127"/>
            <a:ext cx="1252290" cy="1213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800" b="1" noProof="1">
                <a:solidFill>
                  <a:srgbClr val="1F2430"/>
                </a:solidFill>
                <a:latin typeface="+mn-ea"/>
              </a:rPr>
              <a:t>Microsoft Entra ID</a:t>
            </a:r>
            <a:endParaRPr lang="en-US" sz="800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95" name="s1-entra-desc">
            <a:extLst>
              <a:ext uri="{FF2B5EF4-FFF2-40B4-BE49-F238E27FC236}">
                <a16:creationId xmlns:a16="http://schemas.microsoft.com/office/drawing/2014/main" id="{3359A4F7-8324-4804-D3B4-23B7ED9F82D6}"/>
              </a:ext>
            </a:extLst>
          </p:cNvPr>
          <p:cNvSpPr txBox="1"/>
          <p:nvPr/>
        </p:nvSpPr>
        <p:spPr>
          <a:xfrm>
            <a:off x="7353514" y="1245626"/>
            <a:ext cx="1234652" cy="970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638" noProof="1">
                <a:solidFill>
                  <a:srgbClr val="5B6472"/>
                </a:solidFill>
                <a:latin typeface="+mn-ea"/>
              </a:rPr>
              <a:t>SSO / OIDC</a:t>
            </a:r>
            <a:endParaRPr lang="en-US" sz="638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98" name="conn1-icon">
            <a:extLst>
              <a:ext uri="{FF2B5EF4-FFF2-40B4-BE49-F238E27FC236}">
                <a16:creationId xmlns:a16="http://schemas.microsoft.com/office/drawing/2014/main" id="{7ECE4034-8546-8225-E678-4D1501DC8EBE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eyJpY29uTmFtZSI6ImZhczphcnJvdy1kb3duIn0</pptd:icon>
              </p:ext>
            </p:extLst>
          </p:nvPr>
        </p:nvSpPr>
        <p:spPr>
          <a:xfrm>
            <a:off x="3513727" y="1482095"/>
            <a:ext cx="79371" cy="134777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169" y="503"/>
                </a:moveTo>
                <a:cubicBezTo>
                  <a:pt x="182" y="515"/>
                  <a:pt x="202" y="515"/>
                  <a:pt x="215" y="503"/>
                </a:cubicBezTo>
                <a:lnTo>
                  <a:pt x="375" y="343"/>
                </a:lnTo>
                <a:cubicBezTo>
                  <a:pt x="387" y="330"/>
                  <a:pt x="387" y="310"/>
                  <a:pt x="375" y="297"/>
                </a:cubicBezTo>
                <a:cubicBezTo>
                  <a:pt x="362" y="285"/>
                  <a:pt x="342" y="285"/>
                  <a:pt x="329" y="297"/>
                </a:cubicBezTo>
                <a:lnTo>
                  <a:pt x="224" y="403"/>
                </a:lnTo>
                <a:lnTo>
                  <a:pt x="224" y="32"/>
                </a:lnTo>
                <a:cubicBezTo>
                  <a:pt x="224" y="14"/>
                  <a:pt x="210" y="0"/>
                  <a:pt x="192" y="0"/>
                </a:cubicBezTo>
                <a:cubicBezTo>
                  <a:pt x="174" y="0"/>
                  <a:pt x="160" y="14"/>
                  <a:pt x="160" y="32"/>
                </a:cubicBezTo>
                <a:lnTo>
                  <a:pt x="160" y="403"/>
                </a:lnTo>
                <a:lnTo>
                  <a:pt x="55" y="297"/>
                </a:lnTo>
                <a:cubicBezTo>
                  <a:pt x="42" y="285"/>
                  <a:pt x="22" y="285"/>
                  <a:pt x="9" y="297"/>
                </a:cubicBezTo>
                <a:cubicBezTo>
                  <a:pt x="-3" y="310"/>
                  <a:pt x="-3" y="330"/>
                  <a:pt x="9" y="343"/>
                </a:cubicBezTo>
                <a:lnTo>
                  <a:pt x="169" y="503"/>
                </a:lnTo>
                <a:close/>
              </a:path>
            </a:pathLst>
          </a:custGeom>
          <a:solidFill>
            <a:srgbClr val="5AA9E6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02" name="conn1-t">
            <a:extLst>
              <a:ext uri="{FF2B5EF4-FFF2-40B4-BE49-F238E27FC236}">
                <a16:creationId xmlns:a16="http://schemas.microsoft.com/office/drawing/2014/main" id="{4846395C-B2A4-4D8F-45E1-BC2B3CA52F47}"/>
              </a:ext>
            </a:extLst>
          </p:cNvPr>
          <p:cNvSpPr txBox="1"/>
          <p:nvPr/>
        </p:nvSpPr>
        <p:spPr>
          <a:xfrm>
            <a:off x="3628373" y="1499594"/>
            <a:ext cx="1058273" cy="889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675" b="1" noProof="1">
                <a:solidFill>
                  <a:srgbClr val="3E4A6B"/>
                </a:solidFill>
                <a:latin typeface="+mn-ea"/>
              </a:rPr>
              <a:t>HTTPS 443 · SSO</a:t>
            </a:r>
            <a:endParaRPr lang="en-US" sz="675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04" name="s2-box">
            <a:extLst>
              <a:ext uri="{FF2B5EF4-FFF2-40B4-BE49-F238E27FC236}">
                <a16:creationId xmlns:a16="http://schemas.microsoft.com/office/drawing/2014/main" id="{6F622E37-AD8B-E0B9-5799-038F18B7479E}"/>
              </a:ext>
            </a:extLst>
          </p:cNvPr>
          <p:cNvSpPr/>
          <p:nvPr/>
        </p:nvSpPr>
        <p:spPr>
          <a:xfrm>
            <a:off x="444734" y="1598232"/>
            <a:ext cx="8254532" cy="598525"/>
          </a:xfrm>
          <a:prstGeom prst="roundRect">
            <a:avLst>
              <a:gd name="adj" fmla="val 8000"/>
            </a:avLst>
          </a:prstGeom>
          <a:noFill/>
          <a:ln w="9525"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07" name="s2-tab">
            <a:extLst>
              <a:ext uri="{FF2B5EF4-FFF2-40B4-BE49-F238E27FC236}">
                <a16:creationId xmlns:a16="http://schemas.microsoft.com/office/drawing/2014/main" id="{0EC7515E-A441-7FAC-C695-4328DC30AB0E}"/>
              </a:ext>
            </a:extLst>
          </p:cNvPr>
          <p:cNvSpPr/>
          <p:nvPr/>
        </p:nvSpPr>
        <p:spPr>
          <a:xfrm>
            <a:off x="480011" y="1643297"/>
            <a:ext cx="800150" cy="517644"/>
          </a:xfrm>
          <a:prstGeom prst="roundRect">
            <a:avLst>
              <a:gd name="adj" fmla="val 7071"/>
            </a:avLst>
          </a:prstGeom>
          <a:solidFill>
            <a:srgbClr val="0D8AE6"/>
          </a:solidFill>
          <a:ln>
            <a:noFill/>
          </a:ln>
        </p:spPr>
        <p:txBody>
          <a:bodyPr anchor="ctr"/>
          <a:lstStyle/>
          <a:p>
            <a:pPr algn="ctr" defTabSz="685800">
              <a:lnSpc>
                <a:spcPct val="120000"/>
              </a:lnSpc>
            </a:pPr>
            <a:r>
              <a:rPr lang="en-US" altLang="zh-CN" sz="1050" b="1" noProof="1">
                <a:solidFill>
                  <a:srgbClr val="FFFFFF"/>
                </a:solidFill>
                <a:latin typeface="+mn-ea"/>
              </a:rPr>
              <a:t>02 </a:t>
            </a:r>
          </a:p>
          <a:p>
            <a:pPr algn="ctr" defTabSz="685800">
              <a:lnSpc>
                <a:spcPct val="120000"/>
              </a:lnSpc>
            </a:pPr>
            <a:r>
              <a:rPr lang="en-US" altLang="zh-CN" sz="800" b="1" noProof="1">
                <a:solidFill>
                  <a:srgbClr val="FFFFFF"/>
                </a:solidFill>
                <a:latin typeface="+mn-ea"/>
              </a:rPr>
              <a:t>自研应用层（AKS）</a:t>
            </a:r>
            <a:endParaRPr lang="en-US" altLang="zh-CN" sz="800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14" name="s2-c1">
            <a:extLst>
              <a:ext uri="{FF2B5EF4-FFF2-40B4-BE49-F238E27FC236}">
                <a16:creationId xmlns:a16="http://schemas.microsoft.com/office/drawing/2014/main" id="{EAFD62DC-0D74-F425-64D3-C9F2B11774BE}"/>
              </a:ext>
            </a:extLst>
          </p:cNvPr>
          <p:cNvSpPr/>
          <p:nvPr/>
        </p:nvSpPr>
        <p:spPr>
          <a:xfrm>
            <a:off x="1467731" y="1719554"/>
            <a:ext cx="1869616" cy="42867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DF7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18" name="s2-c1-icon">
            <a:extLst>
              <a:ext uri="{FF2B5EF4-FFF2-40B4-BE49-F238E27FC236}">
                <a16:creationId xmlns:a16="http://schemas.microsoft.com/office/drawing/2014/main" id="{5F8CBCF9-5826-9D87-9BFF-0AB27B6FA7F6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eyJpY29uTmFtZSI6ImZhczpkaXNwbGF5In0</pptd:icon>
              </p:ext>
            </p:extLst>
          </p:nvPr>
        </p:nvSpPr>
        <p:spPr>
          <a:xfrm>
            <a:off x="1626472" y="1832789"/>
            <a:ext cx="211655" cy="194116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448" y="96"/>
                </a:moveTo>
                <a:lnTo>
                  <a:pt x="448" y="352"/>
                </a:lnTo>
                <a:lnTo>
                  <a:pt x="64" y="352"/>
                </a:lnTo>
                <a:lnTo>
                  <a:pt x="64" y="96"/>
                </a:lnTo>
                <a:lnTo>
                  <a:pt x="448" y="96"/>
                </a:lnTo>
                <a:close/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352"/>
                </a:lnTo>
                <a:cubicBezTo>
                  <a:pt x="0" y="387"/>
                  <a:pt x="29" y="416"/>
                  <a:pt x="64" y="416"/>
                </a:cubicBezTo>
                <a:lnTo>
                  <a:pt x="208" y="416"/>
                </a:lnTo>
                <a:lnTo>
                  <a:pt x="192" y="464"/>
                </a:lnTo>
                <a:lnTo>
                  <a:pt x="120" y="464"/>
                </a:lnTo>
                <a:cubicBezTo>
                  <a:pt x="107" y="464"/>
                  <a:pt x="96" y="475"/>
                  <a:pt x="96" y="488"/>
                </a:cubicBezTo>
                <a:cubicBezTo>
                  <a:pt x="96" y="501"/>
                  <a:pt x="107" y="512"/>
                  <a:pt x="120" y="512"/>
                </a:cubicBezTo>
                <a:lnTo>
                  <a:pt x="392" y="512"/>
                </a:lnTo>
                <a:cubicBezTo>
                  <a:pt x="405" y="512"/>
                  <a:pt x="416" y="501"/>
                  <a:pt x="416" y="488"/>
                </a:cubicBezTo>
                <a:cubicBezTo>
                  <a:pt x="416" y="475"/>
                  <a:pt x="405" y="464"/>
                  <a:pt x="392" y="464"/>
                </a:cubicBezTo>
                <a:lnTo>
                  <a:pt x="320" y="464"/>
                </a:lnTo>
                <a:lnTo>
                  <a:pt x="304" y="416"/>
                </a:lnTo>
                <a:lnTo>
                  <a:pt x="448" y="416"/>
                </a:lnTo>
                <a:cubicBezTo>
                  <a:pt x="483" y="416"/>
                  <a:pt x="512" y="387"/>
                  <a:pt x="512" y="352"/>
                </a:cubicBezTo>
                <a:lnTo>
                  <a:pt x="512" y="96"/>
                </a:lnTo>
                <a:cubicBezTo>
                  <a:pt x="512" y="61"/>
                  <a:pt x="483" y="32"/>
                  <a:pt x="448" y="32"/>
                </a:cubicBezTo>
                <a:lnTo>
                  <a:pt x="64" y="32"/>
                </a:lnTo>
                <a:close/>
              </a:path>
            </a:pathLst>
          </a:custGeom>
          <a:solidFill>
            <a:srgbClr val="0B5FC7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25" name="s2-c1-title">
            <a:extLst>
              <a:ext uri="{FF2B5EF4-FFF2-40B4-BE49-F238E27FC236}">
                <a16:creationId xmlns:a16="http://schemas.microsoft.com/office/drawing/2014/main" id="{D59F3B76-8F60-A542-21FC-AC27C63A3D1E}"/>
              </a:ext>
            </a:extLst>
          </p:cNvPr>
          <p:cNvSpPr txBox="1"/>
          <p:nvPr/>
        </p:nvSpPr>
        <p:spPr>
          <a:xfrm>
            <a:off x="1908678" y="1743819"/>
            <a:ext cx="1411031" cy="1213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800" b="1" noProof="1">
                <a:solidFill>
                  <a:srgbClr val="1F2430"/>
                </a:solidFill>
                <a:latin typeface="+mn-ea"/>
              </a:rPr>
              <a:t>React 配置化查询平台</a:t>
            </a:r>
            <a:endParaRPr lang="en-US" sz="800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52" name="s2-a1">
            <a:extLst>
              <a:ext uri="{FF2B5EF4-FFF2-40B4-BE49-F238E27FC236}">
                <a16:creationId xmlns:a16="http://schemas.microsoft.com/office/drawing/2014/main" id="{1620DA69-E157-B45C-8B1F-9E2BFB8211DA}"/>
              </a:ext>
            </a:extLst>
          </p:cNvPr>
          <p:cNvSpPr/>
          <p:nvPr/>
        </p:nvSpPr>
        <p:spPr>
          <a:xfrm>
            <a:off x="3363804" y="1897494"/>
            <a:ext cx="211655" cy="72794"/>
          </a:xfrm>
          <a:prstGeom prst="rightArrow">
            <a:avLst>
              <a:gd name="adj1" fmla="val 38000"/>
              <a:gd name="adj2" fmla="val 45000"/>
            </a:avLst>
          </a:prstGeom>
          <a:solidFill>
            <a:srgbClr val="1C5DC6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68" name="s2-c2">
            <a:extLst>
              <a:ext uri="{FF2B5EF4-FFF2-40B4-BE49-F238E27FC236}">
                <a16:creationId xmlns:a16="http://schemas.microsoft.com/office/drawing/2014/main" id="{6944DCC5-B0BF-8B92-C344-8C313A69AC82}"/>
              </a:ext>
            </a:extLst>
          </p:cNvPr>
          <p:cNvSpPr/>
          <p:nvPr/>
        </p:nvSpPr>
        <p:spPr>
          <a:xfrm>
            <a:off x="3601916" y="1719554"/>
            <a:ext cx="2284107" cy="42867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DF7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172" name="s2-c2-icon">
            <a:extLst>
              <a:ext uri="{FF2B5EF4-FFF2-40B4-BE49-F238E27FC236}">
                <a16:creationId xmlns:a16="http://schemas.microsoft.com/office/drawing/2014/main" id="{012ABE6C-6C36-E23A-20CB-7E77DBE24127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3707743" y="1808524"/>
            <a:ext cx="185198" cy="250734"/>
          </a:xfrm>
          <a:prstGeom prst="rect">
            <a:avLst/>
          </a:prstGeom>
          <a:ln>
            <a:noFill/>
          </a:ln>
        </p:spPr>
      </p:pic>
      <p:sp>
        <p:nvSpPr>
          <p:cNvPr id="176" name="s2-c2-title">
            <a:extLst>
              <a:ext uri="{FF2B5EF4-FFF2-40B4-BE49-F238E27FC236}">
                <a16:creationId xmlns:a16="http://schemas.microsoft.com/office/drawing/2014/main" id="{EF319357-E3E4-B6AF-D42B-F419D4D599AC}"/>
              </a:ext>
            </a:extLst>
          </p:cNvPr>
          <p:cNvSpPr txBox="1"/>
          <p:nvPr/>
        </p:nvSpPr>
        <p:spPr>
          <a:xfrm>
            <a:off x="3954673" y="1743819"/>
            <a:ext cx="1904892" cy="1132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800" b="1" noProof="1">
                <a:solidFill>
                  <a:srgbClr val="1F2430"/>
                </a:solidFill>
                <a:latin typeface="+mn-ea"/>
              </a:rPr>
              <a:t>.NET 10 后端服务组</a:t>
            </a:r>
            <a:endParaRPr lang="en-US" sz="800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04" name="s2-a2">
            <a:extLst>
              <a:ext uri="{FF2B5EF4-FFF2-40B4-BE49-F238E27FC236}">
                <a16:creationId xmlns:a16="http://schemas.microsoft.com/office/drawing/2014/main" id="{6C20CE8F-81AC-5CF0-399A-DFAC3D801620}"/>
              </a:ext>
            </a:extLst>
          </p:cNvPr>
          <p:cNvSpPr/>
          <p:nvPr/>
        </p:nvSpPr>
        <p:spPr>
          <a:xfrm>
            <a:off x="5938936" y="1897494"/>
            <a:ext cx="211655" cy="72794"/>
          </a:xfrm>
          <a:prstGeom prst="rightArrow">
            <a:avLst>
              <a:gd name="adj1" fmla="val 38000"/>
              <a:gd name="adj2" fmla="val 45000"/>
            </a:avLst>
          </a:prstGeom>
          <a:solidFill>
            <a:srgbClr val="1C5DC6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06" name="s2-c3">
            <a:extLst>
              <a:ext uri="{FF2B5EF4-FFF2-40B4-BE49-F238E27FC236}">
                <a16:creationId xmlns:a16="http://schemas.microsoft.com/office/drawing/2014/main" id="{32D56243-B4ED-BCB3-FF95-81C7E24A8672}"/>
              </a:ext>
            </a:extLst>
          </p:cNvPr>
          <p:cNvSpPr/>
          <p:nvPr/>
        </p:nvSpPr>
        <p:spPr>
          <a:xfrm>
            <a:off x="6177047" y="1719554"/>
            <a:ext cx="1922530" cy="42867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DF7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10" name="s2-c3-icon">
            <a:extLst>
              <a:ext uri="{FF2B5EF4-FFF2-40B4-BE49-F238E27FC236}">
                <a16:creationId xmlns:a16="http://schemas.microsoft.com/office/drawing/2014/main" id="{8E26814D-9FB5-7470-5A91-463268288D4C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eyJpY29uTmFtZSI6ImZhczpkYXRhYmFzZSJ9</pptd:icon>
              </p:ext>
            </p:extLst>
          </p:nvPr>
        </p:nvSpPr>
        <p:spPr>
          <a:xfrm>
            <a:off x="6318151" y="1824701"/>
            <a:ext cx="194017" cy="210293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48" y="206"/>
                </a:moveTo>
                <a:cubicBezTo>
                  <a:pt x="433" y="216"/>
                  <a:pt x="416" y="224"/>
                  <a:pt x="399" y="230"/>
                </a:cubicBezTo>
                <a:cubicBezTo>
                  <a:pt x="352" y="247"/>
                  <a:pt x="290" y="256"/>
                  <a:pt x="224" y="256"/>
                </a:cubicBezTo>
                <a:cubicBezTo>
                  <a:pt x="158" y="256"/>
                  <a:pt x="96" y="247"/>
                  <a:pt x="50" y="230"/>
                </a:cubicBezTo>
                <a:cubicBezTo>
                  <a:pt x="32" y="224"/>
                  <a:pt x="15" y="216"/>
                  <a:pt x="0" y="206"/>
                </a:cubicBezTo>
                <a:lnTo>
                  <a:pt x="0" y="288"/>
                </a:lnTo>
                <a:cubicBezTo>
                  <a:pt x="0" y="332"/>
                  <a:pt x="100" y="368"/>
                  <a:pt x="224" y="368"/>
                </a:cubicBezTo>
                <a:cubicBezTo>
                  <a:pt x="348" y="368"/>
                  <a:pt x="448" y="332"/>
                  <a:pt x="448" y="288"/>
                </a:cubicBezTo>
                <a:lnTo>
                  <a:pt x="448" y="206"/>
                </a:lnTo>
                <a:close/>
              </a:path>
              <a:path w="448" h="512">
                <a:moveTo>
                  <a:pt x="448" y="128"/>
                </a:moveTo>
                <a:lnTo>
                  <a:pt x="448" y="80"/>
                </a:lnTo>
                <a:cubicBezTo>
                  <a:pt x="448" y="36"/>
                  <a:pt x="348" y="0"/>
                  <a:pt x="224" y="0"/>
                </a:cubicBezTo>
                <a:cubicBezTo>
                  <a:pt x="100" y="0"/>
                  <a:pt x="0" y="36"/>
                  <a:pt x="0" y="80"/>
                </a:cubicBezTo>
                <a:lnTo>
                  <a:pt x="0" y="128"/>
                </a:lnTo>
                <a:cubicBezTo>
                  <a:pt x="0" y="172"/>
                  <a:pt x="100" y="208"/>
                  <a:pt x="224" y="208"/>
                </a:cubicBezTo>
                <a:cubicBezTo>
                  <a:pt x="348" y="208"/>
                  <a:pt x="448" y="172"/>
                  <a:pt x="448" y="128"/>
                </a:cubicBezTo>
                <a:close/>
              </a:path>
              <a:path w="448" h="512">
                <a:moveTo>
                  <a:pt x="399" y="390"/>
                </a:moveTo>
                <a:cubicBezTo>
                  <a:pt x="352" y="407"/>
                  <a:pt x="290" y="416"/>
                  <a:pt x="224" y="416"/>
                </a:cubicBezTo>
                <a:cubicBezTo>
                  <a:pt x="158" y="416"/>
                  <a:pt x="96" y="407"/>
                  <a:pt x="50" y="390"/>
                </a:cubicBezTo>
                <a:cubicBezTo>
                  <a:pt x="32" y="384"/>
                  <a:pt x="15" y="376"/>
                  <a:pt x="0" y="366"/>
                </a:cubicBezTo>
                <a:lnTo>
                  <a:pt x="0" y="432"/>
                </a:lnTo>
                <a:cubicBezTo>
                  <a:pt x="0" y="476"/>
                  <a:pt x="100" y="512"/>
                  <a:pt x="224" y="512"/>
                </a:cubicBezTo>
                <a:cubicBezTo>
                  <a:pt x="348" y="512"/>
                  <a:pt x="448" y="476"/>
                  <a:pt x="448" y="432"/>
                </a:cubicBezTo>
                <a:lnTo>
                  <a:pt x="448" y="366"/>
                </a:lnTo>
                <a:cubicBezTo>
                  <a:pt x="433" y="376"/>
                  <a:pt x="416" y="384"/>
                  <a:pt x="399" y="390"/>
                </a:cubicBezTo>
                <a:close/>
              </a:path>
            </a:pathLst>
          </a:custGeom>
          <a:solidFill>
            <a:srgbClr val="0B5FC7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14" name="s2-c3-title">
            <a:extLst>
              <a:ext uri="{FF2B5EF4-FFF2-40B4-BE49-F238E27FC236}">
                <a16:creationId xmlns:a16="http://schemas.microsoft.com/office/drawing/2014/main" id="{20FAEE7E-23C1-9113-4F44-DD7688202763}"/>
              </a:ext>
            </a:extLst>
          </p:cNvPr>
          <p:cNvSpPr txBox="1"/>
          <p:nvPr/>
        </p:nvSpPr>
        <p:spPr>
          <a:xfrm>
            <a:off x="6582719" y="1743819"/>
            <a:ext cx="1481583" cy="1213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800" b="1" noProof="1">
                <a:solidFill>
                  <a:srgbClr val="1F2430"/>
                </a:solidFill>
                <a:latin typeface="+mn-ea"/>
              </a:rPr>
              <a:t>Azure SQL 元数据库</a:t>
            </a:r>
            <a:endParaRPr lang="en-US" sz="800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38" name="s4-box">
            <a:extLst>
              <a:ext uri="{FF2B5EF4-FFF2-40B4-BE49-F238E27FC236}">
                <a16:creationId xmlns:a16="http://schemas.microsoft.com/office/drawing/2014/main" id="{F339086D-24C4-319A-18C6-D5DB58EC4A83}"/>
              </a:ext>
            </a:extLst>
          </p:cNvPr>
          <p:cNvSpPr/>
          <p:nvPr/>
        </p:nvSpPr>
        <p:spPr>
          <a:xfrm>
            <a:off x="444734" y="3524250"/>
            <a:ext cx="8254532" cy="535207"/>
          </a:xfrm>
          <a:prstGeom prst="roundRect">
            <a:avLst>
              <a:gd name="adj" fmla="val 8000"/>
            </a:avLst>
          </a:prstGeom>
          <a:noFill/>
          <a:ln w="9525"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40" name="s4-c1">
            <a:extLst>
              <a:ext uri="{FF2B5EF4-FFF2-40B4-BE49-F238E27FC236}">
                <a16:creationId xmlns:a16="http://schemas.microsoft.com/office/drawing/2014/main" id="{0E32A304-2C2B-C277-5DEE-72AEBAE49499}"/>
              </a:ext>
            </a:extLst>
          </p:cNvPr>
          <p:cNvSpPr/>
          <p:nvPr/>
        </p:nvSpPr>
        <p:spPr>
          <a:xfrm>
            <a:off x="1326628" y="3574894"/>
            <a:ext cx="2328201" cy="44120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6FAFE9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42" name="s4-c1-icon">
            <a:extLst>
              <a:ext uri="{FF2B5EF4-FFF2-40B4-BE49-F238E27FC236}">
                <a16:creationId xmlns:a16="http://schemas.microsoft.com/office/drawing/2014/main" id="{7D6852A1-0593-C2E1-BF2B-B1468FF25950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eyJpY29uTmFtZSI6ImZhczpkYXRhYmFzZSJ9</pptd:icon>
              </p:ext>
            </p:extLst>
          </p:nvPr>
        </p:nvSpPr>
        <p:spPr>
          <a:xfrm>
            <a:off x="1582378" y="3678155"/>
            <a:ext cx="211655" cy="24407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48" y="206"/>
                </a:moveTo>
                <a:cubicBezTo>
                  <a:pt x="433" y="216"/>
                  <a:pt x="416" y="224"/>
                  <a:pt x="399" y="230"/>
                </a:cubicBezTo>
                <a:cubicBezTo>
                  <a:pt x="352" y="247"/>
                  <a:pt x="290" y="256"/>
                  <a:pt x="224" y="256"/>
                </a:cubicBezTo>
                <a:cubicBezTo>
                  <a:pt x="158" y="256"/>
                  <a:pt x="96" y="247"/>
                  <a:pt x="50" y="230"/>
                </a:cubicBezTo>
                <a:cubicBezTo>
                  <a:pt x="32" y="224"/>
                  <a:pt x="15" y="216"/>
                  <a:pt x="0" y="206"/>
                </a:cubicBezTo>
                <a:lnTo>
                  <a:pt x="0" y="288"/>
                </a:lnTo>
                <a:cubicBezTo>
                  <a:pt x="0" y="332"/>
                  <a:pt x="100" y="368"/>
                  <a:pt x="224" y="368"/>
                </a:cubicBezTo>
                <a:cubicBezTo>
                  <a:pt x="348" y="368"/>
                  <a:pt x="448" y="332"/>
                  <a:pt x="448" y="288"/>
                </a:cubicBezTo>
                <a:lnTo>
                  <a:pt x="448" y="206"/>
                </a:lnTo>
                <a:close/>
              </a:path>
              <a:path w="448" h="512">
                <a:moveTo>
                  <a:pt x="448" y="128"/>
                </a:moveTo>
                <a:lnTo>
                  <a:pt x="448" y="80"/>
                </a:lnTo>
                <a:cubicBezTo>
                  <a:pt x="448" y="36"/>
                  <a:pt x="348" y="0"/>
                  <a:pt x="224" y="0"/>
                </a:cubicBezTo>
                <a:cubicBezTo>
                  <a:pt x="100" y="0"/>
                  <a:pt x="0" y="36"/>
                  <a:pt x="0" y="80"/>
                </a:cubicBezTo>
                <a:lnTo>
                  <a:pt x="0" y="128"/>
                </a:lnTo>
                <a:cubicBezTo>
                  <a:pt x="0" y="172"/>
                  <a:pt x="100" y="208"/>
                  <a:pt x="224" y="208"/>
                </a:cubicBezTo>
                <a:cubicBezTo>
                  <a:pt x="348" y="208"/>
                  <a:pt x="448" y="172"/>
                  <a:pt x="448" y="128"/>
                </a:cubicBezTo>
                <a:close/>
              </a:path>
              <a:path w="448" h="512">
                <a:moveTo>
                  <a:pt x="399" y="390"/>
                </a:moveTo>
                <a:cubicBezTo>
                  <a:pt x="352" y="407"/>
                  <a:pt x="290" y="416"/>
                  <a:pt x="224" y="416"/>
                </a:cubicBezTo>
                <a:cubicBezTo>
                  <a:pt x="158" y="416"/>
                  <a:pt x="96" y="407"/>
                  <a:pt x="50" y="390"/>
                </a:cubicBezTo>
                <a:cubicBezTo>
                  <a:pt x="32" y="384"/>
                  <a:pt x="15" y="376"/>
                  <a:pt x="0" y="366"/>
                </a:cubicBezTo>
                <a:lnTo>
                  <a:pt x="0" y="432"/>
                </a:lnTo>
                <a:cubicBezTo>
                  <a:pt x="0" y="476"/>
                  <a:pt x="100" y="512"/>
                  <a:pt x="224" y="512"/>
                </a:cubicBezTo>
                <a:cubicBezTo>
                  <a:pt x="348" y="512"/>
                  <a:pt x="448" y="476"/>
                  <a:pt x="448" y="432"/>
                </a:cubicBezTo>
                <a:lnTo>
                  <a:pt x="448" y="366"/>
                </a:lnTo>
                <a:cubicBezTo>
                  <a:pt x="433" y="376"/>
                  <a:pt x="416" y="384"/>
                  <a:pt x="399" y="390"/>
                </a:cubicBezTo>
                <a:close/>
              </a:path>
            </a:pathLst>
          </a:custGeom>
          <a:solidFill>
            <a:srgbClr val="0E68CE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44" name="s4-c1-title">
            <a:extLst>
              <a:ext uri="{FF2B5EF4-FFF2-40B4-BE49-F238E27FC236}">
                <a16:creationId xmlns:a16="http://schemas.microsoft.com/office/drawing/2014/main" id="{6A03C5D1-D192-8B02-C082-4694130A8359}"/>
              </a:ext>
            </a:extLst>
          </p:cNvPr>
          <p:cNvSpPr txBox="1"/>
          <p:nvPr/>
        </p:nvSpPr>
        <p:spPr>
          <a:xfrm>
            <a:off x="1935135" y="3593670"/>
            <a:ext cx="1772608" cy="1314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750" b="1" noProof="1">
                <a:solidFill>
                  <a:srgbClr val="0956C8"/>
                </a:solidFill>
                <a:latin typeface="+mn-ea"/>
              </a:rPr>
              <a:t>ADLS Gen2 · Iceberg Lakehouse</a:t>
            </a:r>
            <a:endParaRPr lang="en-US" sz="750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52" name="s4-c2">
            <a:extLst>
              <a:ext uri="{FF2B5EF4-FFF2-40B4-BE49-F238E27FC236}">
                <a16:creationId xmlns:a16="http://schemas.microsoft.com/office/drawing/2014/main" id="{BD5D1618-324A-F771-311A-C84620BBDEAA}"/>
              </a:ext>
            </a:extLst>
          </p:cNvPr>
          <p:cNvSpPr/>
          <p:nvPr/>
        </p:nvSpPr>
        <p:spPr>
          <a:xfrm>
            <a:off x="3769476" y="3574894"/>
            <a:ext cx="2019538" cy="44120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6FAFE9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354" name="s4-c2-icon">
            <a:extLst>
              <a:ext uri="{FF2B5EF4-FFF2-40B4-BE49-F238E27FC236}">
                <a16:creationId xmlns:a16="http://schemas.microsoft.com/office/drawing/2014/main" id="{D7286015-35CD-3F0D-0FE6-BB1D8565872E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3909767" y="3649993"/>
            <a:ext cx="246930" cy="281619"/>
          </a:xfrm>
          <a:prstGeom prst="rect">
            <a:avLst/>
          </a:prstGeom>
          <a:ln>
            <a:noFill/>
          </a:ln>
        </p:spPr>
      </p:pic>
      <p:sp>
        <p:nvSpPr>
          <p:cNvPr id="356" name="s4-c2-title">
            <a:extLst>
              <a:ext uri="{FF2B5EF4-FFF2-40B4-BE49-F238E27FC236}">
                <a16:creationId xmlns:a16="http://schemas.microsoft.com/office/drawing/2014/main" id="{062BFBDE-9751-7BF5-56BD-7C13902DAF83}"/>
              </a:ext>
            </a:extLst>
          </p:cNvPr>
          <p:cNvSpPr txBox="1"/>
          <p:nvPr/>
        </p:nvSpPr>
        <p:spPr>
          <a:xfrm>
            <a:off x="4228448" y="3612444"/>
            <a:ext cx="1088432" cy="1314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750" b="1" noProof="1">
                <a:solidFill>
                  <a:srgbClr val="0956C8"/>
                </a:solidFill>
                <a:latin typeface="+mn-ea"/>
              </a:rPr>
              <a:t>Unity Catalog</a:t>
            </a:r>
            <a:endParaRPr lang="en-US" sz="750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62" name="s4-c3">
            <a:extLst>
              <a:ext uri="{FF2B5EF4-FFF2-40B4-BE49-F238E27FC236}">
                <a16:creationId xmlns:a16="http://schemas.microsoft.com/office/drawing/2014/main" id="{6B8EC06D-FD6F-EAD5-EF10-84E01D0E5B90}"/>
              </a:ext>
            </a:extLst>
          </p:cNvPr>
          <p:cNvSpPr/>
          <p:nvPr/>
        </p:nvSpPr>
        <p:spPr>
          <a:xfrm>
            <a:off x="5903661" y="3574894"/>
            <a:ext cx="2707416" cy="44120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6FAFE9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64" name="s4-c3-icon">
            <a:extLst>
              <a:ext uri="{FF2B5EF4-FFF2-40B4-BE49-F238E27FC236}">
                <a16:creationId xmlns:a16="http://schemas.microsoft.com/office/drawing/2014/main" id="{8DDDD421-E49E-1CEB-53C3-00AA2535789D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eyJpY29uTmFtZSI6ImZhczpmb2xkZXItb3BlbiJ9</pptd:icon>
              </p:ext>
            </p:extLst>
          </p:nvPr>
        </p:nvSpPr>
        <p:spPr>
          <a:xfrm>
            <a:off x="6071221" y="3687543"/>
            <a:ext cx="229293" cy="225295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56" y="226"/>
                </a:moveTo>
                <a:lnTo>
                  <a:pt x="32" y="296"/>
                </a:lnTo>
                <a:lnTo>
                  <a:pt x="32" y="96"/>
                </a:lnTo>
                <a:cubicBezTo>
                  <a:pt x="32" y="61"/>
                  <a:pt x="61" y="32"/>
                  <a:pt x="96" y="32"/>
                </a:cubicBezTo>
                <a:lnTo>
                  <a:pt x="235" y="32"/>
                </a:lnTo>
                <a:cubicBezTo>
                  <a:pt x="249" y="32"/>
                  <a:pt x="262" y="37"/>
                  <a:pt x="274" y="45"/>
                </a:cubicBezTo>
                <a:lnTo>
                  <a:pt x="312" y="74"/>
                </a:lnTo>
                <a:cubicBezTo>
                  <a:pt x="317" y="78"/>
                  <a:pt x="324" y="80"/>
                  <a:pt x="331" y="80"/>
                </a:cubicBezTo>
                <a:lnTo>
                  <a:pt x="448" y="80"/>
                </a:lnTo>
                <a:cubicBezTo>
                  <a:pt x="484" y="80"/>
                  <a:pt x="512" y="109"/>
                  <a:pt x="512" y="144"/>
                </a:cubicBezTo>
                <a:lnTo>
                  <a:pt x="512" y="160"/>
                </a:lnTo>
                <a:lnTo>
                  <a:pt x="147" y="160"/>
                </a:lnTo>
                <a:cubicBezTo>
                  <a:pt x="106" y="160"/>
                  <a:pt x="69" y="186"/>
                  <a:pt x="56" y="226"/>
                </a:cubicBezTo>
                <a:close/>
                <a:moveTo>
                  <a:pt x="478" y="448"/>
                </a:moveTo>
                <a:lnTo>
                  <a:pt x="99" y="448"/>
                </a:lnTo>
                <a:cubicBezTo>
                  <a:pt x="66" y="448"/>
                  <a:pt x="43" y="416"/>
                  <a:pt x="54" y="385"/>
                </a:cubicBezTo>
                <a:lnTo>
                  <a:pt x="102" y="241"/>
                </a:lnTo>
                <a:cubicBezTo>
                  <a:pt x="108" y="221"/>
                  <a:pt x="126" y="208"/>
                  <a:pt x="147" y="208"/>
                </a:cubicBezTo>
                <a:lnTo>
                  <a:pt x="526" y="208"/>
                </a:lnTo>
                <a:cubicBezTo>
                  <a:pt x="559" y="208"/>
                  <a:pt x="582" y="240"/>
                  <a:pt x="571" y="271"/>
                </a:cubicBezTo>
                <a:lnTo>
                  <a:pt x="523" y="415"/>
                </a:lnTo>
                <a:cubicBezTo>
                  <a:pt x="517" y="435"/>
                  <a:pt x="498" y="448"/>
                  <a:pt x="478" y="448"/>
                </a:cubicBezTo>
                <a:close/>
              </a:path>
            </a:pathLst>
          </a:custGeom>
          <a:solidFill>
            <a:srgbClr val="0E60CB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66" name="s4-c3-title">
            <a:extLst>
              <a:ext uri="{FF2B5EF4-FFF2-40B4-BE49-F238E27FC236}">
                <a16:creationId xmlns:a16="http://schemas.microsoft.com/office/drawing/2014/main" id="{33868BBD-06F5-D99F-571B-CE670331A09A}"/>
              </a:ext>
            </a:extLst>
          </p:cNvPr>
          <p:cNvSpPr txBox="1"/>
          <p:nvPr/>
        </p:nvSpPr>
        <p:spPr>
          <a:xfrm>
            <a:off x="6388703" y="3612444"/>
            <a:ext cx="2187098" cy="1314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750" b="1" noProof="1">
                <a:solidFill>
                  <a:srgbClr val="0956C8"/>
                </a:solidFill>
                <a:latin typeface="+mn-ea"/>
              </a:rPr>
              <a:t>Azure Blob Storage（附件账户）</a:t>
            </a:r>
            <a:endParaRPr lang="en-US" sz="750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72" name="s4-tab">
            <a:extLst>
              <a:ext uri="{FF2B5EF4-FFF2-40B4-BE49-F238E27FC236}">
                <a16:creationId xmlns:a16="http://schemas.microsoft.com/office/drawing/2014/main" id="{5A80AE96-C3DF-724D-B9E6-0D4633813E39}"/>
              </a:ext>
            </a:extLst>
          </p:cNvPr>
          <p:cNvSpPr/>
          <p:nvPr/>
        </p:nvSpPr>
        <p:spPr>
          <a:xfrm>
            <a:off x="480011" y="3574894"/>
            <a:ext cx="800150" cy="441203"/>
          </a:xfrm>
          <a:prstGeom prst="roundRect">
            <a:avLst>
              <a:gd name="adj" fmla="val 7667"/>
            </a:avLst>
          </a:prstGeom>
          <a:solidFill>
            <a:srgbClr val="0D8AE6"/>
          </a:solidFill>
          <a:ln>
            <a:noFill/>
          </a:ln>
        </p:spPr>
        <p:txBody>
          <a:bodyPr anchor="ctr"/>
          <a:lstStyle/>
          <a:p>
            <a:pPr algn="ctr" defTabSz="685800">
              <a:lnSpc>
                <a:spcPct val="120000"/>
              </a:lnSpc>
            </a:pPr>
            <a:r>
              <a:rPr lang="en-US" altLang="zh-CN" sz="1050" b="1" noProof="1">
                <a:solidFill>
                  <a:srgbClr val="FFFFFF"/>
                </a:solidFill>
                <a:latin typeface="+mn-ea"/>
              </a:rPr>
              <a:t>04 </a:t>
            </a:r>
          </a:p>
          <a:p>
            <a:pPr algn="ctr" defTabSz="685800"/>
            <a:r>
              <a:rPr lang="en-US" altLang="zh-CN" sz="800" b="1" noProof="1">
                <a:solidFill>
                  <a:srgbClr val="FFFFFF"/>
                </a:solidFill>
                <a:latin typeface="+mn-ea"/>
              </a:rPr>
              <a:t>数据底座与统一治理</a:t>
            </a:r>
            <a:endParaRPr lang="en-US" altLang="zh-CN" sz="800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76" name="pr-box">
            <a:extLst>
              <a:ext uri="{FF2B5EF4-FFF2-40B4-BE49-F238E27FC236}">
                <a16:creationId xmlns:a16="http://schemas.microsoft.com/office/drawing/2014/main" id="{F2D1F717-BB79-731E-35D3-8333993CCB99}"/>
              </a:ext>
            </a:extLst>
          </p:cNvPr>
          <p:cNvSpPr/>
          <p:nvPr/>
        </p:nvSpPr>
        <p:spPr>
          <a:xfrm>
            <a:off x="480010" y="4196956"/>
            <a:ext cx="767248" cy="372056"/>
          </a:xfrm>
          <a:prstGeom prst="roundRect">
            <a:avLst>
              <a:gd name="adj" fmla="val 10000"/>
            </a:avLst>
          </a:prstGeom>
          <a:solidFill>
            <a:srgbClr val="0A4AA3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78" name="pr-box-t1">
            <a:extLst>
              <a:ext uri="{FF2B5EF4-FFF2-40B4-BE49-F238E27FC236}">
                <a16:creationId xmlns:a16="http://schemas.microsoft.com/office/drawing/2014/main" id="{597D9C8F-8010-E006-5579-A62ABDA6E9F8}"/>
              </a:ext>
            </a:extLst>
          </p:cNvPr>
          <p:cNvSpPr txBox="1"/>
          <p:nvPr/>
        </p:nvSpPr>
        <p:spPr>
          <a:xfrm>
            <a:off x="480010" y="4318278"/>
            <a:ext cx="767248" cy="1294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900" b="1" noProof="1">
                <a:solidFill>
                  <a:srgbClr val="FFFFFF"/>
                </a:solidFill>
                <a:latin typeface="+mn-ea"/>
              </a:rPr>
              <a:t>架构原则</a:t>
            </a:r>
            <a:endParaRPr lang="en-US" sz="900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84" name="pr-d1">
            <a:extLst>
              <a:ext uri="{FF2B5EF4-FFF2-40B4-BE49-F238E27FC236}">
                <a16:creationId xmlns:a16="http://schemas.microsoft.com/office/drawing/2014/main" id="{D83AC694-859A-E187-D7BC-949ACFFCC331}"/>
              </a:ext>
            </a:extLst>
          </p:cNvPr>
          <p:cNvSpPr/>
          <p:nvPr/>
        </p:nvSpPr>
        <p:spPr>
          <a:xfrm>
            <a:off x="2389310" y="4229308"/>
            <a:ext cx="8819" cy="307351"/>
          </a:xfrm>
          <a:prstGeom prst="rect">
            <a:avLst/>
          </a:prstGeom>
          <a:solidFill>
            <a:srgbClr val="E5EAF2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86" name="pr-d2">
            <a:extLst>
              <a:ext uri="{FF2B5EF4-FFF2-40B4-BE49-F238E27FC236}">
                <a16:creationId xmlns:a16="http://schemas.microsoft.com/office/drawing/2014/main" id="{C30554DF-55A6-42D7-C489-DE0FEFDC2371}"/>
              </a:ext>
            </a:extLst>
          </p:cNvPr>
          <p:cNvSpPr/>
          <p:nvPr/>
        </p:nvSpPr>
        <p:spPr>
          <a:xfrm>
            <a:off x="3628373" y="4229308"/>
            <a:ext cx="8819" cy="307351"/>
          </a:xfrm>
          <a:prstGeom prst="rect">
            <a:avLst/>
          </a:prstGeom>
          <a:solidFill>
            <a:srgbClr val="E5EAF2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88" name="pr-d3">
            <a:extLst>
              <a:ext uri="{FF2B5EF4-FFF2-40B4-BE49-F238E27FC236}">
                <a16:creationId xmlns:a16="http://schemas.microsoft.com/office/drawing/2014/main" id="{D933722A-2A5A-453F-1510-0C61E04E44EC}"/>
              </a:ext>
            </a:extLst>
          </p:cNvPr>
          <p:cNvSpPr/>
          <p:nvPr/>
        </p:nvSpPr>
        <p:spPr>
          <a:xfrm>
            <a:off x="4968853" y="4229308"/>
            <a:ext cx="8819" cy="307351"/>
          </a:xfrm>
          <a:prstGeom prst="rect">
            <a:avLst/>
          </a:prstGeom>
          <a:solidFill>
            <a:srgbClr val="E5EAF2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90" name="pr-d4">
            <a:extLst>
              <a:ext uri="{FF2B5EF4-FFF2-40B4-BE49-F238E27FC236}">
                <a16:creationId xmlns:a16="http://schemas.microsoft.com/office/drawing/2014/main" id="{453E5C39-DE62-D452-F205-B6738B4C2535}"/>
              </a:ext>
            </a:extLst>
          </p:cNvPr>
          <p:cNvSpPr/>
          <p:nvPr/>
        </p:nvSpPr>
        <p:spPr>
          <a:xfrm>
            <a:off x="6195781" y="4229308"/>
            <a:ext cx="8819" cy="307351"/>
          </a:xfrm>
          <a:prstGeom prst="rect">
            <a:avLst/>
          </a:prstGeom>
          <a:solidFill>
            <a:srgbClr val="E5EAF2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92" name="pr-d5">
            <a:extLst>
              <a:ext uri="{FF2B5EF4-FFF2-40B4-BE49-F238E27FC236}">
                <a16:creationId xmlns:a16="http://schemas.microsoft.com/office/drawing/2014/main" id="{526A3586-CD05-A6E8-84AE-DADC2B2A4D1D}"/>
              </a:ext>
            </a:extLst>
          </p:cNvPr>
          <p:cNvSpPr/>
          <p:nvPr/>
        </p:nvSpPr>
        <p:spPr>
          <a:xfrm>
            <a:off x="7344695" y="4229308"/>
            <a:ext cx="8819" cy="307351"/>
          </a:xfrm>
          <a:prstGeom prst="rect">
            <a:avLst/>
          </a:prstGeom>
          <a:solidFill>
            <a:srgbClr val="E5EAF2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94" name="pr1-icon">
            <a:extLst>
              <a:ext uri="{FF2B5EF4-FFF2-40B4-BE49-F238E27FC236}">
                <a16:creationId xmlns:a16="http://schemas.microsoft.com/office/drawing/2014/main" id="{49BA2758-D912-D479-6E45-095A20E05B66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eyJpY29uTmFtZSI6ImZhczpjbG91ZC1hcnJvdy11cCJ9</pptd:icon>
              </p:ext>
            </p:extLst>
          </p:nvPr>
        </p:nvSpPr>
        <p:spPr>
          <a:xfrm>
            <a:off x="1335448" y="4302102"/>
            <a:ext cx="220474" cy="169852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144" y="480"/>
                </a:moveTo>
                <a:cubicBezTo>
                  <a:pt x="65" y="480"/>
                  <a:pt x="0" y="416"/>
                  <a:pt x="0" y="336"/>
                </a:cubicBezTo>
                <a:cubicBezTo>
                  <a:pt x="0" y="273"/>
                  <a:pt x="41" y="219"/>
                  <a:pt x="98" y="200"/>
                </a:cubicBezTo>
                <a:cubicBezTo>
                  <a:pt x="97" y="192"/>
                  <a:pt x="96" y="184"/>
                  <a:pt x="96" y="176"/>
                </a:cubicBezTo>
                <a:cubicBezTo>
                  <a:pt x="96" y="97"/>
                  <a:pt x="161" y="32"/>
                  <a:pt x="240" y="32"/>
                </a:cubicBezTo>
                <a:cubicBezTo>
                  <a:pt x="295" y="32"/>
                  <a:pt x="344" y="63"/>
                  <a:pt x="368" y="109"/>
                </a:cubicBezTo>
                <a:cubicBezTo>
                  <a:pt x="382" y="101"/>
                  <a:pt x="398" y="96"/>
                  <a:pt x="416" y="96"/>
                </a:cubicBezTo>
                <a:cubicBezTo>
                  <a:pt x="469" y="96"/>
                  <a:pt x="512" y="139"/>
                  <a:pt x="512" y="192"/>
                </a:cubicBezTo>
                <a:cubicBezTo>
                  <a:pt x="512" y="208"/>
                  <a:pt x="508" y="223"/>
                  <a:pt x="502" y="236"/>
                </a:cubicBezTo>
                <a:cubicBezTo>
                  <a:pt x="546" y="256"/>
                  <a:pt x="576" y="300"/>
                  <a:pt x="576" y="352"/>
                </a:cubicBezTo>
                <a:cubicBezTo>
                  <a:pt x="576" y="423"/>
                  <a:pt x="519" y="480"/>
                  <a:pt x="448" y="480"/>
                </a:cubicBezTo>
                <a:lnTo>
                  <a:pt x="144" y="480"/>
                </a:lnTo>
                <a:close/>
                <a:moveTo>
                  <a:pt x="305" y="191"/>
                </a:moveTo>
                <a:cubicBezTo>
                  <a:pt x="296" y="182"/>
                  <a:pt x="280" y="182"/>
                  <a:pt x="271" y="191"/>
                </a:cubicBezTo>
                <a:lnTo>
                  <a:pt x="199" y="263"/>
                </a:lnTo>
                <a:cubicBezTo>
                  <a:pt x="190" y="272"/>
                  <a:pt x="190" y="288"/>
                  <a:pt x="199" y="297"/>
                </a:cubicBezTo>
                <a:cubicBezTo>
                  <a:pt x="209" y="306"/>
                  <a:pt x="224" y="306"/>
                  <a:pt x="233" y="297"/>
                </a:cubicBezTo>
                <a:lnTo>
                  <a:pt x="264" y="266"/>
                </a:lnTo>
                <a:lnTo>
                  <a:pt x="264" y="368"/>
                </a:lnTo>
                <a:cubicBezTo>
                  <a:pt x="264" y="381"/>
                  <a:pt x="275" y="392"/>
                  <a:pt x="288" y="392"/>
                </a:cubicBezTo>
                <a:cubicBezTo>
                  <a:pt x="301" y="392"/>
                  <a:pt x="312" y="381"/>
                  <a:pt x="312" y="368"/>
                </a:cubicBezTo>
                <a:lnTo>
                  <a:pt x="312" y="266"/>
                </a:lnTo>
                <a:lnTo>
                  <a:pt x="343" y="297"/>
                </a:lnTo>
                <a:cubicBezTo>
                  <a:pt x="352" y="306"/>
                  <a:pt x="368" y="306"/>
                  <a:pt x="377" y="297"/>
                </a:cubicBezTo>
                <a:cubicBezTo>
                  <a:pt x="386" y="288"/>
                  <a:pt x="386" y="272"/>
                  <a:pt x="377" y="263"/>
                </a:cubicBezTo>
                <a:lnTo>
                  <a:pt x="305" y="191"/>
                </a:lnTo>
                <a:close/>
              </a:path>
            </a:pathLst>
          </a:custGeom>
          <a:solidFill>
            <a:srgbClr val="165FBE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96" name="pr1-title">
            <a:extLst>
              <a:ext uri="{FF2B5EF4-FFF2-40B4-BE49-F238E27FC236}">
                <a16:creationId xmlns:a16="http://schemas.microsoft.com/office/drawing/2014/main" id="{54F8D5D1-653E-AC0D-A9E6-441F45EC620A}"/>
              </a:ext>
            </a:extLst>
          </p:cNvPr>
          <p:cNvSpPr txBox="1"/>
          <p:nvPr/>
        </p:nvSpPr>
        <p:spPr>
          <a:xfrm>
            <a:off x="1600016" y="4213132"/>
            <a:ext cx="740791" cy="1051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750" b="1" noProof="1">
                <a:solidFill>
                  <a:srgbClr val="0956C8"/>
                </a:solidFill>
                <a:latin typeface="+mn-ea"/>
              </a:rPr>
              <a:t>存算分离</a:t>
            </a:r>
            <a:endParaRPr lang="en-US" sz="750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98" name="pr1-b1">
            <a:extLst>
              <a:ext uri="{FF2B5EF4-FFF2-40B4-BE49-F238E27FC236}">
                <a16:creationId xmlns:a16="http://schemas.microsoft.com/office/drawing/2014/main" id="{95C3F7BE-3F7D-88BF-5B12-C378B98FE2F9}"/>
              </a:ext>
            </a:extLst>
          </p:cNvPr>
          <p:cNvSpPr txBox="1"/>
          <p:nvPr/>
        </p:nvSpPr>
        <p:spPr>
          <a:xfrm>
            <a:off x="9144000" y="4366807"/>
            <a:ext cx="749610" cy="808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endParaRPr lang="en-US" sz="563" noProof="1">
              <a:solidFill>
                <a:srgbClr val="000000"/>
              </a:solidFill>
              <a:latin typeface="MiSans"/>
            </a:endParaRPr>
          </a:p>
        </p:txBody>
      </p:sp>
      <p:sp>
        <p:nvSpPr>
          <p:cNvPr id="400" name="pr1-b2">
            <a:extLst>
              <a:ext uri="{FF2B5EF4-FFF2-40B4-BE49-F238E27FC236}">
                <a16:creationId xmlns:a16="http://schemas.microsoft.com/office/drawing/2014/main" id="{B3E5BF19-6C59-8FBB-EB21-631CF094AFFB}"/>
              </a:ext>
            </a:extLst>
          </p:cNvPr>
          <p:cNvSpPr txBox="1"/>
          <p:nvPr/>
        </p:nvSpPr>
        <p:spPr>
          <a:xfrm>
            <a:off x="9144000" y="4447689"/>
            <a:ext cx="749610" cy="808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endParaRPr lang="en-US" sz="563" noProof="1">
              <a:solidFill>
                <a:srgbClr val="000000"/>
              </a:solidFill>
              <a:latin typeface="MiSans"/>
            </a:endParaRPr>
          </a:p>
        </p:txBody>
      </p:sp>
      <p:sp>
        <p:nvSpPr>
          <p:cNvPr id="402" name="pr1-b3">
            <a:extLst>
              <a:ext uri="{FF2B5EF4-FFF2-40B4-BE49-F238E27FC236}">
                <a16:creationId xmlns:a16="http://schemas.microsoft.com/office/drawing/2014/main" id="{AE656604-AE67-DB36-E164-1C71493AC28D}"/>
              </a:ext>
            </a:extLst>
          </p:cNvPr>
          <p:cNvSpPr txBox="1"/>
          <p:nvPr/>
        </p:nvSpPr>
        <p:spPr>
          <a:xfrm>
            <a:off x="9144000" y="4536659"/>
            <a:ext cx="767248" cy="808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endParaRPr lang="en-US" sz="563" noProof="1">
              <a:solidFill>
                <a:srgbClr val="000000"/>
              </a:solidFill>
              <a:latin typeface="MiSans"/>
            </a:endParaRPr>
          </a:p>
        </p:txBody>
      </p:sp>
      <p:sp>
        <p:nvSpPr>
          <p:cNvPr id="404" name="pr2-icon">
            <a:extLst>
              <a:ext uri="{FF2B5EF4-FFF2-40B4-BE49-F238E27FC236}">
                <a16:creationId xmlns:a16="http://schemas.microsoft.com/office/drawing/2014/main" id="{071869FD-01BF-77A4-DEFD-3567DA40C9D7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eyJpY29uTmFtZSI6ImZhczpzaGllbGQtaGFsdmVkIn0</pptd:icon>
              </p:ext>
            </p:extLst>
          </p:nvPr>
        </p:nvSpPr>
        <p:spPr>
          <a:xfrm>
            <a:off x="2464272" y="4302102"/>
            <a:ext cx="194017" cy="194116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61" y="0"/>
                  <a:pt x="265" y="1"/>
                  <a:pt x="269" y="3"/>
                </a:cubicBezTo>
                <a:lnTo>
                  <a:pt x="458" y="83"/>
                </a:lnTo>
                <a:cubicBezTo>
                  <a:pt x="480" y="92"/>
                  <a:pt x="496" y="114"/>
                  <a:pt x="496" y="140"/>
                </a:cubicBezTo>
                <a:cubicBezTo>
                  <a:pt x="496" y="239"/>
                  <a:pt x="455" y="421"/>
                  <a:pt x="283" y="503"/>
                </a:cubicBezTo>
                <a:cubicBezTo>
                  <a:pt x="266" y="511"/>
                  <a:pt x="246" y="511"/>
                  <a:pt x="230" y="503"/>
                </a:cubicBezTo>
                <a:cubicBezTo>
                  <a:pt x="57" y="421"/>
                  <a:pt x="17" y="239"/>
                  <a:pt x="16" y="140"/>
                </a:cubicBezTo>
                <a:cubicBezTo>
                  <a:pt x="16" y="114"/>
                  <a:pt x="32" y="92"/>
                  <a:pt x="54" y="83"/>
                </a:cubicBezTo>
                <a:lnTo>
                  <a:pt x="243" y="3"/>
                </a:lnTo>
                <a:cubicBezTo>
                  <a:pt x="247" y="1"/>
                  <a:pt x="251" y="0"/>
                  <a:pt x="256" y="0"/>
                </a:cubicBezTo>
                <a:close/>
                <a:moveTo>
                  <a:pt x="256" y="67"/>
                </a:moveTo>
                <a:lnTo>
                  <a:pt x="256" y="445"/>
                </a:lnTo>
                <a:cubicBezTo>
                  <a:pt x="394" y="378"/>
                  <a:pt x="431" y="230"/>
                  <a:pt x="432" y="142"/>
                </a:cubicBezTo>
                <a:lnTo>
                  <a:pt x="256" y="67"/>
                </a:lnTo>
                <a:lnTo>
                  <a:pt x="256" y="67"/>
                </a:lnTo>
                <a:close/>
              </a:path>
            </a:pathLst>
          </a:custGeom>
          <a:solidFill>
            <a:srgbClr val="165FBE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06" name="pr2-title">
            <a:extLst>
              <a:ext uri="{FF2B5EF4-FFF2-40B4-BE49-F238E27FC236}">
                <a16:creationId xmlns:a16="http://schemas.microsoft.com/office/drawing/2014/main" id="{785A3DF1-9EE4-F0AB-773B-8870F7BD4E63}"/>
              </a:ext>
            </a:extLst>
          </p:cNvPr>
          <p:cNvSpPr txBox="1"/>
          <p:nvPr/>
        </p:nvSpPr>
        <p:spPr>
          <a:xfrm>
            <a:off x="2728840" y="4213132"/>
            <a:ext cx="793705" cy="1051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750" b="1" noProof="1">
                <a:solidFill>
                  <a:srgbClr val="0956C8"/>
                </a:solidFill>
                <a:latin typeface="+mn-ea"/>
              </a:rPr>
              <a:t>私有网络与安全</a:t>
            </a:r>
            <a:endParaRPr lang="en-US" sz="750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14" name="pr3-icon">
            <a:extLst>
              <a:ext uri="{FF2B5EF4-FFF2-40B4-BE49-F238E27FC236}">
                <a16:creationId xmlns:a16="http://schemas.microsoft.com/office/drawing/2014/main" id="{255356EA-47E7-91EF-7CED-0E08EEF53A5F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eyJpY29uTmFtZSI6ImZhczpsb2NrIn0</pptd:icon>
              </p:ext>
            </p:extLst>
          </p:nvPr>
        </p:nvSpPr>
        <p:spPr>
          <a:xfrm>
            <a:off x="3738542" y="4302102"/>
            <a:ext cx="176379" cy="194116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128" y="96"/>
                </a:moveTo>
                <a:lnTo>
                  <a:pt x="128" y="160"/>
                </a:lnTo>
                <a:lnTo>
                  <a:pt x="256" y="160"/>
                </a:lnTo>
                <a:lnTo>
                  <a:pt x="256" y="96"/>
                </a:lnTo>
                <a:cubicBezTo>
                  <a:pt x="256" y="61"/>
                  <a:pt x="227" y="32"/>
                  <a:pt x="192" y="32"/>
                </a:cubicBezTo>
                <a:cubicBezTo>
                  <a:pt x="157" y="32"/>
                  <a:pt x="128" y="61"/>
                  <a:pt x="128" y="96"/>
                </a:cubicBezTo>
                <a:close/>
                <a:moveTo>
                  <a:pt x="64" y="160"/>
                </a:moveTo>
                <a:lnTo>
                  <a:pt x="64" y="96"/>
                </a:lnTo>
                <a:cubicBezTo>
                  <a:pt x="64" y="25"/>
                  <a:pt x="121" y="-32"/>
                  <a:pt x="192" y="-32"/>
                </a:cubicBezTo>
                <a:cubicBezTo>
                  <a:pt x="263" y="-32"/>
                  <a:pt x="320" y="25"/>
                  <a:pt x="320" y="96"/>
                </a:cubicBezTo>
                <a:lnTo>
                  <a:pt x="320" y="160"/>
                </a:lnTo>
                <a:cubicBezTo>
                  <a:pt x="355" y="160"/>
                  <a:pt x="384" y="189"/>
                  <a:pt x="384" y="224"/>
                </a:cubicBezTo>
                <a:lnTo>
                  <a:pt x="384" y="448"/>
                </a:lnTo>
                <a:cubicBezTo>
                  <a:pt x="384" y="483"/>
                  <a:pt x="355" y="512"/>
                  <a:pt x="320" y="512"/>
                </a:cubicBezTo>
                <a:lnTo>
                  <a:pt x="64" y="512"/>
                </a:lnTo>
                <a:cubicBezTo>
                  <a:pt x="29" y="512"/>
                  <a:pt x="0" y="483"/>
                  <a:pt x="0" y="448"/>
                </a:cubicBezTo>
                <a:lnTo>
                  <a:pt x="0" y="224"/>
                </a:lnTo>
                <a:cubicBezTo>
                  <a:pt x="0" y="189"/>
                  <a:pt x="29" y="160"/>
                  <a:pt x="64" y="160"/>
                </a:cubicBezTo>
                <a:close/>
              </a:path>
            </a:pathLst>
          </a:custGeom>
          <a:solidFill>
            <a:srgbClr val="165FBE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16" name="pr3-title">
            <a:extLst>
              <a:ext uri="{FF2B5EF4-FFF2-40B4-BE49-F238E27FC236}">
                <a16:creationId xmlns:a16="http://schemas.microsoft.com/office/drawing/2014/main" id="{D0F8A163-3C1F-9CA7-0F30-1C4D60A3DA00}"/>
              </a:ext>
            </a:extLst>
          </p:cNvPr>
          <p:cNvSpPr txBox="1"/>
          <p:nvPr/>
        </p:nvSpPr>
        <p:spPr>
          <a:xfrm>
            <a:off x="3989137" y="4213132"/>
            <a:ext cx="529137" cy="1051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750" b="1" noProof="1">
                <a:solidFill>
                  <a:srgbClr val="0956C8"/>
                </a:solidFill>
                <a:latin typeface="+mn-ea"/>
              </a:rPr>
              <a:t>数据加密</a:t>
            </a:r>
            <a:endParaRPr lang="en-US" sz="750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24" name="pr4-icon">
            <a:extLst>
              <a:ext uri="{FF2B5EF4-FFF2-40B4-BE49-F238E27FC236}">
                <a16:creationId xmlns:a16="http://schemas.microsoft.com/office/drawing/2014/main" id="{75A17DD9-0AD7-95B0-66AF-DC6EFCC94A29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eyJpY29uTmFtZSI6ImZhczp1c2VyLWNoZWNrIn0</pptd:icon>
              </p:ext>
            </p:extLst>
          </p:nvPr>
        </p:nvSpPr>
        <p:spPr>
          <a:xfrm>
            <a:off x="5054563" y="4310190"/>
            <a:ext cx="220474" cy="169852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286" y="304"/>
                </a:moveTo>
                <a:cubicBezTo>
                  <a:pt x="385" y="304"/>
                  <a:pt x="464" y="384"/>
                  <a:pt x="464" y="482"/>
                </a:cubicBezTo>
                <a:cubicBezTo>
                  <a:pt x="464" y="499"/>
                  <a:pt x="451" y="512"/>
                  <a:pt x="435" y="512"/>
                </a:cubicBezTo>
                <a:lnTo>
                  <a:pt x="78" y="512"/>
                </a:lnTo>
                <a:cubicBezTo>
                  <a:pt x="62" y="512"/>
                  <a:pt x="48" y="499"/>
                  <a:pt x="48" y="482"/>
                </a:cubicBezTo>
                <a:cubicBezTo>
                  <a:pt x="48" y="384"/>
                  <a:pt x="128" y="304"/>
                  <a:pt x="227" y="304"/>
                </a:cubicBezTo>
                <a:lnTo>
                  <a:pt x="286" y="304"/>
                </a:lnTo>
                <a:close/>
              </a:path>
              <a:path w="640" h="512">
                <a:moveTo>
                  <a:pt x="586" y="106"/>
                </a:moveTo>
                <a:cubicBezTo>
                  <a:pt x="594" y="95"/>
                  <a:pt x="609" y="93"/>
                  <a:pt x="619" y="101"/>
                </a:cubicBezTo>
                <a:cubicBezTo>
                  <a:pt x="630" y="108"/>
                  <a:pt x="632" y="123"/>
                  <a:pt x="625" y="134"/>
                </a:cubicBezTo>
                <a:lnTo>
                  <a:pt x="522" y="275"/>
                </a:lnTo>
                <a:cubicBezTo>
                  <a:pt x="518" y="281"/>
                  <a:pt x="511" y="284"/>
                  <a:pt x="504" y="285"/>
                </a:cubicBezTo>
                <a:cubicBezTo>
                  <a:pt x="497" y="285"/>
                  <a:pt x="490" y="283"/>
                  <a:pt x="486" y="277"/>
                </a:cubicBezTo>
                <a:lnTo>
                  <a:pt x="439" y="229"/>
                </a:lnTo>
                <a:cubicBezTo>
                  <a:pt x="430" y="220"/>
                  <a:pt x="430" y="205"/>
                  <a:pt x="440" y="195"/>
                </a:cubicBezTo>
                <a:cubicBezTo>
                  <a:pt x="449" y="186"/>
                  <a:pt x="464" y="187"/>
                  <a:pt x="474" y="196"/>
                </a:cubicBezTo>
                <a:lnTo>
                  <a:pt x="500" y="223"/>
                </a:lnTo>
                <a:lnTo>
                  <a:pt x="586" y="106"/>
                </a:lnTo>
                <a:close/>
              </a:path>
              <a:path w="640" h="512">
                <a:moveTo>
                  <a:pt x="256" y="248"/>
                </a:moveTo>
                <a:cubicBezTo>
                  <a:pt x="190" y="248"/>
                  <a:pt x="136" y="194"/>
                  <a:pt x="136" y="128"/>
                </a:cubicBezTo>
                <a:cubicBezTo>
                  <a:pt x="136" y="62"/>
                  <a:pt x="190" y="8"/>
                  <a:pt x="256" y="8"/>
                </a:cubicBezTo>
                <a:cubicBezTo>
                  <a:pt x="323" y="8"/>
                  <a:pt x="376" y="62"/>
                  <a:pt x="376" y="128"/>
                </a:cubicBezTo>
                <a:cubicBezTo>
                  <a:pt x="376" y="194"/>
                  <a:pt x="323" y="248"/>
                  <a:pt x="256" y="248"/>
                </a:cubicBezTo>
                <a:close/>
              </a:path>
            </a:pathLst>
          </a:custGeom>
          <a:solidFill>
            <a:srgbClr val="165FBE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26" name="pr4-title">
            <a:extLst>
              <a:ext uri="{FF2B5EF4-FFF2-40B4-BE49-F238E27FC236}">
                <a16:creationId xmlns:a16="http://schemas.microsoft.com/office/drawing/2014/main" id="{1015AF09-CBB2-3773-BC48-CAAF09A96A3E}"/>
              </a:ext>
            </a:extLst>
          </p:cNvPr>
          <p:cNvSpPr txBox="1"/>
          <p:nvPr/>
        </p:nvSpPr>
        <p:spPr>
          <a:xfrm>
            <a:off x="5338662" y="4213132"/>
            <a:ext cx="776067" cy="1051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750" b="1" noProof="1">
                <a:solidFill>
                  <a:srgbClr val="0956C8"/>
                </a:solidFill>
                <a:latin typeface="+mn-ea"/>
              </a:rPr>
              <a:t>统一权限治理</a:t>
            </a:r>
            <a:endParaRPr lang="en-US" sz="750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34" name="pr5-icon">
            <a:extLst>
              <a:ext uri="{FF2B5EF4-FFF2-40B4-BE49-F238E27FC236}">
                <a16:creationId xmlns:a16="http://schemas.microsoft.com/office/drawing/2014/main" id="{AE02CA79-A6F1-A14D-6848-9D3E0293A3B9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eyJpY29uTmFtZSI6ImZhczpmaWxlLWxpbmVzIn0</pptd:icon>
              </p:ext>
            </p:extLst>
          </p:nvPr>
        </p:nvSpPr>
        <p:spPr>
          <a:xfrm>
            <a:off x="6300513" y="4302102"/>
            <a:ext cx="176379" cy="186028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0" y="64"/>
                </a:moveTo>
                <a:cubicBezTo>
                  <a:pt x="0" y="29"/>
                  <a:pt x="29" y="0"/>
                  <a:pt x="64" y="0"/>
                </a:cubicBezTo>
                <a:lnTo>
                  <a:pt x="214" y="0"/>
                </a:lnTo>
                <a:cubicBezTo>
                  <a:pt x="231" y="0"/>
                  <a:pt x="247" y="7"/>
                  <a:pt x="259" y="19"/>
                </a:cubicBezTo>
                <a:lnTo>
                  <a:pt x="365" y="125"/>
                </a:lnTo>
                <a:cubicBezTo>
                  <a:pt x="377" y="137"/>
                  <a:pt x="384" y="154"/>
                  <a:pt x="384" y="171"/>
                </a:cubicBezTo>
                <a:lnTo>
                  <a:pt x="384" y="448"/>
                </a:lnTo>
                <a:cubicBezTo>
                  <a:pt x="384" y="483"/>
                  <a:pt x="355" y="512"/>
                  <a:pt x="320" y="512"/>
                </a:cubicBezTo>
                <a:lnTo>
                  <a:pt x="64" y="512"/>
                </a:lnTo>
                <a:cubicBezTo>
                  <a:pt x="29" y="512"/>
                  <a:pt x="0" y="483"/>
                  <a:pt x="0" y="448"/>
                </a:cubicBezTo>
                <a:lnTo>
                  <a:pt x="0" y="64"/>
                </a:lnTo>
                <a:close/>
                <a:moveTo>
                  <a:pt x="208" y="59"/>
                </a:moveTo>
                <a:lnTo>
                  <a:pt x="208" y="152"/>
                </a:lnTo>
                <a:cubicBezTo>
                  <a:pt x="208" y="165"/>
                  <a:pt x="219" y="176"/>
                  <a:pt x="232" y="176"/>
                </a:cubicBezTo>
                <a:lnTo>
                  <a:pt x="326" y="176"/>
                </a:lnTo>
                <a:lnTo>
                  <a:pt x="208" y="59"/>
                </a:lnTo>
                <a:close/>
                <a:moveTo>
                  <a:pt x="120" y="256"/>
                </a:moveTo>
                <a:cubicBezTo>
                  <a:pt x="107" y="256"/>
                  <a:pt x="96" y="267"/>
                  <a:pt x="96" y="280"/>
                </a:cubicBezTo>
                <a:cubicBezTo>
                  <a:pt x="96" y="293"/>
                  <a:pt x="107" y="304"/>
                  <a:pt x="120" y="304"/>
                </a:cubicBezTo>
                <a:lnTo>
                  <a:pt x="264" y="304"/>
                </a:lnTo>
                <a:cubicBezTo>
                  <a:pt x="277" y="304"/>
                  <a:pt x="288" y="293"/>
                  <a:pt x="288" y="280"/>
                </a:cubicBezTo>
                <a:cubicBezTo>
                  <a:pt x="288" y="267"/>
                  <a:pt x="277" y="256"/>
                  <a:pt x="264" y="256"/>
                </a:cubicBezTo>
                <a:lnTo>
                  <a:pt x="120" y="256"/>
                </a:lnTo>
                <a:close/>
                <a:moveTo>
                  <a:pt x="120" y="352"/>
                </a:moveTo>
                <a:cubicBezTo>
                  <a:pt x="107" y="352"/>
                  <a:pt x="96" y="363"/>
                  <a:pt x="96" y="376"/>
                </a:cubicBezTo>
                <a:cubicBezTo>
                  <a:pt x="96" y="389"/>
                  <a:pt x="107" y="400"/>
                  <a:pt x="120" y="400"/>
                </a:cubicBezTo>
                <a:lnTo>
                  <a:pt x="264" y="400"/>
                </a:lnTo>
                <a:cubicBezTo>
                  <a:pt x="277" y="400"/>
                  <a:pt x="288" y="389"/>
                  <a:pt x="288" y="376"/>
                </a:cubicBezTo>
                <a:cubicBezTo>
                  <a:pt x="288" y="363"/>
                  <a:pt x="277" y="352"/>
                  <a:pt x="264" y="352"/>
                </a:cubicBezTo>
                <a:lnTo>
                  <a:pt x="120" y="352"/>
                </a:lnTo>
                <a:close/>
              </a:path>
            </a:pathLst>
          </a:custGeom>
          <a:solidFill>
            <a:srgbClr val="165FBE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36" name="pr5-title">
            <a:extLst>
              <a:ext uri="{FF2B5EF4-FFF2-40B4-BE49-F238E27FC236}">
                <a16:creationId xmlns:a16="http://schemas.microsoft.com/office/drawing/2014/main" id="{B3CC80EA-FB5A-85C0-BCA7-9009151DEA93}"/>
              </a:ext>
            </a:extLst>
          </p:cNvPr>
          <p:cNvSpPr txBox="1"/>
          <p:nvPr/>
        </p:nvSpPr>
        <p:spPr>
          <a:xfrm>
            <a:off x="6554813" y="4213132"/>
            <a:ext cx="617326" cy="1051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750" b="1" noProof="1">
                <a:solidFill>
                  <a:srgbClr val="0956C8"/>
                </a:solidFill>
                <a:latin typeface="+mn-ea"/>
              </a:rPr>
              <a:t>全链路审计</a:t>
            </a:r>
            <a:endParaRPr lang="en-US" sz="750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44" name="pr6-icon">
            <a:extLst>
              <a:ext uri="{FF2B5EF4-FFF2-40B4-BE49-F238E27FC236}">
                <a16:creationId xmlns:a16="http://schemas.microsoft.com/office/drawing/2014/main" id="{6F5440A0-4A2E-D8C8-A50A-51782B83FEFC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eyJpY29uTmFtZSI6ImZhczpjaGFydC1jb2x1bW4ifQ</pptd:icon>
              </p:ext>
            </p:extLst>
          </p:nvPr>
        </p:nvSpPr>
        <p:spPr>
          <a:xfrm>
            <a:off x="7458132" y="4302102"/>
            <a:ext cx="194017" cy="17794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32" y="32"/>
                </a:moveTo>
                <a:cubicBezTo>
                  <a:pt x="50" y="32"/>
                  <a:pt x="64" y="46"/>
                  <a:pt x="64" y="64"/>
                </a:cubicBezTo>
                <a:lnTo>
                  <a:pt x="64" y="400"/>
                </a:lnTo>
                <a:cubicBezTo>
                  <a:pt x="64" y="409"/>
                  <a:pt x="71" y="416"/>
                  <a:pt x="80" y="416"/>
                </a:cubicBezTo>
                <a:lnTo>
                  <a:pt x="480" y="416"/>
                </a:lnTo>
                <a:cubicBezTo>
                  <a:pt x="498" y="416"/>
                  <a:pt x="512" y="430"/>
                  <a:pt x="512" y="448"/>
                </a:cubicBezTo>
                <a:cubicBezTo>
                  <a:pt x="512" y="466"/>
                  <a:pt x="498" y="480"/>
                  <a:pt x="480" y="480"/>
                </a:cubicBezTo>
                <a:lnTo>
                  <a:pt x="80" y="480"/>
                </a:lnTo>
                <a:cubicBezTo>
                  <a:pt x="36" y="480"/>
                  <a:pt x="0" y="444"/>
                  <a:pt x="0" y="400"/>
                </a:cubicBezTo>
                <a:lnTo>
                  <a:pt x="0" y="64"/>
                </a:lnTo>
                <a:cubicBezTo>
                  <a:pt x="0" y="46"/>
                  <a:pt x="14" y="32"/>
                  <a:pt x="32" y="32"/>
                </a:cubicBezTo>
                <a:close/>
              </a:path>
              <a:path w="512" h="512">
                <a:moveTo>
                  <a:pt x="144" y="224"/>
                </a:moveTo>
                <a:cubicBezTo>
                  <a:pt x="162" y="224"/>
                  <a:pt x="176" y="238"/>
                  <a:pt x="176" y="256"/>
                </a:cubicBezTo>
                <a:lnTo>
                  <a:pt x="176" y="320"/>
                </a:lnTo>
                <a:cubicBezTo>
                  <a:pt x="176" y="338"/>
                  <a:pt x="162" y="352"/>
                  <a:pt x="144" y="352"/>
                </a:cubicBezTo>
                <a:cubicBezTo>
                  <a:pt x="126" y="352"/>
                  <a:pt x="112" y="338"/>
                  <a:pt x="112" y="320"/>
                </a:cubicBezTo>
                <a:lnTo>
                  <a:pt x="112" y="256"/>
                </a:lnTo>
                <a:cubicBezTo>
                  <a:pt x="112" y="238"/>
                  <a:pt x="126" y="224"/>
                  <a:pt x="144" y="224"/>
                </a:cubicBezTo>
                <a:close/>
              </a:path>
              <a:path w="512" h="512">
                <a:moveTo>
                  <a:pt x="288" y="160"/>
                </a:moveTo>
                <a:lnTo>
                  <a:pt x="288" y="320"/>
                </a:lnTo>
                <a:cubicBezTo>
                  <a:pt x="288" y="338"/>
                  <a:pt x="274" y="352"/>
                  <a:pt x="256" y="352"/>
                </a:cubicBezTo>
                <a:cubicBezTo>
                  <a:pt x="238" y="352"/>
                  <a:pt x="224" y="338"/>
                  <a:pt x="224" y="320"/>
                </a:cubicBezTo>
                <a:lnTo>
                  <a:pt x="224" y="160"/>
                </a:lnTo>
                <a:cubicBezTo>
                  <a:pt x="224" y="142"/>
                  <a:pt x="238" y="128"/>
                  <a:pt x="256" y="128"/>
                </a:cubicBezTo>
                <a:cubicBezTo>
                  <a:pt x="274" y="128"/>
                  <a:pt x="288" y="142"/>
                  <a:pt x="288" y="160"/>
                </a:cubicBezTo>
                <a:close/>
              </a:path>
              <a:path w="512" h="512">
                <a:moveTo>
                  <a:pt x="368" y="192"/>
                </a:moveTo>
                <a:cubicBezTo>
                  <a:pt x="386" y="192"/>
                  <a:pt x="400" y="206"/>
                  <a:pt x="400" y="224"/>
                </a:cubicBezTo>
                <a:lnTo>
                  <a:pt x="400" y="320"/>
                </a:lnTo>
                <a:cubicBezTo>
                  <a:pt x="400" y="338"/>
                  <a:pt x="386" y="352"/>
                  <a:pt x="368" y="352"/>
                </a:cubicBezTo>
                <a:cubicBezTo>
                  <a:pt x="350" y="352"/>
                  <a:pt x="336" y="338"/>
                  <a:pt x="336" y="320"/>
                </a:cubicBezTo>
                <a:lnTo>
                  <a:pt x="336" y="224"/>
                </a:lnTo>
                <a:cubicBezTo>
                  <a:pt x="336" y="206"/>
                  <a:pt x="350" y="192"/>
                  <a:pt x="368" y="192"/>
                </a:cubicBezTo>
                <a:close/>
              </a:path>
              <a:path w="512" h="512">
                <a:moveTo>
                  <a:pt x="512" y="96"/>
                </a:moveTo>
                <a:lnTo>
                  <a:pt x="512" y="320"/>
                </a:lnTo>
                <a:cubicBezTo>
                  <a:pt x="512" y="338"/>
                  <a:pt x="498" y="352"/>
                  <a:pt x="480" y="352"/>
                </a:cubicBezTo>
                <a:cubicBezTo>
                  <a:pt x="462" y="352"/>
                  <a:pt x="448" y="338"/>
                  <a:pt x="448" y="320"/>
                </a:cubicBezTo>
                <a:lnTo>
                  <a:pt x="448" y="96"/>
                </a:lnTo>
                <a:cubicBezTo>
                  <a:pt x="448" y="78"/>
                  <a:pt x="462" y="64"/>
                  <a:pt x="480" y="64"/>
                </a:cubicBezTo>
                <a:cubicBezTo>
                  <a:pt x="498" y="64"/>
                  <a:pt x="512" y="78"/>
                  <a:pt x="512" y="96"/>
                </a:cubicBezTo>
                <a:close/>
              </a:path>
            </a:pathLst>
          </a:custGeom>
          <a:solidFill>
            <a:srgbClr val="165FBE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46" name="pr6-title">
            <a:extLst>
              <a:ext uri="{FF2B5EF4-FFF2-40B4-BE49-F238E27FC236}">
                <a16:creationId xmlns:a16="http://schemas.microsoft.com/office/drawing/2014/main" id="{BBE9776A-18F7-B6A6-94A8-D02D4F17C570}"/>
              </a:ext>
            </a:extLst>
          </p:cNvPr>
          <p:cNvSpPr txBox="1"/>
          <p:nvPr/>
        </p:nvSpPr>
        <p:spPr>
          <a:xfrm>
            <a:off x="7756767" y="4213132"/>
            <a:ext cx="749610" cy="1051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750" b="1" noProof="1">
                <a:solidFill>
                  <a:srgbClr val="0956C8"/>
                </a:solidFill>
                <a:latin typeface="+mn-ea"/>
              </a:rPr>
              <a:t>高可用与可扩展</a:t>
            </a:r>
            <a:endParaRPr lang="en-US" sz="750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68" name="l1-c1-desc">
            <a:extLst>
              <a:ext uri="{FF2B5EF4-FFF2-40B4-BE49-F238E27FC236}">
                <a16:creationId xmlns:a16="http://schemas.microsoft.com/office/drawing/2014/main" id="{B4F48B65-1B0D-0793-C257-EAFFB2425E05}"/>
              </a:ext>
            </a:extLst>
          </p:cNvPr>
          <p:cNvSpPr txBox="1"/>
          <p:nvPr/>
        </p:nvSpPr>
        <p:spPr>
          <a:xfrm>
            <a:off x="3979089" y="1903952"/>
            <a:ext cx="1880476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defTabSz="685800"/>
            <a:r>
              <a:rPr lang="zh-CN" altLang="en-US" sz="600" noProof="1">
                <a:solidFill>
                  <a:srgbClr val="6B7280"/>
                </a:solidFill>
                <a:latin typeface="+mn-ea"/>
                <a:cs typeface="MiSans"/>
              </a:rPr>
              <a:t>元数据 </a:t>
            </a:r>
            <a:r>
              <a:rPr lang="en-US" altLang="zh-CN" sz="600" noProof="1">
                <a:solidFill>
                  <a:srgbClr val="6B7280"/>
                </a:solidFill>
                <a:latin typeface="+mn-ea"/>
                <a:cs typeface="MiSans"/>
              </a:rPr>
              <a:t>· </a:t>
            </a:r>
            <a:r>
              <a:rPr lang="zh-CN" altLang="en-US" sz="600" noProof="1">
                <a:solidFill>
                  <a:srgbClr val="6B7280"/>
                </a:solidFill>
                <a:latin typeface="+mn-ea"/>
                <a:cs typeface="MiSans"/>
              </a:rPr>
              <a:t>查询代理 </a:t>
            </a:r>
            <a:r>
              <a:rPr lang="en-US" altLang="zh-CN" sz="600" noProof="1">
                <a:solidFill>
                  <a:srgbClr val="6B7280"/>
                </a:solidFill>
                <a:latin typeface="+mn-ea"/>
                <a:cs typeface="MiSans"/>
              </a:rPr>
              <a:t>· </a:t>
            </a:r>
            <a:r>
              <a:rPr lang="zh-CN" altLang="en-US" sz="600" noProof="1">
                <a:solidFill>
                  <a:srgbClr val="6B7280"/>
                </a:solidFill>
                <a:latin typeface="+mn-ea"/>
                <a:cs typeface="MiSans"/>
              </a:rPr>
              <a:t>权限校验 </a:t>
            </a:r>
            <a:r>
              <a:rPr lang="en-US" altLang="zh-CN" sz="600" noProof="1">
                <a:solidFill>
                  <a:srgbClr val="6B7280"/>
                </a:solidFill>
                <a:latin typeface="+mn-ea"/>
                <a:cs typeface="MiSans"/>
              </a:rPr>
              <a:t>· </a:t>
            </a:r>
            <a:r>
              <a:rPr lang="zh-CN" altLang="en-US" sz="600" noProof="1">
                <a:solidFill>
                  <a:srgbClr val="6B7280"/>
                </a:solidFill>
                <a:latin typeface="+mn-ea"/>
                <a:cs typeface="MiSans"/>
              </a:rPr>
              <a:t>附件代理 </a:t>
            </a:r>
            <a:r>
              <a:rPr lang="en-US" altLang="zh-CN" sz="600" noProof="1">
                <a:solidFill>
                  <a:srgbClr val="6B7280"/>
                </a:solidFill>
                <a:latin typeface="+mn-ea"/>
                <a:cs typeface="MiSans"/>
              </a:rPr>
              <a:t>· </a:t>
            </a:r>
            <a:r>
              <a:rPr kumimoji="0" lang="en-US" altLang="zh-CN" sz="600" b="0" i="0" u="none" strike="noStrike" kern="1200" cap="none" spc="0" normalizeH="0" baseline="0" noProof="1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+mn-ea"/>
                <a:cs typeface="+mn-cs"/>
              </a:rPr>
              <a:t>审计</a:t>
            </a:r>
            <a:r>
              <a:rPr kumimoji="0" lang="zh-CN" altLang="en-US" sz="600" b="0" i="0" u="none" strike="noStrike" kern="1200" cap="none" spc="0" normalizeH="0" baseline="0" noProof="1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+mn-ea"/>
                <a:cs typeface="+mn-cs"/>
              </a:rPr>
              <a:t>上报</a:t>
            </a:r>
            <a:r>
              <a:rPr kumimoji="0" lang="en-US" altLang="zh-CN" sz="600" b="0" i="0" u="none" strike="noStrike" kern="1200" cap="none" spc="0" normalizeH="0" baseline="0" noProof="1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+mn-ea"/>
                <a:cs typeface="+mn-cs"/>
              </a:rPr>
              <a:t> · 生命周期调度 · 统一鉴权 · 参数化查询</a:t>
            </a:r>
            <a:r>
              <a:rPr lang="zh-CN" altLang="en-US" sz="600" noProof="1">
                <a:solidFill>
                  <a:srgbClr val="6B7280"/>
                </a:solidFill>
                <a:latin typeface="+mn-ea"/>
                <a:cs typeface="MiSans"/>
              </a:rPr>
              <a:t> </a:t>
            </a:r>
            <a:r>
              <a:rPr lang="en-US" altLang="zh-CN" sz="600" noProof="1">
                <a:solidFill>
                  <a:srgbClr val="6B7280"/>
                </a:solidFill>
                <a:latin typeface="+mn-ea"/>
                <a:cs typeface="MiSans"/>
              </a:rPr>
              <a:t>· </a:t>
            </a:r>
            <a:r>
              <a:rPr lang="en-US" altLang="zh-CN" sz="600" noProof="1">
                <a:solidFill>
                  <a:srgbClr val="4A5568"/>
                </a:solidFill>
                <a:latin typeface="+mn-ea"/>
              </a:rPr>
              <a:t>私有端点访问下游</a:t>
            </a:r>
            <a:endParaRPr kumimoji="0" lang="en-US" altLang="zh-CN" sz="6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69" name="l1-c1-desc">
            <a:extLst>
              <a:ext uri="{FF2B5EF4-FFF2-40B4-BE49-F238E27FC236}">
                <a16:creationId xmlns:a16="http://schemas.microsoft.com/office/drawing/2014/main" id="{24C29123-AB64-70F0-150D-2D7BE1CCA45F}"/>
              </a:ext>
            </a:extLst>
          </p:cNvPr>
          <p:cNvSpPr txBox="1"/>
          <p:nvPr/>
        </p:nvSpPr>
        <p:spPr>
          <a:xfrm>
            <a:off x="6577290" y="1903952"/>
            <a:ext cx="1396278" cy="21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" b="0" i="0" u="none" strike="noStrike" kern="1200" cap="none" spc="0" normalizeH="0" baseline="0" noProof="1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+mn-ea"/>
                <a:cs typeface="+mn-cs"/>
              </a:rPr>
              <a:t>系统台账 · 表清单 · 查询配置</a:t>
            </a:r>
          </a:p>
          <a:p>
            <a:pPr marL="0" marR="0" lvl="0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" b="0" i="0" u="none" strike="noStrike" kern="1200" cap="none" spc="0" normalizeH="0" baseline="0" noProof="1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+mn-ea"/>
                <a:cs typeface="+mn-cs"/>
              </a:rPr>
              <a:t>保留期 · 销毁策略 · 审计索引</a:t>
            </a:r>
            <a:endParaRPr kumimoji="0" lang="en-US" altLang="zh-CN" sz="6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70" name="l1-c1-desc">
            <a:extLst>
              <a:ext uri="{FF2B5EF4-FFF2-40B4-BE49-F238E27FC236}">
                <a16:creationId xmlns:a16="http://schemas.microsoft.com/office/drawing/2014/main" id="{716F8C55-6096-7376-71D2-B94CA83343E8}"/>
              </a:ext>
            </a:extLst>
          </p:cNvPr>
          <p:cNvSpPr txBox="1"/>
          <p:nvPr/>
        </p:nvSpPr>
        <p:spPr>
          <a:xfrm>
            <a:off x="1908678" y="1903952"/>
            <a:ext cx="1396278" cy="22730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38" b="0" i="0" u="none" strike="noStrike" kern="1200" cap="none" spc="0" normalizeH="0" baseline="0" noProof="1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+mn-ea"/>
                <a:cs typeface="+mn-cs"/>
              </a:rPr>
              <a:t>动态查询表单 · 结果展示</a:t>
            </a:r>
          </a:p>
          <a:p>
            <a:pPr marL="0" marR="0" lvl="0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38" b="0" i="0" u="none" strike="noStrike" kern="1200" cap="none" spc="0" normalizeH="0" baseline="0" noProof="1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+mn-ea"/>
                <a:cs typeface="+mn-cs"/>
              </a:rPr>
              <a:t>附件预览 · 数据导出</a:t>
            </a:r>
            <a:endParaRPr kumimoji="0" lang="en-US" altLang="zh-CN" sz="638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24" name="s3-w-panel">
            <a:extLst>
              <a:ext uri="{FF2B5EF4-FFF2-40B4-BE49-F238E27FC236}">
                <a16:creationId xmlns:a16="http://schemas.microsoft.com/office/drawing/2014/main" id="{6683E8D7-8B99-61F2-3A23-8D8268BAF444}"/>
              </a:ext>
            </a:extLst>
          </p:cNvPr>
          <p:cNvSpPr/>
          <p:nvPr/>
        </p:nvSpPr>
        <p:spPr>
          <a:xfrm>
            <a:off x="1379542" y="2386755"/>
            <a:ext cx="2658874" cy="930141"/>
          </a:xfrm>
          <a:prstGeom prst="roundRect">
            <a:avLst>
              <a:gd name="adj" fmla="val 6000"/>
            </a:avLst>
          </a:prstGeom>
          <a:solidFill>
            <a:srgbClr val="F4FBF7"/>
          </a:solidFill>
          <a:ln w="12700">
            <a:solidFill>
              <a:srgbClr val="BFE0D3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26" name="s3-r-panel">
            <a:extLst>
              <a:ext uri="{FF2B5EF4-FFF2-40B4-BE49-F238E27FC236}">
                <a16:creationId xmlns:a16="http://schemas.microsoft.com/office/drawing/2014/main" id="{96D83D7A-4863-6CA4-316A-7E0B02C2F358}"/>
              </a:ext>
            </a:extLst>
          </p:cNvPr>
          <p:cNvSpPr/>
          <p:nvPr/>
        </p:nvSpPr>
        <p:spPr>
          <a:xfrm>
            <a:off x="4077517" y="2386755"/>
            <a:ext cx="2056717" cy="930141"/>
          </a:xfrm>
          <a:prstGeom prst="roundRect">
            <a:avLst>
              <a:gd name="adj" fmla="val 6000"/>
            </a:avLst>
          </a:prstGeom>
          <a:solidFill>
            <a:srgbClr val="FAF8FD"/>
          </a:solidFill>
          <a:ln w="12700">
            <a:solidFill>
              <a:srgbClr val="DCD2F2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28" name="s3-a-panel">
            <a:extLst>
              <a:ext uri="{FF2B5EF4-FFF2-40B4-BE49-F238E27FC236}">
                <a16:creationId xmlns:a16="http://schemas.microsoft.com/office/drawing/2014/main" id="{8D498AEB-1A6D-2A77-6A37-9F70AA2C750F}"/>
              </a:ext>
            </a:extLst>
          </p:cNvPr>
          <p:cNvSpPr/>
          <p:nvPr/>
        </p:nvSpPr>
        <p:spPr>
          <a:xfrm>
            <a:off x="6188976" y="2386755"/>
            <a:ext cx="2452104" cy="930141"/>
          </a:xfrm>
          <a:prstGeom prst="roundRect">
            <a:avLst>
              <a:gd name="adj" fmla="val 6000"/>
            </a:avLst>
          </a:prstGeom>
          <a:solidFill>
            <a:srgbClr val="FDFAF6"/>
          </a:solidFill>
          <a:ln w="12700">
            <a:solidFill>
              <a:srgbClr val="F6D9BC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30" name="s3-w-head">
            <a:extLst>
              <a:ext uri="{FF2B5EF4-FFF2-40B4-BE49-F238E27FC236}">
                <a16:creationId xmlns:a16="http://schemas.microsoft.com/office/drawing/2014/main" id="{2F5B9129-49BF-14AD-E72C-20AA5C0C7025}"/>
              </a:ext>
            </a:extLst>
          </p:cNvPr>
          <p:cNvSpPr txBox="1"/>
          <p:nvPr/>
        </p:nvSpPr>
        <p:spPr>
          <a:xfrm>
            <a:off x="1926957" y="2441410"/>
            <a:ext cx="1564044" cy="1051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/>
            <a:r>
              <a:rPr lang="en-US" sz="800" b="1" noProof="1">
                <a:solidFill>
                  <a:srgbClr val="1E8A76"/>
                </a:solidFill>
                <a:latin typeface="+mn-ea"/>
              </a:rPr>
              <a:t>WRITE PATH | 归档写入 &amp; 到期销毁</a:t>
            </a:r>
            <a:endParaRPr lang="en-US" sz="800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32" name="s3-w-c1">
            <a:extLst>
              <a:ext uri="{FF2B5EF4-FFF2-40B4-BE49-F238E27FC236}">
                <a16:creationId xmlns:a16="http://schemas.microsoft.com/office/drawing/2014/main" id="{13B59C12-6995-39D3-90DB-36BDF6617E2E}"/>
              </a:ext>
            </a:extLst>
          </p:cNvPr>
          <p:cNvSpPr/>
          <p:nvPr/>
        </p:nvSpPr>
        <p:spPr>
          <a:xfrm>
            <a:off x="1457746" y="2605136"/>
            <a:ext cx="727280" cy="57426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AEADE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234" name="s3-w-c1-icon">
            <a:extLst>
              <a:ext uri="{FF2B5EF4-FFF2-40B4-BE49-F238E27FC236}">
                <a16:creationId xmlns:a16="http://schemas.microsoft.com/office/drawing/2014/main" id="{EBFE7F14-C955-DA84-A7ED-731763205C66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1704081" y="2644089"/>
            <a:ext cx="234606" cy="194116"/>
          </a:xfrm>
          <a:prstGeom prst="rect">
            <a:avLst/>
          </a:prstGeom>
          <a:ln>
            <a:noFill/>
          </a:ln>
        </p:spPr>
      </p:pic>
      <p:sp>
        <p:nvSpPr>
          <p:cNvPr id="236" name="s3-w-c1-name">
            <a:extLst>
              <a:ext uri="{FF2B5EF4-FFF2-40B4-BE49-F238E27FC236}">
                <a16:creationId xmlns:a16="http://schemas.microsoft.com/office/drawing/2014/main" id="{47296EFA-9E5C-AFC3-F6CA-AB1F12C495AF}"/>
              </a:ext>
            </a:extLst>
          </p:cNvPr>
          <p:cNvSpPr txBox="1"/>
          <p:nvPr/>
        </p:nvSpPr>
        <p:spPr>
          <a:xfrm>
            <a:off x="1504666" y="2831605"/>
            <a:ext cx="633438" cy="889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600" b="1" noProof="1">
                <a:solidFill>
                  <a:srgbClr val="1F2430"/>
                </a:solidFill>
                <a:latin typeface="+mn-ea"/>
              </a:rPr>
              <a:t>Azure Data Factory</a:t>
            </a:r>
            <a:endParaRPr lang="en-US" sz="600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42" name="s3-w-c2">
            <a:extLst>
              <a:ext uri="{FF2B5EF4-FFF2-40B4-BE49-F238E27FC236}">
                <a16:creationId xmlns:a16="http://schemas.microsoft.com/office/drawing/2014/main" id="{B6868103-648E-72ED-3278-8A95DBDEE8D4}"/>
              </a:ext>
            </a:extLst>
          </p:cNvPr>
          <p:cNvSpPr/>
          <p:nvPr/>
        </p:nvSpPr>
        <p:spPr>
          <a:xfrm>
            <a:off x="2388350" y="2605136"/>
            <a:ext cx="656898" cy="57426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AEADE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244" name="s3-w-c2-icon">
            <a:extLst>
              <a:ext uri="{FF2B5EF4-FFF2-40B4-BE49-F238E27FC236}">
                <a16:creationId xmlns:a16="http://schemas.microsoft.com/office/drawing/2014/main" id="{97272C1D-216E-255E-678F-69E608A2B17F}"/>
              </a:ext>
            </a:extLst>
          </p:cNvPr>
          <p:cNvPicPr/>
          <p:nvPr/>
        </p:nvPicPr>
        <p:blipFill>
          <a:blip r:embed="rId7"/>
          <a:stretch>
            <a:fillRect/>
          </a:stretch>
        </p:blipFill>
        <p:spPr>
          <a:xfrm>
            <a:off x="2615136" y="2621313"/>
            <a:ext cx="226786" cy="194116"/>
          </a:xfrm>
          <a:prstGeom prst="rect">
            <a:avLst/>
          </a:prstGeom>
          <a:ln>
            <a:noFill/>
          </a:ln>
        </p:spPr>
      </p:pic>
      <p:sp>
        <p:nvSpPr>
          <p:cNvPr id="246" name="s3-w-c2-name">
            <a:extLst>
              <a:ext uri="{FF2B5EF4-FFF2-40B4-BE49-F238E27FC236}">
                <a16:creationId xmlns:a16="http://schemas.microsoft.com/office/drawing/2014/main" id="{6344A756-83F4-A604-A426-3A658977DFB0}"/>
              </a:ext>
            </a:extLst>
          </p:cNvPr>
          <p:cNvSpPr txBox="1"/>
          <p:nvPr/>
        </p:nvSpPr>
        <p:spPr>
          <a:xfrm>
            <a:off x="2411810" y="2831605"/>
            <a:ext cx="633438" cy="970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altLang="zh-CN" sz="600" b="1" noProof="1">
                <a:solidFill>
                  <a:srgbClr val="1F2430"/>
                </a:solidFill>
                <a:latin typeface="+mn-ea"/>
              </a:rPr>
              <a:t>Databricks Lakeflow</a:t>
            </a:r>
            <a:endParaRPr lang="en-US" sz="600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52" name="s3-w-c3">
            <a:extLst>
              <a:ext uri="{FF2B5EF4-FFF2-40B4-BE49-F238E27FC236}">
                <a16:creationId xmlns:a16="http://schemas.microsoft.com/office/drawing/2014/main" id="{B6DC36D6-B407-365B-2E43-4837B0C4A4B9}"/>
              </a:ext>
            </a:extLst>
          </p:cNvPr>
          <p:cNvSpPr/>
          <p:nvPr/>
        </p:nvSpPr>
        <p:spPr>
          <a:xfrm>
            <a:off x="3240755" y="2605136"/>
            <a:ext cx="758560" cy="57426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AEADE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254" name="s3-w-c3-icon">
            <a:extLst>
              <a:ext uri="{FF2B5EF4-FFF2-40B4-BE49-F238E27FC236}">
                <a16:creationId xmlns:a16="http://schemas.microsoft.com/office/drawing/2014/main" id="{30ACE400-86FA-082E-45AF-B9D32E1E9B51}"/>
              </a:ext>
            </a:extLst>
          </p:cNvPr>
          <p:cNvPicPr/>
          <p:nvPr/>
        </p:nvPicPr>
        <p:blipFill>
          <a:blip r:embed="rId8"/>
          <a:stretch>
            <a:fillRect/>
          </a:stretch>
        </p:blipFill>
        <p:spPr>
          <a:xfrm>
            <a:off x="3558399" y="2634595"/>
            <a:ext cx="203325" cy="203282"/>
          </a:xfrm>
          <a:prstGeom prst="rect">
            <a:avLst/>
          </a:prstGeom>
          <a:ln>
            <a:noFill/>
          </a:ln>
        </p:spPr>
      </p:pic>
      <p:sp>
        <p:nvSpPr>
          <p:cNvPr id="256" name="s3-w-c3-name">
            <a:extLst>
              <a:ext uri="{FF2B5EF4-FFF2-40B4-BE49-F238E27FC236}">
                <a16:creationId xmlns:a16="http://schemas.microsoft.com/office/drawing/2014/main" id="{E13CB55A-0906-4E14-3135-29C1532F4B76}"/>
              </a:ext>
            </a:extLst>
          </p:cNvPr>
          <p:cNvSpPr txBox="1"/>
          <p:nvPr/>
        </p:nvSpPr>
        <p:spPr>
          <a:xfrm>
            <a:off x="3283766" y="2831605"/>
            <a:ext cx="672539" cy="808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600" b="1" noProof="1">
                <a:solidFill>
                  <a:srgbClr val="1F2430"/>
                </a:solidFill>
                <a:latin typeface="+mn-ea"/>
              </a:rPr>
              <a:t>Databricks Serverless</a:t>
            </a:r>
            <a:endParaRPr lang="en-US" sz="600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62" name="s3-r-head">
            <a:extLst>
              <a:ext uri="{FF2B5EF4-FFF2-40B4-BE49-F238E27FC236}">
                <a16:creationId xmlns:a16="http://schemas.microsoft.com/office/drawing/2014/main" id="{2792FD36-B46F-C9DD-2892-B464B45E1BDC}"/>
              </a:ext>
            </a:extLst>
          </p:cNvPr>
          <p:cNvSpPr txBox="1"/>
          <p:nvPr/>
        </p:nvSpPr>
        <p:spPr>
          <a:xfrm>
            <a:off x="4284753" y="2441410"/>
            <a:ext cx="1642245" cy="1051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/>
            <a:r>
              <a:rPr lang="en-US" sz="800" b="1" noProof="1">
                <a:solidFill>
                  <a:srgbClr val="5F35C8"/>
                </a:solidFill>
                <a:latin typeface="+mn-ea"/>
              </a:rPr>
              <a:t>READ PATH | 在线查询 &amp; 跨系统检索</a:t>
            </a:r>
            <a:endParaRPr lang="en-US" sz="800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64" name="s3-r-c1">
            <a:extLst>
              <a:ext uri="{FF2B5EF4-FFF2-40B4-BE49-F238E27FC236}">
                <a16:creationId xmlns:a16="http://schemas.microsoft.com/office/drawing/2014/main" id="{8A56B6BA-1485-AEB6-FA42-21E1F6C87CA2}"/>
              </a:ext>
            </a:extLst>
          </p:cNvPr>
          <p:cNvSpPr/>
          <p:nvPr/>
        </p:nvSpPr>
        <p:spPr>
          <a:xfrm>
            <a:off x="4155998" y="2597048"/>
            <a:ext cx="719460" cy="4001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DBF7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66" name="s3-r-c1-icon">
            <a:extLst>
              <a:ext uri="{FF2B5EF4-FFF2-40B4-BE49-F238E27FC236}">
                <a16:creationId xmlns:a16="http://schemas.microsoft.com/office/drawing/2014/main" id="{1E2F58BF-0FFC-F84F-DB6C-AD61FA11F089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eyJpY29uTmFtZSI6ImZhczptYWduaWZ5aW5nLWdsYXNzIn0</pptd:icon>
              </p:ext>
            </p:extLst>
          </p:nvPr>
        </p:nvSpPr>
        <p:spPr>
          <a:xfrm>
            <a:off x="4191143" y="2702194"/>
            <a:ext cx="125123" cy="145587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416" y="208"/>
                </a:moveTo>
                <a:cubicBezTo>
                  <a:pt x="416" y="254"/>
                  <a:pt x="401" y="296"/>
                  <a:pt x="376" y="331"/>
                </a:cubicBezTo>
                <a:lnTo>
                  <a:pt x="503" y="457"/>
                </a:lnTo>
                <a:cubicBezTo>
                  <a:pt x="515" y="470"/>
                  <a:pt x="515" y="490"/>
                  <a:pt x="503" y="503"/>
                </a:cubicBezTo>
                <a:cubicBezTo>
                  <a:pt x="490" y="515"/>
                  <a:pt x="470" y="515"/>
                  <a:pt x="457" y="503"/>
                </a:cubicBezTo>
                <a:lnTo>
                  <a:pt x="331" y="376"/>
                </a:lnTo>
                <a:cubicBezTo>
                  <a:pt x="296" y="401"/>
                  <a:pt x="254" y="416"/>
                  <a:pt x="208" y="416"/>
                </a:cubicBezTo>
                <a:cubicBezTo>
                  <a:pt x="93" y="416"/>
                  <a:pt x="0" y="323"/>
                  <a:pt x="0" y="208"/>
                </a:cubicBezTo>
                <a:cubicBezTo>
                  <a:pt x="0" y="93"/>
                  <a:pt x="93" y="0"/>
                  <a:pt x="208" y="0"/>
                </a:cubicBezTo>
                <a:cubicBezTo>
                  <a:pt x="323" y="0"/>
                  <a:pt x="416" y="93"/>
                  <a:pt x="416" y="208"/>
                </a:cubicBezTo>
                <a:close/>
                <a:moveTo>
                  <a:pt x="208" y="352"/>
                </a:moveTo>
                <a:cubicBezTo>
                  <a:pt x="288" y="352"/>
                  <a:pt x="352" y="288"/>
                  <a:pt x="352" y="208"/>
                </a:cubicBezTo>
                <a:cubicBezTo>
                  <a:pt x="352" y="128"/>
                  <a:pt x="288" y="64"/>
                  <a:pt x="208" y="64"/>
                </a:cubicBezTo>
                <a:cubicBezTo>
                  <a:pt x="128" y="64"/>
                  <a:pt x="64" y="128"/>
                  <a:pt x="64" y="208"/>
                </a:cubicBezTo>
                <a:cubicBezTo>
                  <a:pt x="64" y="288"/>
                  <a:pt x="128" y="352"/>
                  <a:pt x="208" y="352"/>
                </a:cubicBezTo>
                <a:close/>
              </a:path>
            </a:pathLst>
          </a:custGeom>
          <a:solidFill>
            <a:srgbClr val="6233C2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68" name="s3-r-c1-title">
            <a:extLst>
              <a:ext uri="{FF2B5EF4-FFF2-40B4-BE49-F238E27FC236}">
                <a16:creationId xmlns:a16="http://schemas.microsoft.com/office/drawing/2014/main" id="{53AE68B0-2059-87D0-AC35-7E3AD30F61EB}"/>
              </a:ext>
            </a:extLst>
          </p:cNvPr>
          <p:cNvSpPr txBox="1"/>
          <p:nvPr/>
        </p:nvSpPr>
        <p:spPr>
          <a:xfrm>
            <a:off x="4360345" y="2637488"/>
            <a:ext cx="484854" cy="1051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700" b="1" noProof="1">
                <a:solidFill>
                  <a:srgbClr val="1F2430"/>
                </a:solidFill>
                <a:latin typeface="+mn-ea"/>
              </a:rPr>
              <a:t>查询代理</a:t>
            </a:r>
            <a:endParaRPr lang="en-US" sz="700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74" name="s3-r-a1">
            <a:extLst>
              <a:ext uri="{FF2B5EF4-FFF2-40B4-BE49-F238E27FC236}">
                <a16:creationId xmlns:a16="http://schemas.microsoft.com/office/drawing/2014/main" id="{948CD6D4-6B3F-6CB4-F332-2A42D7E922F6}"/>
              </a:ext>
            </a:extLst>
          </p:cNvPr>
          <p:cNvSpPr/>
          <p:nvPr/>
        </p:nvSpPr>
        <p:spPr>
          <a:xfrm>
            <a:off x="4876967" y="2758811"/>
            <a:ext cx="117303" cy="56617"/>
          </a:xfrm>
          <a:prstGeom prst="rightArrow">
            <a:avLst>
              <a:gd name="adj1" fmla="val 38000"/>
              <a:gd name="adj2" fmla="val 45000"/>
            </a:avLst>
          </a:prstGeom>
          <a:solidFill>
            <a:srgbClr val="5F35C8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76" name="s3-r-c2">
            <a:extLst>
              <a:ext uri="{FF2B5EF4-FFF2-40B4-BE49-F238E27FC236}">
                <a16:creationId xmlns:a16="http://schemas.microsoft.com/office/drawing/2014/main" id="{123183B5-2503-C51C-1EE4-28C387DBD3A9}"/>
              </a:ext>
            </a:extLst>
          </p:cNvPr>
          <p:cNvSpPr/>
          <p:nvPr/>
        </p:nvSpPr>
        <p:spPr>
          <a:xfrm>
            <a:off x="5033372" y="2597048"/>
            <a:ext cx="1046399" cy="4001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DBF7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278" name="s3-r-c2-icon">
            <a:extLst>
              <a:ext uri="{FF2B5EF4-FFF2-40B4-BE49-F238E27FC236}">
                <a16:creationId xmlns:a16="http://schemas.microsoft.com/office/drawing/2014/main" id="{BA9ED087-1B88-1E5A-426A-8E5D8D907946}"/>
              </a:ext>
            </a:extLst>
          </p:cNvPr>
          <p:cNvPicPr/>
          <p:nvPr/>
        </p:nvPicPr>
        <p:blipFill>
          <a:blip r:embed="rId9"/>
          <a:stretch>
            <a:fillRect/>
          </a:stretch>
        </p:blipFill>
        <p:spPr>
          <a:xfrm>
            <a:off x="5054517" y="2680001"/>
            <a:ext cx="187686" cy="210293"/>
          </a:xfrm>
          <a:prstGeom prst="rect">
            <a:avLst/>
          </a:prstGeom>
          <a:ln>
            <a:noFill/>
          </a:ln>
        </p:spPr>
      </p:pic>
      <p:sp>
        <p:nvSpPr>
          <p:cNvPr id="280" name="s3-r-c2-title">
            <a:extLst>
              <a:ext uri="{FF2B5EF4-FFF2-40B4-BE49-F238E27FC236}">
                <a16:creationId xmlns:a16="http://schemas.microsoft.com/office/drawing/2014/main" id="{416D2843-11E6-962E-0129-1658F5A68AD0}"/>
              </a:ext>
            </a:extLst>
          </p:cNvPr>
          <p:cNvSpPr txBox="1"/>
          <p:nvPr/>
        </p:nvSpPr>
        <p:spPr>
          <a:xfrm>
            <a:off x="5275037" y="2606706"/>
            <a:ext cx="836762" cy="1698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defTabSz="685800"/>
            <a:r>
              <a:rPr lang="en-US" sz="600" b="1" noProof="1">
                <a:solidFill>
                  <a:srgbClr val="1F2430"/>
                </a:solidFill>
                <a:latin typeface="+mn-ea"/>
              </a:rPr>
              <a:t>Databricks SQL Serverless</a:t>
            </a:r>
            <a:endParaRPr lang="en-US" sz="600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86" name="s3-r-uc">
            <a:extLst>
              <a:ext uri="{FF2B5EF4-FFF2-40B4-BE49-F238E27FC236}">
                <a16:creationId xmlns:a16="http://schemas.microsoft.com/office/drawing/2014/main" id="{5FC8D218-FD0F-BFB1-15B3-2147235B69A3}"/>
              </a:ext>
            </a:extLst>
          </p:cNvPr>
          <p:cNvSpPr/>
          <p:nvPr/>
        </p:nvSpPr>
        <p:spPr>
          <a:xfrm>
            <a:off x="4155718" y="3022600"/>
            <a:ext cx="1923709" cy="270031"/>
          </a:xfrm>
          <a:prstGeom prst="roundRect">
            <a:avLst>
              <a:gd name="adj" fmla="val 12000"/>
            </a:avLst>
          </a:prstGeom>
          <a:solidFill>
            <a:srgbClr val="EAE4F7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88" name="s3-r-uc-title">
            <a:extLst>
              <a:ext uri="{FF2B5EF4-FFF2-40B4-BE49-F238E27FC236}">
                <a16:creationId xmlns:a16="http://schemas.microsoft.com/office/drawing/2014/main" id="{88BF9157-322D-892B-2046-E9CBFA2EEE52}"/>
              </a:ext>
            </a:extLst>
          </p:cNvPr>
          <p:cNvSpPr txBox="1"/>
          <p:nvPr/>
        </p:nvSpPr>
        <p:spPr>
          <a:xfrm>
            <a:off x="4155719" y="3047799"/>
            <a:ext cx="1908133" cy="1132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750" b="1" noProof="1">
                <a:solidFill>
                  <a:srgbClr val="5F35C8"/>
                </a:solidFill>
                <a:latin typeface="+mn-ea"/>
              </a:rPr>
              <a:t>Unity Catalog</a:t>
            </a:r>
            <a:endParaRPr lang="en-US" sz="750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90" name="s3-r-uc-desc">
            <a:extLst>
              <a:ext uri="{FF2B5EF4-FFF2-40B4-BE49-F238E27FC236}">
                <a16:creationId xmlns:a16="http://schemas.microsoft.com/office/drawing/2014/main" id="{639CFE93-B0A4-0CDA-3E62-CB79E219FA69}"/>
              </a:ext>
            </a:extLst>
          </p:cNvPr>
          <p:cNvSpPr txBox="1"/>
          <p:nvPr/>
        </p:nvSpPr>
        <p:spPr>
          <a:xfrm>
            <a:off x="4297995" y="3177210"/>
            <a:ext cx="1623582" cy="970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600" noProof="1">
                <a:solidFill>
                  <a:srgbClr val="4A5568"/>
                </a:solidFill>
                <a:latin typeface="+mn-ea"/>
              </a:rPr>
              <a:t>细粒度权限 · 列级脱敏 · 审计</a:t>
            </a:r>
            <a:endParaRPr lang="en-US" sz="600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92" name="s3-a-head">
            <a:extLst>
              <a:ext uri="{FF2B5EF4-FFF2-40B4-BE49-F238E27FC236}">
                <a16:creationId xmlns:a16="http://schemas.microsoft.com/office/drawing/2014/main" id="{EB1FF04D-9DA9-6A17-7004-846B46C7B579}"/>
              </a:ext>
            </a:extLst>
          </p:cNvPr>
          <p:cNvSpPr txBox="1"/>
          <p:nvPr/>
        </p:nvSpPr>
        <p:spPr>
          <a:xfrm>
            <a:off x="6515703" y="2441410"/>
            <a:ext cx="1798650" cy="1051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/>
            <a:r>
              <a:rPr lang="en-US" sz="800" b="1" noProof="1">
                <a:solidFill>
                  <a:srgbClr val="E07B26"/>
                </a:solidFill>
                <a:latin typeface="+mn-ea"/>
              </a:rPr>
              <a:t>ATTACHMENT PATH | 附件预览 &amp; 下载</a:t>
            </a:r>
            <a:endParaRPr lang="en-US" sz="800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94" name="s3-a-c1">
            <a:extLst>
              <a:ext uri="{FF2B5EF4-FFF2-40B4-BE49-F238E27FC236}">
                <a16:creationId xmlns:a16="http://schemas.microsoft.com/office/drawing/2014/main" id="{A948550D-6130-9E91-7D0B-0CB37601E2E9}"/>
              </a:ext>
            </a:extLst>
          </p:cNvPr>
          <p:cNvSpPr/>
          <p:nvPr/>
        </p:nvSpPr>
        <p:spPr>
          <a:xfrm>
            <a:off x="6264481" y="2597048"/>
            <a:ext cx="625618" cy="57426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2D9BE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296" name="s3-a-c1-icon">
            <a:extLst>
              <a:ext uri="{FF2B5EF4-FFF2-40B4-BE49-F238E27FC236}">
                <a16:creationId xmlns:a16="http://schemas.microsoft.com/office/drawing/2014/main" id="{E8A1EF8E-F49B-BAE0-648B-9C962EB6E4B6}"/>
              </a:ext>
            </a:extLst>
          </p:cNvPr>
          <p:cNvPicPr/>
          <p:nvPr/>
        </p:nvPicPr>
        <p:blipFill>
          <a:blip r:embed="rId10"/>
          <a:stretch>
            <a:fillRect/>
          </a:stretch>
        </p:blipFill>
        <p:spPr>
          <a:xfrm>
            <a:off x="6467807" y="2605136"/>
            <a:ext cx="195506" cy="226469"/>
          </a:xfrm>
          <a:prstGeom prst="rect">
            <a:avLst/>
          </a:prstGeom>
          <a:ln>
            <a:noFill/>
          </a:ln>
        </p:spPr>
      </p:pic>
      <p:sp>
        <p:nvSpPr>
          <p:cNvPr id="298" name="s3-a-c1-name">
            <a:extLst>
              <a:ext uri="{FF2B5EF4-FFF2-40B4-BE49-F238E27FC236}">
                <a16:creationId xmlns:a16="http://schemas.microsoft.com/office/drawing/2014/main" id="{A3BD71A5-2A2D-A4CD-875F-C690F8BC1C6C}"/>
              </a:ext>
            </a:extLst>
          </p:cNvPr>
          <p:cNvSpPr txBox="1"/>
          <p:nvPr/>
        </p:nvSpPr>
        <p:spPr>
          <a:xfrm>
            <a:off x="6264481" y="2831605"/>
            <a:ext cx="625618" cy="970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600" b="1" noProof="1">
                <a:solidFill>
                  <a:srgbClr val="1F2430"/>
                </a:solidFill>
                <a:latin typeface="+mn-ea"/>
              </a:rPr>
              <a:t>Storage Mover</a:t>
            </a:r>
            <a:endParaRPr lang="en-US" sz="600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04" name="s3-a-c2">
            <a:extLst>
              <a:ext uri="{FF2B5EF4-FFF2-40B4-BE49-F238E27FC236}">
                <a16:creationId xmlns:a16="http://schemas.microsoft.com/office/drawing/2014/main" id="{79CFB6E7-04E3-7C04-832F-5862415F9FA6}"/>
              </a:ext>
            </a:extLst>
          </p:cNvPr>
          <p:cNvSpPr/>
          <p:nvPr/>
        </p:nvSpPr>
        <p:spPr>
          <a:xfrm>
            <a:off x="7035479" y="2597048"/>
            <a:ext cx="718404" cy="57426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2D9BE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306" name="s3-a-c2-icon">
            <a:extLst>
              <a:ext uri="{FF2B5EF4-FFF2-40B4-BE49-F238E27FC236}">
                <a16:creationId xmlns:a16="http://schemas.microsoft.com/office/drawing/2014/main" id="{08D48DB1-03FB-4A70-DC5E-B73B28AED3F8}"/>
              </a:ext>
            </a:extLst>
          </p:cNvPr>
          <p:cNvPicPr/>
          <p:nvPr/>
        </p:nvPicPr>
        <p:blipFill>
          <a:blip r:embed="rId11"/>
          <a:stretch>
            <a:fillRect/>
          </a:stretch>
        </p:blipFill>
        <p:spPr>
          <a:xfrm>
            <a:off x="7249509" y="2613224"/>
            <a:ext cx="211146" cy="226469"/>
          </a:xfrm>
          <a:prstGeom prst="rect">
            <a:avLst/>
          </a:prstGeom>
          <a:ln>
            <a:noFill/>
          </a:ln>
        </p:spPr>
      </p:pic>
      <p:sp>
        <p:nvSpPr>
          <p:cNvPr id="308" name="s3-a-c2-name">
            <a:extLst>
              <a:ext uri="{FF2B5EF4-FFF2-40B4-BE49-F238E27FC236}">
                <a16:creationId xmlns:a16="http://schemas.microsoft.com/office/drawing/2014/main" id="{3F93A402-EB2B-5F24-D925-77C7C43E9D78}"/>
              </a:ext>
            </a:extLst>
          </p:cNvPr>
          <p:cNvSpPr txBox="1"/>
          <p:nvPr/>
        </p:nvSpPr>
        <p:spPr>
          <a:xfrm>
            <a:off x="7066232" y="2831605"/>
            <a:ext cx="656898" cy="889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600" b="1" noProof="1">
                <a:solidFill>
                  <a:srgbClr val="1F2430"/>
                </a:solidFill>
                <a:latin typeface="+mn-ea"/>
              </a:rPr>
              <a:t>Azure Blob Storage</a:t>
            </a:r>
            <a:endParaRPr lang="en-US" sz="600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16" name="s3-a-c3">
            <a:extLst>
              <a:ext uri="{FF2B5EF4-FFF2-40B4-BE49-F238E27FC236}">
                <a16:creationId xmlns:a16="http://schemas.microsoft.com/office/drawing/2014/main" id="{E31D6B1E-2AF7-320C-6042-8C5C219A4E9B}"/>
              </a:ext>
            </a:extLst>
          </p:cNvPr>
          <p:cNvSpPr/>
          <p:nvPr/>
        </p:nvSpPr>
        <p:spPr>
          <a:xfrm>
            <a:off x="7873999" y="2597048"/>
            <a:ext cx="706099" cy="57426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2D9BE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18" name="s3-a-c3-icon">
            <a:extLst>
              <a:ext uri="{FF2B5EF4-FFF2-40B4-BE49-F238E27FC236}">
                <a16:creationId xmlns:a16="http://schemas.microsoft.com/office/drawing/2014/main" id="{23DD5451-A30C-8127-3578-03E321789F13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eyJpY29uTmFtZSI6ImZhczpwYXBlcmNsaXAifQ</pptd:icon>
              </p:ext>
            </p:extLst>
          </p:nvPr>
        </p:nvSpPr>
        <p:spPr>
          <a:xfrm>
            <a:off x="8173186" y="2682995"/>
            <a:ext cx="107725" cy="123796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25" y="13"/>
                </a:moveTo>
                <a:cubicBezTo>
                  <a:pt x="281" y="-43"/>
                  <a:pt x="372" y="-43"/>
                  <a:pt x="428" y="13"/>
                </a:cubicBezTo>
                <a:cubicBezTo>
                  <a:pt x="484" y="69"/>
                  <a:pt x="484" y="160"/>
                  <a:pt x="428" y="216"/>
                </a:cubicBezTo>
                <a:lnTo>
                  <a:pt x="264" y="380"/>
                </a:lnTo>
                <a:cubicBezTo>
                  <a:pt x="230" y="415"/>
                  <a:pt x="174" y="415"/>
                  <a:pt x="140" y="380"/>
                </a:cubicBezTo>
                <a:cubicBezTo>
                  <a:pt x="105" y="346"/>
                  <a:pt x="105" y="290"/>
                  <a:pt x="140" y="256"/>
                </a:cubicBezTo>
                <a:lnTo>
                  <a:pt x="293" y="103"/>
                </a:lnTo>
                <a:cubicBezTo>
                  <a:pt x="305" y="91"/>
                  <a:pt x="325" y="91"/>
                  <a:pt x="338" y="103"/>
                </a:cubicBezTo>
                <a:cubicBezTo>
                  <a:pt x="350" y="116"/>
                  <a:pt x="350" y="136"/>
                  <a:pt x="338" y="149"/>
                </a:cubicBezTo>
                <a:lnTo>
                  <a:pt x="185" y="301"/>
                </a:lnTo>
                <a:cubicBezTo>
                  <a:pt x="176" y="311"/>
                  <a:pt x="176" y="326"/>
                  <a:pt x="185" y="335"/>
                </a:cubicBezTo>
                <a:cubicBezTo>
                  <a:pt x="194" y="344"/>
                  <a:pt x="210" y="345"/>
                  <a:pt x="219" y="335"/>
                </a:cubicBezTo>
                <a:lnTo>
                  <a:pt x="383" y="171"/>
                </a:lnTo>
                <a:cubicBezTo>
                  <a:pt x="414" y="140"/>
                  <a:pt x="414" y="89"/>
                  <a:pt x="383" y="58"/>
                </a:cubicBezTo>
                <a:cubicBezTo>
                  <a:pt x="352" y="27"/>
                  <a:pt x="301" y="27"/>
                  <a:pt x="270" y="58"/>
                </a:cubicBezTo>
                <a:lnTo>
                  <a:pt x="106" y="222"/>
                </a:lnTo>
                <a:cubicBezTo>
                  <a:pt x="53" y="275"/>
                  <a:pt x="53" y="361"/>
                  <a:pt x="106" y="414"/>
                </a:cubicBezTo>
                <a:cubicBezTo>
                  <a:pt x="159" y="468"/>
                  <a:pt x="245" y="468"/>
                  <a:pt x="298" y="414"/>
                </a:cubicBezTo>
                <a:lnTo>
                  <a:pt x="428" y="284"/>
                </a:lnTo>
                <a:cubicBezTo>
                  <a:pt x="441" y="272"/>
                  <a:pt x="461" y="272"/>
                  <a:pt x="474" y="284"/>
                </a:cubicBezTo>
                <a:cubicBezTo>
                  <a:pt x="486" y="297"/>
                  <a:pt x="486" y="317"/>
                  <a:pt x="474" y="330"/>
                </a:cubicBezTo>
                <a:lnTo>
                  <a:pt x="343" y="460"/>
                </a:lnTo>
                <a:cubicBezTo>
                  <a:pt x="265" y="538"/>
                  <a:pt x="139" y="538"/>
                  <a:pt x="61" y="460"/>
                </a:cubicBezTo>
                <a:cubicBezTo>
                  <a:pt x="-18" y="382"/>
                  <a:pt x="-18" y="255"/>
                  <a:pt x="61" y="177"/>
                </a:cubicBezTo>
                <a:lnTo>
                  <a:pt x="225" y="13"/>
                </a:lnTo>
                <a:close/>
              </a:path>
            </a:pathLst>
          </a:custGeom>
          <a:solidFill>
            <a:srgbClr val="303D5D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20" name="s3-a-c3-title">
            <a:extLst>
              <a:ext uri="{FF2B5EF4-FFF2-40B4-BE49-F238E27FC236}">
                <a16:creationId xmlns:a16="http://schemas.microsoft.com/office/drawing/2014/main" id="{205B7345-B3E2-71F6-345E-11A891932C42}"/>
              </a:ext>
            </a:extLst>
          </p:cNvPr>
          <p:cNvSpPr txBox="1"/>
          <p:nvPr/>
        </p:nvSpPr>
        <p:spPr>
          <a:xfrm>
            <a:off x="7945520" y="2815429"/>
            <a:ext cx="563056" cy="1051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600" b="1" noProof="1">
                <a:solidFill>
                  <a:srgbClr val="1F2430"/>
                </a:solidFill>
                <a:latin typeface="+mn-ea"/>
              </a:rPr>
              <a:t>附件代理</a:t>
            </a:r>
            <a:endParaRPr lang="en-US" sz="600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71" name="l1-c1-desc">
            <a:extLst>
              <a:ext uri="{FF2B5EF4-FFF2-40B4-BE49-F238E27FC236}">
                <a16:creationId xmlns:a16="http://schemas.microsoft.com/office/drawing/2014/main" id="{63FFFE4D-3DD1-34C7-873E-787F8247E3DB}"/>
              </a:ext>
            </a:extLst>
          </p:cNvPr>
          <p:cNvSpPr txBox="1"/>
          <p:nvPr/>
        </p:nvSpPr>
        <p:spPr>
          <a:xfrm>
            <a:off x="7137366" y="2955684"/>
            <a:ext cx="514631" cy="21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ctr" defTabSz="685800">
              <a:lnSpc>
                <a:spcPct val="120000"/>
              </a:lnSpc>
            </a:pPr>
            <a:r>
              <a:rPr lang="en-US" altLang="zh-CN" sz="600" noProof="1">
                <a:solidFill>
                  <a:srgbClr val="5B6472"/>
                </a:solidFill>
                <a:latin typeface="+mn-ea"/>
              </a:rPr>
              <a:t>独立附件存储</a:t>
            </a:r>
          </a:p>
          <a:p>
            <a:pPr algn="ctr" defTabSz="685800">
              <a:lnSpc>
                <a:spcPct val="120000"/>
              </a:lnSpc>
            </a:pPr>
            <a:r>
              <a:rPr lang="en-US" altLang="zh-CN" sz="600" noProof="1">
                <a:solidFill>
                  <a:srgbClr val="5B6472"/>
                </a:solidFill>
                <a:latin typeface="+mn-ea"/>
              </a:rPr>
              <a:t>冷 / 热分层</a:t>
            </a:r>
            <a:endParaRPr lang="en-US" altLang="zh-CN" sz="600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72" name="l1-c1-desc">
            <a:extLst>
              <a:ext uri="{FF2B5EF4-FFF2-40B4-BE49-F238E27FC236}">
                <a16:creationId xmlns:a16="http://schemas.microsoft.com/office/drawing/2014/main" id="{21A7DBD4-75B6-DAC5-6B07-F7A83B55EF6C}"/>
              </a:ext>
            </a:extLst>
          </p:cNvPr>
          <p:cNvSpPr txBox="1"/>
          <p:nvPr/>
        </p:nvSpPr>
        <p:spPr>
          <a:xfrm>
            <a:off x="6316412" y="2955684"/>
            <a:ext cx="514631" cy="966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63" b="0" i="0" u="none" strike="noStrike" kern="1200" cap="none" spc="0" normalizeH="0" baseline="0" noProof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+mn-ea"/>
                <a:cs typeface="+mn-cs"/>
              </a:rPr>
              <a:t>附件迁移</a:t>
            </a:r>
            <a:endParaRPr kumimoji="0" lang="en-US" altLang="zh-CN" sz="563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14" name="s3-a-a2">
            <a:extLst>
              <a:ext uri="{FF2B5EF4-FFF2-40B4-BE49-F238E27FC236}">
                <a16:creationId xmlns:a16="http://schemas.microsoft.com/office/drawing/2014/main" id="{08752370-06F5-9D96-F603-005549445C5D}"/>
              </a:ext>
            </a:extLst>
          </p:cNvPr>
          <p:cNvSpPr/>
          <p:nvPr/>
        </p:nvSpPr>
        <p:spPr>
          <a:xfrm>
            <a:off x="7756767" y="2847781"/>
            <a:ext cx="117303" cy="56617"/>
          </a:xfrm>
          <a:prstGeom prst="rightArrow">
            <a:avLst>
              <a:gd name="adj1" fmla="val 38000"/>
              <a:gd name="adj2" fmla="val 45000"/>
            </a:avLst>
          </a:prstGeom>
          <a:solidFill>
            <a:srgbClr val="DE7F26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02" name="s3-a-a1">
            <a:extLst>
              <a:ext uri="{FF2B5EF4-FFF2-40B4-BE49-F238E27FC236}">
                <a16:creationId xmlns:a16="http://schemas.microsoft.com/office/drawing/2014/main" id="{DC13BD19-B32D-ACAD-1498-AC2EBA64F988}"/>
              </a:ext>
            </a:extLst>
          </p:cNvPr>
          <p:cNvSpPr/>
          <p:nvPr/>
        </p:nvSpPr>
        <p:spPr>
          <a:xfrm>
            <a:off x="6893495" y="2847781"/>
            <a:ext cx="144000" cy="56617"/>
          </a:xfrm>
          <a:prstGeom prst="rightArrow">
            <a:avLst>
              <a:gd name="adj1" fmla="val 38000"/>
              <a:gd name="adj2" fmla="val 45000"/>
            </a:avLst>
          </a:prstGeom>
          <a:solidFill>
            <a:srgbClr val="DE7F26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73" name="l1-c1-desc">
            <a:extLst>
              <a:ext uri="{FF2B5EF4-FFF2-40B4-BE49-F238E27FC236}">
                <a16:creationId xmlns:a16="http://schemas.microsoft.com/office/drawing/2014/main" id="{C3563222-33C1-320C-4EE7-F54DCB9F264B}"/>
              </a:ext>
            </a:extLst>
          </p:cNvPr>
          <p:cNvSpPr txBox="1"/>
          <p:nvPr/>
        </p:nvSpPr>
        <p:spPr>
          <a:xfrm>
            <a:off x="7944122" y="2955684"/>
            <a:ext cx="565852" cy="21204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" b="0" i="0" u="none" strike="noStrike" kern="1200" cap="none" spc="0" normalizeH="0" baseline="0" noProof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+mn-ea"/>
                <a:cs typeface="+mn-cs"/>
              </a:rPr>
              <a:t>权限校验</a:t>
            </a:r>
          </a:p>
          <a:p>
            <a:pPr algn="ctr" defTabSz="685800">
              <a:lnSpc>
                <a:spcPct val="120000"/>
              </a:lnSpc>
              <a:defRPr/>
            </a:pPr>
            <a:r>
              <a:rPr lang="en-US" altLang="zh-CN" sz="600" noProof="1">
                <a:solidFill>
                  <a:srgbClr val="5B6472"/>
                </a:solidFill>
                <a:latin typeface="+mn-ea"/>
              </a:rPr>
              <a:t>流式预览 / 下载</a:t>
            </a:r>
            <a:endParaRPr lang="en-US" altLang="zh-CN" sz="600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74" name="l1-c1-desc">
            <a:extLst>
              <a:ext uri="{FF2B5EF4-FFF2-40B4-BE49-F238E27FC236}">
                <a16:creationId xmlns:a16="http://schemas.microsoft.com/office/drawing/2014/main" id="{AF8A69D9-3408-23A7-BECE-CF9169783F5E}"/>
              </a:ext>
            </a:extLst>
          </p:cNvPr>
          <p:cNvSpPr txBox="1"/>
          <p:nvPr/>
        </p:nvSpPr>
        <p:spPr>
          <a:xfrm>
            <a:off x="1564070" y="2955684"/>
            <a:ext cx="514631" cy="101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ctr" defTabSz="685800">
              <a:lnSpc>
                <a:spcPct val="120000"/>
              </a:lnSpc>
              <a:defRPr/>
            </a:pPr>
            <a:r>
              <a:rPr lang="zh-CN" altLang="en-US" sz="600">
                <a:solidFill>
                  <a:srgbClr val="64748B"/>
                </a:solidFill>
                <a:latin typeface="+mn-ea"/>
              </a:rPr>
              <a:t>编排调度</a:t>
            </a:r>
          </a:p>
        </p:txBody>
      </p:sp>
      <p:sp>
        <p:nvSpPr>
          <p:cNvPr id="240" name="s3-w-a1">
            <a:extLst>
              <a:ext uri="{FF2B5EF4-FFF2-40B4-BE49-F238E27FC236}">
                <a16:creationId xmlns:a16="http://schemas.microsoft.com/office/drawing/2014/main" id="{CAFE3465-8A83-BCAF-D163-6D7490EF61DF}"/>
              </a:ext>
            </a:extLst>
          </p:cNvPr>
          <p:cNvSpPr/>
          <p:nvPr/>
        </p:nvSpPr>
        <p:spPr>
          <a:xfrm>
            <a:off x="2198739" y="2774988"/>
            <a:ext cx="191538" cy="56617"/>
          </a:xfrm>
          <a:prstGeom prst="rightArrow">
            <a:avLst>
              <a:gd name="adj1" fmla="val 38000"/>
              <a:gd name="adj2" fmla="val 45000"/>
            </a:avLst>
          </a:prstGeom>
          <a:solidFill>
            <a:srgbClr val="115267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75" name="s3-w-a1">
            <a:extLst>
              <a:ext uri="{FF2B5EF4-FFF2-40B4-BE49-F238E27FC236}">
                <a16:creationId xmlns:a16="http://schemas.microsoft.com/office/drawing/2014/main" id="{D6F1EE6F-BD01-6C8C-626A-6A7EB4E28FB5}"/>
              </a:ext>
            </a:extLst>
          </p:cNvPr>
          <p:cNvSpPr/>
          <p:nvPr/>
        </p:nvSpPr>
        <p:spPr>
          <a:xfrm>
            <a:off x="3045307" y="2774988"/>
            <a:ext cx="191538" cy="56617"/>
          </a:xfrm>
          <a:prstGeom prst="rightArrow">
            <a:avLst>
              <a:gd name="adj1" fmla="val 38000"/>
              <a:gd name="adj2" fmla="val 45000"/>
            </a:avLst>
          </a:prstGeom>
          <a:solidFill>
            <a:srgbClr val="115267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76" name="l1-c1-desc">
            <a:extLst>
              <a:ext uri="{FF2B5EF4-FFF2-40B4-BE49-F238E27FC236}">
                <a16:creationId xmlns:a16="http://schemas.microsoft.com/office/drawing/2014/main" id="{24E6C159-A3A9-B28D-2780-E00519C83394}"/>
              </a:ext>
            </a:extLst>
          </p:cNvPr>
          <p:cNvSpPr txBox="1"/>
          <p:nvPr/>
        </p:nvSpPr>
        <p:spPr>
          <a:xfrm>
            <a:off x="2450912" y="2955684"/>
            <a:ext cx="514631" cy="1029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600" noProof="1">
                <a:solidFill>
                  <a:srgbClr val="5B6472"/>
                </a:solidFill>
                <a:latin typeface="+mn-ea"/>
              </a:rPr>
              <a:t>结构化抽取</a:t>
            </a:r>
            <a:endParaRPr kumimoji="0" lang="en-US" altLang="zh-CN" sz="6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77" name="l1-c1-desc">
            <a:extLst>
              <a:ext uri="{FF2B5EF4-FFF2-40B4-BE49-F238E27FC236}">
                <a16:creationId xmlns:a16="http://schemas.microsoft.com/office/drawing/2014/main" id="{5F6F4DDD-0192-7D89-AC7A-6B3EA2387BA8}"/>
              </a:ext>
            </a:extLst>
          </p:cNvPr>
          <p:cNvSpPr txBox="1"/>
          <p:nvPr/>
        </p:nvSpPr>
        <p:spPr>
          <a:xfrm>
            <a:off x="4360345" y="2754314"/>
            <a:ext cx="445752" cy="2005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defTabSz="685800">
              <a:lnSpc>
                <a:spcPct val="120000"/>
              </a:lnSpc>
            </a:pPr>
            <a:r>
              <a:rPr lang="en-US" altLang="zh-CN" sz="563" noProof="1">
                <a:solidFill>
                  <a:srgbClr val="5B6472"/>
                </a:solidFill>
                <a:latin typeface="+mn-ea"/>
              </a:rPr>
              <a:t>限流 / 审计</a:t>
            </a:r>
          </a:p>
          <a:p>
            <a:pPr defTabSz="685800">
              <a:lnSpc>
                <a:spcPct val="120000"/>
              </a:lnSpc>
            </a:pPr>
            <a:r>
              <a:rPr lang="en-US" altLang="zh-CN" sz="563" noProof="1">
                <a:solidFill>
                  <a:srgbClr val="5B6472"/>
                </a:solidFill>
                <a:latin typeface="+mn-ea"/>
              </a:rPr>
              <a:t>权限校验</a:t>
            </a:r>
            <a:endParaRPr lang="en-US" altLang="zh-CN" sz="563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78" name="l1-c1-desc">
            <a:extLst>
              <a:ext uri="{FF2B5EF4-FFF2-40B4-BE49-F238E27FC236}">
                <a16:creationId xmlns:a16="http://schemas.microsoft.com/office/drawing/2014/main" id="{8DB20560-4ABF-0C53-D72B-485471831608}"/>
              </a:ext>
            </a:extLst>
          </p:cNvPr>
          <p:cNvSpPr txBox="1"/>
          <p:nvPr/>
        </p:nvSpPr>
        <p:spPr>
          <a:xfrm>
            <a:off x="5283943" y="2781463"/>
            <a:ext cx="802673" cy="1989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defTabSz="685800">
              <a:lnSpc>
                <a:spcPct val="120000"/>
              </a:lnSpc>
            </a:pPr>
            <a:r>
              <a:rPr lang="en-US" altLang="zh-CN" sz="563" noProof="1">
                <a:solidFill>
                  <a:srgbClr val="5B6472"/>
                </a:solidFill>
                <a:latin typeface="+mn-ea"/>
              </a:rPr>
              <a:t>读侧查询 · 按需扩缩</a:t>
            </a:r>
          </a:p>
          <a:p>
            <a:pPr defTabSz="685800">
              <a:lnSpc>
                <a:spcPct val="120000"/>
              </a:lnSpc>
            </a:pPr>
            <a:r>
              <a:rPr lang="en-US" altLang="zh-CN" sz="563" noProof="1">
                <a:solidFill>
                  <a:srgbClr val="5B6472"/>
                </a:solidFill>
                <a:latin typeface="+mn-ea"/>
              </a:rPr>
              <a:t>空闲自动缩容至 0</a:t>
            </a:r>
            <a:endParaRPr lang="en-US" altLang="zh-CN" sz="563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80" name="l1-c1-desc">
            <a:extLst>
              <a:ext uri="{FF2B5EF4-FFF2-40B4-BE49-F238E27FC236}">
                <a16:creationId xmlns:a16="http://schemas.microsoft.com/office/drawing/2014/main" id="{A514DD16-CF0A-E405-0F25-4E2A5D05FBA5}"/>
              </a:ext>
            </a:extLst>
          </p:cNvPr>
          <p:cNvSpPr txBox="1"/>
          <p:nvPr/>
        </p:nvSpPr>
        <p:spPr>
          <a:xfrm>
            <a:off x="3306342" y="2955684"/>
            <a:ext cx="648331" cy="2005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63" b="0" i="0" u="none" strike="noStrike" kern="1200" cap="none" spc="0" normalizeH="0" baseline="0" noProof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+mn-ea"/>
                <a:cs typeface="+mn-cs"/>
              </a:rPr>
              <a:t>数据处理 · 文件优化</a:t>
            </a:r>
          </a:p>
          <a:p>
            <a:pPr marL="0" marR="0" lvl="0" indent="0" algn="ctr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63" b="0" i="0" u="none" strike="noStrike" kern="1200" cap="none" spc="0" normalizeH="0" baseline="0" noProof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+mn-ea"/>
                <a:cs typeface="+mn-cs"/>
              </a:rPr>
              <a:t>到期销毁</a:t>
            </a:r>
            <a:endParaRPr kumimoji="0" lang="en-US" altLang="zh-CN" sz="563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81" name="l1-c1-desc">
            <a:extLst>
              <a:ext uri="{FF2B5EF4-FFF2-40B4-BE49-F238E27FC236}">
                <a16:creationId xmlns:a16="http://schemas.microsoft.com/office/drawing/2014/main" id="{3F68B12D-1DA1-D75E-64FA-F089EDBC5459}"/>
              </a:ext>
            </a:extLst>
          </p:cNvPr>
          <p:cNvSpPr txBox="1"/>
          <p:nvPr/>
        </p:nvSpPr>
        <p:spPr>
          <a:xfrm>
            <a:off x="1935135" y="3755056"/>
            <a:ext cx="1772608" cy="2005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defTabSz="685800">
              <a:lnSpc>
                <a:spcPct val="120000"/>
              </a:lnSpc>
            </a:pPr>
            <a:r>
              <a:rPr lang="en-US" altLang="zh-CN" sz="563" noProof="1">
                <a:solidFill>
                  <a:srgbClr val="4A5568"/>
                </a:solidFill>
                <a:latin typeface="+mn-ea"/>
              </a:rPr>
              <a:t>RAW 层 1:1 保真归档</a:t>
            </a:r>
          </a:p>
          <a:p>
            <a:pPr defTabSz="685800">
              <a:lnSpc>
                <a:spcPct val="120000"/>
              </a:lnSpc>
            </a:pPr>
            <a:r>
              <a:rPr lang="en-US" altLang="zh-CN" sz="563" noProof="1">
                <a:solidFill>
                  <a:srgbClr val="4A5568"/>
                </a:solidFill>
                <a:latin typeface="+mn-ea"/>
              </a:rPr>
              <a:t>CURATED → LAKE → SERVE 逐层治理与加速</a:t>
            </a:r>
          </a:p>
        </p:txBody>
      </p:sp>
      <p:sp>
        <p:nvSpPr>
          <p:cNvPr id="482" name="l1-c1-desc">
            <a:extLst>
              <a:ext uri="{FF2B5EF4-FFF2-40B4-BE49-F238E27FC236}">
                <a16:creationId xmlns:a16="http://schemas.microsoft.com/office/drawing/2014/main" id="{BE40C7B4-3397-72B4-2BB6-26CF6AC9C3CC}"/>
              </a:ext>
            </a:extLst>
          </p:cNvPr>
          <p:cNvSpPr txBox="1"/>
          <p:nvPr/>
        </p:nvSpPr>
        <p:spPr>
          <a:xfrm>
            <a:off x="4228447" y="3755056"/>
            <a:ext cx="1286910" cy="2005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defTabSz="685800">
              <a:lnSpc>
                <a:spcPct val="120000"/>
              </a:lnSpc>
            </a:pPr>
            <a:r>
              <a:rPr lang="en-US" altLang="zh-CN" sz="563" noProof="1">
                <a:solidFill>
                  <a:srgbClr val="4A5568"/>
                </a:solidFill>
                <a:latin typeface="+mn-ea"/>
              </a:rPr>
              <a:t>表 / 行 / 列级权限 · 列级脱敏</a:t>
            </a:r>
          </a:p>
          <a:p>
            <a:pPr defTabSz="685800">
              <a:lnSpc>
                <a:spcPct val="120000"/>
              </a:lnSpc>
            </a:pPr>
            <a:r>
              <a:rPr lang="en-US" altLang="zh-CN" sz="563" noProof="1">
                <a:solidFill>
                  <a:srgbClr val="4A5568"/>
                </a:solidFill>
                <a:latin typeface="+mn-ea"/>
              </a:rPr>
              <a:t>血缘 · 审计 · 数据发现</a:t>
            </a:r>
            <a:endParaRPr lang="en-US" altLang="zh-CN" sz="563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83" name="l1-c1-desc">
            <a:extLst>
              <a:ext uri="{FF2B5EF4-FFF2-40B4-BE49-F238E27FC236}">
                <a16:creationId xmlns:a16="http://schemas.microsoft.com/office/drawing/2014/main" id="{FA9E2F9B-B172-AFAA-CBC5-8CE904673946}"/>
              </a:ext>
            </a:extLst>
          </p:cNvPr>
          <p:cNvSpPr txBox="1"/>
          <p:nvPr/>
        </p:nvSpPr>
        <p:spPr>
          <a:xfrm>
            <a:off x="6388702" y="3755056"/>
            <a:ext cx="1956721" cy="3048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defTabSz="685800">
              <a:lnSpc>
                <a:spcPct val="120000"/>
              </a:lnSpc>
            </a:pPr>
            <a:r>
              <a:rPr lang="en-US" altLang="zh-CN" sz="563" noProof="1">
                <a:solidFill>
                  <a:srgbClr val="4A5568"/>
                </a:solidFill>
                <a:latin typeface="+mn-ea"/>
              </a:rPr>
              <a:t>非结构化附件存储（PDF / Office / Images）</a:t>
            </a:r>
          </a:p>
          <a:p>
            <a:pPr defTabSz="685800">
              <a:lnSpc>
                <a:spcPct val="120000"/>
              </a:lnSpc>
            </a:pPr>
            <a:r>
              <a:rPr lang="en-US" altLang="zh-CN" sz="563" noProof="1">
                <a:solidFill>
                  <a:srgbClr val="4A5568"/>
                </a:solidFill>
                <a:latin typeface="+mn-ea"/>
              </a:rPr>
              <a:t>Cool / Cold 分层 · WORM 可选 · 生命周期管理</a:t>
            </a:r>
            <a:endParaRPr lang="en-US" altLang="zh-CN" sz="563" noProof="1">
              <a:solidFill>
                <a:srgbClr val="000000"/>
              </a:solidFill>
              <a:latin typeface="+mn-ea"/>
            </a:endParaRPr>
          </a:p>
          <a:p>
            <a:pPr defTabSz="685800">
              <a:lnSpc>
                <a:spcPct val="120000"/>
              </a:lnSpc>
            </a:pPr>
            <a:endParaRPr lang="en-US" altLang="zh-CN" sz="563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86" name="s2-box">
            <a:extLst>
              <a:ext uri="{FF2B5EF4-FFF2-40B4-BE49-F238E27FC236}">
                <a16:creationId xmlns:a16="http://schemas.microsoft.com/office/drawing/2014/main" id="{291135E5-F978-4F1E-71F5-6009A12915EF}"/>
              </a:ext>
            </a:extLst>
          </p:cNvPr>
          <p:cNvSpPr/>
          <p:nvPr/>
        </p:nvSpPr>
        <p:spPr>
          <a:xfrm>
            <a:off x="444734" y="2342850"/>
            <a:ext cx="8254532" cy="1015802"/>
          </a:xfrm>
          <a:prstGeom prst="roundRect">
            <a:avLst>
              <a:gd name="adj" fmla="val 8000"/>
            </a:avLst>
          </a:prstGeom>
          <a:noFill/>
          <a:ln w="9525"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87" name="s2-tab">
            <a:extLst>
              <a:ext uri="{FF2B5EF4-FFF2-40B4-BE49-F238E27FC236}">
                <a16:creationId xmlns:a16="http://schemas.microsoft.com/office/drawing/2014/main" id="{279DFD30-ED53-5B29-1828-BFADD5F2FD3E}"/>
              </a:ext>
            </a:extLst>
          </p:cNvPr>
          <p:cNvSpPr/>
          <p:nvPr/>
        </p:nvSpPr>
        <p:spPr>
          <a:xfrm>
            <a:off x="480011" y="2370578"/>
            <a:ext cx="800150" cy="947887"/>
          </a:xfrm>
          <a:prstGeom prst="roundRect">
            <a:avLst>
              <a:gd name="adj" fmla="val 7071"/>
            </a:avLst>
          </a:prstGeom>
          <a:solidFill>
            <a:srgbClr val="0D8AE6"/>
          </a:solidFill>
          <a:ln>
            <a:noFill/>
          </a:ln>
        </p:spPr>
        <p:txBody>
          <a:bodyPr anchor="ctr"/>
          <a:lstStyle/>
          <a:p>
            <a:pPr algn="ctr" defTabSz="685800">
              <a:lnSpc>
                <a:spcPct val="120000"/>
              </a:lnSpc>
            </a:pPr>
            <a:r>
              <a:rPr lang="en-US" altLang="zh-CN" sz="1050" b="1" noProof="1">
                <a:solidFill>
                  <a:srgbClr val="FFFFFF"/>
                </a:solidFill>
                <a:latin typeface="+mn-ea"/>
              </a:rPr>
              <a:t>03</a:t>
            </a:r>
          </a:p>
          <a:p>
            <a:pPr algn="ctr" defTabSz="685800">
              <a:lnSpc>
                <a:spcPct val="120000"/>
              </a:lnSpc>
            </a:pPr>
            <a:r>
              <a:rPr lang="zh-CN" altLang="en-US" sz="800" b="1" noProof="1">
                <a:solidFill>
                  <a:srgbClr val="FFFFFF"/>
                </a:solidFill>
                <a:latin typeface="+mn-ea"/>
              </a:rPr>
              <a:t>核心</a:t>
            </a:r>
            <a:endParaRPr lang="en-US" altLang="zh-CN" sz="800" b="1" noProof="1">
              <a:solidFill>
                <a:srgbClr val="FFFFFF"/>
              </a:solidFill>
              <a:latin typeface="+mn-ea"/>
            </a:endParaRPr>
          </a:p>
          <a:p>
            <a:pPr algn="ctr" defTabSz="685800">
              <a:lnSpc>
                <a:spcPct val="120000"/>
              </a:lnSpc>
            </a:pPr>
            <a:r>
              <a:rPr lang="zh-CN" altLang="en-US" sz="800" b="1" noProof="1">
                <a:solidFill>
                  <a:srgbClr val="FFFFFF"/>
                </a:solidFill>
                <a:latin typeface="+mn-ea"/>
              </a:rPr>
              <a:t>数据链路</a:t>
            </a:r>
            <a:endParaRPr lang="en-US" altLang="zh-CN" sz="800" noProof="1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488" name="Connector 83">
            <a:extLst>
              <a:ext uri="{FF2B5EF4-FFF2-40B4-BE49-F238E27FC236}">
                <a16:creationId xmlns:a16="http://schemas.microsoft.com/office/drawing/2014/main" id="{DFF2F95E-795A-2397-36BB-ADE6D4A51E36}"/>
              </a:ext>
            </a:extLst>
          </p:cNvPr>
          <p:cNvCxnSpPr>
            <a:cxnSpLocks/>
            <a:stCxn id="224" idx="2"/>
          </p:cNvCxnSpPr>
          <p:nvPr/>
        </p:nvCxnSpPr>
        <p:spPr>
          <a:xfrm>
            <a:off x="2708979" y="3316896"/>
            <a:ext cx="0" cy="257998"/>
          </a:xfrm>
          <a:prstGeom prst="line">
            <a:avLst/>
          </a:prstGeom>
          <a:ln w="27940">
            <a:solidFill>
              <a:srgbClr val="059669"/>
            </a:solidFill>
            <a:tailEnd type="triangle" w="med" len="med"/>
          </a:ln>
          <a:effectLst/>
        </p:spPr>
      </p:cxnSp>
      <p:sp>
        <p:nvSpPr>
          <p:cNvPr id="489" name="TextBox 488">
            <a:extLst>
              <a:ext uri="{FF2B5EF4-FFF2-40B4-BE49-F238E27FC236}">
                <a16:creationId xmlns:a16="http://schemas.microsoft.com/office/drawing/2014/main" id="{5B2F3F14-F67F-EDE6-9FE1-39C05E9DDE66}"/>
              </a:ext>
            </a:extLst>
          </p:cNvPr>
          <p:cNvSpPr txBox="1"/>
          <p:nvPr/>
        </p:nvSpPr>
        <p:spPr>
          <a:xfrm>
            <a:off x="2190886" y="3399348"/>
            <a:ext cx="493860" cy="7543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1" i="0" u="none" strike="noStrike" kern="1200" cap="none" spc="0" normalizeH="0" baseline="0" noProof="0" err="1">
                <a:ln>
                  <a:noFill/>
                </a:ln>
                <a:solidFill>
                  <a:srgbClr val="059669"/>
                </a:solidFill>
                <a:effectLst/>
                <a:uLnTx/>
                <a:uFillTx/>
                <a:latin typeface="+mn-ea"/>
                <a:cs typeface="+mn-cs"/>
              </a:rPr>
              <a:t>写入</a:t>
            </a:r>
            <a:r>
              <a:rPr kumimoji="0" sz="600" b="1" i="0" u="none" strike="noStrike" kern="1200" cap="none" spc="0" normalizeH="0" baseline="0" noProof="0">
                <a:ln>
                  <a:noFill/>
                </a:ln>
                <a:solidFill>
                  <a:srgbClr val="059669"/>
                </a:solidFill>
                <a:effectLst/>
                <a:uLnTx/>
                <a:uFillTx/>
                <a:latin typeface="+mn-ea"/>
                <a:cs typeface="+mn-cs"/>
              </a:rPr>
              <a:t> Iceberg</a:t>
            </a:r>
          </a:p>
        </p:txBody>
      </p:sp>
      <p:cxnSp>
        <p:nvCxnSpPr>
          <p:cNvPr id="495" name="Connector: Elbow 494">
            <a:extLst>
              <a:ext uri="{FF2B5EF4-FFF2-40B4-BE49-F238E27FC236}">
                <a16:creationId xmlns:a16="http://schemas.microsoft.com/office/drawing/2014/main" id="{526F0137-D8C7-CFE5-2635-03EB7A03B418}"/>
              </a:ext>
            </a:extLst>
          </p:cNvPr>
          <p:cNvCxnSpPr>
            <a:cxnSpLocks/>
            <a:stCxn id="226" idx="2"/>
            <a:endCxn id="340" idx="0"/>
          </p:cNvCxnSpPr>
          <p:nvPr/>
        </p:nvCxnSpPr>
        <p:spPr>
          <a:xfrm rot="5400000">
            <a:off x="4061876" y="2524896"/>
            <a:ext cx="252000" cy="1836000"/>
          </a:xfrm>
          <a:prstGeom prst="bentConnector3">
            <a:avLst>
              <a:gd name="adj1" fmla="val 34377"/>
            </a:avLst>
          </a:prstGeom>
          <a:ln w="19050">
            <a:solidFill>
              <a:srgbClr val="9C81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9" name="TextBox 498">
            <a:extLst>
              <a:ext uri="{FF2B5EF4-FFF2-40B4-BE49-F238E27FC236}">
                <a16:creationId xmlns:a16="http://schemas.microsoft.com/office/drawing/2014/main" id="{A308C5D5-E2F5-C301-C0AE-3CDF072D11CD}"/>
              </a:ext>
            </a:extLst>
          </p:cNvPr>
          <p:cNvSpPr txBox="1"/>
          <p:nvPr/>
        </p:nvSpPr>
        <p:spPr>
          <a:xfrm>
            <a:off x="3384577" y="3418744"/>
            <a:ext cx="1234440" cy="960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1" i="0" u="none" strike="noStrike" kern="1200" cap="none" spc="0" normalizeH="0" baseline="0" noProof="0">
                <a:ln>
                  <a:noFill/>
                </a:ln>
                <a:solidFill>
                  <a:srgbClr val="7C3AED"/>
                </a:solidFill>
                <a:effectLst/>
                <a:uLnTx/>
                <a:uFillTx/>
                <a:latin typeface="+mn-ea"/>
                <a:cs typeface="+mn-cs"/>
              </a:rPr>
              <a:t>读 Iceberg / ABFS</a:t>
            </a:r>
          </a:p>
        </p:txBody>
      </p:sp>
      <p:cxnSp>
        <p:nvCxnSpPr>
          <p:cNvPr id="500" name="Connector 83">
            <a:extLst>
              <a:ext uri="{FF2B5EF4-FFF2-40B4-BE49-F238E27FC236}">
                <a16:creationId xmlns:a16="http://schemas.microsoft.com/office/drawing/2014/main" id="{585A1238-0952-5D00-B80B-044E5D311759}"/>
              </a:ext>
            </a:extLst>
          </p:cNvPr>
          <p:cNvCxnSpPr>
            <a:cxnSpLocks/>
          </p:cNvCxnSpPr>
          <p:nvPr/>
        </p:nvCxnSpPr>
        <p:spPr>
          <a:xfrm>
            <a:off x="7353514" y="3316896"/>
            <a:ext cx="0" cy="257998"/>
          </a:xfrm>
          <a:prstGeom prst="line">
            <a:avLst/>
          </a:prstGeom>
          <a:ln w="27940">
            <a:solidFill>
              <a:srgbClr val="E58E45"/>
            </a:solidFill>
            <a:tailEnd type="triangle" w="med" len="med"/>
          </a:ln>
          <a:effectLst/>
        </p:spPr>
      </p:cxnSp>
      <p:sp>
        <p:nvSpPr>
          <p:cNvPr id="504" name="TextBox 503">
            <a:extLst>
              <a:ext uri="{FF2B5EF4-FFF2-40B4-BE49-F238E27FC236}">
                <a16:creationId xmlns:a16="http://schemas.microsoft.com/office/drawing/2014/main" id="{20667658-D3B3-C886-226C-1894FB8EF4B8}"/>
              </a:ext>
            </a:extLst>
          </p:cNvPr>
          <p:cNvSpPr txBox="1"/>
          <p:nvPr/>
        </p:nvSpPr>
        <p:spPr>
          <a:xfrm>
            <a:off x="7421021" y="3396318"/>
            <a:ext cx="891540" cy="7543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1" i="0" u="none" strike="noStrike" kern="1200" cap="none" spc="0" normalizeH="0" baseline="0" noProof="0" err="1">
                <a:ln>
                  <a:noFill/>
                </a:ln>
                <a:solidFill>
                  <a:srgbClr val="D97706"/>
                </a:solidFill>
                <a:effectLst/>
                <a:uLnTx/>
                <a:uFillTx/>
                <a:latin typeface="+mn-ea"/>
                <a:cs typeface="+mn-cs"/>
              </a:rPr>
              <a:t>附件取流</a:t>
            </a:r>
            <a:endParaRPr kumimoji="0" sz="600" b="1" i="0" u="none" strike="noStrike" kern="1200" cap="none" spc="0" normalizeH="0" baseline="0" noProof="0">
              <a:ln>
                <a:noFill/>
              </a:ln>
              <a:solidFill>
                <a:srgbClr val="D97706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cxnSp>
        <p:nvCxnSpPr>
          <p:cNvPr id="509" name="Connector 69">
            <a:extLst>
              <a:ext uri="{FF2B5EF4-FFF2-40B4-BE49-F238E27FC236}">
                <a16:creationId xmlns:a16="http://schemas.microsoft.com/office/drawing/2014/main" id="{9E002C07-A43C-60B4-EC28-8E3DF2BA2413}"/>
              </a:ext>
            </a:extLst>
          </p:cNvPr>
          <p:cNvCxnSpPr>
            <a:cxnSpLocks/>
          </p:cNvCxnSpPr>
          <p:nvPr/>
        </p:nvCxnSpPr>
        <p:spPr>
          <a:xfrm>
            <a:off x="4892587" y="2148228"/>
            <a:ext cx="0" cy="238527"/>
          </a:xfrm>
          <a:prstGeom prst="line">
            <a:avLst/>
          </a:prstGeom>
          <a:ln w="27940">
            <a:solidFill>
              <a:srgbClr val="7C3AED"/>
            </a:solidFill>
            <a:tailEnd type="triangle" w="med" len="med"/>
          </a:ln>
          <a:effectLst/>
        </p:spPr>
      </p:cxnSp>
      <p:sp>
        <p:nvSpPr>
          <p:cNvPr id="510" name="TextBox 509">
            <a:extLst>
              <a:ext uri="{FF2B5EF4-FFF2-40B4-BE49-F238E27FC236}">
                <a16:creationId xmlns:a16="http://schemas.microsoft.com/office/drawing/2014/main" id="{F6827479-6E16-ADC6-3C64-8140B00F5845}"/>
              </a:ext>
            </a:extLst>
          </p:cNvPr>
          <p:cNvSpPr txBox="1"/>
          <p:nvPr/>
        </p:nvSpPr>
        <p:spPr>
          <a:xfrm>
            <a:off x="4968025" y="2245709"/>
            <a:ext cx="891540" cy="960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1" i="0" u="none" strike="noStrike" kern="1200" cap="none" spc="0" normalizeH="0" baseline="0" noProof="0" err="1">
                <a:ln>
                  <a:noFill/>
                </a:ln>
                <a:solidFill>
                  <a:srgbClr val="7C3AED"/>
                </a:solidFill>
                <a:effectLst/>
                <a:uLnTx/>
                <a:uFillTx/>
                <a:latin typeface="+mn-ea"/>
                <a:cs typeface="+mn-cs"/>
              </a:rPr>
              <a:t>查询请求</a:t>
            </a:r>
            <a:endParaRPr kumimoji="0" sz="600" b="1" i="0" u="none" strike="noStrike" kern="1200" cap="none" spc="0" normalizeH="0" baseline="0" noProof="0">
              <a:ln>
                <a:noFill/>
              </a:ln>
              <a:solidFill>
                <a:srgbClr val="7C3AED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cxnSp>
        <p:nvCxnSpPr>
          <p:cNvPr id="513" name="Connector: Elbow 512">
            <a:extLst>
              <a:ext uri="{FF2B5EF4-FFF2-40B4-BE49-F238E27FC236}">
                <a16:creationId xmlns:a16="http://schemas.microsoft.com/office/drawing/2014/main" id="{7E1C5C48-F93C-C917-75CF-B487850D2C02}"/>
              </a:ext>
            </a:extLst>
          </p:cNvPr>
          <p:cNvCxnSpPr>
            <a:cxnSpLocks/>
          </p:cNvCxnSpPr>
          <p:nvPr/>
        </p:nvCxnSpPr>
        <p:spPr>
          <a:xfrm rot="16200000" flipH="1">
            <a:off x="6292190" y="1357196"/>
            <a:ext cx="244151" cy="1836000"/>
          </a:xfrm>
          <a:prstGeom prst="bentConnector3">
            <a:avLst>
              <a:gd name="adj1" fmla="val 50000"/>
            </a:avLst>
          </a:prstGeom>
          <a:ln w="19050">
            <a:solidFill>
              <a:srgbClr val="E58E4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7" name="TextBox 516">
            <a:extLst>
              <a:ext uri="{FF2B5EF4-FFF2-40B4-BE49-F238E27FC236}">
                <a16:creationId xmlns:a16="http://schemas.microsoft.com/office/drawing/2014/main" id="{99204CE4-7CB3-6906-C234-EA74F3AE69A3}"/>
              </a:ext>
            </a:extLst>
          </p:cNvPr>
          <p:cNvSpPr txBox="1"/>
          <p:nvPr/>
        </p:nvSpPr>
        <p:spPr>
          <a:xfrm>
            <a:off x="5533371" y="2154506"/>
            <a:ext cx="1234440" cy="960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1" i="0" u="none" strike="noStrike" kern="1200" cap="none" spc="0" normalizeH="0" baseline="0" noProof="0" err="1">
                <a:ln>
                  <a:noFill/>
                </a:ln>
                <a:solidFill>
                  <a:srgbClr val="D97706"/>
                </a:solidFill>
                <a:effectLst/>
                <a:uLnTx/>
                <a:uFillTx/>
                <a:latin typeface="+mn-ea"/>
                <a:cs typeface="+mn-cs"/>
              </a:rPr>
              <a:t>附件预览</a:t>
            </a:r>
            <a:r>
              <a:rPr kumimoji="0" sz="600" b="1" i="0" u="none" strike="noStrike" kern="1200" cap="none" spc="0" normalizeH="0" baseline="0" noProof="0">
                <a:ln>
                  <a:noFill/>
                </a:ln>
                <a:solidFill>
                  <a:srgbClr val="D97706"/>
                </a:solidFill>
                <a:effectLst/>
                <a:uLnTx/>
                <a:uFillTx/>
                <a:latin typeface="+mn-ea"/>
                <a:cs typeface="+mn-cs"/>
              </a:rPr>
              <a:t> / </a:t>
            </a:r>
            <a:r>
              <a:rPr kumimoji="0" sz="600" b="1" i="0" u="none" strike="noStrike" kern="1200" cap="none" spc="0" normalizeH="0" baseline="0" noProof="0" err="1">
                <a:ln>
                  <a:noFill/>
                </a:ln>
                <a:solidFill>
                  <a:srgbClr val="D97706"/>
                </a:solidFill>
                <a:effectLst/>
                <a:uLnTx/>
                <a:uFillTx/>
                <a:latin typeface="+mn-ea"/>
                <a:cs typeface="+mn-cs"/>
              </a:rPr>
              <a:t>下载</a:t>
            </a:r>
            <a:endParaRPr kumimoji="0" sz="600" b="1" i="0" u="none" strike="noStrike" kern="1200" cap="none" spc="0" normalizeH="0" baseline="0" noProof="0">
              <a:ln>
                <a:noFill/>
              </a:ln>
              <a:solidFill>
                <a:srgbClr val="D97706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cxnSp>
        <p:nvCxnSpPr>
          <p:cNvPr id="518" name="Connector: Elbow 517">
            <a:extLst>
              <a:ext uri="{FF2B5EF4-FFF2-40B4-BE49-F238E27FC236}">
                <a16:creationId xmlns:a16="http://schemas.microsoft.com/office/drawing/2014/main" id="{833B65E6-93B3-7814-A509-917ED3E81858}"/>
              </a:ext>
            </a:extLst>
          </p:cNvPr>
          <p:cNvCxnSpPr>
            <a:cxnSpLocks/>
          </p:cNvCxnSpPr>
          <p:nvPr/>
        </p:nvCxnSpPr>
        <p:spPr>
          <a:xfrm rot="5400000">
            <a:off x="3453383" y="1321196"/>
            <a:ext cx="244151" cy="1908000"/>
          </a:xfrm>
          <a:prstGeom prst="bentConnector3">
            <a:avLst>
              <a:gd name="adj1" fmla="val 50000"/>
            </a:avLst>
          </a:prstGeom>
          <a:ln w="19050">
            <a:solidFill>
              <a:srgbClr val="48A0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1" name="TextBox 520">
            <a:extLst>
              <a:ext uri="{FF2B5EF4-FFF2-40B4-BE49-F238E27FC236}">
                <a16:creationId xmlns:a16="http://schemas.microsoft.com/office/drawing/2014/main" id="{0313A418-98C7-5C99-4155-553355139724}"/>
              </a:ext>
            </a:extLst>
          </p:cNvPr>
          <p:cNvSpPr txBox="1"/>
          <p:nvPr/>
        </p:nvSpPr>
        <p:spPr>
          <a:xfrm>
            <a:off x="3183122" y="2154506"/>
            <a:ext cx="1234440" cy="960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00" b="1" i="0" u="none" strike="noStrike" kern="1200" cap="none" spc="0" normalizeH="0" baseline="0" noProof="0">
                <a:ln>
                  <a:noFill/>
                </a:ln>
                <a:solidFill>
                  <a:srgbClr val="059669"/>
                </a:solidFill>
                <a:effectLst/>
                <a:uLnTx/>
                <a:uFillTx/>
                <a:latin typeface="+mn-ea"/>
                <a:cs typeface="+mn-cs"/>
              </a:rPr>
              <a:t>接入配置 </a:t>
            </a:r>
            <a:r>
              <a:rPr kumimoji="0" lang="en-US" altLang="zh-CN" sz="600" b="1" i="0" u="none" strike="noStrike" kern="1200" cap="none" spc="0" normalizeH="0" baseline="0" noProof="0">
                <a:ln>
                  <a:noFill/>
                </a:ln>
                <a:solidFill>
                  <a:srgbClr val="059669"/>
                </a:solidFill>
                <a:effectLst/>
                <a:uLnTx/>
                <a:uFillTx/>
                <a:latin typeface="+mn-ea"/>
                <a:cs typeface="+mn-cs"/>
              </a:rPr>
              <a:t>/ </a:t>
            </a:r>
            <a:r>
              <a:rPr kumimoji="0" lang="zh-CN" altLang="en-US" sz="600" b="1" i="0" u="none" strike="noStrike" kern="1200" cap="none" spc="0" normalizeH="0" baseline="0" noProof="0">
                <a:ln>
                  <a:noFill/>
                </a:ln>
                <a:solidFill>
                  <a:srgbClr val="059669"/>
                </a:solidFill>
                <a:effectLst/>
                <a:uLnTx/>
                <a:uFillTx/>
                <a:latin typeface="+mn-ea"/>
                <a:cs typeface="+mn-cs"/>
              </a:rPr>
              <a:t>销毁调度</a:t>
            </a:r>
          </a:p>
        </p:txBody>
      </p:sp>
      <p:sp>
        <p:nvSpPr>
          <p:cNvPr id="522" name="l1-c1-desc">
            <a:extLst>
              <a:ext uri="{FF2B5EF4-FFF2-40B4-BE49-F238E27FC236}">
                <a16:creationId xmlns:a16="http://schemas.microsoft.com/office/drawing/2014/main" id="{8BF5EF5A-8769-1EEA-78FC-4E504D2A1CC1}"/>
              </a:ext>
            </a:extLst>
          </p:cNvPr>
          <p:cNvSpPr txBox="1"/>
          <p:nvPr/>
        </p:nvSpPr>
        <p:spPr>
          <a:xfrm>
            <a:off x="1617654" y="4341185"/>
            <a:ext cx="767248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defTabSz="685800"/>
            <a:r>
              <a:rPr lang="en-US" altLang="zh-CN" sz="600" noProof="1">
                <a:solidFill>
                  <a:srgbClr val="4A5568"/>
                </a:solidFill>
                <a:latin typeface="+mn-ea"/>
              </a:rPr>
              <a:t>存储长期保留</a:t>
            </a:r>
          </a:p>
          <a:p>
            <a:pPr defTabSz="685800"/>
            <a:r>
              <a:rPr lang="en-US" altLang="zh-CN" sz="600" noProof="1">
                <a:solidFill>
                  <a:srgbClr val="4A5568"/>
                </a:solidFill>
                <a:latin typeface="+mn-ea"/>
              </a:rPr>
              <a:t>计算按需弹性</a:t>
            </a:r>
          </a:p>
          <a:p>
            <a:pPr defTabSz="685800"/>
            <a:r>
              <a:rPr lang="en-US" altLang="zh-CN" sz="600" noProof="1">
                <a:solidFill>
                  <a:srgbClr val="4A5568"/>
                </a:solidFill>
                <a:latin typeface="+mn-ea"/>
              </a:rPr>
              <a:t>Serverless 空闲缩至 0</a:t>
            </a:r>
            <a:endParaRPr lang="en-US" altLang="zh-CN" sz="600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23" name="l1-c1-desc">
            <a:extLst>
              <a:ext uri="{FF2B5EF4-FFF2-40B4-BE49-F238E27FC236}">
                <a16:creationId xmlns:a16="http://schemas.microsoft.com/office/drawing/2014/main" id="{22EAD101-D297-994E-732C-90B86D52347E}"/>
              </a:ext>
            </a:extLst>
          </p:cNvPr>
          <p:cNvSpPr txBox="1"/>
          <p:nvPr/>
        </p:nvSpPr>
        <p:spPr>
          <a:xfrm>
            <a:off x="2728842" y="4341185"/>
            <a:ext cx="705515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defTabSz="685800"/>
            <a:r>
              <a:rPr lang="en-US" altLang="zh-CN" sz="600" noProof="1">
                <a:solidFill>
                  <a:srgbClr val="4A5568"/>
                </a:solidFill>
                <a:latin typeface="+mn-ea"/>
              </a:rPr>
              <a:t>全链路私有访问</a:t>
            </a:r>
          </a:p>
          <a:p>
            <a:pPr marL="0" marR="0" lvl="0" indent="0" algn="l" defTabSz="6858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" b="0" i="0" u="none" strike="noStrike" kern="1200" cap="none" spc="0" normalizeH="0" baseline="0" noProof="1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+mn-ea"/>
                <a:cs typeface="+mn-cs"/>
              </a:rPr>
              <a:t>Private Link / PE</a:t>
            </a:r>
          </a:p>
          <a:p>
            <a:pPr defTabSz="685800">
              <a:defRPr/>
            </a:pPr>
            <a:r>
              <a:rPr lang="en-US" altLang="zh-CN" sz="600" noProof="1">
                <a:solidFill>
                  <a:srgbClr val="4A5568"/>
                </a:solidFill>
                <a:latin typeface="+mn-ea"/>
              </a:rPr>
              <a:t>WAF 防护</a:t>
            </a:r>
            <a:endParaRPr lang="en-US" altLang="zh-CN" sz="600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24" name="l1-c1-desc">
            <a:extLst>
              <a:ext uri="{FF2B5EF4-FFF2-40B4-BE49-F238E27FC236}">
                <a16:creationId xmlns:a16="http://schemas.microsoft.com/office/drawing/2014/main" id="{D55D0F0F-F111-3315-5AA2-C38E7259735F}"/>
              </a:ext>
            </a:extLst>
          </p:cNvPr>
          <p:cNvSpPr txBox="1"/>
          <p:nvPr/>
        </p:nvSpPr>
        <p:spPr>
          <a:xfrm>
            <a:off x="3989951" y="4341185"/>
            <a:ext cx="934806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defTabSz="685800"/>
            <a:r>
              <a:rPr lang="zh-CN" altLang="en-US" sz="600" noProof="1">
                <a:solidFill>
                  <a:srgbClr val="4A5568"/>
                </a:solidFill>
                <a:latin typeface="+mn-ea"/>
              </a:rPr>
              <a:t>传输 </a:t>
            </a:r>
            <a:r>
              <a:rPr lang="en-US" altLang="zh-CN" sz="600" noProof="1">
                <a:solidFill>
                  <a:srgbClr val="4A5568"/>
                </a:solidFill>
                <a:latin typeface="+mn-ea"/>
              </a:rPr>
              <a:t>/ </a:t>
            </a:r>
            <a:r>
              <a:rPr lang="zh-CN" altLang="en-US" sz="600" noProof="1">
                <a:solidFill>
                  <a:srgbClr val="4A5568"/>
                </a:solidFill>
                <a:latin typeface="+mn-ea"/>
              </a:rPr>
              <a:t>存储 </a:t>
            </a:r>
            <a:r>
              <a:rPr lang="en-US" altLang="zh-CN" sz="600" noProof="1">
                <a:solidFill>
                  <a:srgbClr val="4A5568"/>
                </a:solidFill>
                <a:latin typeface="+mn-ea"/>
              </a:rPr>
              <a:t>/ </a:t>
            </a:r>
            <a:r>
              <a:rPr lang="zh-CN" altLang="en-US" sz="600" noProof="1">
                <a:solidFill>
                  <a:srgbClr val="4A5568"/>
                </a:solidFill>
                <a:latin typeface="+mn-ea"/>
              </a:rPr>
              <a:t>字段级加密</a:t>
            </a:r>
            <a:endParaRPr lang="en-US" altLang="zh-CN" sz="600" noProof="1">
              <a:solidFill>
                <a:srgbClr val="4A5568"/>
              </a:solidFill>
              <a:latin typeface="+mn-ea"/>
            </a:endParaRPr>
          </a:p>
          <a:p>
            <a:pPr marL="0" marR="0" lvl="0" indent="0" algn="l" defTabSz="685800" rtl="0" eaLnBrk="1" fontAlgn="auto" latinLnBrk="0" hangingPunct="1"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" b="0" i="0" u="none" strike="noStrike" kern="1200" cap="none" spc="0" normalizeH="0" baseline="0" noProof="1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+mn-ea"/>
                <a:cs typeface="+mn-cs"/>
              </a:rPr>
              <a:t>多层加密保护</a:t>
            </a:r>
          </a:p>
          <a:p>
            <a:pPr marL="0" marR="0" lvl="0" indent="0" algn="l" defTabSz="685800" rtl="0" eaLnBrk="1" fontAlgn="auto" latinLnBrk="0" hangingPunct="1"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" b="0" i="0" u="none" strike="noStrike" kern="1200" cap="none" spc="0" normalizeH="0" baseline="0" noProof="1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+mn-ea"/>
                <a:cs typeface="+mn-cs"/>
              </a:rPr>
              <a:t>Key Vault 管理密钥</a:t>
            </a:r>
            <a:endParaRPr kumimoji="0" lang="en-US" altLang="zh-CN" sz="6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527" name="l1-c1-desc">
            <a:extLst>
              <a:ext uri="{FF2B5EF4-FFF2-40B4-BE49-F238E27FC236}">
                <a16:creationId xmlns:a16="http://schemas.microsoft.com/office/drawing/2014/main" id="{B0A43B7D-8C30-A34A-6F2A-AF529CBE27E8}"/>
              </a:ext>
            </a:extLst>
          </p:cNvPr>
          <p:cNvSpPr txBox="1"/>
          <p:nvPr/>
        </p:nvSpPr>
        <p:spPr>
          <a:xfrm>
            <a:off x="5342460" y="4341185"/>
            <a:ext cx="790493" cy="25987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6858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63" b="0" i="0" u="none" strike="noStrike" kern="1200" cap="none" spc="0" normalizeH="0" baseline="0" noProof="1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+mn-ea"/>
                <a:cs typeface="+mn-cs"/>
              </a:rPr>
              <a:t>基于角色 · 行列级权限</a:t>
            </a:r>
          </a:p>
          <a:p>
            <a:pPr marL="0" marR="0" lvl="0" indent="0" algn="l" defTabSz="6858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63" b="0" i="0" u="none" strike="noStrike" kern="1200" cap="none" spc="0" normalizeH="0" baseline="0" noProof="1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+mn-ea"/>
                <a:cs typeface="+mn-cs"/>
              </a:rPr>
              <a:t>最小权限原则</a:t>
            </a:r>
          </a:p>
          <a:p>
            <a:pPr marL="0" marR="0" lvl="0" indent="0" algn="l" defTabSz="6858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63" b="0" i="0" u="none" strike="noStrike" kern="1200" cap="none" spc="0" normalizeH="0" baseline="0" noProof="1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+mn-ea"/>
                <a:cs typeface="+mn-cs"/>
              </a:rPr>
              <a:t>Unity Catalog 统一管控</a:t>
            </a:r>
            <a:endParaRPr kumimoji="0" lang="en-US" altLang="zh-CN" sz="563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528" name="l1-c1-desc">
            <a:extLst>
              <a:ext uri="{FF2B5EF4-FFF2-40B4-BE49-F238E27FC236}">
                <a16:creationId xmlns:a16="http://schemas.microsoft.com/office/drawing/2014/main" id="{9574EE11-CCB5-659B-FFD6-B86BE13EC774}"/>
              </a:ext>
            </a:extLst>
          </p:cNvPr>
          <p:cNvSpPr txBox="1"/>
          <p:nvPr/>
        </p:nvSpPr>
        <p:spPr>
          <a:xfrm>
            <a:off x="6547151" y="4341185"/>
            <a:ext cx="749610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6858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" b="0" i="0" u="none" strike="noStrike" kern="1200" cap="none" spc="0" normalizeH="0" baseline="0" noProof="1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+mn-ea"/>
                <a:cs typeface="+mn-cs"/>
              </a:rPr>
              <a:t>操作留痕 · 日志审计</a:t>
            </a:r>
          </a:p>
          <a:p>
            <a:pPr defTabSz="685800">
              <a:defRPr/>
            </a:pPr>
            <a:r>
              <a:rPr lang="en-US" altLang="zh-CN" sz="600" noProof="1">
                <a:solidFill>
                  <a:srgbClr val="4A5568"/>
                </a:solidFill>
                <a:latin typeface="+mn-ea"/>
              </a:rPr>
              <a:t>合规追溯</a:t>
            </a:r>
          </a:p>
          <a:p>
            <a:pPr defTabSz="685800">
              <a:defRPr/>
            </a:pPr>
            <a:r>
              <a:rPr lang="en-US" altLang="zh-CN" sz="600" noProof="1">
                <a:solidFill>
                  <a:srgbClr val="4A5568"/>
                </a:solidFill>
                <a:latin typeface="+mn-ea"/>
              </a:rPr>
              <a:t>与监控告警联动</a:t>
            </a:r>
            <a:endParaRPr lang="en-US" altLang="zh-CN" sz="600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29" name="l1-c1-desc">
            <a:extLst>
              <a:ext uri="{FF2B5EF4-FFF2-40B4-BE49-F238E27FC236}">
                <a16:creationId xmlns:a16="http://schemas.microsoft.com/office/drawing/2014/main" id="{28115CC7-C485-BFF9-E6F5-E12C4C68A8AC}"/>
              </a:ext>
            </a:extLst>
          </p:cNvPr>
          <p:cNvSpPr txBox="1"/>
          <p:nvPr/>
        </p:nvSpPr>
        <p:spPr>
          <a:xfrm>
            <a:off x="7756767" y="4341185"/>
            <a:ext cx="749610" cy="25987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6858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63" b="0" i="0" u="none" strike="noStrike" kern="1200" cap="none" spc="0" normalizeH="0" baseline="0" noProof="1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+mn-ea"/>
                <a:cs typeface="+mn-cs"/>
              </a:rPr>
              <a:t>云原生架构</a:t>
            </a:r>
          </a:p>
          <a:p>
            <a:pPr marL="0" marR="0" lvl="0" indent="0" algn="l" defTabSz="6858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63" b="0" i="0" u="none" strike="noStrike" kern="1200" cap="none" spc="0" normalizeH="0" baseline="0" noProof="1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+mn-ea"/>
                <a:cs typeface="+mn-cs"/>
              </a:rPr>
              <a:t>多可用区部署</a:t>
            </a:r>
            <a:endParaRPr kumimoji="0" lang="en-US" altLang="zh-CN" sz="563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+mn-cs"/>
            </a:endParaRPr>
          </a:p>
          <a:p>
            <a:pPr defTabSz="685800">
              <a:defRPr/>
            </a:pPr>
            <a:r>
              <a:rPr lang="en-US" altLang="zh-CN" sz="563" noProof="1">
                <a:solidFill>
                  <a:srgbClr val="4A5568"/>
                </a:solidFill>
                <a:latin typeface="+mn-ea"/>
              </a:rPr>
              <a:t>弹性伸缩 · 按需付费</a:t>
            </a:r>
            <a:endParaRPr lang="en-US" altLang="zh-CN" sz="563" noProof="1">
              <a:solidFill>
                <a:srgbClr val="0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073352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F0EB5-E4CE-9EFF-9545-73CD21A1F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56B8EF97-3D49-6EDD-9501-B54C05D848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2921" y="266700"/>
            <a:ext cx="5241925" cy="261610"/>
          </a:xfrm>
        </p:spPr>
        <p:txBody>
          <a:bodyPr/>
          <a:lstStyle/>
          <a:p>
            <a:r>
              <a:rPr lang="en-US"/>
              <a:t>China RIMS Solution Proposal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EA177C8-7514-A5C7-63D9-74BA27DD1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AI </a:t>
            </a:r>
            <a:r>
              <a:rPr lang="zh-CN" altLang="en-US"/>
              <a:t>时代 </a:t>
            </a:r>
            <a:r>
              <a:rPr lang="en-US" altLang="zh-CN"/>
              <a:t>· </a:t>
            </a:r>
            <a:r>
              <a:rPr lang="zh-CN" altLang="en-US"/>
              <a:t>前端框架选型（</a:t>
            </a:r>
            <a:r>
              <a:rPr lang="en-US" altLang="zh-CN"/>
              <a:t>React vs Vue</a:t>
            </a:r>
            <a:r>
              <a:rPr lang="zh-CN" altLang="en-US"/>
              <a:t>）</a:t>
            </a:r>
          </a:p>
        </p:txBody>
      </p:sp>
      <p:sp>
        <p:nvSpPr>
          <p:cNvPr id="80" name="Shape 4">
            <a:extLst>
              <a:ext uri="{FF2B5EF4-FFF2-40B4-BE49-F238E27FC236}">
                <a16:creationId xmlns:a16="http://schemas.microsoft.com/office/drawing/2014/main" id="{886F76C4-5655-9A3D-5470-A44BD09AF1A9}"/>
              </a:ext>
            </a:extLst>
          </p:cNvPr>
          <p:cNvSpPr/>
          <p:nvPr/>
        </p:nvSpPr>
        <p:spPr>
          <a:xfrm>
            <a:off x="342900" y="1205816"/>
            <a:ext cx="2729484" cy="994410"/>
          </a:xfrm>
          <a:prstGeom prst="roundRect">
            <a:avLst>
              <a:gd name="adj" fmla="val 3871"/>
            </a:avLst>
          </a:prstGeom>
          <a:solidFill>
            <a:srgbClr val="FCFCFD"/>
          </a:solidFill>
          <a:ln w="9525">
            <a:solidFill>
              <a:srgbClr val="004F71">
                <a:lumMod val="40000"/>
                <a:lumOff val="60000"/>
              </a:srgbClr>
            </a:solidFill>
            <a:prstDash val="solid"/>
          </a:ln>
        </p:spPr>
        <p:txBody>
          <a:bodyPr/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</a:endParaRPr>
          </a:p>
        </p:txBody>
      </p:sp>
      <p:sp>
        <p:nvSpPr>
          <p:cNvPr id="82" name="Text 5">
            <a:extLst>
              <a:ext uri="{FF2B5EF4-FFF2-40B4-BE49-F238E27FC236}">
                <a16:creationId xmlns:a16="http://schemas.microsoft.com/office/drawing/2014/main" id="{D2121984-E757-A9A5-9C3F-5F5CCF837C0D}"/>
              </a:ext>
            </a:extLst>
          </p:cNvPr>
          <p:cNvSpPr/>
          <p:nvPr/>
        </p:nvSpPr>
        <p:spPr>
          <a:xfrm>
            <a:off x="445770" y="1274396"/>
            <a:ext cx="2523744" cy="2880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685800"/>
            <a:r>
              <a:rPr lang="en-US" sz="788" b="1">
                <a:solidFill>
                  <a:srgbClr val="FF0000"/>
                </a:solidFill>
                <a:latin typeface="Georgia"/>
                <a:ea typeface="微软雅黑" pitchFamily="34" charset="-122"/>
                <a:cs typeface="微软雅黑" pitchFamily="34" charset="-120"/>
              </a:rPr>
              <a:t>①  JSX = 纯粹的 JS/TS，对 AI 更友好</a:t>
            </a:r>
            <a:endParaRPr lang="en-US" sz="788" b="1">
              <a:solidFill>
                <a:srgbClr val="FF0000"/>
              </a:solidFill>
              <a:latin typeface="Georgia"/>
            </a:endParaRPr>
          </a:p>
        </p:txBody>
      </p:sp>
      <p:sp>
        <p:nvSpPr>
          <p:cNvPr id="84" name="Text 6">
            <a:extLst>
              <a:ext uri="{FF2B5EF4-FFF2-40B4-BE49-F238E27FC236}">
                <a16:creationId xmlns:a16="http://schemas.microsoft.com/office/drawing/2014/main" id="{34FC45AD-473E-ED46-F264-41DF55AB58DB}"/>
              </a:ext>
            </a:extLst>
          </p:cNvPr>
          <p:cNvSpPr/>
          <p:nvPr/>
        </p:nvSpPr>
        <p:spPr>
          <a:xfrm>
            <a:off x="445770" y="1548716"/>
            <a:ext cx="2523744" cy="6515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85725" indent="-85725" defTabSz="685800">
              <a:lnSpc>
                <a:spcPct val="112000"/>
              </a:lnSpc>
              <a:buSzPct val="100000"/>
              <a:buFontTx/>
              <a:buChar char="•"/>
            </a:pPr>
            <a:r>
              <a:rPr lang="en-US" sz="750">
                <a:solidFill>
                  <a:srgbClr val="1F2937"/>
                </a:solidFill>
                <a:latin typeface="Georgia"/>
                <a:ea typeface="微软雅黑" pitchFamily="34" charset="-122"/>
                <a:cs typeface="微软雅黑" pitchFamily="34" charset="-120"/>
              </a:rPr>
              <a:t>React：JSX 是 JS 语法扩展，UI与逻辑统一在 JS 函数中</a:t>
            </a:r>
            <a:endParaRPr lang="en-US" sz="750">
              <a:solidFill>
                <a:srgbClr val="000000"/>
              </a:solidFill>
              <a:latin typeface="Georgia"/>
            </a:endParaRPr>
          </a:p>
          <a:p>
            <a:pPr marL="85725" indent="-85725" defTabSz="685800">
              <a:lnSpc>
                <a:spcPct val="112000"/>
              </a:lnSpc>
              <a:buSzPct val="100000"/>
              <a:buFontTx/>
              <a:buChar char="•"/>
            </a:pPr>
            <a:r>
              <a:rPr lang="en-US" sz="750">
                <a:solidFill>
                  <a:srgbClr val="1F2937"/>
                </a:solidFill>
                <a:latin typeface="Georgia"/>
                <a:ea typeface="微软雅黑" pitchFamily="34" charset="-122"/>
                <a:cs typeface="微软雅黑" pitchFamily="34" charset="-120"/>
              </a:rPr>
              <a:t>Vue：模板指令/插值/修饰符是「另一套DSL」，AI 易误用</a:t>
            </a:r>
            <a:endParaRPr lang="en-US" sz="750">
              <a:solidFill>
                <a:srgbClr val="000000"/>
              </a:solidFill>
              <a:latin typeface="Georgia"/>
            </a:endParaRPr>
          </a:p>
          <a:p>
            <a:pPr marL="85725" indent="-85725" defTabSz="685800">
              <a:lnSpc>
                <a:spcPct val="112000"/>
              </a:lnSpc>
              <a:buSzPct val="100000"/>
              <a:buFontTx/>
              <a:buChar char="•"/>
            </a:pPr>
            <a:r>
              <a:rPr lang="en-US" sz="750">
                <a:solidFill>
                  <a:srgbClr val="1F2937"/>
                </a:solidFill>
                <a:latin typeface="Georgia"/>
                <a:ea typeface="微软雅黑" pitchFamily="34" charset="-122"/>
                <a:cs typeface="微软雅黑" pitchFamily="34" charset="-120"/>
              </a:rPr>
              <a:t>结论：“Everything is JavaScript” 让 AI 生成准确率更高</a:t>
            </a:r>
            <a:endParaRPr lang="en-US" sz="7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86" name="Shape 7">
            <a:extLst>
              <a:ext uri="{FF2B5EF4-FFF2-40B4-BE49-F238E27FC236}">
                <a16:creationId xmlns:a16="http://schemas.microsoft.com/office/drawing/2014/main" id="{4B689F44-6912-0A85-1759-F72409160977}"/>
              </a:ext>
            </a:extLst>
          </p:cNvPr>
          <p:cNvSpPr/>
          <p:nvPr/>
        </p:nvSpPr>
        <p:spPr>
          <a:xfrm>
            <a:off x="3209544" y="1205816"/>
            <a:ext cx="2729484" cy="994410"/>
          </a:xfrm>
          <a:prstGeom prst="roundRect">
            <a:avLst>
              <a:gd name="adj" fmla="val 3871"/>
            </a:avLst>
          </a:prstGeom>
          <a:solidFill>
            <a:srgbClr val="FCFCFD"/>
          </a:solidFill>
          <a:ln w="9525">
            <a:solidFill>
              <a:srgbClr val="004F71">
                <a:lumMod val="40000"/>
                <a:lumOff val="60000"/>
              </a:srgbClr>
            </a:solidFill>
            <a:prstDash val="solid"/>
          </a:ln>
        </p:spPr>
        <p:txBody>
          <a:bodyPr/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</a:endParaRPr>
          </a:p>
        </p:txBody>
      </p:sp>
      <p:sp>
        <p:nvSpPr>
          <p:cNvPr id="88" name="Text 8">
            <a:extLst>
              <a:ext uri="{FF2B5EF4-FFF2-40B4-BE49-F238E27FC236}">
                <a16:creationId xmlns:a16="http://schemas.microsoft.com/office/drawing/2014/main" id="{A95FC001-3DD9-57AD-B001-CD6483998758}"/>
              </a:ext>
            </a:extLst>
          </p:cNvPr>
          <p:cNvSpPr/>
          <p:nvPr/>
        </p:nvSpPr>
        <p:spPr>
          <a:xfrm>
            <a:off x="3312414" y="1274396"/>
            <a:ext cx="2523744" cy="2880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685800"/>
            <a:r>
              <a:rPr lang="en-US" sz="788" b="1">
                <a:solidFill>
                  <a:srgbClr val="10233B"/>
                </a:solidFill>
                <a:latin typeface="Georgia"/>
                <a:ea typeface="微软雅黑" pitchFamily="34" charset="-122"/>
                <a:cs typeface="微软雅黑" pitchFamily="34" charset="-120"/>
              </a:rPr>
              <a:t>②  训练数据量的绝对优势</a:t>
            </a:r>
            <a:endParaRPr lang="en-US" sz="788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90" name="Text 9">
            <a:extLst>
              <a:ext uri="{FF2B5EF4-FFF2-40B4-BE49-F238E27FC236}">
                <a16:creationId xmlns:a16="http://schemas.microsoft.com/office/drawing/2014/main" id="{179589CE-DB11-5CCB-3894-096639ED61C0}"/>
              </a:ext>
            </a:extLst>
          </p:cNvPr>
          <p:cNvSpPr/>
          <p:nvPr/>
        </p:nvSpPr>
        <p:spPr>
          <a:xfrm>
            <a:off x="3312414" y="1548716"/>
            <a:ext cx="2523744" cy="6515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85725" indent="-85725" defTabSz="685800">
              <a:lnSpc>
                <a:spcPct val="112000"/>
              </a:lnSpc>
              <a:buSzPct val="100000"/>
              <a:buFontTx/>
              <a:buChar char="•"/>
            </a:pPr>
            <a:r>
              <a:rPr lang="en-US" sz="750">
                <a:solidFill>
                  <a:srgbClr val="1F2937"/>
                </a:solidFill>
                <a:latin typeface="Georgia"/>
                <a:ea typeface="微软雅黑" pitchFamily="34" charset="-122"/>
                <a:cs typeface="微软雅黑" pitchFamily="34" charset="-120"/>
              </a:rPr>
              <a:t>LLM 能力高度依赖训练数据规模</a:t>
            </a:r>
            <a:endParaRPr lang="en-US" sz="750">
              <a:solidFill>
                <a:srgbClr val="000000"/>
              </a:solidFill>
              <a:latin typeface="Georgia"/>
            </a:endParaRPr>
          </a:p>
          <a:p>
            <a:pPr marL="85725" indent="-85725" defTabSz="685800">
              <a:lnSpc>
                <a:spcPct val="112000"/>
              </a:lnSpc>
              <a:buSzPct val="100000"/>
              <a:buFontTx/>
              <a:buChar char="•"/>
            </a:pPr>
            <a:r>
              <a:rPr lang="en-US" sz="750">
                <a:solidFill>
                  <a:srgbClr val="1F2937"/>
                </a:solidFill>
                <a:latin typeface="Georgia"/>
                <a:ea typeface="微软雅黑" pitchFamily="34" charset="-122"/>
                <a:cs typeface="微软雅黑" pitchFamily="34" charset="-120"/>
              </a:rPr>
              <a:t>React 全球市占率更大，GitHub/开源库代码总量远超 Vue</a:t>
            </a:r>
            <a:endParaRPr lang="en-US" sz="750">
              <a:solidFill>
                <a:srgbClr val="000000"/>
              </a:solidFill>
              <a:latin typeface="Georgia"/>
            </a:endParaRPr>
          </a:p>
          <a:p>
            <a:pPr marL="85725" indent="-85725" defTabSz="685800">
              <a:lnSpc>
                <a:spcPct val="112000"/>
              </a:lnSpc>
              <a:buSzPct val="100000"/>
              <a:buFontTx/>
              <a:buChar char="•"/>
            </a:pPr>
            <a:r>
              <a:rPr lang="en-US" sz="750">
                <a:solidFill>
                  <a:srgbClr val="1F2937"/>
                </a:solidFill>
                <a:latin typeface="Georgia"/>
                <a:ea typeface="微软雅黑" pitchFamily="34" charset="-122"/>
                <a:cs typeface="微软雅黑" pitchFamily="34" charset="-120"/>
              </a:rPr>
              <a:t>AI 对 React 模式、Hooks 边界情况的「记忆」更深刻</a:t>
            </a:r>
            <a:endParaRPr lang="en-US" sz="7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93" name="Shape 10">
            <a:extLst>
              <a:ext uri="{FF2B5EF4-FFF2-40B4-BE49-F238E27FC236}">
                <a16:creationId xmlns:a16="http://schemas.microsoft.com/office/drawing/2014/main" id="{32D21BAD-81BC-1DBC-E58D-73695229C828}"/>
              </a:ext>
            </a:extLst>
          </p:cNvPr>
          <p:cNvSpPr/>
          <p:nvPr/>
        </p:nvSpPr>
        <p:spPr>
          <a:xfrm>
            <a:off x="6076188" y="1205816"/>
            <a:ext cx="2729484" cy="994410"/>
          </a:xfrm>
          <a:prstGeom prst="roundRect">
            <a:avLst>
              <a:gd name="adj" fmla="val 3871"/>
            </a:avLst>
          </a:prstGeom>
          <a:solidFill>
            <a:srgbClr val="FCFCFD"/>
          </a:solidFill>
          <a:ln w="9525">
            <a:solidFill>
              <a:srgbClr val="004F71">
                <a:lumMod val="40000"/>
                <a:lumOff val="60000"/>
              </a:srgbClr>
            </a:solidFill>
            <a:prstDash val="solid"/>
          </a:ln>
        </p:spPr>
        <p:txBody>
          <a:bodyPr/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</a:endParaRPr>
          </a:p>
        </p:txBody>
      </p:sp>
      <p:sp>
        <p:nvSpPr>
          <p:cNvPr id="95" name="Text 11">
            <a:extLst>
              <a:ext uri="{FF2B5EF4-FFF2-40B4-BE49-F238E27FC236}">
                <a16:creationId xmlns:a16="http://schemas.microsoft.com/office/drawing/2014/main" id="{802052B7-0DAA-ECB5-1AFF-9777D0AB4204}"/>
              </a:ext>
            </a:extLst>
          </p:cNvPr>
          <p:cNvSpPr/>
          <p:nvPr/>
        </p:nvSpPr>
        <p:spPr>
          <a:xfrm>
            <a:off x="6179058" y="1274396"/>
            <a:ext cx="2523744" cy="2880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685800"/>
            <a:r>
              <a:rPr lang="en-US" sz="788" b="1">
                <a:solidFill>
                  <a:srgbClr val="FF0000"/>
                </a:solidFill>
                <a:latin typeface="Georgia"/>
                <a:ea typeface="微软雅黑" pitchFamily="34" charset="-122"/>
                <a:cs typeface="微软雅黑" pitchFamily="34" charset="-120"/>
              </a:rPr>
              <a:t>③  AI 原生生态 &amp; 组件库几乎全在 React 领跑</a:t>
            </a:r>
            <a:endParaRPr lang="en-US" sz="788">
              <a:solidFill>
                <a:srgbClr val="FF0000"/>
              </a:solidFill>
              <a:latin typeface="Georgia"/>
            </a:endParaRPr>
          </a:p>
        </p:txBody>
      </p:sp>
      <p:sp>
        <p:nvSpPr>
          <p:cNvPr id="97" name="Text 12">
            <a:extLst>
              <a:ext uri="{FF2B5EF4-FFF2-40B4-BE49-F238E27FC236}">
                <a16:creationId xmlns:a16="http://schemas.microsoft.com/office/drawing/2014/main" id="{B26C184E-CD6E-3D22-8376-BF149DA65759}"/>
              </a:ext>
            </a:extLst>
          </p:cNvPr>
          <p:cNvSpPr/>
          <p:nvPr/>
        </p:nvSpPr>
        <p:spPr>
          <a:xfrm>
            <a:off x="6179058" y="1548716"/>
            <a:ext cx="2523744" cy="6515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85725" indent="-85725" defTabSz="685800">
              <a:lnSpc>
                <a:spcPct val="112000"/>
              </a:lnSpc>
              <a:buSzPct val="100000"/>
              <a:buFontTx/>
              <a:buChar char="•"/>
            </a:pPr>
            <a:r>
              <a:rPr lang="en-US" sz="750">
                <a:solidFill>
                  <a:srgbClr val="1F2937"/>
                </a:solidFill>
                <a:latin typeface="Georgia"/>
                <a:ea typeface="微软雅黑" pitchFamily="34" charset="-122"/>
                <a:cs typeface="微软雅黑" pitchFamily="34" charset="-120"/>
              </a:rPr>
              <a:t>AI SDK 首选支持：Vercel AI SDK、LangChain 前端库多为 React First</a:t>
            </a:r>
            <a:endParaRPr lang="en-US" sz="750">
              <a:solidFill>
                <a:srgbClr val="000000"/>
              </a:solidFill>
              <a:latin typeface="Georgia"/>
            </a:endParaRPr>
          </a:p>
          <a:p>
            <a:pPr marL="85725" indent="-85725" defTabSz="685800">
              <a:lnSpc>
                <a:spcPct val="112000"/>
              </a:lnSpc>
              <a:buSzPct val="100000"/>
              <a:buFontTx/>
              <a:buChar char="•"/>
            </a:pPr>
            <a:r>
              <a:rPr lang="en-US" sz="750">
                <a:solidFill>
                  <a:srgbClr val="1F2937"/>
                </a:solidFill>
                <a:latin typeface="Georgia"/>
                <a:ea typeface="微软雅黑" pitchFamily="34" charset="-122"/>
                <a:cs typeface="微软雅黑" pitchFamily="34" charset="-120"/>
              </a:rPr>
              <a:t>热门 AI UI 库 shadcn/ui、Magic UI 均为 React 原生构建</a:t>
            </a:r>
            <a:endParaRPr lang="en-US" sz="750">
              <a:solidFill>
                <a:srgbClr val="000000"/>
              </a:solidFill>
              <a:latin typeface="Georgia"/>
            </a:endParaRPr>
          </a:p>
          <a:p>
            <a:pPr marL="85725" indent="-85725" defTabSz="685800">
              <a:lnSpc>
                <a:spcPct val="112000"/>
              </a:lnSpc>
              <a:buSzPct val="100000"/>
              <a:buFontTx/>
              <a:buChar char="•"/>
            </a:pPr>
            <a:r>
              <a:rPr lang="en-US" sz="750">
                <a:solidFill>
                  <a:srgbClr val="1F2937"/>
                </a:solidFill>
                <a:latin typeface="Georgia"/>
                <a:ea typeface="微软雅黑" pitchFamily="34" charset="-122"/>
                <a:cs typeface="微软雅黑" pitchFamily="34" charset="-120"/>
              </a:rPr>
              <a:t>Vue 生态多为社区移植版，更新维护往往落后一步</a:t>
            </a:r>
            <a:endParaRPr lang="en-US" sz="7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99" name="Shape 13">
            <a:extLst>
              <a:ext uri="{FF2B5EF4-FFF2-40B4-BE49-F238E27FC236}">
                <a16:creationId xmlns:a16="http://schemas.microsoft.com/office/drawing/2014/main" id="{DA181394-B281-4C4A-D484-FF3D98A6E22C}"/>
              </a:ext>
            </a:extLst>
          </p:cNvPr>
          <p:cNvSpPr/>
          <p:nvPr/>
        </p:nvSpPr>
        <p:spPr>
          <a:xfrm>
            <a:off x="342900" y="2279792"/>
            <a:ext cx="2729484" cy="994410"/>
          </a:xfrm>
          <a:prstGeom prst="roundRect">
            <a:avLst>
              <a:gd name="adj" fmla="val 3871"/>
            </a:avLst>
          </a:prstGeom>
          <a:solidFill>
            <a:srgbClr val="FCFCFD"/>
          </a:solidFill>
          <a:ln w="9525">
            <a:solidFill>
              <a:srgbClr val="004F71">
                <a:lumMod val="40000"/>
                <a:lumOff val="60000"/>
              </a:srgbClr>
            </a:solidFill>
            <a:prstDash val="solid"/>
          </a:ln>
        </p:spPr>
        <p:txBody>
          <a:bodyPr/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</a:endParaRPr>
          </a:p>
        </p:txBody>
      </p:sp>
      <p:sp>
        <p:nvSpPr>
          <p:cNvPr id="101" name="Text 14">
            <a:extLst>
              <a:ext uri="{FF2B5EF4-FFF2-40B4-BE49-F238E27FC236}">
                <a16:creationId xmlns:a16="http://schemas.microsoft.com/office/drawing/2014/main" id="{F05E257D-E47E-0BB6-8D93-0EE24EEDD7E3}"/>
              </a:ext>
            </a:extLst>
          </p:cNvPr>
          <p:cNvSpPr/>
          <p:nvPr/>
        </p:nvSpPr>
        <p:spPr>
          <a:xfrm>
            <a:off x="445770" y="2348372"/>
            <a:ext cx="2523744" cy="2880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685800"/>
            <a:r>
              <a:rPr lang="en-US" sz="788" b="1">
                <a:solidFill>
                  <a:srgbClr val="10233B"/>
                </a:solidFill>
                <a:latin typeface="Georgia"/>
                <a:ea typeface="微软雅黑" pitchFamily="34" charset="-122"/>
                <a:cs typeface="微软雅黑" pitchFamily="34" charset="-120"/>
              </a:rPr>
              <a:t>④  逻辑复用：Hooks vs Composition API</a:t>
            </a:r>
            <a:endParaRPr lang="en-US" sz="788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03" name="Text 15">
            <a:extLst>
              <a:ext uri="{FF2B5EF4-FFF2-40B4-BE49-F238E27FC236}">
                <a16:creationId xmlns:a16="http://schemas.microsoft.com/office/drawing/2014/main" id="{A76861EB-07F9-E1C0-8FCD-618AF0635B5E}"/>
              </a:ext>
            </a:extLst>
          </p:cNvPr>
          <p:cNvSpPr/>
          <p:nvPr/>
        </p:nvSpPr>
        <p:spPr>
          <a:xfrm>
            <a:off x="445770" y="2622692"/>
            <a:ext cx="2523744" cy="6515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85725" indent="-85725" defTabSz="685800">
              <a:lnSpc>
                <a:spcPct val="112000"/>
              </a:lnSpc>
              <a:buSzPct val="100000"/>
              <a:buFontTx/>
              <a:buChar char="•"/>
            </a:pPr>
            <a:r>
              <a:rPr lang="en-US" sz="750">
                <a:solidFill>
                  <a:srgbClr val="1F2937"/>
                </a:solidFill>
                <a:latin typeface="Georgia"/>
                <a:ea typeface="微软雅黑" pitchFamily="34" charset="-122"/>
                <a:cs typeface="微软雅黑" pitchFamily="34" charset="-120"/>
              </a:rPr>
              <a:t>React Hooks 将逻辑解耦为纯函数，AI 生成/组合非常精准</a:t>
            </a:r>
            <a:endParaRPr lang="en-US" sz="750">
              <a:solidFill>
                <a:srgbClr val="000000"/>
              </a:solidFill>
              <a:latin typeface="Georgia"/>
            </a:endParaRPr>
          </a:p>
          <a:p>
            <a:pPr marL="85725" indent="-85725" defTabSz="685800">
              <a:lnSpc>
                <a:spcPct val="112000"/>
              </a:lnSpc>
              <a:buSzPct val="100000"/>
              <a:buFontTx/>
              <a:buChar char="•"/>
            </a:pPr>
            <a:r>
              <a:rPr lang="en-US" sz="750">
                <a:solidFill>
                  <a:srgbClr val="1F2937"/>
                </a:solidFill>
                <a:latin typeface="Georgia"/>
                <a:ea typeface="微软雅黑" pitchFamily="34" charset="-122"/>
                <a:cs typeface="微软雅黑" pitchFamily="34" charset="-120"/>
              </a:rPr>
              <a:t>Vue 3 响应式追踪存在隐式陷阱：ref.value 拆包、reactive 解构丢失响应性</a:t>
            </a:r>
            <a:endParaRPr lang="en-US" sz="750">
              <a:solidFill>
                <a:srgbClr val="000000"/>
              </a:solidFill>
              <a:latin typeface="Georgia"/>
            </a:endParaRPr>
          </a:p>
          <a:p>
            <a:pPr marL="85725" indent="-85725" defTabSz="685800">
              <a:lnSpc>
                <a:spcPct val="112000"/>
              </a:lnSpc>
              <a:buSzPct val="100000"/>
              <a:buFontTx/>
              <a:buChar char="•"/>
            </a:pPr>
            <a:r>
              <a:rPr lang="en-US" sz="750">
                <a:solidFill>
                  <a:srgbClr val="1F2937"/>
                </a:solidFill>
                <a:latin typeface="Georgia"/>
                <a:ea typeface="微软雅黑" pitchFamily="34" charset="-122"/>
                <a:cs typeface="微软雅黑" pitchFamily="34" charset="-120"/>
              </a:rPr>
              <a:t>AI 极易在此类细节上犯错：忘记 .value、不当解构</a:t>
            </a:r>
            <a:endParaRPr lang="en-US" sz="7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05" name="Shape 16">
            <a:extLst>
              <a:ext uri="{FF2B5EF4-FFF2-40B4-BE49-F238E27FC236}">
                <a16:creationId xmlns:a16="http://schemas.microsoft.com/office/drawing/2014/main" id="{5D3F7F55-D3CF-FBC3-D1D2-69941BFF02BE}"/>
              </a:ext>
            </a:extLst>
          </p:cNvPr>
          <p:cNvSpPr/>
          <p:nvPr/>
        </p:nvSpPr>
        <p:spPr>
          <a:xfrm>
            <a:off x="3209544" y="2279792"/>
            <a:ext cx="2729484" cy="994410"/>
          </a:xfrm>
          <a:prstGeom prst="roundRect">
            <a:avLst>
              <a:gd name="adj" fmla="val 3871"/>
            </a:avLst>
          </a:prstGeom>
          <a:solidFill>
            <a:srgbClr val="FCFCFD"/>
          </a:solidFill>
          <a:ln w="9525">
            <a:solidFill>
              <a:srgbClr val="004F71">
                <a:lumMod val="40000"/>
                <a:lumOff val="60000"/>
              </a:srgbClr>
            </a:solidFill>
            <a:prstDash val="solid"/>
          </a:ln>
        </p:spPr>
        <p:txBody>
          <a:bodyPr/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</a:endParaRPr>
          </a:p>
        </p:txBody>
      </p:sp>
      <p:sp>
        <p:nvSpPr>
          <p:cNvPr id="107" name="Text 17">
            <a:extLst>
              <a:ext uri="{FF2B5EF4-FFF2-40B4-BE49-F238E27FC236}">
                <a16:creationId xmlns:a16="http://schemas.microsoft.com/office/drawing/2014/main" id="{68E452E2-02ED-750E-A7E0-6FDFE0D50820}"/>
              </a:ext>
            </a:extLst>
          </p:cNvPr>
          <p:cNvSpPr/>
          <p:nvPr/>
        </p:nvSpPr>
        <p:spPr>
          <a:xfrm>
            <a:off x="3312414" y="2348372"/>
            <a:ext cx="2523744" cy="2880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685800"/>
            <a:r>
              <a:rPr lang="en-US" sz="788" b="1">
                <a:solidFill>
                  <a:srgbClr val="10233B"/>
                </a:solidFill>
                <a:latin typeface="Georgia"/>
                <a:ea typeface="微软雅黑" pitchFamily="34" charset="-122"/>
                <a:cs typeface="微软雅黑" pitchFamily="34" charset="-120"/>
              </a:rPr>
              <a:t>⑤  跨端 &amp; 全栈 AI 应用的统一性</a:t>
            </a:r>
            <a:endParaRPr lang="en-US" sz="788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09" name="Text 18">
            <a:extLst>
              <a:ext uri="{FF2B5EF4-FFF2-40B4-BE49-F238E27FC236}">
                <a16:creationId xmlns:a16="http://schemas.microsoft.com/office/drawing/2014/main" id="{3DE03CB2-2017-16A0-4E4B-4A5555C430F9}"/>
              </a:ext>
            </a:extLst>
          </p:cNvPr>
          <p:cNvSpPr/>
          <p:nvPr/>
        </p:nvSpPr>
        <p:spPr>
          <a:xfrm>
            <a:off x="3312414" y="2622692"/>
            <a:ext cx="2523744" cy="6515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85725" indent="-85725" defTabSz="685800">
              <a:lnSpc>
                <a:spcPct val="112000"/>
              </a:lnSpc>
              <a:buSzPct val="100000"/>
              <a:buFontTx/>
              <a:buChar char="•"/>
            </a:pPr>
            <a:r>
              <a:rPr lang="en-US" sz="750">
                <a:solidFill>
                  <a:srgbClr val="1F2937"/>
                </a:solidFill>
                <a:latin typeface="Georgia"/>
                <a:ea typeface="微软雅黑" pitchFamily="34" charset="-122"/>
                <a:cs typeface="微软雅黑" pitchFamily="34" charset="-120"/>
              </a:rPr>
              <a:t>很多 AI 产品需全栈能力，如流式传输 SSE</a:t>
            </a:r>
            <a:endParaRPr lang="en-US" sz="750">
              <a:solidFill>
                <a:srgbClr val="000000"/>
              </a:solidFill>
              <a:latin typeface="Georgia"/>
            </a:endParaRPr>
          </a:p>
          <a:p>
            <a:pPr marL="85725" indent="-85725" defTabSz="685800">
              <a:lnSpc>
                <a:spcPct val="112000"/>
              </a:lnSpc>
              <a:buSzPct val="100000"/>
              <a:buFontTx/>
              <a:buChar char="•"/>
            </a:pPr>
            <a:r>
              <a:rPr lang="en-US" sz="750">
                <a:solidFill>
                  <a:srgbClr val="1F2937"/>
                </a:solidFill>
                <a:latin typeface="Georgia"/>
                <a:ea typeface="微软雅黑" pitchFamily="34" charset="-122"/>
                <a:cs typeface="微软雅黑" pitchFamily="34" charset="-120"/>
              </a:rPr>
              <a:t>Next.js + React Server Components 可无缝生成全链路代码</a:t>
            </a:r>
            <a:endParaRPr lang="en-US" sz="750">
              <a:solidFill>
                <a:srgbClr val="000000"/>
              </a:solidFill>
              <a:latin typeface="Georgia"/>
            </a:endParaRPr>
          </a:p>
          <a:p>
            <a:pPr marL="85725" indent="-85725" defTabSz="685800">
              <a:lnSpc>
                <a:spcPct val="112000"/>
              </a:lnSpc>
              <a:buSzPct val="100000"/>
              <a:buFontTx/>
              <a:buChar char="•"/>
            </a:pPr>
            <a:r>
              <a:rPr lang="en-US" sz="750">
                <a:solidFill>
                  <a:srgbClr val="1F2937"/>
                </a:solidFill>
                <a:latin typeface="Georgia"/>
                <a:ea typeface="微软雅黑" pitchFamily="34" charset="-122"/>
                <a:cs typeface="微软雅黑" pitchFamily="34" charset="-120"/>
              </a:rPr>
              <a:t>同一套逻辑更容易迁移到 React Native 移动端</a:t>
            </a:r>
            <a:endParaRPr lang="en-US" sz="7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11" name="Shape 19">
            <a:extLst>
              <a:ext uri="{FF2B5EF4-FFF2-40B4-BE49-F238E27FC236}">
                <a16:creationId xmlns:a16="http://schemas.microsoft.com/office/drawing/2014/main" id="{730662EF-D1DF-B4C2-9522-DF732DD21998}"/>
              </a:ext>
            </a:extLst>
          </p:cNvPr>
          <p:cNvSpPr/>
          <p:nvPr/>
        </p:nvSpPr>
        <p:spPr>
          <a:xfrm>
            <a:off x="6076188" y="2279792"/>
            <a:ext cx="2729484" cy="994410"/>
          </a:xfrm>
          <a:prstGeom prst="roundRect">
            <a:avLst>
              <a:gd name="adj" fmla="val 3871"/>
            </a:avLst>
          </a:prstGeom>
          <a:solidFill>
            <a:srgbClr val="FFF3E0"/>
          </a:solidFill>
          <a:ln w="9525">
            <a:solidFill>
              <a:srgbClr val="004F71">
                <a:lumMod val="40000"/>
                <a:lumOff val="60000"/>
              </a:srgbClr>
            </a:solidFill>
            <a:prstDash val="solid"/>
          </a:ln>
        </p:spPr>
        <p:txBody>
          <a:bodyPr/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</a:endParaRPr>
          </a:p>
        </p:txBody>
      </p:sp>
      <p:sp>
        <p:nvSpPr>
          <p:cNvPr id="112" name="Text 20">
            <a:extLst>
              <a:ext uri="{FF2B5EF4-FFF2-40B4-BE49-F238E27FC236}">
                <a16:creationId xmlns:a16="http://schemas.microsoft.com/office/drawing/2014/main" id="{383CDF8E-4F59-A0D1-09AA-120556AA6673}"/>
              </a:ext>
            </a:extLst>
          </p:cNvPr>
          <p:cNvSpPr/>
          <p:nvPr/>
        </p:nvSpPr>
        <p:spPr>
          <a:xfrm>
            <a:off x="6179058" y="2348372"/>
            <a:ext cx="2523744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685800"/>
            <a:r>
              <a:rPr lang="en-US" sz="788" b="1">
                <a:solidFill>
                  <a:srgbClr val="8A4B0B"/>
                </a:solidFill>
                <a:latin typeface="Georgia"/>
                <a:ea typeface="微软雅黑" pitchFamily="34" charset="-122"/>
                <a:cs typeface="微软雅黑" pitchFamily="34" charset="-120"/>
              </a:rPr>
              <a:t>💡  一句话结论</a:t>
            </a:r>
            <a:endParaRPr lang="en-US" sz="788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14" name="Text 21">
            <a:extLst>
              <a:ext uri="{FF2B5EF4-FFF2-40B4-BE49-F238E27FC236}">
                <a16:creationId xmlns:a16="http://schemas.microsoft.com/office/drawing/2014/main" id="{121FCBCD-5FBE-67BA-E9EE-1E593C8EEEB3}"/>
              </a:ext>
            </a:extLst>
          </p:cNvPr>
          <p:cNvSpPr/>
          <p:nvPr/>
        </p:nvSpPr>
        <p:spPr>
          <a:xfrm>
            <a:off x="6179058" y="2567828"/>
            <a:ext cx="2523744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685800">
              <a:lnSpc>
                <a:spcPct val="120000"/>
              </a:lnSpc>
            </a:pPr>
            <a:r>
              <a:rPr lang="en-US" sz="623">
                <a:solidFill>
                  <a:srgbClr val="1F2937"/>
                </a:solidFill>
                <a:latin typeface="Georgia"/>
                <a:ea typeface="微软雅黑" pitchFamily="34" charset="-122"/>
                <a:cs typeface="微软雅黑" pitchFamily="34" charset="-120"/>
              </a:rPr>
              <a:t>在 AI 辅助编程新时代，React 的纯 JS 表达（JSX）与巨大开源数据积淀，天然契合 AI（LLM）的编程语言。本项目前端采用 React 19 + Vite 8 + TypeScript + Tailwind。</a:t>
            </a:r>
            <a:endParaRPr lang="en-US" sz="623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16" name="Text 22">
            <a:extLst>
              <a:ext uri="{FF2B5EF4-FFF2-40B4-BE49-F238E27FC236}">
                <a16:creationId xmlns:a16="http://schemas.microsoft.com/office/drawing/2014/main" id="{CC2AB510-B4E1-9EBF-3035-E829091A1279}"/>
              </a:ext>
            </a:extLst>
          </p:cNvPr>
          <p:cNvSpPr/>
          <p:nvPr/>
        </p:nvSpPr>
        <p:spPr>
          <a:xfrm>
            <a:off x="342901" y="3363736"/>
            <a:ext cx="8457971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685800"/>
            <a:r>
              <a:rPr lang="en-US" sz="938" b="1">
                <a:solidFill>
                  <a:srgbClr val="10233B"/>
                </a:solidFill>
                <a:latin typeface="Georgia"/>
                <a:ea typeface="微软雅黑" pitchFamily="34" charset="-122"/>
                <a:cs typeface="微软雅黑" pitchFamily="34" charset="-120"/>
              </a:rPr>
              <a:t>📊 维度对比一览（AI 视角）</a:t>
            </a:r>
            <a:endParaRPr lang="en-US" sz="938">
              <a:solidFill>
                <a:srgbClr val="000000"/>
              </a:solidFill>
              <a:latin typeface="Georgia"/>
            </a:endParaRPr>
          </a:p>
        </p:txBody>
      </p:sp>
      <p:graphicFrame>
        <p:nvGraphicFramePr>
          <p:cNvPr id="118" name="Table 0">
            <a:extLst>
              <a:ext uri="{FF2B5EF4-FFF2-40B4-BE49-F238E27FC236}">
                <a16:creationId xmlns:a16="http://schemas.microsoft.com/office/drawing/2014/main" id="{452ED0CE-5B0A-2586-7428-FDC57FBFFC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0452357"/>
              </p:ext>
            </p:extLst>
          </p:nvPr>
        </p:nvGraphicFramePr>
        <p:xfrm>
          <a:off x="342900" y="3603766"/>
          <a:ext cx="8458658" cy="137160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6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6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945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700" b="1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维度</a:t>
                      </a:r>
                      <a:endParaRPr lang="en-US" sz="700">
                        <a:solidFill>
                          <a:schemeClr val="tx1"/>
                        </a:solidFill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F71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700" b="1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React（AI 视角）</a:t>
                      </a:r>
                      <a:endParaRPr lang="en-US" sz="700">
                        <a:solidFill>
                          <a:schemeClr val="tx1"/>
                        </a:solidFill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F71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700" b="1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Vue（AI 视角）</a:t>
                      </a:r>
                      <a:endParaRPr lang="en-US" sz="700">
                        <a:solidFill>
                          <a:schemeClr val="tx1"/>
                        </a:solidFill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F71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700" b="1">
                          <a:solidFill>
                            <a:srgbClr val="1023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AI 生成代码准确度</a:t>
                      </a:r>
                      <a:endParaRPr lang="en-US" sz="70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70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★★★★★  JSX 即 JS，AI 理解力极佳</a:t>
                      </a:r>
                      <a:endParaRPr lang="en-US" sz="70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70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★★★☆☆  模板指令有时被 AI 误用</a:t>
                      </a:r>
                      <a:endParaRPr lang="en-US" sz="70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3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700" b="1">
                          <a:solidFill>
                            <a:srgbClr val="1023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LLM 训练数据量</a:t>
                      </a:r>
                      <a:endParaRPr lang="en-US" sz="70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70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★★★★★  极其庞大，涵盖各种场景</a:t>
                      </a:r>
                      <a:endParaRPr lang="en-US" sz="70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70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★★★★☆  较充足但弱于 React</a:t>
                      </a:r>
                      <a:endParaRPr lang="en-US" sz="70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3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700" b="1">
                          <a:solidFill>
                            <a:srgbClr val="1023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AI 相关 SDK &amp; UI 生态</a:t>
                      </a:r>
                      <a:endParaRPr lang="en-US" sz="70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70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★★★★★  Vercel AI SDK / shadcn 原生支持</a:t>
                      </a:r>
                      <a:endParaRPr lang="en-US" sz="70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70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★★★☆☆  多为社区移植版</a:t>
                      </a:r>
                      <a:endParaRPr lang="en-US" sz="70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3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700" b="1">
                          <a:solidFill>
                            <a:srgbClr val="1023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AI 犯错率（响应性陷阱）</a:t>
                      </a:r>
                      <a:endParaRPr lang="en-US" sz="70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70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较少（主要是 useEffect 依赖项问题）</a:t>
                      </a:r>
                      <a:endParaRPr lang="en-US" sz="70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orgia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70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较多（AI 易忘记 .value 或破坏响应性）</a:t>
                      </a:r>
                      <a:endParaRPr lang="en-US" sz="70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2" name="collect-note">
            <a:extLst>
              <a:ext uri="{FF2B5EF4-FFF2-40B4-BE49-F238E27FC236}">
                <a16:creationId xmlns:a16="http://schemas.microsoft.com/office/drawing/2014/main" id="{EB44EC50-6CE8-14BA-0821-445A718D6B59}"/>
              </a:ext>
            </a:extLst>
          </p:cNvPr>
          <p:cNvSpPr>
            <a:spLocks noGrp="1"/>
          </p:cNvSpPr>
          <p:nvPr/>
        </p:nvSpPr>
        <p:spPr>
          <a:xfrm>
            <a:off x="1768862" y="960120"/>
            <a:ext cx="6044178" cy="2221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750" b="0">
                <a:solidFill>
                  <a:srgbClr val="607384"/>
                </a:solidFill>
              </a:defRPr>
            </a:pPr>
            <a:r>
              <a:rPr lang="zh-CN" altLang="en-US" sz="1000">
                <a:latin typeface="+mn-ea"/>
              </a:rPr>
              <a:t>关键在于 </a:t>
            </a:r>
            <a:r>
              <a:rPr lang="en-US" altLang="zh-CN" sz="1000">
                <a:latin typeface="+mn-ea"/>
              </a:rPr>
              <a:t>JSX </a:t>
            </a:r>
            <a:r>
              <a:rPr lang="zh-CN" altLang="en-US" sz="1000">
                <a:latin typeface="+mn-ea"/>
              </a:rPr>
              <a:t>即纯 </a:t>
            </a:r>
            <a:r>
              <a:rPr lang="en-US" altLang="zh-CN" sz="1000">
                <a:latin typeface="+mn-ea"/>
              </a:rPr>
              <a:t>JS </a:t>
            </a:r>
            <a:r>
              <a:rPr lang="zh-CN" altLang="en-US" sz="1000">
                <a:latin typeface="+mn-ea"/>
              </a:rPr>
              <a:t>的表达方式，与海量的开源训练数据 </a:t>
            </a:r>
            <a:r>
              <a:rPr lang="en-US" altLang="zh-CN" sz="1000">
                <a:latin typeface="+mn-ea"/>
              </a:rPr>
              <a:t>— React </a:t>
            </a:r>
            <a:r>
              <a:rPr lang="zh-CN" altLang="en-US" sz="1000">
                <a:latin typeface="+mn-ea"/>
              </a:rPr>
              <a:t>在「与 </a:t>
            </a:r>
            <a:r>
              <a:rPr lang="en-US" altLang="zh-CN" sz="1000">
                <a:latin typeface="+mn-ea"/>
              </a:rPr>
              <a:t>AI </a:t>
            </a:r>
            <a:r>
              <a:rPr lang="zh-CN" altLang="en-US" sz="1000">
                <a:latin typeface="+mn-ea"/>
              </a:rPr>
              <a:t>结合」场景展现显著优势</a:t>
            </a:r>
          </a:p>
        </p:txBody>
      </p:sp>
    </p:spTree>
    <p:extLst>
      <p:ext uri="{BB962C8B-B14F-4D97-AF65-F5344CB8AC3E}">
        <p14:creationId xmlns:p14="http://schemas.microsoft.com/office/powerpoint/2010/main" val="26733722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60604" y="89154"/>
            <a:ext cx="6172200" cy="2331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2000"/>
              </a:lnSpc>
            </a:pPr>
            <a:r>
              <a:rPr sz="1388" b="1">
                <a:solidFill>
                  <a:srgbClr val="0F172A"/>
                </a:solidFill>
                <a:latin typeface="+mj-lt"/>
                <a:ea typeface="Microsoft YaHei"/>
              </a:rPr>
              <a:t>ETL </a:t>
            </a:r>
            <a:r>
              <a:rPr sz="1388" b="1" err="1">
                <a:solidFill>
                  <a:srgbClr val="0F172A"/>
                </a:solidFill>
                <a:latin typeface="+mj-lt"/>
                <a:ea typeface="Microsoft YaHei"/>
              </a:rPr>
              <a:t>引擎对比</a:t>
            </a:r>
            <a:r>
              <a:rPr sz="1388" b="1">
                <a:solidFill>
                  <a:srgbClr val="0F172A"/>
                </a:solidFill>
                <a:latin typeface="+mj-lt"/>
                <a:ea typeface="Microsoft YaHei"/>
              </a:rPr>
              <a:t> · Apache </a:t>
            </a:r>
            <a:r>
              <a:rPr sz="1388" b="1" err="1">
                <a:solidFill>
                  <a:srgbClr val="0F172A"/>
                </a:solidFill>
                <a:latin typeface="+mj-lt"/>
                <a:ea typeface="Microsoft YaHei"/>
              </a:rPr>
              <a:t>SeaTunnel</a:t>
            </a:r>
            <a:r>
              <a:rPr sz="1388" b="1">
                <a:solidFill>
                  <a:srgbClr val="0F172A"/>
                </a:solidFill>
                <a:latin typeface="+mj-lt"/>
                <a:ea typeface="Microsoft YaHei"/>
              </a:rPr>
              <a:t> vs Databricks Serverless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0876" y="425196"/>
            <a:ext cx="1069848" cy="425196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397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00"/>
          </a:p>
        </p:txBody>
      </p:sp>
      <p:sp>
        <p:nvSpPr>
          <p:cNvPr id="6" name="TextBox 5"/>
          <p:cNvSpPr txBox="1"/>
          <p:nvPr/>
        </p:nvSpPr>
        <p:spPr>
          <a:xfrm>
            <a:off x="150876" y="425196"/>
            <a:ext cx="1069848" cy="4251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600" b="1">
                <a:solidFill>
                  <a:srgbClr val="475569"/>
                </a:solidFill>
                <a:ea typeface="Microsoft YaHei"/>
              </a:rPr>
              <a:t>对比维度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03020" y="425196"/>
            <a:ext cx="3600450" cy="425196"/>
          </a:xfrm>
          <a:prstGeom prst="roundRect">
            <a:avLst>
              <a:gd name="adj" fmla="val 9677"/>
            </a:avLst>
          </a:prstGeom>
          <a:solidFill>
            <a:srgbClr val="FFF7ED"/>
          </a:solidFill>
          <a:ln w="17780">
            <a:solidFill>
              <a:srgbClr val="00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8" name="TextBox 7"/>
          <p:cNvSpPr txBox="1"/>
          <p:nvPr/>
        </p:nvSpPr>
        <p:spPr>
          <a:xfrm>
            <a:off x="1303020" y="452628"/>
            <a:ext cx="360045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825" b="1">
                <a:solidFill>
                  <a:srgbClr val="EA580C"/>
                </a:solidFill>
                <a:ea typeface="Microsoft YaHei"/>
              </a:rPr>
              <a:t>Apache SeaTunnel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3020" y="630936"/>
            <a:ext cx="360045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510">
                <a:solidFill>
                  <a:srgbClr val="64748B"/>
                </a:solidFill>
                <a:ea typeface="Microsoft YaHei"/>
              </a:rPr>
              <a:t>开源数据集成引擎 · 结构化抽取入湖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72050" y="425196"/>
            <a:ext cx="4018788" cy="425196"/>
          </a:xfrm>
          <a:prstGeom prst="roundRect">
            <a:avLst>
              <a:gd name="adj" fmla="val 9677"/>
            </a:avLst>
          </a:prstGeom>
          <a:solidFill>
            <a:srgbClr val="F5F3FF"/>
          </a:solidFill>
          <a:ln w="17780">
            <a:solidFill>
              <a:srgbClr val="00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1" name="TextBox 10"/>
          <p:cNvSpPr txBox="1"/>
          <p:nvPr/>
        </p:nvSpPr>
        <p:spPr>
          <a:xfrm>
            <a:off x="4972050" y="452628"/>
            <a:ext cx="4018788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825" b="1">
                <a:solidFill>
                  <a:srgbClr val="7C3AED"/>
                </a:solidFill>
                <a:ea typeface="Microsoft YaHei"/>
              </a:rPr>
              <a:t>Databricks Serverless · Jobs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72050" y="630936"/>
            <a:ext cx="4018788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510">
                <a:solidFill>
                  <a:srgbClr val="64748B"/>
                </a:solidFill>
                <a:ea typeface="Microsoft YaHei"/>
              </a:rPr>
              <a:t>托管湖仓计算 · 分层加工与治理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0876" y="932688"/>
            <a:ext cx="1069848" cy="329184"/>
          </a:xfrm>
          <a:prstGeom prst="roundRect">
            <a:avLst>
              <a:gd name="adj" fmla="val 10416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00"/>
          </a:p>
        </p:txBody>
      </p:sp>
      <p:sp>
        <p:nvSpPr>
          <p:cNvPr id="14" name="TextBox 13"/>
          <p:cNvSpPr txBox="1"/>
          <p:nvPr/>
        </p:nvSpPr>
        <p:spPr>
          <a:xfrm>
            <a:off x="150876" y="932688"/>
            <a:ext cx="106984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600" b="1">
                <a:solidFill>
                  <a:srgbClr val="0F172A"/>
                </a:solidFill>
                <a:ea typeface="Microsoft YaHei"/>
              </a:rPr>
              <a:t>定位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03020" y="932688"/>
            <a:ext cx="3600450" cy="329184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12700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00"/>
          </a:p>
        </p:txBody>
      </p:sp>
      <p:sp>
        <p:nvSpPr>
          <p:cNvPr id="17" name="TextBox 16"/>
          <p:cNvSpPr txBox="1"/>
          <p:nvPr/>
        </p:nvSpPr>
        <p:spPr>
          <a:xfrm>
            <a:off x="1385316" y="960120"/>
            <a:ext cx="3435858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600" b="1">
                <a:solidFill>
                  <a:srgbClr val="475569"/>
                </a:solidFill>
                <a:ea typeface="Microsoft YaHei"/>
              </a:rPr>
              <a:t>开源数据集成引擎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5316" y="1083564"/>
            <a:ext cx="3435858" cy="1508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600">
                <a:solidFill>
                  <a:srgbClr val="64748B"/>
                </a:solidFill>
                <a:ea typeface="Microsoft YaHei"/>
              </a:rPr>
              <a:t>Apache 开源 · 免费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72050" y="932688"/>
            <a:ext cx="4018788" cy="329184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00"/>
          </a:p>
        </p:txBody>
      </p:sp>
      <p:sp>
        <p:nvSpPr>
          <p:cNvPr id="21" name="TextBox 20"/>
          <p:cNvSpPr txBox="1"/>
          <p:nvPr/>
        </p:nvSpPr>
        <p:spPr>
          <a:xfrm>
            <a:off x="5054346" y="960120"/>
            <a:ext cx="3854196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600" b="1">
                <a:solidFill>
                  <a:srgbClr val="475569"/>
                </a:solidFill>
                <a:ea typeface="Microsoft YaHei"/>
              </a:rPr>
              <a:t>托管湖仓计算引擎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54346" y="1083564"/>
            <a:ext cx="3854196" cy="1508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600">
                <a:solidFill>
                  <a:srgbClr val="64748B"/>
                </a:solidFill>
                <a:ea typeface="Microsoft YaHei"/>
              </a:rPr>
              <a:t>商业化 · 按 DBU 计费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50876" y="1299591"/>
            <a:ext cx="1069848" cy="329184"/>
          </a:xfrm>
          <a:prstGeom prst="roundRect">
            <a:avLst>
              <a:gd name="adj" fmla="val 10416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00"/>
          </a:p>
        </p:txBody>
      </p:sp>
      <p:sp>
        <p:nvSpPr>
          <p:cNvPr id="24" name="TextBox 23"/>
          <p:cNvSpPr txBox="1"/>
          <p:nvPr/>
        </p:nvSpPr>
        <p:spPr>
          <a:xfrm>
            <a:off x="150876" y="1299591"/>
            <a:ext cx="106984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600" b="1">
                <a:solidFill>
                  <a:srgbClr val="0F172A"/>
                </a:solidFill>
                <a:ea typeface="Microsoft YaHei"/>
              </a:rPr>
              <a:t>连接与能力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03020" y="1299591"/>
            <a:ext cx="3600450" cy="329184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12700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00"/>
          </a:p>
        </p:txBody>
      </p:sp>
      <p:sp>
        <p:nvSpPr>
          <p:cNvPr id="27" name="TextBox 26"/>
          <p:cNvSpPr txBox="1"/>
          <p:nvPr/>
        </p:nvSpPr>
        <p:spPr>
          <a:xfrm>
            <a:off x="1385316" y="1327023"/>
            <a:ext cx="3435858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600" b="1">
                <a:solidFill>
                  <a:srgbClr val="475569"/>
                </a:solidFill>
                <a:ea typeface="Microsoft YaHei"/>
              </a:rPr>
              <a:t>200+ 连接器 · JDBC → Iceberg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5316" y="1450467"/>
            <a:ext cx="3435858" cy="1508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600">
                <a:solidFill>
                  <a:srgbClr val="64748B"/>
                </a:solidFill>
                <a:ea typeface="Microsoft YaHei"/>
              </a:rPr>
              <a:t>类型映射 · 对账 · 仅读权限抽取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72050" y="1299591"/>
            <a:ext cx="4018788" cy="329184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00"/>
          </a:p>
        </p:txBody>
      </p:sp>
      <p:sp>
        <p:nvSpPr>
          <p:cNvPr id="31" name="TextBox 30"/>
          <p:cNvSpPr txBox="1"/>
          <p:nvPr/>
        </p:nvSpPr>
        <p:spPr>
          <a:xfrm>
            <a:off x="5054346" y="1327023"/>
            <a:ext cx="3854196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600" b="1">
                <a:solidFill>
                  <a:srgbClr val="475569"/>
                </a:solidFill>
                <a:ea typeface="Microsoft YaHei"/>
              </a:rPr>
              <a:t>Spark 批处理 · JDBC → Iceberg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54346" y="1450467"/>
            <a:ext cx="3854196" cy="1508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600">
                <a:solidFill>
                  <a:srgbClr val="64748B"/>
                </a:solidFill>
                <a:ea typeface="Microsoft YaHei"/>
              </a:rPr>
              <a:t>Z-Order · Compaction · VACUUM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50876" y="1666494"/>
            <a:ext cx="1069848" cy="329184"/>
          </a:xfrm>
          <a:prstGeom prst="roundRect">
            <a:avLst>
              <a:gd name="adj" fmla="val 10416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00"/>
          </a:p>
        </p:txBody>
      </p:sp>
      <p:sp>
        <p:nvSpPr>
          <p:cNvPr id="34" name="TextBox 33"/>
          <p:cNvSpPr txBox="1"/>
          <p:nvPr/>
        </p:nvSpPr>
        <p:spPr>
          <a:xfrm>
            <a:off x="150876" y="1666494"/>
            <a:ext cx="106984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600" b="1">
                <a:solidFill>
                  <a:srgbClr val="0F172A"/>
                </a:solidFill>
                <a:ea typeface="Microsoft YaHei"/>
              </a:rPr>
              <a:t>ETL 职责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03020" y="1666494"/>
            <a:ext cx="3600450" cy="329184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12700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00"/>
          </a:p>
        </p:txBody>
      </p:sp>
      <p:sp>
        <p:nvSpPr>
          <p:cNvPr id="37" name="TextBox 36"/>
          <p:cNvSpPr txBox="1"/>
          <p:nvPr/>
        </p:nvSpPr>
        <p:spPr>
          <a:xfrm>
            <a:off x="1385316" y="1693926"/>
            <a:ext cx="3435858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600" b="1">
                <a:solidFill>
                  <a:srgbClr val="475569"/>
                </a:solidFill>
                <a:ea typeface="Microsoft YaHei"/>
              </a:rPr>
              <a:t>结构化数据 1:1 原样入湖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85316" y="1817370"/>
            <a:ext cx="3435858" cy="1508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600">
                <a:solidFill>
                  <a:srgbClr val="64748B"/>
                </a:solidFill>
                <a:ea typeface="Microsoft YaHei"/>
              </a:rPr>
              <a:t>RAW 原始落地 · sys_id / ingest_date 分区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972050" y="1666494"/>
            <a:ext cx="4018788" cy="329184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00"/>
          </a:p>
        </p:txBody>
      </p:sp>
      <p:sp>
        <p:nvSpPr>
          <p:cNvPr id="41" name="TextBox 40"/>
          <p:cNvSpPr txBox="1"/>
          <p:nvPr/>
        </p:nvSpPr>
        <p:spPr>
          <a:xfrm>
            <a:off x="5054346" y="1693926"/>
            <a:ext cx="3854196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600" b="1">
                <a:solidFill>
                  <a:srgbClr val="475569"/>
                </a:solidFill>
                <a:ea typeface="Microsoft YaHei"/>
              </a:rPr>
              <a:t>RAW→CURATED→LAKE→SERVE 分层加工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54346" y="1817370"/>
            <a:ext cx="3854196" cy="1508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600">
                <a:solidFill>
                  <a:srgbClr val="64748B"/>
                </a:solidFill>
                <a:ea typeface="Microsoft YaHei"/>
              </a:rPr>
              <a:t>到期销毁 · DROP PARTITION + VACUUM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50876" y="2033397"/>
            <a:ext cx="1069848" cy="329184"/>
          </a:xfrm>
          <a:prstGeom prst="roundRect">
            <a:avLst>
              <a:gd name="adj" fmla="val 10416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00"/>
          </a:p>
        </p:txBody>
      </p:sp>
      <p:sp>
        <p:nvSpPr>
          <p:cNvPr id="44" name="TextBox 43"/>
          <p:cNvSpPr txBox="1"/>
          <p:nvPr/>
        </p:nvSpPr>
        <p:spPr>
          <a:xfrm>
            <a:off x="150876" y="2033397"/>
            <a:ext cx="106984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600" b="1">
                <a:solidFill>
                  <a:srgbClr val="0F172A"/>
                </a:solidFill>
                <a:ea typeface="Microsoft YaHei"/>
              </a:rPr>
              <a:t>数据分级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303020" y="2033397"/>
            <a:ext cx="3600450" cy="329184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12700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00"/>
          </a:p>
        </p:txBody>
      </p:sp>
      <p:sp>
        <p:nvSpPr>
          <p:cNvPr id="47" name="TextBox 46"/>
          <p:cNvSpPr txBox="1"/>
          <p:nvPr/>
        </p:nvSpPr>
        <p:spPr>
          <a:xfrm>
            <a:off x="1385316" y="2060829"/>
            <a:ext cx="3435858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600" b="1">
                <a:solidFill>
                  <a:srgbClr val="475569"/>
                </a:solidFill>
                <a:ea typeface="Microsoft YaHei"/>
              </a:rPr>
              <a:t>普通 / 非敏感数据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85316" y="2184273"/>
            <a:ext cx="3435858" cy="1508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600">
                <a:solidFill>
                  <a:srgbClr val="64748B"/>
                </a:solidFill>
                <a:ea typeface="Microsoft YaHei"/>
              </a:rPr>
              <a:t>轻量链路 · 本地或 ADLS 落盘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972050" y="2033397"/>
            <a:ext cx="4018788" cy="329184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00"/>
          </a:p>
        </p:txBody>
      </p:sp>
      <p:sp>
        <p:nvSpPr>
          <p:cNvPr id="51" name="TextBox 50"/>
          <p:cNvSpPr txBox="1"/>
          <p:nvPr/>
        </p:nvSpPr>
        <p:spPr>
          <a:xfrm>
            <a:off x="5054346" y="2060829"/>
            <a:ext cx="3854196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600" b="1">
                <a:solidFill>
                  <a:srgbClr val="7C3AED"/>
                </a:solidFill>
                <a:ea typeface="Microsoft YaHei"/>
              </a:rPr>
              <a:t>敏感 / 加密数据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54346" y="2184273"/>
            <a:ext cx="3854196" cy="1508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600" b="1">
                <a:solidFill>
                  <a:srgbClr val="7C3AED"/>
                </a:solidFill>
                <a:ea typeface="Microsoft YaHei"/>
              </a:rPr>
              <a:t>合规要求高 · 需全程加密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50876" y="2400300"/>
            <a:ext cx="1069848" cy="329184"/>
          </a:xfrm>
          <a:prstGeom prst="roundRect">
            <a:avLst>
              <a:gd name="adj" fmla="val 10416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00"/>
          </a:p>
        </p:txBody>
      </p:sp>
      <p:sp>
        <p:nvSpPr>
          <p:cNvPr id="54" name="TextBox 53"/>
          <p:cNvSpPr txBox="1"/>
          <p:nvPr/>
        </p:nvSpPr>
        <p:spPr>
          <a:xfrm>
            <a:off x="150876" y="2400300"/>
            <a:ext cx="106984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600" b="1">
                <a:solidFill>
                  <a:srgbClr val="0F172A"/>
                </a:solidFill>
                <a:ea typeface="Microsoft YaHei"/>
              </a:rPr>
              <a:t>加密与合规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303020" y="2400300"/>
            <a:ext cx="3600450" cy="329184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12700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00"/>
          </a:p>
        </p:txBody>
      </p:sp>
      <p:sp>
        <p:nvSpPr>
          <p:cNvPr id="57" name="TextBox 56"/>
          <p:cNvSpPr txBox="1"/>
          <p:nvPr/>
        </p:nvSpPr>
        <p:spPr>
          <a:xfrm>
            <a:off x="1385316" y="2427732"/>
            <a:ext cx="3435858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600" b="1">
                <a:solidFill>
                  <a:srgbClr val="475569"/>
                </a:solidFill>
                <a:ea typeface="Microsoft YaHei"/>
              </a:rPr>
              <a:t>凭据自管 · 无原生加密治理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385316" y="2551176"/>
            <a:ext cx="3435858" cy="1508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600">
                <a:solidFill>
                  <a:srgbClr val="64748B"/>
                </a:solidFill>
                <a:ea typeface="Microsoft YaHei"/>
              </a:rPr>
              <a:t>连接串需自行脱敏 / 加密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972050" y="2400300"/>
            <a:ext cx="4018788" cy="329184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00"/>
          </a:p>
        </p:txBody>
      </p:sp>
      <p:sp>
        <p:nvSpPr>
          <p:cNvPr id="61" name="TextBox 60"/>
          <p:cNvSpPr txBox="1"/>
          <p:nvPr/>
        </p:nvSpPr>
        <p:spPr>
          <a:xfrm>
            <a:off x="5054346" y="2427732"/>
            <a:ext cx="3854196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600" b="1">
                <a:solidFill>
                  <a:srgbClr val="7C3AED"/>
                </a:solidFill>
                <a:ea typeface="Microsoft YaHei"/>
              </a:rPr>
              <a:t>Secret Scope + Key Vault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54346" y="2551176"/>
            <a:ext cx="3854196" cy="1508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600" b="1">
                <a:solidFill>
                  <a:srgbClr val="7C3AED"/>
                </a:solidFill>
                <a:ea typeface="Microsoft YaHei"/>
              </a:rPr>
              <a:t>全程加密 · UC 列掩码 · 零明文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50876" y="2767203"/>
            <a:ext cx="1069848" cy="329184"/>
          </a:xfrm>
          <a:prstGeom prst="roundRect">
            <a:avLst>
              <a:gd name="adj" fmla="val 10416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00"/>
          </a:p>
        </p:txBody>
      </p:sp>
      <p:sp>
        <p:nvSpPr>
          <p:cNvPr id="64" name="TextBox 63"/>
          <p:cNvSpPr txBox="1"/>
          <p:nvPr/>
        </p:nvSpPr>
        <p:spPr>
          <a:xfrm>
            <a:off x="150876" y="2767203"/>
            <a:ext cx="106984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600" b="1">
                <a:solidFill>
                  <a:srgbClr val="0F172A"/>
                </a:solidFill>
                <a:ea typeface="Microsoft YaHei"/>
              </a:rPr>
              <a:t>治理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303020" y="2767203"/>
            <a:ext cx="3600450" cy="329184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12700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00"/>
          </a:p>
        </p:txBody>
      </p:sp>
      <p:sp>
        <p:nvSpPr>
          <p:cNvPr id="67" name="TextBox 66"/>
          <p:cNvSpPr txBox="1"/>
          <p:nvPr/>
        </p:nvSpPr>
        <p:spPr>
          <a:xfrm>
            <a:off x="1385316" y="2794635"/>
            <a:ext cx="3435858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600" b="1">
                <a:solidFill>
                  <a:srgbClr val="475569"/>
                </a:solidFill>
                <a:ea typeface="Microsoft YaHei"/>
              </a:rPr>
              <a:t>元数据自建台账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385316" y="2918079"/>
            <a:ext cx="3435858" cy="1508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600">
                <a:solidFill>
                  <a:srgbClr val="64748B"/>
                </a:solidFill>
                <a:ea typeface="Microsoft YaHei"/>
              </a:rPr>
              <a:t>无内置表格式治理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972050" y="2767203"/>
            <a:ext cx="4018788" cy="329184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00"/>
          </a:p>
        </p:txBody>
      </p:sp>
      <p:sp>
        <p:nvSpPr>
          <p:cNvPr id="71" name="TextBox 70"/>
          <p:cNvSpPr txBox="1"/>
          <p:nvPr/>
        </p:nvSpPr>
        <p:spPr>
          <a:xfrm>
            <a:off x="5054346" y="2794635"/>
            <a:ext cx="3854196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600" b="1">
                <a:solidFill>
                  <a:srgbClr val="475569"/>
                </a:solidFill>
                <a:ea typeface="Microsoft YaHei"/>
              </a:rPr>
              <a:t>Unity Catalog 原生治理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54346" y="2918079"/>
            <a:ext cx="3854196" cy="1508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600">
                <a:solidFill>
                  <a:srgbClr val="64748B"/>
                </a:solidFill>
                <a:ea typeface="Microsoft YaHei"/>
              </a:rPr>
              <a:t>表 / 行 / 列级授权 + 审计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50876" y="3134106"/>
            <a:ext cx="1069848" cy="329184"/>
          </a:xfrm>
          <a:prstGeom prst="roundRect">
            <a:avLst>
              <a:gd name="adj" fmla="val 10416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00"/>
          </a:p>
        </p:txBody>
      </p:sp>
      <p:sp>
        <p:nvSpPr>
          <p:cNvPr id="74" name="TextBox 73"/>
          <p:cNvSpPr txBox="1"/>
          <p:nvPr/>
        </p:nvSpPr>
        <p:spPr>
          <a:xfrm>
            <a:off x="150876" y="3134106"/>
            <a:ext cx="106984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600" b="1">
                <a:solidFill>
                  <a:srgbClr val="0F172A"/>
                </a:solidFill>
                <a:ea typeface="Microsoft YaHei"/>
              </a:rPr>
              <a:t>运维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303020" y="3134106"/>
            <a:ext cx="3600450" cy="329184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12700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00"/>
          </a:p>
        </p:txBody>
      </p:sp>
      <p:sp>
        <p:nvSpPr>
          <p:cNvPr id="77" name="TextBox 76"/>
          <p:cNvSpPr txBox="1"/>
          <p:nvPr/>
        </p:nvSpPr>
        <p:spPr>
          <a:xfrm>
            <a:off x="1385316" y="3161538"/>
            <a:ext cx="3435858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600" b="1">
                <a:solidFill>
                  <a:srgbClr val="475569"/>
                </a:solidFill>
                <a:ea typeface="Microsoft YaHei"/>
              </a:rPr>
              <a:t>自部署 · ADF 编排调度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385316" y="3284982"/>
            <a:ext cx="3435858" cy="1508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600">
                <a:solidFill>
                  <a:srgbClr val="64748B"/>
                </a:solidFill>
                <a:ea typeface="Microsoft YaHei"/>
              </a:rPr>
              <a:t>需自行运维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972050" y="3134106"/>
            <a:ext cx="4018788" cy="329184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00"/>
          </a:p>
        </p:txBody>
      </p:sp>
      <p:sp>
        <p:nvSpPr>
          <p:cNvPr id="81" name="TextBox 80"/>
          <p:cNvSpPr txBox="1"/>
          <p:nvPr/>
        </p:nvSpPr>
        <p:spPr>
          <a:xfrm>
            <a:off x="5054346" y="3161538"/>
            <a:ext cx="3854196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600" b="1">
                <a:solidFill>
                  <a:srgbClr val="475569"/>
                </a:solidFill>
                <a:ea typeface="Microsoft YaHei"/>
              </a:rPr>
              <a:t>Serverless 零运维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054346" y="3284982"/>
            <a:ext cx="3854196" cy="1508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600">
                <a:solidFill>
                  <a:srgbClr val="64748B"/>
                </a:solidFill>
                <a:ea typeface="Microsoft YaHei"/>
              </a:rPr>
              <a:t>空闲缩 0 · 故障自动重建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50876" y="3501009"/>
            <a:ext cx="1069848" cy="329184"/>
          </a:xfrm>
          <a:prstGeom prst="roundRect">
            <a:avLst>
              <a:gd name="adj" fmla="val 10416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00"/>
          </a:p>
        </p:txBody>
      </p:sp>
      <p:sp>
        <p:nvSpPr>
          <p:cNvPr id="84" name="TextBox 83"/>
          <p:cNvSpPr txBox="1"/>
          <p:nvPr/>
        </p:nvSpPr>
        <p:spPr>
          <a:xfrm>
            <a:off x="150876" y="3501009"/>
            <a:ext cx="106984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600" b="1">
                <a:solidFill>
                  <a:srgbClr val="0F172A"/>
                </a:solidFill>
                <a:ea typeface="Microsoft YaHei"/>
              </a:rPr>
              <a:t>成本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303020" y="3501009"/>
            <a:ext cx="3600450" cy="329184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12700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00"/>
          </a:p>
        </p:txBody>
      </p:sp>
      <p:sp>
        <p:nvSpPr>
          <p:cNvPr id="87" name="TextBox 86"/>
          <p:cNvSpPr txBox="1"/>
          <p:nvPr/>
        </p:nvSpPr>
        <p:spPr>
          <a:xfrm>
            <a:off x="1385316" y="3528441"/>
            <a:ext cx="3435858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600" b="1">
                <a:solidFill>
                  <a:srgbClr val="475569"/>
                </a:solidFill>
                <a:ea typeface="Microsoft YaHei"/>
              </a:rPr>
              <a:t>开源免费 · 仅算力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385316" y="3651885"/>
            <a:ext cx="3435858" cy="1508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600">
                <a:solidFill>
                  <a:srgbClr val="64748B"/>
                </a:solidFill>
                <a:ea typeface="Microsoft YaHei"/>
              </a:rPr>
              <a:t>≈¥0 许可费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4972050" y="3501009"/>
            <a:ext cx="4018788" cy="329184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00"/>
          </a:p>
        </p:txBody>
      </p:sp>
      <p:sp>
        <p:nvSpPr>
          <p:cNvPr id="91" name="TextBox 90"/>
          <p:cNvSpPr txBox="1"/>
          <p:nvPr/>
        </p:nvSpPr>
        <p:spPr>
          <a:xfrm>
            <a:off x="5054346" y="3528441"/>
            <a:ext cx="3854196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600" b="1">
                <a:solidFill>
                  <a:srgbClr val="7C3AED"/>
                </a:solidFill>
                <a:ea typeface="Microsoft YaHei"/>
              </a:rPr>
              <a:t>写侧 ≈¥0.4–0.8 万/月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054346" y="3651885"/>
            <a:ext cx="3854196" cy="1508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600" b="1">
                <a:solidFill>
                  <a:srgbClr val="7C3AED"/>
                </a:solidFill>
                <a:ea typeface="Microsoft YaHei"/>
              </a:rPr>
              <a:t>按需拉起 · 只为使用付费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150876" y="4101084"/>
            <a:ext cx="8839962" cy="768096"/>
          </a:xfrm>
          <a:prstGeom prst="roundRect">
            <a:avLst>
              <a:gd name="adj" fmla="val 7142"/>
            </a:avLst>
          </a:prstGeom>
          <a:solidFill>
            <a:schemeClr val="accent3">
              <a:lumMod val="20000"/>
              <a:lumOff val="80000"/>
            </a:schemeClr>
          </a:solidFill>
          <a:ln w="17780">
            <a:solidFill>
              <a:srgbClr val="00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00"/>
          </a:p>
        </p:txBody>
      </p:sp>
      <p:sp>
        <p:nvSpPr>
          <p:cNvPr id="94" name="TextBox 93"/>
          <p:cNvSpPr txBox="1"/>
          <p:nvPr/>
        </p:nvSpPr>
        <p:spPr>
          <a:xfrm>
            <a:off x="260604" y="4155948"/>
            <a:ext cx="41148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600" b="1">
                <a:solidFill>
                  <a:srgbClr val="047857"/>
                </a:solidFill>
                <a:ea typeface="Microsoft YaHei"/>
              </a:rPr>
              <a:t>选型结论 · 分流策略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103621" y="4155948"/>
            <a:ext cx="2811779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600">
                <a:solidFill>
                  <a:srgbClr val="047857"/>
                </a:solidFill>
                <a:ea typeface="Microsoft YaHei"/>
              </a:rPr>
              <a:t>按数据敏感度自动分流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260604" y="4334256"/>
            <a:ext cx="2777490" cy="438912"/>
          </a:xfrm>
          <a:prstGeom prst="roundRect">
            <a:avLst>
              <a:gd name="adj" fmla="val 9375"/>
            </a:avLst>
          </a:prstGeom>
          <a:solidFill>
            <a:schemeClr val="bg1"/>
          </a:solidFill>
          <a:ln w="15240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00"/>
          </a:p>
        </p:txBody>
      </p:sp>
      <p:sp>
        <p:nvSpPr>
          <p:cNvPr id="97" name="TextBox 96"/>
          <p:cNvSpPr txBox="1"/>
          <p:nvPr/>
        </p:nvSpPr>
        <p:spPr>
          <a:xfrm>
            <a:off x="342900" y="4368546"/>
            <a:ext cx="2606040" cy="11658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600" b="1">
                <a:solidFill>
                  <a:srgbClr val="0F172A"/>
                </a:solidFill>
                <a:ea typeface="Microsoft YaHei"/>
              </a:rPr>
              <a:t>普通 / 非敏感数据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42900" y="4505706"/>
            <a:ext cx="2606040" cy="2057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600" b="1">
                <a:solidFill>
                  <a:srgbClr val="EA580C"/>
                </a:solidFill>
                <a:ea typeface="Microsoft YaHei"/>
              </a:rPr>
              <a:t>→ SeaTunnel 抽取入湖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3147822" y="4334256"/>
            <a:ext cx="2777490" cy="438912"/>
          </a:xfrm>
          <a:prstGeom prst="roundRect">
            <a:avLst>
              <a:gd name="adj" fmla="val 9375"/>
            </a:avLst>
          </a:prstGeom>
          <a:solidFill>
            <a:schemeClr val="bg1"/>
          </a:solidFill>
          <a:ln w="1524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00"/>
          </a:p>
        </p:txBody>
      </p:sp>
      <p:sp>
        <p:nvSpPr>
          <p:cNvPr id="100" name="TextBox 99"/>
          <p:cNvSpPr txBox="1"/>
          <p:nvPr/>
        </p:nvSpPr>
        <p:spPr>
          <a:xfrm>
            <a:off x="3230118" y="4368546"/>
            <a:ext cx="2606040" cy="11658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600" b="1">
                <a:solidFill>
                  <a:srgbClr val="0F172A"/>
                </a:solidFill>
                <a:ea typeface="Microsoft YaHei"/>
              </a:rPr>
              <a:t>敏感 / 加密数据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230118" y="4505706"/>
            <a:ext cx="2606040" cy="2057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600" b="1">
                <a:solidFill>
                  <a:srgbClr val="7C3AED"/>
                </a:solidFill>
                <a:ea typeface="Microsoft YaHei"/>
              </a:rPr>
              <a:t>→ Databricks 写侧 ETL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035040" y="4334256"/>
            <a:ext cx="2777490" cy="438912"/>
          </a:xfrm>
          <a:prstGeom prst="roundRect">
            <a:avLst>
              <a:gd name="adj" fmla="val 9375"/>
            </a:avLst>
          </a:prstGeom>
          <a:solidFill>
            <a:schemeClr val="bg1"/>
          </a:solidFill>
          <a:ln w="1524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00"/>
          </a:p>
        </p:txBody>
      </p:sp>
      <p:sp>
        <p:nvSpPr>
          <p:cNvPr id="103" name="TextBox 102"/>
          <p:cNvSpPr txBox="1"/>
          <p:nvPr/>
        </p:nvSpPr>
        <p:spPr>
          <a:xfrm>
            <a:off x="6117336" y="4368546"/>
            <a:ext cx="2606040" cy="11658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600" b="1">
                <a:solidFill>
                  <a:srgbClr val="0F172A"/>
                </a:solidFill>
                <a:ea typeface="Microsoft YaHei"/>
              </a:rPr>
              <a:t>统一底座 · 读侧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117336" y="4505706"/>
            <a:ext cx="2606040" cy="2057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600" b="1">
                <a:solidFill>
                  <a:srgbClr val="059669"/>
                </a:solidFill>
                <a:ea typeface="Microsoft YaHei"/>
              </a:rPr>
              <a:t>→ Iceberg 冷湖 · SQL Serverless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60604" y="89154"/>
            <a:ext cx="6172200" cy="2331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2000"/>
              </a:lnSpc>
            </a:pPr>
            <a:r>
              <a:rPr sz="1388" b="1">
                <a:solidFill>
                  <a:srgbClr val="0F172A"/>
                </a:solidFill>
                <a:latin typeface="+mj-lt"/>
                <a:ea typeface="Microsoft YaHei"/>
              </a:rPr>
              <a:t>Apache </a:t>
            </a:r>
            <a:r>
              <a:rPr sz="1388" b="1" err="1">
                <a:solidFill>
                  <a:srgbClr val="0F172A"/>
                </a:solidFill>
                <a:latin typeface="+mj-lt"/>
                <a:ea typeface="Microsoft YaHei"/>
              </a:rPr>
              <a:t>SeaTunnel</a:t>
            </a:r>
            <a:r>
              <a:rPr sz="1388" b="1">
                <a:solidFill>
                  <a:srgbClr val="0F172A"/>
                </a:solidFill>
                <a:latin typeface="+mj-lt"/>
                <a:ea typeface="Microsoft YaHei"/>
              </a:rPr>
              <a:t> · 约 200 </a:t>
            </a:r>
            <a:r>
              <a:rPr sz="1388" b="1" err="1">
                <a:solidFill>
                  <a:srgbClr val="0F172A"/>
                </a:solidFill>
                <a:latin typeface="+mj-lt"/>
                <a:ea typeface="Microsoft YaHei"/>
              </a:rPr>
              <a:t>个原生连接器</a:t>
            </a:r>
            <a:endParaRPr sz="1388" b="1">
              <a:solidFill>
                <a:srgbClr val="0F172A"/>
              </a:solidFill>
              <a:latin typeface="+mj-lt"/>
              <a:ea typeface="Microsoft Ya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46520" y="41148"/>
            <a:ext cx="2091690" cy="2880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25000"/>
              </a:lnSpc>
            </a:pPr>
            <a:endParaRPr sz="563">
              <a:solidFill>
                <a:srgbClr val="64748B"/>
              </a:solidFill>
              <a:ea typeface="Microsoft YaHe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50876" y="397764"/>
            <a:ext cx="8839962" cy="288036"/>
          </a:xfrm>
          <a:prstGeom prst="roundRect">
            <a:avLst>
              <a:gd name="adj" fmla="val 14285"/>
            </a:avLst>
          </a:prstGeom>
          <a:solidFill>
            <a:schemeClr val="bg1"/>
          </a:solidFill>
          <a:ln w="15240">
            <a:solidFill>
              <a:srgbClr val="00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6" name="TextBox 5"/>
          <p:cNvSpPr txBox="1"/>
          <p:nvPr/>
        </p:nvSpPr>
        <p:spPr>
          <a:xfrm>
            <a:off x="150876" y="397764"/>
            <a:ext cx="8682228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800" b="1" err="1">
                <a:solidFill>
                  <a:srgbClr val="C2410C"/>
                </a:solidFill>
                <a:ea typeface="Microsoft YaHei"/>
              </a:rPr>
              <a:t>只要你的数据在那里，SeaTunnel</a:t>
            </a:r>
            <a:r>
              <a:rPr sz="800" b="1">
                <a:solidFill>
                  <a:srgbClr val="C2410C"/>
                </a:solidFill>
                <a:ea typeface="Microsoft YaHei"/>
              </a:rPr>
              <a:t> </a:t>
            </a:r>
            <a:r>
              <a:rPr sz="800" b="1" err="1">
                <a:solidFill>
                  <a:srgbClr val="C2410C"/>
                </a:solidFill>
                <a:ea typeface="Microsoft YaHei"/>
              </a:rPr>
              <a:t>就能连接</a:t>
            </a:r>
            <a:r>
              <a:rPr sz="800" b="1">
                <a:solidFill>
                  <a:srgbClr val="C2410C"/>
                </a:solidFill>
                <a:ea typeface="Microsoft YaHei"/>
              </a:rPr>
              <a:t> —— </a:t>
            </a:r>
            <a:r>
              <a:rPr sz="800" b="1" err="1">
                <a:solidFill>
                  <a:srgbClr val="C2410C"/>
                </a:solidFill>
                <a:ea typeface="Microsoft YaHei"/>
              </a:rPr>
              <a:t>覆盖数据库</a:t>
            </a:r>
            <a:r>
              <a:rPr sz="800" b="1">
                <a:solidFill>
                  <a:srgbClr val="C2410C"/>
                </a:solidFill>
                <a:ea typeface="Microsoft YaHei"/>
              </a:rPr>
              <a:t> · </a:t>
            </a:r>
            <a:r>
              <a:rPr sz="800" b="1" err="1">
                <a:solidFill>
                  <a:srgbClr val="C2410C"/>
                </a:solidFill>
                <a:ea typeface="Microsoft YaHei"/>
              </a:rPr>
              <a:t>消息系统</a:t>
            </a:r>
            <a:r>
              <a:rPr sz="800" b="1">
                <a:solidFill>
                  <a:srgbClr val="C2410C"/>
                </a:solidFill>
                <a:ea typeface="Microsoft YaHei"/>
              </a:rPr>
              <a:t> · </a:t>
            </a:r>
            <a:r>
              <a:rPr sz="800" b="1" err="1">
                <a:solidFill>
                  <a:srgbClr val="C2410C"/>
                </a:solidFill>
                <a:ea typeface="Microsoft YaHei"/>
              </a:rPr>
              <a:t>湖仓</a:t>
            </a:r>
            <a:r>
              <a:rPr sz="800" b="1">
                <a:solidFill>
                  <a:srgbClr val="C2410C"/>
                </a:solidFill>
                <a:ea typeface="Microsoft YaHei"/>
              </a:rPr>
              <a:t> · </a:t>
            </a:r>
            <a:r>
              <a:rPr sz="800" b="1" err="1">
                <a:solidFill>
                  <a:srgbClr val="C2410C"/>
                </a:solidFill>
                <a:ea typeface="Microsoft YaHei"/>
              </a:rPr>
              <a:t>搜索系统</a:t>
            </a:r>
            <a:r>
              <a:rPr sz="800" b="1">
                <a:solidFill>
                  <a:srgbClr val="C2410C"/>
                </a:solidFill>
                <a:ea typeface="Microsoft YaHei"/>
              </a:rPr>
              <a:t> · </a:t>
            </a:r>
            <a:r>
              <a:rPr sz="800" b="1" err="1">
                <a:solidFill>
                  <a:srgbClr val="C2410C"/>
                </a:solidFill>
                <a:ea typeface="Microsoft YaHei"/>
              </a:rPr>
              <a:t>对象存储等主流数据系统</a:t>
            </a:r>
            <a:endParaRPr sz="800" b="1">
              <a:solidFill>
                <a:srgbClr val="C2410C"/>
              </a:solidFill>
              <a:ea typeface="Microsoft YaHe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50876" y="754380"/>
            <a:ext cx="4320540" cy="1179576"/>
          </a:xfrm>
          <a:prstGeom prst="roundRect">
            <a:avLst>
              <a:gd name="adj" fmla="val 4069"/>
            </a:avLst>
          </a:prstGeom>
          <a:solidFill>
            <a:srgbClr val="EFF6FF"/>
          </a:solidFill>
          <a:ln w="15240">
            <a:solidFill>
              <a:srgbClr val="00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8" name="Rounded Rectangle 7"/>
          <p:cNvSpPr/>
          <p:nvPr/>
        </p:nvSpPr>
        <p:spPr>
          <a:xfrm>
            <a:off x="150876" y="754380"/>
            <a:ext cx="27432" cy="1179576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" name="TextBox 8"/>
          <p:cNvSpPr txBox="1"/>
          <p:nvPr/>
        </p:nvSpPr>
        <p:spPr>
          <a:xfrm>
            <a:off x="260604" y="822960"/>
            <a:ext cx="4101084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705" b="1">
                <a:solidFill>
                  <a:srgbClr val="0F172A"/>
                </a:solidFill>
                <a:ea typeface="Microsoft YaHei"/>
              </a:rPr>
              <a:t>OLTP 数据库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" y="994410"/>
            <a:ext cx="4101084" cy="1028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465" b="1">
                <a:solidFill>
                  <a:srgbClr val="0078D4"/>
                </a:solidFill>
                <a:ea typeface="Microsoft YaHei"/>
              </a:rPr>
              <a:t>关系型 · +25 via JDBC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0605" y="1145286"/>
            <a:ext cx="1321307" cy="315468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2" name="TextBox 11"/>
          <p:cNvSpPr txBox="1"/>
          <p:nvPr/>
        </p:nvSpPr>
        <p:spPr>
          <a:xfrm>
            <a:off x="260605" y="1145286"/>
            <a:ext cx="1321307" cy="3154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465">
                <a:solidFill>
                  <a:srgbClr val="475569"/>
                </a:solidFill>
                <a:ea typeface="Microsoft YaHei"/>
              </a:rPr>
              <a:t>MySQL / CDC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50492" y="1145286"/>
            <a:ext cx="1321307" cy="315468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4" name="TextBox 13"/>
          <p:cNvSpPr txBox="1"/>
          <p:nvPr/>
        </p:nvSpPr>
        <p:spPr>
          <a:xfrm>
            <a:off x="1650492" y="1145286"/>
            <a:ext cx="1321307" cy="3154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465">
                <a:solidFill>
                  <a:srgbClr val="475569"/>
                </a:solidFill>
                <a:ea typeface="Microsoft YaHei"/>
              </a:rPr>
              <a:t>PostgreSQL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40380" y="1145286"/>
            <a:ext cx="1321307" cy="315468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6" name="TextBox 15"/>
          <p:cNvSpPr txBox="1"/>
          <p:nvPr/>
        </p:nvSpPr>
        <p:spPr>
          <a:xfrm>
            <a:off x="3040380" y="1145286"/>
            <a:ext cx="1321307" cy="3154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465">
                <a:solidFill>
                  <a:srgbClr val="475569"/>
                </a:solidFill>
                <a:ea typeface="Microsoft YaHei"/>
              </a:rPr>
              <a:t>Oracle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0605" y="1543050"/>
            <a:ext cx="1321307" cy="315468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8" name="TextBox 17"/>
          <p:cNvSpPr txBox="1"/>
          <p:nvPr/>
        </p:nvSpPr>
        <p:spPr>
          <a:xfrm>
            <a:off x="260605" y="1543050"/>
            <a:ext cx="1321307" cy="3154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465">
                <a:solidFill>
                  <a:srgbClr val="475569"/>
                </a:solidFill>
                <a:ea typeface="Microsoft YaHei"/>
              </a:rPr>
              <a:t>SQL Server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50492" y="1543050"/>
            <a:ext cx="1321307" cy="315468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0" name="TextBox 19"/>
          <p:cNvSpPr txBox="1"/>
          <p:nvPr/>
        </p:nvSpPr>
        <p:spPr>
          <a:xfrm>
            <a:off x="1650492" y="1543050"/>
            <a:ext cx="1321307" cy="3154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465">
                <a:solidFill>
                  <a:srgbClr val="475569"/>
                </a:solidFill>
                <a:ea typeface="Microsoft YaHei"/>
              </a:rPr>
              <a:t>TiDB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40380" y="1543050"/>
            <a:ext cx="1321307" cy="315468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2" name="TextBox 21"/>
          <p:cNvSpPr txBox="1"/>
          <p:nvPr/>
        </p:nvSpPr>
        <p:spPr>
          <a:xfrm>
            <a:off x="3040380" y="1543050"/>
            <a:ext cx="1321307" cy="3154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465">
                <a:solidFill>
                  <a:srgbClr val="475569"/>
                </a:solidFill>
                <a:ea typeface="Microsoft YaHei"/>
              </a:rPr>
              <a:t>MariaDB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01718" y="754380"/>
            <a:ext cx="4389120" cy="1179576"/>
          </a:xfrm>
          <a:prstGeom prst="roundRect">
            <a:avLst>
              <a:gd name="adj" fmla="val 4069"/>
            </a:avLst>
          </a:prstGeom>
          <a:solidFill>
            <a:srgbClr val="FFFBEB"/>
          </a:solidFill>
          <a:ln w="15240">
            <a:solidFill>
              <a:srgbClr val="00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4" name="Rounded Rectangle 23"/>
          <p:cNvSpPr/>
          <p:nvPr/>
        </p:nvSpPr>
        <p:spPr>
          <a:xfrm>
            <a:off x="4601718" y="754380"/>
            <a:ext cx="27432" cy="117957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5" name="TextBox 24"/>
          <p:cNvSpPr txBox="1"/>
          <p:nvPr/>
        </p:nvSpPr>
        <p:spPr>
          <a:xfrm>
            <a:off x="4711446" y="822960"/>
            <a:ext cx="4169664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705" b="1">
                <a:solidFill>
                  <a:srgbClr val="0F172A"/>
                </a:solidFill>
                <a:ea typeface="Microsoft YaHei"/>
              </a:rPr>
              <a:t>流式与消息系统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11446" y="994410"/>
            <a:ext cx="4169664" cy="1028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465" b="1">
                <a:solidFill>
                  <a:srgbClr val="D97706"/>
                </a:solidFill>
                <a:ea typeface="Microsoft YaHei"/>
              </a:rPr>
              <a:t>消息发布 / 订阅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11446" y="1145286"/>
            <a:ext cx="1344168" cy="315468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270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8" name="TextBox 27"/>
          <p:cNvSpPr txBox="1"/>
          <p:nvPr/>
        </p:nvSpPr>
        <p:spPr>
          <a:xfrm>
            <a:off x="4711446" y="1145286"/>
            <a:ext cx="1344168" cy="3154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465">
                <a:solidFill>
                  <a:srgbClr val="475569"/>
                </a:solidFill>
                <a:ea typeface="Microsoft YaHei"/>
              </a:rPr>
              <a:t>Apache Kafka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4194" y="1145286"/>
            <a:ext cx="1344168" cy="315468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270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0" name="TextBox 29"/>
          <p:cNvSpPr txBox="1"/>
          <p:nvPr/>
        </p:nvSpPr>
        <p:spPr>
          <a:xfrm>
            <a:off x="6124194" y="1145286"/>
            <a:ext cx="1344168" cy="3154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465">
                <a:solidFill>
                  <a:srgbClr val="475569"/>
                </a:solidFill>
                <a:ea typeface="Microsoft YaHei"/>
              </a:rPr>
              <a:t>Apache Pulsar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36942" y="1145286"/>
            <a:ext cx="1344168" cy="315468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270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2" name="TextBox 31"/>
          <p:cNvSpPr txBox="1"/>
          <p:nvPr/>
        </p:nvSpPr>
        <p:spPr>
          <a:xfrm>
            <a:off x="7536942" y="1145286"/>
            <a:ext cx="1344168" cy="3154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465">
                <a:solidFill>
                  <a:srgbClr val="475569"/>
                </a:solidFill>
                <a:ea typeface="Microsoft YaHei"/>
              </a:rPr>
              <a:t>RabbitMQ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11446" y="1543050"/>
            <a:ext cx="1344168" cy="315468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270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4" name="TextBox 33"/>
          <p:cNvSpPr txBox="1"/>
          <p:nvPr/>
        </p:nvSpPr>
        <p:spPr>
          <a:xfrm>
            <a:off x="4711446" y="1543050"/>
            <a:ext cx="1344168" cy="3154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465">
                <a:solidFill>
                  <a:srgbClr val="475569"/>
                </a:solidFill>
                <a:ea typeface="Microsoft YaHei"/>
              </a:rPr>
              <a:t>RocketMQ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24194" y="1543050"/>
            <a:ext cx="1344168" cy="315468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270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6" name="TextBox 35"/>
          <p:cNvSpPr txBox="1"/>
          <p:nvPr/>
        </p:nvSpPr>
        <p:spPr>
          <a:xfrm>
            <a:off x="6124194" y="1543050"/>
            <a:ext cx="1344168" cy="3154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465">
                <a:solidFill>
                  <a:srgbClr val="475569"/>
                </a:solidFill>
                <a:ea typeface="Microsoft YaHei"/>
              </a:rPr>
              <a:t>AWS SQS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36942" y="1543050"/>
            <a:ext cx="1344168" cy="315468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270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8" name="TextBox 37"/>
          <p:cNvSpPr txBox="1"/>
          <p:nvPr/>
        </p:nvSpPr>
        <p:spPr>
          <a:xfrm>
            <a:off x="7536942" y="1543050"/>
            <a:ext cx="1344168" cy="3154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465">
                <a:solidFill>
                  <a:srgbClr val="475569"/>
                </a:solidFill>
                <a:ea typeface="Microsoft YaHei"/>
              </a:rPr>
              <a:t>ActiveMQ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50876" y="2029968"/>
            <a:ext cx="4320540" cy="1179576"/>
          </a:xfrm>
          <a:prstGeom prst="roundRect">
            <a:avLst>
              <a:gd name="adj" fmla="val 4069"/>
            </a:avLst>
          </a:prstGeom>
          <a:solidFill>
            <a:srgbClr val="F5F3FF"/>
          </a:solidFill>
          <a:ln w="15240">
            <a:solidFill>
              <a:srgbClr val="00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0" name="Rounded Rectangle 39"/>
          <p:cNvSpPr/>
          <p:nvPr/>
        </p:nvSpPr>
        <p:spPr>
          <a:xfrm>
            <a:off x="150876" y="2029968"/>
            <a:ext cx="27432" cy="117957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1" name="TextBox 40"/>
          <p:cNvSpPr txBox="1"/>
          <p:nvPr/>
        </p:nvSpPr>
        <p:spPr>
          <a:xfrm>
            <a:off x="260604" y="2098548"/>
            <a:ext cx="4101084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705" b="1">
                <a:solidFill>
                  <a:srgbClr val="0F172A"/>
                </a:solidFill>
                <a:ea typeface="Microsoft YaHei"/>
              </a:rPr>
              <a:t>OLAP 与分析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0604" y="2269998"/>
            <a:ext cx="4101084" cy="1028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465" b="1">
                <a:solidFill>
                  <a:srgbClr val="7C3AED"/>
                </a:solidFill>
                <a:ea typeface="Microsoft YaHei"/>
              </a:rPr>
              <a:t>分析型 OLAP 引擎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60605" y="2420874"/>
            <a:ext cx="1321307" cy="315468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4" name="TextBox 43"/>
          <p:cNvSpPr txBox="1"/>
          <p:nvPr/>
        </p:nvSpPr>
        <p:spPr>
          <a:xfrm>
            <a:off x="260605" y="2420874"/>
            <a:ext cx="1321307" cy="3154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465">
                <a:solidFill>
                  <a:srgbClr val="475569"/>
                </a:solidFill>
                <a:ea typeface="Microsoft YaHei"/>
              </a:rPr>
              <a:t>ClickHouse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650492" y="2420874"/>
            <a:ext cx="1321307" cy="315468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6" name="TextBox 45"/>
          <p:cNvSpPr txBox="1"/>
          <p:nvPr/>
        </p:nvSpPr>
        <p:spPr>
          <a:xfrm>
            <a:off x="1650492" y="2420874"/>
            <a:ext cx="1321307" cy="3154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465">
                <a:solidFill>
                  <a:srgbClr val="475569"/>
                </a:solidFill>
                <a:ea typeface="Microsoft YaHei"/>
              </a:rPr>
              <a:t>Apache Doris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040380" y="2420874"/>
            <a:ext cx="1321307" cy="315468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8" name="TextBox 47"/>
          <p:cNvSpPr txBox="1"/>
          <p:nvPr/>
        </p:nvSpPr>
        <p:spPr>
          <a:xfrm>
            <a:off x="3040380" y="2420874"/>
            <a:ext cx="1321307" cy="3154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465">
                <a:solidFill>
                  <a:srgbClr val="475569"/>
                </a:solidFill>
                <a:ea typeface="Microsoft YaHei"/>
              </a:rPr>
              <a:t>StarRocks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60605" y="2818637"/>
            <a:ext cx="1321307" cy="315468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0" name="TextBox 49"/>
          <p:cNvSpPr txBox="1"/>
          <p:nvPr/>
        </p:nvSpPr>
        <p:spPr>
          <a:xfrm>
            <a:off x="260605" y="2818637"/>
            <a:ext cx="1321307" cy="3154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465">
                <a:solidFill>
                  <a:srgbClr val="475569"/>
                </a:solidFill>
                <a:ea typeface="Microsoft YaHei"/>
              </a:rPr>
              <a:t>Snowflake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650492" y="2818637"/>
            <a:ext cx="1321307" cy="315468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2" name="TextBox 51"/>
          <p:cNvSpPr txBox="1"/>
          <p:nvPr/>
        </p:nvSpPr>
        <p:spPr>
          <a:xfrm>
            <a:off x="1650492" y="2818637"/>
            <a:ext cx="1321307" cy="3154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465">
                <a:solidFill>
                  <a:srgbClr val="475569"/>
                </a:solidFill>
                <a:ea typeface="Microsoft YaHei"/>
              </a:rPr>
              <a:t>Amazon Redshift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040380" y="2818637"/>
            <a:ext cx="1321307" cy="315468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4" name="TextBox 53"/>
          <p:cNvSpPr txBox="1"/>
          <p:nvPr/>
        </p:nvSpPr>
        <p:spPr>
          <a:xfrm>
            <a:off x="3040380" y="2818637"/>
            <a:ext cx="1321307" cy="3154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465">
                <a:solidFill>
                  <a:srgbClr val="475569"/>
                </a:solidFill>
                <a:ea typeface="Microsoft YaHei"/>
              </a:rPr>
              <a:t>Cloudberry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601718" y="2029968"/>
            <a:ext cx="4389120" cy="1179576"/>
          </a:xfrm>
          <a:prstGeom prst="roundRect">
            <a:avLst>
              <a:gd name="adj" fmla="val 4069"/>
            </a:avLst>
          </a:prstGeom>
          <a:solidFill>
            <a:srgbClr val="ECFDF5"/>
          </a:solidFill>
          <a:ln w="15240">
            <a:solidFill>
              <a:srgbClr val="00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6" name="Rounded Rectangle 55"/>
          <p:cNvSpPr/>
          <p:nvPr/>
        </p:nvSpPr>
        <p:spPr>
          <a:xfrm>
            <a:off x="4601718" y="2029968"/>
            <a:ext cx="27432" cy="117957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7" name="TextBox 56"/>
          <p:cNvSpPr txBox="1"/>
          <p:nvPr/>
        </p:nvSpPr>
        <p:spPr>
          <a:xfrm>
            <a:off x="4711446" y="2098548"/>
            <a:ext cx="4169664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705" b="1">
                <a:solidFill>
                  <a:srgbClr val="0F172A"/>
                </a:solidFill>
                <a:ea typeface="Microsoft YaHei"/>
              </a:rPr>
              <a:t>数据湖与存储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11446" y="2269998"/>
            <a:ext cx="4169664" cy="1028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465" b="1">
                <a:solidFill>
                  <a:srgbClr val="059669"/>
                </a:solidFill>
                <a:ea typeface="Microsoft YaHei"/>
              </a:rPr>
              <a:t>Open Table · 对象存储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711446" y="2420874"/>
            <a:ext cx="1344168" cy="315468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60" name="TextBox 59"/>
          <p:cNvSpPr txBox="1"/>
          <p:nvPr/>
        </p:nvSpPr>
        <p:spPr>
          <a:xfrm>
            <a:off x="4711446" y="2420874"/>
            <a:ext cx="1344168" cy="3154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465">
                <a:solidFill>
                  <a:srgbClr val="475569"/>
                </a:solidFill>
                <a:ea typeface="Microsoft YaHei"/>
              </a:rPr>
              <a:t>Amazon S3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124194" y="2420874"/>
            <a:ext cx="1344168" cy="315468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62" name="TextBox 61"/>
          <p:cNvSpPr txBox="1"/>
          <p:nvPr/>
        </p:nvSpPr>
        <p:spPr>
          <a:xfrm>
            <a:off x="6124194" y="2420874"/>
            <a:ext cx="1344168" cy="3154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465">
                <a:solidFill>
                  <a:srgbClr val="475569"/>
                </a:solidFill>
                <a:ea typeface="Microsoft YaHei"/>
              </a:rPr>
              <a:t>Alibaba OSS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536942" y="2420874"/>
            <a:ext cx="1344168" cy="315468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64" name="TextBox 63"/>
          <p:cNvSpPr txBox="1"/>
          <p:nvPr/>
        </p:nvSpPr>
        <p:spPr>
          <a:xfrm>
            <a:off x="7536942" y="2420874"/>
            <a:ext cx="1344168" cy="3154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465">
                <a:solidFill>
                  <a:srgbClr val="475569"/>
                </a:solidFill>
                <a:ea typeface="Microsoft YaHei"/>
              </a:rPr>
              <a:t>HDFS / LocalFile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711446" y="2818637"/>
            <a:ext cx="1344168" cy="315468"/>
          </a:xfrm>
          <a:prstGeom prst="roundRect">
            <a:avLst>
              <a:gd name="adj" fmla="val 10869"/>
            </a:avLst>
          </a:prstGeom>
          <a:solidFill>
            <a:srgbClr val="ECFDF5"/>
          </a:solidFill>
          <a:ln w="15240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66" name="TextBox 65"/>
          <p:cNvSpPr txBox="1"/>
          <p:nvPr/>
        </p:nvSpPr>
        <p:spPr>
          <a:xfrm>
            <a:off x="4711446" y="2818637"/>
            <a:ext cx="1344168" cy="3154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465" b="1">
                <a:solidFill>
                  <a:srgbClr val="047857"/>
                </a:solidFill>
                <a:ea typeface="Microsoft YaHei"/>
              </a:rPr>
              <a:t>Apache Iceberg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124194" y="2818637"/>
            <a:ext cx="1344168" cy="315468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68" name="TextBox 67"/>
          <p:cNvSpPr txBox="1"/>
          <p:nvPr/>
        </p:nvSpPr>
        <p:spPr>
          <a:xfrm>
            <a:off x="6124194" y="2818637"/>
            <a:ext cx="1344168" cy="3154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465">
                <a:solidFill>
                  <a:srgbClr val="475569"/>
                </a:solidFill>
                <a:ea typeface="Microsoft YaHei"/>
              </a:rPr>
              <a:t>Delta Lake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536942" y="2818637"/>
            <a:ext cx="1344168" cy="315468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0" name="TextBox 69"/>
          <p:cNvSpPr txBox="1"/>
          <p:nvPr/>
        </p:nvSpPr>
        <p:spPr>
          <a:xfrm>
            <a:off x="7536942" y="2818637"/>
            <a:ext cx="1344168" cy="3154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465">
                <a:solidFill>
                  <a:srgbClr val="475569"/>
                </a:solidFill>
                <a:ea typeface="Microsoft YaHei"/>
              </a:rPr>
              <a:t>Apache Paimon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50876" y="3319272"/>
            <a:ext cx="8839962" cy="1385316"/>
          </a:xfrm>
          <a:prstGeom prst="roundRect">
            <a:avLst>
              <a:gd name="adj" fmla="val 3465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2" name="TextBox 71"/>
          <p:cNvSpPr txBox="1"/>
          <p:nvPr/>
        </p:nvSpPr>
        <p:spPr>
          <a:xfrm>
            <a:off x="260604" y="3387852"/>
            <a:ext cx="8572500" cy="1508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638" b="1">
                <a:solidFill>
                  <a:srgbClr val="0F172A"/>
                </a:solidFill>
                <a:ea typeface="Microsoft YaHei"/>
              </a:rPr>
              <a:t>其余连接器 · 全量约 200 个（节选）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60604" y="3593592"/>
            <a:ext cx="8572500" cy="2880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5000"/>
              </a:lnSpc>
            </a:pPr>
            <a:r>
              <a:rPr sz="700" err="1">
                <a:solidFill>
                  <a:srgbClr val="64748B"/>
                </a:solidFill>
                <a:ea typeface="Microsoft YaHei"/>
              </a:rPr>
              <a:t>数据库：MySQL</a:t>
            </a:r>
            <a:r>
              <a:rPr sz="700">
                <a:solidFill>
                  <a:srgbClr val="64748B"/>
                </a:solidFill>
                <a:ea typeface="Microsoft YaHei"/>
              </a:rPr>
              <a:t> · PostgreSQL · Oracle · SQL Server · </a:t>
            </a:r>
            <a:r>
              <a:rPr sz="700" err="1">
                <a:solidFill>
                  <a:srgbClr val="64748B"/>
                </a:solidFill>
                <a:ea typeface="Microsoft YaHei"/>
              </a:rPr>
              <a:t>TiDB</a:t>
            </a:r>
            <a:r>
              <a:rPr sz="700">
                <a:solidFill>
                  <a:srgbClr val="64748B"/>
                </a:solidFill>
                <a:ea typeface="Microsoft YaHei"/>
              </a:rPr>
              <a:t> · MariaDB · MongoDB · DynamoDB · Cassandra · HBase · Neo4j · DB2 · Greenplum · </a:t>
            </a:r>
            <a:r>
              <a:rPr sz="700" err="1">
                <a:solidFill>
                  <a:srgbClr val="64748B"/>
                </a:solidFill>
                <a:ea typeface="Microsoft YaHei"/>
              </a:rPr>
              <a:t>OceanBase</a:t>
            </a:r>
            <a:r>
              <a:rPr sz="700">
                <a:solidFill>
                  <a:srgbClr val="64748B"/>
                </a:solidFill>
                <a:ea typeface="Microsoft YaHei"/>
              </a:rPr>
              <a:t> · Redis · Aerospike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60604" y="3909060"/>
            <a:ext cx="8572500" cy="2880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5000"/>
              </a:lnSpc>
            </a:pPr>
            <a:r>
              <a:rPr sz="700" err="1">
                <a:solidFill>
                  <a:srgbClr val="64748B"/>
                </a:solidFill>
                <a:ea typeface="Microsoft YaHei"/>
              </a:rPr>
              <a:t>消息</a:t>
            </a:r>
            <a:r>
              <a:rPr sz="700">
                <a:solidFill>
                  <a:srgbClr val="64748B"/>
                </a:solidFill>
                <a:ea typeface="Microsoft YaHei"/>
              </a:rPr>
              <a:t> / </a:t>
            </a:r>
            <a:r>
              <a:rPr sz="700" err="1">
                <a:solidFill>
                  <a:srgbClr val="64748B"/>
                </a:solidFill>
                <a:ea typeface="Microsoft YaHei"/>
              </a:rPr>
              <a:t>检索</a:t>
            </a:r>
            <a:r>
              <a:rPr sz="700">
                <a:solidFill>
                  <a:srgbClr val="64748B"/>
                </a:solidFill>
                <a:ea typeface="Microsoft YaHei"/>
              </a:rPr>
              <a:t> / </a:t>
            </a:r>
            <a:r>
              <a:rPr sz="700" err="1">
                <a:solidFill>
                  <a:srgbClr val="64748B"/>
                </a:solidFill>
                <a:ea typeface="Microsoft YaHei"/>
              </a:rPr>
              <a:t>向量：Kafka</a:t>
            </a:r>
            <a:r>
              <a:rPr sz="700">
                <a:solidFill>
                  <a:srgbClr val="64748B"/>
                </a:solidFill>
                <a:ea typeface="Microsoft YaHei"/>
              </a:rPr>
              <a:t> · Pulsar · RabbitMQ · </a:t>
            </a:r>
            <a:r>
              <a:rPr sz="700" err="1">
                <a:solidFill>
                  <a:srgbClr val="64748B"/>
                </a:solidFill>
                <a:ea typeface="Microsoft YaHei"/>
              </a:rPr>
              <a:t>RocketMQ</a:t>
            </a:r>
            <a:r>
              <a:rPr sz="700">
                <a:solidFill>
                  <a:srgbClr val="64748B"/>
                </a:solidFill>
                <a:ea typeface="Microsoft YaHei"/>
              </a:rPr>
              <a:t> · ActiveMQ · SQS · Elasticsearch · Druid · </a:t>
            </a:r>
            <a:r>
              <a:rPr sz="700" err="1">
                <a:solidFill>
                  <a:srgbClr val="64748B"/>
                </a:solidFill>
                <a:ea typeface="Microsoft YaHei"/>
              </a:rPr>
              <a:t>Typesense</a:t>
            </a:r>
            <a:r>
              <a:rPr sz="700">
                <a:solidFill>
                  <a:srgbClr val="64748B"/>
                </a:solidFill>
                <a:ea typeface="Microsoft YaHei"/>
              </a:rPr>
              <a:t> · Milvus · </a:t>
            </a:r>
            <a:r>
              <a:rPr sz="700" err="1">
                <a:solidFill>
                  <a:srgbClr val="64748B"/>
                </a:solidFill>
                <a:ea typeface="Microsoft YaHei"/>
              </a:rPr>
              <a:t>Qdrant</a:t>
            </a:r>
            <a:r>
              <a:rPr sz="700">
                <a:solidFill>
                  <a:srgbClr val="64748B"/>
                </a:solidFill>
                <a:ea typeface="Microsoft YaHei"/>
              </a:rPr>
              <a:t> · Lance · </a:t>
            </a:r>
            <a:r>
              <a:rPr sz="700" err="1">
                <a:solidFill>
                  <a:srgbClr val="64748B"/>
                </a:solidFill>
                <a:ea typeface="Microsoft YaHei"/>
              </a:rPr>
              <a:t>HugeGraph</a:t>
            </a:r>
            <a:r>
              <a:rPr sz="700">
                <a:solidFill>
                  <a:srgbClr val="64748B"/>
                </a:solidFill>
                <a:ea typeface="Microsoft YaHei"/>
              </a:rPr>
              <a:t> · </a:t>
            </a:r>
            <a:r>
              <a:rPr sz="700" err="1">
                <a:solidFill>
                  <a:srgbClr val="64748B"/>
                </a:solidFill>
                <a:ea typeface="Microsoft YaHei"/>
              </a:rPr>
              <a:t>InfluxDB</a:t>
            </a:r>
            <a:r>
              <a:rPr sz="700">
                <a:solidFill>
                  <a:srgbClr val="64748B"/>
                </a:solidFill>
                <a:ea typeface="Microsoft YaHei"/>
              </a:rPr>
              <a:t> · </a:t>
            </a:r>
            <a:r>
              <a:rPr sz="700" err="1">
                <a:solidFill>
                  <a:srgbClr val="64748B"/>
                </a:solidFill>
                <a:ea typeface="Microsoft YaHei"/>
              </a:rPr>
              <a:t>IoTDB</a:t>
            </a:r>
            <a:r>
              <a:rPr sz="700">
                <a:solidFill>
                  <a:srgbClr val="64748B"/>
                </a:solidFill>
                <a:ea typeface="Microsoft YaHei"/>
              </a:rPr>
              <a:t> · </a:t>
            </a:r>
            <a:r>
              <a:rPr sz="700" err="1">
                <a:solidFill>
                  <a:srgbClr val="64748B"/>
                </a:solidFill>
                <a:ea typeface="Microsoft YaHei"/>
              </a:rPr>
              <a:t>TDengine</a:t>
            </a:r>
            <a:endParaRPr sz="700">
              <a:solidFill>
                <a:srgbClr val="64748B"/>
              </a:solidFill>
              <a:ea typeface="Microsoft YaHei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260604" y="4224528"/>
            <a:ext cx="8572500" cy="2880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5000"/>
              </a:lnSpc>
            </a:pPr>
            <a:r>
              <a:rPr sz="700" err="1">
                <a:solidFill>
                  <a:srgbClr val="64748B"/>
                </a:solidFill>
                <a:ea typeface="Microsoft YaHei"/>
              </a:rPr>
              <a:t>文件</a:t>
            </a:r>
            <a:r>
              <a:rPr sz="700">
                <a:solidFill>
                  <a:srgbClr val="64748B"/>
                </a:solidFill>
                <a:ea typeface="Microsoft YaHei"/>
              </a:rPr>
              <a:t> / </a:t>
            </a:r>
            <a:r>
              <a:rPr sz="700" err="1">
                <a:solidFill>
                  <a:srgbClr val="64748B"/>
                </a:solidFill>
                <a:ea typeface="Microsoft YaHei"/>
              </a:rPr>
              <a:t>协作</a:t>
            </a:r>
            <a:r>
              <a:rPr sz="700">
                <a:solidFill>
                  <a:srgbClr val="64748B"/>
                </a:solidFill>
                <a:ea typeface="Microsoft YaHei"/>
              </a:rPr>
              <a:t> / </a:t>
            </a:r>
            <a:r>
              <a:rPr sz="700" err="1">
                <a:solidFill>
                  <a:srgbClr val="64748B"/>
                </a:solidFill>
                <a:ea typeface="Microsoft YaHei"/>
              </a:rPr>
              <a:t>其他：FTP</a:t>
            </a:r>
            <a:r>
              <a:rPr sz="700">
                <a:solidFill>
                  <a:srgbClr val="64748B"/>
                </a:solidFill>
                <a:ea typeface="Microsoft YaHei"/>
              </a:rPr>
              <a:t> · SFTP · HTTP · </a:t>
            </a:r>
            <a:r>
              <a:rPr sz="700" err="1">
                <a:solidFill>
                  <a:srgbClr val="64748B"/>
                </a:solidFill>
                <a:ea typeface="Microsoft YaHei"/>
              </a:rPr>
              <a:t>GraphQL</a:t>
            </a:r>
            <a:r>
              <a:rPr sz="700">
                <a:solidFill>
                  <a:srgbClr val="64748B"/>
                </a:solidFill>
                <a:ea typeface="Microsoft YaHei"/>
              </a:rPr>
              <a:t> · Google Sheets · </a:t>
            </a:r>
            <a:r>
              <a:rPr sz="700" err="1">
                <a:solidFill>
                  <a:srgbClr val="64748B"/>
                </a:solidFill>
                <a:ea typeface="Microsoft YaHei"/>
              </a:rPr>
              <a:t>Firestore</a:t>
            </a:r>
            <a:r>
              <a:rPr sz="700">
                <a:solidFill>
                  <a:srgbClr val="64748B"/>
                </a:solidFill>
                <a:ea typeface="Microsoft YaHei"/>
              </a:rPr>
              <a:t> · Slack · </a:t>
            </a:r>
            <a:r>
              <a:rPr sz="700" err="1">
                <a:solidFill>
                  <a:srgbClr val="64748B"/>
                </a:solidFill>
                <a:ea typeface="Microsoft YaHei"/>
              </a:rPr>
              <a:t>DingTalk</a:t>
            </a:r>
            <a:r>
              <a:rPr sz="700">
                <a:solidFill>
                  <a:srgbClr val="64748B"/>
                </a:solidFill>
                <a:ea typeface="Microsoft YaHei"/>
              </a:rPr>
              <a:t> · </a:t>
            </a:r>
            <a:r>
              <a:rPr sz="700" err="1">
                <a:solidFill>
                  <a:srgbClr val="64748B"/>
                </a:solidFill>
                <a:ea typeface="Microsoft YaHei"/>
              </a:rPr>
              <a:t>Feishu</a:t>
            </a:r>
            <a:r>
              <a:rPr sz="700">
                <a:solidFill>
                  <a:srgbClr val="64748B"/>
                </a:solidFill>
                <a:ea typeface="Microsoft YaHei"/>
              </a:rPr>
              <a:t> · Email · </a:t>
            </a:r>
            <a:r>
              <a:rPr sz="700" err="1">
                <a:solidFill>
                  <a:srgbClr val="64748B"/>
                </a:solidFill>
                <a:ea typeface="Microsoft YaHei"/>
              </a:rPr>
              <a:t>MaxCompute</a:t>
            </a:r>
            <a:r>
              <a:rPr sz="700">
                <a:solidFill>
                  <a:srgbClr val="64748B"/>
                </a:solidFill>
                <a:ea typeface="Microsoft YaHei"/>
              </a:rPr>
              <a:t> · Prometheus · SLS · Sentry · Web3j …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60604" y="89154"/>
            <a:ext cx="6172200" cy="2331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88" b="1" i="0" u="none" strike="noStrike" kern="1200" cap="none" spc="0" normalizeH="0" baseline="0" noProof="0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Azure </a:t>
            </a:r>
            <a:r>
              <a:rPr kumimoji="0" sz="1388" b="1" i="0" u="none" strike="noStrike" kern="1200" cap="none" spc="0" normalizeH="0" baseline="0" noProof="0" err="1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基础设施部署架构</a:t>
            </a:r>
            <a:endParaRPr kumimoji="0" sz="1388" b="1" i="0" u="none" strike="noStrike" kern="1200" cap="none" spc="0" normalizeH="0" baseline="0" noProof="0">
              <a:ln>
                <a:noFill/>
              </a:ln>
              <a:solidFill>
                <a:srgbClr val="009CDE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50876" y="452628"/>
            <a:ext cx="1385316" cy="1330452"/>
          </a:xfrm>
          <a:prstGeom prst="roundRect">
            <a:avLst>
              <a:gd name="adj" fmla="val 3608"/>
            </a:avLst>
          </a:prstGeom>
          <a:solidFill>
            <a:srgbClr val="FFFFFF"/>
          </a:solidFill>
          <a:ln w="1524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46888" y="521208"/>
            <a:ext cx="123444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75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技术栈</a:t>
            </a:r>
          </a:p>
        </p:txBody>
      </p:sp>
      <p:sp>
        <p:nvSpPr>
          <p:cNvPr id="6" name="Rectangle 5"/>
          <p:cNvSpPr/>
          <p:nvPr/>
        </p:nvSpPr>
        <p:spPr>
          <a:xfrm>
            <a:off x="246888" y="678942"/>
            <a:ext cx="205740" cy="17145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6888" y="754380"/>
            <a:ext cx="1220724" cy="11658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10" b="1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1  </a:t>
            </a:r>
            <a:r>
              <a:rPr kumimoji="0" sz="510" b="0" i="0" u="none" strike="noStrike" kern="1200" cap="none" spc="0" normalizeH="0" baseline="0" noProof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前端</a:t>
            </a:r>
            <a:r>
              <a:rPr kumimoji="0" sz="510" b="0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· </a:t>
            </a:r>
            <a:r>
              <a:rPr kumimoji="0" sz="510" b="0" i="0" u="none" strike="noStrike" kern="1200" cap="none" spc="0" normalizeH="0" baseline="0" noProof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配置化查询平台</a:t>
            </a:r>
            <a:r>
              <a:rPr kumimoji="0" sz="510" b="0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React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" y="879881"/>
            <a:ext cx="1220724" cy="11658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10" b="1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2  </a:t>
            </a:r>
            <a:r>
              <a:rPr kumimoji="0" sz="510" b="0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后端 · .NET 10（AKS 容器化）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" y="1005383"/>
            <a:ext cx="1220724" cy="11658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10" b="1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3  </a:t>
            </a:r>
            <a:r>
              <a:rPr kumimoji="0" sz="510" b="0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抽取 · Apache SeaTunnel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" y="1130884"/>
            <a:ext cx="1220724" cy="11658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10" b="1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4  </a:t>
            </a:r>
            <a:r>
              <a:rPr kumimoji="0" sz="510" b="0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编排 · Azure Data Factory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" y="1256385"/>
            <a:ext cx="1220724" cy="11658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10" b="1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5  </a:t>
            </a:r>
            <a:r>
              <a:rPr kumimoji="0" sz="510" b="0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表格式 · Apache Iceberg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" y="1381887"/>
            <a:ext cx="1220724" cy="11658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10" b="1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6  </a:t>
            </a:r>
            <a:r>
              <a:rPr kumimoji="0" sz="510" b="0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引擎 · Databricks Serverless（读写）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" y="1507388"/>
            <a:ext cx="1220724" cy="11658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10" b="1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7  </a:t>
            </a:r>
            <a:r>
              <a:rPr kumimoji="0" sz="510" b="0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治理 · Unity Catalog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" y="1632890"/>
            <a:ext cx="1220724" cy="11658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10" b="1" i="0" u="none" strike="noStrike" kern="1200" cap="none" spc="0" normalizeH="0" baseline="0" noProof="0">
                <a:ln>
                  <a:noFill/>
                </a:ln>
                <a:solidFill>
                  <a:srgbClr val="D97706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8  </a:t>
            </a:r>
            <a:r>
              <a:rPr kumimoji="0" sz="510" b="1" i="0" u="none" strike="noStrike" kern="1200" cap="none" spc="0" normalizeH="0" baseline="0" noProof="0" err="1">
                <a:ln>
                  <a:noFill/>
                </a:ln>
                <a:solidFill>
                  <a:srgbClr val="92400E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附件迁移</a:t>
            </a:r>
            <a:r>
              <a:rPr kumimoji="0" sz="510" b="1" i="0" u="none" strike="noStrike" kern="1200" cap="none" spc="0" normalizeH="0" baseline="0" noProof="0">
                <a:ln>
                  <a:noFill/>
                </a:ln>
                <a:solidFill>
                  <a:srgbClr val="92400E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· Azure Storage Mover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0876" y="1865376"/>
            <a:ext cx="1385316" cy="1357884"/>
          </a:xfrm>
          <a:prstGeom prst="roundRect">
            <a:avLst>
              <a:gd name="adj" fmla="val 3535"/>
            </a:avLst>
          </a:prstGeom>
          <a:solidFill>
            <a:srgbClr val="ECFDF5"/>
          </a:solidFill>
          <a:ln w="1524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46888" y="1920240"/>
            <a:ext cx="123444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75" b="1" i="0" u="none" strike="noStrike" kern="1200" cap="none" spc="0" normalizeH="0" baseline="0" noProof="0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终端用户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3172" y="2098548"/>
            <a:ext cx="1220724" cy="288036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53746" y="2098548"/>
            <a:ext cx="1179576" cy="2880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70" b="0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业务查询员</a:t>
            </a:r>
          </a:p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65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查本系统归档数据</a:t>
            </a:r>
          </a:p>
        </p:txBody>
      </p:sp>
      <p:sp>
        <p:nvSpPr>
          <p:cNvPr id="19" name="Oval 18"/>
          <p:cNvSpPr/>
          <p:nvPr/>
        </p:nvSpPr>
        <p:spPr>
          <a:xfrm>
            <a:off x="336248" y="2190103"/>
            <a:ext cx="40736" cy="40736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21125" y="2237628"/>
            <a:ext cx="70980" cy="46292"/>
          </a:xfrm>
          <a:prstGeom prst="roundRect">
            <a:avLst>
              <a:gd name="adj" fmla="val 40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233172" y="2441448"/>
            <a:ext cx="1220724" cy="288036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53746" y="2441448"/>
            <a:ext cx="1179576" cy="2880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70" b="0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审计 / 合规岗</a:t>
            </a:r>
          </a:p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65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跨系统检索与举证</a:t>
            </a:r>
          </a:p>
        </p:txBody>
      </p:sp>
      <p:sp>
        <p:nvSpPr>
          <p:cNvPr id="23" name="Oval 22"/>
          <p:cNvSpPr/>
          <p:nvPr/>
        </p:nvSpPr>
        <p:spPr>
          <a:xfrm>
            <a:off x="336248" y="2533003"/>
            <a:ext cx="40736" cy="40736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21125" y="2580528"/>
            <a:ext cx="70980" cy="46292"/>
          </a:xfrm>
          <a:prstGeom prst="roundRect">
            <a:avLst>
              <a:gd name="adj" fmla="val 40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233172" y="2784348"/>
            <a:ext cx="1220724" cy="288036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53746" y="2784348"/>
            <a:ext cx="1179576" cy="2880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70" b="0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平台运维</a:t>
            </a:r>
          </a:p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65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监控 · 销毁作业值守</a:t>
            </a:r>
          </a:p>
        </p:txBody>
      </p:sp>
      <p:sp>
        <p:nvSpPr>
          <p:cNvPr id="27" name="Oval 26"/>
          <p:cNvSpPr/>
          <p:nvPr/>
        </p:nvSpPr>
        <p:spPr>
          <a:xfrm>
            <a:off x="336248" y="2875903"/>
            <a:ext cx="40736" cy="40736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321125" y="2923428"/>
            <a:ext cx="70980" cy="46292"/>
          </a:xfrm>
          <a:prstGeom prst="roundRect">
            <a:avLst>
              <a:gd name="adj" fmla="val 40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05740" y="3086100"/>
            <a:ext cx="1275588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65" b="1" i="0" u="none" strike="noStrike" kern="1200" cap="none" spc="0" normalizeH="0" baseline="0" noProof="0">
                <a:ln>
                  <a:noFill/>
                </a:ln>
                <a:solidFill>
                  <a:srgbClr val="0596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浏览器 HTTPS 443 · Entra ID 单点登录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32204" y="452628"/>
            <a:ext cx="4265676" cy="109728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524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741932" y="507492"/>
            <a:ext cx="301752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75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源系统</a:t>
            </a:r>
            <a:r>
              <a:rPr kumimoji="0" sz="67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· 15 </a:t>
            </a:r>
            <a:r>
              <a:rPr kumimoji="0" sz="675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套待退役业务系统</a:t>
            </a:r>
            <a:endParaRPr kumimoji="0" sz="675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1741932" y="685800"/>
            <a:ext cx="1275588" cy="3429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762506" y="685800"/>
            <a:ext cx="1234440" cy="342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85" b="0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Oracle</a:t>
            </a:r>
          </a:p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72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TCP 1521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64175" y="832492"/>
            <a:ext cx="84696" cy="40394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1864175" y="818811"/>
            <a:ext cx="84696" cy="18242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1864175" y="872887"/>
            <a:ext cx="84696" cy="182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3113532" y="685800"/>
            <a:ext cx="1275588" cy="3429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134106" y="685800"/>
            <a:ext cx="1234440" cy="342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85" b="0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MySQL</a:t>
            </a:r>
          </a:p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72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TCP 3306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35775" y="832492"/>
            <a:ext cx="84696" cy="40394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3235775" y="818811"/>
            <a:ext cx="84696" cy="18242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3235775" y="872887"/>
            <a:ext cx="84696" cy="182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4485132" y="685800"/>
            <a:ext cx="1275588" cy="3429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505706" y="685800"/>
            <a:ext cx="1234440" cy="342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85" b="0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DB2 / 其他</a:t>
            </a:r>
          </a:p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72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TCP 50000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607375" y="832492"/>
            <a:ext cx="84696" cy="40394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46" name="Oval 45"/>
          <p:cNvSpPr/>
          <p:nvPr/>
        </p:nvSpPr>
        <p:spPr>
          <a:xfrm>
            <a:off x="4607375" y="818811"/>
            <a:ext cx="84696" cy="18242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4607375" y="872887"/>
            <a:ext cx="84696" cy="182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1741932" y="1110997"/>
            <a:ext cx="1988820" cy="294893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762506" y="1110997"/>
            <a:ext cx="1954530" cy="29489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55" b="1" i="0" u="none" strike="noStrike" kern="1200" cap="none" spc="0" normalizeH="0" baseline="0" noProof="0" err="1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结构化抽取</a:t>
            </a:r>
            <a:r>
              <a:rPr kumimoji="0" sz="555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· </a:t>
            </a:r>
            <a:r>
              <a:rPr kumimoji="0" sz="555" b="1" i="0" u="none" strike="noStrike" kern="1200" cap="none" spc="0" normalizeH="0" baseline="0" noProof="0">
                <a:ln>
                  <a:noFill/>
                </a:ln>
                <a:solidFill>
                  <a:srgbClr val="EA580C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Apache </a:t>
            </a:r>
            <a:r>
              <a:rPr kumimoji="0" sz="555" b="1" i="0" u="none" strike="noStrike" kern="1200" cap="none" spc="0" normalizeH="0" baseline="0" noProof="0" err="1">
                <a:ln>
                  <a:noFill/>
                </a:ln>
                <a:solidFill>
                  <a:srgbClr val="EA580C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SeaTunnel</a:t>
            </a:r>
            <a:endParaRPr kumimoji="0" sz="555" b="1" i="0" u="none" strike="noStrike" kern="1200" cap="none" spc="0" normalizeH="0" baseline="0" noProof="0">
              <a:ln>
                <a:noFill/>
              </a:ln>
              <a:solidFill>
                <a:srgbClr val="EA580C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5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仅读权限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· 按勾选的表抽取（10 选 5）· ADF </a:t>
            </a:r>
            <a:r>
              <a:rPr kumimoji="0" sz="45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编排</a:t>
            </a:r>
            <a:endParaRPr kumimoji="0" sz="4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3813048" y="1110997"/>
            <a:ext cx="1947672" cy="294893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778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833622" y="1110997"/>
            <a:ext cx="1906524" cy="29489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55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附件迁移</a:t>
            </a:r>
            <a:r>
              <a:rPr kumimoji="0" sz="55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·</a:t>
            </a:r>
            <a:r>
              <a:rPr kumimoji="0" sz="555" b="1" i="0" u="none" strike="noStrike" kern="1200" cap="none" spc="0" normalizeH="0" baseline="0" noProof="0">
                <a:ln>
                  <a:noFill/>
                </a:ln>
                <a:solidFill>
                  <a:srgbClr val="92400E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</a:t>
            </a:r>
            <a:r>
              <a:rPr kumimoji="0" sz="555" b="1" i="0" u="none" strike="noStrike" kern="1200" cap="none" spc="0" normalizeH="0" baseline="0" noProof="0">
                <a:ln>
                  <a:noFill/>
                </a:ln>
                <a:solidFill>
                  <a:srgbClr val="D97706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Storage Mover</a:t>
            </a:r>
          </a:p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读 NFS / S3 / Blob </a:t>
            </a:r>
            <a:r>
              <a:rPr kumimoji="0" sz="45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附件源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· </a:t>
            </a:r>
            <a:r>
              <a:rPr kumimoji="0" sz="45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服务免费</a:t>
            </a:r>
            <a:endParaRPr kumimoji="0" sz="4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741932" y="1440180"/>
            <a:ext cx="4046220" cy="960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65" b="1" i="0" u="none" strike="noStrike" kern="1200" cap="none" spc="0" normalizeH="0" baseline="0" noProof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跨机房链路：ExpressRoute</a:t>
            </a:r>
            <a:r>
              <a:rPr kumimoji="0" sz="465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/ </a:t>
            </a:r>
            <a:r>
              <a:rPr kumimoji="0" sz="465" b="1" i="0" u="none" strike="noStrike" kern="1200" cap="none" spc="0" normalizeH="0" baseline="0" noProof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站点到站点</a:t>
            </a:r>
            <a:r>
              <a:rPr kumimoji="0" sz="465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VPN · </a:t>
            </a:r>
            <a:r>
              <a:rPr kumimoji="0" sz="465" b="1" i="0" u="none" strike="noStrike" kern="1200" cap="none" spc="0" normalizeH="0" baseline="0" noProof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源库防火墙放行</a:t>
            </a:r>
            <a:r>
              <a:rPr kumimoji="0" sz="465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NAT </a:t>
            </a:r>
            <a:r>
              <a:rPr kumimoji="0" sz="465" b="1" i="0" u="none" strike="noStrike" kern="1200" cap="none" spc="0" normalizeH="0" baseline="0" noProof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固定出口</a:t>
            </a:r>
            <a:r>
              <a:rPr kumimoji="0" sz="465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IP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993892" y="452628"/>
            <a:ext cx="1193292" cy="1097280"/>
          </a:xfrm>
          <a:prstGeom prst="roundRect">
            <a:avLst>
              <a:gd name="adj" fmla="val 4375"/>
            </a:avLst>
          </a:prstGeom>
          <a:solidFill>
            <a:srgbClr val="F8FAFC"/>
          </a:solidFill>
          <a:ln w="12700">
            <a:solidFill>
              <a:schemeClr val="tx2">
                <a:lumMod val="60000"/>
                <a:lumOff val="40000"/>
              </a:schemeClr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076187" y="507492"/>
            <a:ext cx="1028700" cy="1234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网络连通</a:t>
            </a:r>
            <a:endParaRPr kumimoji="0" sz="6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076187" y="672084"/>
            <a:ext cx="1042416" cy="1920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· </a:t>
            </a: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ExpressRoute / S2S VPN 专线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76187" y="870966"/>
            <a:ext cx="1042416" cy="1920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· </a:t>
            </a: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NAT </a:t>
            </a:r>
            <a:r>
              <a:rPr kumimoji="0" sz="480" b="0" i="0" u="none" strike="noStrike" kern="1200" cap="none" spc="0" normalizeH="0" baseline="0" noProof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固定出口</a:t>
            </a: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IP </a:t>
            </a:r>
            <a:r>
              <a:rPr kumimoji="0" sz="480" b="0" i="0" u="none" strike="noStrike" kern="1200" cap="none" spc="0" normalizeH="0" baseline="0" noProof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白名单</a:t>
            </a:r>
            <a:endParaRPr kumimoji="0" sz="480" b="0" i="0" u="none" strike="noStrike" kern="1200" cap="none" spc="0" normalizeH="0" baseline="0" noProof="0">
              <a:ln>
                <a:noFill/>
              </a:ln>
              <a:solidFill>
                <a:srgbClr val="475569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076187" y="1069848"/>
            <a:ext cx="1042416" cy="1920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· </a:t>
            </a: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PaaS </a:t>
            </a:r>
            <a:r>
              <a:rPr kumimoji="0" sz="480" b="0" i="0" u="none" strike="noStrike" kern="1200" cap="none" spc="0" normalizeH="0" baseline="0" noProof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全私有端点</a:t>
            </a: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· </a:t>
            </a:r>
            <a:r>
              <a:rPr kumimoji="0" sz="480" b="0" i="0" u="none" strike="noStrike" kern="1200" cap="none" spc="0" normalizeH="0" baseline="0" noProof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禁公网</a:t>
            </a:r>
            <a:endParaRPr kumimoji="0" sz="480" b="0" i="0" u="none" strike="noStrike" kern="1200" cap="none" spc="0" normalizeH="0" baseline="0" noProof="0">
              <a:ln>
                <a:noFill/>
              </a:ln>
              <a:solidFill>
                <a:srgbClr val="475569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076187" y="1268729"/>
            <a:ext cx="1042416" cy="1920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· </a:t>
            </a: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WAF + App Gateway </a:t>
            </a:r>
            <a:r>
              <a:rPr kumimoji="0" sz="480" b="0" i="0" u="none" strike="noStrike" kern="1200" cap="none" spc="0" normalizeH="0" baseline="0" noProof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收敛入口</a:t>
            </a:r>
            <a:endParaRPr kumimoji="0" sz="480" b="0" i="0" u="none" strike="noStrike" kern="1200" cap="none" spc="0" normalizeH="0" baseline="0" noProof="0">
              <a:ln>
                <a:noFill/>
              </a:ln>
              <a:solidFill>
                <a:srgbClr val="475569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7269480" y="452628"/>
            <a:ext cx="1728216" cy="2770632"/>
          </a:xfrm>
          <a:prstGeom prst="roundRect">
            <a:avLst>
              <a:gd name="adj" fmla="val 3174"/>
            </a:avLst>
          </a:prstGeom>
          <a:solidFill>
            <a:srgbClr val="FAF9FF"/>
          </a:solidFill>
          <a:ln w="17780">
            <a:solidFill>
              <a:srgbClr val="7C3AE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7365492" y="521208"/>
            <a:ext cx="157734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13" b="1" i="0" u="none" strike="noStrike" kern="1200" cap="none" spc="0" normalizeH="0" baseline="0" noProof="0">
                <a:ln>
                  <a:noFill/>
                </a:ln>
                <a:solidFill>
                  <a:srgbClr val="7C3AED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Databricks 托管平面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65492" y="665226"/>
            <a:ext cx="1577340" cy="1028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65" b="1" i="0" u="none" strike="noStrike" kern="1200" cap="none" spc="0" normalizeH="0" baseline="0" noProof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★ 不在你的 VNet 内 · 运行于 Databricks 账户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365492" y="809244"/>
            <a:ext cx="1536192" cy="507492"/>
          </a:xfrm>
          <a:prstGeom prst="roundRect">
            <a:avLst>
              <a:gd name="adj" fmla="val 6756"/>
            </a:avLst>
          </a:prstGeom>
          <a:solidFill>
            <a:srgbClr val="FFFFFF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63" name="Oval 62"/>
          <p:cNvSpPr/>
          <p:nvPr/>
        </p:nvSpPr>
        <p:spPr>
          <a:xfrm>
            <a:off x="7462190" y="889825"/>
            <a:ext cx="53492" cy="385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64" name="Oval 63"/>
          <p:cNvSpPr/>
          <p:nvPr/>
        </p:nvSpPr>
        <p:spPr>
          <a:xfrm>
            <a:off x="7450360" y="900112"/>
            <a:ext cx="36005" cy="2674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65" name="Oval 64"/>
          <p:cNvSpPr/>
          <p:nvPr/>
        </p:nvSpPr>
        <p:spPr>
          <a:xfrm>
            <a:off x="7491508" y="895997"/>
            <a:ext cx="33947" cy="298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7406640" y="850392"/>
            <a:ext cx="1453896" cy="1028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70" b="1" i="0" u="none" strike="noStrike" kern="1200" cap="none" spc="0" normalizeH="0" baseline="0" noProof="0">
                <a:ln>
                  <a:noFill/>
                </a:ln>
                <a:solidFill>
                  <a:srgbClr val="6D28D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控制平面 Control Plane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406640" y="1001268"/>
            <a:ext cx="1453896" cy="1028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65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Web UI · 作业调度 · 无状态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06640" y="1121283"/>
            <a:ext cx="1453896" cy="1028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65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Unity Catalog 元数据服务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365492" y="1364742"/>
            <a:ext cx="1536192" cy="507492"/>
          </a:xfrm>
          <a:prstGeom prst="roundRect">
            <a:avLst>
              <a:gd name="adj" fmla="val 6756"/>
            </a:avLst>
          </a:prstGeom>
          <a:solidFill>
            <a:srgbClr val="F5F3FF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7462190" y="1445323"/>
            <a:ext cx="53492" cy="385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7450360" y="1455611"/>
            <a:ext cx="36005" cy="2674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72" name="Oval 71"/>
          <p:cNvSpPr/>
          <p:nvPr/>
        </p:nvSpPr>
        <p:spPr>
          <a:xfrm>
            <a:off x="7491508" y="1451495"/>
            <a:ext cx="33947" cy="298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7406640" y="1405889"/>
            <a:ext cx="1453896" cy="1028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70" b="1" i="0" u="none" strike="noStrike" kern="1200" cap="none" spc="0" normalizeH="0" baseline="0" noProof="0">
                <a:ln>
                  <a:noFill/>
                </a:ln>
                <a:solidFill>
                  <a:srgbClr val="6D28D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Serverless</a:t>
            </a:r>
            <a:r>
              <a:rPr kumimoji="0" lang="en-US" sz="570" b="1" i="0" u="none" strike="noStrike" kern="1200" cap="none" spc="0" normalizeH="0" baseline="0" noProof="0">
                <a:ln>
                  <a:noFill/>
                </a:ln>
                <a:solidFill>
                  <a:srgbClr val="6D28D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</a:t>
            </a:r>
            <a:r>
              <a:rPr kumimoji="0" lang="en-US" altLang="zh-CN" sz="570" b="1" i="0" u="none" strike="noStrike" kern="1200" cap="none" spc="0" normalizeH="0" baseline="0" noProof="0">
                <a:ln>
                  <a:noFill/>
                </a:ln>
                <a:solidFill>
                  <a:srgbClr val="6D28D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SQL Warehouse</a:t>
            </a:r>
            <a:endParaRPr kumimoji="0" sz="570" b="1" i="0" u="none" strike="noStrike" kern="1200" cap="none" spc="0" normalizeH="0" baseline="0" noProof="0">
              <a:ln>
                <a:noFill/>
              </a:ln>
              <a:solidFill>
                <a:srgbClr val="6D28D9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7406640" y="1556766"/>
            <a:ext cx="1453896" cy="1028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65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读侧查询 · X-Small 6 DBU/h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06640" y="1676781"/>
            <a:ext cx="1453896" cy="1028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65" b="1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空闲自动缩到 0 · 零运维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365492" y="1920240"/>
            <a:ext cx="1536192" cy="507492"/>
          </a:xfrm>
          <a:prstGeom prst="roundRect">
            <a:avLst>
              <a:gd name="adj" fmla="val 6756"/>
            </a:avLst>
          </a:prstGeom>
          <a:solidFill>
            <a:srgbClr val="FFFFFF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77" name="Oval 76"/>
          <p:cNvSpPr/>
          <p:nvPr/>
        </p:nvSpPr>
        <p:spPr>
          <a:xfrm>
            <a:off x="7462190" y="2000821"/>
            <a:ext cx="53492" cy="385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78" name="Oval 77"/>
          <p:cNvSpPr/>
          <p:nvPr/>
        </p:nvSpPr>
        <p:spPr>
          <a:xfrm>
            <a:off x="7450360" y="2011109"/>
            <a:ext cx="36005" cy="2674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79" name="Oval 78"/>
          <p:cNvSpPr/>
          <p:nvPr/>
        </p:nvSpPr>
        <p:spPr>
          <a:xfrm>
            <a:off x="7491508" y="2006993"/>
            <a:ext cx="33947" cy="298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7406640" y="1961388"/>
            <a:ext cx="1453896" cy="1028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70" b="1" i="0" u="none" strike="noStrike" kern="1200" cap="none" spc="0" normalizeH="0" baseline="0" noProof="0">
                <a:ln>
                  <a:noFill/>
                </a:ln>
                <a:solidFill>
                  <a:srgbClr val="6D28D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Serverless</a:t>
            </a:r>
            <a:r>
              <a:rPr kumimoji="0" lang="en-US" sz="570" b="1" i="0" u="none" strike="noStrike" kern="1200" cap="none" spc="0" normalizeH="0" baseline="0" noProof="0">
                <a:ln>
                  <a:noFill/>
                </a:ln>
                <a:solidFill>
                  <a:srgbClr val="6D28D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</a:t>
            </a:r>
            <a:r>
              <a:rPr kumimoji="0" lang="en-US" altLang="zh-CN" sz="570" b="1" i="0" u="none" strike="noStrike" kern="1200" cap="none" spc="0" normalizeH="0" baseline="0" noProof="0" err="1">
                <a:ln>
                  <a:noFill/>
                </a:ln>
                <a:solidFill>
                  <a:srgbClr val="6D28D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Lakeflow</a:t>
            </a:r>
            <a:endParaRPr kumimoji="0" sz="570" b="1" i="0" u="none" strike="noStrike" kern="1200" cap="none" spc="0" normalizeH="0" baseline="0" noProof="0">
              <a:ln>
                <a:noFill/>
              </a:ln>
              <a:solidFill>
                <a:srgbClr val="6D28D9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7406640" y="2112264"/>
            <a:ext cx="1453896" cy="1028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65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写侧 ETL：RAW→CURATED→LAKE→SERVE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406640" y="2232279"/>
            <a:ext cx="1453896" cy="1028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65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Compaction · VACUUM · 到期销毁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365492" y="2475738"/>
            <a:ext cx="1536192" cy="411480"/>
          </a:xfrm>
          <a:prstGeom prst="roundRect">
            <a:avLst>
              <a:gd name="adj" fmla="val 8333"/>
            </a:avLst>
          </a:prstGeom>
          <a:solidFill>
            <a:srgbClr val="ECFDF5"/>
          </a:solidFill>
          <a:ln w="16510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84" name="Oval 83"/>
          <p:cNvSpPr/>
          <p:nvPr/>
        </p:nvSpPr>
        <p:spPr>
          <a:xfrm>
            <a:off x="7462190" y="2556319"/>
            <a:ext cx="53492" cy="385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85" name="Oval 84"/>
          <p:cNvSpPr/>
          <p:nvPr/>
        </p:nvSpPr>
        <p:spPr>
          <a:xfrm>
            <a:off x="7450360" y="2566607"/>
            <a:ext cx="36005" cy="2674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86" name="Oval 85"/>
          <p:cNvSpPr/>
          <p:nvPr/>
        </p:nvSpPr>
        <p:spPr>
          <a:xfrm>
            <a:off x="7491508" y="2562491"/>
            <a:ext cx="33947" cy="298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7406640" y="2516886"/>
            <a:ext cx="1453896" cy="1028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40" b="1" i="0" u="none" strike="noStrike" kern="1200" cap="none" spc="0" normalizeH="0" baseline="0" noProof="0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NCC 网络连接 + 托管私有端点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406640" y="2667761"/>
            <a:ext cx="1453896" cy="1028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65" b="1" i="0" u="none" strike="noStrike" kern="1200" cap="none" spc="0" normalizeH="0" baseline="0" noProof="0">
                <a:ln>
                  <a:noFill/>
                </a:ln>
                <a:solidFill>
                  <a:srgbClr val="0596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Serverless 私有访问 ADLS 的唯一通道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365492" y="2976372"/>
            <a:ext cx="1536192" cy="1783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50" b="1" i="0" u="none" strike="noStrike" kern="1200" cap="none" spc="0" normalizeH="0" baseline="0" noProof="0">
                <a:ln>
                  <a:noFill/>
                </a:ln>
                <a:solidFill>
                  <a:srgbClr val="7C3AED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Premium 层特性 · NCC 需 Account Admin 配置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632204" y="1728217"/>
            <a:ext cx="5554980" cy="1495043"/>
          </a:xfrm>
          <a:prstGeom prst="roundRect">
            <a:avLst>
              <a:gd name="adj" fmla="val 3508"/>
            </a:avLst>
          </a:prstGeom>
          <a:solidFill>
            <a:schemeClr val="bg1"/>
          </a:solidFill>
          <a:ln w="1905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1741932" y="1714500"/>
            <a:ext cx="233172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13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Azure </a:t>
            </a:r>
            <a:r>
              <a:rPr kumimoji="0" sz="713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VNet</a:t>
            </a:r>
            <a:r>
              <a:rPr kumimoji="0" sz="713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· 10.0.0.0/16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330408" y="1786509"/>
            <a:ext cx="2468880" cy="1028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Hub-Spoke · NSG </a:t>
            </a:r>
            <a:r>
              <a:rPr kumimoji="0" sz="48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管控</a:t>
            </a: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· PaaS </a:t>
            </a:r>
            <a:r>
              <a:rPr kumimoji="0" sz="48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全部关闭公网</a:t>
            </a:r>
            <a:endParaRPr kumimoji="0" sz="48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</p:txBody>
      </p:sp>
      <p:sp>
        <p:nvSpPr>
          <p:cNvPr id="93" name="Rounded Rectangle 92"/>
          <p:cNvSpPr/>
          <p:nvPr/>
        </p:nvSpPr>
        <p:spPr>
          <a:xfrm>
            <a:off x="1741932" y="1879092"/>
            <a:ext cx="658368" cy="315468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524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1762507" y="1920240"/>
            <a:ext cx="617219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85" b="0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WAF</a:t>
            </a:r>
          </a:p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OWASP </a:t>
            </a:r>
            <a:r>
              <a:rPr kumimoji="0" sz="450" b="0" i="0" u="none" strike="noStrike" kern="1200" cap="none" spc="0" normalizeH="0" baseline="0" noProof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防护</a:t>
            </a:r>
            <a:endParaRPr kumimoji="0" sz="450" b="0" i="0" u="none" strike="noStrike" kern="1200" cap="none" spc="0" normalizeH="0" baseline="0" noProof="0">
              <a:ln>
                <a:noFill/>
              </a:ln>
              <a:solidFill>
                <a:srgbClr val="64748B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</p:txBody>
      </p:sp>
      <p:sp>
        <p:nvSpPr>
          <p:cNvPr id="95" name="Rounded Rectangle 94"/>
          <p:cNvSpPr/>
          <p:nvPr/>
        </p:nvSpPr>
        <p:spPr>
          <a:xfrm>
            <a:off x="2510028" y="1879092"/>
            <a:ext cx="1001268" cy="315468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524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2516886" y="1909655"/>
            <a:ext cx="960120" cy="3154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55" b="0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Application Gateway</a:t>
            </a:r>
          </a:p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TLS </a:t>
            </a:r>
            <a:r>
              <a:rPr kumimoji="0" sz="450" b="0" i="0" u="none" strike="noStrike" kern="1200" cap="none" spc="0" normalizeH="0" baseline="0" noProof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终止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· </a:t>
            </a:r>
            <a:r>
              <a:rPr kumimoji="0" sz="450" b="0" i="0" u="none" strike="noStrike" kern="1200" cap="none" spc="0" normalizeH="0" baseline="0" noProof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七层路由</a:t>
            </a:r>
            <a:endParaRPr kumimoji="0" sz="450" b="0" i="0" u="none" strike="noStrike" kern="1200" cap="none" spc="0" normalizeH="0" baseline="0" noProof="0">
              <a:ln>
                <a:noFill/>
              </a:ln>
              <a:solidFill>
                <a:srgbClr val="64748B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</p:txBody>
      </p:sp>
      <p:sp>
        <p:nvSpPr>
          <p:cNvPr id="97" name="Rounded Rectangle 96"/>
          <p:cNvSpPr/>
          <p:nvPr/>
        </p:nvSpPr>
        <p:spPr>
          <a:xfrm>
            <a:off x="3621024" y="1879092"/>
            <a:ext cx="726948" cy="315468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524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3624453" y="1895002"/>
            <a:ext cx="685800" cy="3154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55" b="0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NAT Gateway</a:t>
            </a:r>
          </a:p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50" b="0" i="0" u="none" strike="noStrike" kern="1200" cap="none" spc="0" normalizeH="0" baseline="0" noProof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出站固定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IP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2400300" y="2036826"/>
            <a:ext cx="96012" cy="0"/>
          </a:xfrm>
          <a:prstGeom prst="line">
            <a:avLst/>
          </a:prstGeom>
          <a:ln w="17780">
            <a:solidFill>
              <a:schemeClr val="tx2">
                <a:lumMod val="60000"/>
                <a:lumOff val="40000"/>
              </a:schemeClr>
            </a:solidFill>
            <a:tailEnd type="triangle" w="med" len="med"/>
          </a:ln>
          <a:effectLst/>
        </p:spPr>
      </p:cxnSp>
      <p:cxnSp>
        <p:nvCxnSpPr>
          <p:cNvPr id="100" name="Connector 99"/>
          <p:cNvCxnSpPr/>
          <p:nvPr/>
        </p:nvCxnSpPr>
        <p:spPr>
          <a:xfrm>
            <a:off x="3511296" y="2036826"/>
            <a:ext cx="96012" cy="0"/>
          </a:xfrm>
          <a:prstGeom prst="line">
            <a:avLst/>
          </a:prstGeom>
          <a:ln w="17780">
            <a:solidFill>
              <a:schemeClr val="tx2">
                <a:lumMod val="60000"/>
                <a:lumOff val="40000"/>
              </a:schemeClr>
            </a:solidFill>
            <a:tailEnd type="triangle" w="med" len="med"/>
          </a:ln>
          <a:effectLst/>
        </p:spPr>
      </p:cxnSp>
      <p:cxnSp>
        <p:nvCxnSpPr>
          <p:cNvPr id="101" name="Connector 100"/>
          <p:cNvCxnSpPr/>
          <p:nvPr/>
        </p:nvCxnSpPr>
        <p:spPr>
          <a:xfrm>
            <a:off x="3010661" y="2194560"/>
            <a:ext cx="0" cy="82296"/>
          </a:xfrm>
          <a:prstGeom prst="line">
            <a:avLst/>
          </a:prstGeom>
          <a:ln w="17780">
            <a:solidFill>
              <a:schemeClr val="tx2">
                <a:lumMod val="60000"/>
                <a:lumOff val="40000"/>
              </a:schemeClr>
            </a:solidFill>
            <a:tailEnd type="triangle" w="med" len="med"/>
          </a:ln>
          <a:effectLst/>
        </p:spPr>
      </p:cxnSp>
      <p:sp>
        <p:nvSpPr>
          <p:cNvPr id="103" name="Rounded Rectangle 102"/>
          <p:cNvSpPr/>
          <p:nvPr/>
        </p:nvSpPr>
        <p:spPr>
          <a:xfrm>
            <a:off x="1741932" y="2290572"/>
            <a:ext cx="3154680" cy="850392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397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1824228" y="2345436"/>
            <a:ext cx="1783080" cy="11658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8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AKS </a:t>
            </a:r>
            <a:r>
              <a:rPr kumimoji="0" sz="585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子网</a:t>
            </a:r>
            <a:r>
              <a:rPr kumimoji="0" sz="58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· 10.0.1.0/24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154680" y="2359152"/>
            <a:ext cx="1645920" cy="960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4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跨 AZ </a:t>
            </a:r>
            <a:r>
              <a:rPr kumimoji="0" sz="443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节点池</a:t>
            </a:r>
            <a:r>
              <a:rPr kumimoji="0" sz="44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· HPA · </a:t>
            </a:r>
            <a:r>
              <a:rPr kumimoji="0" sz="443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托管标识免密</a:t>
            </a:r>
            <a:endParaRPr kumimoji="0" sz="443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</p:txBody>
      </p:sp>
      <p:sp>
        <p:nvSpPr>
          <p:cNvPr id="106" name="Rounded Rectangle 105"/>
          <p:cNvSpPr/>
          <p:nvPr/>
        </p:nvSpPr>
        <p:spPr>
          <a:xfrm>
            <a:off x="1824228" y="2482596"/>
            <a:ext cx="2990088" cy="384048"/>
          </a:xfrm>
          <a:prstGeom prst="roundRect">
            <a:avLst>
              <a:gd name="adj" fmla="val 8928"/>
            </a:avLst>
          </a:prstGeom>
          <a:noFill/>
          <a:ln w="12700">
            <a:solidFill>
              <a:srgbClr val="CBD5E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1879092" y="2503170"/>
            <a:ext cx="1508760" cy="822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20" b="1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Node · 跨可用区冗余 · 托管节点池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1892808" y="2592324"/>
            <a:ext cx="1440180" cy="246888"/>
          </a:xfrm>
          <a:prstGeom prst="roundRect">
            <a:avLst>
              <a:gd name="adj" fmla="val 13888"/>
            </a:avLst>
          </a:prstGeom>
          <a:solidFill>
            <a:schemeClr val="bg1"/>
          </a:solidFill>
          <a:ln w="1778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1899665" y="2609789"/>
            <a:ext cx="1399032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4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前端</a:t>
            </a:r>
            <a:r>
              <a:rPr kumimoji="0" sz="54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Pod · React</a:t>
            </a:r>
          </a:p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43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配置化查询界面</a:t>
            </a:r>
            <a:r>
              <a:rPr kumimoji="0" sz="44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· JSON Schema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3387852" y="2592324"/>
            <a:ext cx="1371600" cy="246888"/>
          </a:xfrm>
          <a:prstGeom prst="roundRect">
            <a:avLst>
              <a:gd name="adj" fmla="val 13888"/>
            </a:avLst>
          </a:prstGeom>
          <a:solidFill>
            <a:schemeClr val="bg1"/>
          </a:solidFill>
          <a:ln w="1778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3446145" y="2626819"/>
            <a:ext cx="1292733" cy="21239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4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后端</a:t>
            </a:r>
            <a:r>
              <a:rPr kumimoji="0" sz="54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Pod · .NET </a:t>
            </a:r>
            <a:r>
              <a:rPr kumimoji="0" sz="54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单体</a:t>
            </a:r>
            <a:endParaRPr kumimoji="0" sz="54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43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元数据</a:t>
            </a:r>
            <a:r>
              <a:rPr kumimoji="0" sz="44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· </a:t>
            </a:r>
            <a:r>
              <a:rPr kumimoji="0" sz="443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权限</a:t>
            </a:r>
            <a:r>
              <a:rPr kumimoji="0" sz="44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· </a:t>
            </a:r>
            <a:r>
              <a:rPr kumimoji="0" sz="443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查询代理</a:t>
            </a:r>
            <a:r>
              <a:rPr kumimoji="0" sz="44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· </a:t>
            </a:r>
            <a:r>
              <a:rPr kumimoji="0" sz="443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审计</a:t>
            </a:r>
            <a:r>
              <a:rPr kumimoji="0" sz="44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· </a:t>
            </a:r>
            <a:r>
              <a:rPr kumimoji="0" sz="443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销毁</a:t>
            </a:r>
            <a:endParaRPr kumimoji="0" sz="443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</p:txBody>
      </p:sp>
      <p:sp>
        <p:nvSpPr>
          <p:cNvPr id="112" name="Rounded Rectangle 111"/>
          <p:cNvSpPr/>
          <p:nvPr/>
        </p:nvSpPr>
        <p:spPr>
          <a:xfrm>
            <a:off x="1824228" y="2921508"/>
            <a:ext cx="2990088" cy="164592"/>
          </a:xfrm>
          <a:prstGeom prst="roundRect">
            <a:avLst>
              <a:gd name="adj" fmla="val 16666"/>
            </a:avLst>
          </a:prstGeom>
          <a:solidFill>
            <a:schemeClr val="bg1"/>
          </a:solidFill>
          <a:ln w="1270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1865376" y="2921508"/>
            <a:ext cx="2907792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43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元数据服务：系统台账</a:t>
            </a:r>
            <a:r>
              <a:rPr kumimoji="0" sz="443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· </a:t>
            </a:r>
            <a:r>
              <a:rPr kumimoji="0" sz="443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表清单勾选</a:t>
            </a:r>
            <a:r>
              <a:rPr kumimoji="0" sz="443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· </a:t>
            </a:r>
            <a:r>
              <a:rPr kumimoji="0" sz="443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保留期与销毁策略</a:t>
            </a:r>
            <a:r>
              <a:rPr kumimoji="0" sz="443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· </a:t>
            </a:r>
            <a:r>
              <a:rPr kumimoji="0" sz="443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任务记录</a:t>
            </a:r>
            <a:r>
              <a:rPr kumimoji="0" sz="443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· </a:t>
            </a:r>
            <a:r>
              <a:rPr kumimoji="0" sz="443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操作审计</a:t>
            </a:r>
            <a:endParaRPr kumimoji="0" sz="443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</p:txBody>
      </p:sp>
      <p:sp>
        <p:nvSpPr>
          <p:cNvPr id="114" name="Rounded Rectangle 113"/>
          <p:cNvSpPr/>
          <p:nvPr/>
        </p:nvSpPr>
        <p:spPr>
          <a:xfrm>
            <a:off x="5042356" y="2290572"/>
            <a:ext cx="2062532" cy="850392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397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5088636" y="2345436"/>
            <a:ext cx="1988820" cy="11658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85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私有端点子网</a:t>
            </a:r>
            <a:r>
              <a:rPr kumimoji="0" sz="58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· 10.0.2.0/24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5088636" y="2496312"/>
            <a:ext cx="960120" cy="233172"/>
          </a:xfrm>
          <a:prstGeom prst="roundRect">
            <a:avLst>
              <a:gd name="adj" fmla="val 11764"/>
            </a:avLst>
          </a:prstGeom>
          <a:solidFill>
            <a:schemeClr val="bg1"/>
          </a:solidFill>
          <a:ln w="1270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5109211" y="2533002"/>
            <a:ext cx="918971" cy="1964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5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ADLS </a:t>
            </a:r>
            <a:r>
              <a:rPr kumimoji="0" sz="458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私有端点（blob</a:t>
            </a:r>
            <a:r>
              <a:rPr kumimoji="0" sz="45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+ </a:t>
            </a:r>
            <a:r>
              <a:rPr kumimoji="0" sz="458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dfs</a:t>
            </a:r>
            <a:r>
              <a:rPr kumimoji="0" sz="45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）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6089903" y="2496312"/>
            <a:ext cx="960120" cy="233172"/>
          </a:xfrm>
          <a:prstGeom prst="roundRect">
            <a:avLst>
              <a:gd name="adj" fmla="val 11764"/>
            </a:avLst>
          </a:prstGeom>
          <a:solidFill>
            <a:schemeClr val="bg1"/>
          </a:solidFill>
          <a:ln w="1270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6110478" y="2533002"/>
            <a:ext cx="918971" cy="19648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5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SQL Database </a:t>
            </a:r>
            <a:r>
              <a:rPr kumimoji="0" sz="458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私有端点</a:t>
            </a:r>
            <a:endParaRPr kumimoji="0" sz="458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</p:txBody>
      </p:sp>
      <p:sp>
        <p:nvSpPr>
          <p:cNvPr id="120" name="Rounded Rectangle 119"/>
          <p:cNvSpPr/>
          <p:nvPr/>
        </p:nvSpPr>
        <p:spPr>
          <a:xfrm>
            <a:off x="5088636" y="2770632"/>
            <a:ext cx="960120" cy="233172"/>
          </a:xfrm>
          <a:prstGeom prst="roundRect">
            <a:avLst>
              <a:gd name="adj" fmla="val 11764"/>
            </a:avLst>
          </a:prstGeom>
          <a:solidFill>
            <a:schemeClr val="bg1"/>
          </a:solidFill>
          <a:ln w="1270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5109211" y="2770632"/>
            <a:ext cx="918971" cy="2331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5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Key Vault </a:t>
            </a:r>
            <a:r>
              <a:rPr kumimoji="0" sz="458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私有端点</a:t>
            </a:r>
            <a:endParaRPr kumimoji="0" sz="458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</p:txBody>
      </p:sp>
      <p:sp>
        <p:nvSpPr>
          <p:cNvPr id="122" name="Rounded Rectangle 121"/>
          <p:cNvSpPr/>
          <p:nvPr/>
        </p:nvSpPr>
        <p:spPr>
          <a:xfrm>
            <a:off x="6089903" y="2770632"/>
            <a:ext cx="960120" cy="233172"/>
          </a:xfrm>
          <a:prstGeom prst="roundRect">
            <a:avLst>
              <a:gd name="adj" fmla="val 11764"/>
            </a:avLst>
          </a:prstGeom>
          <a:solidFill>
            <a:schemeClr val="bg1"/>
          </a:solidFill>
          <a:ln w="1270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6110478" y="2770632"/>
            <a:ext cx="918971" cy="2331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5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Databricks </a:t>
            </a:r>
            <a:r>
              <a:rPr kumimoji="0" sz="458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工作区端点</a:t>
            </a:r>
            <a:endParaRPr kumimoji="0" sz="458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5088636" y="3031236"/>
            <a:ext cx="1933956" cy="8915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43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子网内为私有端点</a:t>
            </a:r>
            <a:r>
              <a:rPr kumimoji="0" sz="44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NIC · PaaS </a:t>
            </a:r>
            <a:r>
              <a:rPr kumimoji="0" sz="443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本体在</a:t>
            </a:r>
            <a:r>
              <a:rPr kumimoji="0" sz="44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Azure </a:t>
            </a:r>
            <a:r>
              <a:rPr kumimoji="0" sz="443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平台侧</a:t>
            </a:r>
            <a:endParaRPr kumimoji="0" sz="443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</p:txBody>
      </p:sp>
      <p:cxnSp>
        <p:nvCxnSpPr>
          <p:cNvPr id="125" name="Connector 124"/>
          <p:cNvCxnSpPr>
            <a:cxnSpLocks/>
          </p:cNvCxnSpPr>
          <p:nvPr/>
        </p:nvCxnSpPr>
        <p:spPr>
          <a:xfrm>
            <a:off x="4896613" y="2688336"/>
            <a:ext cx="130943" cy="0"/>
          </a:xfrm>
          <a:prstGeom prst="line">
            <a:avLst/>
          </a:prstGeom>
          <a:ln w="17780">
            <a:solidFill>
              <a:schemeClr val="tx2">
                <a:lumMod val="60000"/>
                <a:lumOff val="40000"/>
              </a:schemeClr>
            </a:solidFill>
            <a:tailEnd type="triangle" w="med" len="med"/>
          </a:ln>
          <a:effectLst/>
        </p:spPr>
      </p:cxnSp>
      <p:sp>
        <p:nvSpPr>
          <p:cNvPr id="126" name="TextBox 125"/>
          <p:cNvSpPr txBox="1"/>
          <p:nvPr/>
        </p:nvSpPr>
        <p:spPr>
          <a:xfrm>
            <a:off x="4824183" y="2567061"/>
            <a:ext cx="274320" cy="822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20" b="1" i="0" u="none" strike="noStrike" kern="1200" cap="none" spc="0" normalizeH="0" baseline="0" noProof="0" err="1">
                <a:ln>
                  <a:noFill/>
                </a:ln>
                <a:solidFill>
                  <a:srgbClr val="004F71">
                    <a:lumMod val="60000"/>
                    <a:lumOff val="40000"/>
                  </a:srgbClr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内网</a:t>
            </a:r>
            <a:endParaRPr kumimoji="0" sz="420" b="1" i="0" u="none" strike="noStrike" kern="1200" cap="none" spc="0" normalizeH="0" baseline="0" noProof="0">
              <a:ln>
                <a:noFill/>
              </a:ln>
              <a:solidFill>
                <a:srgbClr val="004F71">
                  <a:lumMod val="60000"/>
                  <a:lumOff val="40000"/>
                </a:srgbClr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4829117" y="2733333"/>
            <a:ext cx="274320" cy="822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20" b="1" i="0" u="none" strike="noStrike" kern="1200" cap="none" spc="0" normalizeH="0" baseline="0" noProof="0" err="1">
                <a:ln>
                  <a:noFill/>
                </a:ln>
                <a:solidFill>
                  <a:srgbClr val="004F71">
                    <a:lumMod val="60000"/>
                    <a:lumOff val="40000"/>
                  </a:srgbClr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调用</a:t>
            </a:r>
            <a:endParaRPr kumimoji="0" sz="420" b="1" i="0" u="none" strike="noStrike" kern="1200" cap="none" spc="0" normalizeH="0" baseline="0" noProof="0">
              <a:ln>
                <a:noFill/>
              </a:ln>
              <a:solidFill>
                <a:srgbClr val="004F71">
                  <a:lumMod val="60000"/>
                  <a:lumOff val="40000"/>
                </a:srgbClr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</p:txBody>
      </p:sp>
      <p:cxnSp>
        <p:nvCxnSpPr>
          <p:cNvPr id="128" name="Connector 127"/>
          <p:cNvCxnSpPr/>
          <p:nvPr/>
        </p:nvCxnSpPr>
        <p:spPr>
          <a:xfrm>
            <a:off x="1536192" y="2036826"/>
            <a:ext cx="192024" cy="0"/>
          </a:xfrm>
          <a:prstGeom prst="line">
            <a:avLst/>
          </a:prstGeom>
          <a:ln w="20320">
            <a:solidFill>
              <a:srgbClr val="059669"/>
            </a:solidFill>
            <a:tailEnd type="triangle" w="med" len="med"/>
          </a:ln>
          <a:effectLst/>
        </p:spPr>
      </p:cxnSp>
      <p:sp>
        <p:nvSpPr>
          <p:cNvPr id="129" name="TextBox 128"/>
          <p:cNvSpPr txBox="1"/>
          <p:nvPr/>
        </p:nvSpPr>
        <p:spPr>
          <a:xfrm>
            <a:off x="891540" y="1906524"/>
            <a:ext cx="685800" cy="8915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50" b="1" i="0" u="none" strike="noStrike" kern="1200" cap="none" spc="0" normalizeH="0" baseline="0" noProof="0">
                <a:ln>
                  <a:noFill/>
                </a:ln>
                <a:solidFill>
                  <a:srgbClr val="0596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HTTPS 443</a:t>
            </a:r>
          </a:p>
        </p:txBody>
      </p:sp>
      <p:cxnSp>
        <p:nvCxnSpPr>
          <p:cNvPr id="130" name="Connector 129"/>
          <p:cNvCxnSpPr/>
          <p:nvPr/>
        </p:nvCxnSpPr>
        <p:spPr>
          <a:xfrm>
            <a:off x="4526280" y="1549908"/>
            <a:ext cx="0" cy="726949"/>
          </a:xfrm>
          <a:prstGeom prst="line">
            <a:avLst/>
          </a:prstGeom>
          <a:ln w="16510">
            <a:solidFill>
              <a:schemeClr val="tx2">
                <a:lumMod val="60000"/>
                <a:lumOff val="40000"/>
              </a:schemeClr>
            </a:solidFill>
            <a:prstDash val="dash"/>
            <a:tailEnd type="triangle" w="med" len="med"/>
          </a:ln>
          <a:effectLst/>
        </p:spPr>
      </p:cxnSp>
      <p:sp>
        <p:nvSpPr>
          <p:cNvPr id="131" name="TextBox 130"/>
          <p:cNvSpPr txBox="1"/>
          <p:nvPr/>
        </p:nvSpPr>
        <p:spPr>
          <a:xfrm>
            <a:off x="4572000" y="1560195"/>
            <a:ext cx="1577340" cy="8915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50" b="1" i="0" u="none" strike="noStrike" kern="1200" cap="none" spc="0" normalizeH="0" baseline="0" noProof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SeaTunnel</a:t>
            </a:r>
            <a:r>
              <a:rPr kumimoji="0" sz="45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</a:t>
            </a:r>
            <a:r>
              <a:rPr kumimoji="0" sz="450" b="1" i="0" u="none" strike="noStrike" kern="1200" cap="none" spc="0" normalizeH="0" baseline="0" noProof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抽取</a:t>
            </a:r>
            <a:r>
              <a:rPr kumimoji="0" sz="45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· NAT </a:t>
            </a:r>
            <a:r>
              <a:rPr kumimoji="0" sz="450" b="1" i="0" u="none" strike="noStrike" kern="1200" cap="none" spc="0" normalizeH="0" baseline="0" noProof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固定</a:t>
            </a:r>
            <a:r>
              <a:rPr kumimoji="0" sz="45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IP</a:t>
            </a:r>
          </a:p>
        </p:txBody>
      </p:sp>
      <p:cxnSp>
        <p:nvCxnSpPr>
          <p:cNvPr id="132" name="Connector 131"/>
          <p:cNvCxnSpPr/>
          <p:nvPr/>
        </p:nvCxnSpPr>
        <p:spPr>
          <a:xfrm flipV="1">
            <a:off x="3984498" y="1577340"/>
            <a:ext cx="0" cy="288036"/>
          </a:xfrm>
          <a:prstGeom prst="line">
            <a:avLst/>
          </a:prstGeom>
          <a:ln w="13970">
            <a:solidFill>
              <a:schemeClr val="tx2">
                <a:lumMod val="60000"/>
                <a:lumOff val="40000"/>
              </a:schemeClr>
            </a:solidFill>
            <a:prstDash val="dash"/>
            <a:tailEnd type="triangle" w="med" len="med"/>
          </a:ln>
          <a:effectLst/>
        </p:spPr>
      </p:cxnSp>
      <p:sp>
        <p:nvSpPr>
          <p:cNvPr id="133" name="TextBox 132"/>
          <p:cNvSpPr txBox="1"/>
          <p:nvPr/>
        </p:nvSpPr>
        <p:spPr>
          <a:xfrm>
            <a:off x="3017520" y="1598158"/>
            <a:ext cx="925830" cy="822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43" b="1" i="0" u="none" strike="noStrike" kern="1200" cap="none" spc="0" normalizeH="0" baseline="0" noProof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出站固定</a:t>
            </a:r>
            <a:r>
              <a:rPr kumimoji="0" sz="443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IP ↑</a:t>
            </a:r>
          </a:p>
        </p:txBody>
      </p:sp>
      <p:cxnSp>
        <p:nvCxnSpPr>
          <p:cNvPr id="134" name="Connector 133"/>
          <p:cNvCxnSpPr/>
          <p:nvPr/>
        </p:nvCxnSpPr>
        <p:spPr>
          <a:xfrm flipV="1">
            <a:off x="6995160" y="1659636"/>
            <a:ext cx="0" cy="630936"/>
          </a:xfrm>
          <a:prstGeom prst="line">
            <a:avLst/>
          </a:prstGeom>
          <a:ln w="17780">
            <a:solidFill>
              <a:srgbClr val="7C3AED"/>
            </a:solidFill>
            <a:prstDash val="dash"/>
          </a:ln>
          <a:effectLst/>
        </p:spPr>
      </p:cxnSp>
      <p:cxnSp>
        <p:nvCxnSpPr>
          <p:cNvPr id="135" name="Connector 134"/>
          <p:cNvCxnSpPr/>
          <p:nvPr/>
        </p:nvCxnSpPr>
        <p:spPr>
          <a:xfrm>
            <a:off x="6995160" y="1659636"/>
            <a:ext cx="260604" cy="0"/>
          </a:xfrm>
          <a:prstGeom prst="line">
            <a:avLst/>
          </a:prstGeom>
          <a:ln w="17780">
            <a:solidFill>
              <a:srgbClr val="7C3AED"/>
            </a:solidFill>
            <a:prstDash val="dash"/>
            <a:tailEnd type="triangle" w="med" len="med"/>
          </a:ln>
          <a:effectLst/>
        </p:spPr>
      </p:cxnSp>
      <p:sp>
        <p:nvSpPr>
          <p:cNvPr id="136" name="TextBox 135"/>
          <p:cNvSpPr txBox="1"/>
          <p:nvPr/>
        </p:nvSpPr>
        <p:spPr>
          <a:xfrm>
            <a:off x="5790076" y="1560860"/>
            <a:ext cx="1371600" cy="8915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50" b="1" i="0" u="none" strike="noStrike" kern="1200" cap="none" spc="0" normalizeH="0" baseline="0" noProof="0">
                <a:ln>
                  <a:noFill/>
                </a:ln>
                <a:solidFill>
                  <a:srgbClr val="7C3AED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Private Link · JDBC / ODBC 443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150876" y="3319272"/>
            <a:ext cx="8846820" cy="987552"/>
          </a:xfrm>
          <a:prstGeom prst="roundRect">
            <a:avLst>
              <a:gd name="adj" fmla="val 5555"/>
            </a:avLst>
          </a:prstGeom>
          <a:solidFill>
            <a:schemeClr val="bg1"/>
          </a:solidFill>
          <a:ln w="1651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260604" y="3374136"/>
            <a:ext cx="54864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75" b="1" i="0" u="none" strike="noStrike" kern="1200" cap="none" spc="0" normalizeH="0" baseline="0" noProof="0">
                <a:ln>
                  <a:noFill/>
                </a:ln>
                <a:solidFill>
                  <a:srgbClr val="0596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Azure PaaS 数据与治理服务 · 全部私有端点接入 · 公网访问已禁用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233172" y="3552444"/>
            <a:ext cx="1357884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chemeClr val="tx2">
                <a:lumMod val="60000"/>
                <a:lumOff val="40000"/>
              </a:schemeClr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315468" y="359359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55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Microsoft Entra ID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288036" y="3717036"/>
            <a:ext cx="1261872" cy="960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8" b="1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身份与单点登录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288036" y="3819906"/>
            <a:ext cx="1261872" cy="8915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SAML / OIDC · 托管标识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466344" y="3929634"/>
            <a:ext cx="891540" cy="116586"/>
          </a:xfrm>
          <a:prstGeom prst="roundRect">
            <a:avLst>
              <a:gd name="adj" fmla="val 23529"/>
            </a:avLst>
          </a:prstGeom>
          <a:solidFill>
            <a:srgbClr val="F1F5F9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486918" y="3929634"/>
            <a:ext cx="850392" cy="11658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35" b="0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全局服务 · 443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33172" y="4080510"/>
            <a:ext cx="1357884" cy="960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50" b="1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认证走 443 · 无私有端点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1659636" y="3552444"/>
            <a:ext cx="1357884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chemeClr val="tx2">
                <a:lumMod val="60000"/>
                <a:lumOff val="40000"/>
              </a:schemeClr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49" name="TextBox 148"/>
          <p:cNvSpPr txBox="1"/>
          <p:nvPr/>
        </p:nvSpPr>
        <p:spPr>
          <a:xfrm>
            <a:off x="1741932" y="359359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55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Application Insights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714500" y="3717036"/>
            <a:ext cx="1261872" cy="960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8" b="1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审计留痕与链路追踪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714500" y="3819906"/>
            <a:ext cx="1261872" cy="8915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操作日志 · 告警规则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1892808" y="3929634"/>
            <a:ext cx="891540" cy="116586"/>
          </a:xfrm>
          <a:prstGeom prst="roundRect">
            <a:avLst>
              <a:gd name="adj" fmla="val 23529"/>
            </a:avLst>
          </a:prstGeom>
          <a:solidFill>
            <a:srgbClr val="EFF6FF"/>
          </a:solidFill>
          <a:ln w="1143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1913381" y="3929634"/>
            <a:ext cx="850392" cy="11658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35" b="0" i="0" u="none" strike="noStrike" kern="1200" cap="none" spc="0" normalizeH="0" baseline="0" noProof="0">
                <a:ln>
                  <a:noFill/>
                </a:ln>
                <a:solidFill>
                  <a:srgbClr val="1E40AF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Private Endpoint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659636" y="4080510"/>
            <a:ext cx="1357884" cy="960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50" b="1" i="0" u="none" strike="noStrike" kern="1200" cap="none" spc="0" normalizeH="0" baseline="0" noProof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公网访问：已禁用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3086100" y="3552444"/>
            <a:ext cx="1357884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chemeClr val="tx2">
                <a:lumMod val="60000"/>
                <a:lumOff val="40000"/>
              </a:schemeClr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3168396" y="359359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55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Azure Monitor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3140964" y="3717036"/>
            <a:ext cx="1261872" cy="960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8" b="1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资源指标与告警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3140964" y="3819906"/>
            <a:ext cx="1261872" cy="8915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仪表板 · 自动化响应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3319272" y="3929634"/>
            <a:ext cx="891540" cy="116586"/>
          </a:xfrm>
          <a:prstGeom prst="roundRect">
            <a:avLst>
              <a:gd name="adj" fmla="val 23529"/>
            </a:avLst>
          </a:prstGeom>
          <a:solidFill>
            <a:srgbClr val="EFF6FF"/>
          </a:solidFill>
          <a:ln w="1143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3339846" y="3929634"/>
            <a:ext cx="850392" cy="11658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35" b="0" i="0" u="none" strike="noStrike" kern="1200" cap="none" spc="0" normalizeH="0" baseline="0" noProof="0">
                <a:ln>
                  <a:noFill/>
                </a:ln>
                <a:solidFill>
                  <a:srgbClr val="1E40AF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Private Endpoint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086100" y="4080510"/>
            <a:ext cx="1357884" cy="960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50" b="1" i="0" u="none" strike="noStrike" kern="1200" cap="none" spc="0" normalizeH="0" baseline="0" noProof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公网访问：已禁用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4512564" y="3552444"/>
            <a:ext cx="1357884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chemeClr val="tx2">
                <a:lumMod val="60000"/>
                <a:lumOff val="40000"/>
              </a:schemeClr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65" name="TextBox 164"/>
          <p:cNvSpPr txBox="1"/>
          <p:nvPr/>
        </p:nvSpPr>
        <p:spPr>
          <a:xfrm>
            <a:off x="4594860" y="359359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55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Azure Key Vault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567428" y="3717036"/>
            <a:ext cx="1261872" cy="960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8" b="1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密钥与凭据托管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4567428" y="3819906"/>
            <a:ext cx="1261872" cy="8915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CMK · 源库连接串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4745736" y="3929634"/>
            <a:ext cx="891540" cy="116586"/>
          </a:xfrm>
          <a:prstGeom prst="roundRect">
            <a:avLst>
              <a:gd name="adj" fmla="val 23529"/>
            </a:avLst>
          </a:prstGeom>
          <a:solidFill>
            <a:srgbClr val="EFF6FF"/>
          </a:solidFill>
          <a:ln w="1143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4766310" y="3929634"/>
            <a:ext cx="850392" cy="11658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35" b="0" i="0" u="none" strike="noStrike" kern="1200" cap="none" spc="0" normalizeH="0" baseline="0" noProof="0">
                <a:ln>
                  <a:noFill/>
                </a:ln>
                <a:solidFill>
                  <a:srgbClr val="1E40AF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Private Endpoint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4512564" y="4080510"/>
            <a:ext cx="1357884" cy="960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50" b="1" i="0" u="none" strike="noStrike" kern="1200" cap="none" spc="0" normalizeH="0" baseline="0" noProof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公网访问：已禁用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5939028" y="3552444"/>
            <a:ext cx="1357884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chemeClr val="tx2">
                <a:lumMod val="60000"/>
                <a:lumOff val="40000"/>
              </a:schemeClr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6021323" y="359359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55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Azure SQL Database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5993892" y="3717036"/>
            <a:ext cx="1261872" cy="960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8" b="1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元数据库 Standard S2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5993892" y="3819906"/>
            <a:ext cx="1261872" cy="8915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主备自动故障转移 · PITR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6172200" y="3929634"/>
            <a:ext cx="891540" cy="116586"/>
          </a:xfrm>
          <a:prstGeom prst="roundRect">
            <a:avLst>
              <a:gd name="adj" fmla="val 23529"/>
            </a:avLst>
          </a:prstGeom>
          <a:solidFill>
            <a:srgbClr val="EFF6FF"/>
          </a:solidFill>
          <a:ln w="1143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77" name="TextBox 176"/>
          <p:cNvSpPr txBox="1"/>
          <p:nvPr/>
        </p:nvSpPr>
        <p:spPr>
          <a:xfrm>
            <a:off x="6192773" y="3929634"/>
            <a:ext cx="850392" cy="11658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35" b="0" i="0" u="none" strike="noStrike" kern="1200" cap="none" spc="0" normalizeH="0" baseline="0" noProof="0">
                <a:ln>
                  <a:noFill/>
                </a:ln>
                <a:solidFill>
                  <a:srgbClr val="1E40AF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Private Endpoint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5939028" y="4080510"/>
            <a:ext cx="1357884" cy="960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50" b="1" i="0" u="none" strike="noStrike" kern="1200" cap="none" spc="0" normalizeH="0" baseline="0" noProof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公网访问：已禁用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7365492" y="3552444"/>
            <a:ext cx="1412748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chemeClr val="tx2">
                <a:lumMod val="60000"/>
                <a:lumOff val="40000"/>
              </a:schemeClr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81" name="TextBox 180"/>
          <p:cNvSpPr txBox="1"/>
          <p:nvPr/>
        </p:nvSpPr>
        <p:spPr>
          <a:xfrm>
            <a:off x="7406640" y="3586734"/>
            <a:ext cx="1344168" cy="1028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55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两个独立存储账户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7406640" y="3696462"/>
            <a:ext cx="1344168" cy="2057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43" b="1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① ADLS Gen2（HNS）· Iceberg </a:t>
            </a:r>
            <a:r>
              <a:rPr kumimoji="0" sz="443" b="1" i="0" u="none" strike="noStrike" kern="1200" cap="none" spc="0" normalizeH="0" baseline="0" noProof="0" err="1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湖表</a:t>
            </a:r>
            <a:r>
              <a:rPr kumimoji="0" sz="443" b="1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· ZRS</a:t>
            </a:r>
          </a:p>
          <a:p>
            <a:pPr marL="0" marR="0" lvl="0" indent="0" algn="l" defTabSz="6858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43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② </a:t>
            </a:r>
            <a:r>
              <a:rPr kumimoji="0" sz="443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Blob（FNS</a:t>
            </a:r>
            <a:r>
              <a:rPr kumimoji="0" sz="443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）· </a:t>
            </a:r>
            <a:r>
              <a:rPr kumimoji="0" sz="443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附件</a:t>
            </a:r>
            <a:r>
              <a:rPr kumimoji="0" sz="443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· </a:t>
            </a:r>
            <a:r>
              <a:rPr kumimoji="0" sz="443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Cool→Cold</a:t>
            </a:r>
            <a:r>
              <a:rPr kumimoji="0" sz="443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· 可 WORM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7626096" y="3929634"/>
            <a:ext cx="891540" cy="116586"/>
          </a:xfrm>
          <a:prstGeom prst="roundRect">
            <a:avLst>
              <a:gd name="adj" fmla="val 23529"/>
            </a:avLst>
          </a:prstGeom>
          <a:solidFill>
            <a:srgbClr val="EFF6FF"/>
          </a:solidFill>
          <a:ln w="1143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84" name="TextBox 183"/>
          <p:cNvSpPr txBox="1"/>
          <p:nvPr/>
        </p:nvSpPr>
        <p:spPr>
          <a:xfrm>
            <a:off x="7646669" y="3929634"/>
            <a:ext cx="850392" cy="11658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35" b="0" i="0" u="none" strike="noStrike" kern="1200" cap="none" spc="0" normalizeH="0" baseline="0" noProof="0">
                <a:ln>
                  <a:noFill/>
                </a:ln>
                <a:solidFill>
                  <a:srgbClr val="1E40AF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Private Endpoint ×2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7365492" y="4080510"/>
            <a:ext cx="1412748" cy="960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50" b="1" i="0" u="none" strike="noStrike" kern="1200" cap="none" spc="0" normalizeH="0" baseline="0" noProof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公网访问：已禁用</a:t>
            </a:r>
          </a:p>
        </p:txBody>
      </p:sp>
      <p:cxnSp>
        <p:nvCxnSpPr>
          <p:cNvPr id="186" name="Connector 185"/>
          <p:cNvCxnSpPr/>
          <p:nvPr/>
        </p:nvCxnSpPr>
        <p:spPr>
          <a:xfrm>
            <a:off x="5191506" y="3140964"/>
            <a:ext cx="0" cy="397764"/>
          </a:xfrm>
          <a:prstGeom prst="line">
            <a:avLst/>
          </a:prstGeom>
          <a:ln w="15240">
            <a:solidFill>
              <a:srgbClr val="0078D4"/>
            </a:solidFill>
            <a:prstDash val="dash"/>
            <a:tailEnd type="triangle" w="med" len="med"/>
          </a:ln>
          <a:effectLst/>
        </p:spPr>
      </p:cxnSp>
      <p:cxnSp>
        <p:nvCxnSpPr>
          <p:cNvPr id="187" name="Connector 186"/>
          <p:cNvCxnSpPr/>
          <p:nvPr/>
        </p:nvCxnSpPr>
        <p:spPr>
          <a:xfrm>
            <a:off x="6617970" y="3140964"/>
            <a:ext cx="0" cy="397764"/>
          </a:xfrm>
          <a:prstGeom prst="line">
            <a:avLst/>
          </a:prstGeom>
          <a:ln w="15240">
            <a:solidFill>
              <a:srgbClr val="0078D4"/>
            </a:solidFill>
            <a:prstDash val="dash"/>
            <a:tailEnd type="triangle" w="med" len="med"/>
          </a:ln>
          <a:effectLst/>
        </p:spPr>
      </p:cxnSp>
      <p:cxnSp>
        <p:nvCxnSpPr>
          <p:cNvPr id="188" name="Connector 187"/>
          <p:cNvCxnSpPr/>
          <p:nvPr/>
        </p:nvCxnSpPr>
        <p:spPr>
          <a:xfrm>
            <a:off x="6926580" y="3140964"/>
            <a:ext cx="0" cy="219456"/>
          </a:xfrm>
          <a:prstGeom prst="line">
            <a:avLst/>
          </a:prstGeom>
          <a:ln w="15240">
            <a:solidFill>
              <a:srgbClr val="0078D4"/>
            </a:solidFill>
            <a:prstDash val="dash"/>
          </a:ln>
          <a:effectLst/>
        </p:spPr>
      </p:cxnSp>
      <p:cxnSp>
        <p:nvCxnSpPr>
          <p:cNvPr id="189" name="Connector 188"/>
          <p:cNvCxnSpPr/>
          <p:nvPr/>
        </p:nvCxnSpPr>
        <p:spPr>
          <a:xfrm>
            <a:off x="6926580" y="3360420"/>
            <a:ext cx="994410" cy="0"/>
          </a:xfrm>
          <a:prstGeom prst="line">
            <a:avLst/>
          </a:prstGeom>
          <a:ln w="15240">
            <a:solidFill>
              <a:srgbClr val="0078D4"/>
            </a:solidFill>
            <a:prstDash val="dash"/>
          </a:ln>
          <a:effectLst/>
        </p:spPr>
      </p:cxnSp>
      <p:cxnSp>
        <p:nvCxnSpPr>
          <p:cNvPr id="190" name="Connector 189"/>
          <p:cNvCxnSpPr/>
          <p:nvPr/>
        </p:nvCxnSpPr>
        <p:spPr>
          <a:xfrm>
            <a:off x="7920990" y="3360420"/>
            <a:ext cx="0" cy="178308"/>
          </a:xfrm>
          <a:prstGeom prst="line">
            <a:avLst/>
          </a:prstGeom>
          <a:ln w="15240">
            <a:solidFill>
              <a:srgbClr val="0078D4"/>
            </a:solidFill>
            <a:prstDash val="dash"/>
            <a:tailEnd type="triangle" w="med" len="med"/>
          </a:ln>
          <a:effectLst/>
        </p:spPr>
      </p:cxnSp>
      <p:sp>
        <p:nvSpPr>
          <p:cNvPr id="191" name="TextBox 190"/>
          <p:cNvSpPr txBox="1"/>
          <p:nvPr/>
        </p:nvSpPr>
        <p:spPr>
          <a:xfrm>
            <a:off x="5500116" y="3346704"/>
            <a:ext cx="1028700" cy="8915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50" b="1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Private Link 私网流量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5500116" y="3435858"/>
            <a:ext cx="1028700" cy="8915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与上方端点一一对应</a:t>
            </a:r>
          </a:p>
        </p:txBody>
      </p:sp>
      <p:cxnSp>
        <p:nvCxnSpPr>
          <p:cNvPr id="193" name="Connector 192"/>
          <p:cNvCxnSpPr/>
          <p:nvPr/>
        </p:nvCxnSpPr>
        <p:spPr>
          <a:xfrm>
            <a:off x="8503920" y="3223260"/>
            <a:ext cx="0" cy="315468"/>
          </a:xfrm>
          <a:prstGeom prst="line">
            <a:avLst/>
          </a:prstGeom>
          <a:ln w="25400">
            <a:solidFill>
              <a:srgbClr val="059669"/>
            </a:solidFill>
            <a:tailEnd type="triangle" w="med" len="med"/>
          </a:ln>
          <a:effectLst/>
        </p:spPr>
      </p:cxnSp>
      <p:sp>
        <p:nvSpPr>
          <p:cNvPr id="194" name="TextBox 193"/>
          <p:cNvSpPr txBox="1"/>
          <p:nvPr/>
        </p:nvSpPr>
        <p:spPr>
          <a:xfrm>
            <a:off x="8558784" y="3291840"/>
            <a:ext cx="493776" cy="2331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43" b="1" i="0" u="none" strike="noStrike" kern="1200" cap="none" spc="0" normalizeH="0" baseline="0" noProof="0">
                <a:ln>
                  <a:noFill/>
                </a:ln>
                <a:solidFill>
                  <a:srgbClr val="0596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★ NCC 托管</a:t>
            </a:r>
          </a:p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43" b="1" i="0" u="none" strike="noStrike" kern="1200" cap="none" spc="0" normalizeH="0" baseline="0" noProof="0">
                <a:ln>
                  <a:noFill/>
                </a:ln>
                <a:solidFill>
                  <a:srgbClr val="0596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私有端点通道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150876" y="4389120"/>
            <a:ext cx="6515100" cy="644652"/>
          </a:xfrm>
          <a:prstGeom prst="roundRect">
            <a:avLst>
              <a:gd name="adj" fmla="val 6382"/>
            </a:avLst>
          </a:prstGeom>
          <a:solidFill>
            <a:srgbClr val="FFFFFF"/>
          </a:solidFill>
          <a:ln w="1397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96" name="TextBox 195"/>
          <p:cNvSpPr txBox="1"/>
          <p:nvPr/>
        </p:nvSpPr>
        <p:spPr>
          <a:xfrm>
            <a:off x="246888" y="4430268"/>
            <a:ext cx="2057400" cy="11658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38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关键设计要点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246888" y="4560570"/>
            <a:ext cx="3120390" cy="1028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65" b="1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① </a:t>
            </a:r>
            <a:r>
              <a:rPr kumimoji="0" sz="465" b="0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除 Entra ID（全局认证）外，PaaS 全部私有端点接入，流量不出骨干网；入口 WAF + AppGW 收敛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246888" y="4666869"/>
            <a:ext cx="3120390" cy="1028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65" b="1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② </a:t>
            </a:r>
            <a:r>
              <a:rPr kumimoji="0" sz="465" b="0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Serverless 不支持 VNet 对等 / VPN —— 私有访问 ADLS 唯一方式：NCC + 托管私有端点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246888" y="4773168"/>
            <a:ext cx="3120390" cy="1028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65" b="1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③ </a:t>
            </a:r>
            <a:r>
              <a:rPr kumimoji="0" sz="465" b="0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源库抽取走 NAT 固定出口 IP 白名单；跨机房走 ExpressRoute / 站点到站点 VPN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3470148" y="4560570"/>
            <a:ext cx="3120390" cy="1028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65" b="1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④ </a:t>
            </a:r>
            <a:r>
              <a:rPr kumimoji="0" sz="465" b="0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元数据与销毁策略存 SQL DB S2 · 审计进 App Insights · 密钥由 Key Vault 托管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3470148" y="4666869"/>
            <a:ext cx="3120390" cy="1028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65" b="1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⑤ </a:t>
            </a:r>
            <a:r>
              <a:rPr kumimoji="0" sz="465" b="0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相比方案 B：省去 Trino 集群与双子网注入，查询层完全托管、零集群运维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3470148" y="4773168"/>
            <a:ext cx="3120390" cy="1028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65" b="1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⑥ </a:t>
            </a:r>
            <a:r>
              <a:rPr kumimoji="0" sz="465" b="0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需 Databricks Premium 层（PE / NCC 均为 Premium 特性）；NCC 需 Account Admin</a:t>
            </a:r>
          </a:p>
        </p:txBody>
      </p:sp>
      <p:sp>
        <p:nvSpPr>
          <p:cNvPr id="203" name="Rounded Rectangle 202"/>
          <p:cNvSpPr/>
          <p:nvPr/>
        </p:nvSpPr>
        <p:spPr>
          <a:xfrm>
            <a:off x="6748272" y="4389120"/>
            <a:ext cx="2249424" cy="644652"/>
          </a:xfrm>
          <a:prstGeom prst="roundRect">
            <a:avLst>
              <a:gd name="adj" fmla="val 6382"/>
            </a:avLst>
          </a:prstGeom>
          <a:solidFill>
            <a:srgbClr val="F8FAFC"/>
          </a:solidFill>
          <a:ln w="12700">
            <a:solidFill>
              <a:schemeClr val="tx2">
                <a:lumMod val="60000"/>
                <a:lumOff val="40000"/>
              </a:schemeClr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04" name="TextBox 203"/>
          <p:cNvSpPr txBox="1"/>
          <p:nvPr/>
        </p:nvSpPr>
        <p:spPr>
          <a:xfrm>
            <a:off x="6844284" y="4430268"/>
            <a:ext cx="205740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3" b="1" i="0" u="none" strike="noStrike" kern="1200" cap="none" spc="0" normalizeH="0" baseline="0" noProof="0">
                <a:ln>
                  <a:noFill/>
                </a:ln>
                <a:solidFill>
                  <a:srgbClr val="B91C1C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高可用 &amp; 容灾（HA / DR）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6844284" y="4560570"/>
            <a:ext cx="2071116" cy="1028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50" b="1" i="0" u="none" strike="noStrike" kern="1200" cap="none" spc="0" normalizeH="0" baseline="0" noProof="0">
                <a:ln>
                  <a:noFill/>
                </a:ln>
                <a:solidFill>
                  <a:srgbClr val="E11D48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· 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AKS 跨 AZ · SQL 主备自动转移 · 存储 ZRS 冗余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6844284" y="4666869"/>
            <a:ext cx="2071116" cy="1028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50" b="1" i="0" u="none" strike="noStrike" kern="1200" cap="none" spc="0" normalizeH="0" baseline="0" noProof="0">
                <a:ln>
                  <a:noFill/>
                </a:ln>
                <a:solidFill>
                  <a:srgbClr val="E11D48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· 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平台托管无单点 · Serverless 空闲归零自动重建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6844284" y="4773168"/>
            <a:ext cx="2071116" cy="1028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50" b="1" i="0" u="none" strike="noStrike" kern="1200" cap="none" spc="0" normalizeH="0" baseline="0" noProof="0">
                <a:ln>
                  <a:noFill/>
                </a:ln>
                <a:solidFill>
                  <a:srgbClr val="E11D48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· 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SQL 自动备份 + PITR · ADLS 生命周期分层 / GRS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6844284" y="4879467"/>
            <a:ext cx="2071116" cy="1028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50" b="1" i="0" u="none" strike="noStrike" kern="1200" cap="none" spc="0" normalizeH="0" baseline="0" noProof="0">
                <a:ln>
                  <a:noFill/>
                </a:ln>
                <a:solidFill>
                  <a:srgbClr val="E11D48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· 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RPO ≤ 15 min · RTO ≤ 2 h · 审计独立备份不销毁</a:t>
            </a:r>
          </a:p>
        </p:txBody>
      </p:sp>
      <p:sp>
        <p:nvSpPr>
          <p:cNvPr id="212" name="Rounded Rectangle 1">
            <a:extLst>
              <a:ext uri="{FF2B5EF4-FFF2-40B4-BE49-F238E27FC236}">
                <a16:creationId xmlns:a16="http://schemas.microsoft.com/office/drawing/2014/main" id="{B0B3CCD7-5D2D-FEFB-F663-CB4E24B438F1}"/>
              </a:ext>
            </a:extLst>
          </p:cNvPr>
          <p:cNvSpPr/>
          <p:nvPr/>
        </p:nvSpPr>
        <p:spPr>
          <a:xfrm>
            <a:off x="150876" y="116586"/>
            <a:ext cx="37719" cy="274320"/>
          </a:xfrm>
          <a:prstGeom prst="roundRect">
            <a:avLst>
              <a:gd name="adj" fmla="val 49090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C333B7DF-90FE-518E-1F76-A7212E38E944}"/>
              </a:ext>
            </a:extLst>
          </p:cNvPr>
          <p:cNvSpPr/>
          <p:nvPr/>
        </p:nvSpPr>
        <p:spPr>
          <a:xfrm>
            <a:off x="8115300" y="0"/>
            <a:ext cx="1028700" cy="219729"/>
          </a:xfrm>
          <a:prstGeom prst="rect">
            <a:avLst/>
          </a:prstGeom>
          <a:solidFill>
            <a:srgbClr val="009CDE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Appendix</a:t>
            </a:r>
            <a:endParaRPr kumimoji="0" lang="zh-CN" altLang="en-US" sz="11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19431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50876" y="116586"/>
            <a:ext cx="37719" cy="274320"/>
          </a:xfrm>
          <a:prstGeom prst="roundRect">
            <a:avLst>
              <a:gd name="adj" fmla="val 49090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60604" y="89154"/>
            <a:ext cx="6172200" cy="2331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88" b="1" i="0" u="none" strike="noStrike" kern="1200" cap="none" spc="0" normalizeH="0" baseline="0" noProof="0" err="1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存算分离架构</a:t>
            </a:r>
            <a:endParaRPr kumimoji="0" sz="1388" b="1" i="0" u="none" strike="noStrike" kern="1200" cap="none" spc="0" normalizeH="0" baseline="0" noProof="0">
              <a:ln>
                <a:noFill/>
              </a:ln>
              <a:solidFill>
                <a:srgbClr val="009CDE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377190" y="507492"/>
            <a:ext cx="0" cy="4224528"/>
          </a:xfrm>
          <a:prstGeom prst="line">
            <a:avLst/>
          </a:prstGeom>
          <a:ln w="31750">
            <a:solidFill>
              <a:srgbClr val="E2E8F0"/>
            </a:solidFill>
          </a:ln>
          <a:effectLst/>
        </p:spPr>
      </p:cxnSp>
      <p:sp>
        <p:nvSpPr>
          <p:cNvPr id="5" name="Rounded Rectangle 4"/>
          <p:cNvSpPr/>
          <p:nvPr/>
        </p:nvSpPr>
        <p:spPr>
          <a:xfrm>
            <a:off x="534924" y="425196"/>
            <a:ext cx="5328666" cy="466344"/>
          </a:xfrm>
          <a:prstGeom prst="roundRect">
            <a:avLst>
              <a:gd name="adj" fmla="val 11764"/>
            </a:avLst>
          </a:prstGeom>
          <a:solidFill>
            <a:schemeClr val="bg1"/>
          </a:solidFill>
          <a:ln w="1524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260604" y="541781"/>
            <a:ext cx="233172" cy="233172"/>
          </a:xfrm>
          <a:prstGeom prst="ellipse">
            <a:avLst/>
          </a:prstGeom>
          <a:solidFill>
            <a:srgbClr val="FFFFFF"/>
          </a:solidFill>
          <a:ln w="2286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60604" y="536067"/>
            <a:ext cx="233172" cy="2331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8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" y="466344"/>
            <a:ext cx="1001268" cy="1234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89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源系统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" y="596646"/>
            <a:ext cx="1001268" cy="822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90" b="1" i="0" u="none" strike="noStrike" kern="1200" cap="none" spc="83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" y="699516"/>
            <a:ext cx="1014984" cy="857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43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退役 · 只读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" y="788670"/>
            <a:ext cx="1014984" cy="857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43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15 套待归档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73352" y="480060"/>
            <a:ext cx="2016252" cy="356616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651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93926" y="480060"/>
            <a:ext cx="1975104" cy="3566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55" b="0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结构化数据</a:t>
            </a:r>
          </a:p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Oracle · MySQL · DB2 / 其他 · JDBC 读取 · 约 100 张表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78758" y="480060"/>
            <a:ext cx="2016252" cy="356616"/>
          </a:xfrm>
          <a:prstGeom prst="roundRect">
            <a:avLst>
              <a:gd name="adj" fmla="val 9615"/>
            </a:avLst>
          </a:prstGeom>
          <a:solidFill>
            <a:schemeClr val="bg1"/>
          </a:solidFill>
          <a:ln w="1651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799332" y="480060"/>
            <a:ext cx="1975104" cy="3566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55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非结构化附件</a:t>
            </a:r>
            <a:endParaRPr kumimoji="0" sz="55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NFS · S3 · Azure Blob · PDF / </a:t>
            </a:r>
            <a:r>
              <a:rPr kumimoji="0" sz="450" b="0" i="0" u="none" strike="noStrike" kern="1200" cap="none" spc="0" normalizeH="0" baseline="0" noProof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图片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/ </a:t>
            </a:r>
            <a:r>
              <a:rPr kumimoji="0" sz="450" b="0" i="0" u="none" strike="noStrike" kern="1200" cap="none" spc="0" normalizeH="0" baseline="0" noProof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影像件</a:t>
            </a:r>
            <a:endParaRPr kumimoji="0" sz="45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737610" y="891540"/>
            <a:ext cx="0" cy="75438"/>
          </a:xfrm>
          <a:prstGeom prst="line">
            <a:avLst/>
          </a:prstGeom>
          <a:ln w="20320">
            <a:solidFill>
              <a:srgbClr val="94A3B8"/>
            </a:solidFill>
            <a:tailEnd type="triangle" w="med" len="med"/>
          </a:ln>
          <a:effectLst/>
        </p:spPr>
      </p:cxnSp>
      <p:sp>
        <p:nvSpPr>
          <p:cNvPr id="17" name="Rounded Rectangle 16"/>
          <p:cNvSpPr/>
          <p:nvPr/>
        </p:nvSpPr>
        <p:spPr>
          <a:xfrm>
            <a:off x="534924" y="973836"/>
            <a:ext cx="5328666" cy="630936"/>
          </a:xfrm>
          <a:prstGeom prst="roundRect">
            <a:avLst>
              <a:gd name="adj" fmla="val 8695"/>
            </a:avLst>
          </a:prstGeom>
          <a:solidFill>
            <a:schemeClr val="bg1"/>
          </a:solidFill>
          <a:ln w="1524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260604" y="1172718"/>
            <a:ext cx="233172" cy="233172"/>
          </a:xfrm>
          <a:prstGeom prst="ellipse">
            <a:avLst/>
          </a:prstGeom>
          <a:solidFill>
            <a:srgbClr val="FFFFFF"/>
          </a:solidFill>
          <a:ln w="2286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3745" y="1165859"/>
            <a:ext cx="233172" cy="2331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98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B-00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" y="1014984"/>
            <a:ext cx="1001268" cy="1234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89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接入配置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" y="1145286"/>
            <a:ext cx="1001268" cy="822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90" b="1" i="0" u="none" strike="noStrike" kern="1200" cap="none" spc="83" normalizeH="0" baseline="0" noProof="0">
                <a:ln>
                  <a:noFill/>
                </a:ln>
                <a:solidFill>
                  <a:srgbClr val="0891B2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CONFIGURE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" y="1248155"/>
            <a:ext cx="1014984" cy="857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43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页面操作 · 零代码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" y="1337309"/>
            <a:ext cx="1014984" cy="857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43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配置存元数据库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" y="1426463"/>
            <a:ext cx="1014984" cy="857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43" b="1" i="0" u="none" strike="noStrike" kern="1200" cap="none" spc="0" normalizeH="0" baseline="0" noProof="0">
                <a:ln>
                  <a:noFill/>
                </a:ln>
                <a:solidFill>
                  <a:srgbClr val="0891B2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新系统接入复用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673352" y="1014984"/>
            <a:ext cx="1268730" cy="438912"/>
          </a:xfrm>
          <a:prstGeom prst="roundRect">
            <a:avLst>
              <a:gd name="adj" fmla="val 7812"/>
            </a:avLst>
          </a:prstGeom>
          <a:solidFill>
            <a:srgbClr val="FFFFFF"/>
          </a:solidFill>
          <a:ln w="1651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741932" y="1056132"/>
            <a:ext cx="1152144" cy="8915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1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① 录入连接信息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41932" y="1165860"/>
            <a:ext cx="1152144" cy="1508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28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主机 / 端口 / 账号 · 凭据存 Key Vault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41932" y="1309878"/>
            <a:ext cx="1152144" cy="1508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28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「测试连接」校验连通与权限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099815" y="1014984"/>
            <a:ext cx="1268730" cy="438912"/>
          </a:xfrm>
          <a:prstGeom prst="roundRect">
            <a:avLst>
              <a:gd name="adj" fmla="val 7812"/>
            </a:avLst>
          </a:prstGeom>
          <a:solidFill>
            <a:srgbClr val="FFFFFF"/>
          </a:solidFill>
          <a:ln w="1651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168395" y="1056132"/>
            <a:ext cx="1152144" cy="8915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1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② 自动读取表清单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68395" y="1165860"/>
            <a:ext cx="1152144" cy="1508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28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扫描 information_schema · 表名 / 行数 / 大小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68395" y="1309878"/>
            <a:ext cx="1152144" cy="1508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28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共发现 10 张表（含类型与主键）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26280" y="1014984"/>
            <a:ext cx="1268730" cy="438912"/>
          </a:xfrm>
          <a:prstGeom prst="roundRect">
            <a:avLst>
              <a:gd name="adj" fmla="val 7812"/>
            </a:avLst>
          </a:prstGeom>
          <a:solidFill>
            <a:srgbClr val="FFFFFF"/>
          </a:solidFill>
          <a:ln w="1651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594859" y="1056132"/>
            <a:ext cx="1152144" cy="8915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1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③ 勾选待迁移表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94859" y="1165860"/>
            <a:ext cx="1152144" cy="1508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28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☑ 订单主表 · 明细 · 客户 · 商品 · 支付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94859" y="1309878"/>
            <a:ext cx="1152144" cy="1508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28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☐ 临时 / 日志 / 中间 / 缓存 / 备份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948940" y="1234440"/>
            <a:ext cx="137160" cy="0"/>
          </a:xfrm>
          <a:prstGeom prst="line">
            <a:avLst/>
          </a:prstGeom>
          <a:ln w="19050">
            <a:solidFill>
              <a:srgbClr val="0891B2"/>
            </a:solidFill>
            <a:tailEnd type="triangle" w="med" len="med"/>
          </a:ln>
          <a:effectLst/>
        </p:spPr>
      </p:cxnSp>
      <p:cxnSp>
        <p:nvCxnSpPr>
          <p:cNvPr id="38" name="Connector 37"/>
          <p:cNvCxnSpPr/>
          <p:nvPr/>
        </p:nvCxnSpPr>
        <p:spPr>
          <a:xfrm>
            <a:off x="4375404" y="1234440"/>
            <a:ext cx="137160" cy="0"/>
          </a:xfrm>
          <a:prstGeom prst="line">
            <a:avLst/>
          </a:prstGeom>
          <a:ln w="19050">
            <a:solidFill>
              <a:srgbClr val="0891B2"/>
            </a:solidFill>
            <a:tailEnd type="triangle" w="med" len="med"/>
          </a:ln>
          <a:effectLst/>
        </p:spPr>
      </p:cxnSp>
      <p:sp>
        <p:nvSpPr>
          <p:cNvPr id="39" name="TextBox 38"/>
          <p:cNvSpPr txBox="1"/>
          <p:nvPr/>
        </p:nvSpPr>
        <p:spPr>
          <a:xfrm>
            <a:off x="1673352" y="1474470"/>
            <a:ext cx="4121658" cy="8915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65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按配置生成</a:t>
            </a:r>
            <a:r>
              <a:rPr kumimoji="0" sz="4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</a:t>
            </a:r>
            <a:r>
              <a:rPr kumimoji="0" sz="465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SeaTunnel</a:t>
            </a:r>
            <a:r>
              <a:rPr kumimoji="0" sz="4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</a:t>
            </a:r>
            <a:r>
              <a:rPr kumimoji="0" sz="465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任务</a:t>
            </a:r>
            <a:r>
              <a:rPr kumimoji="0" sz="4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· </a:t>
            </a:r>
            <a:r>
              <a:rPr kumimoji="0" sz="465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仅入湖勾选的</a:t>
            </a:r>
            <a:r>
              <a:rPr kumimoji="0" sz="4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5 张表（10 选 5）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737610" y="1604772"/>
            <a:ext cx="0" cy="75438"/>
          </a:xfrm>
          <a:prstGeom prst="line">
            <a:avLst/>
          </a:prstGeom>
          <a:ln w="20320">
            <a:solidFill>
              <a:srgbClr val="94A3B8"/>
            </a:solidFill>
            <a:tailEnd type="triangle" w="med" len="med"/>
          </a:ln>
          <a:effectLst/>
        </p:spPr>
      </p:cxnSp>
      <p:sp>
        <p:nvSpPr>
          <p:cNvPr id="41" name="Rounded Rectangle 40"/>
          <p:cNvSpPr/>
          <p:nvPr/>
        </p:nvSpPr>
        <p:spPr>
          <a:xfrm>
            <a:off x="534924" y="1687068"/>
            <a:ext cx="5328666" cy="466344"/>
          </a:xfrm>
          <a:prstGeom prst="roundRect">
            <a:avLst>
              <a:gd name="adj" fmla="val 11764"/>
            </a:avLst>
          </a:prstGeom>
          <a:solidFill>
            <a:schemeClr val="bg1"/>
          </a:solidFill>
          <a:ln w="1524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260604" y="1803654"/>
            <a:ext cx="233172" cy="233172"/>
          </a:xfrm>
          <a:prstGeom prst="ellipse">
            <a:avLst/>
          </a:prstGeom>
          <a:solidFill>
            <a:srgbClr val="FFFFFF"/>
          </a:solidFill>
          <a:ln w="2286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70891" y="1803654"/>
            <a:ext cx="233172" cy="2331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8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7220" y="1728216"/>
            <a:ext cx="1001268" cy="1234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89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数据抽取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7220" y="1858518"/>
            <a:ext cx="1001268" cy="822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90" b="1" i="0" u="none" strike="noStrike" kern="1200" cap="none" spc="83" normalizeH="0" baseline="0" noProof="0">
                <a:ln>
                  <a:noFill/>
                </a:ln>
                <a:solidFill>
                  <a:srgbClr val="EA580C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INGEST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7220" y="1961388"/>
            <a:ext cx="1014984" cy="857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43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批量 · 全量 + 增量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7220" y="2050542"/>
            <a:ext cx="1014984" cy="857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43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ADF 编排调度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673352" y="1741932"/>
            <a:ext cx="2016252" cy="356616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651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693926" y="1741932"/>
            <a:ext cx="1975104" cy="3566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55" b="0" i="0" u="none" strike="noStrike" kern="1200" cap="none" spc="0" normalizeH="0" baseline="0" noProof="0" err="1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结构化</a:t>
            </a:r>
            <a:r>
              <a:rPr kumimoji="0" sz="555" b="0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· </a:t>
            </a:r>
            <a:r>
              <a:rPr kumimoji="0" lang="en-US" altLang="zh-CN" sz="555" b="0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Databricks Serverless </a:t>
            </a:r>
            <a:r>
              <a:rPr kumimoji="0" lang="en-US" altLang="zh-CN" sz="555" b="0" i="0" u="none" strike="noStrike" kern="1200" cap="none" spc="0" normalizeH="0" baseline="0" noProof="0" err="1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Lakeflow</a:t>
            </a:r>
            <a:endParaRPr kumimoji="0" sz="555" b="0" i="0" u="none" strike="noStrike" kern="1200" cap="none" spc="0" normalizeH="0" baseline="0" noProof="0">
              <a:ln>
                <a:noFill/>
              </a:ln>
              <a:solidFill>
                <a:srgbClr val="0F172A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200+ </a:t>
            </a:r>
            <a:r>
              <a:rPr kumimoji="0" sz="450" b="0" i="0" u="none" strike="noStrike" kern="1200" cap="none" spc="0" normalizeH="0" baseline="0" noProof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连接器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· JDBC · </a:t>
            </a:r>
            <a:r>
              <a:rPr kumimoji="0" sz="450" b="0" i="0" u="none" strike="noStrike" kern="1200" cap="none" spc="0" normalizeH="0" baseline="0" noProof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类型映射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· </a:t>
            </a:r>
            <a:r>
              <a:rPr kumimoji="0" sz="450" b="0" i="0" u="none" strike="noStrike" kern="1200" cap="none" spc="0" normalizeH="0" baseline="0" noProof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对账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→ Iceberg 表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778758" y="1741932"/>
            <a:ext cx="2016252" cy="356616"/>
          </a:xfrm>
          <a:prstGeom prst="roundRect">
            <a:avLst>
              <a:gd name="adj" fmla="val 9615"/>
            </a:avLst>
          </a:prstGeom>
          <a:solidFill>
            <a:schemeClr val="bg1"/>
          </a:solidFill>
          <a:ln w="1905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799332" y="1741932"/>
            <a:ext cx="1975104" cy="3566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55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附件</a:t>
            </a:r>
            <a:r>
              <a:rPr kumimoji="0" sz="55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· Storage Mover</a:t>
            </a:r>
          </a:p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PDF / </a:t>
            </a:r>
            <a:r>
              <a:rPr kumimoji="0" sz="450" b="0" i="0" u="none" strike="noStrike" kern="1200" cap="none" spc="0" normalizeH="0" baseline="0" noProof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图片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/ Office </a:t>
            </a:r>
            <a:r>
              <a:rPr kumimoji="0" sz="450" b="0" i="0" u="none" strike="noStrike" kern="1200" cap="none" spc="0" normalizeH="0" baseline="0" noProof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影像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· </a:t>
            </a:r>
            <a:r>
              <a:rPr kumimoji="0" sz="450" b="0" i="0" u="none" strike="noStrike" kern="1200" cap="none" spc="0" normalizeH="0" baseline="0" noProof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服务免费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→ ADLS </a:t>
            </a:r>
            <a:r>
              <a:rPr kumimoji="0" sz="450" b="0" i="0" u="none" strike="noStrike" kern="1200" cap="none" spc="0" normalizeH="0" baseline="0" noProof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附件容器</a:t>
            </a:r>
            <a:endParaRPr kumimoji="0" sz="45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</p:txBody>
      </p:sp>
      <p:cxnSp>
        <p:nvCxnSpPr>
          <p:cNvPr id="52" name="Connector 51"/>
          <p:cNvCxnSpPr/>
          <p:nvPr/>
        </p:nvCxnSpPr>
        <p:spPr>
          <a:xfrm>
            <a:off x="3737610" y="2153412"/>
            <a:ext cx="0" cy="75438"/>
          </a:xfrm>
          <a:prstGeom prst="line">
            <a:avLst/>
          </a:prstGeom>
          <a:ln w="20320">
            <a:solidFill>
              <a:srgbClr val="94A3B8"/>
            </a:solidFill>
            <a:tailEnd type="triangle" w="med" len="med"/>
          </a:ln>
          <a:effectLst/>
        </p:spPr>
      </p:cxnSp>
      <p:sp>
        <p:nvSpPr>
          <p:cNvPr id="53" name="Rounded Rectangle 52"/>
          <p:cNvSpPr/>
          <p:nvPr/>
        </p:nvSpPr>
        <p:spPr>
          <a:xfrm>
            <a:off x="534924" y="2235708"/>
            <a:ext cx="5328666" cy="850392"/>
          </a:xfrm>
          <a:prstGeom prst="roundRect">
            <a:avLst>
              <a:gd name="adj" fmla="val 6451"/>
            </a:avLst>
          </a:prstGeom>
          <a:solidFill>
            <a:srgbClr val="FAF9FF"/>
          </a:solidFill>
          <a:ln w="1524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260604" y="2544318"/>
            <a:ext cx="233172" cy="233172"/>
          </a:xfrm>
          <a:prstGeom prst="ellipse">
            <a:avLst/>
          </a:prstGeom>
          <a:solidFill>
            <a:srgbClr val="FFFFFF"/>
          </a:solidFill>
          <a:ln w="2286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260604" y="2544318"/>
            <a:ext cx="233172" cy="2331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98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B-03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7220" y="2276856"/>
            <a:ext cx="1001268" cy="1234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89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Iceberg 冷湖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7220" y="2407158"/>
            <a:ext cx="1001268" cy="822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90" b="1" i="0" u="none" strike="noStrike" kern="1200" cap="none" spc="83" normalizeH="0" baseline="0" noProof="0">
                <a:ln>
                  <a:noFill/>
                </a:ln>
                <a:solidFill>
                  <a:srgbClr val="7C3AED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COLD LAKE · STORAGE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7220" y="2510027"/>
            <a:ext cx="1014984" cy="857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43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ADLS Gen2 · Parquet + ZSTD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7220" y="2599181"/>
            <a:ext cx="1014984" cy="857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43" b="1" i="0" u="none" strike="noStrike" kern="1200" cap="none" spc="0" normalizeH="0" baseline="0" noProof="0">
                <a:ln>
                  <a:noFill/>
                </a:ln>
                <a:solidFill>
                  <a:srgbClr val="7C3AED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≈¥90–150/TB·月 · PB 级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7220" y="2688335"/>
            <a:ext cx="1014984" cy="857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43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100 张表 · 1:1 原样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7220" y="2777490"/>
            <a:ext cx="1014984" cy="857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43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Hot / Cool 分层 · ZRS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673352" y="2276856"/>
            <a:ext cx="4121658" cy="960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7C3AED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Iceberg 表 · 四层分层（RAW → SERVE 逐层升温，越往下越热）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673352" y="2400300"/>
            <a:ext cx="4121658" cy="154305"/>
          </a:xfrm>
          <a:prstGeom prst="roundRect">
            <a:avLst>
              <a:gd name="adj" fmla="val 17777"/>
            </a:avLst>
          </a:prstGeom>
          <a:solidFill>
            <a:srgbClr val="EEF2FF"/>
          </a:solidFill>
          <a:ln w="127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1687068" y="2417445"/>
            <a:ext cx="24003" cy="120015"/>
          </a:xfrm>
          <a:prstGeom prst="roundRect">
            <a:avLst>
              <a:gd name="adj" fmla="val 48571"/>
            </a:avLst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769364" y="2400300"/>
            <a:ext cx="3977640" cy="15430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5" b="1" i="0" u="none" strike="noStrike" kern="1200" cap="none" spc="0" normalizeH="0" baseline="0" noProof="0">
                <a:ln>
                  <a:noFill/>
                </a:ln>
                <a:solidFill>
                  <a:srgbClr val="4338C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RAW · 原始落地（最冷）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　SeaTunnel 全量 1:1 保真 · 分区 sys_id / ingest_date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673352" y="2568321"/>
            <a:ext cx="4121658" cy="154305"/>
          </a:xfrm>
          <a:prstGeom prst="roundRect">
            <a:avLst>
              <a:gd name="adj" fmla="val 17777"/>
            </a:avLst>
          </a:prstGeom>
          <a:solidFill>
            <a:srgbClr val="EDE9FE"/>
          </a:solidFill>
          <a:ln w="12700">
            <a:solidFill>
              <a:srgbClr val="C4B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1687068" y="2585466"/>
            <a:ext cx="24003" cy="120015"/>
          </a:xfrm>
          <a:prstGeom prst="roundRect">
            <a:avLst>
              <a:gd name="adj" fmla="val 48571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769364" y="2568321"/>
            <a:ext cx="3977640" cy="15430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5" b="1" i="0" u="none" strike="noStrike" kern="1200" cap="none" spc="0" normalizeH="0" baseline="0" noProof="0">
                <a:ln>
                  <a:noFill/>
                </a:ln>
                <a:solidFill>
                  <a:srgbClr val="6D28D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CURATED · 清洗规整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　类型统一 · 缺失值处理 · SHA-256 台账 · 分区归约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673352" y="2736342"/>
            <a:ext cx="4121658" cy="154305"/>
          </a:xfrm>
          <a:prstGeom prst="roundRect">
            <a:avLst>
              <a:gd name="adj" fmla="val 17777"/>
            </a:avLst>
          </a:prstGeom>
          <a:solidFill>
            <a:srgbClr val="F5F3FF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1687068" y="2753487"/>
            <a:ext cx="24003" cy="120015"/>
          </a:xfrm>
          <a:prstGeom prst="roundRect">
            <a:avLst>
              <a:gd name="adj" fmla="val 48571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769364" y="2736342"/>
            <a:ext cx="3977640" cy="15430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5" b="1" i="0" u="none" strike="noStrike" kern="1200" cap="none" spc="0" normalizeH="0" baseline="0" noProof="0">
                <a:ln>
                  <a:noFill/>
                </a:ln>
                <a:solidFill>
                  <a:srgbClr val="5B21B6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LAKE · 建模归档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　业务维度建模 · 生命周期分区（销毁友好）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673352" y="2904363"/>
            <a:ext cx="4121658" cy="154305"/>
          </a:xfrm>
          <a:prstGeom prst="roundRect">
            <a:avLst>
              <a:gd name="adj" fmla="val 17777"/>
            </a:avLst>
          </a:prstGeom>
          <a:solidFill>
            <a:srgbClr val="FEF3C7"/>
          </a:solidFill>
          <a:ln w="12700"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1687068" y="2921508"/>
            <a:ext cx="24003" cy="120015"/>
          </a:xfrm>
          <a:prstGeom prst="roundRect">
            <a:avLst>
              <a:gd name="adj" fmla="val 48571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1769364" y="2904363"/>
            <a:ext cx="3977640" cy="15430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5" b="1" i="0" u="none" strike="noStrike" kern="1200" cap="none" spc="0" normalizeH="0" baseline="0" noProof="0">
                <a:ln>
                  <a:noFill/>
                </a:ln>
                <a:solidFill>
                  <a:srgbClr val="B4530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SERVE · </a:t>
            </a:r>
            <a:r>
              <a:rPr kumimoji="0" sz="525" b="1" i="0" u="none" strike="noStrike" kern="1200" cap="none" spc="0" normalizeH="0" baseline="0" noProof="0" err="1">
                <a:ln>
                  <a:noFill/>
                </a:ln>
                <a:solidFill>
                  <a:srgbClr val="B4530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加速服务（最热</a:t>
            </a:r>
            <a:r>
              <a:rPr kumimoji="0" sz="525" b="1" i="0" u="none" strike="noStrike" kern="1200" cap="none" spc="0" normalizeH="0" baseline="0" noProof="0">
                <a:ln>
                  <a:noFill/>
                </a:ln>
                <a:solidFill>
                  <a:srgbClr val="B4530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）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　</a:t>
            </a:r>
            <a:r>
              <a:rPr kumimoji="0" sz="450" b="0" i="0" u="none" strike="noStrike" kern="1200" cap="none" spc="0" normalizeH="0" baseline="0" noProof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热表物化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· Z-Order · 供 Databricks SQL Serverless </a:t>
            </a:r>
            <a:r>
              <a:rPr kumimoji="0" sz="450" b="0" i="0" u="none" strike="noStrike" kern="1200" cap="none" spc="0" normalizeH="0" baseline="0" noProof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直查</a:t>
            </a:r>
            <a:endParaRPr kumimoji="0" sz="450" b="0" i="0" u="none" strike="noStrike" kern="1200" cap="none" spc="0" normalizeH="0" baseline="0" noProof="0">
              <a:ln>
                <a:noFill/>
              </a:ln>
              <a:solidFill>
                <a:srgbClr val="64748B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</p:txBody>
      </p:sp>
      <p:cxnSp>
        <p:nvCxnSpPr>
          <p:cNvPr id="75" name="Connector 74"/>
          <p:cNvCxnSpPr/>
          <p:nvPr/>
        </p:nvCxnSpPr>
        <p:spPr>
          <a:xfrm>
            <a:off x="534924" y="3188970"/>
            <a:ext cx="5328666" cy="0"/>
          </a:xfrm>
          <a:prstGeom prst="line">
            <a:avLst/>
          </a:prstGeom>
          <a:ln w="20320">
            <a:solidFill>
              <a:schemeClr val="tx2">
                <a:lumMod val="60000"/>
                <a:lumOff val="40000"/>
              </a:schemeClr>
            </a:solidFill>
            <a:prstDash val="dash"/>
          </a:ln>
          <a:effectLst/>
        </p:spPr>
      </p:cxnSp>
      <p:sp>
        <p:nvSpPr>
          <p:cNvPr id="76" name="Rounded Rectangle 75"/>
          <p:cNvSpPr/>
          <p:nvPr/>
        </p:nvSpPr>
        <p:spPr>
          <a:xfrm>
            <a:off x="3168396" y="3120390"/>
            <a:ext cx="1207008" cy="1371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3168396" y="3120390"/>
            <a:ext cx="1207008" cy="1371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10" b="1" i="0" u="none" strike="noStrike" kern="1200" cap="none" spc="0" normalizeH="0" baseline="0" noProof="0">
                <a:ln>
                  <a:noFill/>
                </a:ln>
                <a:solidFill>
                  <a:srgbClr val="004F71">
                    <a:lumMod val="60000"/>
                    <a:lumOff val="40000"/>
                  </a:srgbClr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━━ </a:t>
            </a:r>
            <a:r>
              <a:rPr kumimoji="0" sz="510" b="1" i="0" u="none" strike="noStrike" kern="1200" cap="none" spc="0" normalizeH="0" baseline="0" noProof="0" err="1">
                <a:ln>
                  <a:noFill/>
                </a:ln>
                <a:solidFill>
                  <a:srgbClr val="004F71">
                    <a:lumMod val="60000"/>
                    <a:lumOff val="40000"/>
                  </a:srgbClr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存算分离边界</a:t>
            </a:r>
            <a:r>
              <a:rPr kumimoji="0" sz="510" b="1" i="0" u="none" strike="noStrike" kern="1200" cap="none" spc="0" normalizeH="0" baseline="0" noProof="0">
                <a:ln>
                  <a:noFill/>
                </a:ln>
                <a:solidFill>
                  <a:srgbClr val="004F71">
                    <a:lumMod val="60000"/>
                    <a:lumOff val="40000"/>
                  </a:srgbClr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━━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2331720" y="3086100"/>
            <a:ext cx="0" cy="205740"/>
          </a:xfrm>
          <a:prstGeom prst="line">
            <a:avLst/>
          </a:prstGeom>
          <a:ln w="22860">
            <a:solidFill>
              <a:srgbClr val="7C3AED"/>
            </a:solidFill>
            <a:tailEnd type="triangle" w="med" len="med"/>
          </a:ln>
          <a:effectLst/>
        </p:spPr>
      </p:cxnSp>
      <p:sp>
        <p:nvSpPr>
          <p:cNvPr id="79" name="TextBox 78"/>
          <p:cNvSpPr txBox="1"/>
          <p:nvPr/>
        </p:nvSpPr>
        <p:spPr>
          <a:xfrm>
            <a:off x="2414016" y="3092958"/>
            <a:ext cx="685800" cy="822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20" b="1" i="0" u="none" strike="noStrike" kern="1200" cap="none" spc="0" normalizeH="0" baseline="0" noProof="0">
                <a:ln>
                  <a:noFill/>
                </a:ln>
                <a:solidFill>
                  <a:srgbClr val="7C3AED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Serverless 直查</a:t>
            </a:r>
          </a:p>
        </p:txBody>
      </p:sp>
      <p:cxnSp>
        <p:nvCxnSpPr>
          <p:cNvPr id="80" name="Connector 79"/>
          <p:cNvCxnSpPr/>
          <p:nvPr/>
        </p:nvCxnSpPr>
        <p:spPr>
          <a:xfrm flipV="1">
            <a:off x="5349240" y="3086100"/>
            <a:ext cx="0" cy="205740"/>
          </a:xfrm>
          <a:prstGeom prst="line">
            <a:avLst/>
          </a:prstGeom>
          <a:ln w="22860">
            <a:solidFill>
              <a:srgbClr val="059669"/>
            </a:solidFill>
            <a:tailEnd type="triangle" w="med" len="med"/>
          </a:ln>
          <a:effectLst/>
        </p:spPr>
      </p:cxnSp>
      <p:sp>
        <p:nvSpPr>
          <p:cNvPr id="81" name="TextBox 80"/>
          <p:cNvSpPr txBox="1"/>
          <p:nvPr/>
        </p:nvSpPr>
        <p:spPr>
          <a:xfrm>
            <a:off x="4423410" y="3202686"/>
            <a:ext cx="877824" cy="822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20" b="1" i="0" u="none" strike="noStrike" kern="1200" cap="none" spc="0" normalizeH="0" baseline="0" noProof="0">
                <a:ln>
                  <a:noFill/>
                </a:ln>
                <a:solidFill>
                  <a:srgbClr val="0596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ETL 写入 · Databricks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534924" y="3291840"/>
            <a:ext cx="5328666" cy="576072"/>
          </a:xfrm>
          <a:prstGeom prst="roundRect">
            <a:avLst>
              <a:gd name="adj" fmla="val 9523"/>
            </a:avLst>
          </a:prstGeom>
          <a:solidFill>
            <a:schemeClr val="bg1"/>
          </a:solidFill>
          <a:ln w="1524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83" name="Oval 82"/>
          <p:cNvSpPr/>
          <p:nvPr/>
        </p:nvSpPr>
        <p:spPr>
          <a:xfrm>
            <a:off x="260604" y="3463290"/>
            <a:ext cx="233172" cy="233172"/>
          </a:xfrm>
          <a:prstGeom prst="ellipse">
            <a:avLst/>
          </a:prstGeom>
          <a:solidFill>
            <a:srgbClr val="FFFFFF"/>
          </a:solidFill>
          <a:ln w="2286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260604" y="3457575"/>
            <a:ext cx="233172" cy="2331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98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B-04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17220" y="3332987"/>
            <a:ext cx="1001268" cy="1234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89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统一计算层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17220" y="3463290"/>
            <a:ext cx="1001268" cy="822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90" b="1" i="0" u="none" strike="noStrike" kern="1200" cap="none" spc="83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COMPUTE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17220" y="3566160"/>
            <a:ext cx="1014984" cy="857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43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Databricks 读写一体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17220" y="3655314"/>
            <a:ext cx="1014984" cy="857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43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弹性 · 按量计费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673352" y="3332988"/>
            <a:ext cx="2016252" cy="493776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651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1741932" y="3374136"/>
            <a:ext cx="1892808" cy="8915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4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Databricks</a:t>
            </a:r>
            <a:r>
              <a:rPr kumimoji="0" lang="en-US" sz="54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</a:t>
            </a:r>
            <a:r>
              <a:rPr kumimoji="0" lang="en-US" altLang="zh-CN" sz="54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Serverless </a:t>
            </a:r>
            <a:r>
              <a:rPr kumimoji="0" lang="en-US" altLang="zh-CN" sz="540" b="1" i="0" u="none" strike="noStrike" kern="1200" cap="none" spc="0" normalizeH="0" baseline="0" noProof="0" err="1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Lakeflow</a:t>
            </a:r>
            <a:r>
              <a:rPr kumimoji="0" sz="54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· </a:t>
            </a:r>
            <a:r>
              <a:rPr kumimoji="0" sz="540" b="1" i="0" u="none" strike="noStrike" kern="1200" cap="none" spc="0" normalizeH="0" baseline="0" noProof="0" err="1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写侧</a:t>
            </a:r>
            <a:r>
              <a:rPr kumimoji="0" sz="54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ETL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728216" y="3483864"/>
            <a:ext cx="1920240" cy="7886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43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RAW → CURATED → LAKE → SERVE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728216" y="3569589"/>
            <a:ext cx="1920240" cy="7886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43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Spark 批处理 · Iceberg 写入 · Z-Order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728216" y="3655314"/>
            <a:ext cx="1920240" cy="7886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43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Compaction · VACUUM · 到期销毁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728216" y="3741039"/>
            <a:ext cx="1920240" cy="7886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43" b="1" i="0" u="none" strike="noStrike" kern="1200" cap="none" spc="0" normalizeH="0" baseline="0" noProof="0">
                <a:ln>
                  <a:noFill/>
                </a:ln>
                <a:solidFill>
                  <a:srgbClr val="0596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按 DBU 计费 · 按需拉起 ≈¥0.4–0.8 万/月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3778758" y="3332988"/>
            <a:ext cx="2016252" cy="493776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651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3847337" y="3374136"/>
            <a:ext cx="1892808" cy="8915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lvl="0" algn="ctr" defTabSz="685800">
              <a:lnSpc>
                <a:spcPct val="112000"/>
              </a:lnSpc>
              <a:defRPr/>
            </a:pPr>
            <a:r>
              <a:rPr kumimoji="0" sz="54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Databricks </a:t>
            </a:r>
            <a:r>
              <a:rPr lang="en-US" sz="540" b="1">
                <a:solidFill>
                  <a:srgbClr val="0F172A"/>
                </a:solidFill>
                <a:ea typeface="Microsoft YaHei"/>
              </a:rPr>
              <a:t>Serverless </a:t>
            </a:r>
            <a:r>
              <a:rPr kumimoji="0" sz="54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SQL</a:t>
            </a:r>
            <a:r>
              <a:rPr kumimoji="0" lang="en-US" sz="54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</a:t>
            </a:r>
            <a:r>
              <a:rPr kumimoji="0" lang="en-US" altLang="zh-CN" sz="54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Warehouse</a:t>
            </a:r>
            <a:endParaRPr kumimoji="0" sz="540" b="1" i="0" u="none" strike="noStrike" kern="1200" cap="none" spc="0" normalizeH="0" baseline="0" noProof="0">
              <a:ln>
                <a:noFill/>
              </a:ln>
              <a:solidFill>
                <a:srgbClr val="0F172A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3833622" y="3483864"/>
            <a:ext cx="1920240" cy="7886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43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读侧查询 · 零运维 · 故障自动重建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833622" y="3569589"/>
            <a:ext cx="1920240" cy="7886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43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Iceberg 直查 · SERVE 加速 · 首屏 2–5 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833622" y="3655314"/>
            <a:ext cx="1920240" cy="7886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43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UC 表 / 行 / 列级授权 + 审计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833622" y="3741039"/>
            <a:ext cx="1920240" cy="7886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43" b="1" i="0" u="none" strike="noStrike" kern="1200" cap="none" spc="0" normalizeH="0" baseline="0" noProof="0">
                <a:ln>
                  <a:noFill/>
                </a:ln>
                <a:solidFill>
                  <a:srgbClr val="0596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X-Small 6 DBU/h · 空闲缩 0 ≈¥0.5–0.9 万/月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3737610" y="3867912"/>
            <a:ext cx="0" cy="75438"/>
          </a:xfrm>
          <a:prstGeom prst="line">
            <a:avLst/>
          </a:prstGeom>
          <a:ln w="20320">
            <a:solidFill>
              <a:srgbClr val="94A3B8"/>
            </a:solidFill>
            <a:tailEnd type="triangle" w="med" len="med"/>
          </a:ln>
          <a:effectLst/>
        </p:spPr>
      </p:cxnSp>
      <p:sp>
        <p:nvSpPr>
          <p:cNvPr id="102" name="Rounded Rectangle 101"/>
          <p:cNvSpPr/>
          <p:nvPr/>
        </p:nvSpPr>
        <p:spPr>
          <a:xfrm>
            <a:off x="534924" y="3950208"/>
            <a:ext cx="5328666" cy="493776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524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03" name="Oval 102"/>
          <p:cNvSpPr/>
          <p:nvPr/>
        </p:nvSpPr>
        <p:spPr>
          <a:xfrm>
            <a:off x="260604" y="4080510"/>
            <a:ext cx="233172" cy="233172"/>
          </a:xfrm>
          <a:prstGeom prst="ellipse">
            <a:avLst/>
          </a:prstGeom>
          <a:solidFill>
            <a:srgbClr val="FFFFFF"/>
          </a:solidFill>
          <a:ln w="2286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253745" y="4086225"/>
            <a:ext cx="233172" cy="2331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98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B-05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17220" y="3991355"/>
            <a:ext cx="1001268" cy="1234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89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消费入口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17220" y="4121658"/>
            <a:ext cx="1001268" cy="822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90" b="1" i="0" u="none" strike="noStrike" kern="1200" cap="none" spc="83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CONSUME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17220" y="4224528"/>
            <a:ext cx="1014984" cy="857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43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元数据驱动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17220" y="4313682"/>
            <a:ext cx="1014984" cy="857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43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零代码接入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1673352" y="3991356"/>
            <a:ext cx="4121658" cy="4114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7780">
            <a:solidFill>
              <a:schemeClr val="tx2">
                <a:lumMod val="40000"/>
                <a:lumOff val="60000"/>
              </a:schemeClr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1755648" y="4032504"/>
            <a:ext cx="3957066" cy="342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7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元数据驱动 · 动态配置化查询平台</a:t>
            </a:r>
          </a:p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2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JSON 配置定义查询 / 筛选 / 列 / 权限 · 前端动态渲染 · 一次研发处处复用</a:t>
            </a:r>
          </a:p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50" b="1" i="0" u="none" strike="noStrike" kern="1200" cap="none" spc="0" normalizeH="0" baseline="0" noProof="0">
                <a:ln>
                  <a:noFill/>
                </a:ln>
                <a:solidFill>
                  <a:srgbClr val="0891B2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新系统接入零代码 · 边际 +3~6 人天 / 系统 · 首期 60 人天 · ≥15 系统适用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534924" y="4512564"/>
            <a:ext cx="5328666" cy="493776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5240">
            <a:solidFill>
              <a:schemeClr val="tx2">
                <a:lumMod val="60000"/>
                <a:lumOff val="40000"/>
              </a:schemeClr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12" name="Oval 111"/>
          <p:cNvSpPr/>
          <p:nvPr/>
        </p:nvSpPr>
        <p:spPr>
          <a:xfrm>
            <a:off x="260604" y="4642866"/>
            <a:ext cx="233172" cy="233172"/>
          </a:xfrm>
          <a:prstGeom prst="ellipse">
            <a:avLst/>
          </a:prstGeom>
          <a:solidFill>
            <a:srgbClr val="FFFFFF"/>
          </a:solidFill>
          <a:ln w="2286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260604" y="4636008"/>
            <a:ext cx="233172" cy="2331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↺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17220" y="4567428"/>
            <a:ext cx="1001268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30" b="1" i="0" u="none" strike="noStrike" kern="1200" cap="none" spc="0" normalizeH="0" baseline="0" noProof="0">
                <a:ln>
                  <a:noFill/>
                </a:ln>
                <a:solidFill>
                  <a:srgbClr val="E11D48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Retention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17220" y="4690872"/>
            <a:ext cx="1001268" cy="7543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90" b="1" i="0" u="none" strike="noStrike" kern="1200" cap="none" spc="83" normalizeH="0" baseline="0" noProof="0">
                <a:ln>
                  <a:noFill/>
                </a:ln>
                <a:solidFill>
                  <a:srgbClr val="E11D48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RETENTION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17220" y="4793742"/>
            <a:ext cx="1014984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35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作用于 B-03 分区
回写台账 · 附件同步删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1673352" y="4581144"/>
            <a:ext cx="918972" cy="288036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15240"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1693926" y="4581144"/>
            <a:ext cx="877824" cy="2880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95" b="0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① 到期扫描</a:t>
            </a:r>
          </a:p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2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扫描 Iceberg meta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2743200" y="4581144"/>
            <a:ext cx="918972" cy="288036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15240"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2763774" y="4581144"/>
            <a:ext cx="877824" cy="2880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95" b="0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② DROP PARTITION</a:t>
            </a:r>
          </a:p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2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秒级 · Iceberg 原生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3813048" y="4581144"/>
            <a:ext cx="918972" cy="288036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15240"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3833622" y="4581144"/>
            <a:ext cx="877824" cy="2880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95" b="0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③ VACUUM</a:t>
            </a:r>
          </a:p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2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物理清除快照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4882896" y="4581144"/>
            <a:ext cx="918972" cy="288036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15240"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4903470" y="4581144"/>
            <a:ext cx="877824" cy="2880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95" b="0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④ 附件 + 审计</a:t>
            </a:r>
          </a:p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2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同步删除 · 留痕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2612898" y="4725162"/>
            <a:ext cx="109728" cy="0"/>
          </a:xfrm>
          <a:prstGeom prst="line">
            <a:avLst/>
          </a:prstGeom>
          <a:ln w="19050">
            <a:solidFill>
              <a:srgbClr val="E11D48"/>
            </a:solidFill>
            <a:tailEnd type="triangle" w="med" len="med"/>
          </a:ln>
          <a:effectLst/>
        </p:spPr>
      </p:cxnSp>
      <p:cxnSp>
        <p:nvCxnSpPr>
          <p:cNvPr id="126" name="Connector 125"/>
          <p:cNvCxnSpPr/>
          <p:nvPr/>
        </p:nvCxnSpPr>
        <p:spPr>
          <a:xfrm>
            <a:off x="3682746" y="4725162"/>
            <a:ext cx="109728" cy="0"/>
          </a:xfrm>
          <a:prstGeom prst="line">
            <a:avLst/>
          </a:prstGeom>
          <a:ln w="19050">
            <a:solidFill>
              <a:srgbClr val="E11D48"/>
            </a:solidFill>
            <a:tailEnd type="triangle" w="med" len="med"/>
          </a:ln>
          <a:effectLst/>
        </p:spPr>
      </p:cxnSp>
      <p:cxnSp>
        <p:nvCxnSpPr>
          <p:cNvPr id="127" name="Connector 126"/>
          <p:cNvCxnSpPr/>
          <p:nvPr/>
        </p:nvCxnSpPr>
        <p:spPr>
          <a:xfrm>
            <a:off x="4752594" y="4725162"/>
            <a:ext cx="109728" cy="0"/>
          </a:xfrm>
          <a:prstGeom prst="line">
            <a:avLst/>
          </a:prstGeom>
          <a:ln w="19050">
            <a:solidFill>
              <a:srgbClr val="E11D48"/>
            </a:solidFill>
            <a:tailEnd type="triangle" w="med" len="med"/>
          </a:ln>
          <a:effectLst/>
        </p:spPr>
      </p:cxnSp>
      <p:sp>
        <p:nvSpPr>
          <p:cNvPr id="128" name="TextBox 127"/>
          <p:cNvSpPr txBox="1"/>
          <p:nvPr/>
        </p:nvSpPr>
        <p:spPr>
          <a:xfrm>
            <a:off x="1673352" y="4896612"/>
            <a:ext cx="4121658" cy="8915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35" b="1" i="0" u="none" strike="noStrike" kern="1200" cap="none" spc="0" normalizeH="0" baseline="0" noProof="0">
                <a:ln>
                  <a:noFill/>
                </a:ln>
                <a:solidFill>
                  <a:srgbClr val="9F123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审计与元数据独立备份 · 不随业务数据销毁 · 纳入年度销毁演练</a:t>
            </a:r>
          </a:p>
        </p:txBody>
      </p:sp>
      <p:cxnSp>
        <p:nvCxnSpPr>
          <p:cNvPr id="129" name="Connector 128"/>
          <p:cNvCxnSpPr/>
          <p:nvPr/>
        </p:nvCxnSpPr>
        <p:spPr>
          <a:xfrm flipH="1">
            <a:off x="205740" y="4882896"/>
            <a:ext cx="329184" cy="0"/>
          </a:xfrm>
          <a:prstGeom prst="line">
            <a:avLst/>
          </a:prstGeom>
          <a:ln w="15240">
            <a:solidFill>
              <a:srgbClr val="E11D48"/>
            </a:solidFill>
            <a:prstDash val="dash"/>
          </a:ln>
          <a:effectLst/>
        </p:spPr>
      </p:cxnSp>
      <p:cxnSp>
        <p:nvCxnSpPr>
          <p:cNvPr id="130" name="Connector 129"/>
          <p:cNvCxnSpPr/>
          <p:nvPr/>
        </p:nvCxnSpPr>
        <p:spPr>
          <a:xfrm flipV="1">
            <a:off x="205740" y="2880360"/>
            <a:ext cx="0" cy="2002536"/>
          </a:xfrm>
          <a:prstGeom prst="line">
            <a:avLst/>
          </a:prstGeom>
          <a:ln w="15240">
            <a:solidFill>
              <a:srgbClr val="E11D48"/>
            </a:solidFill>
            <a:prstDash val="dash"/>
          </a:ln>
          <a:effectLst/>
        </p:spPr>
      </p:cxnSp>
      <p:cxnSp>
        <p:nvCxnSpPr>
          <p:cNvPr id="131" name="Connector 130"/>
          <p:cNvCxnSpPr/>
          <p:nvPr/>
        </p:nvCxnSpPr>
        <p:spPr>
          <a:xfrm>
            <a:off x="205740" y="2880360"/>
            <a:ext cx="315468" cy="0"/>
          </a:xfrm>
          <a:prstGeom prst="line">
            <a:avLst/>
          </a:prstGeom>
          <a:ln w="15240">
            <a:solidFill>
              <a:srgbClr val="E11D48"/>
            </a:solidFill>
            <a:prstDash val="dash"/>
            <a:tailEnd type="triangle" w="med" len="med"/>
          </a:ln>
          <a:effectLst/>
        </p:spPr>
      </p:cxnSp>
      <p:sp>
        <p:nvSpPr>
          <p:cNvPr id="132" name="TextBox 131"/>
          <p:cNvSpPr txBox="1"/>
          <p:nvPr/>
        </p:nvSpPr>
        <p:spPr>
          <a:xfrm>
            <a:off x="68580" y="3326130"/>
            <a:ext cx="137160" cy="891540"/>
          </a:xfrm>
          <a:prstGeom prst="rect">
            <a:avLst/>
          </a:prstGeom>
          <a:noFill/>
        </p:spPr>
        <p:txBody>
          <a:bodyPr vert="eaVert"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20" b="1" i="0" u="none" strike="noStrike" kern="1200" cap="none" spc="0" normalizeH="0" baseline="0" noProof="0">
                <a:ln>
                  <a:noFill/>
                </a:ln>
                <a:solidFill>
                  <a:srgbClr val="E11D48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作用于冷湖分区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6000750" y="425196"/>
            <a:ext cx="2990088" cy="1083564"/>
          </a:xfrm>
          <a:prstGeom prst="roundRect">
            <a:avLst>
              <a:gd name="adj" fmla="val 4430"/>
            </a:avLst>
          </a:prstGeom>
          <a:solidFill>
            <a:schemeClr val="bg1"/>
          </a:solidFill>
          <a:ln w="13970">
            <a:solidFill>
              <a:schemeClr val="tx2">
                <a:lumMod val="60000"/>
                <a:lumOff val="40000"/>
              </a:schemeClr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6096763" y="480060"/>
            <a:ext cx="2811779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14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附件对象存储</a:t>
            </a:r>
            <a:r>
              <a:rPr kumimoji="0" sz="614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· </a:t>
            </a:r>
            <a:r>
              <a:rPr kumimoji="0" sz="614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独立存储账户（与湖分开</a:t>
            </a:r>
            <a:r>
              <a:rPr kumimoji="0" sz="614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）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096763" y="603504"/>
            <a:ext cx="2811779" cy="8915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43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贯穿</a:t>
            </a:r>
            <a:r>
              <a:rPr kumimoji="0" sz="44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02 </a:t>
            </a:r>
            <a:r>
              <a:rPr kumimoji="0" sz="443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抽取</a:t>
            </a:r>
            <a:r>
              <a:rPr kumimoji="0" sz="44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→ B-03 </a:t>
            </a:r>
            <a:r>
              <a:rPr kumimoji="0" sz="443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存储</a:t>
            </a:r>
            <a:r>
              <a:rPr kumimoji="0" sz="44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· 供 B-05 </a:t>
            </a:r>
            <a:r>
              <a:rPr kumimoji="0" sz="443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直接消费</a:t>
            </a:r>
            <a:endParaRPr kumimoji="0" sz="443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</p:txBody>
      </p:sp>
      <p:sp>
        <p:nvSpPr>
          <p:cNvPr id="136" name="Rounded Rectangle 135"/>
          <p:cNvSpPr/>
          <p:nvPr/>
        </p:nvSpPr>
        <p:spPr>
          <a:xfrm>
            <a:off x="6083046" y="726948"/>
            <a:ext cx="1405889" cy="301752"/>
          </a:xfrm>
          <a:prstGeom prst="roundRect">
            <a:avLst>
              <a:gd name="adj" fmla="val 11363"/>
            </a:avLst>
          </a:prstGeom>
          <a:solidFill>
            <a:srgbClr val="FFFFFF"/>
          </a:solidFill>
          <a:ln w="1270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6126481" y="740093"/>
            <a:ext cx="1323593" cy="25946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10" b="0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FNS </a:t>
            </a:r>
            <a:r>
              <a:rPr kumimoji="0" sz="510" b="0" i="0" u="none" strike="noStrike" kern="1200" cap="none" spc="0" normalizeH="0" baseline="0" noProof="0" err="1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平面命名空间</a:t>
            </a:r>
            <a:endParaRPr kumimoji="0" sz="510" b="0" i="0" u="none" strike="noStrike" kern="1200" cap="none" spc="0" normalizeH="0" baseline="0" noProof="0">
              <a:ln>
                <a:noFill/>
              </a:ln>
              <a:solidFill>
                <a:srgbClr val="0F172A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35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非 HNS · </a:t>
            </a:r>
            <a:r>
              <a:rPr kumimoji="0" sz="435" b="0" i="0" u="none" strike="noStrike" kern="1200" cap="none" spc="0" normalizeH="0" baseline="0" noProof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按次计费（不按</a:t>
            </a:r>
            <a:r>
              <a:rPr kumimoji="0" sz="435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4MB </a:t>
            </a:r>
            <a:r>
              <a:rPr kumimoji="0" sz="435" b="0" i="0" u="none" strike="noStrike" kern="1200" cap="none" spc="0" normalizeH="0" baseline="0" noProof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切块</a:t>
            </a:r>
            <a:r>
              <a:rPr kumimoji="0" sz="435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）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7536942" y="726948"/>
            <a:ext cx="1405889" cy="301752"/>
          </a:xfrm>
          <a:prstGeom prst="roundRect">
            <a:avLst>
              <a:gd name="adj" fmla="val 11363"/>
            </a:avLst>
          </a:prstGeom>
          <a:solidFill>
            <a:srgbClr val="FFFFFF"/>
          </a:solidFill>
          <a:ln w="1270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39" name="TextBox 138"/>
          <p:cNvSpPr txBox="1"/>
          <p:nvPr/>
        </p:nvSpPr>
        <p:spPr>
          <a:xfrm>
            <a:off x="7571232" y="744665"/>
            <a:ext cx="1351025" cy="25946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10" b="0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Cool → Cold </a:t>
            </a:r>
            <a:r>
              <a:rPr kumimoji="0" sz="510" b="0" i="0" u="none" strike="noStrike" kern="1200" cap="none" spc="0" normalizeH="0" baseline="0" noProof="0" err="1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分层</a:t>
            </a:r>
            <a:endParaRPr kumimoji="0" sz="510" b="0" i="0" u="none" strike="noStrike" kern="1200" cap="none" spc="0" normalizeH="0" baseline="0" noProof="0">
              <a:ln>
                <a:noFill/>
              </a:ln>
              <a:solidFill>
                <a:srgbClr val="0F172A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35" b="0" i="0" u="none" strike="noStrike" kern="1200" cap="none" spc="0" normalizeH="0" baseline="0" noProof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生命周期自动降档</a:t>
            </a:r>
            <a:endParaRPr kumimoji="0" sz="435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</p:txBody>
      </p:sp>
      <p:sp>
        <p:nvSpPr>
          <p:cNvPr id="140" name="Rounded Rectangle 139"/>
          <p:cNvSpPr/>
          <p:nvPr/>
        </p:nvSpPr>
        <p:spPr>
          <a:xfrm>
            <a:off x="6083046" y="1069848"/>
            <a:ext cx="1405889" cy="301752"/>
          </a:xfrm>
          <a:prstGeom prst="roundRect">
            <a:avLst>
              <a:gd name="adj" fmla="val 11363"/>
            </a:avLst>
          </a:prstGeom>
          <a:solidFill>
            <a:srgbClr val="FFFFFF"/>
          </a:solidFill>
          <a:ln w="1270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6137910" y="1056132"/>
            <a:ext cx="1330451" cy="3154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10" b="0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SHA-256 </a:t>
            </a:r>
            <a:r>
              <a:rPr kumimoji="0" sz="510" b="0" i="0" u="none" strike="noStrike" kern="1200" cap="none" spc="0" normalizeH="0" baseline="0" noProof="0" err="1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台账</a:t>
            </a:r>
            <a:endParaRPr kumimoji="0" sz="510" b="0" i="0" u="none" strike="noStrike" kern="1200" cap="none" spc="0" normalizeH="0" baseline="0" noProof="0">
              <a:ln>
                <a:noFill/>
              </a:ln>
              <a:solidFill>
                <a:srgbClr val="0F172A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35" b="0" i="0" u="none" strike="noStrike" kern="1200" cap="none" spc="0" normalizeH="0" baseline="0" noProof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前缀</a:t>
            </a:r>
            <a:r>
              <a:rPr kumimoji="0" sz="435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</a:t>
            </a:r>
            <a:r>
              <a:rPr kumimoji="0" sz="435" b="0" i="0" u="none" strike="noStrike" kern="1200" cap="none" spc="0" normalizeH="0" baseline="0" noProof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sysXX</a:t>
            </a:r>
            <a:r>
              <a:rPr kumimoji="0" sz="435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/</a:t>
            </a:r>
            <a:r>
              <a:rPr kumimoji="0" sz="435" b="0" i="0" u="none" strike="noStrike" kern="1200" cap="none" spc="0" normalizeH="0" baseline="0" noProof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yyyy</a:t>
            </a:r>
            <a:r>
              <a:rPr kumimoji="0" sz="435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-mm/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7536942" y="1069848"/>
            <a:ext cx="1405889" cy="301752"/>
          </a:xfrm>
          <a:prstGeom prst="roundRect">
            <a:avLst>
              <a:gd name="adj" fmla="val 11363"/>
            </a:avLst>
          </a:prstGeom>
          <a:solidFill>
            <a:srgbClr val="FFFFFF"/>
          </a:solidFill>
          <a:ln w="1270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43" name="TextBox 142"/>
          <p:cNvSpPr txBox="1"/>
          <p:nvPr/>
        </p:nvSpPr>
        <p:spPr>
          <a:xfrm>
            <a:off x="7578090" y="1138428"/>
            <a:ext cx="1344167" cy="2331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10" b="0" i="0" u="none" strike="noStrike" kern="1200" cap="none" spc="0" normalizeH="0" baseline="0" noProof="0" err="1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后端签</a:t>
            </a:r>
            <a:r>
              <a:rPr kumimoji="0" sz="510" b="0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SAS</a:t>
            </a:r>
          </a:p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35" b="0" i="0" u="none" strike="noStrike" kern="1200" cap="none" spc="0" normalizeH="0" baseline="0" noProof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前端直连下载</a:t>
            </a:r>
            <a:endParaRPr kumimoji="0" sz="435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</p:txBody>
      </p:sp>
      <p:cxnSp>
        <p:nvCxnSpPr>
          <p:cNvPr id="144" name="Connector 143"/>
          <p:cNvCxnSpPr/>
          <p:nvPr/>
        </p:nvCxnSpPr>
        <p:spPr>
          <a:xfrm flipH="1">
            <a:off x="5877306" y="1920240"/>
            <a:ext cx="123444" cy="0"/>
          </a:xfrm>
          <a:prstGeom prst="line">
            <a:avLst/>
          </a:prstGeom>
          <a:ln w="16510">
            <a:solidFill>
              <a:srgbClr val="D97706"/>
            </a:solidFill>
            <a:prstDash val="dash"/>
            <a:tailEnd type="triangle" w="med" len="med"/>
          </a:ln>
          <a:effectLst/>
        </p:spPr>
      </p:cxnSp>
      <p:cxnSp>
        <p:nvCxnSpPr>
          <p:cNvPr id="145" name="Connector 144"/>
          <p:cNvCxnSpPr/>
          <p:nvPr/>
        </p:nvCxnSpPr>
        <p:spPr>
          <a:xfrm flipH="1">
            <a:off x="5877306" y="2660904"/>
            <a:ext cx="123444" cy="0"/>
          </a:xfrm>
          <a:prstGeom prst="line">
            <a:avLst/>
          </a:prstGeom>
          <a:ln w="16510">
            <a:solidFill>
              <a:srgbClr val="D97706"/>
            </a:solidFill>
            <a:prstDash val="dash"/>
            <a:tailEnd type="triangle" w="med" len="med"/>
          </a:ln>
          <a:effectLst/>
        </p:spPr>
      </p:cxnSp>
      <p:cxnSp>
        <p:nvCxnSpPr>
          <p:cNvPr id="146" name="Connector 145"/>
          <p:cNvCxnSpPr/>
          <p:nvPr/>
        </p:nvCxnSpPr>
        <p:spPr>
          <a:xfrm>
            <a:off x="7495794" y="1508760"/>
            <a:ext cx="0" cy="96012"/>
          </a:xfrm>
          <a:prstGeom prst="line">
            <a:avLst/>
          </a:prstGeom>
          <a:ln w="16510">
            <a:solidFill>
              <a:srgbClr val="D97706"/>
            </a:solidFill>
            <a:prstDash val="dash"/>
          </a:ln>
          <a:effectLst/>
        </p:spPr>
      </p:cxnSp>
      <p:cxnSp>
        <p:nvCxnSpPr>
          <p:cNvPr id="147" name="Connector 146"/>
          <p:cNvCxnSpPr/>
          <p:nvPr/>
        </p:nvCxnSpPr>
        <p:spPr>
          <a:xfrm flipH="1">
            <a:off x="5939028" y="1604772"/>
            <a:ext cx="1556766" cy="0"/>
          </a:xfrm>
          <a:prstGeom prst="line">
            <a:avLst/>
          </a:prstGeom>
          <a:ln w="16510">
            <a:solidFill>
              <a:srgbClr val="D97706"/>
            </a:solidFill>
            <a:prstDash val="dash"/>
          </a:ln>
          <a:effectLst/>
        </p:spPr>
      </p:cxnSp>
      <p:cxnSp>
        <p:nvCxnSpPr>
          <p:cNvPr id="148" name="Connector 147"/>
          <p:cNvCxnSpPr/>
          <p:nvPr/>
        </p:nvCxnSpPr>
        <p:spPr>
          <a:xfrm>
            <a:off x="5939028" y="1604772"/>
            <a:ext cx="0" cy="2592324"/>
          </a:xfrm>
          <a:prstGeom prst="line">
            <a:avLst/>
          </a:prstGeom>
          <a:ln w="16510">
            <a:solidFill>
              <a:srgbClr val="D97706"/>
            </a:solidFill>
            <a:prstDash val="dash"/>
          </a:ln>
          <a:effectLst/>
        </p:spPr>
      </p:cxnSp>
      <p:cxnSp>
        <p:nvCxnSpPr>
          <p:cNvPr id="149" name="Connector 148"/>
          <p:cNvCxnSpPr/>
          <p:nvPr/>
        </p:nvCxnSpPr>
        <p:spPr>
          <a:xfrm flipH="1">
            <a:off x="5877306" y="4197096"/>
            <a:ext cx="61722" cy="0"/>
          </a:xfrm>
          <a:prstGeom prst="line">
            <a:avLst/>
          </a:prstGeom>
          <a:ln w="16510">
            <a:solidFill>
              <a:srgbClr val="D97706"/>
            </a:solidFill>
            <a:prstDash val="dash"/>
            <a:tailEnd type="triangle" w="med" len="med"/>
          </a:ln>
          <a:effectLst/>
        </p:spPr>
      </p:cxnSp>
      <p:sp>
        <p:nvSpPr>
          <p:cNvPr id="150" name="TextBox 149"/>
          <p:cNvSpPr txBox="1"/>
          <p:nvPr/>
        </p:nvSpPr>
        <p:spPr>
          <a:xfrm>
            <a:off x="6048756" y="1632204"/>
            <a:ext cx="1440180" cy="822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43" b="1" i="0" u="none" strike="noStrike" kern="1200" cap="none" spc="0" normalizeH="0" baseline="0" noProof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附件</a:t>
            </a:r>
            <a:r>
              <a:rPr kumimoji="0" sz="443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URL </a:t>
            </a:r>
            <a:r>
              <a:rPr kumimoji="0" sz="443" b="1" i="0" u="none" strike="noStrike" kern="1200" cap="none" spc="0" normalizeH="0" baseline="0" noProof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直连消费（SAS</a:t>
            </a:r>
            <a:r>
              <a:rPr kumimoji="0" sz="443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）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6000750" y="1755648"/>
            <a:ext cx="2990088" cy="918972"/>
          </a:xfrm>
          <a:prstGeom prst="roundRect">
            <a:avLst>
              <a:gd name="adj" fmla="val 5223"/>
            </a:avLst>
          </a:prstGeom>
          <a:solidFill>
            <a:srgbClr val="FFFFFF"/>
          </a:solidFill>
          <a:ln w="1524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6096763" y="1810512"/>
            <a:ext cx="2811779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14" b="1" i="0" u="none" strike="noStrike" kern="1200" cap="none" spc="0" normalizeH="0" baseline="0" noProof="0">
                <a:ln>
                  <a:noFill/>
                </a:ln>
                <a:solidFill>
                  <a:srgbClr val="6D28D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存算分离 · 成本结构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6096762" y="1975104"/>
            <a:ext cx="973836" cy="233172"/>
          </a:xfrm>
          <a:prstGeom prst="roundRect">
            <a:avLst>
              <a:gd name="adj" fmla="val 14705"/>
            </a:avLst>
          </a:prstGeom>
          <a:solidFill>
            <a:srgbClr val="F5F3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54" name="TextBox 153"/>
          <p:cNvSpPr txBox="1"/>
          <p:nvPr/>
        </p:nvSpPr>
        <p:spPr>
          <a:xfrm>
            <a:off x="6117336" y="1975104"/>
            <a:ext cx="932688" cy="2331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95" b="0" i="0" u="none" strike="noStrike" kern="1200" cap="none" spc="0" normalizeH="0" baseline="0" noProof="0">
                <a:ln>
                  <a:noFill/>
                </a:ln>
                <a:solidFill>
                  <a:srgbClr val="6D28D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存储侧 · 常驻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7115175" y="2047113"/>
            <a:ext cx="1796796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43" b="0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ADLS Hot/Cool ≈¥90–150/</a:t>
            </a:r>
            <a:r>
              <a:rPr kumimoji="0" sz="443" b="0" i="0" u="none" strike="noStrike" kern="1200" cap="none" spc="0" normalizeH="0" baseline="0" noProof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TB·月</a:t>
            </a:r>
            <a:r>
              <a:rPr kumimoji="0" sz="443" b="0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· PB </a:t>
            </a:r>
            <a:r>
              <a:rPr kumimoji="0" sz="443" b="0" i="0" u="none" strike="noStrike" kern="1200" cap="none" spc="0" normalizeH="0" baseline="0" noProof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级从容</a:t>
            </a:r>
            <a:r>
              <a:rPr kumimoji="0" sz="443" b="0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· ZRS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6096762" y="2263140"/>
            <a:ext cx="973836" cy="233172"/>
          </a:xfrm>
          <a:prstGeom prst="roundRect">
            <a:avLst>
              <a:gd name="adj" fmla="val 14705"/>
            </a:avLst>
          </a:prstGeom>
          <a:solidFill>
            <a:schemeClr val="bg1"/>
          </a:solidFill>
          <a:ln w="1270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6117336" y="2263140"/>
            <a:ext cx="884682" cy="22631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95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计算侧</a:t>
            </a:r>
            <a:r>
              <a:rPr kumimoji="0" sz="49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· </a:t>
            </a:r>
            <a:r>
              <a:rPr kumimoji="0" sz="495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按需</a:t>
            </a:r>
            <a:endParaRPr kumimoji="0" sz="49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7133463" y="2354009"/>
            <a:ext cx="1796796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43" b="0" i="0" u="none" strike="noStrike" kern="1200" cap="none" spc="0" normalizeH="0" baseline="0" noProof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写侧</a:t>
            </a:r>
            <a:r>
              <a:rPr kumimoji="0" sz="443" b="0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ETL ≈¥0.4–0.8 万/月 · </a:t>
            </a:r>
            <a:r>
              <a:rPr kumimoji="0" sz="443" b="0" i="0" u="none" strike="noStrike" kern="1200" cap="none" spc="0" normalizeH="0" baseline="0" noProof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读侧查询</a:t>
            </a:r>
            <a:r>
              <a:rPr kumimoji="0" sz="443" b="0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≈¥0.5–0.9 万/月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6096763" y="2551176"/>
            <a:ext cx="2811779" cy="8915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43" b="1" i="0" u="none" strike="noStrike" kern="1200" cap="none" spc="0" normalizeH="0" baseline="0" noProof="0">
                <a:ln>
                  <a:noFill/>
                </a:ln>
                <a:solidFill>
                  <a:srgbClr val="7C3AED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存储与计算独立扩缩 · 空闲缩到 0 · 只为使用的算力付费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6000750" y="2756915"/>
            <a:ext cx="2990088" cy="1179576"/>
          </a:xfrm>
          <a:prstGeom prst="roundRect">
            <a:avLst>
              <a:gd name="adj" fmla="val 4069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6096763" y="2811779"/>
            <a:ext cx="2811779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14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方案 B2 要点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096762" y="2962656"/>
            <a:ext cx="2825496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58" b="1" i="0" u="none" strike="noStrike" kern="1200" cap="none" spc="0" normalizeH="0" baseline="0" noProof="0">
                <a:ln>
                  <a:noFill/>
                </a:ln>
                <a:solidFill>
                  <a:srgbClr val="7C3AED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· 存算分离 — </a:t>
            </a:r>
            <a:r>
              <a:rPr kumimoji="0" sz="458" b="0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冷湖常驻，Serverless 读写按需拉起 · 空闲缩 0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6096762" y="3144393"/>
            <a:ext cx="2825496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58" b="1" i="0" u="none" strike="noStrike" kern="1200" cap="none" spc="0" normalizeH="0" baseline="0" noProof="0">
                <a:ln>
                  <a:noFill/>
                </a:ln>
                <a:solidFill>
                  <a:srgbClr val="E11D48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· 到期即毁 — </a:t>
            </a:r>
            <a:r>
              <a:rPr kumimoji="0" sz="458" b="0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DROP PARTITION + VACUUM 物理清除，附件与审计同步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096762" y="3326130"/>
            <a:ext cx="2825496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58" b="1" i="0" u="none" strike="noStrike" kern="1200" cap="none" spc="0" normalizeH="0" baseline="0" noProof="0">
                <a:ln>
                  <a:noFill/>
                </a:ln>
                <a:solidFill>
                  <a:srgbClr val="0891B2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· 零代码接入 — </a:t>
            </a:r>
            <a:r>
              <a:rPr kumimoji="0" sz="458" b="0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元数据驱动前端 · 边际 +3~6 人天 / 系统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096762" y="3507866"/>
            <a:ext cx="2825496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58" b="1" i="0" u="none" strike="noStrike" kern="1200" cap="none" spc="0" normalizeH="0" baseline="0" noProof="0">
                <a:ln>
                  <a:noFill/>
                </a:ln>
                <a:solidFill>
                  <a:srgbClr val="0596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· 读侧托管 — </a:t>
            </a:r>
            <a:r>
              <a:rPr kumimoji="0" sz="458" b="0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Databricks SQL Serverless · 零集群运维 · UC 授权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096762" y="3689603"/>
            <a:ext cx="2825496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58" b="1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· 适用规模 — </a:t>
            </a:r>
            <a:r>
              <a:rPr kumimoji="0" sz="458" b="0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≥15 套系统或 &gt;20 TB 长期保留 · PB 级从容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6000750" y="4018788"/>
            <a:ext cx="2990088" cy="589788"/>
          </a:xfrm>
          <a:prstGeom prst="roundRect">
            <a:avLst>
              <a:gd name="adj" fmla="val 8139"/>
            </a:avLst>
          </a:prstGeom>
          <a:solidFill>
            <a:schemeClr val="bg1"/>
          </a:solidFill>
          <a:ln w="1397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68" name="TextBox 167"/>
          <p:cNvSpPr txBox="1"/>
          <p:nvPr/>
        </p:nvSpPr>
        <p:spPr>
          <a:xfrm>
            <a:off x="6096763" y="4073652"/>
            <a:ext cx="2811779" cy="1028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B2 </a:t>
            </a:r>
            <a:r>
              <a:rPr kumimoji="0" sz="6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的取舍</a:t>
            </a:r>
            <a:endParaRPr kumimoji="0" sz="6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6096762" y="4197096"/>
            <a:ext cx="2825496" cy="3566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58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读侧完全托管、UC</a:t>
            </a:r>
            <a:r>
              <a:rPr kumimoji="0" sz="45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</a:t>
            </a:r>
            <a:r>
              <a:rPr kumimoji="0" sz="458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治理原生</a:t>
            </a:r>
            <a:r>
              <a:rPr kumimoji="0" sz="45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；</a:t>
            </a:r>
            <a:endParaRPr kumimoji="0" lang="en-US" sz="458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58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代价是计算引擎绑定</a:t>
            </a:r>
            <a:r>
              <a:rPr kumimoji="0" sz="45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</a:t>
            </a:r>
            <a:r>
              <a:rPr kumimoji="0" sz="458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Databricks（数据仍为开放</a:t>
            </a:r>
            <a:r>
              <a:rPr kumimoji="0" sz="45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</a:t>
            </a:r>
            <a:r>
              <a:rPr kumimoji="0" sz="458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Iceberg，随时可换引擎</a:t>
            </a:r>
            <a:r>
              <a:rPr kumimoji="0" sz="45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），且 Serverless / NCC 需 Premium 层。</a:t>
            </a: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13753398-B2CD-2486-1274-E9D7EE732013}"/>
              </a:ext>
            </a:extLst>
          </p:cNvPr>
          <p:cNvSpPr/>
          <p:nvPr/>
        </p:nvSpPr>
        <p:spPr>
          <a:xfrm>
            <a:off x="8115300" y="0"/>
            <a:ext cx="1028700" cy="219729"/>
          </a:xfrm>
          <a:prstGeom prst="rect">
            <a:avLst/>
          </a:prstGeom>
          <a:solidFill>
            <a:srgbClr val="009CDE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Appendix</a:t>
            </a:r>
            <a:endParaRPr kumimoji="0" lang="zh-CN" altLang="en-US" sz="11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18187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50876" y="116586"/>
            <a:ext cx="37719" cy="274320"/>
          </a:xfrm>
          <a:prstGeom prst="roundRect">
            <a:avLst>
              <a:gd name="adj" fmla="val 49090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60604" y="89154"/>
            <a:ext cx="6172200" cy="2331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88" b="1" i="0" u="none" strike="noStrike" kern="1200" cap="none" spc="0" normalizeH="0" baseline="0" noProof="0" err="1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数据加密设计</a:t>
            </a:r>
            <a:endParaRPr kumimoji="0" sz="1388" b="1" i="0" u="none" strike="noStrike" kern="1200" cap="none" spc="0" normalizeH="0" baseline="0" noProof="0">
              <a:ln>
                <a:noFill/>
              </a:ln>
              <a:solidFill>
                <a:srgbClr val="009CDE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50876" y="425196"/>
            <a:ext cx="2948940" cy="2057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397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46889" y="425196"/>
            <a:ext cx="2756915" cy="2057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38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四层加密模型 + 密钥管理（L1 → L5）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0876" y="685800"/>
            <a:ext cx="2948940" cy="562356"/>
          </a:xfrm>
          <a:prstGeom prst="roundRect">
            <a:avLst>
              <a:gd name="adj" fmla="val 7317"/>
            </a:avLst>
          </a:prstGeom>
          <a:solidFill>
            <a:schemeClr val="bg1"/>
          </a:solidFill>
          <a:ln w="1397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46888" y="774953"/>
            <a:ext cx="356616" cy="19202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397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60604" y="809245"/>
            <a:ext cx="342900" cy="13715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3" b="1" i="0" u="none" strike="noStrike" kern="1200" cap="none" spc="0" normalizeH="0" baseline="0" noProof="0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L1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" y="747522"/>
            <a:ext cx="2331720" cy="1028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 err="1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存储层</a:t>
            </a:r>
            <a:r>
              <a:rPr kumimoji="0" sz="443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· </a:t>
            </a:r>
            <a:r>
              <a:rPr kumimoji="0" sz="600" b="0" i="0" u="none" strike="noStrike" kern="1200" cap="none" spc="0" normalizeH="0" baseline="0" noProof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防磁盘</a:t>
            </a:r>
            <a:r>
              <a:rPr kumimoji="0" sz="60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/ </a:t>
            </a:r>
            <a:r>
              <a:rPr kumimoji="0" sz="600" b="0" i="0" u="none" strike="noStrike" kern="1200" cap="none" spc="0" normalizeH="0" baseline="0" noProof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桶泄露</a:t>
            </a:r>
            <a:endParaRPr kumimoji="0" sz="600" b="0" i="0" u="none" strike="noStrike" kern="1200" cap="none" spc="0" normalizeH="0" baseline="0" noProof="0">
              <a:ln>
                <a:noFill/>
              </a:ln>
              <a:solidFill>
                <a:srgbClr val="64748B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99516" y="877824"/>
            <a:ext cx="231800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0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ADLS </a:t>
            </a:r>
            <a:r>
              <a:rPr kumimoji="0" sz="600" b="0" i="0" u="none" strike="noStrike" kern="1200" cap="none" spc="0" normalizeH="0" baseline="0" noProof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账户级</a:t>
            </a:r>
            <a:r>
              <a:rPr kumimoji="0" sz="600" b="0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SSE（AES-256）+ Key Vault </a:t>
            </a:r>
            <a:r>
              <a:rPr kumimoji="0" sz="600" b="0" i="0" u="none" strike="noStrike" kern="1200" cap="none" spc="0" normalizeH="0" baseline="0" noProof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CMK；数据</a:t>
            </a:r>
            <a:r>
              <a:rPr kumimoji="0" sz="600" b="0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/ </a:t>
            </a:r>
            <a:r>
              <a:rPr kumimoji="0" sz="600" b="0" i="0" u="none" strike="noStrike" kern="1200" cap="none" spc="0" normalizeH="0" baseline="0" noProof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元数据</a:t>
            </a:r>
            <a:r>
              <a:rPr kumimoji="0" sz="600" b="0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/ </a:t>
            </a:r>
            <a:r>
              <a:rPr kumimoji="0" sz="600" b="0" i="0" u="none" strike="noStrike" kern="1200" cap="none" spc="0" normalizeH="0" baseline="0" noProof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附件一套密钥策略，可选基础设施双重加密</a:t>
            </a:r>
            <a:endParaRPr kumimoji="0" sz="600" b="0" i="0" u="none" strike="noStrike" kern="1200" cap="none" spc="0" normalizeH="0" baseline="0" noProof="0">
              <a:ln>
                <a:noFill/>
              </a:ln>
              <a:solidFill>
                <a:srgbClr val="475569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50876" y="1303020"/>
            <a:ext cx="2948940" cy="562356"/>
          </a:xfrm>
          <a:prstGeom prst="roundRect">
            <a:avLst>
              <a:gd name="adj" fmla="val 7317"/>
            </a:avLst>
          </a:prstGeom>
          <a:solidFill>
            <a:schemeClr val="bg1"/>
          </a:solidFill>
          <a:ln w="1397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46888" y="1392173"/>
            <a:ext cx="356616" cy="19202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397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6888" y="1392173"/>
            <a:ext cx="356616" cy="1920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3" b="1" i="0" u="none" strike="noStrike" kern="1200" cap="none" spc="0" normalizeH="0" baseline="0" noProof="0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L2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" y="1364742"/>
            <a:ext cx="2331720" cy="1028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 err="1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传输层</a:t>
            </a:r>
            <a:r>
              <a:rPr kumimoji="0" sz="443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· </a:t>
            </a:r>
            <a:r>
              <a:rPr kumimoji="0" sz="600" b="0" i="0" u="none" strike="noStrike" kern="1200" cap="none" spc="0" normalizeH="0" baseline="0" noProof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防链路窃听</a:t>
            </a:r>
            <a:endParaRPr kumimoji="0" sz="600" b="0" i="0" u="none" strike="noStrike" kern="1200" cap="none" spc="0" normalizeH="0" baseline="0" noProof="0">
              <a:ln>
                <a:noFill/>
              </a:ln>
              <a:solidFill>
                <a:srgbClr val="64748B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99516" y="1495043"/>
            <a:ext cx="231800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0" i="0" u="none" strike="noStrike" kern="1200" cap="none" spc="0" normalizeH="0" baseline="0" noProof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全链路</a:t>
            </a:r>
            <a:r>
              <a:rPr kumimoji="0" sz="600" b="0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TLS 1.2+：HTTPS 443 </a:t>
            </a:r>
            <a:r>
              <a:rPr kumimoji="0" sz="600" b="0" i="0" u="none" strike="noStrike" kern="1200" cap="none" spc="0" normalizeH="0" baseline="0" noProof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入口</a:t>
            </a:r>
            <a:r>
              <a:rPr kumimoji="0" sz="600" b="0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· </a:t>
            </a:r>
            <a:r>
              <a:rPr kumimoji="0" sz="600" b="0" i="0" u="none" strike="noStrike" kern="1200" cap="none" spc="0" normalizeH="0" baseline="0" noProof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私有端点私网</a:t>
            </a:r>
            <a:r>
              <a:rPr kumimoji="0" sz="600" b="0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· JDBC / </a:t>
            </a:r>
            <a:r>
              <a:rPr kumimoji="0" sz="600" b="0" i="0" u="none" strike="noStrike" kern="1200" cap="none" spc="0" normalizeH="0" baseline="0" noProof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ODBC；流量不出</a:t>
            </a:r>
            <a:r>
              <a:rPr kumimoji="0" sz="600" b="0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Azure </a:t>
            </a:r>
            <a:r>
              <a:rPr kumimoji="0" sz="600" b="0" i="0" u="none" strike="noStrike" kern="1200" cap="none" spc="0" normalizeH="0" baseline="0" noProof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骨干网</a:t>
            </a:r>
            <a:endParaRPr kumimoji="0" sz="600" b="0" i="0" u="none" strike="noStrike" kern="1200" cap="none" spc="0" normalizeH="0" baseline="0" noProof="0">
              <a:ln>
                <a:noFill/>
              </a:ln>
              <a:solidFill>
                <a:srgbClr val="475569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150876" y="1920240"/>
            <a:ext cx="2948940" cy="562356"/>
          </a:xfrm>
          <a:prstGeom prst="roundRect">
            <a:avLst>
              <a:gd name="adj" fmla="val 7317"/>
            </a:avLst>
          </a:prstGeom>
          <a:solidFill>
            <a:schemeClr val="bg1"/>
          </a:solidFill>
          <a:ln w="2032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46888" y="2009393"/>
            <a:ext cx="356616" cy="19202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397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srgbClr val="009CD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46888" y="2033397"/>
            <a:ext cx="356616" cy="1508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3" b="1" i="0" u="none" strike="noStrike" kern="1200" cap="none" spc="0" normalizeH="0" baseline="0" noProof="0">
                <a:ln>
                  <a:noFill/>
                </a:ln>
                <a:solidFill>
                  <a:srgbClr val="E11D48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L3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" y="1981961"/>
            <a:ext cx="2331720" cy="1028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 err="1">
                <a:ln>
                  <a:noFill/>
                </a:ln>
                <a:solidFill>
                  <a:srgbClr val="E11D48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字段层</a:t>
            </a:r>
            <a:r>
              <a:rPr kumimoji="0" sz="443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· </a:t>
            </a:r>
            <a:r>
              <a:rPr kumimoji="0" sz="60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防 DBA / </a:t>
            </a:r>
            <a:r>
              <a:rPr kumimoji="0" sz="600" b="0" i="0" u="none" strike="noStrike" kern="1200" cap="none" spc="0" normalizeH="0" baseline="0" noProof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运维内鬼</a:t>
            </a:r>
            <a:r>
              <a:rPr kumimoji="0" sz="60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★ </a:t>
            </a:r>
            <a:r>
              <a:rPr kumimoji="0" sz="600" b="0" i="0" u="none" strike="noStrike" kern="1200" cap="none" spc="0" normalizeH="0" baseline="0" noProof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合规核心</a:t>
            </a:r>
            <a:endParaRPr kumimoji="0" sz="600" b="0" i="0" u="none" strike="noStrike" kern="1200" cap="none" spc="0" normalizeH="0" baseline="0" noProof="0">
              <a:ln>
                <a:noFill/>
              </a:ln>
              <a:solidFill>
                <a:srgbClr val="64748B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99516" y="2112264"/>
            <a:ext cx="231800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0" i="0" u="none" strike="noStrike" kern="1200" cap="none" spc="0" normalizeH="0" baseline="0" noProof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aes_encrypt</a:t>
            </a:r>
            <a:r>
              <a:rPr kumimoji="0" sz="600" b="0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() </a:t>
            </a:r>
            <a:r>
              <a:rPr kumimoji="0" sz="600" b="0" i="0" u="none" strike="noStrike" kern="1200" cap="none" spc="0" normalizeH="0" baseline="0" noProof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落盘即密文</a:t>
            </a:r>
            <a:r>
              <a:rPr kumimoji="0" sz="600" b="0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+ UC </a:t>
            </a:r>
            <a:r>
              <a:rPr kumimoji="0" sz="600" b="0" i="0" u="none" strike="noStrike" kern="1200" cap="none" spc="0" normalizeH="0" baseline="0" noProof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列掩码查询遮蔽</a:t>
            </a:r>
            <a:r>
              <a:rPr kumimoji="0" sz="600" b="0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——</a:t>
            </a:r>
            <a:r>
              <a:rPr kumimoji="0" sz="600" b="0" i="0" u="none" strike="noStrike" kern="1200" cap="none" spc="0" normalizeH="0" baseline="0" noProof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两者必须组合；GCM</a:t>
            </a:r>
            <a:r>
              <a:rPr kumimoji="0" sz="600" b="0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</a:t>
            </a:r>
            <a:r>
              <a:rPr kumimoji="0" sz="600" b="0" i="0" u="none" strike="noStrike" kern="1200" cap="none" spc="0" normalizeH="0" baseline="0" noProof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每次随机</a:t>
            </a:r>
            <a:r>
              <a:rPr kumimoji="0" sz="600" b="0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IV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50876" y="2537459"/>
            <a:ext cx="2948940" cy="562356"/>
          </a:xfrm>
          <a:prstGeom prst="roundRect">
            <a:avLst>
              <a:gd name="adj" fmla="val 7317"/>
            </a:avLst>
          </a:prstGeom>
          <a:solidFill>
            <a:schemeClr val="bg1"/>
          </a:solidFill>
          <a:ln w="1397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246888" y="2606041"/>
            <a:ext cx="356616" cy="212597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397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46888" y="2615183"/>
            <a:ext cx="356616" cy="1920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3" b="1" i="0" u="none" strike="noStrike" kern="1200" cap="none" spc="0" normalizeH="0" baseline="0" noProof="0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L4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" y="2599181"/>
            <a:ext cx="2331720" cy="1028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 err="1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展示层</a:t>
            </a:r>
            <a:r>
              <a:rPr kumimoji="0" sz="443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· </a:t>
            </a:r>
            <a:r>
              <a:rPr kumimoji="0" sz="600" b="0" i="0" u="none" strike="noStrike" kern="1200" cap="none" spc="0" normalizeH="0" baseline="0" noProof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防越权查看</a:t>
            </a:r>
            <a:endParaRPr kumimoji="0" sz="600" b="0" i="0" u="none" strike="noStrike" kern="1200" cap="none" spc="0" normalizeH="0" baseline="0" noProof="0">
              <a:ln>
                <a:noFill/>
              </a:ln>
              <a:solidFill>
                <a:srgbClr val="64748B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99516" y="2729483"/>
            <a:ext cx="231800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0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UC COLUMN MASK / ROW FILTER 绑定基表，任何访问路径强制生效；B2 </a:t>
            </a:r>
            <a:r>
              <a:rPr kumimoji="0" sz="600" b="0" i="0" u="none" strike="noStrike" kern="1200" cap="none" spc="0" normalizeH="0" baseline="0" noProof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原生，Trino</a:t>
            </a:r>
            <a:r>
              <a:rPr kumimoji="0" sz="600" b="0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</a:t>
            </a:r>
            <a:r>
              <a:rPr kumimoji="0" sz="600" b="0" i="0" u="none" strike="noStrike" kern="1200" cap="none" spc="0" normalizeH="0" baseline="0" noProof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读完全不可用</a:t>
            </a:r>
            <a:endParaRPr kumimoji="0" sz="600" b="0" i="0" u="none" strike="noStrike" kern="1200" cap="none" spc="0" normalizeH="0" baseline="0" noProof="0">
              <a:ln>
                <a:noFill/>
              </a:ln>
              <a:solidFill>
                <a:srgbClr val="475569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150876" y="3154680"/>
            <a:ext cx="2948940" cy="562356"/>
          </a:xfrm>
          <a:prstGeom prst="roundRect">
            <a:avLst>
              <a:gd name="adj" fmla="val 7317"/>
            </a:avLst>
          </a:prstGeom>
          <a:solidFill>
            <a:schemeClr val="bg1"/>
          </a:solidFill>
          <a:ln w="1397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246888" y="3243834"/>
            <a:ext cx="356616" cy="19202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397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46888" y="3281553"/>
            <a:ext cx="356616" cy="13030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3" b="1" i="0" u="none" strike="noStrike" kern="1200" cap="none" spc="0" normalizeH="0" baseline="0" noProof="0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L5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" y="3216402"/>
            <a:ext cx="2331720" cy="1028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93" b="1" i="0" u="none" strike="noStrike" kern="1200" cap="none" spc="0" normalizeH="0" baseline="0" noProof="0" err="1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密钥层</a:t>
            </a:r>
            <a:r>
              <a:rPr kumimoji="0" sz="443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· </a:t>
            </a:r>
            <a:r>
              <a:rPr kumimoji="0" sz="443" b="0" i="0" u="none" strike="noStrike" kern="1200" cap="none" spc="0" normalizeH="0" baseline="0" noProof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防泄露无法止损</a:t>
            </a:r>
            <a:endParaRPr kumimoji="0" sz="443" b="0" i="0" u="none" strike="noStrike" kern="1200" cap="none" spc="0" normalizeH="0" baseline="0" noProof="0">
              <a:ln>
                <a:noFill/>
              </a:ln>
              <a:solidFill>
                <a:srgbClr val="64748B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99516" y="3346704"/>
            <a:ext cx="231800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0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Key Vault CMK </a:t>
            </a:r>
            <a:r>
              <a:rPr kumimoji="0" sz="600" b="0" i="0" u="none" strike="noStrike" kern="1200" cap="none" spc="0" normalizeH="0" baseline="0" noProof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自动轮转；信封加密</a:t>
            </a:r>
            <a:r>
              <a:rPr kumimoji="0" sz="600" b="0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——</a:t>
            </a:r>
            <a:r>
              <a:rPr kumimoji="0" sz="600" b="0" i="0" u="none" strike="noStrike" kern="1200" cap="none" spc="0" normalizeH="0" baseline="0" noProof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轮主密钥只重包装</a:t>
            </a:r>
            <a:r>
              <a:rPr kumimoji="0" sz="600" b="0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</a:t>
            </a:r>
            <a:r>
              <a:rPr kumimoji="0" sz="600" b="0" i="0" u="none" strike="noStrike" kern="1200" cap="none" spc="0" normalizeH="0" baseline="0" noProof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KEK、零数据重写；密文自带</a:t>
            </a:r>
            <a:r>
              <a:rPr kumimoji="0" sz="600" b="0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</a:t>
            </a:r>
            <a:r>
              <a:rPr kumimoji="0" sz="600" b="0" i="0" u="none" strike="noStrike" kern="1200" cap="none" spc="0" normalizeH="0" baseline="0" noProof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key_version</a:t>
            </a:r>
            <a:endParaRPr kumimoji="0" sz="600" b="0" i="0" u="none" strike="noStrike" kern="1200" cap="none" spc="0" normalizeH="0" baseline="0" noProof="0">
              <a:ln>
                <a:noFill/>
              </a:ln>
              <a:solidFill>
                <a:srgbClr val="475569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3195828" y="425196"/>
            <a:ext cx="3086100" cy="2057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397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291840" y="425196"/>
            <a:ext cx="2894076" cy="2057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38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字段级加密 · 推荐路线：aes_encrypt + UC 列掩码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195828" y="672084"/>
            <a:ext cx="3086100" cy="411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chemeClr val="tx2">
                <a:lumMod val="40000"/>
                <a:lumOff val="60000"/>
              </a:schemeClr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3278124" y="774953"/>
            <a:ext cx="205740" cy="205740"/>
          </a:xfrm>
          <a:prstGeom prst="ellipse">
            <a:avLst/>
          </a:prstGeom>
          <a:solidFill>
            <a:srgbClr val="FFFFFF"/>
          </a:solidFill>
          <a:ln w="2032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284982" y="768096"/>
            <a:ext cx="205740" cy="2057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1" i="0" u="none" strike="noStrike" kern="1200" cap="none" spc="0" normalizeH="0" baseline="0" noProof="0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726948"/>
            <a:ext cx="2647188" cy="1028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 err="1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密钥入</a:t>
            </a: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Secret Scope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864108"/>
            <a:ext cx="2647188" cy="1783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Key Vault </a:t>
            </a:r>
            <a:r>
              <a:rPr kumimoji="0" sz="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撑腰</a:t>
            </a:r>
            <a:r>
              <a:rPr kumimoji="0" sz="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· </a:t>
            </a:r>
            <a:r>
              <a:rPr kumimoji="0" sz="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托管标识免密拉取，密钥不进代码</a:t>
            </a:r>
            <a:r>
              <a:rPr kumimoji="0" sz="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/ </a:t>
            </a:r>
            <a:r>
              <a:rPr kumimoji="0" sz="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日志</a:t>
            </a:r>
            <a:endParaRPr kumimoji="0" sz="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4732020" y="1090422"/>
            <a:ext cx="0" cy="54865"/>
          </a:xfrm>
          <a:prstGeom prst="line">
            <a:avLst/>
          </a:prstGeom>
          <a:ln w="17780">
            <a:solidFill>
              <a:schemeClr val="tx2">
                <a:lumMod val="60000"/>
                <a:lumOff val="40000"/>
              </a:schemeClr>
            </a:solidFill>
            <a:tailEnd type="triangle" w="med" len="med"/>
          </a:ln>
          <a:effectLst/>
        </p:spPr>
      </p:cxnSp>
      <p:sp>
        <p:nvSpPr>
          <p:cNvPr id="39" name="Rounded Rectangle 38"/>
          <p:cNvSpPr/>
          <p:nvPr/>
        </p:nvSpPr>
        <p:spPr>
          <a:xfrm>
            <a:off x="3195828" y="1152144"/>
            <a:ext cx="3086100" cy="411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chemeClr val="tx2">
                <a:lumMod val="40000"/>
                <a:lumOff val="60000"/>
              </a:schemeClr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3278124" y="1255013"/>
            <a:ext cx="205740" cy="205740"/>
          </a:xfrm>
          <a:prstGeom prst="ellipse">
            <a:avLst/>
          </a:prstGeom>
          <a:solidFill>
            <a:srgbClr val="FFFFFF"/>
          </a:solidFill>
          <a:ln w="2032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286125" y="1255013"/>
            <a:ext cx="205740" cy="2057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1" i="0" u="none" strike="noStrike" kern="1200" cap="none" spc="0" normalizeH="0" baseline="0" noProof="0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0" y="1207008"/>
            <a:ext cx="2647188" cy="1028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ETL </a:t>
            </a:r>
            <a:r>
              <a:rPr kumimoji="0" sz="900" b="1" i="0" u="none" strike="noStrike" kern="1200" cap="none" spc="0" normalizeH="0" baseline="0" noProof="0" err="1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写侧加密</a:t>
            </a:r>
            <a:endParaRPr kumimoji="0" sz="900" b="1" i="0" u="none" strike="noStrike" kern="1200" cap="none" spc="0" normalizeH="0" baseline="0" noProof="0">
              <a:ln>
                <a:noFill/>
              </a:ln>
              <a:solidFill>
                <a:srgbClr val="0F172A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566160" y="1344168"/>
            <a:ext cx="2647188" cy="1783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aes_encrypt</a:t>
            </a:r>
            <a:r>
              <a:rPr kumimoji="0" sz="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(col, secret(...)) · </a:t>
            </a:r>
            <a:r>
              <a:rPr kumimoji="0" sz="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默认</a:t>
            </a:r>
            <a:r>
              <a:rPr kumimoji="0" sz="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GCM </a:t>
            </a:r>
            <a:r>
              <a:rPr kumimoji="0" sz="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随机</a:t>
            </a:r>
            <a:r>
              <a:rPr kumimoji="0" sz="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</a:t>
            </a:r>
            <a:r>
              <a:rPr kumimoji="0" sz="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IV，绝不能用</a:t>
            </a:r>
            <a:r>
              <a:rPr kumimoji="0" sz="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ECB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732020" y="1570482"/>
            <a:ext cx="0" cy="54864"/>
          </a:xfrm>
          <a:prstGeom prst="line">
            <a:avLst/>
          </a:prstGeom>
          <a:ln w="17780">
            <a:solidFill>
              <a:schemeClr val="tx2">
                <a:lumMod val="60000"/>
                <a:lumOff val="40000"/>
              </a:schemeClr>
            </a:solidFill>
            <a:tailEnd type="triangle" w="med" len="med"/>
          </a:ln>
          <a:effectLst/>
        </p:spPr>
      </p:cxnSp>
      <p:sp>
        <p:nvSpPr>
          <p:cNvPr id="45" name="Rounded Rectangle 44"/>
          <p:cNvSpPr/>
          <p:nvPr/>
        </p:nvSpPr>
        <p:spPr>
          <a:xfrm>
            <a:off x="3195828" y="1632204"/>
            <a:ext cx="3086100" cy="411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chemeClr val="tx2">
                <a:lumMod val="40000"/>
                <a:lumOff val="60000"/>
              </a:schemeClr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46" name="Oval 45"/>
          <p:cNvSpPr/>
          <p:nvPr/>
        </p:nvSpPr>
        <p:spPr>
          <a:xfrm>
            <a:off x="3278124" y="1735074"/>
            <a:ext cx="205740" cy="205740"/>
          </a:xfrm>
          <a:prstGeom prst="ellipse">
            <a:avLst/>
          </a:prstGeom>
          <a:solidFill>
            <a:srgbClr val="FFFFFF"/>
          </a:solidFill>
          <a:ln w="2032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278124" y="1735074"/>
            <a:ext cx="205740" cy="2057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1" i="0" u="none" strike="noStrike" kern="1200" cap="none" spc="0" normalizeH="0" baseline="0" noProof="0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66160" y="1687068"/>
            <a:ext cx="2647188" cy="1028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 err="1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定义掩码函数</a:t>
            </a:r>
            <a:endParaRPr kumimoji="0" sz="900" b="1" i="0" u="none" strike="noStrike" kern="1200" cap="none" spc="0" normalizeH="0" baseline="0" noProof="0">
              <a:ln>
                <a:noFill/>
              </a:ln>
              <a:solidFill>
                <a:srgbClr val="0F172A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566160" y="1824228"/>
            <a:ext cx="2647188" cy="1783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is_account_group_member</a:t>
            </a:r>
            <a:r>
              <a:rPr kumimoji="0" sz="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() ? </a:t>
            </a:r>
            <a:r>
              <a:rPr kumimoji="0" sz="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try_aes_decrypt</a:t>
            </a:r>
            <a:r>
              <a:rPr kumimoji="0" sz="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: ***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4732020" y="2050542"/>
            <a:ext cx="0" cy="54864"/>
          </a:xfrm>
          <a:prstGeom prst="line">
            <a:avLst/>
          </a:prstGeom>
          <a:ln w="17780">
            <a:solidFill>
              <a:schemeClr val="tx2">
                <a:lumMod val="60000"/>
                <a:lumOff val="40000"/>
              </a:schemeClr>
            </a:solidFill>
            <a:tailEnd type="triangle" w="med" len="med"/>
          </a:ln>
          <a:effectLst/>
        </p:spPr>
      </p:cxnSp>
      <p:sp>
        <p:nvSpPr>
          <p:cNvPr id="51" name="Rounded Rectangle 50"/>
          <p:cNvSpPr/>
          <p:nvPr/>
        </p:nvSpPr>
        <p:spPr>
          <a:xfrm>
            <a:off x="3195828" y="2112264"/>
            <a:ext cx="3086100" cy="411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chemeClr val="tx2">
                <a:lumMod val="40000"/>
                <a:lumOff val="60000"/>
              </a:schemeClr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52" name="Oval 51"/>
          <p:cNvSpPr/>
          <p:nvPr/>
        </p:nvSpPr>
        <p:spPr>
          <a:xfrm>
            <a:off x="3278124" y="2215134"/>
            <a:ext cx="205740" cy="205740"/>
          </a:xfrm>
          <a:prstGeom prst="ellipse">
            <a:avLst/>
          </a:prstGeom>
          <a:solidFill>
            <a:srgbClr val="FFFFFF"/>
          </a:solidFill>
          <a:ln w="2032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284982" y="2210562"/>
            <a:ext cx="205740" cy="2057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1" i="0" u="none" strike="noStrike" kern="1200" cap="none" spc="0" normalizeH="0" baseline="0" noProof="0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66160" y="2167128"/>
            <a:ext cx="2647188" cy="1028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 err="1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挂载到列</a:t>
            </a:r>
            <a:endParaRPr kumimoji="0" sz="900" b="1" i="0" u="none" strike="noStrike" kern="1200" cap="none" spc="0" normalizeH="0" baseline="0" noProof="0">
              <a:ln>
                <a:noFill/>
              </a:ln>
              <a:solidFill>
                <a:srgbClr val="0F172A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566160" y="2304288"/>
            <a:ext cx="2647188" cy="1783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ALTER TABLE … SET </a:t>
            </a:r>
            <a:r>
              <a:rPr kumimoji="0" sz="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MASK（必须打在基表，不支持视图</a:t>
            </a:r>
            <a:r>
              <a:rPr kumimoji="0" sz="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）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195828" y="2606040"/>
            <a:ext cx="3086100" cy="274320"/>
          </a:xfrm>
          <a:prstGeom prst="roundRect">
            <a:avLst>
              <a:gd name="adj" fmla="val 15000"/>
            </a:avLst>
          </a:prstGeom>
          <a:solidFill>
            <a:srgbClr val="DCFCE7"/>
          </a:solidFill>
          <a:ln w="1397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264408" y="2606040"/>
            <a:ext cx="29489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10" b="1" i="0" u="none" strike="noStrike" kern="1200" cap="none" spc="0" normalizeH="0" baseline="0" noProof="0" err="1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同一条</a:t>
            </a:r>
            <a:r>
              <a:rPr kumimoji="0" sz="510" b="1" i="0" u="none" strike="noStrike" kern="1200" cap="none" spc="0" normalizeH="0" baseline="0" noProof="0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</a:t>
            </a:r>
            <a:r>
              <a:rPr kumimoji="0" sz="510" b="1" i="0" u="none" strike="noStrike" kern="1200" cap="none" spc="0" normalizeH="0" baseline="0" noProof="0" err="1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SQL：授权者见明文</a:t>
            </a:r>
            <a:r>
              <a:rPr kumimoji="0" sz="510" b="1" i="0" u="none" strike="noStrike" kern="1200" cap="none" spc="0" normalizeH="0" baseline="0" noProof="0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· </a:t>
            </a:r>
            <a:r>
              <a:rPr kumimoji="0" sz="510" b="1" i="0" u="none" strike="noStrike" kern="1200" cap="none" spc="0" normalizeH="0" baseline="0" noProof="0" err="1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其他人见</a:t>
            </a:r>
            <a:r>
              <a:rPr kumimoji="0" sz="510" b="1" i="0" u="none" strike="noStrike" kern="1200" cap="none" spc="0" normalizeH="0" baseline="0" noProof="0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*** · </a:t>
            </a:r>
            <a:r>
              <a:rPr kumimoji="0" sz="510" b="1" i="0" u="none" strike="noStrike" kern="1200" cap="none" spc="0" normalizeH="0" baseline="0" noProof="0" err="1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直读</a:t>
            </a:r>
            <a:r>
              <a:rPr kumimoji="0" sz="510" b="1" i="0" u="none" strike="noStrike" kern="1200" cap="none" spc="0" normalizeH="0" baseline="0" noProof="0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Parquet </a:t>
            </a:r>
            <a:r>
              <a:rPr kumimoji="0" sz="510" b="1" i="0" u="none" strike="noStrike" kern="1200" cap="none" spc="0" normalizeH="0" baseline="0" noProof="0" err="1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只见密文</a:t>
            </a:r>
            <a:endParaRPr kumimoji="0" sz="510" b="1" i="0" u="none" strike="noStrike" kern="1200" cap="none" spc="0" normalizeH="0" baseline="0" noProof="0">
              <a:ln>
                <a:noFill/>
              </a:ln>
              <a:solidFill>
                <a:srgbClr val="047857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3195828" y="2921508"/>
            <a:ext cx="3086100" cy="192024"/>
          </a:xfrm>
          <a:prstGeom prst="roundRect">
            <a:avLst>
              <a:gd name="adj" fmla="val 17857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278124" y="2921508"/>
            <a:ext cx="2935224" cy="1920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43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为何安全：</a:t>
            </a:r>
            <a:r>
              <a:rPr kumimoji="0" sz="443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掩码函数以定义者权限取密钥，分析师自己写 aes_decrypt 也拿不到 key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195828" y="3168396"/>
            <a:ext cx="3086100" cy="548640"/>
          </a:xfrm>
          <a:prstGeom prst="roundRect">
            <a:avLst>
              <a:gd name="adj" fmla="val 7500"/>
            </a:avLst>
          </a:prstGeom>
          <a:solidFill>
            <a:srgbClr val="FFF7ED"/>
          </a:solidFill>
          <a:ln w="13970">
            <a:solidFill>
              <a:srgbClr val="FDB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3278124" y="3209544"/>
            <a:ext cx="2948940" cy="960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40" b="1" i="0" u="none" strike="noStrike" kern="1200" cap="none" spc="0" normalizeH="0" baseline="0" noProof="0">
                <a:ln>
                  <a:noFill/>
                </a:ln>
                <a:solidFill>
                  <a:srgbClr val="B4530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三个必守约束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78124" y="3332988"/>
            <a:ext cx="2935224" cy="3566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0" i="0" u="none" strike="noStrike" kern="1200" cap="none" spc="0" normalizeH="0" baseline="0" noProof="0">
                <a:ln>
                  <a:noFill/>
                </a:ln>
                <a:solidFill>
                  <a:srgbClr val="92400E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❶ </a:t>
            </a:r>
            <a:r>
              <a:rPr kumimoji="0" sz="600" b="0" i="0" u="none" strike="noStrike" kern="1200" cap="none" spc="0" normalizeH="0" baseline="0" noProof="0" err="1">
                <a:ln>
                  <a:noFill/>
                </a:ln>
                <a:solidFill>
                  <a:srgbClr val="92400E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绝不能改成</a:t>
            </a:r>
            <a:r>
              <a:rPr kumimoji="0" sz="600" b="0" i="0" u="none" strike="noStrike" kern="1200" cap="none" spc="0" normalizeH="0" baseline="0" noProof="0">
                <a:ln>
                  <a:noFill/>
                </a:ln>
                <a:solidFill>
                  <a:srgbClr val="92400E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</a:t>
            </a:r>
            <a:r>
              <a:rPr kumimoji="0" sz="600" b="0" i="0" u="none" strike="noStrike" kern="1200" cap="none" spc="0" normalizeH="0" baseline="0" noProof="0" err="1">
                <a:ln>
                  <a:noFill/>
                </a:ln>
                <a:solidFill>
                  <a:srgbClr val="92400E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ECB（暴露频率分布</a:t>
            </a:r>
            <a:r>
              <a:rPr kumimoji="0" sz="600" b="0" i="0" u="none" strike="noStrike" kern="1200" cap="none" spc="0" normalizeH="0" baseline="0" noProof="0">
                <a:ln>
                  <a:noFill/>
                </a:ln>
                <a:solidFill>
                  <a:srgbClr val="92400E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）　</a:t>
            </a:r>
            <a:endParaRPr kumimoji="0" lang="en-US" sz="600" b="0" i="0" u="none" strike="noStrike" kern="1200" cap="none" spc="0" normalizeH="0" baseline="0" noProof="0">
              <a:ln>
                <a:noFill/>
              </a:ln>
              <a:solidFill>
                <a:srgbClr val="92400E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0" i="0" u="none" strike="noStrike" kern="1200" cap="none" spc="0" normalizeH="0" baseline="0" noProof="0">
                <a:ln>
                  <a:noFill/>
                </a:ln>
                <a:solidFill>
                  <a:srgbClr val="92400E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❷ </a:t>
            </a:r>
            <a:r>
              <a:rPr kumimoji="0" sz="600" b="0" i="0" u="none" strike="noStrike" kern="1200" cap="none" spc="0" normalizeH="0" baseline="0" noProof="0" err="1">
                <a:ln>
                  <a:noFill/>
                </a:ln>
                <a:solidFill>
                  <a:srgbClr val="92400E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业务用户对</a:t>
            </a:r>
            <a:r>
              <a:rPr kumimoji="0" sz="600" b="0" i="0" u="none" strike="noStrike" kern="1200" cap="none" spc="0" normalizeH="0" baseline="0" noProof="0">
                <a:ln>
                  <a:noFill/>
                </a:ln>
                <a:solidFill>
                  <a:srgbClr val="92400E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Secret Scope </a:t>
            </a:r>
            <a:r>
              <a:rPr kumimoji="0" sz="600" b="0" i="0" u="none" strike="noStrike" kern="1200" cap="none" spc="0" normalizeH="0" baseline="0" noProof="0" err="1">
                <a:ln>
                  <a:noFill/>
                </a:ln>
                <a:solidFill>
                  <a:srgbClr val="92400E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必须无</a:t>
            </a:r>
            <a:r>
              <a:rPr kumimoji="0" sz="600" b="0" i="0" u="none" strike="noStrike" kern="1200" cap="none" spc="0" normalizeH="0" baseline="0" noProof="0">
                <a:ln>
                  <a:noFill/>
                </a:ln>
                <a:solidFill>
                  <a:srgbClr val="92400E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READ </a:t>
            </a:r>
            <a:r>
              <a:rPr kumimoji="0" sz="600" b="0" i="0" u="none" strike="noStrike" kern="1200" cap="none" spc="0" normalizeH="0" baseline="0" noProof="0" err="1">
                <a:ln>
                  <a:noFill/>
                </a:ln>
                <a:solidFill>
                  <a:srgbClr val="92400E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权限，否则防线归零</a:t>
            </a:r>
            <a:endParaRPr kumimoji="0" sz="600" b="0" i="0" u="none" strike="noStrike" kern="1200" cap="none" spc="0" normalizeH="0" baseline="0" noProof="0">
              <a:ln>
                <a:noFill/>
              </a:ln>
              <a:solidFill>
                <a:srgbClr val="92400E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0" i="0" u="none" strike="noStrike" kern="1200" cap="none" spc="0" normalizeH="0" baseline="0" noProof="0">
                <a:ln>
                  <a:noFill/>
                </a:ln>
                <a:solidFill>
                  <a:srgbClr val="92400E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❸ </a:t>
            </a:r>
            <a:r>
              <a:rPr kumimoji="0" sz="600" b="0" i="0" u="none" strike="noStrike" kern="1200" cap="none" spc="0" normalizeH="0" baseline="0" noProof="0" err="1">
                <a:ln>
                  <a:noFill/>
                </a:ln>
                <a:solidFill>
                  <a:srgbClr val="92400E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掩码不支持视图须挂基表；卸载顺序：先</a:t>
            </a:r>
            <a:r>
              <a:rPr kumimoji="0" sz="600" b="0" i="0" u="none" strike="noStrike" kern="1200" cap="none" spc="0" normalizeH="0" baseline="0" noProof="0">
                <a:ln>
                  <a:noFill/>
                </a:ln>
                <a:solidFill>
                  <a:srgbClr val="92400E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DROP MASK 再 DROP FUNCTION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391656" y="425196"/>
            <a:ext cx="2606040" cy="2057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397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487669" y="425196"/>
            <a:ext cx="2414015" cy="2057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38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密钥体系 · 合规与销毁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391656" y="672084"/>
            <a:ext cx="2606040" cy="1179576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524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6487668" y="740664"/>
            <a:ext cx="2414016" cy="233172"/>
          </a:xfrm>
          <a:prstGeom prst="roundRect">
            <a:avLst>
              <a:gd name="adj" fmla="val 14705"/>
            </a:avLst>
          </a:prstGeom>
          <a:solidFill>
            <a:srgbClr val="EFF6FF"/>
          </a:solidFill>
          <a:ln w="13970">
            <a:solidFill>
              <a:schemeClr val="tx2">
                <a:lumMod val="40000"/>
                <a:lumOff val="60000"/>
              </a:schemeClr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6508242" y="740664"/>
            <a:ext cx="2372868" cy="2331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10" b="0" i="0" u="none" strike="noStrike" kern="1200" cap="none" spc="0" normalizeH="0" baseline="0" noProof="0">
                <a:ln>
                  <a:noFill/>
                </a:ln>
                <a:solidFill>
                  <a:srgbClr val="1E40AF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Key Vault · CMK / KEK 主密钥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7694676" y="980694"/>
            <a:ext cx="0" cy="82296"/>
          </a:xfrm>
          <a:prstGeom prst="line">
            <a:avLst/>
          </a:prstGeom>
          <a:ln w="16510">
            <a:solidFill>
              <a:schemeClr val="tx2">
                <a:lumMod val="60000"/>
                <a:lumOff val="40000"/>
              </a:schemeClr>
            </a:solidFill>
            <a:tailEnd type="triangle" w="med" len="med"/>
          </a:ln>
          <a:effectLst/>
        </p:spPr>
      </p:cxnSp>
      <p:sp>
        <p:nvSpPr>
          <p:cNvPr id="69" name="TextBox 68"/>
          <p:cNvSpPr txBox="1"/>
          <p:nvPr/>
        </p:nvSpPr>
        <p:spPr>
          <a:xfrm>
            <a:off x="7763256" y="973836"/>
            <a:ext cx="685800" cy="822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05" b="1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包装 / 解包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487668" y="1069848"/>
            <a:ext cx="2414016" cy="233172"/>
          </a:xfrm>
          <a:prstGeom prst="roundRect">
            <a:avLst>
              <a:gd name="adj" fmla="val 14705"/>
            </a:avLst>
          </a:prstGeom>
          <a:solidFill>
            <a:srgbClr val="F5F3FF"/>
          </a:solidFill>
          <a:ln w="13970">
            <a:solidFill>
              <a:schemeClr val="tx2">
                <a:lumMod val="40000"/>
                <a:lumOff val="60000"/>
              </a:schemeClr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6508242" y="1069848"/>
            <a:ext cx="2372868" cy="2331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10" b="0" i="0" u="none" strike="noStrike" kern="1200" cap="none" spc="0" normalizeH="0" baseline="0" noProof="0">
                <a:ln>
                  <a:noFill/>
                </a:ln>
                <a:solidFill>
                  <a:srgbClr val="6D28D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DEK 数据密钥（带 key_version）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7694676" y="1309879"/>
            <a:ext cx="0" cy="82295"/>
          </a:xfrm>
          <a:prstGeom prst="line">
            <a:avLst/>
          </a:prstGeom>
          <a:ln w="16510">
            <a:solidFill>
              <a:schemeClr val="tx2">
                <a:lumMod val="60000"/>
                <a:lumOff val="40000"/>
              </a:schemeClr>
            </a:solidFill>
            <a:tailEnd type="triangle" w="med" len="med"/>
          </a:ln>
          <a:effectLst/>
        </p:spPr>
      </p:cxnSp>
      <p:sp>
        <p:nvSpPr>
          <p:cNvPr id="73" name="TextBox 72"/>
          <p:cNvSpPr txBox="1"/>
          <p:nvPr/>
        </p:nvSpPr>
        <p:spPr>
          <a:xfrm>
            <a:off x="7763256" y="1303020"/>
            <a:ext cx="685800" cy="822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05" b="1" i="0" u="none" strike="noStrike" kern="1200" cap="none" spc="0" normalizeH="0" baseline="0" noProof="0" err="1">
                <a:ln>
                  <a:noFill/>
                </a:ln>
                <a:solidFill>
                  <a:srgbClr val="7C3AED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加密</a:t>
            </a:r>
            <a:r>
              <a:rPr kumimoji="0" sz="405" b="1" i="0" u="none" strike="noStrike" kern="1200" cap="none" spc="0" normalizeH="0" baseline="0" noProof="0">
                <a:ln>
                  <a:noFill/>
                </a:ln>
                <a:solidFill>
                  <a:srgbClr val="7C3AED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/ </a:t>
            </a:r>
            <a:r>
              <a:rPr kumimoji="0" sz="405" b="1" i="0" u="none" strike="noStrike" kern="1200" cap="none" spc="0" normalizeH="0" baseline="0" noProof="0" err="1">
                <a:ln>
                  <a:noFill/>
                </a:ln>
                <a:solidFill>
                  <a:srgbClr val="7C3AED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解密</a:t>
            </a:r>
            <a:endParaRPr kumimoji="0" sz="405" b="1" i="0" u="none" strike="noStrike" kern="1200" cap="none" spc="0" normalizeH="0" baseline="0" noProof="0">
              <a:ln>
                <a:noFill/>
              </a:ln>
              <a:solidFill>
                <a:srgbClr val="7C3AED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6487668" y="1399032"/>
            <a:ext cx="2414016" cy="233172"/>
          </a:xfrm>
          <a:prstGeom prst="roundRect">
            <a:avLst>
              <a:gd name="adj" fmla="val 14705"/>
            </a:avLst>
          </a:prstGeom>
          <a:solidFill>
            <a:srgbClr val="ECFDF5"/>
          </a:solidFill>
          <a:ln w="13970">
            <a:solidFill>
              <a:schemeClr val="tx2">
                <a:lumMod val="40000"/>
                <a:lumOff val="60000"/>
              </a:schemeClr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6508242" y="1399032"/>
            <a:ext cx="2372868" cy="2331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10" b="0" i="0" u="none" strike="noStrike" kern="1200" cap="none" spc="0" normalizeH="0" baseline="0" noProof="0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Iceberg 密文 + UC 列掩码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60236" y="1673352"/>
            <a:ext cx="2468880" cy="1508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1" i="0" u="none" strike="noStrike" kern="1200" cap="none" spc="0" normalizeH="0" baseline="0" noProof="0" err="1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信封加密：轮转主密钥只重新包装</a:t>
            </a:r>
            <a:r>
              <a:rPr kumimoji="0" sz="600" b="1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</a:t>
            </a:r>
            <a:r>
              <a:rPr kumimoji="0" sz="600" b="1" i="0" u="none" strike="noStrike" kern="1200" cap="none" spc="0" normalizeH="0" baseline="0" noProof="0" err="1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DEK，数据文件一个字节不动</a:t>
            </a:r>
            <a:endParaRPr kumimoji="0" sz="600" b="1" i="0" u="none" strike="noStrike" kern="1200" cap="none" spc="0" normalizeH="0" baseline="0" noProof="0">
              <a:ln>
                <a:noFill/>
              </a:ln>
              <a:solidFill>
                <a:srgbClr val="0078D4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</p:txBody>
      </p:sp>
      <p:sp>
        <p:nvSpPr>
          <p:cNvPr id="77" name="Rounded Rectangle 76"/>
          <p:cNvSpPr/>
          <p:nvPr/>
        </p:nvSpPr>
        <p:spPr>
          <a:xfrm>
            <a:off x="6391656" y="1920240"/>
            <a:ext cx="2606040" cy="644652"/>
          </a:xfrm>
          <a:prstGeom prst="roundRect">
            <a:avLst>
              <a:gd name="adj" fmla="val 6382"/>
            </a:avLst>
          </a:prstGeom>
          <a:solidFill>
            <a:srgbClr val="FFF1F2"/>
          </a:solidFill>
          <a:ln w="15240">
            <a:solidFill>
              <a:srgbClr val="E11D4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6487668" y="1968246"/>
            <a:ext cx="2400300" cy="1028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70" b="1" i="0" u="none" strike="noStrike" kern="1200" cap="none" spc="0" normalizeH="0" baseline="0" noProof="0">
                <a:ln>
                  <a:noFill/>
                </a:ln>
                <a:solidFill>
                  <a:srgbClr val="E11D48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Crypto-Shredding · 被遗忘权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87668" y="2098548"/>
            <a:ext cx="242773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43" b="0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按数据主体分配独立 DEK——「删除」= 销毁该 DEK，密文永久不可读，无需重写 PB 级文件</a:t>
            </a:r>
          </a:p>
          <a:p>
            <a:pPr marL="0" marR="0" lvl="0" indent="0" algn="l" defTabSz="6858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43" b="1" i="0" u="none" strike="noStrike" kern="1200" cap="none" spc="0" normalizeH="0" baseline="0" noProof="0">
                <a:ln>
                  <a:noFill/>
                </a:ln>
                <a:solidFill>
                  <a:srgbClr val="E11D48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归档场景性价比最高的合规设计，建议第一版纳入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391656" y="2633472"/>
            <a:ext cx="2606040" cy="1083564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6487668" y="2681478"/>
            <a:ext cx="2400300" cy="1028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7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合规映射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487668" y="2825496"/>
            <a:ext cx="726948" cy="164592"/>
          </a:xfrm>
          <a:prstGeom prst="roundRect">
            <a:avLst>
              <a:gd name="adj" fmla="val 16666"/>
            </a:avLst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6508242" y="2825496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5" b="0" i="0" u="none" strike="noStrike" kern="1200" cap="none" spc="0" normalizeH="0" baseline="0" noProof="0" err="1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等保</a:t>
            </a:r>
            <a:r>
              <a:rPr kumimoji="0" sz="525" b="0" i="0" u="none" strike="noStrike" kern="1200" cap="none" spc="0" normalizeH="0" baseline="0" noProof="0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2.0 </a:t>
            </a:r>
            <a:r>
              <a:rPr kumimoji="0" sz="525" b="0" i="0" u="none" strike="noStrike" kern="1200" cap="none" spc="0" normalizeH="0" baseline="0" noProof="0" err="1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三级</a:t>
            </a:r>
            <a:endParaRPr kumimoji="0" sz="525" b="0" i="0" u="none" strike="noStrike" kern="1200" cap="none" spc="0" normalizeH="0" baseline="0" noProof="0">
              <a:ln>
                <a:noFill/>
              </a:ln>
              <a:solidFill>
                <a:srgbClr val="047857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7283196" y="2818638"/>
            <a:ext cx="1659636" cy="2880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28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存储 / 传输保密达标；策略在引擎内、审计落表，举证材料天然齐备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487668" y="3127248"/>
            <a:ext cx="726948" cy="164592"/>
          </a:xfrm>
          <a:prstGeom prst="roundRect">
            <a:avLst>
              <a:gd name="adj" fmla="val 16666"/>
            </a:avLst>
          </a:prstGeom>
          <a:solidFill>
            <a:srgbClr val="FFFBEB"/>
          </a:solidFill>
          <a:ln w="1270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6508242" y="3127248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5" b="0" i="0" u="none" strike="noStrike" kern="1200" cap="none" spc="0" normalizeH="0" baseline="0" noProof="0" err="1">
                <a:ln>
                  <a:noFill/>
                </a:ln>
                <a:solidFill>
                  <a:srgbClr val="B4530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个保法第</a:t>
            </a:r>
            <a:r>
              <a:rPr kumimoji="0" sz="525" b="0" i="0" u="none" strike="noStrike" kern="1200" cap="none" spc="0" normalizeH="0" baseline="0" noProof="0">
                <a:ln>
                  <a:noFill/>
                </a:ln>
                <a:solidFill>
                  <a:srgbClr val="B4530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51 条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283196" y="3120390"/>
            <a:ext cx="1659636" cy="2880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28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SSE ≠ 去标识化——必须 L3 字段级加密 + L4 强制脱敏，只做 L1 不满足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487668" y="3429000"/>
            <a:ext cx="726948" cy="164592"/>
          </a:xfrm>
          <a:prstGeom prst="roundRect">
            <a:avLst>
              <a:gd name="adj" fmla="val 16666"/>
            </a:avLst>
          </a:prstGeom>
          <a:solidFill>
            <a:srgbClr val="FFF1F2"/>
          </a:solidFill>
          <a:ln w="12700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6508242" y="3429000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5" b="0" i="0" u="none" strike="noStrike" kern="1200" cap="none" spc="0" normalizeH="0" baseline="0" noProof="0">
                <a:ln>
                  <a:noFill/>
                </a:ln>
                <a:solidFill>
                  <a:srgbClr val="E11D48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GDPR </a:t>
            </a:r>
            <a:r>
              <a:rPr kumimoji="0" sz="525" b="0" i="0" u="none" strike="noStrike" kern="1200" cap="none" spc="0" normalizeH="0" baseline="0" noProof="0" err="1">
                <a:ln>
                  <a:noFill/>
                </a:ln>
                <a:solidFill>
                  <a:srgbClr val="E11D48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被遗忘权</a:t>
            </a:r>
            <a:endParaRPr kumimoji="0" sz="525" b="0" i="0" u="none" strike="noStrike" kern="1200" cap="none" spc="0" normalizeH="0" baseline="0" noProof="0">
              <a:ln>
                <a:noFill/>
              </a:ln>
              <a:solidFill>
                <a:srgbClr val="E11D48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7283196" y="3422142"/>
            <a:ext cx="1659636" cy="2880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28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Crypto-Shredding：销毁主体 DEK 即永久不可读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50876" y="3813048"/>
            <a:ext cx="2948940" cy="672084"/>
          </a:xfrm>
          <a:prstGeom prst="roundRect">
            <a:avLst>
              <a:gd name="adj" fmla="val 6122"/>
            </a:avLst>
          </a:prstGeom>
          <a:solidFill>
            <a:srgbClr val="EFF6FF"/>
          </a:solidFill>
          <a:ln w="15240">
            <a:solidFill>
              <a:srgbClr val="BFDBFE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260604" y="3895344"/>
            <a:ext cx="2674620" cy="1028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85" b="1" i="0" u="none" strike="noStrike" kern="1200" cap="none" spc="0" normalizeH="0" baseline="0" noProof="0">
                <a:ln>
                  <a:noFill/>
                </a:ln>
                <a:solidFill>
                  <a:srgbClr val="0596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① 授权强制力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60604" y="4046220"/>
            <a:ext cx="2688336" cy="3977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0" i="0" u="none" strike="noStrike" kern="1200" cap="none" spc="0" normalizeH="0" baseline="0" noProof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掩码</a:t>
            </a:r>
            <a:r>
              <a:rPr kumimoji="0" sz="600" b="0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/ </a:t>
            </a:r>
            <a:r>
              <a:rPr kumimoji="0" sz="600" b="0" i="0" u="none" strike="noStrike" kern="1200" cap="none" spc="0" normalizeH="0" baseline="0" noProof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行过滤绑定引擎元数据，任何客户端绕不过；应用层脱敏绕过</a:t>
            </a:r>
            <a:r>
              <a:rPr kumimoji="0" sz="600" b="0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API </a:t>
            </a:r>
            <a:r>
              <a:rPr kumimoji="0" sz="600" b="0" i="0" u="none" strike="noStrike" kern="1200" cap="none" spc="0" normalizeH="0" baseline="0" noProof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即失效</a:t>
            </a:r>
            <a:endParaRPr kumimoji="0" sz="600" b="0" i="0" u="none" strike="noStrike" kern="1200" cap="none" spc="0" normalizeH="0" baseline="0" noProof="0">
              <a:ln>
                <a:noFill/>
              </a:ln>
              <a:solidFill>
                <a:srgbClr val="475569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</p:txBody>
      </p:sp>
      <p:sp>
        <p:nvSpPr>
          <p:cNvPr id="94" name="Rounded Rectangle 93"/>
          <p:cNvSpPr/>
          <p:nvPr/>
        </p:nvSpPr>
        <p:spPr>
          <a:xfrm>
            <a:off x="3195827" y="3813048"/>
            <a:ext cx="3086100" cy="672084"/>
          </a:xfrm>
          <a:prstGeom prst="roundRect">
            <a:avLst>
              <a:gd name="adj" fmla="val 6122"/>
            </a:avLst>
          </a:prstGeom>
          <a:solidFill>
            <a:srgbClr val="ECFDF5"/>
          </a:solidFill>
          <a:ln w="15240">
            <a:solidFill>
              <a:srgbClr val="A7F3D0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3243834" y="3895344"/>
            <a:ext cx="2674620" cy="1028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85" b="1" i="0" u="none" strike="noStrike" kern="1200" cap="none" spc="0" normalizeH="0" baseline="0" noProof="0">
                <a:ln>
                  <a:noFill/>
                </a:ln>
                <a:solidFill>
                  <a:srgbClr val="0596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② 轮转成本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243834" y="4046220"/>
            <a:ext cx="2688336" cy="3977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0" i="0" u="none" strike="noStrike" kern="1200" cap="none" spc="0" normalizeH="0" baseline="0" noProof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信封加密只重包装</a:t>
            </a:r>
            <a:r>
              <a:rPr kumimoji="0" sz="600" b="0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</a:t>
            </a:r>
            <a:r>
              <a:rPr kumimoji="0" sz="600" b="0" i="0" u="none" strike="noStrike" kern="1200" cap="none" spc="0" normalizeH="0" baseline="0" noProof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KEK、零数据重写；应用层方案轮转需重刷数十</a:t>
            </a:r>
            <a:r>
              <a:rPr kumimoji="0" sz="600" b="0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TB </a:t>
            </a:r>
            <a:r>
              <a:rPr kumimoji="0" sz="600" b="0" i="0" u="none" strike="noStrike" kern="1200" cap="none" spc="0" normalizeH="0" baseline="0" noProof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存量</a:t>
            </a:r>
            <a:endParaRPr kumimoji="0" sz="600" b="0" i="0" u="none" strike="noStrike" kern="1200" cap="none" spc="0" normalizeH="0" baseline="0" noProof="0">
              <a:ln>
                <a:noFill/>
              </a:ln>
              <a:solidFill>
                <a:srgbClr val="475569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</p:txBody>
      </p:sp>
      <p:sp>
        <p:nvSpPr>
          <p:cNvPr id="97" name="Rounded Rectangle 96"/>
          <p:cNvSpPr/>
          <p:nvPr/>
        </p:nvSpPr>
        <p:spPr>
          <a:xfrm>
            <a:off x="6391654" y="3813048"/>
            <a:ext cx="2606041" cy="672084"/>
          </a:xfrm>
          <a:prstGeom prst="roundRect">
            <a:avLst>
              <a:gd name="adj" fmla="val 6122"/>
            </a:avLst>
          </a:prstGeom>
          <a:solidFill>
            <a:srgbClr val="F5F3FF"/>
          </a:solidFill>
          <a:ln w="15240">
            <a:solidFill>
              <a:srgbClr val="DDD6FE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6425946" y="3901059"/>
            <a:ext cx="2674620" cy="1028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85" b="1" i="0" u="none" strike="noStrike" kern="1200" cap="none" spc="0" normalizeH="0" baseline="0" noProof="0">
                <a:ln>
                  <a:noFill/>
                </a:ln>
                <a:solidFill>
                  <a:srgbClr val="7C3AED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③ </a:t>
            </a:r>
            <a:r>
              <a:rPr kumimoji="0" sz="585" b="1" i="0" u="none" strike="noStrike" kern="1200" cap="none" spc="0" normalizeH="0" baseline="0" noProof="0" err="1">
                <a:ln>
                  <a:noFill/>
                </a:ln>
                <a:solidFill>
                  <a:srgbClr val="7C3AED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实施成本</a:t>
            </a:r>
            <a:endParaRPr kumimoji="0" sz="585" b="1" i="0" u="none" strike="noStrike" kern="1200" cap="none" spc="0" normalizeH="0" baseline="0" noProof="0">
              <a:ln>
                <a:noFill/>
              </a:ln>
              <a:solidFill>
                <a:srgbClr val="7C3AED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6419088" y="4073652"/>
            <a:ext cx="2688336" cy="3977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0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约 2~3 </a:t>
            </a:r>
            <a:r>
              <a:rPr kumimoji="0" sz="600" b="0" i="0" u="none" strike="noStrike" kern="1200" cap="none" spc="0" normalizeH="0" baseline="0" noProof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人天（应用层方案</a:t>
            </a:r>
            <a:r>
              <a:rPr kumimoji="0" sz="600" b="0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8~12 </a:t>
            </a:r>
            <a:r>
              <a:rPr kumimoji="0" sz="600" b="0" i="0" u="none" strike="noStrike" kern="1200" cap="none" spc="0" normalizeH="0" baseline="0" noProof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人天</a:t>
            </a:r>
            <a:r>
              <a:rPr kumimoji="0" sz="600" b="0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）· </a:t>
            </a:r>
            <a:r>
              <a:rPr kumimoji="0" sz="600" b="0" i="0" u="none" strike="noStrike" kern="1200" cap="none" spc="0" normalizeH="0" baseline="0" noProof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加密字段仍可检索</a:t>
            </a:r>
            <a:r>
              <a:rPr kumimoji="0" sz="600" b="0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· </a:t>
            </a:r>
            <a:r>
              <a:rPr kumimoji="0" sz="600" b="0" i="0" u="none" strike="noStrike" kern="1200" cap="none" spc="0" normalizeH="0" baseline="0" noProof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审计平台原生</a:t>
            </a:r>
            <a:endParaRPr kumimoji="0" sz="600" b="0" i="0" u="none" strike="noStrike" kern="1200" cap="none" spc="0" normalizeH="0" baseline="0" noProof="0">
              <a:ln>
                <a:noFill/>
              </a:ln>
              <a:solidFill>
                <a:srgbClr val="475569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</p:txBody>
      </p:sp>
      <p:sp>
        <p:nvSpPr>
          <p:cNvPr id="100" name="Rounded Rectangle 99"/>
          <p:cNvSpPr/>
          <p:nvPr/>
        </p:nvSpPr>
        <p:spPr>
          <a:xfrm>
            <a:off x="188595" y="4622292"/>
            <a:ext cx="8809101" cy="274320"/>
          </a:xfrm>
          <a:prstGeom prst="roundRect">
            <a:avLst>
              <a:gd name="adj" fmla="val 13461"/>
            </a:avLst>
          </a:prstGeom>
          <a:solidFill>
            <a:schemeClr val="bg1"/>
          </a:solidFill>
          <a:ln w="1524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274320" y="4581144"/>
            <a:ext cx="8599932" cy="3566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4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★ </a:t>
            </a:r>
            <a:r>
              <a:rPr kumimoji="0" sz="54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若列级脱敏是硬需求：</a:t>
            </a:r>
            <a:r>
              <a:rPr kumimoji="0" sz="54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B（Trino</a:t>
            </a:r>
            <a:r>
              <a:rPr kumimoji="0" sz="54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</a:t>
            </a:r>
            <a:r>
              <a:rPr kumimoji="0" sz="54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读）的</a:t>
            </a:r>
            <a:r>
              <a:rPr kumimoji="0" sz="54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UC </a:t>
            </a:r>
            <a:r>
              <a:rPr kumimoji="0" sz="54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列掩码完全不可用（Iceberg</a:t>
            </a:r>
            <a:r>
              <a:rPr kumimoji="0" sz="54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REST Catalog </a:t>
            </a:r>
            <a:r>
              <a:rPr kumimoji="0" sz="54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不支持</a:t>
            </a:r>
            <a:r>
              <a:rPr kumimoji="0" sz="54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），B2 </a:t>
            </a:r>
            <a:r>
              <a:rPr kumimoji="0" sz="54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原生生效、任何路径强制遮蔽</a:t>
            </a:r>
            <a:r>
              <a:rPr kumimoji="0" sz="54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——</a:t>
            </a:r>
            <a:r>
              <a:rPr kumimoji="0" sz="54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这一条基本决定必须选</a:t>
            </a:r>
            <a:r>
              <a:rPr kumimoji="0" sz="54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B2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9CCFCF14-009A-1DAA-FFA7-4A3B6A145C06}"/>
              </a:ext>
            </a:extLst>
          </p:cNvPr>
          <p:cNvSpPr/>
          <p:nvPr/>
        </p:nvSpPr>
        <p:spPr>
          <a:xfrm>
            <a:off x="8115300" y="0"/>
            <a:ext cx="1028700" cy="219729"/>
          </a:xfrm>
          <a:prstGeom prst="rect">
            <a:avLst/>
          </a:prstGeom>
          <a:solidFill>
            <a:srgbClr val="009CDE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Appendix</a:t>
            </a:r>
            <a:endParaRPr kumimoji="0" lang="zh-CN" altLang="en-US" sz="11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73315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50876" y="116586"/>
            <a:ext cx="37719" cy="274320"/>
          </a:xfrm>
          <a:prstGeom prst="roundRect">
            <a:avLst>
              <a:gd name="adj" fmla="val 4909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60604" y="89154"/>
            <a:ext cx="6172200" cy="2331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88" b="1" i="0" u="none" strike="noStrike" kern="1200" cap="none" spc="0" normalizeH="0" baseline="0" noProof="0" err="1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元数据库</a:t>
            </a:r>
            <a:r>
              <a:rPr kumimoji="0" sz="1388" b="1" i="0" u="none" strike="noStrike" kern="1200" cap="none" spc="0" normalizeH="0" baseline="0" noProof="0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ER </a:t>
            </a:r>
            <a:r>
              <a:rPr kumimoji="0" sz="1388" b="1" i="0" u="none" strike="noStrike" kern="1200" cap="none" spc="0" normalizeH="0" baseline="0" noProof="0" err="1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图（上</a:t>
            </a:r>
            <a:r>
              <a:rPr kumimoji="0" sz="1388" b="1" i="0" u="none" strike="noStrike" kern="1200" cap="none" spc="0" normalizeH="0" baseline="0" noProof="0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）· </a:t>
            </a:r>
            <a:r>
              <a:rPr kumimoji="0" sz="1388" b="1" i="0" u="none" strike="noStrike" kern="1200" cap="none" spc="0" normalizeH="0" baseline="0" noProof="0" err="1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平台</a:t>
            </a:r>
            <a:r>
              <a:rPr kumimoji="0" sz="1388" b="1" i="0" u="none" strike="noStrike" kern="1200" cap="none" spc="0" normalizeH="0" baseline="0" noProof="0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/ </a:t>
            </a:r>
            <a:r>
              <a:rPr kumimoji="0" sz="1388" b="1" i="0" u="none" strike="noStrike" kern="1200" cap="none" spc="0" normalizeH="0" baseline="0" noProof="0" err="1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权限</a:t>
            </a:r>
            <a:r>
              <a:rPr kumimoji="0" sz="1388" b="1" i="0" u="none" strike="noStrike" kern="1200" cap="none" spc="0" normalizeH="0" baseline="0" noProof="0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/ </a:t>
            </a:r>
            <a:r>
              <a:rPr kumimoji="0" sz="1388" b="1" i="0" u="none" strike="noStrike" kern="1200" cap="none" spc="0" normalizeH="0" baseline="0" noProof="0" err="1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数据源配置</a:t>
            </a:r>
            <a:endParaRPr kumimoji="0" sz="1388" b="1" i="0" u="none" strike="noStrike" kern="1200" cap="none" spc="0" normalizeH="0" baseline="0" noProof="0">
              <a:ln>
                <a:noFill/>
              </a:ln>
              <a:solidFill>
                <a:srgbClr val="009CDE"/>
              </a:solidFill>
              <a:effectLst/>
              <a:uLnTx/>
              <a:uFillTx/>
              <a:latin typeface="Georgia"/>
              <a:ea typeface="微软雅黑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46520" y="41148"/>
            <a:ext cx="2091690" cy="2880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563" b="0" i="0" u="none" strike="noStrike" kern="1200" cap="none" spc="0" normalizeH="0" baseline="0" noProof="0">
              <a:ln>
                <a:noFill/>
              </a:ln>
              <a:solidFill>
                <a:srgbClr val="64748B"/>
              </a:solidFill>
              <a:effectLst/>
              <a:uLnTx/>
              <a:uFillTx/>
              <a:latin typeface="Georgia"/>
              <a:ea typeface="微软雅黑"/>
              <a:cs typeface="+mn-c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205740" y="480060"/>
            <a:ext cx="7680960" cy="230029"/>
          </a:xfrm>
          <a:prstGeom prst="roundRect">
            <a:avLst>
              <a:gd name="adj" fmla="val 15789"/>
            </a:avLst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88131" y="480060"/>
            <a:ext cx="7516178" cy="23383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13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① 权限与访问控制（RBAC）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0540" y="1440180"/>
            <a:ext cx="3120390" cy="260604"/>
          </a:xfrm>
          <a:prstGeom prst="roundRect">
            <a:avLst>
              <a:gd name="adj" fmla="val 15789"/>
            </a:avLst>
          </a:prstGeom>
          <a:solidFill>
            <a:srgbClr val="D5E8D4"/>
          </a:solidFill>
          <a:ln w="12700">
            <a:solidFill>
              <a:srgbClr val="9BCB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402837" y="1440180"/>
            <a:ext cx="2955797" cy="2606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13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③ 源数据配置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12380" y="1440180"/>
            <a:ext cx="1337310" cy="260604"/>
          </a:xfrm>
          <a:prstGeom prst="roundRect">
            <a:avLst>
              <a:gd name="adj" fmla="val 15789"/>
            </a:avLst>
          </a:prstGeom>
          <a:solidFill>
            <a:srgbClr val="E1D5E7"/>
          </a:solidFill>
          <a:ln w="12700">
            <a:solidFill>
              <a:srgbClr val="B5A0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94675" y="1440180"/>
            <a:ext cx="1172718" cy="2606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13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④ 目标存储 · 归档 Schema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88820" y="2386584"/>
            <a:ext cx="1988820" cy="260604"/>
          </a:xfrm>
          <a:prstGeom prst="roundRect">
            <a:avLst>
              <a:gd name="adj" fmla="val 15789"/>
            </a:avLst>
          </a:prstGeom>
          <a:solidFill>
            <a:srgbClr val="D9E8FC"/>
          </a:solidFill>
          <a:ln w="12700">
            <a:solidFill>
              <a:srgbClr val="A9C4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071116" y="2386584"/>
            <a:ext cx="1824228" cy="2606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13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② 退役系统管理（核心）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5740" y="3991452"/>
            <a:ext cx="8743950" cy="233839"/>
          </a:xfrm>
          <a:prstGeom prst="roundRect">
            <a:avLst>
              <a:gd name="adj" fmla="val 15789"/>
            </a:avLst>
          </a:prstGeom>
          <a:solidFill>
            <a:srgbClr val="F5F5F5"/>
          </a:solidFill>
          <a:ln w="12700">
            <a:solidFill>
              <a:srgbClr val="A8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88036" y="3991356"/>
            <a:ext cx="8579358" cy="2606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13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⑩ 通知 · ⑪ 审计与监控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" y="754380"/>
            <a:ext cx="1440180" cy="822960"/>
          </a:xfrm>
          <a:prstGeom prst="roundRect">
            <a:avLst>
              <a:gd name="adj" fmla="val 3333"/>
            </a:avLst>
          </a:prstGeom>
          <a:solidFill>
            <a:schemeClr val="tx2">
              <a:lumMod val="40000"/>
              <a:lumOff val="60000"/>
            </a:schemeClr>
          </a:solidFill>
          <a:ln w="17780">
            <a:solidFill>
              <a:schemeClr val="tx2">
                <a:lumMod val="40000"/>
                <a:lumOff val="60000"/>
              </a:schemeClr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15341" y="763981"/>
            <a:ext cx="1420977" cy="178308"/>
          </a:xfrm>
          <a:prstGeom prst="roundRect">
            <a:avLst>
              <a:gd name="adj" fmla="val 11538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40030" y="785241"/>
            <a:ext cx="1371600" cy="15087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38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user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5341" y="949834"/>
            <a:ext cx="1420977" cy="617219"/>
          </a:xfrm>
          <a:prstGeom prst="roundRect">
            <a:avLst>
              <a:gd name="adj" fmla="val 2222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88036" y="966979"/>
            <a:ext cx="1303020" cy="58978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D00000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PK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id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(bigint)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B26A00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UK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username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(varchar)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 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password_hash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(varchar)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 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real_name·email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(varchar)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 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status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(tinyint)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 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last_login_at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(datetime)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17370" y="891540"/>
            <a:ext cx="1268730" cy="480060"/>
          </a:xfrm>
          <a:prstGeom prst="roundRect">
            <a:avLst>
              <a:gd name="adj" fmla="val 5714"/>
            </a:avLst>
          </a:prstGeom>
          <a:solidFill>
            <a:schemeClr val="tx2">
              <a:lumMod val="40000"/>
              <a:lumOff val="60000"/>
            </a:schemeClr>
          </a:solidFill>
          <a:ln w="17780">
            <a:solidFill>
              <a:schemeClr val="tx2">
                <a:lumMod val="40000"/>
                <a:lumOff val="60000"/>
              </a:schemeClr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1826971" y="901141"/>
            <a:ext cx="1249527" cy="178308"/>
          </a:xfrm>
          <a:prstGeom prst="roundRect">
            <a:avLst>
              <a:gd name="adj" fmla="val 11538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851659" y="922401"/>
            <a:ext cx="1200150" cy="1508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38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user_role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26971" y="1086994"/>
            <a:ext cx="1249527" cy="274319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899666" y="1104139"/>
            <a:ext cx="1131570" cy="24688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0049C6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FK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user_id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(bigint)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0049C6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FK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role_id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(bigint)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57550" y="754380"/>
            <a:ext cx="1440180" cy="617220"/>
          </a:xfrm>
          <a:prstGeom prst="roundRect">
            <a:avLst>
              <a:gd name="adj" fmla="val 4444"/>
            </a:avLst>
          </a:prstGeom>
          <a:solidFill>
            <a:schemeClr val="tx2">
              <a:lumMod val="40000"/>
              <a:lumOff val="60000"/>
            </a:schemeClr>
          </a:solidFill>
          <a:ln w="17780">
            <a:solidFill>
              <a:schemeClr val="tx2">
                <a:lumMod val="40000"/>
                <a:lumOff val="60000"/>
              </a:schemeClr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267151" y="763981"/>
            <a:ext cx="1420977" cy="178308"/>
          </a:xfrm>
          <a:prstGeom prst="roundRect">
            <a:avLst>
              <a:gd name="adj" fmla="val 11538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291840" y="785241"/>
            <a:ext cx="1371600" cy="15087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38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role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67151" y="949833"/>
            <a:ext cx="1420977" cy="411480"/>
          </a:xfrm>
          <a:prstGeom prst="roundRect">
            <a:avLst>
              <a:gd name="adj" fmla="val 3333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339846" y="966978"/>
            <a:ext cx="130302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D00000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PK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id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(bigint)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B26A00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UK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role_code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(varchar)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 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role_name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(varchar)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 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is_builtin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(tinyint)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69180" y="891540"/>
            <a:ext cx="1337310" cy="4800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7780">
            <a:solidFill>
              <a:schemeClr val="tx2">
                <a:lumMod val="40000"/>
                <a:lumOff val="60000"/>
              </a:schemeClr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878781" y="901141"/>
            <a:ext cx="1318107" cy="178308"/>
          </a:xfrm>
          <a:prstGeom prst="roundRect">
            <a:avLst>
              <a:gd name="adj" fmla="val 11538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890769" y="897000"/>
            <a:ext cx="1268729" cy="15087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38" b="1" i="0" u="none" strike="noStrike" kern="1200" cap="none" spc="0" normalizeH="0" baseline="0" noProof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role_permission</a:t>
            </a:r>
            <a:endParaRPr kumimoji="0" sz="638" b="1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Georgia"/>
              <a:ea typeface="微软雅黑"/>
              <a:cs typeface="+mn-cs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4878781" y="1086994"/>
            <a:ext cx="1318107" cy="274319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951476" y="1104139"/>
            <a:ext cx="1200150" cy="24688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0049C6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FK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role_id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(bigint)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0049C6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FK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permission_id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(bigint)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77940" y="754380"/>
            <a:ext cx="1508760" cy="617220"/>
          </a:xfrm>
          <a:prstGeom prst="roundRect">
            <a:avLst>
              <a:gd name="adj" fmla="val 4444"/>
            </a:avLst>
          </a:prstGeom>
          <a:solidFill>
            <a:schemeClr val="tx2">
              <a:lumMod val="40000"/>
              <a:lumOff val="60000"/>
            </a:schemeClr>
          </a:solidFill>
          <a:ln w="17780">
            <a:solidFill>
              <a:schemeClr val="tx2">
                <a:lumMod val="40000"/>
                <a:lumOff val="60000"/>
              </a:schemeClr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6387541" y="763981"/>
            <a:ext cx="1489557" cy="178308"/>
          </a:xfrm>
          <a:prstGeom prst="roundRect">
            <a:avLst>
              <a:gd name="adj" fmla="val 11538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412230" y="785241"/>
            <a:ext cx="1440180" cy="15087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38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permission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87541" y="949833"/>
            <a:ext cx="1489557" cy="411480"/>
          </a:xfrm>
          <a:prstGeom prst="roundRect">
            <a:avLst>
              <a:gd name="adj" fmla="val 3333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460236" y="966978"/>
            <a:ext cx="13716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D00000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PK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id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(bigint)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B26A00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UK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permission_code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(varchar)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 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module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(varchar)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 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resource_type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(varchar)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05740" y="1632204"/>
            <a:ext cx="1440180" cy="617220"/>
          </a:xfrm>
          <a:prstGeom prst="roundRect">
            <a:avLst>
              <a:gd name="adj" fmla="val 4444"/>
            </a:avLst>
          </a:prstGeom>
          <a:solidFill>
            <a:schemeClr val="tx2">
              <a:lumMod val="40000"/>
              <a:lumOff val="60000"/>
            </a:schemeClr>
          </a:solidFill>
          <a:ln w="17780">
            <a:solidFill>
              <a:schemeClr val="tx2">
                <a:lumMod val="40000"/>
                <a:lumOff val="60000"/>
              </a:schemeClr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215341" y="1641805"/>
            <a:ext cx="1420977" cy="178308"/>
          </a:xfrm>
          <a:prstGeom prst="roundRect">
            <a:avLst>
              <a:gd name="adj" fmla="val 11538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40030" y="1663065"/>
            <a:ext cx="1371600" cy="15087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38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page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15341" y="1827657"/>
            <a:ext cx="1420977" cy="411480"/>
          </a:xfrm>
          <a:prstGeom prst="roundRect">
            <a:avLst>
              <a:gd name="adj" fmla="val 3333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88036" y="1844802"/>
            <a:ext cx="130302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D00000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PK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id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(bigint)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B26A00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UK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page_code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(varchar)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 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path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(varchar)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 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enabled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(tinyint)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817370" y="1741932"/>
            <a:ext cx="1268730" cy="480060"/>
          </a:xfrm>
          <a:prstGeom prst="roundRect">
            <a:avLst>
              <a:gd name="adj" fmla="val 5714"/>
            </a:avLst>
          </a:prstGeom>
          <a:solidFill>
            <a:schemeClr val="tx2">
              <a:lumMod val="40000"/>
              <a:lumOff val="60000"/>
            </a:schemeClr>
          </a:solidFill>
          <a:ln w="17780">
            <a:solidFill>
              <a:schemeClr val="tx2">
                <a:lumMod val="40000"/>
                <a:lumOff val="60000"/>
              </a:schemeClr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1826971" y="1751533"/>
            <a:ext cx="1249527" cy="178308"/>
          </a:xfrm>
          <a:prstGeom prst="roundRect">
            <a:avLst>
              <a:gd name="adj" fmla="val 11538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851659" y="1772793"/>
            <a:ext cx="1200150" cy="15087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38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role_page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826971" y="1937386"/>
            <a:ext cx="1249527" cy="274319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899666" y="1954531"/>
            <a:ext cx="1131570" cy="24688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0049C6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FK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role_id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(bigint)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0049C6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FK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page_id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(bigint)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988820" y="2606040"/>
            <a:ext cx="1988820" cy="925830"/>
          </a:xfrm>
          <a:prstGeom prst="roundRect">
            <a:avLst>
              <a:gd name="adj" fmla="val 2962"/>
            </a:avLst>
          </a:prstGeom>
          <a:solidFill>
            <a:srgbClr val="FFFFFF"/>
          </a:solidFill>
          <a:ln w="17780">
            <a:solidFill>
              <a:srgbClr val="A9C4E5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1998421" y="2615641"/>
            <a:ext cx="1969617" cy="178308"/>
          </a:xfrm>
          <a:prstGeom prst="roundRect">
            <a:avLst>
              <a:gd name="adj" fmla="val 11538"/>
            </a:avLst>
          </a:prstGeom>
          <a:solidFill>
            <a:srgbClr val="D9E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2023109" y="2636901"/>
            <a:ext cx="1920240" cy="1508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38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decommission_system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998421" y="2801493"/>
            <a:ext cx="1969617" cy="720090"/>
          </a:xfrm>
          <a:prstGeom prst="roundRect">
            <a:avLst>
              <a:gd name="adj" fmla="val 1904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2071117" y="2818637"/>
            <a:ext cx="1851659" cy="69265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D00000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PK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id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(bigint)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B26A00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UK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system_code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(varchar)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 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status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(varchar)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 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retention_years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(int)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 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sync_completed_date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(date)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 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destroy_after_date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(date)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194560" y="3621024"/>
            <a:ext cx="1234440" cy="4800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7780">
            <a:solidFill>
              <a:srgbClr val="A9C4E5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2204161" y="3630625"/>
            <a:ext cx="1215237" cy="178308"/>
          </a:xfrm>
          <a:prstGeom prst="roundRect">
            <a:avLst>
              <a:gd name="adj" fmla="val 11538"/>
            </a:avLst>
          </a:prstGeom>
          <a:solidFill>
            <a:srgbClr val="D9E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2228850" y="3651885"/>
            <a:ext cx="1165860" cy="1508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38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system_user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204161" y="3816478"/>
            <a:ext cx="1215237" cy="274319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2276856" y="3833623"/>
            <a:ext cx="1097280" cy="24688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0049C6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FK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system_id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(bigint)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0049C6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FK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user_id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(bigint)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320540" y="1659636"/>
            <a:ext cx="1474470" cy="78867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7780">
            <a:solidFill>
              <a:srgbClr val="9BCB92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4330141" y="1669237"/>
            <a:ext cx="1455267" cy="178308"/>
          </a:xfrm>
          <a:prstGeom prst="roundRect">
            <a:avLst>
              <a:gd name="adj" fmla="val 11538"/>
            </a:avLst>
          </a:prstGeom>
          <a:solidFill>
            <a:srgbClr val="D5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4354831" y="1690497"/>
            <a:ext cx="1405889" cy="1508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38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source_database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330141" y="1855090"/>
            <a:ext cx="1455267" cy="582929"/>
          </a:xfrm>
          <a:prstGeom prst="roundRect">
            <a:avLst>
              <a:gd name="adj" fmla="val 2352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4402836" y="1872235"/>
            <a:ext cx="1337310" cy="55549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D00000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PK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id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(bigint)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0049C6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FK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system_id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(bigint)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 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db_type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(varchar)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 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host:port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(varchar)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 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credential_ref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(varchar)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966459" y="1659636"/>
            <a:ext cx="1474470" cy="78867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7780">
            <a:solidFill>
              <a:srgbClr val="9BCB92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5976061" y="1669237"/>
            <a:ext cx="1455267" cy="178308"/>
          </a:xfrm>
          <a:prstGeom prst="roundRect">
            <a:avLst>
              <a:gd name="adj" fmla="val 11538"/>
            </a:avLst>
          </a:prstGeom>
          <a:solidFill>
            <a:srgbClr val="D5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6000751" y="1690497"/>
            <a:ext cx="1405889" cy="1508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38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source_table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976061" y="1855090"/>
            <a:ext cx="1455267" cy="582929"/>
          </a:xfrm>
          <a:prstGeom prst="roundRect">
            <a:avLst>
              <a:gd name="adj" fmla="val 2352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6048755" y="1872235"/>
            <a:ext cx="1337310" cy="55549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D00000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PK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id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(bigint)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0049C6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FK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source_database_id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(bigint)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 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table_name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(varchar)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 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primary_key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(varchar)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 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is_attachment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(tinyint)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320540" y="2578608"/>
            <a:ext cx="1474470" cy="685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9BCB92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71" name="Rounded Rectangle 70"/>
          <p:cNvSpPr/>
          <p:nvPr/>
        </p:nvSpPr>
        <p:spPr>
          <a:xfrm>
            <a:off x="4330141" y="2588209"/>
            <a:ext cx="1455267" cy="178308"/>
          </a:xfrm>
          <a:prstGeom prst="roundRect">
            <a:avLst>
              <a:gd name="adj" fmla="val 11538"/>
            </a:avLst>
          </a:prstGeom>
          <a:solidFill>
            <a:srgbClr val="D5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4354831" y="2609468"/>
            <a:ext cx="1405889" cy="1508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38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unstructured_source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330141" y="2774061"/>
            <a:ext cx="1455267" cy="480060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4402836" y="2791206"/>
            <a:ext cx="1337310" cy="45262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D00000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PK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id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(bigint)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0049C6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FK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system_id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(bigint)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 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source_type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(varchar)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 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location_uri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(varchar)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966459" y="2578608"/>
            <a:ext cx="1474470" cy="685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9BCB92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76" name="Rounded Rectangle 75"/>
          <p:cNvSpPr/>
          <p:nvPr/>
        </p:nvSpPr>
        <p:spPr>
          <a:xfrm>
            <a:off x="5976061" y="2588209"/>
            <a:ext cx="1455267" cy="178308"/>
          </a:xfrm>
          <a:prstGeom prst="roundRect">
            <a:avLst>
              <a:gd name="adj" fmla="val 11538"/>
            </a:avLst>
          </a:prstGeom>
          <a:solidFill>
            <a:srgbClr val="D5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6000751" y="2609468"/>
            <a:ext cx="1405889" cy="1508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38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unstructured_item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976061" y="2774061"/>
            <a:ext cx="1455267" cy="480060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6048755" y="2791206"/>
            <a:ext cx="1337310" cy="45262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D00000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PK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id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(bigint)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0049C6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FK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unstructured_source_id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(bigint)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 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original_path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(varchar)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 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hash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(varchar)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612380" y="1659636"/>
            <a:ext cx="1337310" cy="685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B5A0C5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7621981" y="1669237"/>
            <a:ext cx="1318107" cy="178308"/>
          </a:xfrm>
          <a:prstGeom prst="roundRect">
            <a:avLst>
              <a:gd name="adj" fmla="val 11538"/>
            </a:avLst>
          </a:prstGeom>
          <a:solidFill>
            <a:srgbClr val="E1D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7646671" y="1690497"/>
            <a:ext cx="1268729" cy="1508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38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schema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621981" y="1855089"/>
            <a:ext cx="1318107" cy="480060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7694675" y="1872235"/>
            <a:ext cx="1200150" cy="45262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D00000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PK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id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(bigint)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0049C6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FK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system_id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(bigint)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 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catalog_name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(varchar)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 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schema_name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(varchar)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612380" y="2578608"/>
            <a:ext cx="1337310" cy="685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B5A0C5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86" name="Rounded Rectangle 85"/>
          <p:cNvSpPr/>
          <p:nvPr/>
        </p:nvSpPr>
        <p:spPr>
          <a:xfrm>
            <a:off x="7621981" y="2588209"/>
            <a:ext cx="1318107" cy="178308"/>
          </a:xfrm>
          <a:prstGeom prst="roundRect">
            <a:avLst>
              <a:gd name="adj" fmla="val 11538"/>
            </a:avLst>
          </a:prstGeom>
          <a:solidFill>
            <a:srgbClr val="E1D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7646671" y="2609468"/>
            <a:ext cx="1268729" cy="1508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38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storage_config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7621981" y="2774061"/>
            <a:ext cx="1318107" cy="480060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7694675" y="2791206"/>
            <a:ext cx="1200150" cy="45262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D00000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PK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id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(bigint)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0049C6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FK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system_id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(bigint)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 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storage_type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(varchar)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 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container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(varchar)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205740" y="4251960"/>
            <a:ext cx="1783080" cy="534924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7780">
            <a:solidFill>
              <a:srgbClr val="A8A8A8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91" name="Rounded Rectangle 90"/>
          <p:cNvSpPr/>
          <p:nvPr/>
        </p:nvSpPr>
        <p:spPr>
          <a:xfrm>
            <a:off x="215341" y="4261561"/>
            <a:ext cx="1763877" cy="178308"/>
          </a:xfrm>
          <a:prstGeom prst="roundRect">
            <a:avLst>
              <a:gd name="adj" fmla="val 11538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240030" y="4282821"/>
            <a:ext cx="1714500" cy="1508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38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audit_log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215341" y="4447413"/>
            <a:ext cx="1763877" cy="329184"/>
          </a:xfrm>
          <a:prstGeom prst="roundRect">
            <a:avLst>
              <a:gd name="adj" fmla="val 4166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288036" y="4464558"/>
            <a:ext cx="1645920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D00000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PK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id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(bigint)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0049C6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FK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user_id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(bigint)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 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action·module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(varchar)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 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ip·status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(varchar)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2098548" y="4251960"/>
            <a:ext cx="1961388" cy="534924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7780">
            <a:solidFill>
              <a:srgbClr val="A8A8A8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2108149" y="4261561"/>
            <a:ext cx="1942185" cy="178308"/>
          </a:xfrm>
          <a:prstGeom prst="roundRect">
            <a:avLst>
              <a:gd name="adj" fmla="val 11538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2132838" y="4282821"/>
            <a:ext cx="1892808" cy="1508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38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sync_activity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2108149" y="4447413"/>
            <a:ext cx="1942185" cy="329184"/>
          </a:xfrm>
          <a:prstGeom prst="roundRect">
            <a:avLst>
              <a:gd name="adj" fmla="val 4166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2180845" y="4464558"/>
            <a:ext cx="1824227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D00000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PK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id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(bigint)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 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activity_date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(date)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 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成功/失败/运行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(int)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 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sync_job 按天预聚合·派生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4169569" y="4251960"/>
            <a:ext cx="1783080" cy="521018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17780">
            <a:solidFill>
              <a:srgbClr val="A8A8A8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01" name="Rounded Rectangle 100"/>
          <p:cNvSpPr/>
          <p:nvPr/>
        </p:nvSpPr>
        <p:spPr>
          <a:xfrm>
            <a:off x="4179265" y="4261561"/>
            <a:ext cx="1763877" cy="178308"/>
          </a:xfrm>
          <a:prstGeom prst="roundRect">
            <a:avLst>
              <a:gd name="adj" fmla="val 11538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4203954" y="4282821"/>
            <a:ext cx="1714500" cy="1508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38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notification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4179265" y="4447413"/>
            <a:ext cx="1763877" cy="219456"/>
          </a:xfrm>
          <a:prstGeom prst="roundRect">
            <a:avLst>
              <a:gd name="adj" fmla="val 6250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4251960" y="4464559"/>
            <a:ext cx="1645920" cy="19202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D00000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PK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id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(bigint)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 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recipient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(varchar)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 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channel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(varchar)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1645920" y="1097280"/>
            <a:ext cx="171450" cy="0"/>
          </a:xfrm>
          <a:prstGeom prst="line">
            <a:avLst/>
          </a:prstGeom>
          <a:ln w="17780">
            <a:solidFill>
              <a:schemeClr val="tx2">
                <a:lumMod val="40000"/>
                <a:lumOff val="60000"/>
              </a:schemeClr>
            </a:solidFill>
            <a:tailEnd type="triangle" w="med" len="med"/>
          </a:ln>
          <a:effectLst/>
        </p:spPr>
      </p:cxnSp>
      <p:sp>
        <p:nvSpPr>
          <p:cNvPr id="106" name="TextBox 105"/>
          <p:cNvSpPr txBox="1"/>
          <p:nvPr/>
        </p:nvSpPr>
        <p:spPr>
          <a:xfrm>
            <a:off x="1707642" y="1141857"/>
            <a:ext cx="82296" cy="8915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5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673352" y="963549"/>
            <a:ext cx="82296" cy="8915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5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N</a:t>
            </a:r>
          </a:p>
        </p:txBody>
      </p:sp>
      <p:cxnSp>
        <p:nvCxnSpPr>
          <p:cNvPr id="108" name="Connector 107"/>
          <p:cNvCxnSpPr/>
          <p:nvPr/>
        </p:nvCxnSpPr>
        <p:spPr>
          <a:xfrm flipH="1">
            <a:off x="3086100" y="1097280"/>
            <a:ext cx="171450" cy="0"/>
          </a:xfrm>
          <a:prstGeom prst="line">
            <a:avLst/>
          </a:prstGeom>
          <a:ln w="17780">
            <a:solidFill>
              <a:schemeClr val="tx2">
                <a:lumMod val="40000"/>
                <a:lumOff val="60000"/>
              </a:schemeClr>
            </a:solidFill>
            <a:tailEnd type="triangle" w="med" len="med"/>
          </a:ln>
          <a:effectLst/>
        </p:spPr>
      </p:cxnSp>
      <p:sp>
        <p:nvSpPr>
          <p:cNvPr id="109" name="TextBox 108"/>
          <p:cNvSpPr txBox="1"/>
          <p:nvPr/>
        </p:nvSpPr>
        <p:spPr>
          <a:xfrm>
            <a:off x="3113532" y="963549"/>
            <a:ext cx="82296" cy="8915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5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147822" y="1141857"/>
            <a:ext cx="82296" cy="8915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5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N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4697730" y="1097280"/>
            <a:ext cx="171450" cy="0"/>
          </a:xfrm>
          <a:prstGeom prst="line">
            <a:avLst/>
          </a:prstGeom>
          <a:ln w="17780">
            <a:solidFill>
              <a:schemeClr val="tx2">
                <a:lumMod val="40000"/>
                <a:lumOff val="60000"/>
              </a:schemeClr>
            </a:solidFill>
            <a:tailEnd type="triangle" w="med" len="med"/>
          </a:ln>
          <a:effectLst/>
        </p:spPr>
      </p:cxnSp>
      <p:sp>
        <p:nvSpPr>
          <p:cNvPr id="112" name="TextBox 111"/>
          <p:cNvSpPr txBox="1"/>
          <p:nvPr/>
        </p:nvSpPr>
        <p:spPr>
          <a:xfrm>
            <a:off x="4759452" y="1141857"/>
            <a:ext cx="82296" cy="8915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5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1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725162" y="963549"/>
            <a:ext cx="82296" cy="8915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5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N</a:t>
            </a:r>
          </a:p>
        </p:txBody>
      </p:sp>
      <p:cxnSp>
        <p:nvCxnSpPr>
          <p:cNvPr id="114" name="Connector 113"/>
          <p:cNvCxnSpPr/>
          <p:nvPr/>
        </p:nvCxnSpPr>
        <p:spPr>
          <a:xfrm flipH="1">
            <a:off x="6206490" y="1097280"/>
            <a:ext cx="171450" cy="0"/>
          </a:xfrm>
          <a:prstGeom prst="line">
            <a:avLst/>
          </a:prstGeom>
          <a:ln w="17780">
            <a:solidFill>
              <a:schemeClr val="tx2">
                <a:lumMod val="40000"/>
                <a:lumOff val="60000"/>
              </a:schemeClr>
            </a:solidFill>
            <a:tailEnd type="triangle" w="med" len="med"/>
          </a:ln>
          <a:effectLst/>
        </p:spPr>
      </p:cxnSp>
      <p:sp>
        <p:nvSpPr>
          <p:cNvPr id="115" name="TextBox 114"/>
          <p:cNvSpPr txBox="1"/>
          <p:nvPr/>
        </p:nvSpPr>
        <p:spPr>
          <a:xfrm>
            <a:off x="6233922" y="963549"/>
            <a:ext cx="82296" cy="8915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5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268212" y="1141857"/>
            <a:ext cx="82296" cy="8915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5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N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1645920" y="2139696"/>
            <a:ext cx="171450" cy="0"/>
          </a:xfrm>
          <a:prstGeom prst="line">
            <a:avLst/>
          </a:prstGeom>
          <a:ln w="17780">
            <a:solidFill>
              <a:schemeClr val="tx2">
                <a:lumMod val="40000"/>
                <a:lumOff val="60000"/>
              </a:schemeClr>
            </a:solidFill>
            <a:tailEnd type="triangle" w="med" len="med"/>
          </a:ln>
          <a:effectLst/>
        </p:spPr>
      </p:cxnSp>
      <p:sp>
        <p:nvSpPr>
          <p:cNvPr id="118" name="TextBox 117"/>
          <p:cNvSpPr txBox="1"/>
          <p:nvPr/>
        </p:nvSpPr>
        <p:spPr>
          <a:xfrm>
            <a:off x="1745742" y="2179511"/>
            <a:ext cx="82296" cy="8915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5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1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673352" y="2005965"/>
            <a:ext cx="82296" cy="8915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5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N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3566160" y="1371791"/>
            <a:ext cx="0" cy="260509"/>
          </a:xfrm>
          <a:prstGeom prst="line">
            <a:avLst/>
          </a:prstGeom>
          <a:ln w="17780">
            <a:solidFill>
              <a:schemeClr val="tx2">
                <a:lumMod val="40000"/>
                <a:lumOff val="60000"/>
              </a:schemeClr>
            </a:solidFill>
          </a:ln>
          <a:effectLst/>
        </p:spPr>
      </p:cxnSp>
      <p:cxnSp>
        <p:nvCxnSpPr>
          <p:cNvPr id="121" name="Connector 120"/>
          <p:cNvCxnSpPr/>
          <p:nvPr/>
        </p:nvCxnSpPr>
        <p:spPr>
          <a:xfrm flipH="1">
            <a:off x="2448306" y="1632204"/>
            <a:ext cx="1117854" cy="0"/>
          </a:xfrm>
          <a:prstGeom prst="line">
            <a:avLst/>
          </a:prstGeom>
          <a:ln w="17780">
            <a:solidFill>
              <a:schemeClr val="tx2">
                <a:lumMod val="40000"/>
                <a:lumOff val="60000"/>
              </a:schemeClr>
            </a:solidFill>
          </a:ln>
          <a:effectLst/>
        </p:spPr>
      </p:cxnSp>
      <p:cxnSp>
        <p:nvCxnSpPr>
          <p:cNvPr id="122" name="Connector 121"/>
          <p:cNvCxnSpPr/>
          <p:nvPr/>
        </p:nvCxnSpPr>
        <p:spPr>
          <a:xfrm>
            <a:off x="2448306" y="1632204"/>
            <a:ext cx="0" cy="192024"/>
          </a:xfrm>
          <a:prstGeom prst="line">
            <a:avLst/>
          </a:prstGeom>
          <a:ln w="17780">
            <a:solidFill>
              <a:schemeClr val="tx2">
                <a:lumMod val="40000"/>
                <a:lumOff val="60000"/>
              </a:schemeClr>
            </a:solidFill>
            <a:tailEnd type="triangle" w="med" len="med"/>
          </a:ln>
          <a:effectLst/>
        </p:spPr>
      </p:cxnSp>
      <p:sp>
        <p:nvSpPr>
          <p:cNvPr id="123" name="TextBox 122"/>
          <p:cNvSpPr txBox="1"/>
          <p:nvPr/>
        </p:nvSpPr>
        <p:spPr>
          <a:xfrm>
            <a:off x="3435858" y="1402461"/>
            <a:ext cx="82296" cy="8915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5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1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496311" y="1676781"/>
            <a:ext cx="82296" cy="8915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5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N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1645920" y="1289304"/>
            <a:ext cx="102870" cy="0"/>
          </a:xfrm>
          <a:prstGeom prst="line">
            <a:avLst/>
          </a:prstGeom>
          <a:ln w="17780">
            <a:solidFill>
              <a:srgbClr val="5B82B1"/>
            </a:solidFill>
          </a:ln>
          <a:effectLst/>
        </p:spPr>
      </p:cxnSp>
      <p:cxnSp>
        <p:nvCxnSpPr>
          <p:cNvPr id="126" name="Connector 125"/>
          <p:cNvCxnSpPr/>
          <p:nvPr/>
        </p:nvCxnSpPr>
        <p:spPr>
          <a:xfrm>
            <a:off x="1748790" y="1289304"/>
            <a:ext cx="0" cy="2585466"/>
          </a:xfrm>
          <a:prstGeom prst="line">
            <a:avLst/>
          </a:prstGeom>
          <a:ln w="17780">
            <a:solidFill>
              <a:srgbClr val="5B82B1"/>
            </a:solidFill>
          </a:ln>
          <a:effectLst/>
        </p:spPr>
      </p:cxnSp>
      <p:cxnSp>
        <p:nvCxnSpPr>
          <p:cNvPr id="127" name="Connector 126"/>
          <p:cNvCxnSpPr/>
          <p:nvPr/>
        </p:nvCxnSpPr>
        <p:spPr>
          <a:xfrm>
            <a:off x="1748790" y="3874770"/>
            <a:ext cx="445770" cy="0"/>
          </a:xfrm>
          <a:prstGeom prst="line">
            <a:avLst/>
          </a:prstGeom>
          <a:ln w="17780">
            <a:solidFill>
              <a:srgbClr val="5B82B1"/>
            </a:solidFill>
            <a:tailEnd type="triangle" w="med" len="med"/>
          </a:ln>
          <a:effectLst/>
        </p:spPr>
      </p:cxnSp>
      <p:sp>
        <p:nvSpPr>
          <p:cNvPr id="128" name="TextBox 127"/>
          <p:cNvSpPr txBox="1"/>
          <p:nvPr/>
        </p:nvSpPr>
        <p:spPr>
          <a:xfrm>
            <a:off x="1679067" y="1333880"/>
            <a:ext cx="82296" cy="8915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5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1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2050542" y="3741039"/>
            <a:ext cx="82296" cy="8915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5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N</a:t>
            </a:r>
          </a:p>
        </p:txBody>
      </p:sp>
      <p:cxnSp>
        <p:nvCxnSpPr>
          <p:cNvPr id="130" name="Connector 129"/>
          <p:cNvCxnSpPr/>
          <p:nvPr/>
        </p:nvCxnSpPr>
        <p:spPr>
          <a:xfrm>
            <a:off x="2983229" y="3531870"/>
            <a:ext cx="0" cy="109728"/>
          </a:xfrm>
          <a:prstGeom prst="line">
            <a:avLst/>
          </a:prstGeom>
          <a:ln w="17780">
            <a:solidFill>
              <a:srgbClr val="5B82B1"/>
            </a:solidFill>
            <a:tailEnd type="triangle" w="med" len="med"/>
          </a:ln>
          <a:effectLst/>
        </p:spPr>
      </p:cxnSp>
      <p:sp>
        <p:nvSpPr>
          <p:cNvPr id="131" name="TextBox 130"/>
          <p:cNvSpPr txBox="1"/>
          <p:nvPr/>
        </p:nvSpPr>
        <p:spPr>
          <a:xfrm>
            <a:off x="2852928" y="3594926"/>
            <a:ext cx="82296" cy="8915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5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1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021711" y="3479863"/>
            <a:ext cx="82296" cy="8915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5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N</a:t>
            </a:r>
          </a:p>
        </p:txBody>
      </p:sp>
      <p:cxnSp>
        <p:nvCxnSpPr>
          <p:cNvPr id="133" name="Connector 132"/>
          <p:cNvCxnSpPr/>
          <p:nvPr/>
        </p:nvCxnSpPr>
        <p:spPr>
          <a:xfrm>
            <a:off x="3977640" y="3058668"/>
            <a:ext cx="171450" cy="0"/>
          </a:xfrm>
          <a:prstGeom prst="line">
            <a:avLst/>
          </a:prstGeom>
          <a:ln w="17780">
            <a:solidFill>
              <a:srgbClr val="82B366"/>
            </a:solidFill>
          </a:ln>
          <a:effectLst/>
        </p:spPr>
      </p:cxnSp>
      <p:cxnSp>
        <p:nvCxnSpPr>
          <p:cNvPr id="134" name="Connector 133"/>
          <p:cNvCxnSpPr/>
          <p:nvPr/>
        </p:nvCxnSpPr>
        <p:spPr>
          <a:xfrm flipV="1">
            <a:off x="4149090" y="2139696"/>
            <a:ext cx="0" cy="918972"/>
          </a:xfrm>
          <a:prstGeom prst="line">
            <a:avLst/>
          </a:prstGeom>
          <a:ln w="17780">
            <a:solidFill>
              <a:srgbClr val="82B366"/>
            </a:solidFill>
          </a:ln>
          <a:effectLst/>
        </p:spPr>
      </p:cxnSp>
      <p:cxnSp>
        <p:nvCxnSpPr>
          <p:cNvPr id="135" name="Connector 134"/>
          <p:cNvCxnSpPr/>
          <p:nvPr/>
        </p:nvCxnSpPr>
        <p:spPr>
          <a:xfrm>
            <a:off x="4149090" y="2139696"/>
            <a:ext cx="171450" cy="0"/>
          </a:xfrm>
          <a:prstGeom prst="line">
            <a:avLst/>
          </a:prstGeom>
          <a:ln w="17780">
            <a:solidFill>
              <a:srgbClr val="82B366"/>
            </a:solidFill>
            <a:tailEnd type="triangle" w="med" len="med"/>
          </a:ln>
          <a:effectLst/>
        </p:spPr>
      </p:cxnSp>
      <p:sp>
        <p:nvSpPr>
          <p:cNvPr id="136" name="TextBox 135"/>
          <p:cNvSpPr txBox="1"/>
          <p:nvPr/>
        </p:nvSpPr>
        <p:spPr>
          <a:xfrm>
            <a:off x="4039362" y="3103244"/>
            <a:ext cx="82296" cy="8915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5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176522" y="2005965"/>
            <a:ext cx="82296" cy="8915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5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N</a:t>
            </a:r>
          </a:p>
        </p:txBody>
      </p:sp>
      <p:cxnSp>
        <p:nvCxnSpPr>
          <p:cNvPr id="138" name="Connector 137"/>
          <p:cNvCxnSpPr/>
          <p:nvPr/>
        </p:nvCxnSpPr>
        <p:spPr>
          <a:xfrm>
            <a:off x="3977640" y="3113532"/>
            <a:ext cx="342900" cy="0"/>
          </a:xfrm>
          <a:prstGeom prst="line">
            <a:avLst/>
          </a:prstGeom>
          <a:ln w="17780">
            <a:solidFill>
              <a:srgbClr val="82B366"/>
            </a:solidFill>
            <a:tailEnd type="triangle" w="med" len="med"/>
          </a:ln>
          <a:effectLst/>
        </p:spPr>
      </p:cxnSp>
      <p:sp>
        <p:nvSpPr>
          <p:cNvPr id="139" name="TextBox 138"/>
          <p:cNvSpPr txBox="1"/>
          <p:nvPr/>
        </p:nvSpPr>
        <p:spPr>
          <a:xfrm>
            <a:off x="4039362" y="3158109"/>
            <a:ext cx="82296" cy="8915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5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176522" y="2979801"/>
            <a:ext cx="82296" cy="8915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5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N</a:t>
            </a:r>
          </a:p>
        </p:txBody>
      </p:sp>
      <p:cxnSp>
        <p:nvCxnSpPr>
          <p:cNvPr id="141" name="Connector 140"/>
          <p:cNvCxnSpPr/>
          <p:nvPr/>
        </p:nvCxnSpPr>
        <p:spPr>
          <a:xfrm>
            <a:off x="5795009" y="2139696"/>
            <a:ext cx="171450" cy="0"/>
          </a:xfrm>
          <a:prstGeom prst="line">
            <a:avLst/>
          </a:prstGeom>
          <a:ln w="17780">
            <a:solidFill>
              <a:srgbClr val="82B366"/>
            </a:solidFill>
            <a:tailEnd type="triangle" w="med" len="med"/>
          </a:ln>
          <a:effectLst/>
        </p:spPr>
      </p:cxnSp>
      <p:sp>
        <p:nvSpPr>
          <p:cNvPr id="142" name="TextBox 141"/>
          <p:cNvSpPr txBox="1"/>
          <p:nvPr/>
        </p:nvSpPr>
        <p:spPr>
          <a:xfrm>
            <a:off x="5856731" y="2184273"/>
            <a:ext cx="82296" cy="8915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5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1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5822441" y="2005965"/>
            <a:ext cx="82296" cy="8915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5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N</a:t>
            </a:r>
          </a:p>
        </p:txBody>
      </p:sp>
      <p:cxnSp>
        <p:nvCxnSpPr>
          <p:cNvPr id="144" name="Connector 143"/>
          <p:cNvCxnSpPr/>
          <p:nvPr/>
        </p:nvCxnSpPr>
        <p:spPr>
          <a:xfrm>
            <a:off x="5795009" y="3113532"/>
            <a:ext cx="171450" cy="0"/>
          </a:xfrm>
          <a:prstGeom prst="line">
            <a:avLst/>
          </a:prstGeom>
          <a:ln w="17780">
            <a:solidFill>
              <a:srgbClr val="82B366"/>
            </a:solidFill>
            <a:tailEnd type="triangle" w="med" len="med"/>
          </a:ln>
          <a:effectLst/>
        </p:spPr>
      </p:cxnSp>
      <p:sp>
        <p:nvSpPr>
          <p:cNvPr id="145" name="TextBox 144"/>
          <p:cNvSpPr txBox="1"/>
          <p:nvPr/>
        </p:nvSpPr>
        <p:spPr>
          <a:xfrm>
            <a:off x="5856731" y="3158109"/>
            <a:ext cx="82296" cy="8915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5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1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5822441" y="2979801"/>
            <a:ext cx="82296" cy="8915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5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N</a:t>
            </a:r>
          </a:p>
        </p:txBody>
      </p:sp>
      <p:cxnSp>
        <p:nvCxnSpPr>
          <p:cNvPr id="147" name="Connector 146"/>
          <p:cNvCxnSpPr/>
          <p:nvPr/>
        </p:nvCxnSpPr>
        <p:spPr>
          <a:xfrm>
            <a:off x="3977640" y="2921508"/>
            <a:ext cx="240030" cy="0"/>
          </a:xfrm>
          <a:prstGeom prst="line">
            <a:avLst/>
          </a:prstGeom>
          <a:ln w="17780">
            <a:solidFill>
              <a:srgbClr val="9673A6"/>
            </a:solidFill>
          </a:ln>
          <a:effectLst/>
        </p:spPr>
      </p:cxnSp>
      <p:cxnSp>
        <p:nvCxnSpPr>
          <p:cNvPr id="148" name="Connector 147"/>
          <p:cNvCxnSpPr/>
          <p:nvPr/>
        </p:nvCxnSpPr>
        <p:spPr>
          <a:xfrm flipV="1">
            <a:off x="4217670" y="2592324"/>
            <a:ext cx="0" cy="329184"/>
          </a:xfrm>
          <a:prstGeom prst="line">
            <a:avLst/>
          </a:prstGeom>
          <a:ln w="17780">
            <a:solidFill>
              <a:srgbClr val="9673A6"/>
            </a:solidFill>
          </a:ln>
          <a:effectLst/>
        </p:spPr>
      </p:cxnSp>
      <p:cxnSp>
        <p:nvCxnSpPr>
          <p:cNvPr id="149" name="Connector 148"/>
          <p:cNvCxnSpPr/>
          <p:nvPr/>
        </p:nvCxnSpPr>
        <p:spPr>
          <a:xfrm>
            <a:off x="4217670" y="2592324"/>
            <a:ext cx="3312414" cy="0"/>
          </a:xfrm>
          <a:prstGeom prst="line">
            <a:avLst/>
          </a:prstGeom>
          <a:ln w="17780">
            <a:solidFill>
              <a:srgbClr val="9673A6"/>
            </a:solidFill>
          </a:ln>
          <a:effectLst/>
        </p:spPr>
      </p:cxnSp>
      <p:cxnSp>
        <p:nvCxnSpPr>
          <p:cNvPr id="150" name="Connector 149"/>
          <p:cNvCxnSpPr/>
          <p:nvPr/>
        </p:nvCxnSpPr>
        <p:spPr>
          <a:xfrm flipV="1">
            <a:off x="7530084" y="2249424"/>
            <a:ext cx="0" cy="342900"/>
          </a:xfrm>
          <a:prstGeom prst="line">
            <a:avLst/>
          </a:prstGeom>
          <a:ln w="17780">
            <a:solidFill>
              <a:srgbClr val="9673A6"/>
            </a:solidFill>
          </a:ln>
          <a:effectLst/>
        </p:spPr>
      </p:cxnSp>
      <p:cxnSp>
        <p:nvCxnSpPr>
          <p:cNvPr id="151" name="Connector 150"/>
          <p:cNvCxnSpPr/>
          <p:nvPr/>
        </p:nvCxnSpPr>
        <p:spPr>
          <a:xfrm>
            <a:off x="7530084" y="2249424"/>
            <a:ext cx="82296" cy="0"/>
          </a:xfrm>
          <a:prstGeom prst="line">
            <a:avLst/>
          </a:prstGeom>
          <a:ln w="17780">
            <a:solidFill>
              <a:srgbClr val="9673A6"/>
            </a:solidFill>
            <a:tailEnd type="triangle" w="med" len="med"/>
          </a:ln>
          <a:effectLst/>
        </p:spPr>
      </p:cxnSp>
      <p:sp>
        <p:nvSpPr>
          <p:cNvPr id="152" name="TextBox 151"/>
          <p:cNvSpPr txBox="1"/>
          <p:nvPr/>
        </p:nvSpPr>
        <p:spPr>
          <a:xfrm>
            <a:off x="4039362" y="2966084"/>
            <a:ext cx="82296" cy="8915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5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1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7468361" y="2115693"/>
            <a:ext cx="82296" cy="8915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5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N</a:t>
            </a:r>
          </a:p>
        </p:txBody>
      </p:sp>
      <p:cxnSp>
        <p:nvCxnSpPr>
          <p:cNvPr id="154" name="Connector 153"/>
          <p:cNvCxnSpPr/>
          <p:nvPr/>
        </p:nvCxnSpPr>
        <p:spPr>
          <a:xfrm>
            <a:off x="3977640" y="3442716"/>
            <a:ext cx="102870" cy="0"/>
          </a:xfrm>
          <a:prstGeom prst="line">
            <a:avLst/>
          </a:prstGeom>
          <a:ln w="17780">
            <a:solidFill>
              <a:srgbClr val="9673A6"/>
            </a:solidFill>
          </a:ln>
          <a:effectLst/>
        </p:spPr>
      </p:cxnSp>
      <p:cxnSp>
        <p:nvCxnSpPr>
          <p:cNvPr id="155" name="Connector 154"/>
          <p:cNvCxnSpPr/>
          <p:nvPr/>
        </p:nvCxnSpPr>
        <p:spPr>
          <a:xfrm>
            <a:off x="4080510" y="3442716"/>
            <a:ext cx="0" cy="109728"/>
          </a:xfrm>
          <a:prstGeom prst="line">
            <a:avLst/>
          </a:prstGeom>
          <a:ln w="17780">
            <a:solidFill>
              <a:srgbClr val="9673A6"/>
            </a:solidFill>
          </a:ln>
          <a:effectLst/>
        </p:spPr>
      </p:cxnSp>
      <p:cxnSp>
        <p:nvCxnSpPr>
          <p:cNvPr id="156" name="Connector 155"/>
          <p:cNvCxnSpPr/>
          <p:nvPr/>
        </p:nvCxnSpPr>
        <p:spPr>
          <a:xfrm>
            <a:off x="4080510" y="3552444"/>
            <a:ext cx="3449574" cy="0"/>
          </a:xfrm>
          <a:prstGeom prst="line">
            <a:avLst/>
          </a:prstGeom>
          <a:ln w="17780">
            <a:solidFill>
              <a:srgbClr val="9673A6"/>
            </a:solidFill>
          </a:ln>
          <a:effectLst/>
        </p:spPr>
      </p:cxnSp>
      <p:cxnSp>
        <p:nvCxnSpPr>
          <p:cNvPr id="157" name="Connector 156"/>
          <p:cNvCxnSpPr/>
          <p:nvPr/>
        </p:nvCxnSpPr>
        <p:spPr>
          <a:xfrm flipV="1">
            <a:off x="7530084" y="3113532"/>
            <a:ext cx="0" cy="438912"/>
          </a:xfrm>
          <a:prstGeom prst="line">
            <a:avLst/>
          </a:prstGeom>
          <a:ln w="17780">
            <a:solidFill>
              <a:srgbClr val="9673A6"/>
            </a:solidFill>
          </a:ln>
          <a:effectLst/>
        </p:spPr>
      </p:cxnSp>
      <p:cxnSp>
        <p:nvCxnSpPr>
          <p:cNvPr id="158" name="Connector 157"/>
          <p:cNvCxnSpPr/>
          <p:nvPr/>
        </p:nvCxnSpPr>
        <p:spPr>
          <a:xfrm>
            <a:off x="7530084" y="3113532"/>
            <a:ext cx="82296" cy="0"/>
          </a:xfrm>
          <a:prstGeom prst="line">
            <a:avLst/>
          </a:prstGeom>
          <a:ln w="17780">
            <a:solidFill>
              <a:srgbClr val="9673A6"/>
            </a:solidFill>
            <a:tailEnd type="triangle" w="med" len="med"/>
          </a:ln>
          <a:effectLst/>
        </p:spPr>
      </p:cxnSp>
      <p:sp>
        <p:nvSpPr>
          <p:cNvPr id="159" name="TextBox 158"/>
          <p:cNvSpPr txBox="1"/>
          <p:nvPr/>
        </p:nvSpPr>
        <p:spPr>
          <a:xfrm>
            <a:off x="4015550" y="3487292"/>
            <a:ext cx="82296" cy="8915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5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1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7468361" y="2979801"/>
            <a:ext cx="82296" cy="8915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5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N</a:t>
            </a:r>
          </a:p>
        </p:txBody>
      </p:sp>
      <p:cxnSp>
        <p:nvCxnSpPr>
          <p:cNvPr id="161" name="Connector 160"/>
          <p:cNvCxnSpPr/>
          <p:nvPr/>
        </p:nvCxnSpPr>
        <p:spPr>
          <a:xfrm flipH="1">
            <a:off x="123444" y="4800600"/>
            <a:ext cx="82296" cy="0"/>
          </a:xfrm>
          <a:prstGeom prst="line">
            <a:avLst/>
          </a:prstGeom>
          <a:ln w="15240">
            <a:solidFill>
              <a:srgbClr val="666666"/>
            </a:solidFill>
            <a:prstDash val="dash"/>
            <a:tailEnd type="triangle" w="med" len="med"/>
          </a:ln>
          <a:effectLst/>
        </p:spPr>
      </p:cxnSp>
      <p:cxnSp>
        <p:nvCxnSpPr>
          <p:cNvPr id="162" name="Connector 161"/>
          <p:cNvCxnSpPr/>
          <p:nvPr/>
        </p:nvCxnSpPr>
        <p:spPr>
          <a:xfrm flipV="1">
            <a:off x="123444" y="1289304"/>
            <a:ext cx="0" cy="3511296"/>
          </a:xfrm>
          <a:prstGeom prst="line">
            <a:avLst/>
          </a:prstGeom>
          <a:ln w="15240">
            <a:solidFill>
              <a:srgbClr val="666666"/>
            </a:solidFill>
            <a:prstDash val="dash"/>
            <a:tailEnd type="triangle" w="med" len="med"/>
          </a:ln>
          <a:effectLst/>
        </p:spPr>
      </p:cxnSp>
      <p:cxnSp>
        <p:nvCxnSpPr>
          <p:cNvPr id="163" name="Connector 162"/>
          <p:cNvCxnSpPr/>
          <p:nvPr/>
        </p:nvCxnSpPr>
        <p:spPr>
          <a:xfrm>
            <a:off x="123444" y="1289304"/>
            <a:ext cx="82296" cy="0"/>
          </a:xfrm>
          <a:prstGeom prst="line">
            <a:avLst/>
          </a:prstGeom>
          <a:ln w="15240">
            <a:solidFill>
              <a:srgbClr val="666666"/>
            </a:solidFill>
            <a:prstDash val="dash"/>
            <a:tailEnd type="triangle" w="med" len="med"/>
          </a:ln>
          <a:effectLst/>
        </p:spPr>
      </p:cxnSp>
      <p:sp>
        <p:nvSpPr>
          <p:cNvPr id="164" name="TextBox 163"/>
          <p:cNvSpPr txBox="1"/>
          <p:nvPr/>
        </p:nvSpPr>
        <p:spPr>
          <a:xfrm>
            <a:off x="61722" y="4666869"/>
            <a:ext cx="82296" cy="8915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5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1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1722" y="1155573"/>
            <a:ext cx="82296" cy="8915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5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N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6062472" y="4293108"/>
            <a:ext cx="2887218" cy="397764"/>
          </a:xfrm>
          <a:prstGeom prst="roundRect">
            <a:avLst>
              <a:gd name="adj" fmla="val 8620"/>
            </a:avLst>
          </a:prstGeom>
          <a:solidFill>
            <a:srgbClr val="FFFFFF"/>
          </a:solidFill>
          <a:ln w="12700">
            <a:solidFill>
              <a:srgbClr val="A8A8A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6158485" y="4334255"/>
            <a:ext cx="2695193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50" b="1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跨页关联（详见卡内 FK）：</a:t>
            </a:r>
          </a:p>
          <a:p>
            <a:pPr marL="0" marR="0" lvl="0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35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source_table → sync_table_config / sync_table_stat / archive_file</a:t>
            </a:r>
          </a:p>
          <a:p>
            <a:pPr marL="0" marR="0" lvl="0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35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sync_job ⇢ sync_activity（按天预聚合，派生表无 FK）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20574" y="2434590"/>
            <a:ext cx="109728" cy="425196"/>
          </a:xfrm>
          <a:prstGeom prst="rect">
            <a:avLst/>
          </a:prstGeom>
          <a:noFill/>
        </p:spPr>
        <p:txBody>
          <a:bodyPr vert="eaVert"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35" b="1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弱关联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3326130" y="1920240"/>
            <a:ext cx="809244" cy="356616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B6AEE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70" name="TextBox 169"/>
          <p:cNvSpPr txBox="1"/>
          <p:nvPr/>
        </p:nvSpPr>
        <p:spPr>
          <a:xfrm>
            <a:off x="3346705" y="1920240"/>
            <a:ext cx="768095" cy="3566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50" b="1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sync_job / query_config
子域见下页 →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150876" y="4924044"/>
            <a:ext cx="8846820" cy="219456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205740" y="4924044"/>
            <a:ext cx="9601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3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图例</a:t>
            </a:r>
          </a:p>
        </p:txBody>
      </p:sp>
      <p:sp>
        <p:nvSpPr>
          <p:cNvPr id="173" name="Oval 172"/>
          <p:cNvSpPr/>
          <p:nvPr/>
        </p:nvSpPr>
        <p:spPr>
          <a:xfrm>
            <a:off x="548640" y="4985766"/>
            <a:ext cx="96012" cy="96012"/>
          </a:xfrm>
          <a:prstGeom prst="ellipse">
            <a:avLst/>
          </a:prstGeom>
          <a:solidFill>
            <a:srgbClr val="D6A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74" name="TextBox 173"/>
          <p:cNvSpPr txBox="1"/>
          <p:nvPr/>
        </p:nvSpPr>
        <p:spPr>
          <a:xfrm>
            <a:off x="685800" y="4924044"/>
            <a:ext cx="2150669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① 权限与访问控制（RBAC）</a:t>
            </a:r>
          </a:p>
        </p:txBody>
      </p:sp>
      <p:sp>
        <p:nvSpPr>
          <p:cNvPr id="175" name="Oval 174"/>
          <p:cNvSpPr/>
          <p:nvPr/>
        </p:nvSpPr>
        <p:spPr>
          <a:xfrm>
            <a:off x="2822753" y="4985766"/>
            <a:ext cx="96012" cy="96012"/>
          </a:xfrm>
          <a:prstGeom prst="ellipse">
            <a:avLst/>
          </a:prstGeom>
          <a:solidFill>
            <a:srgbClr val="82B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76" name="TextBox 175"/>
          <p:cNvSpPr txBox="1"/>
          <p:nvPr/>
        </p:nvSpPr>
        <p:spPr>
          <a:xfrm>
            <a:off x="2959913" y="4924044"/>
            <a:ext cx="873709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③ 源数据配置</a:t>
            </a:r>
          </a:p>
        </p:txBody>
      </p:sp>
      <p:sp>
        <p:nvSpPr>
          <p:cNvPr id="177" name="Oval 176"/>
          <p:cNvSpPr/>
          <p:nvPr/>
        </p:nvSpPr>
        <p:spPr>
          <a:xfrm>
            <a:off x="3819906" y="4985766"/>
            <a:ext cx="96012" cy="96012"/>
          </a:xfrm>
          <a:prstGeom prst="ellipse">
            <a:avLst/>
          </a:prstGeom>
          <a:solidFill>
            <a:srgbClr val="967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3957066" y="4924044"/>
            <a:ext cx="374447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④ 目标存储 · 归档 Schema</a:t>
            </a:r>
          </a:p>
        </p:txBody>
      </p:sp>
      <p:sp>
        <p:nvSpPr>
          <p:cNvPr id="179" name="Oval 178"/>
          <p:cNvSpPr/>
          <p:nvPr/>
        </p:nvSpPr>
        <p:spPr>
          <a:xfrm>
            <a:off x="4317797" y="4985766"/>
            <a:ext cx="96012" cy="96012"/>
          </a:xfrm>
          <a:prstGeom prst="ellipse">
            <a:avLst/>
          </a:prstGeom>
          <a:solidFill>
            <a:srgbClr val="5B82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80" name="TextBox 179"/>
          <p:cNvSpPr txBox="1"/>
          <p:nvPr/>
        </p:nvSpPr>
        <p:spPr>
          <a:xfrm>
            <a:off x="4454957" y="4924044"/>
            <a:ext cx="556869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② 退役系统管理（核心）</a:t>
            </a:r>
          </a:p>
        </p:txBody>
      </p:sp>
      <p:sp>
        <p:nvSpPr>
          <p:cNvPr id="181" name="Oval 180"/>
          <p:cNvSpPr/>
          <p:nvPr/>
        </p:nvSpPr>
        <p:spPr>
          <a:xfrm>
            <a:off x="4998110" y="4985766"/>
            <a:ext cx="96012" cy="96012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82" name="TextBox 181"/>
          <p:cNvSpPr txBox="1"/>
          <p:nvPr/>
        </p:nvSpPr>
        <p:spPr>
          <a:xfrm>
            <a:off x="5135270" y="4924044"/>
            <a:ext cx="2448306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⑩ 通知 · ⑪ 审计与监控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6892290" y="4924044"/>
            <a:ext cx="20574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65" b="0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1—N 连线：母端 1 / 子端 N　</a:t>
            </a:r>
          </a:p>
          <a:p>
            <a:pPr marL="0" marR="0" lvl="0" indent="0" algn="r" defTabSz="6858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65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（虚线卡=跨页引用）</a:t>
            </a: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E0F625CE-A0F2-6FCF-C20F-68658EB03328}"/>
              </a:ext>
            </a:extLst>
          </p:cNvPr>
          <p:cNvSpPr/>
          <p:nvPr/>
        </p:nvSpPr>
        <p:spPr>
          <a:xfrm>
            <a:off x="8115300" y="0"/>
            <a:ext cx="1028700" cy="219729"/>
          </a:xfrm>
          <a:prstGeom prst="rect">
            <a:avLst/>
          </a:prstGeom>
          <a:solidFill>
            <a:srgbClr val="009CDE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Appendix</a:t>
            </a:r>
            <a:endParaRPr kumimoji="0" lang="zh-CN" altLang="en-US" sz="11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62090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50876" y="116586"/>
            <a:ext cx="37719" cy="274320"/>
          </a:xfrm>
          <a:prstGeom prst="roundRect">
            <a:avLst>
              <a:gd name="adj" fmla="val 4909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60604" y="89154"/>
            <a:ext cx="6172200" cy="2331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88" b="1" i="0" u="none" strike="noStrike" kern="1200" cap="none" spc="0" normalizeH="0" baseline="0" noProof="0" err="1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元数据库</a:t>
            </a:r>
            <a:r>
              <a:rPr kumimoji="0" sz="1388" b="1" i="0" u="none" strike="noStrike" kern="1200" cap="none" spc="0" normalizeH="0" baseline="0" noProof="0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ER </a:t>
            </a:r>
            <a:r>
              <a:rPr kumimoji="0" sz="1388" b="1" i="0" u="none" strike="noStrike" kern="1200" cap="none" spc="0" normalizeH="0" baseline="0" noProof="0" err="1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图（下</a:t>
            </a:r>
            <a:r>
              <a:rPr kumimoji="0" sz="1388" b="1" i="0" u="none" strike="noStrike" kern="1200" cap="none" spc="0" normalizeH="0" baseline="0" noProof="0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）· </a:t>
            </a:r>
            <a:r>
              <a:rPr kumimoji="0" sz="1388" b="1" i="0" u="none" strike="noStrike" kern="1200" cap="none" spc="0" normalizeH="0" baseline="0" noProof="0" err="1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同步归档</a:t>
            </a:r>
            <a:r>
              <a:rPr kumimoji="0" sz="1388" b="1" i="0" u="none" strike="noStrike" kern="1200" cap="none" spc="0" normalizeH="0" baseline="0" noProof="0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/ </a:t>
            </a:r>
            <a:r>
              <a:rPr kumimoji="0" sz="1388" b="1" i="0" u="none" strike="noStrike" kern="1200" cap="none" spc="0" normalizeH="0" baseline="0" noProof="0" err="1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动态查询</a:t>
            </a:r>
            <a:r>
              <a:rPr kumimoji="0" sz="1388" b="1" i="0" u="none" strike="noStrike" kern="1200" cap="none" spc="0" normalizeH="0" baseline="0" noProof="0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/ </a:t>
            </a:r>
            <a:r>
              <a:rPr kumimoji="0" sz="1388" b="1" i="0" u="none" strike="noStrike" kern="1200" cap="none" spc="0" normalizeH="0" baseline="0" noProof="0" err="1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保留销毁</a:t>
            </a:r>
            <a:endParaRPr kumimoji="0" sz="1388" b="1" i="0" u="none" strike="noStrike" kern="1200" cap="none" spc="0" normalizeH="0" baseline="0" noProof="0">
              <a:ln>
                <a:noFill/>
              </a:ln>
              <a:solidFill>
                <a:srgbClr val="009CDE"/>
              </a:solidFill>
              <a:effectLst/>
              <a:uLnTx/>
              <a:uFillTx/>
              <a:latin typeface="Georgia"/>
              <a:ea typeface="微软雅黑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46520" y="41148"/>
            <a:ext cx="2091690" cy="2880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563" b="0" i="0" u="none" strike="noStrike" kern="1200" cap="none" spc="0" normalizeH="0" baseline="0" noProof="0">
              <a:ln>
                <a:noFill/>
              </a:ln>
              <a:solidFill>
                <a:srgbClr val="64748B"/>
              </a:solidFill>
              <a:effectLst/>
              <a:uLnTx/>
              <a:uFillTx/>
              <a:latin typeface="Georgia"/>
              <a:ea typeface="微软雅黑"/>
              <a:cs typeface="+mn-c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205740" y="397764"/>
            <a:ext cx="6995160" cy="227914"/>
          </a:xfrm>
          <a:prstGeom prst="roundRect">
            <a:avLst>
              <a:gd name="adj" fmla="val 15789"/>
            </a:avLst>
          </a:prstGeom>
          <a:solidFill>
            <a:srgbClr val="D9E8FC"/>
          </a:solidFill>
          <a:ln w="12700">
            <a:solidFill>
              <a:srgbClr val="A9C4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88036" y="397764"/>
            <a:ext cx="6830568" cy="22279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13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⑤ 同步与归档（含 ⑥ 附件索引）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35190" y="397764"/>
            <a:ext cx="1440180" cy="260604"/>
          </a:xfrm>
          <a:prstGeom prst="roundRect">
            <a:avLst>
              <a:gd name="adj" fmla="val 15789"/>
            </a:avLst>
          </a:prstGeom>
          <a:solidFill>
            <a:srgbClr val="F8CECC"/>
          </a:solidFill>
          <a:ln w="12700">
            <a:solidFill>
              <a:srgbClr val="D79B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7486" y="397764"/>
            <a:ext cx="1275588" cy="2606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13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⑧ 生命周期与保留 · ⑨ 销毁审批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5740" y="3497580"/>
            <a:ext cx="6995160" cy="260604"/>
          </a:xfrm>
          <a:prstGeom prst="roundRect">
            <a:avLst>
              <a:gd name="adj" fmla="val 15789"/>
            </a:avLst>
          </a:prstGeom>
          <a:solidFill>
            <a:srgbClr val="FFF2CC"/>
          </a:solidFill>
          <a:ln w="12700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8036" y="3497580"/>
            <a:ext cx="6830568" cy="2606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13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⑦ 动态查询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5740" y="658368"/>
            <a:ext cx="1577340" cy="4800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7780">
            <a:solidFill>
              <a:srgbClr val="A9C4E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15341" y="667969"/>
            <a:ext cx="1558137" cy="178308"/>
          </a:xfrm>
          <a:prstGeom prst="roundRect">
            <a:avLst>
              <a:gd name="adj" fmla="val 11538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0031" y="689228"/>
            <a:ext cx="1508759" cy="1508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38" b="1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decommission_system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5341" y="853822"/>
            <a:ext cx="1558137" cy="274319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88037" y="870967"/>
            <a:ext cx="1440179" cy="24688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D00000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PK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id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(bigint)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B26A00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UK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system_code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(varchar)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63140" y="658368"/>
            <a:ext cx="1645920" cy="78867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7780">
            <a:solidFill>
              <a:srgbClr val="A9C4E5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272741" y="667969"/>
            <a:ext cx="1626717" cy="178308"/>
          </a:xfrm>
          <a:prstGeom prst="roundRect">
            <a:avLst>
              <a:gd name="adj" fmla="val 11538"/>
            </a:avLst>
          </a:prstGeom>
          <a:solidFill>
            <a:srgbClr val="D9E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297429" y="689228"/>
            <a:ext cx="1577340" cy="1508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38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sync_job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72741" y="853822"/>
            <a:ext cx="1626717" cy="582929"/>
          </a:xfrm>
          <a:prstGeom prst="roundRect">
            <a:avLst>
              <a:gd name="adj" fmla="val 2352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345437" y="870967"/>
            <a:ext cx="1508759" cy="55549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D00000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PK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id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(bigint)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0049C6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FK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system_id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(bigint)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0049C6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FK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assignment_id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(bigint)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 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job_type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(varchar)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 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status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(varchar)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83381" y="658368"/>
            <a:ext cx="1405889" cy="685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A9C4E5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192981" y="667969"/>
            <a:ext cx="1386687" cy="178308"/>
          </a:xfrm>
          <a:prstGeom prst="roundRect">
            <a:avLst>
              <a:gd name="adj" fmla="val 11538"/>
            </a:avLst>
          </a:prstGeom>
          <a:solidFill>
            <a:srgbClr val="D9E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217670" y="689228"/>
            <a:ext cx="1337309" cy="1508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38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sync_job_config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92981" y="853821"/>
            <a:ext cx="1386687" cy="480060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265677" y="870967"/>
            <a:ext cx="1268729" cy="45262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D00000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PK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id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(bigint)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0049C6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FK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system_id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(bigint)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 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cron_expr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(varchar)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 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enabled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(tinyint)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35190" y="658368"/>
            <a:ext cx="1440180" cy="685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D79B98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7244791" y="667969"/>
            <a:ext cx="1420977" cy="178308"/>
          </a:xfrm>
          <a:prstGeom prst="roundRect">
            <a:avLst>
              <a:gd name="adj" fmla="val 11538"/>
            </a:avLst>
          </a:prstGeom>
          <a:solidFill>
            <a:srgbClr val="F8CE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269480" y="689228"/>
            <a:ext cx="1371600" cy="1508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38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retention_policy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44791" y="853821"/>
            <a:ext cx="1420977" cy="480060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317486" y="870967"/>
            <a:ext cx="1303020" cy="45262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D00000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PK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id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(bigint)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B26A00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UK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policy_code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(varchar)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 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policy_name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(varchar)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 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period_days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(int)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05740" y="1611630"/>
            <a:ext cx="1474470" cy="685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A9C4E5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215341" y="1621231"/>
            <a:ext cx="1455267" cy="178308"/>
          </a:xfrm>
          <a:prstGeom prst="roundRect">
            <a:avLst>
              <a:gd name="adj" fmla="val 11538"/>
            </a:avLst>
          </a:prstGeom>
          <a:solidFill>
            <a:srgbClr val="D9E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40031" y="1642491"/>
            <a:ext cx="1405889" cy="1508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38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sync_table_config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15341" y="1807083"/>
            <a:ext cx="1455267" cy="480060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88036" y="1824229"/>
            <a:ext cx="1337310" cy="45262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D00000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PK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id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(bigint)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0049C6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FK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source_table_id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(bigint)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 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enabled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(tinyint)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 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retain_years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(int)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885950" y="1611630"/>
            <a:ext cx="1577340" cy="78867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7780">
            <a:solidFill>
              <a:srgbClr val="9BCB92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1895551" y="1621231"/>
            <a:ext cx="1558137" cy="178308"/>
          </a:xfrm>
          <a:prstGeom prst="roundRect">
            <a:avLst>
              <a:gd name="adj" fmla="val 11538"/>
            </a:avLst>
          </a:prstGeom>
          <a:solidFill>
            <a:srgbClr val="D5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920241" y="1642491"/>
            <a:ext cx="1508759" cy="1508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38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attachment_index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895551" y="1807084"/>
            <a:ext cx="1558137" cy="582929"/>
          </a:xfrm>
          <a:prstGeom prst="roundRect">
            <a:avLst>
              <a:gd name="adj" fmla="val 2352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968247" y="1824229"/>
            <a:ext cx="1440179" cy="55549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D00000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PK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id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(bigint)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0049C6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FK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system_id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(bigint)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 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table·business_key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(varchar)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 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object_key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(varchar)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 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sha256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(varchar)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566160" y="1611630"/>
            <a:ext cx="1474470" cy="685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A9C4E5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3575761" y="1621231"/>
            <a:ext cx="1455267" cy="178308"/>
          </a:xfrm>
          <a:prstGeom prst="roundRect">
            <a:avLst>
              <a:gd name="adj" fmla="val 11538"/>
            </a:avLst>
          </a:prstGeom>
          <a:solidFill>
            <a:srgbClr val="D9E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600451" y="1642491"/>
            <a:ext cx="1405889" cy="1508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38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sync_table_stat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575761" y="1807083"/>
            <a:ext cx="1455267" cy="480060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648456" y="1824229"/>
            <a:ext cx="1337310" cy="45262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D00000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PK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id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(bigint)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0049C6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FK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sync_job_id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(bigint)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0049C6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FK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source_table_id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(bigint)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 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row_count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(bigint)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246370" y="1611630"/>
            <a:ext cx="1474470" cy="685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A9C4E5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5255971" y="1621231"/>
            <a:ext cx="1455267" cy="178308"/>
          </a:xfrm>
          <a:prstGeom prst="roundRect">
            <a:avLst>
              <a:gd name="adj" fmla="val 11538"/>
            </a:avLst>
          </a:prstGeom>
          <a:solidFill>
            <a:srgbClr val="D9E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280661" y="1642491"/>
            <a:ext cx="1405889" cy="1508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38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archive_batch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255971" y="1807083"/>
            <a:ext cx="1455267" cy="480060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328666" y="1824229"/>
            <a:ext cx="1337310" cy="45262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D00000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PK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id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(bigint)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0049C6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FK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sync_job_id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(bigint)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 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batch_year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(int)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 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rows_out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(bigint)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235190" y="1611630"/>
            <a:ext cx="1440180" cy="78867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7780">
            <a:solidFill>
              <a:srgbClr val="D79B98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7244791" y="1621231"/>
            <a:ext cx="1420977" cy="178308"/>
          </a:xfrm>
          <a:prstGeom prst="roundRect">
            <a:avLst>
              <a:gd name="adj" fmla="val 11538"/>
            </a:avLst>
          </a:prstGeom>
          <a:solidFill>
            <a:srgbClr val="F8CE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7269480" y="1642491"/>
            <a:ext cx="1371600" cy="1508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38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retention_assignment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244791" y="1807084"/>
            <a:ext cx="1420977" cy="582929"/>
          </a:xfrm>
          <a:prstGeom prst="roundRect">
            <a:avLst>
              <a:gd name="adj" fmla="val 2352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317486" y="1824229"/>
            <a:ext cx="1303020" cy="55549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D00000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PK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id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(bigint)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0049C6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FK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policy_id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(bigint)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 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object_type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(varchar)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 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start·due_date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(date)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 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status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(varchar)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885950" y="2640330"/>
            <a:ext cx="1577340" cy="685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A9C4E5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1895551" y="2649931"/>
            <a:ext cx="1558137" cy="178308"/>
          </a:xfrm>
          <a:prstGeom prst="roundRect">
            <a:avLst>
              <a:gd name="adj" fmla="val 11538"/>
            </a:avLst>
          </a:prstGeom>
          <a:solidFill>
            <a:srgbClr val="D9E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920241" y="2671191"/>
            <a:ext cx="1508759" cy="1508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38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archive_set_item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895551" y="2835783"/>
            <a:ext cx="1558137" cy="480060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1968247" y="2852929"/>
            <a:ext cx="1440179" cy="45262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D00000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PK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id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(bigint)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0049C6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FK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archive_set_id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(bigint)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 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original_name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(varchar)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 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blob_url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(varchar)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566160" y="2640330"/>
            <a:ext cx="1474470" cy="685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A9C4E5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3575761" y="2649931"/>
            <a:ext cx="1455267" cy="178308"/>
          </a:xfrm>
          <a:prstGeom prst="roundRect">
            <a:avLst>
              <a:gd name="adj" fmla="val 11538"/>
            </a:avLst>
          </a:prstGeom>
          <a:solidFill>
            <a:srgbClr val="D9E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3600451" y="2671191"/>
            <a:ext cx="1405889" cy="1508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38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archive_set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575761" y="2835783"/>
            <a:ext cx="1455267" cy="480060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3648456" y="2852929"/>
            <a:ext cx="1337310" cy="45262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D00000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PK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id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(bigint)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0049C6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FK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archive_batch_id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(bigint)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 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set_name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(varchar)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 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items·bytes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(int)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246370" y="2640330"/>
            <a:ext cx="1474470" cy="685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A9C4E5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5255971" y="2649931"/>
            <a:ext cx="1455267" cy="178308"/>
          </a:xfrm>
          <a:prstGeom prst="roundRect">
            <a:avLst>
              <a:gd name="adj" fmla="val 11538"/>
            </a:avLst>
          </a:prstGeom>
          <a:solidFill>
            <a:srgbClr val="D9E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5280661" y="2671191"/>
            <a:ext cx="1405889" cy="1508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38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archive_file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255971" y="2835783"/>
            <a:ext cx="1455267" cy="480060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5328666" y="2852929"/>
            <a:ext cx="1337310" cy="45262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D00000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PK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id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(bigint)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0049C6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FK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archive_batch_id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(bigint)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 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blob_url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(varchar)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 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checksum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(varchar)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235190" y="2640330"/>
            <a:ext cx="1440180" cy="685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D79B98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7244791" y="2649931"/>
            <a:ext cx="1420977" cy="178308"/>
          </a:xfrm>
          <a:prstGeom prst="roundRect">
            <a:avLst>
              <a:gd name="adj" fmla="val 11538"/>
            </a:avLst>
          </a:prstGeom>
          <a:solidFill>
            <a:srgbClr val="F8CE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7269480" y="2671191"/>
            <a:ext cx="1371600" cy="1508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38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legal_hold_event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244791" y="2835783"/>
            <a:ext cx="1420977" cy="480060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7317486" y="2852929"/>
            <a:ext cx="1303020" cy="45262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D00000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PK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id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(bigint)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0049C6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FK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assignment_id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(bigint)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 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action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(varchar)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 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reason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(varchar)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05740" y="3800475"/>
            <a:ext cx="1645920" cy="721995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7780">
            <a:solidFill>
              <a:srgbClr val="D6B656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77" name="Rounded Rectangle 76"/>
          <p:cNvSpPr/>
          <p:nvPr/>
        </p:nvSpPr>
        <p:spPr>
          <a:xfrm>
            <a:off x="215341" y="3801694"/>
            <a:ext cx="1626717" cy="178308"/>
          </a:xfrm>
          <a:prstGeom prst="roundRect">
            <a:avLst>
              <a:gd name="adj" fmla="val 11538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240030" y="3789617"/>
            <a:ext cx="1577340" cy="1508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38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query_config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215265" y="4011931"/>
            <a:ext cx="1626870" cy="511016"/>
          </a:xfrm>
          <a:prstGeom prst="roundRect">
            <a:avLst>
              <a:gd name="adj" fmla="val 2352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260414" y="4015645"/>
            <a:ext cx="1508759" cy="55549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D00000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PK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id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(bigint)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0049C6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FK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system_id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(bigint)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 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name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(varchar)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 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base_table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(varchar)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 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status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(varchar)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2263140" y="3799332"/>
            <a:ext cx="1474470" cy="685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D6B656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82" name="Rounded Rectangle 81"/>
          <p:cNvSpPr/>
          <p:nvPr/>
        </p:nvSpPr>
        <p:spPr>
          <a:xfrm>
            <a:off x="2272741" y="3808933"/>
            <a:ext cx="1455267" cy="178308"/>
          </a:xfrm>
          <a:prstGeom prst="roundRect">
            <a:avLst>
              <a:gd name="adj" fmla="val 11538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2297430" y="3830193"/>
            <a:ext cx="1405889" cy="1508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38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query_field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2272741" y="3994785"/>
            <a:ext cx="1455267" cy="480060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2345436" y="4011931"/>
            <a:ext cx="1337310" cy="45262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D00000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PK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id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(bigint)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0049C6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FK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query_config_id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(bigint)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 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column_name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(varchar)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 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is_pii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(tinyint)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3943350" y="3799332"/>
            <a:ext cx="1474470" cy="685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D6B656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87" name="Rounded Rectangle 86"/>
          <p:cNvSpPr/>
          <p:nvPr/>
        </p:nvSpPr>
        <p:spPr>
          <a:xfrm>
            <a:off x="3952951" y="3808933"/>
            <a:ext cx="1455267" cy="178308"/>
          </a:xfrm>
          <a:prstGeom prst="roundRect">
            <a:avLst>
              <a:gd name="adj" fmla="val 11538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3977641" y="3830193"/>
            <a:ext cx="1405889" cy="1508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38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query_join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3952951" y="3994785"/>
            <a:ext cx="1455267" cy="480060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4025646" y="4011931"/>
            <a:ext cx="1337310" cy="45262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D00000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PK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id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(bigint)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0049C6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FK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query_config_id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(bigint)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 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join_type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(varchar)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 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left→right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(varchar)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5623559" y="3799332"/>
            <a:ext cx="1577340" cy="685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D6B656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92" name="Rounded Rectangle 91"/>
          <p:cNvSpPr/>
          <p:nvPr/>
        </p:nvSpPr>
        <p:spPr>
          <a:xfrm>
            <a:off x="5633161" y="3808933"/>
            <a:ext cx="1558137" cy="178308"/>
          </a:xfrm>
          <a:prstGeom prst="roundRect">
            <a:avLst>
              <a:gd name="adj" fmla="val 11538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5657851" y="3830193"/>
            <a:ext cx="1508759" cy="1508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38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drill_config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5633161" y="3994785"/>
            <a:ext cx="1558137" cy="480060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5705856" y="4011931"/>
            <a:ext cx="1440179" cy="45262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D00000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PK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id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(bigint)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0049C6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FK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query_config_id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(bigint)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0049C6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FK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schema_id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(bigint)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 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parent→child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(varchar)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235190" y="3744468"/>
            <a:ext cx="1440180" cy="685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D79B98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97" name="Rounded Rectangle 96"/>
          <p:cNvSpPr/>
          <p:nvPr/>
        </p:nvSpPr>
        <p:spPr>
          <a:xfrm>
            <a:off x="7244791" y="3754069"/>
            <a:ext cx="1420977" cy="178308"/>
          </a:xfrm>
          <a:prstGeom prst="roundRect">
            <a:avLst>
              <a:gd name="adj" fmla="val 11538"/>
            </a:avLst>
          </a:prstGeom>
          <a:solidFill>
            <a:srgbClr val="F8CE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7269480" y="3775329"/>
            <a:ext cx="1371600" cy="1508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38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destroy_approval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7244791" y="3939921"/>
            <a:ext cx="1420977" cy="480060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7317486" y="3957067"/>
            <a:ext cx="1303020" cy="45262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D00000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PK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id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(bigint)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0049C6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FK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sync_job_id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(bigint)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0049C6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FK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approver_id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(bigint)</a:t>
            </a:r>
          </a:p>
          <a:p>
            <a:pPr marL="0" marR="0" lvl="0" indent="0" algn="l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    </a:t>
            </a: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decision</a:t>
            </a:r>
            <a:r>
              <a:rPr kumimoji="0" sz="450" b="0" i="0" u="none" strike="noStrike" kern="1200" cap="none" spc="0" normalizeH="0" baseline="0" noProof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 (varchar)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1783080" y="925830"/>
            <a:ext cx="480060" cy="0"/>
          </a:xfrm>
          <a:prstGeom prst="line">
            <a:avLst/>
          </a:prstGeom>
          <a:ln w="17780">
            <a:solidFill>
              <a:srgbClr val="5B82B1"/>
            </a:solidFill>
            <a:tailEnd type="triangle" w="med" len="med"/>
          </a:ln>
          <a:effectLst/>
        </p:spPr>
      </p:cxnSp>
      <p:sp>
        <p:nvSpPr>
          <p:cNvPr id="102" name="TextBox 101"/>
          <p:cNvSpPr txBox="1"/>
          <p:nvPr/>
        </p:nvSpPr>
        <p:spPr>
          <a:xfrm>
            <a:off x="1844802" y="970407"/>
            <a:ext cx="82296" cy="8915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5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119122" y="792099"/>
            <a:ext cx="82296" cy="8915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5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N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994410" y="1138428"/>
            <a:ext cx="0" cy="473202"/>
          </a:xfrm>
          <a:prstGeom prst="line">
            <a:avLst/>
          </a:prstGeom>
          <a:ln w="17780">
            <a:solidFill>
              <a:srgbClr val="5B82B1"/>
            </a:solidFill>
            <a:tailEnd type="triangle" w="med" len="med"/>
          </a:ln>
          <a:effectLst/>
        </p:spPr>
      </p:cxnSp>
      <p:sp>
        <p:nvSpPr>
          <p:cNvPr id="105" name="TextBox 104"/>
          <p:cNvSpPr txBox="1"/>
          <p:nvPr/>
        </p:nvSpPr>
        <p:spPr>
          <a:xfrm>
            <a:off x="864107" y="1196721"/>
            <a:ext cx="82296" cy="8915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5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42416" y="1464183"/>
            <a:ext cx="82296" cy="8915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5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N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1783080" y="1097280"/>
            <a:ext cx="205740" cy="0"/>
          </a:xfrm>
          <a:prstGeom prst="line">
            <a:avLst/>
          </a:prstGeom>
          <a:ln w="17780">
            <a:solidFill>
              <a:srgbClr val="5B82B1"/>
            </a:solidFill>
          </a:ln>
          <a:effectLst/>
        </p:spPr>
      </p:cxnSp>
      <p:cxnSp>
        <p:nvCxnSpPr>
          <p:cNvPr id="108" name="Connector 107"/>
          <p:cNvCxnSpPr/>
          <p:nvPr/>
        </p:nvCxnSpPr>
        <p:spPr>
          <a:xfrm>
            <a:off x="1988820" y="1097280"/>
            <a:ext cx="0" cy="288036"/>
          </a:xfrm>
          <a:prstGeom prst="line">
            <a:avLst/>
          </a:prstGeom>
          <a:ln w="17780">
            <a:solidFill>
              <a:srgbClr val="5B82B1"/>
            </a:solidFill>
          </a:ln>
          <a:effectLst/>
        </p:spPr>
      </p:cxnSp>
      <p:cxnSp>
        <p:nvCxnSpPr>
          <p:cNvPr id="109" name="Connector 108"/>
          <p:cNvCxnSpPr/>
          <p:nvPr/>
        </p:nvCxnSpPr>
        <p:spPr>
          <a:xfrm>
            <a:off x="1988820" y="1385316"/>
            <a:ext cx="2537460" cy="0"/>
          </a:xfrm>
          <a:prstGeom prst="line">
            <a:avLst/>
          </a:prstGeom>
          <a:ln w="17780">
            <a:solidFill>
              <a:srgbClr val="5B82B1"/>
            </a:solidFill>
          </a:ln>
          <a:effectLst/>
        </p:spPr>
      </p:cxnSp>
      <p:cxnSp>
        <p:nvCxnSpPr>
          <p:cNvPr id="110" name="Connector 109"/>
          <p:cNvCxnSpPr/>
          <p:nvPr/>
        </p:nvCxnSpPr>
        <p:spPr>
          <a:xfrm flipV="1">
            <a:off x="4526280" y="1193292"/>
            <a:ext cx="0" cy="192024"/>
          </a:xfrm>
          <a:prstGeom prst="line">
            <a:avLst/>
          </a:prstGeom>
          <a:ln w="17780">
            <a:solidFill>
              <a:srgbClr val="5B82B1"/>
            </a:solidFill>
            <a:tailEnd type="triangle" w="med" len="med"/>
          </a:ln>
          <a:effectLst/>
        </p:spPr>
      </p:cxnSp>
      <p:sp>
        <p:nvSpPr>
          <p:cNvPr id="111" name="TextBox 110"/>
          <p:cNvSpPr txBox="1"/>
          <p:nvPr/>
        </p:nvSpPr>
        <p:spPr>
          <a:xfrm>
            <a:off x="1844802" y="1141857"/>
            <a:ext cx="82296" cy="8915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5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1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395978" y="1251585"/>
            <a:ext cx="82296" cy="8915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5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N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1783080" y="1001268"/>
            <a:ext cx="48006" cy="0"/>
          </a:xfrm>
          <a:prstGeom prst="line">
            <a:avLst/>
          </a:prstGeom>
          <a:ln w="17780">
            <a:solidFill>
              <a:srgbClr val="82B366"/>
            </a:solidFill>
          </a:ln>
          <a:effectLst/>
        </p:spPr>
      </p:cxnSp>
      <p:cxnSp>
        <p:nvCxnSpPr>
          <p:cNvPr id="114" name="Connector 113"/>
          <p:cNvCxnSpPr/>
          <p:nvPr/>
        </p:nvCxnSpPr>
        <p:spPr>
          <a:xfrm>
            <a:off x="1831086" y="1001268"/>
            <a:ext cx="0" cy="987552"/>
          </a:xfrm>
          <a:prstGeom prst="line">
            <a:avLst/>
          </a:prstGeom>
          <a:ln w="17780">
            <a:solidFill>
              <a:srgbClr val="82B366"/>
            </a:solidFill>
          </a:ln>
          <a:effectLst/>
        </p:spPr>
      </p:cxnSp>
      <p:cxnSp>
        <p:nvCxnSpPr>
          <p:cNvPr id="115" name="Connector 114"/>
          <p:cNvCxnSpPr/>
          <p:nvPr/>
        </p:nvCxnSpPr>
        <p:spPr>
          <a:xfrm>
            <a:off x="1831086" y="1988820"/>
            <a:ext cx="54864" cy="0"/>
          </a:xfrm>
          <a:prstGeom prst="line">
            <a:avLst/>
          </a:prstGeom>
          <a:ln w="17780">
            <a:solidFill>
              <a:srgbClr val="82B366"/>
            </a:solidFill>
            <a:tailEnd type="triangle" w="med" len="med"/>
          </a:ln>
          <a:effectLst/>
        </p:spPr>
      </p:cxnSp>
      <p:sp>
        <p:nvSpPr>
          <p:cNvPr id="116" name="TextBox 115"/>
          <p:cNvSpPr txBox="1"/>
          <p:nvPr/>
        </p:nvSpPr>
        <p:spPr>
          <a:xfrm>
            <a:off x="1844802" y="1045845"/>
            <a:ext cx="82296" cy="8915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5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741932" y="1855089"/>
            <a:ext cx="82296" cy="8915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5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N</a:t>
            </a:r>
          </a:p>
        </p:txBody>
      </p:sp>
      <p:cxnSp>
        <p:nvCxnSpPr>
          <p:cNvPr id="118" name="Connector 117"/>
          <p:cNvCxnSpPr/>
          <p:nvPr/>
        </p:nvCxnSpPr>
        <p:spPr>
          <a:xfrm flipH="1">
            <a:off x="123444" y="891540"/>
            <a:ext cx="82296" cy="0"/>
          </a:xfrm>
          <a:prstGeom prst="line">
            <a:avLst/>
          </a:prstGeom>
          <a:ln w="17780">
            <a:solidFill>
              <a:srgbClr val="D6A22A"/>
            </a:solidFill>
          </a:ln>
          <a:effectLst/>
        </p:spPr>
      </p:cxnSp>
      <p:cxnSp>
        <p:nvCxnSpPr>
          <p:cNvPr id="119" name="Connector 118"/>
          <p:cNvCxnSpPr/>
          <p:nvPr/>
        </p:nvCxnSpPr>
        <p:spPr>
          <a:xfrm>
            <a:off x="123444" y="891540"/>
            <a:ext cx="0" cy="3236976"/>
          </a:xfrm>
          <a:prstGeom prst="line">
            <a:avLst/>
          </a:prstGeom>
          <a:ln w="17780">
            <a:solidFill>
              <a:srgbClr val="D6A22A"/>
            </a:solidFill>
          </a:ln>
          <a:effectLst/>
        </p:spPr>
      </p:cxnSp>
      <p:cxnSp>
        <p:nvCxnSpPr>
          <p:cNvPr id="120" name="Connector 119"/>
          <p:cNvCxnSpPr/>
          <p:nvPr/>
        </p:nvCxnSpPr>
        <p:spPr>
          <a:xfrm>
            <a:off x="123444" y="4128516"/>
            <a:ext cx="82296" cy="0"/>
          </a:xfrm>
          <a:prstGeom prst="line">
            <a:avLst/>
          </a:prstGeom>
          <a:ln w="17780">
            <a:solidFill>
              <a:srgbClr val="D6A22A"/>
            </a:solidFill>
            <a:tailEnd type="triangle" w="med" len="med"/>
          </a:ln>
          <a:effectLst/>
        </p:spPr>
      </p:cxnSp>
      <p:sp>
        <p:nvSpPr>
          <p:cNvPr id="121" name="TextBox 120"/>
          <p:cNvSpPr txBox="1"/>
          <p:nvPr/>
        </p:nvSpPr>
        <p:spPr>
          <a:xfrm>
            <a:off x="61722" y="757809"/>
            <a:ext cx="82296" cy="8915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5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1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1722" y="3994784"/>
            <a:ext cx="82296" cy="8915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5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N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3737610" y="1453896"/>
            <a:ext cx="0" cy="157734"/>
          </a:xfrm>
          <a:prstGeom prst="line">
            <a:avLst/>
          </a:prstGeom>
          <a:ln w="17780">
            <a:solidFill>
              <a:srgbClr val="5B82B1"/>
            </a:solidFill>
            <a:tailEnd type="triangle" w="med" len="med"/>
          </a:ln>
          <a:effectLst/>
        </p:spPr>
      </p:cxnSp>
      <p:sp>
        <p:nvSpPr>
          <p:cNvPr id="124" name="TextBox 123"/>
          <p:cNvSpPr txBox="1"/>
          <p:nvPr/>
        </p:nvSpPr>
        <p:spPr>
          <a:xfrm>
            <a:off x="3607308" y="1512189"/>
            <a:ext cx="82296" cy="8915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5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1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785616" y="1464183"/>
            <a:ext cx="82296" cy="8915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5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N</a:t>
            </a:r>
          </a:p>
        </p:txBody>
      </p:sp>
      <p:cxnSp>
        <p:nvCxnSpPr>
          <p:cNvPr id="126" name="Connector 125"/>
          <p:cNvCxnSpPr/>
          <p:nvPr/>
        </p:nvCxnSpPr>
        <p:spPr>
          <a:xfrm>
            <a:off x="3909060" y="1193292"/>
            <a:ext cx="137160" cy="0"/>
          </a:xfrm>
          <a:prstGeom prst="line">
            <a:avLst/>
          </a:prstGeom>
          <a:ln w="17780">
            <a:solidFill>
              <a:srgbClr val="5B82B1"/>
            </a:solidFill>
          </a:ln>
          <a:effectLst/>
        </p:spPr>
      </p:cxnSp>
      <p:cxnSp>
        <p:nvCxnSpPr>
          <p:cNvPr id="127" name="Connector 126"/>
          <p:cNvCxnSpPr/>
          <p:nvPr/>
        </p:nvCxnSpPr>
        <p:spPr>
          <a:xfrm>
            <a:off x="4046220" y="1193292"/>
            <a:ext cx="0" cy="260604"/>
          </a:xfrm>
          <a:prstGeom prst="line">
            <a:avLst/>
          </a:prstGeom>
          <a:ln w="17780">
            <a:solidFill>
              <a:srgbClr val="5B82B1"/>
            </a:solidFill>
          </a:ln>
          <a:effectLst/>
        </p:spPr>
      </p:cxnSp>
      <p:cxnSp>
        <p:nvCxnSpPr>
          <p:cNvPr id="128" name="Connector 127"/>
          <p:cNvCxnSpPr/>
          <p:nvPr/>
        </p:nvCxnSpPr>
        <p:spPr>
          <a:xfrm>
            <a:off x="4046220" y="1453896"/>
            <a:ext cx="1933956" cy="0"/>
          </a:xfrm>
          <a:prstGeom prst="line">
            <a:avLst/>
          </a:prstGeom>
          <a:ln w="17780">
            <a:solidFill>
              <a:srgbClr val="5B82B1"/>
            </a:solidFill>
          </a:ln>
          <a:effectLst/>
        </p:spPr>
      </p:cxnSp>
      <p:cxnSp>
        <p:nvCxnSpPr>
          <p:cNvPr id="129" name="Connector 128"/>
          <p:cNvCxnSpPr/>
          <p:nvPr/>
        </p:nvCxnSpPr>
        <p:spPr>
          <a:xfrm>
            <a:off x="5980176" y="1453896"/>
            <a:ext cx="0" cy="157734"/>
          </a:xfrm>
          <a:prstGeom prst="line">
            <a:avLst/>
          </a:prstGeom>
          <a:ln w="17780">
            <a:solidFill>
              <a:srgbClr val="5B82B1"/>
            </a:solidFill>
            <a:tailEnd type="triangle" w="med" len="med"/>
          </a:ln>
          <a:effectLst/>
        </p:spPr>
      </p:cxnSp>
      <p:sp>
        <p:nvSpPr>
          <p:cNvPr id="130" name="TextBox 129"/>
          <p:cNvSpPr txBox="1"/>
          <p:nvPr/>
        </p:nvSpPr>
        <p:spPr>
          <a:xfrm>
            <a:off x="3970782" y="1237869"/>
            <a:ext cx="82296" cy="8915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5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1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028182" y="1464183"/>
            <a:ext cx="82296" cy="8915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5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N</a:t>
            </a:r>
          </a:p>
        </p:txBody>
      </p:sp>
      <p:cxnSp>
        <p:nvCxnSpPr>
          <p:cNvPr id="132" name="Connector 131"/>
          <p:cNvCxnSpPr/>
          <p:nvPr/>
        </p:nvCxnSpPr>
        <p:spPr>
          <a:xfrm flipH="1">
            <a:off x="7063740" y="2208276"/>
            <a:ext cx="171450" cy="0"/>
          </a:xfrm>
          <a:prstGeom prst="line">
            <a:avLst/>
          </a:prstGeom>
          <a:ln w="17780">
            <a:solidFill>
              <a:srgbClr val="B85450"/>
            </a:solidFill>
          </a:ln>
          <a:effectLst/>
        </p:spPr>
      </p:cxnSp>
      <p:cxnSp>
        <p:nvCxnSpPr>
          <p:cNvPr id="133" name="Connector 132"/>
          <p:cNvCxnSpPr/>
          <p:nvPr/>
        </p:nvCxnSpPr>
        <p:spPr>
          <a:xfrm flipV="1">
            <a:off x="7063740" y="1549908"/>
            <a:ext cx="0" cy="658369"/>
          </a:xfrm>
          <a:prstGeom prst="line">
            <a:avLst/>
          </a:prstGeom>
          <a:ln w="17780">
            <a:solidFill>
              <a:srgbClr val="B85450"/>
            </a:solidFill>
          </a:ln>
          <a:effectLst/>
        </p:spPr>
      </p:cxnSp>
      <p:cxnSp>
        <p:nvCxnSpPr>
          <p:cNvPr id="134" name="Connector 133"/>
          <p:cNvCxnSpPr/>
          <p:nvPr/>
        </p:nvCxnSpPr>
        <p:spPr>
          <a:xfrm flipH="1">
            <a:off x="3874770" y="1549907"/>
            <a:ext cx="3188970" cy="0"/>
          </a:xfrm>
          <a:prstGeom prst="line">
            <a:avLst/>
          </a:prstGeom>
          <a:ln w="17780">
            <a:solidFill>
              <a:srgbClr val="B85450"/>
            </a:solidFill>
          </a:ln>
          <a:effectLst/>
        </p:spPr>
      </p:cxnSp>
      <p:cxnSp>
        <p:nvCxnSpPr>
          <p:cNvPr id="135" name="Connector 134"/>
          <p:cNvCxnSpPr/>
          <p:nvPr/>
        </p:nvCxnSpPr>
        <p:spPr>
          <a:xfrm flipV="1">
            <a:off x="3874770" y="1453897"/>
            <a:ext cx="0" cy="96011"/>
          </a:xfrm>
          <a:prstGeom prst="line">
            <a:avLst/>
          </a:prstGeom>
          <a:ln w="17780">
            <a:solidFill>
              <a:srgbClr val="B85450"/>
            </a:solidFill>
            <a:tailEnd type="triangle" w="med" len="med"/>
          </a:ln>
          <a:effectLst/>
        </p:spPr>
      </p:cxnSp>
      <p:sp>
        <p:nvSpPr>
          <p:cNvPr id="136" name="TextBox 135"/>
          <p:cNvSpPr txBox="1"/>
          <p:nvPr/>
        </p:nvSpPr>
        <p:spPr>
          <a:xfrm>
            <a:off x="7091172" y="2074545"/>
            <a:ext cx="82296" cy="8915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5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744468" y="1512189"/>
            <a:ext cx="82296" cy="8915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5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N</a:t>
            </a:r>
          </a:p>
        </p:txBody>
      </p:sp>
      <p:cxnSp>
        <p:nvCxnSpPr>
          <p:cNvPr id="138" name="Connector 137"/>
          <p:cNvCxnSpPr/>
          <p:nvPr/>
        </p:nvCxnSpPr>
        <p:spPr>
          <a:xfrm>
            <a:off x="3909060" y="836676"/>
            <a:ext cx="137160" cy="0"/>
          </a:xfrm>
          <a:prstGeom prst="line">
            <a:avLst/>
          </a:prstGeom>
          <a:ln w="17780">
            <a:solidFill>
              <a:srgbClr val="B85450"/>
            </a:solidFill>
          </a:ln>
          <a:effectLst/>
        </p:spPr>
      </p:cxnSp>
      <p:cxnSp>
        <p:nvCxnSpPr>
          <p:cNvPr id="139" name="Connector 138"/>
          <p:cNvCxnSpPr/>
          <p:nvPr/>
        </p:nvCxnSpPr>
        <p:spPr>
          <a:xfrm flipV="1">
            <a:off x="4046220" y="658368"/>
            <a:ext cx="0" cy="178308"/>
          </a:xfrm>
          <a:prstGeom prst="line">
            <a:avLst/>
          </a:prstGeom>
          <a:ln w="17780">
            <a:solidFill>
              <a:srgbClr val="B85450"/>
            </a:solidFill>
          </a:ln>
          <a:effectLst/>
        </p:spPr>
      </p:cxnSp>
      <p:cxnSp>
        <p:nvCxnSpPr>
          <p:cNvPr id="140" name="Connector 139"/>
          <p:cNvCxnSpPr/>
          <p:nvPr/>
        </p:nvCxnSpPr>
        <p:spPr>
          <a:xfrm>
            <a:off x="4046220" y="658368"/>
            <a:ext cx="4869180" cy="0"/>
          </a:xfrm>
          <a:prstGeom prst="line">
            <a:avLst/>
          </a:prstGeom>
          <a:ln w="17780">
            <a:solidFill>
              <a:srgbClr val="B85450"/>
            </a:solidFill>
          </a:ln>
          <a:effectLst/>
        </p:spPr>
      </p:cxnSp>
      <p:cxnSp>
        <p:nvCxnSpPr>
          <p:cNvPr id="141" name="Connector 140"/>
          <p:cNvCxnSpPr/>
          <p:nvPr/>
        </p:nvCxnSpPr>
        <p:spPr>
          <a:xfrm>
            <a:off x="8915400" y="658368"/>
            <a:ext cx="0" cy="3470148"/>
          </a:xfrm>
          <a:prstGeom prst="line">
            <a:avLst/>
          </a:prstGeom>
          <a:ln w="17780">
            <a:solidFill>
              <a:srgbClr val="B85450"/>
            </a:solidFill>
          </a:ln>
          <a:effectLst/>
        </p:spPr>
      </p:cxnSp>
      <p:cxnSp>
        <p:nvCxnSpPr>
          <p:cNvPr id="142" name="Connector 141"/>
          <p:cNvCxnSpPr/>
          <p:nvPr/>
        </p:nvCxnSpPr>
        <p:spPr>
          <a:xfrm flipH="1">
            <a:off x="8675370" y="4128516"/>
            <a:ext cx="240030" cy="0"/>
          </a:xfrm>
          <a:prstGeom prst="line">
            <a:avLst/>
          </a:prstGeom>
          <a:ln w="17780">
            <a:solidFill>
              <a:srgbClr val="B85450"/>
            </a:solidFill>
            <a:tailEnd type="triangle" w="med" len="med"/>
          </a:ln>
          <a:effectLst/>
        </p:spPr>
      </p:cxnSp>
      <p:sp>
        <p:nvSpPr>
          <p:cNvPr id="143" name="TextBox 142"/>
          <p:cNvSpPr txBox="1"/>
          <p:nvPr/>
        </p:nvSpPr>
        <p:spPr>
          <a:xfrm>
            <a:off x="3970782" y="881253"/>
            <a:ext cx="82296" cy="8915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5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737092" y="4173092"/>
            <a:ext cx="82296" cy="8915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5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N</a:t>
            </a:r>
          </a:p>
        </p:txBody>
      </p:sp>
      <p:cxnSp>
        <p:nvCxnSpPr>
          <p:cNvPr id="145" name="Connector 144"/>
          <p:cNvCxnSpPr/>
          <p:nvPr/>
        </p:nvCxnSpPr>
        <p:spPr>
          <a:xfrm>
            <a:off x="5980176" y="2379726"/>
            <a:ext cx="0" cy="260604"/>
          </a:xfrm>
          <a:prstGeom prst="line">
            <a:avLst/>
          </a:prstGeom>
          <a:ln w="17780">
            <a:solidFill>
              <a:srgbClr val="5B82B1"/>
            </a:solidFill>
            <a:tailEnd type="triangle" w="med" len="med"/>
          </a:ln>
          <a:effectLst/>
        </p:spPr>
      </p:cxnSp>
      <p:sp>
        <p:nvSpPr>
          <p:cNvPr id="146" name="TextBox 145"/>
          <p:cNvSpPr txBox="1"/>
          <p:nvPr/>
        </p:nvSpPr>
        <p:spPr>
          <a:xfrm>
            <a:off x="5849873" y="2438019"/>
            <a:ext cx="82296" cy="8915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5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1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028182" y="2492883"/>
            <a:ext cx="82296" cy="8915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5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N</a:t>
            </a:r>
          </a:p>
        </p:txBody>
      </p:sp>
      <p:cxnSp>
        <p:nvCxnSpPr>
          <p:cNvPr id="148" name="Connector 147"/>
          <p:cNvCxnSpPr/>
          <p:nvPr/>
        </p:nvCxnSpPr>
        <p:spPr>
          <a:xfrm>
            <a:off x="5349240" y="2379726"/>
            <a:ext cx="0" cy="157734"/>
          </a:xfrm>
          <a:prstGeom prst="line">
            <a:avLst/>
          </a:prstGeom>
          <a:ln w="17780">
            <a:solidFill>
              <a:srgbClr val="5B82B1"/>
            </a:solidFill>
          </a:ln>
          <a:effectLst/>
        </p:spPr>
      </p:cxnSp>
      <p:cxnSp>
        <p:nvCxnSpPr>
          <p:cNvPr id="149" name="Connector 148"/>
          <p:cNvCxnSpPr/>
          <p:nvPr/>
        </p:nvCxnSpPr>
        <p:spPr>
          <a:xfrm flipH="1">
            <a:off x="4299966" y="2537460"/>
            <a:ext cx="1049274" cy="0"/>
          </a:xfrm>
          <a:prstGeom prst="line">
            <a:avLst/>
          </a:prstGeom>
          <a:ln w="17780">
            <a:solidFill>
              <a:srgbClr val="5B82B1"/>
            </a:solidFill>
          </a:ln>
          <a:effectLst/>
        </p:spPr>
      </p:cxnSp>
      <p:cxnSp>
        <p:nvCxnSpPr>
          <p:cNvPr id="150" name="Connector 149"/>
          <p:cNvCxnSpPr/>
          <p:nvPr/>
        </p:nvCxnSpPr>
        <p:spPr>
          <a:xfrm>
            <a:off x="4299966" y="2537460"/>
            <a:ext cx="0" cy="102870"/>
          </a:xfrm>
          <a:prstGeom prst="line">
            <a:avLst/>
          </a:prstGeom>
          <a:ln w="17780">
            <a:solidFill>
              <a:srgbClr val="5B82B1"/>
            </a:solidFill>
            <a:tailEnd type="triangle" w="med" len="med"/>
          </a:ln>
          <a:effectLst/>
        </p:spPr>
      </p:cxnSp>
      <p:sp>
        <p:nvSpPr>
          <p:cNvPr id="151" name="TextBox 150"/>
          <p:cNvSpPr txBox="1"/>
          <p:nvPr/>
        </p:nvSpPr>
        <p:spPr>
          <a:xfrm>
            <a:off x="5218938" y="2438019"/>
            <a:ext cx="82296" cy="8915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5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1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347972" y="2492883"/>
            <a:ext cx="82296" cy="8915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5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N</a:t>
            </a:r>
          </a:p>
        </p:txBody>
      </p:sp>
      <p:cxnSp>
        <p:nvCxnSpPr>
          <p:cNvPr id="153" name="Connector 152"/>
          <p:cNvCxnSpPr/>
          <p:nvPr/>
        </p:nvCxnSpPr>
        <p:spPr>
          <a:xfrm flipH="1">
            <a:off x="3463290" y="3003804"/>
            <a:ext cx="102870" cy="0"/>
          </a:xfrm>
          <a:prstGeom prst="line">
            <a:avLst/>
          </a:prstGeom>
          <a:ln w="17780">
            <a:solidFill>
              <a:srgbClr val="5B82B1"/>
            </a:solidFill>
            <a:tailEnd type="triangle" w="med" len="med"/>
          </a:ln>
          <a:effectLst/>
        </p:spPr>
      </p:cxnSp>
      <p:sp>
        <p:nvSpPr>
          <p:cNvPr id="154" name="TextBox 153"/>
          <p:cNvSpPr txBox="1"/>
          <p:nvPr/>
        </p:nvSpPr>
        <p:spPr>
          <a:xfrm>
            <a:off x="3422142" y="2870072"/>
            <a:ext cx="82296" cy="8915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5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1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3525012" y="3048380"/>
            <a:ext cx="82296" cy="8915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5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N</a:t>
            </a:r>
          </a:p>
        </p:txBody>
      </p:sp>
      <p:cxnSp>
        <p:nvCxnSpPr>
          <p:cNvPr id="156" name="Connector 155"/>
          <p:cNvCxnSpPr/>
          <p:nvPr/>
        </p:nvCxnSpPr>
        <p:spPr>
          <a:xfrm>
            <a:off x="7955280" y="1193292"/>
            <a:ext cx="0" cy="418338"/>
          </a:xfrm>
          <a:prstGeom prst="line">
            <a:avLst/>
          </a:prstGeom>
          <a:ln w="17780">
            <a:solidFill>
              <a:srgbClr val="B85450"/>
            </a:solidFill>
            <a:tailEnd type="triangle" w="med" len="med"/>
          </a:ln>
          <a:effectLst/>
        </p:spPr>
      </p:cxnSp>
      <p:sp>
        <p:nvSpPr>
          <p:cNvPr id="157" name="TextBox 156"/>
          <p:cNvSpPr txBox="1"/>
          <p:nvPr/>
        </p:nvSpPr>
        <p:spPr>
          <a:xfrm>
            <a:off x="7824977" y="1251585"/>
            <a:ext cx="82296" cy="8915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5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1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8003286" y="1464183"/>
            <a:ext cx="82296" cy="8915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5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N</a:t>
            </a:r>
          </a:p>
        </p:txBody>
      </p:sp>
      <p:cxnSp>
        <p:nvCxnSpPr>
          <p:cNvPr id="159" name="Connector 158"/>
          <p:cNvCxnSpPr/>
          <p:nvPr/>
        </p:nvCxnSpPr>
        <p:spPr>
          <a:xfrm>
            <a:off x="7955280" y="2379726"/>
            <a:ext cx="0" cy="260604"/>
          </a:xfrm>
          <a:prstGeom prst="line">
            <a:avLst/>
          </a:prstGeom>
          <a:ln w="17780">
            <a:solidFill>
              <a:srgbClr val="B85450"/>
            </a:solidFill>
            <a:tailEnd type="triangle" w="med" len="med"/>
          </a:ln>
          <a:effectLst/>
        </p:spPr>
      </p:cxnSp>
      <p:sp>
        <p:nvSpPr>
          <p:cNvPr id="160" name="TextBox 159"/>
          <p:cNvSpPr txBox="1"/>
          <p:nvPr/>
        </p:nvSpPr>
        <p:spPr>
          <a:xfrm>
            <a:off x="7824977" y="2438019"/>
            <a:ext cx="82296" cy="8915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5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1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8003286" y="2492883"/>
            <a:ext cx="82296" cy="8915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5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N</a:t>
            </a:r>
          </a:p>
        </p:txBody>
      </p:sp>
      <p:cxnSp>
        <p:nvCxnSpPr>
          <p:cNvPr id="162" name="Connector 161"/>
          <p:cNvCxnSpPr/>
          <p:nvPr/>
        </p:nvCxnSpPr>
        <p:spPr>
          <a:xfrm>
            <a:off x="1851660" y="4217670"/>
            <a:ext cx="411480" cy="0"/>
          </a:xfrm>
          <a:prstGeom prst="line">
            <a:avLst/>
          </a:prstGeom>
          <a:ln w="17780">
            <a:solidFill>
              <a:srgbClr val="D6A22A"/>
            </a:solidFill>
            <a:tailEnd type="triangle" w="med" len="med"/>
          </a:ln>
          <a:effectLst/>
        </p:spPr>
      </p:cxnSp>
      <p:sp>
        <p:nvSpPr>
          <p:cNvPr id="163" name="TextBox 162"/>
          <p:cNvSpPr txBox="1"/>
          <p:nvPr/>
        </p:nvSpPr>
        <p:spPr>
          <a:xfrm>
            <a:off x="1913382" y="4262247"/>
            <a:ext cx="82296" cy="8915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5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1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2119122" y="4083939"/>
            <a:ext cx="82296" cy="8915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5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N</a:t>
            </a:r>
          </a:p>
        </p:txBody>
      </p:sp>
      <p:cxnSp>
        <p:nvCxnSpPr>
          <p:cNvPr id="165" name="Connector 164"/>
          <p:cNvCxnSpPr/>
          <p:nvPr/>
        </p:nvCxnSpPr>
        <p:spPr>
          <a:xfrm>
            <a:off x="939546" y="4512564"/>
            <a:ext cx="0" cy="150876"/>
          </a:xfrm>
          <a:prstGeom prst="line">
            <a:avLst/>
          </a:prstGeom>
          <a:ln w="17780">
            <a:solidFill>
              <a:srgbClr val="D6A22A"/>
            </a:solidFill>
          </a:ln>
          <a:effectLst/>
        </p:spPr>
      </p:cxnSp>
      <p:cxnSp>
        <p:nvCxnSpPr>
          <p:cNvPr id="166" name="Connector 165"/>
          <p:cNvCxnSpPr/>
          <p:nvPr/>
        </p:nvCxnSpPr>
        <p:spPr>
          <a:xfrm>
            <a:off x="939546" y="4663440"/>
            <a:ext cx="3737610" cy="0"/>
          </a:xfrm>
          <a:prstGeom prst="line">
            <a:avLst/>
          </a:prstGeom>
          <a:ln w="17780">
            <a:solidFill>
              <a:srgbClr val="D6A22A"/>
            </a:solidFill>
          </a:ln>
          <a:effectLst/>
        </p:spPr>
      </p:cxnSp>
      <p:cxnSp>
        <p:nvCxnSpPr>
          <p:cNvPr id="167" name="Connector 166"/>
          <p:cNvCxnSpPr/>
          <p:nvPr/>
        </p:nvCxnSpPr>
        <p:spPr>
          <a:xfrm flipV="1">
            <a:off x="4677156" y="4457700"/>
            <a:ext cx="0" cy="205740"/>
          </a:xfrm>
          <a:prstGeom prst="line">
            <a:avLst/>
          </a:prstGeom>
          <a:ln w="17780">
            <a:solidFill>
              <a:srgbClr val="D6A22A"/>
            </a:solidFill>
            <a:tailEnd type="triangle" w="med" len="med"/>
          </a:ln>
          <a:effectLst/>
        </p:spPr>
      </p:cxnSp>
      <p:sp>
        <p:nvSpPr>
          <p:cNvPr id="168" name="TextBox 167"/>
          <p:cNvSpPr txBox="1"/>
          <p:nvPr/>
        </p:nvSpPr>
        <p:spPr>
          <a:xfrm>
            <a:off x="809244" y="4570857"/>
            <a:ext cx="82296" cy="8915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5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1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546854" y="4515993"/>
            <a:ext cx="82296" cy="8915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5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N</a:t>
            </a:r>
          </a:p>
        </p:txBody>
      </p:sp>
      <p:cxnSp>
        <p:nvCxnSpPr>
          <p:cNvPr id="170" name="Connector 169"/>
          <p:cNvCxnSpPr/>
          <p:nvPr/>
        </p:nvCxnSpPr>
        <p:spPr>
          <a:xfrm>
            <a:off x="1508760" y="4512564"/>
            <a:ext cx="0" cy="274320"/>
          </a:xfrm>
          <a:prstGeom prst="line">
            <a:avLst/>
          </a:prstGeom>
          <a:ln w="17780">
            <a:solidFill>
              <a:srgbClr val="D6A22A"/>
            </a:solidFill>
          </a:ln>
          <a:effectLst/>
        </p:spPr>
      </p:cxnSp>
      <p:cxnSp>
        <p:nvCxnSpPr>
          <p:cNvPr id="171" name="Connector 170"/>
          <p:cNvCxnSpPr/>
          <p:nvPr/>
        </p:nvCxnSpPr>
        <p:spPr>
          <a:xfrm>
            <a:off x="1508760" y="4786884"/>
            <a:ext cx="4903470" cy="0"/>
          </a:xfrm>
          <a:prstGeom prst="line">
            <a:avLst/>
          </a:prstGeom>
          <a:ln w="17780">
            <a:solidFill>
              <a:srgbClr val="D6A22A"/>
            </a:solidFill>
          </a:ln>
          <a:effectLst/>
        </p:spPr>
      </p:cxnSp>
      <p:cxnSp>
        <p:nvCxnSpPr>
          <p:cNvPr id="172" name="Connector 171"/>
          <p:cNvCxnSpPr/>
          <p:nvPr/>
        </p:nvCxnSpPr>
        <p:spPr>
          <a:xfrm flipV="1">
            <a:off x="6412230" y="4457700"/>
            <a:ext cx="0" cy="329184"/>
          </a:xfrm>
          <a:prstGeom prst="line">
            <a:avLst/>
          </a:prstGeom>
          <a:ln w="17780">
            <a:solidFill>
              <a:srgbClr val="D6A22A"/>
            </a:solidFill>
            <a:tailEnd type="triangle" w="med" len="med"/>
          </a:ln>
          <a:effectLst/>
        </p:spPr>
      </p:cxnSp>
      <p:sp>
        <p:nvSpPr>
          <p:cNvPr id="173" name="TextBox 172"/>
          <p:cNvSpPr txBox="1"/>
          <p:nvPr/>
        </p:nvSpPr>
        <p:spPr>
          <a:xfrm>
            <a:off x="1378458" y="4570857"/>
            <a:ext cx="82296" cy="8915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5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1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6281927" y="4515993"/>
            <a:ext cx="82296" cy="8915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5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N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7084314" y="1591056"/>
            <a:ext cx="123444" cy="384048"/>
          </a:xfrm>
          <a:prstGeom prst="rect">
            <a:avLst/>
          </a:prstGeom>
          <a:noFill/>
        </p:spPr>
        <p:txBody>
          <a:bodyPr vert="eaVert"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35" b="1" i="0" u="none" strike="noStrike" kern="1200" cap="none" spc="0" normalizeH="0" baseline="0" noProof="0">
                <a:ln>
                  <a:noFill/>
                </a:ln>
                <a:solidFill>
                  <a:srgbClr val="E11D48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到期触发销毁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150876" y="4924044"/>
            <a:ext cx="8846820" cy="219456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77" name="TextBox 176"/>
          <p:cNvSpPr txBox="1"/>
          <p:nvPr/>
        </p:nvSpPr>
        <p:spPr>
          <a:xfrm>
            <a:off x="205740" y="4924044"/>
            <a:ext cx="9601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3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图例</a:t>
            </a:r>
          </a:p>
        </p:txBody>
      </p:sp>
      <p:sp>
        <p:nvSpPr>
          <p:cNvPr id="178" name="Oval 177"/>
          <p:cNvSpPr/>
          <p:nvPr/>
        </p:nvSpPr>
        <p:spPr>
          <a:xfrm>
            <a:off x="548640" y="4985766"/>
            <a:ext cx="96012" cy="96012"/>
          </a:xfrm>
          <a:prstGeom prst="ellipse">
            <a:avLst/>
          </a:prstGeom>
          <a:solidFill>
            <a:srgbClr val="5B82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79" name="TextBox 178"/>
          <p:cNvSpPr txBox="1"/>
          <p:nvPr/>
        </p:nvSpPr>
        <p:spPr>
          <a:xfrm>
            <a:off x="685800" y="4924044"/>
            <a:ext cx="1958645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⑤ 同步与归档（含 ⑥ 附件索引）</a:t>
            </a:r>
          </a:p>
        </p:txBody>
      </p:sp>
      <p:sp>
        <p:nvSpPr>
          <p:cNvPr id="180" name="Oval 179"/>
          <p:cNvSpPr/>
          <p:nvPr/>
        </p:nvSpPr>
        <p:spPr>
          <a:xfrm>
            <a:off x="2630729" y="4985766"/>
            <a:ext cx="96012" cy="96012"/>
          </a:xfrm>
          <a:prstGeom prst="ellipse">
            <a:avLst/>
          </a:prstGeom>
          <a:solidFill>
            <a:srgbClr val="B85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81" name="TextBox 180"/>
          <p:cNvSpPr txBox="1"/>
          <p:nvPr/>
        </p:nvSpPr>
        <p:spPr>
          <a:xfrm>
            <a:off x="2767889" y="4924044"/>
            <a:ext cx="40325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⑧ 生命周期与保留 · ⑨ 销毁审批</a:t>
            </a:r>
          </a:p>
        </p:txBody>
      </p:sp>
      <p:sp>
        <p:nvSpPr>
          <p:cNvPr id="182" name="Oval 181"/>
          <p:cNvSpPr/>
          <p:nvPr/>
        </p:nvSpPr>
        <p:spPr>
          <a:xfrm>
            <a:off x="3157423" y="4985766"/>
            <a:ext cx="96012" cy="96012"/>
          </a:xfrm>
          <a:prstGeom prst="ellipse">
            <a:avLst/>
          </a:prstGeom>
          <a:solidFill>
            <a:srgbClr val="D6A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83" name="TextBox 182"/>
          <p:cNvSpPr txBox="1"/>
          <p:nvPr/>
        </p:nvSpPr>
        <p:spPr>
          <a:xfrm>
            <a:off x="3294583" y="4924044"/>
            <a:ext cx="1958645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⑦ 动态查询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6892290" y="4924044"/>
            <a:ext cx="20574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65" b="0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1—N 连线：母端 1 / 子端 N　</a:t>
            </a:r>
          </a:p>
          <a:p>
            <a:pPr marL="0" marR="0" lvl="0" indent="0" algn="r" defTabSz="6858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65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Georgia"/>
                <a:ea typeface="微软雅黑"/>
                <a:cs typeface="+mn-cs"/>
              </a:rPr>
              <a:t>（虚线卡=跨页引用）</a:t>
            </a: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1C2245E8-80AA-A28C-52FF-ED84F65D6D14}"/>
              </a:ext>
            </a:extLst>
          </p:cNvPr>
          <p:cNvSpPr/>
          <p:nvPr/>
        </p:nvSpPr>
        <p:spPr>
          <a:xfrm>
            <a:off x="8115300" y="0"/>
            <a:ext cx="1028700" cy="219729"/>
          </a:xfrm>
          <a:prstGeom prst="rect">
            <a:avLst/>
          </a:prstGeom>
          <a:solidFill>
            <a:srgbClr val="009CDE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Appendix</a:t>
            </a:r>
            <a:endParaRPr kumimoji="0" lang="zh-CN" altLang="en-US" sz="11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48000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50876" y="116586"/>
            <a:ext cx="37719" cy="274320"/>
          </a:xfrm>
          <a:prstGeom prst="roundRect">
            <a:avLst>
              <a:gd name="adj" fmla="val 49090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60604" y="89154"/>
            <a:ext cx="6172200" cy="2331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88" b="1" i="0" u="none" strike="noStrike" kern="1200" cap="none" spc="0" normalizeH="0" baseline="0" noProof="0" err="1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应用架构图（湖仓一体</a:t>
            </a:r>
            <a:r>
              <a:rPr kumimoji="0" sz="1388" b="1" i="0" u="none" strike="noStrike" kern="1200" cap="none" spc="0" normalizeH="0" baseline="0" noProof="0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· Databricks SQL Serverless 读）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50876" y="425196"/>
            <a:ext cx="8846820" cy="548640"/>
          </a:xfrm>
          <a:prstGeom prst="roundRect">
            <a:avLst>
              <a:gd name="adj" fmla="val 9756"/>
            </a:avLst>
          </a:prstGeom>
          <a:solidFill>
            <a:schemeClr val="bg1"/>
          </a:solidFill>
          <a:ln w="1524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4320" y="473202"/>
            <a:ext cx="1371600" cy="11658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38" b="1" i="0" u="none" strike="noStrike" kern="1200" cap="none" spc="0" normalizeH="0" baseline="0" noProof="0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01 </a:t>
            </a:r>
            <a:r>
              <a:rPr kumimoji="0" sz="638" b="1" i="0" u="none" strike="noStrike" kern="1200" cap="none" spc="0" normalizeH="0" baseline="0" noProof="0" err="1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访问入口</a:t>
            </a:r>
            <a:endParaRPr kumimoji="0" sz="638" b="1" i="0" u="none" strike="noStrike" kern="1200" cap="none" spc="0" normalizeH="0" baseline="0" noProof="0">
              <a:ln>
                <a:noFill/>
              </a:ln>
              <a:solidFill>
                <a:srgbClr val="009CDE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ACB7179E-769C-F5A7-F3C3-4F9AFFF6FC7D}"/>
              </a:ext>
            </a:extLst>
          </p:cNvPr>
          <p:cNvGrpSpPr/>
          <p:nvPr/>
        </p:nvGrpSpPr>
        <p:grpSpPr>
          <a:xfrm>
            <a:off x="960120" y="539495"/>
            <a:ext cx="4334256" cy="288036"/>
            <a:chOff x="1310640" y="711708"/>
            <a:chExt cx="5779008" cy="384048"/>
          </a:xfrm>
        </p:grpSpPr>
        <p:sp>
          <p:nvSpPr>
            <p:cNvPr id="6" name="Rounded Rectangle 5"/>
            <p:cNvSpPr/>
            <p:nvPr/>
          </p:nvSpPr>
          <p:spPr>
            <a:xfrm>
              <a:off x="1310640" y="711708"/>
              <a:ext cx="1828800" cy="384048"/>
            </a:xfrm>
            <a:prstGeom prst="roundRect">
              <a:avLst>
                <a:gd name="adj" fmla="val 11904"/>
              </a:avLst>
            </a:prstGeom>
            <a:solidFill>
              <a:srgbClr val="FFFFFF"/>
            </a:solidFill>
            <a:ln w="12700">
              <a:solidFill>
                <a:schemeClr val="tx2">
                  <a:lumMod val="20000"/>
                  <a:lumOff val="80000"/>
                </a:schemeClr>
              </a:solidFill>
            </a:ln>
            <a:effectLst>
              <a:outerShdw blurRad="55000" dist="22000" dir="5400000" rotWithShape="0">
                <a:srgbClr val="0F172A">
                  <a:alpha val="12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338072" y="711708"/>
              <a:ext cx="1773936" cy="38404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600" b="0" i="0" u="none" strike="noStrike" kern="1200" cap="none" spc="0" normalizeH="0" baseline="0" noProof="0" err="1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Georgia"/>
                  <a:ea typeface="Microsoft YaHei"/>
                  <a:cs typeface="+mn-cs"/>
                </a:rPr>
                <a:t>业务查询员</a:t>
              </a:r>
              <a:endParaRPr kumimoji="0" sz="600" b="0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endParaRPr>
            </a:p>
            <a:p>
              <a:pPr marL="0" marR="0" lvl="0" indent="0" algn="ctr" defTabSz="685800" rtl="0" eaLnBrk="1" fontAlgn="auto" latinLnBrk="0" hangingPunct="1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480" b="0" i="0" u="none" strike="noStrike" kern="1200" cap="none" spc="0" normalizeH="0" baseline="0" noProof="0" err="1">
                  <a:ln>
                    <a:noFill/>
                  </a:ln>
                  <a:solidFill>
                    <a:srgbClr val="64748B"/>
                  </a:solidFill>
                  <a:effectLst/>
                  <a:uLnTx/>
                  <a:uFillTx/>
                  <a:latin typeface="Georgia"/>
                  <a:ea typeface="Microsoft YaHei"/>
                  <a:cs typeface="+mn-cs"/>
                </a:rPr>
                <a:t>查本系统归档数据</a:t>
              </a:r>
              <a:endParaRPr kumimoji="0" sz="48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endParaRP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3285744" y="711708"/>
              <a:ext cx="1828800" cy="384048"/>
            </a:xfrm>
            <a:prstGeom prst="roundRect">
              <a:avLst>
                <a:gd name="adj" fmla="val 11904"/>
              </a:avLst>
            </a:prstGeom>
            <a:solidFill>
              <a:srgbClr val="FFFFFF"/>
            </a:solidFill>
            <a:ln w="12700">
              <a:solidFill>
                <a:schemeClr val="tx2">
                  <a:lumMod val="20000"/>
                  <a:lumOff val="80000"/>
                </a:schemeClr>
              </a:solidFill>
            </a:ln>
            <a:effectLst>
              <a:outerShdw blurRad="55000" dist="22000" dir="5400000" rotWithShape="0">
                <a:srgbClr val="0F172A">
                  <a:alpha val="12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313176" y="711708"/>
              <a:ext cx="1773936" cy="38404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600" b="0" i="0" u="none" strike="noStrike" kern="1200" cap="none" spc="0" normalizeH="0" baseline="0" noProof="0" err="1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Georgia"/>
                  <a:ea typeface="Microsoft YaHei"/>
                  <a:cs typeface="+mn-cs"/>
                </a:rPr>
                <a:t>审计</a:t>
              </a:r>
              <a:r>
                <a:rPr kumimoji="0" sz="600" b="0" i="0" u="none" strike="noStrike" kern="1200" cap="none" spc="0" normalizeH="0" baseline="0" noProof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Georgia"/>
                  <a:ea typeface="Microsoft YaHei"/>
                  <a:cs typeface="+mn-cs"/>
                </a:rPr>
                <a:t> / </a:t>
              </a:r>
              <a:r>
                <a:rPr kumimoji="0" sz="600" b="0" i="0" u="none" strike="noStrike" kern="1200" cap="none" spc="0" normalizeH="0" baseline="0" noProof="0" err="1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Georgia"/>
                  <a:ea typeface="Microsoft YaHei"/>
                  <a:cs typeface="+mn-cs"/>
                </a:rPr>
                <a:t>合规岗</a:t>
              </a:r>
              <a:endParaRPr kumimoji="0" sz="600" b="0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endParaRPr>
            </a:p>
            <a:p>
              <a:pPr marL="0" marR="0" lvl="0" indent="0" algn="ctr" defTabSz="685800" rtl="0" eaLnBrk="1" fontAlgn="auto" latinLnBrk="0" hangingPunct="1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480" b="0" i="0" u="none" strike="noStrike" kern="1200" cap="none" spc="0" normalizeH="0" baseline="0" noProof="0" err="1">
                  <a:ln>
                    <a:noFill/>
                  </a:ln>
                  <a:solidFill>
                    <a:srgbClr val="64748B"/>
                  </a:solidFill>
                  <a:effectLst/>
                  <a:uLnTx/>
                  <a:uFillTx/>
                  <a:latin typeface="Georgia"/>
                  <a:ea typeface="Microsoft YaHei"/>
                  <a:cs typeface="+mn-cs"/>
                </a:rPr>
                <a:t>跨系统检索与举证</a:t>
              </a:r>
              <a:endParaRPr kumimoji="0" sz="48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endParaRP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5260848" y="711708"/>
              <a:ext cx="1828800" cy="384048"/>
            </a:xfrm>
            <a:prstGeom prst="roundRect">
              <a:avLst>
                <a:gd name="adj" fmla="val 11904"/>
              </a:avLst>
            </a:prstGeom>
            <a:solidFill>
              <a:srgbClr val="FFFFFF"/>
            </a:solidFill>
            <a:ln w="12700">
              <a:solidFill>
                <a:schemeClr val="tx2">
                  <a:lumMod val="20000"/>
                  <a:lumOff val="80000"/>
                </a:schemeClr>
              </a:solidFill>
            </a:ln>
            <a:effectLst>
              <a:outerShdw blurRad="55000" dist="22000" dir="5400000" rotWithShape="0">
                <a:srgbClr val="0F172A">
                  <a:alpha val="12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288280" y="711708"/>
              <a:ext cx="1773936" cy="38404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600" b="0" i="0" u="none" strike="noStrike" kern="1200" cap="none" spc="0" normalizeH="0" baseline="0" noProof="0" err="1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Georgia"/>
                  <a:ea typeface="Microsoft YaHei"/>
                  <a:cs typeface="+mn-cs"/>
                </a:rPr>
                <a:t>平台运维</a:t>
              </a:r>
              <a:endParaRPr kumimoji="0" sz="600" b="0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endParaRPr>
            </a:p>
            <a:p>
              <a:pPr marL="0" marR="0" lvl="0" indent="0" algn="ctr" defTabSz="685800" rtl="0" eaLnBrk="1" fontAlgn="auto" latinLnBrk="0" hangingPunct="1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480" b="0" i="0" u="none" strike="noStrike" kern="1200" cap="none" spc="0" normalizeH="0" baseline="0" noProof="0" err="1">
                  <a:ln>
                    <a:noFill/>
                  </a:ln>
                  <a:solidFill>
                    <a:srgbClr val="64748B"/>
                  </a:solidFill>
                  <a:effectLst/>
                  <a:uLnTx/>
                  <a:uFillTx/>
                  <a:latin typeface="Georgia"/>
                  <a:ea typeface="Microsoft YaHei"/>
                  <a:cs typeface="+mn-cs"/>
                </a:rPr>
                <a:t>监控作业与销毁</a:t>
              </a:r>
              <a:endParaRPr kumimoji="0" sz="48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endParaRPr>
            </a:p>
          </p:txBody>
        </p:sp>
      </p:grpSp>
      <p:sp>
        <p:nvSpPr>
          <p:cNvPr id="18" name="Rounded Rectangle 17"/>
          <p:cNvSpPr/>
          <p:nvPr/>
        </p:nvSpPr>
        <p:spPr>
          <a:xfrm>
            <a:off x="7159752" y="565785"/>
            <a:ext cx="1659636" cy="315468"/>
          </a:xfrm>
          <a:prstGeom prst="roundRect">
            <a:avLst>
              <a:gd name="adj" fmla="val 10869"/>
            </a:avLst>
          </a:prstGeom>
          <a:solidFill>
            <a:schemeClr val="bg1"/>
          </a:solidFill>
          <a:ln w="15240">
            <a:solidFill>
              <a:schemeClr val="tx2">
                <a:lumMod val="40000"/>
                <a:lumOff val="60000"/>
              </a:schemeClr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180326" y="563498"/>
            <a:ext cx="1618488" cy="3154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14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Microsoft Entra ID</a:t>
            </a:r>
          </a:p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SSO / </a:t>
            </a:r>
            <a:r>
              <a:rPr kumimoji="0" lang="en-US" sz="48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LDAPS</a:t>
            </a:r>
            <a:endParaRPr kumimoji="0" sz="488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692140" y="699516"/>
            <a:ext cx="144018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10" b="0" i="0" u="none" strike="noStrike" kern="1200" cap="none" spc="0" normalizeH="0" baseline="0" noProof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统一身份</a:t>
            </a:r>
            <a:r>
              <a:rPr kumimoji="0" sz="51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· </a:t>
            </a:r>
            <a:r>
              <a:rPr kumimoji="0" sz="510" b="0" i="0" u="none" strike="noStrike" kern="1200" cap="none" spc="0" normalizeH="0" baseline="0" noProof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单点登录</a:t>
            </a:r>
            <a:r>
              <a:rPr kumimoji="0" sz="51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→</a:t>
            </a:r>
          </a:p>
        </p:txBody>
      </p:sp>
      <p:cxnSp>
        <p:nvCxnSpPr>
          <p:cNvPr id="21" name="Connector 20"/>
          <p:cNvCxnSpPr>
            <a:cxnSpLocks/>
          </p:cNvCxnSpPr>
          <p:nvPr/>
        </p:nvCxnSpPr>
        <p:spPr>
          <a:xfrm>
            <a:off x="2983229" y="987552"/>
            <a:ext cx="0" cy="130301"/>
          </a:xfrm>
          <a:prstGeom prst="line">
            <a:avLst/>
          </a:prstGeom>
          <a:ln w="25400">
            <a:solidFill>
              <a:schemeClr val="tx2">
                <a:lumMod val="40000"/>
                <a:lumOff val="60000"/>
              </a:schemeClr>
            </a:solidFill>
            <a:tailEnd type="triangle" w="med" len="med"/>
          </a:ln>
          <a:effectLst/>
        </p:spPr>
      </p:cxnSp>
      <p:sp>
        <p:nvSpPr>
          <p:cNvPr id="22" name="TextBox 21"/>
          <p:cNvSpPr txBox="1"/>
          <p:nvPr/>
        </p:nvSpPr>
        <p:spPr>
          <a:xfrm>
            <a:off x="3054096" y="1002411"/>
            <a:ext cx="822960" cy="7543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3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HTTPS 443 · SSO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50876" y="1117853"/>
            <a:ext cx="8846820" cy="665227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1524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74320" y="1117854"/>
            <a:ext cx="2057400" cy="11658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38" b="1" i="0" u="none" strike="noStrike" kern="1200" cap="none" spc="0" normalizeH="0" baseline="0" noProof="0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02 </a:t>
            </a:r>
            <a:r>
              <a:rPr kumimoji="0" sz="638" b="1" i="0" u="none" strike="noStrike" kern="1200" cap="none" spc="0" normalizeH="0" baseline="0" noProof="0" err="1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自研应用层（AKS</a:t>
            </a:r>
            <a:r>
              <a:rPr kumimoji="0" sz="638" b="1" i="0" u="none" strike="noStrike" kern="1200" cap="none" spc="0" normalizeH="0" baseline="0" noProof="0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1275588"/>
            <a:ext cx="2016252" cy="425196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7780">
            <a:solidFill>
              <a:schemeClr val="tx2">
                <a:lumMod val="40000"/>
                <a:lumOff val="60000"/>
              </a:schemeClr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94894" y="1275588"/>
            <a:ext cx="1975104" cy="4251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14" b="0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React </a:t>
            </a:r>
            <a:r>
              <a:rPr kumimoji="0" sz="614" b="0" i="0" u="none" strike="noStrike" kern="1200" cap="none" spc="0" normalizeH="0" baseline="0" noProof="0" err="1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配置化查询平台</a:t>
            </a:r>
            <a:endParaRPr kumimoji="0" sz="614" b="0" i="0" u="none" strike="noStrike" kern="1200" cap="none" spc="0" normalizeH="0" baseline="0" noProof="0">
              <a:ln>
                <a:noFill/>
              </a:ln>
              <a:solidFill>
                <a:srgbClr val="0F172A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JSON Schema </a:t>
            </a:r>
            <a:r>
              <a:rPr kumimoji="0" sz="480" b="0" i="0" u="none" strike="noStrike" kern="1200" cap="none" spc="0" normalizeH="0" baseline="0" noProof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渲染查询表单</a:t>
            </a: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· </a:t>
            </a:r>
            <a:r>
              <a:rPr kumimoji="0" sz="480" b="0" i="0" u="none" strike="noStrike" kern="1200" cap="none" spc="0" normalizeH="0" baseline="0" noProof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表格</a:t>
            </a: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/ </a:t>
            </a:r>
            <a:r>
              <a:rPr kumimoji="0" sz="480" b="0" i="0" u="none" strike="noStrike" kern="1200" cap="none" spc="0" normalizeH="0" baseline="0" noProof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明细</a:t>
            </a: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/ </a:t>
            </a:r>
            <a:r>
              <a:rPr kumimoji="0" sz="480" b="0" i="0" u="none" strike="noStrike" kern="1200" cap="none" spc="0" normalizeH="0" baseline="0" noProof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附件预览</a:t>
            </a: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/ </a:t>
            </a:r>
            <a:r>
              <a:rPr kumimoji="0" sz="480" b="0" i="0" u="none" strike="noStrike" kern="1200" cap="none" spc="0" normalizeH="0" baseline="0" noProof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导出</a:t>
            </a:r>
            <a:endParaRPr kumimoji="0" sz="480" b="0" i="0" u="none" strike="noStrike" kern="1200" cap="none" spc="0" normalizeH="0" baseline="0" noProof="0">
              <a:ln>
                <a:noFill/>
              </a:ln>
              <a:solidFill>
                <a:srgbClr val="64748B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2667762" y="1275588"/>
            <a:ext cx="3963924" cy="425196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7780">
            <a:solidFill>
              <a:schemeClr val="tx2">
                <a:lumMod val="40000"/>
                <a:lumOff val="60000"/>
              </a:schemeClr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708910" y="1275588"/>
            <a:ext cx="3881628" cy="4251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14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.NET 10 </a:t>
            </a:r>
            <a:r>
              <a:rPr kumimoji="0" sz="614" b="1" i="0" u="none" strike="noStrike" kern="1200" cap="none" spc="0" normalizeH="0" baseline="0" noProof="0" err="1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后端服务组</a:t>
            </a:r>
            <a:endParaRPr kumimoji="0" sz="614" b="1" i="0" u="none" strike="noStrike" kern="1200" cap="none" spc="0" normalizeH="0" baseline="0" noProof="0">
              <a:ln>
                <a:noFill/>
              </a:ln>
              <a:solidFill>
                <a:srgbClr val="0F172A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95" b="0" i="0" u="none" strike="noStrike" kern="1200" cap="none" spc="0" normalizeH="0" baseline="0" noProof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元数据</a:t>
            </a:r>
            <a:r>
              <a:rPr kumimoji="0" sz="495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· </a:t>
            </a:r>
            <a:r>
              <a:rPr kumimoji="0" sz="495" b="0" i="0" u="none" strike="noStrike" kern="1200" cap="none" spc="0" normalizeH="0" baseline="0" noProof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查询代理</a:t>
            </a:r>
            <a:r>
              <a:rPr kumimoji="0" sz="495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· </a:t>
            </a:r>
            <a:r>
              <a:rPr kumimoji="0" sz="495" b="0" i="0" u="none" strike="noStrike" kern="1200" cap="none" spc="0" normalizeH="0" baseline="0" noProof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权限校验</a:t>
            </a:r>
            <a:r>
              <a:rPr kumimoji="0" sz="495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· </a:t>
            </a:r>
            <a:r>
              <a:rPr kumimoji="0" sz="495" b="0" i="0" u="none" strike="noStrike" kern="1200" cap="none" spc="0" normalizeH="0" baseline="0" noProof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附件代理</a:t>
            </a:r>
            <a:r>
              <a:rPr kumimoji="0" sz="495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· </a:t>
            </a:r>
            <a:r>
              <a:rPr kumimoji="0" sz="495" b="0" i="0" u="none" strike="noStrike" kern="1200" cap="none" spc="0" normalizeH="0" baseline="0" noProof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审计上报</a:t>
            </a:r>
            <a:r>
              <a:rPr kumimoji="0" sz="495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· </a:t>
            </a:r>
            <a:r>
              <a:rPr kumimoji="0" sz="495" b="0" i="0" u="none" strike="noStrike" kern="1200" cap="none" spc="0" normalizeH="0" baseline="0" noProof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销毁调度</a:t>
            </a:r>
            <a:endParaRPr kumimoji="0" sz="495" b="0" i="0" u="none" strike="noStrike" kern="1200" cap="none" spc="0" normalizeH="0" baseline="0" noProof="0">
              <a:ln>
                <a:noFill/>
              </a:ln>
              <a:solidFill>
                <a:srgbClr val="64748B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95" b="0" i="0" u="none" strike="noStrike" kern="1200" cap="none" spc="0" normalizeH="0" baseline="0" noProof="0" err="1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后端二次鉴权</a:t>
            </a:r>
            <a:r>
              <a:rPr kumimoji="0" sz="495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· </a:t>
            </a:r>
            <a:r>
              <a:rPr kumimoji="0" sz="495" b="0" i="0" u="none" strike="noStrike" kern="1200" cap="none" spc="0" normalizeH="0" baseline="0" noProof="0" err="1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参数化</a:t>
            </a:r>
            <a:r>
              <a:rPr kumimoji="0" sz="495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SQL · </a:t>
            </a:r>
            <a:r>
              <a:rPr kumimoji="0" sz="495" b="0" i="0" u="none" strike="noStrike" kern="1200" cap="none" spc="0" normalizeH="0" baseline="0" noProof="0" err="1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私有端点访问下游</a:t>
            </a:r>
            <a:endParaRPr kumimoji="0" sz="495" b="0" i="0" u="none" strike="noStrike" kern="1200" cap="none" spc="0" normalizeH="0" baseline="0" noProof="0">
              <a:ln>
                <a:noFill/>
              </a:ln>
              <a:solidFill>
                <a:srgbClr val="94A3B8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2331720" y="1488186"/>
            <a:ext cx="294894" cy="0"/>
          </a:xfrm>
          <a:prstGeom prst="line">
            <a:avLst/>
          </a:prstGeom>
          <a:ln w="22860">
            <a:solidFill>
              <a:srgbClr val="0891B2"/>
            </a:solidFill>
            <a:tailEnd type="triangle" w="med" len="med"/>
          </a:ln>
          <a:effectLst/>
        </p:spPr>
      </p:cxnSp>
      <p:sp>
        <p:nvSpPr>
          <p:cNvPr id="30" name="Rounded Rectangle 29"/>
          <p:cNvSpPr/>
          <p:nvPr/>
        </p:nvSpPr>
        <p:spPr>
          <a:xfrm>
            <a:off x="7008876" y="1275588"/>
            <a:ext cx="1810512" cy="425196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7780">
            <a:solidFill>
              <a:schemeClr val="tx2">
                <a:lumMod val="40000"/>
                <a:lumOff val="60000"/>
              </a:schemeClr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029450" y="1275588"/>
            <a:ext cx="1769364" cy="4251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14" b="0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Azure SQL </a:t>
            </a:r>
            <a:r>
              <a:rPr kumimoji="0" sz="614" b="0" i="0" u="none" strike="noStrike" kern="1200" cap="none" spc="0" normalizeH="0" baseline="0" noProof="0" err="1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元数据库</a:t>
            </a:r>
            <a:endParaRPr kumimoji="0" sz="614" b="0" i="0" u="none" strike="noStrike" kern="1200" cap="none" spc="0" normalizeH="0" baseline="0" noProof="0">
              <a:ln>
                <a:noFill/>
              </a:ln>
              <a:solidFill>
                <a:srgbClr val="0F172A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系统台账</a:t>
            </a: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/ </a:t>
            </a:r>
            <a:r>
              <a:rPr kumimoji="0" sz="480" b="0" i="0" u="none" strike="noStrike" kern="1200" cap="none" spc="0" normalizeH="0" baseline="0" noProof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表清单</a:t>
            </a: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/ </a:t>
            </a:r>
            <a:r>
              <a:rPr kumimoji="0" sz="480" b="0" i="0" u="none" strike="noStrike" kern="1200" cap="none" spc="0" normalizeH="0" baseline="0" noProof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保留期</a:t>
            </a: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/ </a:t>
            </a:r>
            <a:r>
              <a:rPr kumimoji="0" sz="480" b="0" i="0" u="none" strike="noStrike" kern="1200" cap="none" spc="0" normalizeH="0" baseline="0" noProof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销毁策略</a:t>
            </a: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/ </a:t>
            </a:r>
            <a:r>
              <a:rPr kumimoji="0" sz="480" b="0" i="0" u="none" strike="noStrike" kern="1200" cap="none" spc="0" normalizeH="0" baseline="0" noProof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审计索引</a:t>
            </a:r>
            <a:endParaRPr kumimoji="0" sz="480" b="0" i="0" u="none" strike="noStrike" kern="1200" cap="none" spc="0" normalizeH="0" baseline="0" noProof="0">
              <a:ln>
                <a:noFill/>
              </a:ln>
              <a:solidFill>
                <a:srgbClr val="64748B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6672834" y="1488186"/>
            <a:ext cx="294894" cy="0"/>
          </a:xfrm>
          <a:prstGeom prst="line">
            <a:avLst/>
          </a:prstGeom>
          <a:ln w="22860">
            <a:solidFill>
              <a:srgbClr val="0891B2"/>
            </a:solidFill>
            <a:tailEnd type="triangle" w="med" len="med"/>
          </a:ln>
          <a:effectLst/>
        </p:spPr>
      </p:cxnSp>
      <p:sp>
        <p:nvSpPr>
          <p:cNvPr id="33" name="TextBox 32"/>
          <p:cNvSpPr txBox="1"/>
          <p:nvPr/>
        </p:nvSpPr>
        <p:spPr>
          <a:xfrm>
            <a:off x="6268212" y="1371600"/>
            <a:ext cx="1097280" cy="960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0891B2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读写配置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50876" y="1879092"/>
            <a:ext cx="8846820" cy="1618488"/>
          </a:xfrm>
          <a:prstGeom prst="roundRect">
            <a:avLst>
              <a:gd name="adj" fmla="val 3305"/>
            </a:avLst>
          </a:prstGeom>
          <a:solidFill>
            <a:srgbClr val="FFFFFF"/>
          </a:solidFill>
          <a:ln w="1524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74320" y="1927098"/>
            <a:ext cx="2331720" cy="11658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38" b="1" i="0" u="none" strike="noStrike" kern="1200" cap="none" spc="0" normalizeH="0" baseline="0" noProof="0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03 </a:t>
            </a:r>
            <a:r>
              <a:rPr kumimoji="0" sz="638" b="1" i="0" u="none" strike="noStrike" kern="1200" cap="none" spc="0" normalizeH="0" baseline="0" noProof="0" err="1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核心链路（写入</a:t>
            </a:r>
            <a:r>
              <a:rPr kumimoji="0" sz="638" b="1" i="0" u="none" strike="noStrike" kern="1200" cap="none" spc="0" normalizeH="0" baseline="0" noProof="0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/ </a:t>
            </a:r>
            <a:r>
              <a:rPr kumimoji="0" sz="638" b="1" i="0" u="none" strike="noStrike" kern="1200" cap="none" spc="0" normalizeH="0" baseline="0" noProof="0" err="1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查询</a:t>
            </a:r>
            <a:r>
              <a:rPr kumimoji="0" sz="638" b="1" i="0" u="none" strike="noStrike" kern="1200" cap="none" spc="0" normalizeH="0" baseline="0" noProof="0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/ </a:t>
            </a:r>
            <a:r>
              <a:rPr kumimoji="0" sz="638" b="1" i="0" u="none" strike="noStrike" kern="1200" cap="none" spc="0" normalizeH="0" baseline="0" noProof="0" err="1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附件</a:t>
            </a:r>
            <a:r>
              <a:rPr kumimoji="0" sz="638" b="1" i="0" u="none" strike="noStrike" kern="1200" cap="none" spc="0" normalizeH="0" baseline="0" noProof="0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1" y="2071116"/>
            <a:ext cx="2756915" cy="1330452"/>
          </a:xfrm>
          <a:prstGeom prst="roundRect">
            <a:avLst>
              <a:gd name="adj" fmla="val 4123"/>
            </a:avLst>
          </a:prstGeom>
          <a:solidFill>
            <a:srgbClr val="F0FDF4"/>
          </a:solidFill>
          <a:ln w="15240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84048" y="2125980"/>
            <a:ext cx="1645920" cy="960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105" normalizeH="0" baseline="0" noProof="0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WRITE PATH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" y="2235708"/>
            <a:ext cx="253746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89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归档写入 / 到期销毁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70332" y="2441448"/>
            <a:ext cx="1179576" cy="37719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5240">
            <a:solidFill>
              <a:srgbClr val="FDBA74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90906" y="2441448"/>
            <a:ext cx="1138428" cy="37719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85" b="0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Azure Data Factory</a:t>
            </a:r>
          </a:p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72" b="0" i="0" u="none" strike="noStrike" kern="1200" cap="none" spc="0" normalizeH="0" baseline="0" noProof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编排调度</a:t>
            </a:r>
            <a:endParaRPr kumimoji="0" sz="472" b="0" i="0" u="none" strike="noStrike" kern="1200" cap="none" spc="0" normalizeH="0" baseline="0" noProof="0">
              <a:ln>
                <a:noFill/>
              </a:ln>
              <a:solidFill>
                <a:srgbClr val="64748B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1769364" y="2441448"/>
            <a:ext cx="1179576" cy="37719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5240">
            <a:solidFill>
              <a:srgbClr val="FDBA74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789938" y="2441448"/>
            <a:ext cx="1138428" cy="37719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85" b="0" i="0" u="none" strike="noStrike" kern="1200" cap="none" spc="0" normalizeH="0" baseline="0" noProof="0" err="1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SeaTunnel</a:t>
            </a:r>
            <a:endParaRPr kumimoji="0" sz="585" b="0" i="0" u="none" strike="noStrike" kern="1200" cap="none" spc="0" normalizeH="0" baseline="0" noProof="0">
              <a:ln>
                <a:noFill/>
              </a:ln>
              <a:solidFill>
                <a:srgbClr val="0F172A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72" b="0" i="0" u="none" strike="noStrike" kern="1200" cap="none" spc="0" normalizeH="0" baseline="0" noProof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结构化抽取</a:t>
            </a:r>
            <a:endParaRPr kumimoji="0" sz="472" b="0" i="0" u="none" strike="noStrike" kern="1200" cap="none" spc="0" normalizeH="0" baseline="0" noProof="0">
              <a:ln>
                <a:noFill/>
              </a:ln>
              <a:solidFill>
                <a:srgbClr val="64748B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</p:txBody>
      </p:sp>
      <p:cxnSp>
        <p:nvCxnSpPr>
          <p:cNvPr id="43" name="Connector 42"/>
          <p:cNvCxnSpPr/>
          <p:nvPr/>
        </p:nvCxnSpPr>
        <p:spPr>
          <a:xfrm>
            <a:off x="1577340" y="2630043"/>
            <a:ext cx="164592" cy="0"/>
          </a:xfrm>
          <a:prstGeom prst="line">
            <a:avLst/>
          </a:prstGeom>
          <a:ln w="25400">
            <a:solidFill>
              <a:srgbClr val="D97706"/>
            </a:solidFill>
            <a:tailEnd type="triangle" w="med" len="med"/>
          </a:ln>
          <a:effectLst/>
        </p:spPr>
      </p:cxnSp>
      <p:sp>
        <p:nvSpPr>
          <p:cNvPr id="44" name="Rounded Rectangle 43"/>
          <p:cNvSpPr/>
          <p:nvPr/>
        </p:nvSpPr>
        <p:spPr>
          <a:xfrm>
            <a:off x="384048" y="2935224"/>
            <a:ext cx="2537460" cy="356616"/>
          </a:xfrm>
          <a:prstGeom prst="roundRect">
            <a:avLst>
              <a:gd name="adj" fmla="val 11538"/>
            </a:avLst>
          </a:prstGeom>
          <a:solidFill>
            <a:srgbClr val="DCFCE7"/>
          </a:solidFill>
          <a:ln w="13970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25196" y="2935224"/>
            <a:ext cx="2455164" cy="3566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10" b="1" i="0" u="none" strike="noStrike" kern="1200" cap="none" spc="0" normalizeH="0" baseline="0" noProof="0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Databricks </a:t>
            </a:r>
            <a:r>
              <a:rPr kumimoji="0" sz="510" b="1" i="0" u="none" strike="noStrike" kern="1200" cap="none" spc="0" normalizeH="0" baseline="0" noProof="0" err="1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Serverless：ETL</a:t>
            </a:r>
            <a:r>
              <a:rPr kumimoji="0" sz="510" b="1" i="0" u="none" strike="noStrike" kern="1200" cap="none" spc="0" normalizeH="0" baseline="0" noProof="0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· Compaction · DROP PARTITION + VACUUM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168397" y="2071116"/>
            <a:ext cx="2756915" cy="1330452"/>
          </a:xfrm>
          <a:prstGeom prst="roundRect">
            <a:avLst>
              <a:gd name="adj" fmla="val 4123"/>
            </a:avLst>
          </a:prstGeom>
          <a:solidFill>
            <a:srgbClr val="F5F3FF"/>
          </a:solidFill>
          <a:ln w="15240">
            <a:solidFill>
              <a:srgbClr val="C4B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278124" y="2125980"/>
            <a:ext cx="1645920" cy="960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105" normalizeH="0" baseline="0" noProof="0">
                <a:ln>
                  <a:noFill/>
                </a:ln>
                <a:solidFill>
                  <a:srgbClr val="6D28D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READ PATH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78124" y="2235708"/>
            <a:ext cx="253746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89" b="1" i="0" u="none" strike="noStrike" kern="1200" cap="none" spc="0" normalizeH="0" baseline="0" noProof="0" err="1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在线查询</a:t>
            </a:r>
            <a:r>
              <a:rPr kumimoji="0" sz="689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/ </a:t>
            </a:r>
            <a:r>
              <a:rPr kumimoji="0" sz="689" b="1" i="0" u="none" strike="noStrike" kern="1200" cap="none" spc="0" normalizeH="0" baseline="0" noProof="0" err="1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跨系统检索</a:t>
            </a:r>
            <a:endParaRPr kumimoji="0" sz="689" b="1" i="0" u="none" strike="noStrike" kern="1200" cap="none" spc="0" normalizeH="0" baseline="0" noProof="0">
              <a:ln>
                <a:noFill/>
              </a:ln>
              <a:solidFill>
                <a:srgbClr val="0F172A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3264408" y="2441448"/>
            <a:ext cx="1179576" cy="37719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5240">
            <a:solidFill>
              <a:srgbClr val="C4B5FD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284982" y="2441448"/>
            <a:ext cx="1138428" cy="37719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85" b="0" i="0" u="none" strike="noStrike" kern="1200" cap="none" spc="0" normalizeH="0" baseline="0" noProof="0" err="1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查询代理</a:t>
            </a:r>
            <a:endParaRPr kumimoji="0" sz="585" b="0" i="0" u="none" strike="noStrike" kern="1200" cap="none" spc="0" normalizeH="0" baseline="0" noProof="0">
              <a:ln>
                <a:noFill/>
              </a:ln>
              <a:solidFill>
                <a:srgbClr val="0F172A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72" b="0" i="0" u="none" strike="noStrike" kern="1200" cap="none" spc="0" normalizeH="0" baseline="0" noProof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限流</a:t>
            </a:r>
            <a:r>
              <a:rPr kumimoji="0" sz="472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/ </a:t>
            </a:r>
            <a:r>
              <a:rPr kumimoji="0" sz="472" b="0" i="0" u="none" strike="noStrike" kern="1200" cap="none" spc="0" normalizeH="0" baseline="0" noProof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超时</a:t>
            </a:r>
            <a:r>
              <a:rPr kumimoji="0" sz="472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/ </a:t>
            </a:r>
            <a:r>
              <a:rPr kumimoji="0" sz="472" b="0" i="0" u="none" strike="noStrike" kern="1200" cap="none" spc="0" normalizeH="0" baseline="0" noProof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审计</a:t>
            </a:r>
            <a:endParaRPr kumimoji="0" sz="472" b="0" i="0" u="none" strike="noStrike" kern="1200" cap="none" spc="0" normalizeH="0" baseline="0" noProof="0">
              <a:ln>
                <a:noFill/>
              </a:ln>
              <a:solidFill>
                <a:srgbClr val="64748B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4663440" y="2441448"/>
            <a:ext cx="1179576" cy="37719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5240">
            <a:solidFill>
              <a:srgbClr val="A78BFA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684014" y="2441448"/>
            <a:ext cx="1138428" cy="37719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85" b="0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Databricks SQL Serverless</a:t>
            </a:r>
          </a:p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72" b="0" i="0" u="none" strike="noStrike" kern="1200" cap="none" spc="0" normalizeH="0" baseline="0" noProof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读侧查询</a:t>
            </a:r>
            <a:r>
              <a:rPr kumimoji="0" sz="472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· </a:t>
            </a:r>
            <a:r>
              <a:rPr kumimoji="0" sz="472" b="0" i="0" u="none" strike="noStrike" kern="1200" cap="none" spc="0" normalizeH="0" baseline="0" noProof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空闲缩</a:t>
            </a:r>
            <a:r>
              <a:rPr kumimoji="0" sz="472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0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4471416" y="2630043"/>
            <a:ext cx="164592" cy="0"/>
          </a:xfrm>
          <a:prstGeom prst="line">
            <a:avLst/>
          </a:prstGeom>
          <a:ln w="25400">
            <a:solidFill>
              <a:srgbClr val="7C3AED"/>
            </a:solidFill>
            <a:tailEnd type="triangle" w="med" len="med"/>
          </a:ln>
          <a:effectLst/>
        </p:spPr>
      </p:cxnSp>
      <p:sp>
        <p:nvSpPr>
          <p:cNvPr id="54" name="Rounded Rectangle 53"/>
          <p:cNvSpPr/>
          <p:nvPr/>
        </p:nvSpPr>
        <p:spPr>
          <a:xfrm>
            <a:off x="3278124" y="2935224"/>
            <a:ext cx="2537460" cy="356616"/>
          </a:xfrm>
          <a:prstGeom prst="roundRect">
            <a:avLst>
              <a:gd name="adj" fmla="val 11538"/>
            </a:avLst>
          </a:prstGeom>
          <a:solidFill>
            <a:srgbClr val="EDE9FE"/>
          </a:solidFill>
          <a:ln w="13970">
            <a:solidFill>
              <a:srgbClr val="C4B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319272" y="2935224"/>
            <a:ext cx="2455164" cy="3566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10" b="1" i="0" u="none" strike="noStrike" kern="1200" cap="none" spc="0" normalizeH="0" baseline="0" noProof="0">
                <a:ln>
                  <a:noFill/>
                </a:ln>
                <a:solidFill>
                  <a:srgbClr val="6D28D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Unity Catalog </a:t>
            </a:r>
            <a:r>
              <a:rPr kumimoji="0" sz="510" b="1" i="0" u="none" strike="noStrike" kern="1200" cap="none" spc="0" normalizeH="0" baseline="0" noProof="0" err="1">
                <a:ln>
                  <a:noFill/>
                </a:ln>
                <a:solidFill>
                  <a:srgbClr val="6D28D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表级授权</a:t>
            </a:r>
            <a:endParaRPr kumimoji="0" sz="510" b="1" i="0" u="none" strike="noStrike" kern="1200" cap="none" spc="0" normalizeH="0" baseline="0" noProof="0">
              <a:ln>
                <a:noFill/>
              </a:ln>
              <a:solidFill>
                <a:srgbClr val="6D28D9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6062473" y="2071116"/>
            <a:ext cx="2756915" cy="1330452"/>
          </a:xfrm>
          <a:prstGeom prst="roundRect">
            <a:avLst>
              <a:gd name="adj" fmla="val 4123"/>
            </a:avLst>
          </a:prstGeom>
          <a:solidFill>
            <a:srgbClr val="FFFBEB"/>
          </a:solidFill>
          <a:ln w="1524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172200" y="2125980"/>
            <a:ext cx="1645920" cy="960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105" normalizeH="0" baseline="0" noProof="0">
                <a:ln>
                  <a:noFill/>
                </a:ln>
                <a:solidFill>
                  <a:srgbClr val="B4530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ATTACHMENT PATH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72200" y="2235708"/>
            <a:ext cx="253746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89" b="1" i="0" u="none" strike="noStrike" kern="1200" cap="none" spc="0" normalizeH="0" baseline="0" noProof="0" err="1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非结构化附件</a:t>
            </a:r>
            <a:r>
              <a:rPr kumimoji="0" sz="689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/ </a:t>
            </a:r>
            <a:r>
              <a:rPr kumimoji="0" sz="689" b="1" i="0" u="none" strike="noStrike" kern="1200" cap="none" spc="0" normalizeH="0" baseline="0" noProof="0" err="1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预览下载</a:t>
            </a:r>
            <a:endParaRPr kumimoji="0" sz="689" b="1" i="0" u="none" strike="noStrike" kern="1200" cap="none" spc="0" normalizeH="0" baseline="0" noProof="0">
              <a:ln>
                <a:noFill/>
              </a:ln>
              <a:solidFill>
                <a:srgbClr val="0F172A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6158484" y="2441448"/>
            <a:ext cx="1179576" cy="37719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5240">
            <a:solidFill>
              <a:srgbClr val="FCD34D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179058" y="2441448"/>
            <a:ext cx="1138428" cy="37719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85" b="0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Storage Mover</a:t>
            </a:r>
          </a:p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72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迁移附件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557516" y="2441448"/>
            <a:ext cx="1179576" cy="37719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5240">
            <a:solidFill>
              <a:srgbClr val="FCD34D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7578090" y="2441448"/>
            <a:ext cx="1138428" cy="37719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85" b="0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附件代理</a:t>
            </a:r>
          </a:p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72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鉴权 / 流式回吐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7365492" y="2630043"/>
            <a:ext cx="164592" cy="0"/>
          </a:xfrm>
          <a:prstGeom prst="line">
            <a:avLst/>
          </a:prstGeom>
          <a:ln w="25400">
            <a:solidFill>
              <a:srgbClr val="D97706"/>
            </a:solidFill>
            <a:tailEnd type="triangle" w="med" len="med"/>
          </a:ln>
          <a:effectLst/>
        </p:spPr>
      </p:cxnSp>
      <p:sp>
        <p:nvSpPr>
          <p:cNvPr id="64" name="Rounded Rectangle 63"/>
          <p:cNvSpPr/>
          <p:nvPr/>
        </p:nvSpPr>
        <p:spPr>
          <a:xfrm>
            <a:off x="6172200" y="2935224"/>
            <a:ext cx="2537460" cy="356616"/>
          </a:xfrm>
          <a:prstGeom prst="roundRect">
            <a:avLst>
              <a:gd name="adj" fmla="val 11538"/>
            </a:avLst>
          </a:prstGeom>
          <a:solidFill>
            <a:srgbClr val="FEF3C7"/>
          </a:solidFill>
          <a:ln w="1397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6213348" y="2935224"/>
            <a:ext cx="2455164" cy="3566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10" b="1" i="0" u="none" strike="noStrike" kern="1200" cap="none" spc="0" normalizeH="0" baseline="0" noProof="0">
                <a:ln>
                  <a:noFill/>
                </a:ln>
                <a:solidFill>
                  <a:srgbClr val="92400E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SHA-256 台账 · 附件索引表 · 后端审计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2880360" y="1700784"/>
            <a:ext cx="0" cy="288036"/>
          </a:xfrm>
          <a:prstGeom prst="line">
            <a:avLst/>
          </a:prstGeom>
          <a:ln w="27940">
            <a:solidFill>
              <a:srgbClr val="059669"/>
            </a:solidFill>
          </a:ln>
          <a:effectLst/>
        </p:spPr>
      </p:cxnSp>
      <p:cxnSp>
        <p:nvCxnSpPr>
          <p:cNvPr id="67" name="Connector 66"/>
          <p:cNvCxnSpPr/>
          <p:nvPr/>
        </p:nvCxnSpPr>
        <p:spPr>
          <a:xfrm flipH="1">
            <a:off x="1652778" y="1988820"/>
            <a:ext cx="1227582" cy="0"/>
          </a:xfrm>
          <a:prstGeom prst="line">
            <a:avLst/>
          </a:prstGeom>
          <a:ln w="27940">
            <a:solidFill>
              <a:srgbClr val="059669"/>
            </a:solidFill>
          </a:ln>
          <a:effectLst/>
        </p:spPr>
      </p:cxnSp>
      <p:cxnSp>
        <p:nvCxnSpPr>
          <p:cNvPr id="68" name="Connector 67"/>
          <p:cNvCxnSpPr/>
          <p:nvPr/>
        </p:nvCxnSpPr>
        <p:spPr>
          <a:xfrm>
            <a:off x="1652778" y="1988820"/>
            <a:ext cx="0" cy="68580"/>
          </a:xfrm>
          <a:prstGeom prst="line">
            <a:avLst/>
          </a:prstGeom>
          <a:ln w="27940">
            <a:solidFill>
              <a:srgbClr val="059669"/>
            </a:solidFill>
            <a:tailEnd type="triangle" w="med" len="med"/>
          </a:ln>
          <a:effectLst/>
        </p:spPr>
      </p:cxnSp>
      <p:sp>
        <p:nvSpPr>
          <p:cNvPr id="69" name="TextBox 68"/>
          <p:cNvSpPr txBox="1"/>
          <p:nvPr/>
        </p:nvSpPr>
        <p:spPr>
          <a:xfrm>
            <a:off x="1796796" y="1872234"/>
            <a:ext cx="1303020" cy="960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480" b="1" i="0" u="none" strike="noStrike" kern="1200" cap="none" spc="0" normalizeH="0" baseline="0" noProof="0">
              <a:ln>
                <a:noFill/>
              </a:ln>
              <a:solidFill>
                <a:srgbClr val="059669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</p:txBody>
      </p:sp>
      <p:cxnSp>
        <p:nvCxnSpPr>
          <p:cNvPr id="70" name="Connector 69"/>
          <p:cNvCxnSpPr/>
          <p:nvPr/>
        </p:nvCxnSpPr>
        <p:spPr>
          <a:xfrm>
            <a:off x="4546854" y="1700784"/>
            <a:ext cx="0" cy="356616"/>
          </a:xfrm>
          <a:prstGeom prst="line">
            <a:avLst/>
          </a:prstGeom>
          <a:ln w="27940">
            <a:solidFill>
              <a:srgbClr val="7C3AED"/>
            </a:solidFill>
            <a:tailEnd type="triangle" w="med" len="med"/>
          </a:ln>
          <a:effectLst/>
        </p:spPr>
      </p:cxnSp>
      <p:sp>
        <p:nvSpPr>
          <p:cNvPr id="71" name="TextBox 70"/>
          <p:cNvSpPr txBox="1"/>
          <p:nvPr/>
        </p:nvSpPr>
        <p:spPr>
          <a:xfrm>
            <a:off x="4622292" y="1824228"/>
            <a:ext cx="891540" cy="960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7C3AED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查询请求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5417820" y="1700784"/>
            <a:ext cx="0" cy="288036"/>
          </a:xfrm>
          <a:prstGeom prst="line">
            <a:avLst/>
          </a:prstGeom>
          <a:ln w="25400">
            <a:solidFill>
              <a:srgbClr val="D97706"/>
            </a:solidFill>
          </a:ln>
          <a:effectLst/>
        </p:spPr>
      </p:cxnSp>
      <p:cxnSp>
        <p:nvCxnSpPr>
          <p:cNvPr id="73" name="Connector 72"/>
          <p:cNvCxnSpPr/>
          <p:nvPr/>
        </p:nvCxnSpPr>
        <p:spPr>
          <a:xfrm>
            <a:off x="5417820" y="1988820"/>
            <a:ext cx="2023110" cy="0"/>
          </a:xfrm>
          <a:prstGeom prst="line">
            <a:avLst/>
          </a:prstGeom>
          <a:ln w="25400">
            <a:solidFill>
              <a:srgbClr val="D97706"/>
            </a:solidFill>
          </a:ln>
          <a:effectLst/>
        </p:spPr>
      </p:cxnSp>
      <p:cxnSp>
        <p:nvCxnSpPr>
          <p:cNvPr id="74" name="Connector 73"/>
          <p:cNvCxnSpPr/>
          <p:nvPr/>
        </p:nvCxnSpPr>
        <p:spPr>
          <a:xfrm>
            <a:off x="7440930" y="1988820"/>
            <a:ext cx="0" cy="68580"/>
          </a:xfrm>
          <a:prstGeom prst="line">
            <a:avLst/>
          </a:prstGeom>
          <a:ln w="25400">
            <a:solidFill>
              <a:srgbClr val="D97706"/>
            </a:solidFill>
            <a:tailEnd type="triangle" w="med" len="med"/>
          </a:ln>
          <a:effectLst/>
        </p:spPr>
      </p:cxnSp>
      <p:sp>
        <p:nvSpPr>
          <p:cNvPr id="75" name="TextBox 74"/>
          <p:cNvSpPr txBox="1"/>
          <p:nvPr/>
        </p:nvSpPr>
        <p:spPr>
          <a:xfrm>
            <a:off x="6103620" y="1872234"/>
            <a:ext cx="1234440" cy="960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 err="1">
                <a:ln>
                  <a:noFill/>
                </a:ln>
                <a:solidFill>
                  <a:srgbClr val="D97706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附件预览</a:t>
            </a: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D97706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/ </a:t>
            </a:r>
            <a:r>
              <a:rPr kumimoji="0" sz="480" b="1" i="0" u="none" strike="noStrike" kern="1200" cap="none" spc="0" normalizeH="0" baseline="0" noProof="0" err="1">
                <a:ln>
                  <a:noFill/>
                </a:ln>
                <a:solidFill>
                  <a:srgbClr val="D97706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下载</a:t>
            </a:r>
            <a:endParaRPr kumimoji="0" sz="480" b="1" i="0" u="none" strike="noStrike" kern="1200" cap="none" spc="0" normalizeH="0" baseline="0" noProof="0">
              <a:ln>
                <a:noFill/>
              </a:ln>
              <a:solidFill>
                <a:srgbClr val="D97706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</p:txBody>
      </p:sp>
      <p:sp>
        <p:nvSpPr>
          <p:cNvPr id="76" name="Rounded Rectangle 75"/>
          <p:cNvSpPr/>
          <p:nvPr/>
        </p:nvSpPr>
        <p:spPr>
          <a:xfrm>
            <a:off x="150876" y="3621024"/>
            <a:ext cx="8846820" cy="562356"/>
          </a:xfrm>
          <a:prstGeom prst="roundRect">
            <a:avLst>
              <a:gd name="adj" fmla="val 9756"/>
            </a:avLst>
          </a:prstGeom>
          <a:solidFill>
            <a:schemeClr val="bg1"/>
          </a:solidFill>
          <a:ln w="1524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274320" y="3669030"/>
            <a:ext cx="2743200" cy="11658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38" b="1" i="0" u="none" strike="noStrike" kern="1200" cap="none" spc="0" normalizeH="0" baseline="0" noProof="0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04 </a:t>
            </a:r>
            <a:r>
              <a:rPr kumimoji="0" sz="638" b="1" i="0" u="none" strike="noStrike" kern="1200" cap="none" spc="0" normalizeH="0" baseline="0" noProof="0" err="1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数据底座与统一治理</a:t>
            </a:r>
            <a:endParaRPr kumimoji="0" sz="638" b="1" i="0" u="none" strike="noStrike" kern="1200" cap="none" spc="0" normalizeH="0" baseline="0" noProof="0">
              <a:ln>
                <a:noFill/>
              </a:ln>
              <a:solidFill>
                <a:srgbClr val="009CDE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</p:txBody>
      </p:sp>
      <p:sp>
        <p:nvSpPr>
          <p:cNvPr id="78" name="Rounded Rectangle 77"/>
          <p:cNvSpPr/>
          <p:nvPr/>
        </p:nvSpPr>
        <p:spPr>
          <a:xfrm>
            <a:off x="274320" y="3813048"/>
            <a:ext cx="2674620" cy="315468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5240">
            <a:solidFill>
              <a:srgbClr val="60A5FA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294894" y="3813048"/>
            <a:ext cx="2633472" cy="3154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0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ADLS Gen2 · Iceberg 湖表</a:t>
            </a:r>
          </a:p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72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RAW / CURATED / LAKE / SERVE · 1:1 原样归档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086100" y="3813048"/>
            <a:ext cx="2468880" cy="315468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5240">
            <a:solidFill>
              <a:srgbClr val="60A5FA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3106674" y="3813048"/>
            <a:ext cx="2427732" cy="3154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0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Unity Catalog</a:t>
            </a:r>
          </a:p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72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表级权限 / 血缘 / 快照回溯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5692141" y="3813048"/>
            <a:ext cx="3127247" cy="315468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5240">
            <a:solidFill>
              <a:srgbClr val="F59E0B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5712714" y="3813048"/>
            <a:ext cx="3086100" cy="3154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0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Azure Blob · 附件账户</a:t>
            </a:r>
          </a:p>
          <a:p>
            <a:pPr marL="0" marR="0" lvl="0" indent="0" algn="ctr" defTabSz="6858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72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Cool / Cold 分层 · WORM 可选 · 与业务表分账户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1652778" y="3401568"/>
            <a:ext cx="0" cy="397764"/>
          </a:xfrm>
          <a:prstGeom prst="line">
            <a:avLst/>
          </a:prstGeom>
          <a:ln w="27940">
            <a:solidFill>
              <a:srgbClr val="059669"/>
            </a:solidFill>
            <a:tailEnd type="triangle" w="med" len="med"/>
          </a:ln>
          <a:effectLst/>
        </p:spPr>
      </p:cxnSp>
      <p:sp>
        <p:nvSpPr>
          <p:cNvPr id="85" name="TextBox 84"/>
          <p:cNvSpPr txBox="1"/>
          <p:nvPr/>
        </p:nvSpPr>
        <p:spPr>
          <a:xfrm>
            <a:off x="1728216" y="3549015"/>
            <a:ext cx="960120" cy="7543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 err="1">
                <a:ln>
                  <a:noFill/>
                </a:ln>
                <a:solidFill>
                  <a:srgbClr val="0596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写入</a:t>
            </a: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0596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 Iceberg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4546854" y="3401568"/>
            <a:ext cx="0" cy="178308"/>
          </a:xfrm>
          <a:prstGeom prst="line">
            <a:avLst/>
          </a:prstGeom>
          <a:ln w="27940">
            <a:solidFill>
              <a:srgbClr val="7C3AED"/>
            </a:solidFill>
          </a:ln>
          <a:effectLst/>
        </p:spPr>
      </p:cxnSp>
      <p:cxnSp>
        <p:nvCxnSpPr>
          <p:cNvPr id="87" name="Connector 86"/>
          <p:cNvCxnSpPr/>
          <p:nvPr/>
        </p:nvCxnSpPr>
        <p:spPr>
          <a:xfrm flipH="1">
            <a:off x="2468880" y="3579876"/>
            <a:ext cx="2077974" cy="0"/>
          </a:xfrm>
          <a:prstGeom prst="line">
            <a:avLst/>
          </a:prstGeom>
          <a:ln w="27940">
            <a:solidFill>
              <a:srgbClr val="7C3AED"/>
            </a:solidFill>
          </a:ln>
          <a:effectLst/>
        </p:spPr>
      </p:cxnSp>
      <p:cxnSp>
        <p:nvCxnSpPr>
          <p:cNvPr id="88" name="Connector 87"/>
          <p:cNvCxnSpPr/>
          <p:nvPr/>
        </p:nvCxnSpPr>
        <p:spPr>
          <a:xfrm>
            <a:off x="2468880" y="3579876"/>
            <a:ext cx="0" cy="219456"/>
          </a:xfrm>
          <a:prstGeom prst="line">
            <a:avLst/>
          </a:prstGeom>
          <a:ln w="27940">
            <a:solidFill>
              <a:srgbClr val="7C3AED"/>
            </a:solidFill>
            <a:tailEnd type="triangle" w="med" len="med"/>
          </a:ln>
          <a:effectLst/>
        </p:spPr>
      </p:cxnSp>
      <p:sp>
        <p:nvSpPr>
          <p:cNvPr id="89" name="TextBox 88"/>
          <p:cNvSpPr txBox="1"/>
          <p:nvPr/>
        </p:nvSpPr>
        <p:spPr>
          <a:xfrm>
            <a:off x="3168396" y="3429000"/>
            <a:ext cx="1234440" cy="960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>
                <a:ln>
                  <a:noFill/>
                </a:ln>
                <a:solidFill>
                  <a:srgbClr val="7C3AED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读 Iceberg / ABFS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7440930" y="3401568"/>
            <a:ext cx="0" cy="397764"/>
          </a:xfrm>
          <a:prstGeom prst="line">
            <a:avLst/>
          </a:prstGeom>
          <a:ln w="25400">
            <a:solidFill>
              <a:srgbClr val="D97706"/>
            </a:solidFill>
            <a:tailEnd type="triangle" w="med" len="med"/>
          </a:ln>
          <a:effectLst/>
        </p:spPr>
      </p:cxnSp>
      <p:sp>
        <p:nvSpPr>
          <p:cNvPr id="91" name="TextBox 90"/>
          <p:cNvSpPr txBox="1"/>
          <p:nvPr/>
        </p:nvSpPr>
        <p:spPr>
          <a:xfrm>
            <a:off x="7516368" y="3549015"/>
            <a:ext cx="891540" cy="7543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1" i="0" u="none" strike="noStrike" kern="1200" cap="none" spc="0" normalizeH="0" baseline="0" noProof="0" err="1">
                <a:ln>
                  <a:noFill/>
                </a:ln>
                <a:solidFill>
                  <a:srgbClr val="D97706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附件取流</a:t>
            </a:r>
            <a:endParaRPr kumimoji="0" sz="480" b="1" i="0" u="none" strike="noStrike" kern="1200" cap="none" spc="0" normalizeH="0" baseline="0" noProof="0">
              <a:ln>
                <a:noFill/>
              </a:ln>
              <a:solidFill>
                <a:srgbClr val="D97706"/>
              </a:solidFill>
              <a:effectLst/>
              <a:uLnTx/>
              <a:uFillTx/>
              <a:latin typeface="Georgia"/>
              <a:ea typeface="Microsoft YaHei"/>
              <a:cs typeface="+mn-cs"/>
            </a:endParaRPr>
          </a:p>
        </p:txBody>
      </p:sp>
      <p:sp>
        <p:nvSpPr>
          <p:cNvPr id="92" name="Rounded Rectangle 91"/>
          <p:cNvSpPr/>
          <p:nvPr/>
        </p:nvSpPr>
        <p:spPr>
          <a:xfrm>
            <a:off x="274320" y="4279392"/>
            <a:ext cx="5500116" cy="2743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384048" y="4279392"/>
            <a:ext cx="528066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10" b="1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安全底座：</a:t>
            </a:r>
            <a:r>
              <a:rPr kumimoji="0" sz="510" b="0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Key Vault · App Insights · Azure Monitor · Databricks Query History · 全部 PaaS 私有端点 · 入口 WAF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5925312" y="4279392"/>
            <a:ext cx="2894076" cy="274320"/>
          </a:xfrm>
          <a:prstGeom prst="roundRect">
            <a:avLst>
              <a:gd name="adj" fmla="val 15000"/>
            </a:avLst>
          </a:prstGeom>
          <a:solidFill>
            <a:srgbClr val="FFF7ED"/>
          </a:solidFill>
          <a:ln w="12700">
            <a:solidFill>
              <a:srgbClr val="FDB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6048756" y="4279392"/>
            <a:ext cx="264718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10" b="1" i="0" u="none" strike="noStrike" kern="1200" cap="none" spc="0" normalizeH="0" baseline="0" noProof="0">
                <a:ln>
                  <a:noFill/>
                </a:ln>
                <a:solidFill>
                  <a:srgbClr val="B45309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B2 读侧：</a:t>
            </a:r>
            <a:r>
              <a:rPr kumimoji="0" sz="510" b="0" i="0" u="none" strike="noStrike" kern="1200" cap="none" spc="0" normalizeH="0" baseline="0" noProof="0">
                <a:ln>
                  <a:noFill/>
                </a:ln>
                <a:solidFill>
                  <a:srgbClr val="92400E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Databricks SQL Serverless 完全托管 · 空闲缩 0；代价是引擎绑定 + 需 Premium 层（NCC / PE）</a:t>
            </a:r>
          </a:p>
        </p:txBody>
      </p:sp>
      <p:sp>
        <p:nvSpPr>
          <p:cNvPr id="96" name="Oval 95"/>
          <p:cNvSpPr/>
          <p:nvPr/>
        </p:nvSpPr>
        <p:spPr>
          <a:xfrm>
            <a:off x="274320" y="4684014"/>
            <a:ext cx="61722" cy="61722"/>
          </a:xfrm>
          <a:prstGeom prst="ellipse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370332" y="4649724"/>
            <a:ext cx="13030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自研应用组件（AKS）</a:t>
            </a:r>
          </a:p>
        </p:txBody>
      </p:sp>
      <p:sp>
        <p:nvSpPr>
          <p:cNvPr id="98" name="Oval 97"/>
          <p:cNvSpPr/>
          <p:nvPr/>
        </p:nvSpPr>
        <p:spPr>
          <a:xfrm>
            <a:off x="1455267" y="4684014"/>
            <a:ext cx="61722" cy="61722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1551279" y="4649724"/>
            <a:ext cx="13030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写侧数据链路</a:t>
            </a:r>
          </a:p>
        </p:txBody>
      </p:sp>
      <p:sp>
        <p:nvSpPr>
          <p:cNvPr id="100" name="Oval 99"/>
          <p:cNvSpPr/>
          <p:nvPr/>
        </p:nvSpPr>
        <p:spPr>
          <a:xfrm>
            <a:off x="2355037" y="4684014"/>
            <a:ext cx="61722" cy="6172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2451049" y="4649724"/>
            <a:ext cx="13030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读侧查询链路</a:t>
            </a:r>
          </a:p>
        </p:txBody>
      </p:sp>
      <p:sp>
        <p:nvSpPr>
          <p:cNvPr id="102" name="Oval 101"/>
          <p:cNvSpPr/>
          <p:nvPr/>
        </p:nvSpPr>
        <p:spPr>
          <a:xfrm>
            <a:off x="3254807" y="4684014"/>
            <a:ext cx="61722" cy="61722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3350819" y="4649724"/>
            <a:ext cx="13030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编排 / 抽取</a:t>
            </a:r>
          </a:p>
        </p:txBody>
      </p:sp>
      <p:sp>
        <p:nvSpPr>
          <p:cNvPr id="104" name="Oval 103"/>
          <p:cNvSpPr/>
          <p:nvPr/>
        </p:nvSpPr>
        <p:spPr>
          <a:xfrm>
            <a:off x="4210812" y="4684014"/>
            <a:ext cx="61722" cy="61722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4306824" y="4649724"/>
            <a:ext cx="13030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Georgia"/>
                <a:ea typeface="Microsoft YaHei"/>
                <a:cs typeface="+mn-cs"/>
              </a:rPr>
              <a:t>Azure PaaS 数据服务</a:t>
            </a:r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A12B8CE2-B9F2-AB42-C181-8788695313B6}"/>
              </a:ext>
            </a:extLst>
          </p:cNvPr>
          <p:cNvGrpSpPr/>
          <p:nvPr/>
        </p:nvGrpSpPr>
        <p:grpSpPr>
          <a:xfrm>
            <a:off x="1083562" y="629791"/>
            <a:ext cx="74924" cy="99029"/>
            <a:chOff x="516978" y="959434"/>
            <a:chExt cx="99898" cy="132038"/>
          </a:xfrm>
        </p:grpSpPr>
        <p:sp>
          <p:nvSpPr>
            <p:cNvPr id="8" name="Oval 7"/>
            <p:cNvSpPr/>
            <p:nvPr/>
          </p:nvSpPr>
          <p:spPr>
            <a:xfrm>
              <a:off x="538261" y="959434"/>
              <a:ext cx="57332" cy="57332"/>
            </a:xfrm>
            <a:prstGeom prst="ellipse">
              <a:avLst/>
            </a:prstGeom>
            <a:solidFill>
              <a:srgbClr val="0078D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16978" y="1026322"/>
              <a:ext cx="99898" cy="65150"/>
            </a:xfrm>
            <a:prstGeom prst="roundRect">
              <a:avLst>
                <a:gd name="adj" fmla="val 40000"/>
              </a:avLst>
            </a:prstGeom>
            <a:solidFill>
              <a:srgbClr val="0078D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110026C4-831C-6113-0D62-FBCA847633AD}"/>
              </a:ext>
            </a:extLst>
          </p:cNvPr>
          <p:cNvGrpSpPr/>
          <p:nvPr/>
        </p:nvGrpSpPr>
        <p:grpSpPr>
          <a:xfrm>
            <a:off x="2551690" y="635507"/>
            <a:ext cx="74924" cy="99029"/>
            <a:chOff x="516978" y="959434"/>
            <a:chExt cx="99898" cy="132038"/>
          </a:xfrm>
        </p:grpSpPr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FAA94FA1-48F7-E99E-2AAB-4A3A9409D8A8}"/>
                </a:ext>
              </a:extLst>
            </p:cNvPr>
            <p:cNvSpPr/>
            <p:nvPr/>
          </p:nvSpPr>
          <p:spPr>
            <a:xfrm>
              <a:off x="538261" y="959434"/>
              <a:ext cx="57332" cy="57332"/>
            </a:xfrm>
            <a:prstGeom prst="ellipse">
              <a:avLst/>
            </a:prstGeom>
            <a:solidFill>
              <a:srgbClr val="0078D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sp>
          <p:nvSpPr>
            <p:cNvPr id="114" name="Rounded Rectangle 8">
              <a:extLst>
                <a:ext uri="{FF2B5EF4-FFF2-40B4-BE49-F238E27FC236}">
                  <a16:creationId xmlns:a16="http://schemas.microsoft.com/office/drawing/2014/main" id="{C28D4470-B817-4C96-AF80-7BD366303F8B}"/>
                </a:ext>
              </a:extLst>
            </p:cNvPr>
            <p:cNvSpPr/>
            <p:nvPr/>
          </p:nvSpPr>
          <p:spPr>
            <a:xfrm>
              <a:off x="516978" y="1026322"/>
              <a:ext cx="99898" cy="65150"/>
            </a:xfrm>
            <a:prstGeom prst="roundRect">
              <a:avLst>
                <a:gd name="adj" fmla="val 40000"/>
              </a:avLst>
            </a:prstGeom>
            <a:solidFill>
              <a:srgbClr val="0078D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22A70A1A-4F77-ED7E-BDD7-0CBE146BBE9E}"/>
              </a:ext>
            </a:extLst>
          </p:cNvPr>
          <p:cNvGrpSpPr/>
          <p:nvPr/>
        </p:nvGrpSpPr>
        <p:grpSpPr>
          <a:xfrm>
            <a:off x="4063622" y="622203"/>
            <a:ext cx="74924" cy="99029"/>
            <a:chOff x="516978" y="959434"/>
            <a:chExt cx="99898" cy="132038"/>
          </a:xfrm>
        </p:grpSpPr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F87C35E5-D018-746C-45D5-AFF6EE81D2A4}"/>
                </a:ext>
              </a:extLst>
            </p:cNvPr>
            <p:cNvSpPr/>
            <p:nvPr/>
          </p:nvSpPr>
          <p:spPr>
            <a:xfrm>
              <a:off x="538261" y="959434"/>
              <a:ext cx="57332" cy="57332"/>
            </a:xfrm>
            <a:prstGeom prst="ellipse">
              <a:avLst/>
            </a:prstGeom>
            <a:solidFill>
              <a:srgbClr val="0078D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sp>
          <p:nvSpPr>
            <p:cNvPr id="117" name="Rounded Rectangle 8">
              <a:extLst>
                <a:ext uri="{FF2B5EF4-FFF2-40B4-BE49-F238E27FC236}">
                  <a16:creationId xmlns:a16="http://schemas.microsoft.com/office/drawing/2014/main" id="{6C7F8C21-56ED-3E8D-76A1-6276AB5E7E87}"/>
                </a:ext>
              </a:extLst>
            </p:cNvPr>
            <p:cNvSpPr/>
            <p:nvPr/>
          </p:nvSpPr>
          <p:spPr>
            <a:xfrm>
              <a:off x="516978" y="1026322"/>
              <a:ext cx="99898" cy="65150"/>
            </a:xfrm>
            <a:prstGeom prst="roundRect">
              <a:avLst>
                <a:gd name="adj" fmla="val 40000"/>
              </a:avLst>
            </a:prstGeom>
            <a:solidFill>
              <a:srgbClr val="0078D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1F11BE3A-F63C-91EC-D4BA-BEE34BE247F5}"/>
              </a:ext>
            </a:extLst>
          </p:cNvPr>
          <p:cNvSpPr/>
          <p:nvPr/>
        </p:nvSpPr>
        <p:spPr>
          <a:xfrm>
            <a:off x="8115300" y="0"/>
            <a:ext cx="1028700" cy="219729"/>
          </a:xfrm>
          <a:prstGeom prst="rect">
            <a:avLst/>
          </a:prstGeom>
          <a:solidFill>
            <a:srgbClr val="009CDE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Appendix</a:t>
            </a:r>
            <a:endParaRPr kumimoji="0" lang="zh-CN" altLang="en-US" sz="11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14890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52497-247A-32D5-4FFE-5B209455F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FCCD591B-50A4-CE8E-5EF5-FE59B14E9E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>
                <a:sym typeface="+mn-lt"/>
              </a:rPr>
              <a:t>6</a:t>
            </a:r>
            <a:r>
              <a:rPr lang="en-US">
                <a:sym typeface="+mn-lt"/>
              </a:rPr>
              <a:t>. Delivery Approach,</a:t>
            </a:r>
            <a:r>
              <a:rPr lang="zh-CN" altLang="en-US">
                <a:sym typeface="+mn-lt"/>
              </a:rPr>
              <a:t> </a:t>
            </a:r>
            <a:r>
              <a:rPr lang="en-US" altLang="zh-CN">
                <a:sym typeface="+mn-lt"/>
              </a:rPr>
              <a:t>Timeline </a:t>
            </a:r>
            <a:r>
              <a:rPr lang="en-US">
                <a:sym typeface="+mn-lt"/>
              </a:rPr>
              <a:t>&amp; Cost Estimation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72C69A3-8E48-28B1-04D4-860859B549F8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>
            <a:normAutofit/>
          </a:bodyPr>
          <a:lstStyle/>
          <a:p>
            <a:r>
              <a:rPr lang="en-US" altLang="zh-CN">
                <a:latin typeface="Georgia (Headings)"/>
                <a:sym typeface="+mn-lt"/>
              </a:rPr>
              <a:t>China RIMS Solution Proposal</a:t>
            </a:r>
            <a:endParaRPr lang="zh-CN" altLang="en-US">
              <a:latin typeface="Georgia (Headings)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F965CB-6225-F9D0-49F7-1E8E20F1C7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0" tIns="0" rIns="68580" bIns="34290" rtlCol="0" anchor="t">
            <a:normAutofit/>
          </a:bodyPr>
          <a:lstStyle/>
          <a:p>
            <a:r>
              <a:rPr lang="en-US">
                <a:cs typeface="Calibri"/>
              </a:rPr>
              <a:t>Sep 2026</a:t>
            </a:r>
          </a:p>
        </p:txBody>
      </p:sp>
    </p:spTree>
    <p:extLst>
      <p:ext uri="{BB962C8B-B14F-4D97-AF65-F5344CB8AC3E}">
        <p14:creationId xmlns:p14="http://schemas.microsoft.com/office/powerpoint/2010/main" val="14587783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0D425-7611-B3AA-CB94-057668042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D22B23A-FF2C-2EA9-1BDF-D20189EE65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China RIMS Solution Proposal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249D11B-CE6C-E18E-B901-9CF84536C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SLC + AI </a:t>
            </a:r>
            <a:r>
              <a:rPr lang="zh-CN" altLang="en-US"/>
              <a:t>交付方法</a:t>
            </a:r>
          </a:p>
        </p:txBody>
      </p:sp>
      <p:sp>
        <p:nvSpPr>
          <p:cNvPr id="14" name="collect-note">
            <a:extLst>
              <a:ext uri="{FF2B5EF4-FFF2-40B4-BE49-F238E27FC236}">
                <a16:creationId xmlns:a16="http://schemas.microsoft.com/office/drawing/2014/main" id="{4B08EC93-6FC3-23CA-2BA6-687E037570F6}"/>
              </a:ext>
            </a:extLst>
          </p:cNvPr>
          <p:cNvSpPr>
            <a:spLocks noGrp="1"/>
          </p:cNvSpPr>
          <p:nvPr/>
        </p:nvSpPr>
        <p:spPr>
          <a:xfrm>
            <a:off x="1425389" y="960120"/>
            <a:ext cx="6501378" cy="2221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50" b="0">
                <a:solidFill>
                  <a:srgbClr val="607384"/>
                </a:solidFill>
              </a:defRPr>
            </a:pPr>
            <a:r>
              <a:rPr lang="zh-CN" altLang="en-US" sz="1000">
                <a:latin typeface="+mn-ea"/>
              </a:rPr>
              <a:t>保留完整</a:t>
            </a:r>
            <a:r>
              <a:rPr lang="en-US" altLang="zh-CN" sz="1000">
                <a:latin typeface="+mn-ea"/>
              </a:rPr>
              <a:t>SLC</a:t>
            </a:r>
            <a:r>
              <a:rPr lang="zh-CN" altLang="en-US" sz="1000">
                <a:latin typeface="+mn-ea"/>
              </a:rPr>
              <a:t>治理框架，在每个阶段引入</a:t>
            </a:r>
            <a:r>
              <a:rPr lang="en-US" altLang="zh-CN" sz="1000">
                <a:latin typeface="+mn-ea"/>
              </a:rPr>
              <a:t>AI</a:t>
            </a:r>
            <a:r>
              <a:rPr lang="zh-CN" altLang="en-US" sz="1000">
                <a:latin typeface="+mn-ea"/>
              </a:rPr>
              <a:t>提升整体效率：人负责关键决策、评审与结果判断，确保合规与质量</a:t>
            </a:r>
          </a:p>
        </p:txBody>
      </p:sp>
      <p:sp>
        <p:nvSpPr>
          <p:cNvPr id="67" name="lab-ai-icon">
            <a:extLst>
              <a:ext uri="{FF2B5EF4-FFF2-40B4-BE49-F238E27FC236}">
                <a16:creationId xmlns:a16="http://schemas.microsoft.com/office/drawing/2014/main" id="{BA425A9A-D21A-CB3C-2373-71FBAC45FF65}"/>
              </a:ext>
            </a:extLst>
          </p:cNvPr>
          <p:cNvSpPr/>
          <p:nvPr>
            <p:extLst>
              <p:ext uri="{F5677B7D-0D2A-4D9B-9A5C-6D8D7D0E5A5D}">
                <pptd:icon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="" encoding="base64url">eyJpY29uTmFtZSI6ImZhczpyb2JvdCJ9</pptd:icon>
              </p:ext>
            </p:extLst>
          </p:nvPr>
        </p:nvSpPr>
        <p:spPr>
          <a:xfrm>
            <a:off x="308734" y="1692686"/>
            <a:ext cx="219075" cy="180975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352" y="0"/>
                </a:moveTo>
                <a:cubicBezTo>
                  <a:pt x="352" y="-18"/>
                  <a:pt x="338" y="-32"/>
                  <a:pt x="320" y="-32"/>
                </a:cubicBezTo>
                <a:cubicBezTo>
                  <a:pt x="302" y="-32"/>
                  <a:pt x="288" y="-18"/>
                  <a:pt x="288" y="0"/>
                </a:cubicBezTo>
                <a:lnTo>
                  <a:pt x="288" y="64"/>
                </a:lnTo>
                <a:lnTo>
                  <a:pt x="192" y="64"/>
                </a:lnTo>
                <a:cubicBezTo>
                  <a:pt x="139" y="64"/>
                  <a:pt x="96" y="107"/>
                  <a:pt x="96" y="160"/>
                </a:cubicBezTo>
                <a:lnTo>
                  <a:pt x="96" y="384"/>
                </a:lnTo>
                <a:cubicBezTo>
                  <a:pt x="96" y="437"/>
                  <a:pt x="139" y="480"/>
                  <a:pt x="192" y="480"/>
                </a:cubicBezTo>
                <a:lnTo>
                  <a:pt x="448" y="480"/>
                </a:lnTo>
                <a:cubicBezTo>
                  <a:pt x="501" y="480"/>
                  <a:pt x="544" y="437"/>
                  <a:pt x="544" y="384"/>
                </a:cubicBezTo>
                <a:lnTo>
                  <a:pt x="544" y="160"/>
                </a:lnTo>
                <a:cubicBezTo>
                  <a:pt x="544" y="107"/>
                  <a:pt x="501" y="64"/>
                  <a:pt x="448" y="64"/>
                </a:cubicBezTo>
                <a:lnTo>
                  <a:pt x="352" y="64"/>
                </a:lnTo>
                <a:lnTo>
                  <a:pt x="352" y="0"/>
                </a:lnTo>
                <a:close/>
                <a:moveTo>
                  <a:pt x="160" y="368"/>
                </a:moveTo>
                <a:cubicBezTo>
                  <a:pt x="160" y="355"/>
                  <a:pt x="171" y="344"/>
                  <a:pt x="184" y="344"/>
                </a:cubicBezTo>
                <a:lnTo>
                  <a:pt x="216" y="344"/>
                </a:lnTo>
                <a:cubicBezTo>
                  <a:pt x="229" y="344"/>
                  <a:pt x="240" y="355"/>
                  <a:pt x="240" y="368"/>
                </a:cubicBezTo>
                <a:cubicBezTo>
                  <a:pt x="240" y="381"/>
                  <a:pt x="229" y="392"/>
                  <a:pt x="216" y="392"/>
                </a:cubicBezTo>
                <a:lnTo>
                  <a:pt x="184" y="392"/>
                </a:lnTo>
                <a:cubicBezTo>
                  <a:pt x="171" y="392"/>
                  <a:pt x="160" y="381"/>
                  <a:pt x="160" y="368"/>
                </a:cubicBezTo>
                <a:close/>
                <a:moveTo>
                  <a:pt x="280" y="368"/>
                </a:moveTo>
                <a:cubicBezTo>
                  <a:pt x="280" y="355"/>
                  <a:pt x="291" y="344"/>
                  <a:pt x="304" y="344"/>
                </a:cubicBezTo>
                <a:lnTo>
                  <a:pt x="336" y="344"/>
                </a:lnTo>
                <a:cubicBezTo>
                  <a:pt x="349" y="344"/>
                  <a:pt x="360" y="355"/>
                  <a:pt x="360" y="368"/>
                </a:cubicBezTo>
                <a:cubicBezTo>
                  <a:pt x="360" y="381"/>
                  <a:pt x="349" y="392"/>
                  <a:pt x="336" y="392"/>
                </a:cubicBezTo>
                <a:lnTo>
                  <a:pt x="304" y="392"/>
                </a:lnTo>
                <a:cubicBezTo>
                  <a:pt x="291" y="392"/>
                  <a:pt x="280" y="381"/>
                  <a:pt x="280" y="368"/>
                </a:cubicBezTo>
                <a:close/>
                <a:moveTo>
                  <a:pt x="400" y="368"/>
                </a:moveTo>
                <a:cubicBezTo>
                  <a:pt x="400" y="355"/>
                  <a:pt x="411" y="344"/>
                  <a:pt x="424" y="344"/>
                </a:cubicBezTo>
                <a:lnTo>
                  <a:pt x="456" y="344"/>
                </a:lnTo>
                <a:cubicBezTo>
                  <a:pt x="469" y="344"/>
                  <a:pt x="480" y="355"/>
                  <a:pt x="480" y="368"/>
                </a:cubicBezTo>
                <a:cubicBezTo>
                  <a:pt x="480" y="381"/>
                  <a:pt x="469" y="392"/>
                  <a:pt x="456" y="392"/>
                </a:cubicBezTo>
                <a:lnTo>
                  <a:pt x="424" y="392"/>
                </a:lnTo>
                <a:cubicBezTo>
                  <a:pt x="411" y="392"/>
                  <a:pt x="400" y="381"/>
                  <a:pt x="400" y="368"/>
                </a:cubicBezTo>
                <a:close/>
                <a:moveTo>
                  <a:pt x="224" y="176"/>
                </a:moveTo>
                <a:cubicBezTo>
                  <a:pt x="251" y="176"/>
                  <a:pt x="272" y="197"/>
                  <a:pt x="272" y="224"/>
                </a:cubicBezTo>
                <a:cubicBezTo>
                  <a:pt x="272" y="251"/>
                  <a:pt x="251" y="272"/>
                  <a:pt x="224" y="272"/>
                </a:cubicBezTo>
                <a:cubicBezTo>
                  <a:pt x="197" y="272"/>
                  <a:pt x="176" y="251"/>
                  <a:pt x="176" y="224"/>
                </a:cubicBezTo>
                <a:cubicBezTo>
                  <a:pt x="176" y="197"/>
                  <a:pt x="197" y="176"/>
                  <a:pt x="224" y="176"/>
                </a:cubicBezTo>
                <a:close/>
                <a:moveTo>
                  <a:pt x="368" y="224"/>
                </a:moveTo>
                <a:cubicBezTo>
                  <a:pt x="368" y="197"/>
                  <a:pt x="389" y="176"/>
                  <a:pt x="416" y="176"/>
                </a:cubicBezTo>
                <a:cubicBezTo>
                  <a:pt x="443" y="176"/>
                  <a:pt x="464" y="197"/>
                  <a:pt x="464" y="224"/>
                </a:cubicBezTo>
                <a:cubicBezTo>
                  <a:pt x="464" y="251"/>
                  <a:pt x="443" y="272"/>
                  <a:pt x="416" y="272"/>
                </a:cubicBezTo>
                <a:cubicBezTo>
                  <a:pt x="389" y="272"/>
                  <a:pt x="368" y="251"/>
                  <a:pt x="368" y="224"/>
                </a:cubicBezTo>
                <a:close/>
              </a:path>
              <a:path w="640" h="512">
                <a:moveTo>
                  <a:pt x="64" y="224"/>
                </a:moveTo>
                <a:cubicBezTo>
                  <a:pt x="64" y="206"/>
                  <a:pt x="50" y="192"/>
                  <a:pt x="32" y="192"/>
                </a:cubicBezTo>
                <a:cubicBezTo>
                  <a:pt x="14" y="192"/>
                  <a:pt x="0" y="206"/>
                  <a:pt x="0" y="224"/>
                </a:cubicBezTo>
                <a:lnTo>
                  <a:pt x="0" y="320"/>
                </a:lnTo>
                <a:cubicBezTo>
                  <a:pt x="0" y="338"/>
                  <a:pt x="14" y="352"/>
                  <a:pt x="32" y="352"/>
                </a:cubicBezTo>
                <a:cubicBezTo>
                  <a:pt x="50" y="352"/>
                  <a:pt x="64" y="338"/>
                  <a:pt x="64" y="320"/>
                </a:cubicBezTo>
                <a:lnTo>
                  <a:pt x="64" y="224"/>
                </a:lnTo>
                <a:close/>
              </a:path>
              <a:path w="640" h="512">
                <a:moveTo>
                  <a:pt x="608" y="192"/>
                </a:moveTo>
                <a:cubicBezTo>
                  <a:pt x="590" y="192"/>
                  <a:pt x="576" y="206"/>
                  <a:pt x="576" y="224"/>
                </a:cubicBezTo>
                <a:lnTo>
                  <a:pt x="576" y="320"/>
                </a:lnTo>
                <a:cubicBezTo>
                  <a:pt x="576" y="338"/>
                  <a:pt x="590" y="352"/>
                  <a:pt x="608" y="352"/>
                </a:cubicBezTo>
                <a:cubicBezTo>
                  <a:pt x="626" y="352"/>
                  <a:pt x="640" y="338"/>
                  <a:pt x="640" y="320"/>
                </a:cubicBezTo>
                <a:lnTo>
                  <a:pt x="640" y="224"/>
                </a:lnTo>
                <a:cubicBezTo>
                  <a:pt x="640" y="206"/>
                  <a:pt x="626" y="192"/>
                  <a:pt x="608" y="19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9" name="lab-ai-t">
            <a:extLst>
              <a:ext uri="{FF2B5EF4-FFF2-40B4-BE49-F238E27FC236}">
                <a16:creationId xmlns:a16="http://schemas.microsoft.com/office/drawing/2014/main" id="{0417BDB0-2FF6-BF97-939E-27E827E441A9}"/>
              </a:ext>
            </a:extLst>
          </p:cNvPr>
          <p:cNvSpPr txBox="1"/>
          <p:nvPr/>
        </p:nvSpPr>
        <p:spPr>
          <a:xfrm>
            <a:off x="194434" y="1887986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/>
            <a:r>
              <a:rPr lang="en-US" sz="800" b="1" noProof="1">
                <a:solidFill>
                  <a:schemeClr val="accent3"/>
                </a:solidFill>
                <a:latin typeface="+mn-ea"/>
              </a:rPr>
              <a:t>AI</a:t>
            </a:r>
            <a:r>
              <a:rPr lang="zh-CN" altLang="en-US" sz="800" b="1" noProof="1">
                <a:solidFill>
                  <a:schemeClr val="accent3"/>
                </a:solidFill>
                <a:latin typeface="+mn-ea"/>
              </a:rPr>
              <a:t>参与</a:t>
            </a:r>
            <a:endParaRPr lang="en-US" altLang="zh-CN" sz="800" b="1" noProof="1">
              <a:solidFill>
                <a:schemeClr val="accent3"/>
              </a:solidFill>
              <a:latin typeface="+mn-ea"/>
            </a:endParaRPr>
          </a:p>
          <a:p>
            <a:pPr algn="ctr" defTabSz="685800"/>
            <a:r>
              <a:rPr lang="en-US" altLang="zh-CN" sz="800" b="1" noProof="1">
                <a:solidFill>
                  <a:schemeClr val="accent3"/>
                </a:solidFill>
                <a:latin typeface="+mn-ea"/>
              </a:rPr>
              <a:t>/</a:t>
            </a:r>
            <a:r>
              <a:rPr lang="zh-CN" altLang="en-US" sz="800" b="1" noProof="1">
                <a:solidFill>
                  <a:schemeClr val="accent3"/>
                </a:solidFill>
                <a:latin typeface="+mn-ea"/>
              </a:rPr>
              <a:t>执行</a:t>
            </a:r>
            <a:endParaRPr lang="en-US" sz="800" noProof="1">
              <a:solidFill>
                <a:schemeClr val="accent3"/>
              </a:solidFill>
              <a:latin typeface="+mn-ea"/>
            </a:endParaRPr>
          </a:p>
        </p:txBody>
      </p:sp>
      <p:sp>
        <p:nvSpPr>
          <p:cNvPr id="71" name="lab-hu-icon">
            <a:extLst>
              <a:ext uri="{FF2B5EF4-FFF2-40B4-BE49-F238E27FC236}">
                <a16:creationId xmlns:a16="http://schemas.microsoft.com/office/drawing/2014/main" id="{123480B9-A259-9397-1107-42C695A88994}"/>
              </a:ext>
            </a:extLst>
          </p:cNvPr>
          <p:cNvSpPr/>
          <p:nvPr>
            <p:extLst>
              <p:ext uri="{F5677B7D-0D2A-4D9B-9A5C-6D8D7D0E5A5D}">
                <pptd:icon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="" encoding="base64url">eyJpY29uTmFtZSI6ImZhczp1c2VyIn0</pptd:icon>
              </p:ext>
            </p:extLst>
          </p:nvPr>
        </p:nvSpPr>
        <p:spPr>
          <a:xfrm>
            <a:off x="350829" y="2341259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224" y="248"/>
                </a:moveTo>
                <a:cubicBezTo>
                  <a:pt x="290" y="248"/>
                  <a:pt x="344" y="194"/>
                  <a:pt x="344" y="128"/>
                </a:cubicBezTo>
                <a:cubicBezTo>
                  <a:pt x="344" y="62"/>
                  <a:pt x="290" y="8"/>
                  <a:pt x="224" y="8"/>
                </a:cubicBezTo>
                <a:cubicBezTo>
                  <a:pt x="158" y="8"/>
                  <a:pt x="104" y="62"/>
                  <a:pt x="104" y="128"/>
                </a:cubicBezTo>
                <a:cubicBezTo>
                  <a:pt x="104" y="194"/>
                  <a:pt x="158" y="248"/>
                  <a:pt x="224" y="248"/>
                </a:cubicBezTo>
                <a:close/>
                <a:moveTo>
                  <a:pt x="194" y="304"/>
                </a:moveTo>
                <a:cubicBezTo>
                  <a:pt x="96" y="304"/>
                  <a:pt x="16" y="384"/>
                  <a:pt x="16" y="482"/>
                </a:cubicBezTo>
                <a:cubicBezTo>
                  <a:pt x="16" y="499"/>
                  <a:pt x="29" y="512"/>
                  <a:pt x="46" y="512"/>
                </a:cubicBezTo>
                <a:lnTo>
                  <a:pt x="402" y="512"/>
                </a:lnTo>
                <a:cubicBezTo>
                  <a:pt x="419" y="512"/>
                  <a:pt x="432" y="499"/>
                  <a:pt x="432" y="482"/>
                </a:cubicBezTo>
                <a:cubicBezTo>
                  <a:pt x="432" y="384"/>
                  <a:pt x="352" y="304"/>
                  <a:pt x="254" y="304"/>
                </a:cubicBezTo>
                <a:lnTo>
                  <a:pt x="194" y="304"/>
                </a:lnTo>
                <a:close/>
              </a:path>
            </a:pathLst>
          </a:custGeom>
          <a:solidFill>
            <a:srgbClr val="119A75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3" name="lab-hu-t">
            <a:extLst>
              <a:ext uri="{FF2B5EF4-FFF2-40B4-BE49-F238E27FC236}">
                <a16:creationId xmlns:a16="http://schemas.microsoft.com/office/drawing/2014/main" id="{B5F91FCA-ABB1-69A4-6CC7-49720DA1DF43}"/>
              </a:ext>
            </a:extLst>
          </p:cNvPr>
          <p:cNvSpPr txBox="1"/>
          <p:nvPr/>
        </p:nvSpPr>
        <p:spPr>
          <a:xfrm>
            <a:off x="227004" y="2585392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/>
            <a:r>
              <a:rPr lang="zh-CN" altLang="en-US" sz="800" b="1" noProof="1">
                <a:solidFill>
                  <a:srgbClr val="119A75"/>
                </a:solidFill>
                <a:latin typeface="+mn-ea"/>
              </a:rPr>
              <a:t>人工参与</a:t>
            </a:r>
            <a:endParaRPr lang="en-US" altLang="zh-CN" sz="800" b="1" noProof="1">
              <a:solidFill>
                <a:srgbClr val="119A75"/>
              </a:solidFill>
              <a:latin typeface="+mn-ea"/>
            </a:endParaRPr>
          </a:p>
          <a:p>
            <a:pPr algn="ctr" defTabSz="685800"/>
            <a:r>
              <a:rPr lang="en-US" altLang="zh-CN" sz="800" b="1" noProof="1">
                <a:solidFill>
                  <a:srgbClr val="119A75"/>
                </a:solidFill>
                <a:latin typeface="+mn-ea"/>
              </a:rPr>
              <a:t>/</a:t>
            </a:r>
            <a:r>
              <a:rPr lang="zh-CN" altLang="en-US" sz="800" b="1" noProof="1">
                <a:solidFill>
                  <a:srgbClr val="119A75"/>
                </a:solidFill>
                <a:latin typeface="+mn-ea"/>
              </a:rPr>
              <a:t>决策</a:t>
            </a:r>
            <a:endParaRPr lang="en-US" sz="800" b="1" noProof="1">
              <a:solidFill>
                <a:srgbClr val="119A75"/>
              </a:solidFill>
              <a:latin typeface="+mn-ea"/>
            </a:endParaRPr>
          </a:p>
        </p:txBody>
      </p:sp>
      <p:sp>
        <p:nvSpPr>
          <p:cNvPr id="75" name="lab-dl-icon">
            <a:extLst>
              <a:ext uri="{FF2B5EF4-FFF2-40B4-BE49-F238E27FC236}">
                <a16:creationId xmlns:a16="http://schemas.microsoft.com/office/drawing/2014/main" id="{6A65020F-B3FD-D93B-BF95-19C1DFC21823}"/>
              </a:ext>
            </a:extLst>
          </p:cNvPr>
          <p:cNvSpPr/>
          <p:nvPr>
            <p:extLst>
              <p:ext uri="{F5677B7D-0D2A-4D9B-9A5C-6D8D7D0E5A5D}">
                <pptd:icon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="" encoding="base64url">eyJpY29uTmFtZSI6ImZhcjpmaWxlLWxpbmVzIn0</pptd:icon>
              </p:ext>
            </p:extLst>
          </p:nvPr>
        </p:nvSpPr>
        <p:spPr>
          <a:xfrm>
            <a:off x="360354" y="3031705"/>
            <a:ext cx="190500" cy="219075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64" y="0"/>
                </a:moveTo>
                <a:cubicBezTo>
                  <a:pt x="29" y="0"/>
                  <a:pt x="0" y="29"/>
                  <a:pt x="0" y="64"/>
                </a:cubicBezTo>
                <a:lnTo>
                  <a:pt x="0" y="448"/>
                </a:lnTo>
                <a:cubicBezTo>
                  <a:pt x="0" y="483"/>
                  <a:pt x="29" y="512"/>
                  <a:pt x="64" y="512"/>
                </a:cubicBezTo>
                <a:lnTo>
                  <a:pt x="320" y="512"/>
                </a:lnTo>
                <a:cubicBezTo>
                  <a:pt x="355" y="512"/>
                  <a:pt x="384" y="483"/>
                  <a:pt x="384" y="448"/>
                </a:cubicBezTo>
                <a:lnTo>
                  <a:pt x="384" y="187"/>
                </a:lnTo>
                <a:cubicBezTo>
                  <a:pt x="384" y="170"/>
                  <a:pt x="377" y="153"/>
                  <a:pt x="365" y="141"/>
                </a:cubicBezTo>
                <a:lnTo>
                  <a:pt x="243" y="19"/>
                </a:lnTo>
                <a:cubicBezTo>
                  <a:pt x="231" y="7"/>
                  <a:pt x="215" y="0"/>
                  <a:pt x="198" y="0"/>
                </a:cubicBezTo>
                <a:lnTo>
                  <a:pt x="64" y="0"/>
                </a:lnTo>
                <a:close/>
                <a:moveTo>
                  <a:pt x="64" y="48"/>
                </a:moveTo>
                <a:lnTo>
                  <a:pt x="176" y="48"/>
                </a:lnTo>
                <a:lnTo>
                  <a:pt x="176" y="136"/>
                </a:lnTo>
                <a:cubicBezTo>
                  <a:pt x="176" y="176"/>
                  <a:pt x="208" y="208"/>
                  <a:pt x="248" y="208"/>
                </a:cubicBezTo>
                <a:lnTo>
                  <a:pt x="336" y="208"/>
                </a:lnTo>
                <a:lnTo>
                  <a:pt x="336" y="448"/>
                </a:lnTo>
                <a:cubicBezTo>
                  <a:pt x="336" y="457"/>
                  <a:pt x="329" y="464"/>
                  <a:pt x="320" y="464"/>
                </a:cubicBezTo>
                <a:lnTo>
                  <a:pt x="64" y="464"/>
                </a:lnTo>
                <a:cubicBezTo>
                  <a:pt x="55" y="464"/>
                  <a:pt x="48" y="457"/>
                  <a:pt x="48" y="448"/>
                </a:cubicBezTo>
                <a:lnTo>
                  <a:pt x="48" y="64"/>
                </a:lnTo>
                <a:cubicBezTo>
                  <a:pt x="48" y="55"/>
                  <a:pt x="55" y="48"/>
                  <a:pt x="64" y="48"/>
                </a:cubicBezTo>
                <a:close/>
                <a:moveTo>
                  <a:pt x="224" y="68"/>
                </a:moveTo>
                <a:lnTo>
                  <a:pt x="316" y="160"/>
                </a:lnTo>
                <a:lnTo>
                  <a:pt x="248" y="160"/>
                </a:lnTo>
                <a:cubicBezTo>
                  <a:pt x="235" y="160"/>
                  <a:pt x="224" y="149"/>
                  <a:pt x="224" y="136"/>
                </a:cubicBezTo>
                <a:lnTo>
                  <a:pt x="224" y="68"/>
                </a:lnTo>
                <a:close/>
              </a:path>
              <a:path w="384" h="512">
                <a:moveTo>
                  <a:pt x="120" y="256"/>
                </a:moveTo>
                <a:cubicBezTo>
                  <a:pt x="107" y="256"/>
                  <a:pt x="96" y="267"/>
                  <a:pt x="96" y="280"/>
                </a:cubicBezTo>
                <a:cubicBezTo>
                  <a:pt x="96" y="293"/>
                  <a:pt x="107" y="304"/>
                  <a:pt x="120" y="304"/>
                </a:cubicBezTo>
                <a:lnTo>
                  <a:pt x="264" y="304"/>
                </a:lnTo>
                <a:cubicBezTo>
                  <a:pt x="277" y="304"/>
                  <a:pt x="288" y="293"/>
                  <a:pt x="288" y="280"/>
                </a:cubicBezTo>
                <a:cubicBezTo>
                  <a:pt x="288" y="267"/>
                  <a:pt x="277" y="256"/>
                  <a:pt x="264" y="256"/>
                </a:cubicBezTo>
                <a:lnTo>
                  <a:pt x="120" y="256"/>
                </a:lnTo>
                <a:close/>
              </a:path>
              <a:path w="384" h="512">
                <a:moveTo>
                  <a:pt x="120" y="352"/>
                </a:moveTo>
                <a:cubicBezTo>
                  <a:pt x="107" y="352"/>
                  <a:pt x="96" y="363"/>
                  <a:pt x="96" y="376"/>
                </a:cubicBezTo>
                <a:cubicBezTo>
                  <a:pt x="96" y="389"/>
                  <a:pt x="107" y="400"/>
                  <a:pt x="120" y="400"/>
                </a:cubicBezTo>
                <a:lnTo>
                  <a:pt x="264" y="400"/>
                </a:lnTo>
                <a:cubicBezTo>
                  <a:pt x="277" y="400"/>
                  <a:pt x="288" y="389"/>
                  <a:pt x="288" y="376"/>
                </a:cubicBezTo>
                <a:cubicBezTo>
                  <a:pt x="288" y="363"/>
                  <a:pt x="277" y="352"/>
                  <a:pt x="264" y="352"/>
                </a:cubicBezTo>
                <a:lnTo>
                  <a:pt x="120" y="35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7" name="lab-dl-t">
            <a:extLst>
              <a:ext uri="{FF2B5EF4-FFF2-40B4-BE49-F238E27FC236}">
                <a16:creationId xmlns:a16="http://schemas.microsoft.com/office/drawing/2014/main" id="{D0B53A0E-A67F-F459-83A8-143FDA4F3A2F}"/>
              </a:ext>
            </a:extLst>
          </p:cNvPr>
          <p:cNvSpPr txBox="1"/>
          <p:nvPr/>
        </p:nvSpPr>
        <p:spPr>
          <a:xfrm>
            <a:off x="227004" y="3282798"/>
            <a:ext cx="4572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/>
            <a:r>
              <a:rPr lang="en-US" sz="800" b="1" noProof="1">
                <a:latin typeface="+mn-ea"/>
              </a:rPr>
              <a:t>AI </a:t>
            </a:r>
          </a:p>
          <a:p>
            <a:pPr algn="ctr" defTabSz="685800"/>
            <a:r>
              <a:rPr lang="zh-CN" altLang="en-US" sz="800" b="1" noProof="1">
                <a:latin typeface="+mn-ea"/>
              </a:rPr>
              <a:t>产出物</a:t>
            </a:r>
            <a:endParaRPr lang="en-US" sz="800" noProof="1">
              <a:latin typeface="+mn-ea"/>
            </a:endParaRPr>
          </a:p>
        </p:txBody>
      </p:sp>
      <p:sp>
        <p:nvSpPr>
          <p:cNvPr id="3" name="Arrow: Pentagon 2">
            <a:extLst>
              <a:ext uri="{FF2B5EF4-FFF2-40B4-BE49-F238E27FC236}">
                <a16:creationId xmlns:a16="http://schemas.microsoft.com/office/drawing/2014/main" id="{C9BC9C5F-04CE-8FAB-AD1F-E02FE67316B1}"/>
              </a:ext>
            </a:extLst>
          </p:cNvPr>
          <p:cNvSpPr/>
          <p:nvPr/>
        </p:nvSpPr>
        <p:spPr>
          <a:xfrm>
            <a:off x="765934" y="1466690"/>
            <a:ext cx="1276349" cy="379350"/>
          </a:xfrm>
          <a:prstGeom prst="homePlat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Arrow: Chevron 3">
            <a:extLst>
              <a:ext uri="{FF2B5EF4-FFF2-40B4-BE49-F238E27FC236}">
                <a16:creationId xmlns:a16="http://schemas.microsoft.com/office/drawing/2014/main" id="{1F30AA4D-DF4D-7545-B14C-846EE2334529}"/>
              </a:ext>
            </a:extLst>
          </p:cNvPr>
          <p:cNvSpPr/>
          <p:nvPr/>
        </p:nvSpPr>
        <p:spPr>
          <a:xfrm>
            <a:off x="1906394" y="1466690"/>
            <a:ext cx="1276347" cy="385365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0D8D0E10-0450-9FCB-1EF9-C69E4E2A2AAD}"/>
              </a:ext>
            </a:extLst>
          </p:cNvPr>
          <p:cNvSpPr/>
          <p:nvPr/>
        </p:nvSpPr>
        <p:spPr>
          <a:xfrm>
            <a:off x="3046854" y="1466690"/>
            <a:ext cx="1276347" cy="385365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4" name="Arrow: Chevron 33">
            <a:extLst>
              <a:ext uri="{FF2B5EF4-FFF2-40B4-BE49-F238E27FC236}">
                <a16:creationId xmlns:a16="http://schemas.microsoft.com/office/drawing/2014/main" id="{36E0F67C-251B-F433-A904-4AB9673A3A36}"/>
              </a:ext>
            </a:extLst>
          </p:cNvPr>
          <p:cNvSpPr/>
          <p:nvPr/>
        </p:nvSpPr>
        <p:spPr>
          <a:xfrm>
            <a:off x="4187314" y="1466690"/>
            <a:ext cx="1276347" cy="385365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6" name="Arrow: Chevron 35">
            <a:extLst>
              <a:ext uri="{FF2B5EF4-FFF2-40B4-BE49-F238E27FC236}">
                <a16:creationId xmlns:a16="http://schemas.microsoft.com/office/drawing/2014/main" id="{7F6A1326-A079-4C45-4341-858A481593D8}"/>
              </a:ext>
            </a:extLst>
          </p:cNvPr>
          <p:cNvSpPr/>
          <p:nvPr/>
        </p:nvSpPr>
        <p:spPr>
          <a:xfrm>
            <a:off x="5327772" y="1466690"/>
            <a:ext cx="1276347" cy="385365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7" name="Arrow: Chevron 46">
            <a:extLst>
              <a:ext uri="{FF2B5EF4-FFF2-40B4-BE49-F238E27FC236}">
                <a16:creationId xmlns:a16="http://schemas.microsoft.com/office/drawing/2014/main" id="{72E6ABCD-9ABF-3178-50AD-F699AC658902}"/>
              </a:ext>
            </a:extLst>
          </p:cNvPr>
          <p:cNvSpPr/>
          <p:nvPr/>
        </p:nvSpPr>
        <p:spPr>
          <a:xfrm>
            <a:off x="6468232" y="1466690"/>
            <a:ext cx="1276347" cy="385365"/>
          </a:xfrm>
          <a:prstGeom prst="chevr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8" name="Arrow: Chevron 47">
            <a:extLst>
              <a:ext uri="{FF2B5EF4-FFF2-40B4-BE49-F238E27FC236}">
                <a16:creationId xmlns:a16="http://schemas.microsoft.com/office/drawing/2014/main" id="{057426C2-6831-7032-5655-4064A021B3F7}"/>
              </a:ext>
            </a:extLst>
          </p:cNvPr>
          <p:cNvSpPr/>
          <p:nvPr/>
        </p:nvSpPr>
        <p:spPr>
          <a:xfrm>
            <a:off x="7623038" y="1466690"/>
            <a:ext cx="1276347" cy="385365"/>
          </a:xfrm>
          <a:prstGeom prst="chevr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" name="ch1-num">
            <a:extLst>
              <a:ext uri="{FF2B5EF4-FFF2-40B4-BE49-F238E27FC236}">
                <a16:creationId xmlns:a16="http://schemas.microsoft.com/office/drawing/2014/main" id="{892FD7E9-23C5-E02B-E739-9E8BA3D738D1}"/>
              </a:ext>
            </a:extLst>
          </p:cNvPr>
          <p:cNvSpPr txBox="1"/>
          <p:nvPr/>
        </p:nvSpPr>
        <p:spPr>
          <a:xfrm>
            <a:off x="1199322" y="1481542"/>
            <a:ext cx="228600" cy="1135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1200" b="1" noProof="1">
                <a:solidFill>
                  <a:srgbClr val="FFFFFF"/>
                </a:solidFill>
                <a:latin typeface="+mn-ea"/>
              </a:rPr>
              <a:t>01</a:t>
            </a:r>
            <a:endParaRPr lang="en-US" sz="1200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8" name="ch1-en">
            <a:extLst>
              <a:ext uri="{FF2B5EF4-FFF2-40B4-BE49-F238E27FC236}">
                <a16:creationId xmlns:a16="http://schemas.microsoft.com/office/drawing/2014/main" id="{E87D447F-34E5-FB0A-F77B-49ABED03359E}"/>
              </a:ext>
            </a:extLst>
          </p:cNvPr>
          <p:cNvSpPr txBox="1"/>
          <p:nvPr/>
        </p:nvSpPr>
        <p:spPr>
          <a:xfrm>
            <a:off x="1124468" y="1669244"/>
            <a:ext cx="378309" cy="1174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spAutoFit/>
          </a:bodyPr>
          <a:lstStyle/>
          <a:p>
            <a:pPr algn="ctr" defTabSz="685800">
              <a:lnSpc>
                <a:spcPct val="120000"/>
              </a:lnSpc>
            </a:pPr>
            <a:r>
              <a:rPr lang="en-US" sz="700" b="1" noProof="1">
                <a:solidFill>
                  <a:srgbClr val="FFFFFF"/>
                </a:solidFill>
                <a:latin typeface="+mn-ea"/>
              </a:rPr>
              <a:t>Planning</a:t>
            </a:r>
            <a:endParaRPr lang="en-US" sz="700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4" name="ch2-num">
            <a:extLst>
              <a:ext uri="{FF2B5EF4-FFF2-40B4-BE49-F238E27FC236}">
                <a16:creationId xmlns:a16="http://schemas.microsoft.com/office/drawing/2014/main" id="{F2D50391-32E8-F7E4-D73B-73D7DA2405E6}"/>
              </a:ext>
            </a:extLst>
          </p:cNvPr>
          <p:cNvSpPr txBox="1"/>
          <p:nvPr/>
        </p:nvSpPr>
        <p:spPr>
          <a:xfrm>
            <a:off x="2451860" y="1481542"/>
            <a:ext cx="228600" cy="1135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1200" b="1" noProof="1">
                <a:solidFill>
                  <a:srgbClr val="FFFFFF"/>
                </a:solidFill>
                <a:latin typeface="+mn-ea"/>
              </a:rPr>
              <a:t>02</a:t>
            </a:r>
            <a:endParaRPr lang="en-US" sz="1200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1" name="ch2-en">
            <a:extLst>
              <a:ext uri="{FF2B5EF4-FFF2-40B4-BE49-F238E27FC236}">
                <a16:creationId xmlns:a16="http://schemas.microsoft.com/office/drawing/2014/main" id="{BA0D8EC8-7444-57F8-7E4E-C16DA301CA2D}"/>
              </a:ext>
            </a:extLst>
          </p:cNvPr>
          <p:cNvSpPr txBox="1"/>
          <p:nvPr/>
        </p:nvSpPr>
        <p:spPr>
          <a:xfrm>
            <a:off x="2267200" y="1669244"/>
            <a:ext cx="597920" cy="1174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spAutoFit/>
          </a:bodyPr>
          <a:lstStyle/>
          <a:p>
            <a:pPr algn="ctr" defTabSz="685800">
              <a:lnSpc>
                <a:spcPct val="120000"/>
              </a:lnSpc>
            </a:pPr>
            <a:r>
              <a:rPr lang="en-US" sz="700" b="1" noProof="1">
                <a:solidFill>
                  <a:srgbClr val="FFFFFF"/>
                </a:solidFill>
                <a:latin typeface="+mn-ea"/>
              </a:rPr>
              <a:t>Requirements</a:t>
            </a:r>
            <a:endParaRPr lang="en-US" sz="700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4" name="ch2-num">
            <a:extLst>
              <a:ext uri="{FF2B5EF4-FFF2-40B4-BE49-F238E27FC236}">
                <a16:creationId xmlns:a16="http://schemas.microsoft.com/office/drawing/2014/main" id="{D017A8BD-F3EA-57B1-F065-B573C8DF61D7}"/>
              </a:ext>
            </a:extLst>
          </p:cNvPr>
          <p:cNvSpPr txBox="1"/>
          <p:nvPr/>
        </p:nvSpPr>
        <p:spPr>
          <a:xfrm>
            <a:off x="3592320" y="1481542"/>
            <a:ext cx="228600" cy="1135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1200" b="1" noProof="1">
                <a:solidFill>
                  <a:srgbClr val="FFFFFF"/>
                </a:solidFill>
                <a:latin typeface="+mn-ea"/>
              </a:rPr>
              <a:t>03</a:t>
            </a:r>
            <a:endParaRPr lang="en-US" sz="1200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5" name="ch2-en">
            <a:extLst>
              <a:ext uri="{FF2B5EF4-FFF2-40B4-BE49-F238E27FC236}">
                <a16:creationId xmlns:a16="http://schemas.microsoft.com/office/drawing/2014/main" id="{6AE9F173-D493-C640-DD1D-608A2A326F69}"/>
              </a:ext>
            </a:extLst>
          </p:cNvPr>
          <p:cNvSpPr txBox="1"/>
          <p:nvPr/>
        </p:nvSpPr>
        <p:spPr>
          <a:xfrm>
            <a:off x="3557541" y="1669244"/>
            <a:ext cx="298159" cy="1174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spAutoFit/>
          </a:bodyPr>
          <a:lstStyle/>
          <a:p>
            <a:pPr algn="ctr" defTabSz="685800">
              <a:lnSpc>
                <a:spcPct val="120000"/>
              </a:lnSpc>
            </a:pPr>
            <a:r>
              <a:rPr lang="en-US" altLang="zh-CN" sz="700" b="1" noProof="1">
                <a:solidFill>
                  <a:srgbClr val="FFFFFF"/>
                </a:solidFill>
                <a:latin typeface="+mn-ea"/>
              </a:rPr>
              <a:t>Design</a:t>
            </a:r>
            <a:endParaRPr lang="en-US" altLang="zh-CN" sz="700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6" name="ch2-num">
            <a:extLst>
              <a:ext uri="{FF2B5EF4-FFF2-40B4-BE49-F238E27FC236}">
                <a16:creationId xmlns:a16="http://schemas.microsoft.com/office/drawing/2014/main" id="{5BDB7986-0ACD-BF18-F426-B22F26A03EC9}"/>
              </a:ext>
            </a:extLst>
          </p:cNvPr>
          <p:cNvSpPr txBox="1"/>
          <p:nvPr/>
        </p:nvSpPr>
        <p:spPr>
          <a:xfrm>
            <a:off x="4711185" y="1481542"/>
            <a:ext cx="228600" cy="1135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1200" b="1" noProof="1">
                <a:solidFill>
                  <a:srgbClr val="FFFFFF"/>
                </a:solidFill>
                <a:latin typeface="+mn-ea"/>
              </a:rPr>
              <a:t>04</a:t>
            </a:r>
            <a:endParaRPr lang="en-US" sz="1200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7" name="ch2-en">
            <a:extLst>
              <a:ext uri="{FF2B5EF4-FFF2-40B4-BE49-F238E27FC236}">
                <a16:creationId xmlns:a16="http://schemas.microsoft.com/office/drawing/2014/main" id="{176D85E6-30EB-9932-452A-06FF120B91FA}"/>
              </a:ext>
            </a:extLst>
          </p:cNvPr>
          <p:cNvSpPr txBox="1"/>
          <p:nvPr/>
        </p:nvSpPr>
        <p:spPr>
          <a:xfrm>
            <a:off x="4532036" y="1620225"/>
            <a:ext cx="647613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spAutoFit/>
          </a:bodyPr>
          <a:lstStyle/>
          <a:p>
            <a:pPr algn="ctr" defTabSz="685800"/>
            <a:r>
              <a:rPr lang="en-US" altLang="zh-CN" sz="700" b="1" noProof="1">
                <a:solidFill>
                  <a:srgbClr val="FFFFFF"/>
                </a:solidFill>
                <a:latin typeface="+mn-ea"/>
              </a:rPr>
              <a:t>Construction&amp; </a:t>
            </a:r>
          </a:p>
          <a:p>
            <a:pPr algn="ctr" defTabSz="685800"/>
            <a:r>
              <a:rPr lang="en-US" altLang="zh-CN" sz="700" b="1" noProof="1">
                <a:solidFill>
                  <a:srgbClr val="FFFFFF"/>
                </a:solidFill>
                <a:latin typeface="+mn-ea"/>
              </a:rPr>
              <a:t>Coding</a:t>
            </a:r>
            <a:endParaRPr lang="en-US" altLang="zh-CN" sz="700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8" name="ch2-num">
            <a:extLst>
              <a:ext uri="{FF2B5EF4-FFF2-40B4-BE49-F238E27FC236}">
                <a16:creationId xmlns:a16="http://schemas.microsoft.com/office/drawing/2014/main" id="{95B7530A-4EAA-A3D8-4B07-695DC3C69C35}"/>
              </a:ext>
            </a:extLst>
          </p:cNvPr>
          <p:cNvSpPr txBox="1"/>
          <p:nvPr/>
        </p:nvSpPr>
        <p:spPr>
          <a:xfrm>
            <a:off x="5868610" y="1481542"/>
            <a:ext cx="228600" cy="1135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1200" b="1" noProof="1">
                <a:solidFill>
                  <a:srgbClr val="FFFFFF"/>
                </a:solidFill>
                <a:latin typeface="+mn-ea"/>
              </a:rPr>
              <a:t>05</a:t>
            </a:r>
            <a:endParaRPr lang="en-US" sz="1200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9" name="ch2-en">
            <a:extLst>
              <a:ext uri="{FF2B5EF4-FFF2-40B4-BE49-F238E27FC236}">
                <a16:creationId xmlns:a16="http://schemas.microsoft.com/office/drawing/2014/main" id="{47F56C39-D16F-2DCF-08E9-C4D034B2D2ED}"/>
              </a:ext>
            </a:extLst>
          </p:cNvPr>
          <p:cNvSpPr txBox="1"/>
          <p:nvPr/>
        </p:nvSpPr>
        <p:spPr>
          <a:xfrm>
            <a:off x="5539956" y="1620225"/>
            <a:ext cx="894532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algn="ctr" defTabSz="685800"/>
            <a:r>
              <a:rPr lang="en-US" altLang="zh-CN" sz="700" b="1" noProof="1">
                <a:solidFill>
                  <a:srgbClr val="FFFFFF"/>
                </a:solidFill>
                <a:latin typeface="+mn-ea"/>
              </a:rPr>
              <a:t>Testing &amp;</a:t>
            </a:r>
            <a:r>
              <a:rPr lang="en-US" altLang="zh-CN" sz="700" noProof="1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zh-CN" sz="700" b="1" noProof="1">
                <a:solidFill>
                  <a:srgbClr val="FFFFFF"/>
                </a:solidFill>
                <a:latin typeface="+mn-ea"/>
              </a:rPr>
              <a:t>Implementation</a:t>
            </a:r>
            <a:endParaRPr lang="en-US" altLang="zh-CN" sz="700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0" name="ch2-num">
            <a:extLst>
              <a:ext uri="{FF2B5EF4-FFF2-40B4-BE49-F238E27FC236}">
                <a16:creationId xmlns:a16="http://schemas.microsoft.com/office/drawing/2014/main" id="{9D16E9B6-E23B-8C51-4278-BC26B44E1589}"/>
              </a:ext>
            </a:extLst>
          </p:cNvPr>
          <p:cNvSpPr txBox="1"/>
          <p:nvPr/>
        </p:nvSpPr>
        <p:spPr>
          <a:xfrm>
            <a:off x="6992105" y="1481542"/>
            <a:ext cx="228600" cy="1135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1200" b="1" noProof="1">
                <a:solidFill>
                  <a:srgbClr val="FFFFFF"/>
                </a:solidFill>
                <a:latin typeface="+mn-ea"/>
              </a:rPr>
              <a:t>06</a:t>
            </a:r>
            <a:endParaRPr lang="en-US" sz="1200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1" name="ch2-en">
            <a:extLst>
              <a:ext uri="{FF2B5EF4-FFF2-40B4-BE49-F238E27FC236}">
                <a16:creationId xmlns:a16="http://schemas.microsoft.com/office/drawing/2014/main" id="{44800343-7EF4-8136-367A-159FBCE080DD}"/>
              </a:ext>
            </a:extLst>
          </p:cNvPr>
          <p:cNvSpPr txBox="1"/>
          <p:nvPr/>
        </p:nvSpPr>
        <p:spPr>
          <a:xfrm>
            <a:off x="6824277" y="1620225"/>
            <a:ext cx="564257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spAutoFit/>
          </a:bodyPr>
          <a:lstStyle/>
          <a:p>
            <a:pPr algn="ctr" defTabSz="685800"/>
            <a:r>
              <a:rPr lang="en-US" altLang="zh-CN" sz="700" b="1" noProof="1">
                <a:solidFill>
                  <a:srgbClr val="FFFFFF"/>
                </a:solidFill>
                <a:latin typeface="+mn-ea"/>
              </a:rPr>
              <a:t>Operations &amp;</a:t>
            </a:r>
            <a:endParaRPr lang="en-US" altLang="zh-CN" sz="700" noProof="1">
              <a:solidFill>
                <a:srgbClr val="000000"/>
              </a:solidFill>
              <a:latin typeface="+mn-ea"/>
            </a:endParaRPr>
          </a:p>
          <a:p>
            <a:pPr algn="ctr" defTabSz="685800"/>
            <a:r>
              <a:rPr lang="en-US" altLang="zh-CN" sz="700" b="1" noProof="1">
                <a:solidFill>
                  <a:srgbClr val="FFFFFF"/>
                </a:solidFill>
                <a:latin typeface="+mn-ea"/>
              </a:rPr>
              <a:t>Maintenance</a:t>
            </a:r>
            <a:endParaRPr lang="en-US" altLang="zh-CN" sz="700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2" name="ch2-num">
            <a:extLst>
              <a:ext uri="{FF2B5EF4-FFF2-40B4-BE49-F238E27FC236}">
                <a16:creationId xmlns:a16="http://schemas.microsoft.com/office/drawing/2014/main" id="{0C24D404-B44C-BD65-C659-B4B9BA36B6DE}"/>
              </a:ext>
            </a:extLst>
          </p:cNvPr>
          <p:cNvSpPr txBox="1"/>
          <p:nvPr/>
        </p:nvSpPr>
        <p:spPr>
          <a:xfrm>
            <a:off x="8140858" y="1481542"/>
            <a:ext cx="228600" cy="1135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1200" b="1" noProof="1">
                <a:solidFill>
                  <a:srgbClr val="FFFFFF"/>
                </a:solidFill>
                <a:latin typeface="+mn-ea"/>
              </a:rPr>
              <a:t>07</a:t>
            </a:r>
            <a:endParaRPr lang="en-US" sz="1200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3" name="ch2-en">
            <a:extLst>
              <a:ext uri="{FF2B5EF4-FFF2-40B4-BE49-F238E27FC236}">
                <a16:creationId xmlns:a16="http://schemas.microsoft.com/office/drawing/2014/main" id="{542533F1-E0E3-366C-A47D-74EEB8AE7CD0}"/>
              </a:ext>
            </a:extLst>
          </p:cNvPr>
          <p:cNvSpPr txBox="1"/>
          <p:nvPr/>
        </p:nvSpPr>
        <p:spPr>
          <a:xfrm>
            <a:off x="7936161" y="1669244"/>
            <a:ext cx="637995" cy="1174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spAutoFit/>
          </a:bodyPr>
          <a:lstStyle/>
          <a:p>
            <a:pPr algn="ctr" defTabSz="685800">
              <a:lnSpc>
                <a:spcPct val="120000"/>
              </a:lnSpc>
            </a:pPr>
            <a:r>
              <a:rPr lang="en-US" altLang="zh-CN" sz="700" b="1" noProof="1">
                <a:solidFill>
                  <a:srgbClr val="FFFFFF"/>
                </a:solidFill>
                <a:latin typeface="+mn-ea"/>
              </a:rPr>
              <a:t>Decommission</a:t>
            </a:r>
            <a:endParaRPr lang="en-US" altLang="zh-CN" sz="700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9" name="m-ai1">
            <a:extLst>
              <a:ext uri="{FF2B5EF4-FFF2-40B4-BE49-F238E27FC236}">
                <a16:creationId xmlns:a16="http://schemas.microsoft.com/office/drawing/2014/main" id="{C9A893E8-EB49-E3B9-3244-145D18F89977}"/>
              </a:ext>
            </a:extLst>
          </p:cNvPr>
          <p:cNvSpPr txBox="1"/>
          <p:nvPr/>
        </p:nvSpPr>
        <p:spPr>
          <a:xfrm>
            <a:off x="807287" y="1948050"/>
            <a:ext cx="1047750" cy="3089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171450" indent="-171450" defTabSz="685800">
              <a:buFont typeface="Arial" panose="020B0604020202020204" pitchFamily="34" charset="0"/>
              <a:buChar char="•"/>
            </a:pPr>
            <a:r>
              <a:rPr lang="zh-CN" altLang="en-US" sz="900" noProof="1">
                <a:solidFill>
                  <a:srgbClr val="000000"/>
                </a:solidFill>
                <a:latin typeface="+mn-ea"/>
              </a:rPr>
              <a:t>起草项目章程、风险与进度计划</a:t>
            </a:r>
            <a:endParaRPr lang="en-US" sz="900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81" name="m-ai1">
            <a:extLst>
              <a:ext uri="{FF2B5EF4-FFF2-40B4-BE49-F238E27FC236}">
                <a16:creationId xmlns:a16="http://schemas.microsoft.com/office/drawing/2014/main" id="{C96B60D4-8937-48EF-8432-B652D21CA728}"/>
              </a:ext>
            </a:extLst>
          </p:cNvPr>
          <p:cNvSpPr txBox="1"/>
          <p:nvPr/>
        </p:nvSpPr>
        <p:spPr>
          <a:xfrm>
            <a:off x="1931899" y="1948050"/>
            <a:ext cx="1047750" cy="3420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171450" indent="-171450" defTabSz="685800">
              <a:lnSpc>
                <a:spcPct val="142000"/>
              </a:lnSpc>
              <a:buFont typeface="Arial" panose="020B0604020202020204" pitchFamily="34" charset="0"/>
              <a:buChar char="•"/>
            </a:pPr>
            <a:r>
              <a:rPr lang="zh-CN" altLang="en-US" sz="900" noProof="1">
                <a:solidFill>
                  <a:srgbClr val="000000"/>
                </a:solidFill>
                <a:latin typeface="+mn-ea"/>
              </a:rPr>
              <a:t>起草需求文档</a:t>
            </a:r>
            <a:endParaRPr lang="en-US" sz="900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83" name="m-ai1">
            <a:extLst>
              <a:ext uri="{FF2B5EF4-FFF2-40B4-BE49-F238E27FC236}">
                <a16:creationId xmlns:a16="http://schemas.microsoft.com/office/drawing/2014/main" id="{BE9D4F48-611E-C8D6-9971-A2E20B414C6E}"/>
              </a:ext>
            </a:extLst>
          </p:cNvPr>
          <p:cNvSpPr txBox="1"/>
          <p:nvPr/>
        </p:nvSpPr>
        <p:spPr>
          <a:xfrm>
            <a:off x="3078813" y="1948050"/>
            <a:ext cx="1047750" cy="3089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171450" indent="-171450" defTabSz="685800">
              <a:buFont typeface="Arial" panose="020B0604020202020204" pitchFamily="34" charset="0"/>
              <a:buChar char="•"/>
            </a:pPr>
            <a:r>
              <a:rPr lang="zh-CN" altLang="en-US" sz="900" noProof="1">
                <a:solidFill>
                  <a:srgbClr val="000000"/>
                </a:solidFill>
                <a:latin typeface="+mn-ea"/>
              </a:rPr>
              <a:t>生成架构 </a:t>
            </a:r>
            <a:r>
              <a:rPr lang="en-US" altLang="zh-CN" sz="900" noProof="1">
                <a:solidFill>
                  <a:srgbClr val="000000"/>
                </a:solidFill>
                <a:latin typeface="+mn-ea"/>
              </a:rPr>
              <a:t>/ </a:t>
            </a:r>
            <a:r>
              <a:rPr lang="zh-CN" altLang="en-US" sz="900" noProof="1">
                <a:solidFill>
                  <a:srgbClr val="000000"/>
                </a:solidFill>
                <a:latin typeface="+mn-ea"/>
              </a:rPr>
              <a:t>界面 </a:t>
            </a:r>
            <a:r>
              <a:rPr lang="en-US" altLang="zh-CN" sz="900" noProof="1">
                <a:solidFill>
                  <a:srgbClr val="000000"/>
                </a:solidFill>
                <a:latin typeface="+mn-ea"/>
              </a:rPr>
              <a:t>/ </a:t>
            </a:r>
            <a:r>
              <a:rPr lang="zh-CN" altLang="en-US" sz="900" noProof="1">
                <a:solidFill>
                  <a:srgbClr val="000000"/>
                </a:solidFill>
                <a:latin typeface="+mn-ea"/>
              </a:rPr>
              <a:t>库表草稿</a:t>
            </a:r>
            <a:endParaRPr lang="en-US" sz="900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85" name="m-ai1">
            <a:extLst>
              <a:ext uri="{FF2B5EF4-FFF2-40B4-BE49-F238E27FC236}">
                <a16:creationId xmlns:a16="http://schemas.microsoft.com/office/drawing/2014/main" id="{45AFF747-7304-E524-E562-332FB5F27ECC}"/>
              </a:ext>
            </a:extLst>
          </p:cNvPr>
          <p:cNvSpPr txBox="1"/>
          <p:nvPr/>
        </p:nvSpPr>
        <p:spPr>
          <a:xfrm>
            <a:off x="4210487" y="1948050"/>
            <a:ext cx="1047750" cy="3166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171450" indent="-171450" defTabSz="685800">
              <a:buFont typeface="Arial" panose="020B0604020202020204" pitchFamily="34" charset="0"/>
              <a:buChar char="•"/>
            </a:pPr>
            <a:r>
              <a:rPr lang="zh-CN" altLang="en-US" sz="900" noProof="1">
                <a:solidFill>
                  <a:srgbClr val="000000"/>
                </a:solidFill>
                <a:latin typeface="+mn-ea"/>
              </a:rPr>
              <a:t>生成代码，代码逻辑的流程图</a:t>
            </a:r>
            <a:endParaRPr lang="en-US" sz="900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87" name="m-ai1">
            <a:extLst>
              <a:ext uri="{FF2B5EF4-FFF2-40B4-BE49-F238E27FC236}">
                <a16:creationId xmlns:a16="http://schemas.microsoft.com/office/drawing/2014/main" id="{65EFEBBB-4315-0EE5-1F73-9C2B5BCA5958}"/>
              </a:ext>
            </a:extLst>
          </p:cNvPr>
          <p:cNvSpPr txBox="1"/>
          <p:nvPr/>
        </p:nvSpPr>
        <p:spPr>
          <a:xfrm>
            <a:off x="5372641" y="1948050"/>
            <a:ext cx="1047750" cy="3089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171450" indent="-171450" defTabSz="685800">
              <a:buFont typeface="Arial" panose="020B0604020202020204" pitchFamily="34" charset="0"/>
              <a:buChar char="•"/>
            </a:pPr>
            <a:r>
              <a:rPr lang="zh-CN" altLang="en-US" sz="900" noProof="1">
                <a:solidFill>
                  <a:srgbClr val="000000"/>
                </a:solidFill>
                <a:latin typeface="+mn-ea"/>
              </a:rPr>
              <a:t>辅助生成用例与确认记录</a:t>
            </a:r>
          </a:p>
        </p:txBody>
      </p:sp>
      <p:sp>
        <p:nvSpPr>
          <p:cNvPr id="89" name="m-ai1">
            <a:extLst>
              <a:ext uri="{FF2B5EF4-FFF2-40B4-BE49-F238E27FC236}">
                <a16:creationId xmlns:a16="http://schemas.microsoft.com/office/drawing/2014/main" id="{A622F868-A609-5F9C-C232-022BDB5AAD3F}"/>
              </a:ext>
            </a:extLst>
          </p:cNvPr>
          <p:cNvSpPr txBox="1"/>
          <p:nvPr/>
        </p:nvSpPr>
        <p:spPr>
          <a:xfrm>
            <a:off x="6519555" y="1948050"/>
            <a:ext cx="1047750" cy="4458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171450" indent="-171450" defTabSz="685800">
              <a:buFont typeface="Arial" panose="020B0604020202020204" pitchFamily="34" charset="0"/>
              <a:buChar char="•"/>
            </a:pPr>
            <a:r>
              <a:rPr lang="zh-CN" altLang="en-US" sz="900" noProof="1">
                <a:solidFill>
                  <a:srgbClr val="000000"/>
                </a:solidFill>
                <a:latin typeface="+mn-ea"/>
              </a:rPr>
              <a:t>辅助生成变更说明与排障草稿</a:t>
            </a:r>
          </a:p>
        </p:txBody>
      </p:sp>
      <p:sp>
        <p:nvSpPr>
          <p:cNvPr id="91" name="m-ai1">
            <a:extLst>
              <a:ext uri="{FF2B5EF4-FFF2-40B4-BE49-F238E27FC236}">
                <a16:creationId xmlns:a16="http://schemas.microsoft.com/office/drawing/2014/main" id="{9B1D6BD1-CB5A-40FA-BC1D-50925E21CB9F}"/>
              </a:ext>
            </a:extLst>
          </p:cNvPr>
          <p:cNvSpPr txBox="1"/>
          <p:nvPr/>
        </p:nvSpPr>
        <p:spPr>
          <a:xfrm>
            <a:off x="7666472" y="1948050"/>
            <a:ext cx="1047750" cy="4458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171450" indent="-171450" defTabSz="685800">
              <a:buFont typeface="Arial" panose="020B0604020202020204" pitchFamily="34" charset="0"/>
              <a:buChar char="•"/>
            </a:pPr>
            <a:r>
              <a:rPr lang="zh-CN" altLang="en-US" sz="900" noProof="1">
                <a:solidFill>
                  <a:srgbClr val="000000"/>
                </a:solidFill>
                <a:latin typeface="+mn-ea"/>
              </a:rPr>
              <a:t>整理退役清单与审计材料</a:t>
            </a:r>
          </a:p>
        </p:txBody>
      </p:sp>
      <p:sp>
        <p:nvSpPr>
          <p:cNvPr id="94" name="m-ai1">
            <a:extLst>
              <a:ext uri="{FF2B5EF4-FFF2-40B4-BE49-F238E27FC236}">
                <a16:creationId xmlns:a16="http://schemas.microsoft.com/office/drawing/2014/main" id="{C392D1A2-E57E-F0E1-77E7-B2CC15D17BF0}"/>
              </a:ext>
            </a:extLst>
          </p:cNvPr>
          <p:cNvSpPr txBox="1"/>
          <p:nvPr/>
        </p:nvSpPr>
        <p:spPr>
          <a:xfrm>
            <a:off x="807287" y="2437509"/>
            <a:ext cx="1047750" cy="3426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171450" indent="-171450" defTabSz="685800">
              <a:buFont typeface="Arial" panose="020B0604020202020204" pitchFamily="34" charset="0"/>
              <a:buChar char="•"/>
            </a:pPr>
            <a:r>
              <a:rPr lang="zh-CN" altLang="en-US" sz="900" noProof="1">
                <a:solidFill>
                  <a:srgbClr val="000000"/>
                </a:solidFill>
                <a:latin typeface="+mn-ea"/>
              </a:rPr>
              <a:t>锁定项目范围与预算</a:t>
            </a:r>
            <a:endParaRPr lang="en-US" sz="900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96" name="m-ai1">
            <a:extLst>
              <a:ext uri="{FF2B5EF4-FFF2-40B4-BE49-F238E27FC236}">
                <a16:creationId xmlns:a16="http://schemas.microsoft.com/office/drawing/2014/main" id="{7685AE9B-F4D9-9DED-16A7-EA5D9C5A75B8}"/>
              </a:ext>
            </a:extLst>
          </p:cNvPr>
          <p:cNvSpPr txBox="1"/>
          <p:nvPr/>
        </p:nvSpPr>
        <p:spPr>
          <a:xfrm>
            <a:off x="1931898" y="2437509"/>
            <a:ext cx="1096663" cy="3426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171450" indent="-171450" defTabSz="685800">
              <a:buFont typeface="Arial" panose="020B0604020202020204" pitchFamily="34" charset="0"/>
              <a:buChar char="•"/>
            </a:pPr>
            <a:r>
              <a:rPr lang="zh-CN" altLang="en-US" sz="900" noProof="1">
                <a:solidFill>
                  <a:srgbClr val="000000"/>
                </a:solidFill>
                <a:latin typeface="+mn-ea"/>
              </a:rPr>
              <a:t>修订并确认需求，确定边界与优先级</a:t>
            </a:r>
            <a:endParaRPr lang="en-US" sz="900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98" name="m-ai1">
            <a:extLst>
              <a:ext uri="{FF2B5EF4-FFF2-40B4-BE49-F238E27FC236}">
                <a16:creationId xmlns:a16="http://schemas.microsoft.com/office/drawing/2014/main" id="{D75171D7-B647-6FA5-FA24-69C7698D0E91}"/>
              </a:ext>
            </a:extLst>
          </p:cNvPr>
          <p:cNvSpPr txBox="1"/>
          <p:nvPr/>
        </p:nvSpPr>
        <p:spPr>
          <a:xfrm>
            <a:off x="3078813" y="2437509"/>
            <a:ext cx="1047750" cy="49440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171450" indent="-171450" defTabSz="685800">
              <a:buFont typeface="Arial" panose="020B0604020202020204" pitchFamily="34" charset="0"/>
              <a:buChar char="•"/>
            </a:pPr>
            <a:r>
              <a:rPr lang="zh-CN" altLang="en-US" sz="900" noProof="1">
                <a:solidFill>
                  <a:srgbClr val="000000"/>
                </a:solidFill>
                <a:latin typeface="+mn-ea"/>
              </a:rPr>
              <a:t>评审并确认设计方案</a:t>
            </a:r>
            <a:endParaRPr lang="en-US" sz="900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00" name="m-ai1">
            <a:extLst>
              <a:ext uri="{FF2B5EF4-FFF2-40B4-BE49-F238E27FC236}">
                <a16:creationId xmlns:a16="http://schemas.microsoft.com/office/drawing/2014/main" id="{24605836-4905-423F-1F79-E0A1CD11DB3D}"/>
              </a:ext>
            </a:extLst>
          </p:cNvPr>
          <p:cNvSpPr txBox="1"/>
          <p:nvPr/>
        </p:nvSpPr>
        <p:spPr>
          <a:xfrm>
            <a:off x="4210486" y="2437509"/>
            <a:ext cx="1098103" cy="49440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171450" indent="-171450" defTabSz="685800">
              <a:buFont typeface="Arial" panose="020B0604020202020204" pitchFamily="34" charset="0"/>
              <a:buChar char="•"/>
            </a:pPr>
            <a:r>
              <a:rPr lang="zh-CN" altLang="en-US" sz="900" noProof="1">
                <a:solidFill>
                  <a:srgbClr val="000000"/>
                </a:solidFill>
                <a:latin typeface="+mn-ea"/>
              </a:rPr>
              <a:t>审查代码与实现，把关关键技术决策</a:t>
            </a:r>
            <a:endParaRPr lang="en-US" sz="900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02" name="m-ai1">
            <a:extLst>
              <a:ext uri="{FF2B5EF4-FFF2-40B4-BE49-F238E27FC236}">
                <a16:creationId xmlns:a16="http://schemas.microsoft.com/office/drawing/2014/main" id="{6C3E14C0-399B-9B08-2A5B-7C631F5124C7}"/>
              </a:ext>
            </a:extLst>
          </p:cNvPr>
          <p:cNvSpPr txBox="1"/>
          <p:nvPr/>
        </p:nvSpPr>
        <p:spPr>
          <a:xfrm>
            <a:off x="5372641" y="2437509"/>
            <a:ext cx="1047750" cy="3221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171450" indent="-171450" defTabSz="685800">
              <a:buFont typeface="Arial" panose="020B0604020202020204" pitchFamily="34" charset="0"/>
              <a:buChar char="•"/>
            </a:pPr>
            <a:r>
              <a:rPr lang="zh-CN" altLang="en-US" sz="900" noProof="1">
                <a:solidFill>
                  <a:srgbClr val="000000"/>
                </a:solidFill>
                <a:latin typeface="+mn-ea"/>
              </a:rPr>
              <a:t>执行测试与验证</a:t>
            </a:r>
          </a:p>
        </p:txBody>
      </p:sp>
      <p:sp>
        <p:nvSpPr>
          <p:cNvPr id="104" name="m-ai1">
            <a:extLst>
              <a:ext uri="{FF2B5EF4-FFF2-40B4-BE49-F238E27FC236}">
                <a16:creationId xmlns:a16="http://schemas.microsoft.com/office/drawing/2014/main" id="{EDDEC38D-9F2E-A1A0-4C78-7458E8371588}"/>
              </a:ext>
            </a:extLst>
          </p:cNvPr>
          <p:cNvSpPr txBox="1"/>
          <p:nvPr/>
        </p:nvSpPr>
        <p:spPr>
          <a:xfrm>
            <a:off x="6519555" y="2437509"/>
            <a:ext cx="1047750" cy="3416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171450" indent="-171450" defTabSz="685800">
              <a:buFont typeface="Arial" panose="020B0604020202020204" pitchFamily="34" charset="0"/>
              <a:buChar char="•"/>
            </a:pPr>
            <a:r>
              <a:rPr lang="zh-CN" altLang="en-US" sz="900" noProof="1">
                <a:solidFill>
                  <a:srgbClr val="000000"/>
                </a:solidFill>
                <a:latin typeface="+mn-ea"/>
              </a:rPr>
              <a:t>确认并执行运维操作与变更</a:t>
            </a:r>
          </a:p>
        </p:txBody>
      </p:sp>
      <p:sp>
        <p:nvSpPr>
          <p:cNvPr id="106" name="m-ai1">
            <a:extLst>
              <a:ext uri="{FF2B5EF4-FFF2-40B4-BE49-F238E27FC236}">
                <a16:creationId xmlns:a16="http://schemas.microsoft.com/office/drawing/2014/main" id="{E75361E0-EC1A-78B7-933A-DC4127BC3E49}"/>
              </a:ext>
            </a:extLst>
          </p:cNvPr>
          <p:cNvSpPr txBox="1"/>
          <p:nvPr/>
        </p:nvSpPr>
        <p:spPr>
          <a:xfrm>
            <a:off x="7666472" y="2437509"/>
            <a:ext cx="1047750" cy="49440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171450" indent="-171450" defTabSz="685800">
              <a:buFont typeface="Arial" panose="020B0604020202020204" pitchFamily="34" charset="0"/>
              <a:buChar char="•"/>
            </a:pPr>
            <a:r>
              <a:rPr lang="zh-CN" altLang="en-US" sz="900" noProof="1">
                <a:solidFill>
                  <a:srgbClr val="000000"/>
                </a:solidFill>
                <a:latin typeface="+mn-ea"/>
              </a:rPr>
              <a:t>确认材料并执行</a:t>
            </a:r>
          </a:p>
        </p:txBody>
      </p:sp>
      <p:sp>
        <p:nvSpPr>
          <p:cNvPr id="108" name="m-ai1">
            <a:extLst>
              <a:ext uri="{FF2B5EF4-FFF2-40B4-BE49-F238E27FC236}">
                <a16:creationId xmlns:a16="http://schemas.microsoft.com/office/drawing/2014/main" id="{7FC7FEA9-E6AB-D3FE-B776-D4E53A34D9DC}"/>
              </a:ext>
            </a:extLst>
          </p:cNvPr>
          <p:cNvSpPr txBox="1"/>
          <p:nvPr/>
        </p:nvSpPr>
        <p:spPr>
          <a:xfrm>
            <a:off x="807287" y="2906981"/>
            <a:ext cx="1047750" cy="53415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171450" indent="-171450" defTabSz="685800">
              <a:buFont typeface="Arial" panose="020B0604020202020204" pitchFamily="34" charset="0"/>
              <a:buChar char="•"/>
            </a:pPr>
            <a:r>
              <a:rPr lang="zh-CN" altLang="en-US" sz="900">
                <a:latin typeface="+mn-ea"/>
                <a:cs typeface="微软雅黑" pitchFamily="34" charset="0"/>
              </a:rPr>
              <a:t>结构更完整的立项包 （项目章程、范围说明、风险登记册等）</a:t>
            </a:r>
            <a:endParaRPr lang="en-US" altLang="zh-CN" sz="900">
              <a:latin typeface="+mn-ea"/>
              <a:cs typeface="微软雅黑" pitchFamily="34" charset="0"/>
            </a:endParaRPr>
          </a:p>
          <a:p>
            <a:pPr marL="171450" indent="-171450" defTabSz="685800">
              <a:lnSpc>
                <a:spcPct val="142000"/>
              </a:lnSpc>
              <a:buFont typeface="Arial" panose="020B0604020202020204" pitchFamily="34" charset="0"/>
              <a:buChar char="•"/>
            </a:pPr>
            <a:endParaRPr lang="en-US" sz="900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10" name="m-ai1">
            <a:extLst>
              <a:ext uri="{FF2B5EF4-FFF2-40B4-BE49-F238E27FC236}">
                <a16:creationId xmlns:a16="http://schemas.microsoft.com/office/drawing/2014/main" id="{831A47E5-6781-4CD6-C64B-A8B797B0B97A}"/>
              </a:ext>
            </a:extLst>
          </p:cNvPr>
          <p:cNvSpPr txBox="1"/>
          <p:nvPr/>
        </p:nvSpPr>
        <p:spPr>
          <a:xfrm>
            <a:off x="1931899" y="2906981"/>
            <a:ext cx="1047750" cy="390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171450" indent="-171450" defTabSz="685800">
              <a:buFont typeface="Arial" panose="020B0604020202020204" pitchFamily="34" charset="0"/>
              <a:buChar char="•"/>
            </a:pPr>
            <a:r>
              <a:rPr lang="en-US" altLang="zh-CN" sz="900" noProof="1">
                <a:solidFill>
                  <a:srgbClr val="000000"/>
                </a:solidFill>
                <a:latin typeface="+mn-ea"/>
              </a:rPr>
              <a:t>spec.md</a:t>
            </a:r>
          </a:p>
          <a:p>
            <a:pPr marL="171450" indent="-171450" defTabSz="685800">
              <a:buFont typeface="Arial" panose="020B0604020202020204" pitchFamily="34" charset="0"/>
              <a:buChar char="•"/>
            </a:pPr>
            <a:r>
              <a:rPr lang="en-US" altLang="zh-CN" sz="900" noProof="1">
                <a:solidFill>
                  <a:srgbClr val="000000"/>
                </a:solidFill>
                <a:latin typeface="+mn-ea"/>
              </a:rPr>
              <a:t>NFR </a:t>
            </a:r>
            <a:r>
              <a:rPr lang="zh-CN" altLang="en-US" sz="900" noProof="1">
                <a:solidFill>
                  <a:srgbClr val="000000"/>
                </a:solidFill>
                <a:latin typeface="+mn-ea"/>
              </a:rPr>
              <a:t>量化表</a:t>
            </a:r>
            <a:endParaRPr lang="en-US" sz="900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12" name="m-ai1">
            <a:extLst>
              <a:ext uri="{FF2B5EF4-FFF2-40B4-BE49-F238E27FC236}">
                <a16:creationId xmlns:a16="http://schemas.microsoft.com/office/drawing/2014/main" id="{EC69FE95-EABD-6234-3060-011835CA4FFA}"/>
              </a:ext>
            </a:extLst>
          </p:cNvPr>
          <p:cNvSpPr txBox="1"/>
          <p:nvPr/>
        </p:nvSpPr>
        <p:spPr>
          <a:xfrm>
            <a:off x="3078813" y="2906981"/>
            <a:ext cx="1047750" cy="49440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171450" indent="-171450" defTabSz="685800">
              <a:buFont typeface="Arial" panose="020B0604020202020204" pitchFamily="34" charset="0"/>
              <a:buChar char="•"/>
            </a:pPr>
            <a:r>
              <a:rPr lang="en-US" altLang="zh-CN" sz="900" noProof="1">
                <a:solidFill>
                  <a:srgbClr val="000000"/>
                </a:solidFill>
                <a:latin typeface="+mn-ea"/>
              </a:rPr>
              <a:t>constitution.md</a:t>
            </a:r>
          </a:p>
          <a:p>
            <a:pPr marL="171450" indent="-171450" defTabSz="685800">
              <a:buFont typeface="Arial" panose="020B0604020202020204" pitchFamily="34" charset="0"/>
              <a:buChar char="•"/>
            </a:pPr>
            <a:r>
              <a:rPr lang="en-US" altLang="zh-CN" sz="900" noProof="1">
                <a:solidFill>
                  <a:srgbClr val="000000"/>
                </a:solidFill>
                <a:latin typeface="+mn-ea"/>
              </a:rPr>
              <a:t>plan.md </a:t>
            </a:r>
          </a:p>
          <a:p>
            <a:pPr marL="171450" indent="-171450" defTabSz="685800">
              <a:buFont typeface="Arial" panose="020B0604020202020204" pitchFamily="34" charset="0"/>
              <a:buChar char="•"/>
            </a:pPr>
            <a:r>
              <a:rPr lang="en-US" sz="900" noProof="1">
                <a:solidFill>
                  <a:srgbClr val="000000"/>
                </a:solidFill>
                <a:latin typeface="+mn-ea"/>
              </a:rPr>
              <a:t>data-model.md</a:t>
            </a:r>
          </a:p>
        </p:txBody>
      </p:sp>
      <p:sp>
        <p:nvSpPr>
          <p:cNvPr id="114" name="m-ai1">
            <a:extLst>
              <a:ext uri="{FF2B5EF4-FFF2-40B4-BE49-F238E27FC236}">
                <a16:creationId xmlns:a16="http://schemas.microsoft.com/office/drawing/2014/main" id="{BD9502CE-EBD5-406B-CC16-A7B8EF7A17E4}"/>
              </a:ext>
            </a:extLst>
          </p:cNvPr>
          <p:cNvSpPr txBox="1"/>
          <p:nvPr/>
        </p:nvSpPr>
        <p:spPr>
          <a:xfrm>
            <a:off x="4210487" y="2906981"/>
            <a:ext cx="1047750" cy="7108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171450" indent="-171450" defTabSz="685800">
              <a:buFont typeface="Arial" panose="020B0604020202020204" pitchFamily="34" charset="0"/>
              <a:buChar char="•"/>
            </a:pPr>
            <a:r>
              <a:rPr lang="en-US" altLang="zh-CN" sz="900" noProof="1">
                <a:solidFill>
                  <a:srgbClr val="000000"/>
                </a:solidFill>
                <a:latin typeface="+mn-ea"/>
              </a:rPr>
              <a:t>tasks.md</a:t>
            </a:r>
            <a:r>
              <a:rPr lang="zh-CN" altLang="en-US" sz="900" noProof="1">
                <a:solidFill>
                  <a:srgbClr val="000000"/>
                </a:solidFill>
                <a:latin typeface="+mn-ea"/>
              </a:rPr>
              <a:t>（任务拆解）</a:t>
            </a:r>
            <a:endParaRPr lang="en-US" altLang="zh-CN" sz="900" noProof="1">
              <a:solidFill>
                <a:srgbClr val="000000"/>
              </a:solidFill>
              <a:latin typeface="+mn-ea"/>
            </a:endParaRPr>
          </a:p>
          <a:p>
            <a:pPr marL="171450" indent="-171450" defTabSz="685800">
              <a:buFont typeface="Arial" panose="020B0604020202020204" pitchFamily="34" charset="0"/>
              <a:buChar char="•"/>
            </a:pPr>
            <a:r>
              <a:rPr lang="zh-CN" altLang="en-US" sz="900" noProof="1">
                <a:solidFill>
                  <a:srgbClr val="000000"/>
                </a:solidFill>
                <a:latin typeface="+mn-ea"/>
              </a:rPr>
              <a:t>源代码</a:t>
            </a:r>
            <a:endParaRPr lang="en-US" altLang="zh-CN" sz="900" noProof="1">
              <a:solidFill>
                <a:srgbClr val="000000"/>
              </a:solidFill>
              <a:latin typeface="+mn-ea"/>
            </a:endParaRPr>
          </a:p>
          <a:p>
            <a:pPr marL="171450" indent="-171450" defTabSz="685800">
              <a:buFont typeface="Arial" panose="020B0604020202020204" pitchFamily="34" charset="0"/>
              <a:buChar char="•"/>
            </a:pPr>
            <a:r>
              <a:rPr lang="zh-CN" altLang="en-US" sz="900" noProof="1">
                <a:solidFill>
                  <a:srgbClr val="000000"/>
                </a:solidFill>
                <a:latin typeface="+mn-ea"/>
              </a:rPr>
              <a:t>单元测试证据</a:t>
            </a:r>
            <a:endParaRPr lang="en-US" altLang="zh-CN" sz="900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16" name="m-ai1">
            <a:extLst>
              <a:ext uri="{FF2B5EF4-FFF2-40B4-BE49-F238E27FC236}">
                <a16:creationId xmlns:a16="http://schemas.microsoft.com/office/drawing/2014/main" id="{5F0B6521-BE54-3BB1-321A-38953FF03B8F}"/>
              </a:ext>
            </a:extLst>
          </p:cNvPr>
          <p:cNvSpPr txBox="1"/>
          <p:nvPr/>
        </p:nvSpPr>
        <p:spPr>
          <a:xfrm>
            <a:off x="5372641" y="2906981"/>
            <a:ext cx="1047750" cy="649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171450" indent="-171450" defTabSz="685800">
              <a:buFont typeface="Arial" panose="020B0604020202020204" pitchFamily="34" charset="0"/>
              <a:buChar char="•"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微软雅黑" pitchFamily="34" charset="-120"/>
              </a:rPr>
              <a:t>验收语句复用为用例</a:t>
            </a:r>
          </a:p>
          <a:p>
            <a:pPr marL="171450" indent="-171450" defTabSz="685800">
              <a:buFont typeface="Arial" panose="020B0604020202020204" pitchFamily="34" charset="0"/>
              <a:buChar char="•"/>
            </a:pPr>
            <a:r>
              <a:rPr lang="en-US" altLang="zh-CN" sz="900">
                <a:latin typeface="+mn-ea"/>
                <a:cs typeface="微软雅黑" pitchFamily="34" charset="-120"/>
              </a:rPr>
              <a:t>全量回放报告</a:t>
            </a:r>
          </a:p>
          <a:p>
            <a:pPr marL="171450" indent="-171450" defTabSz="685800">
              <a:buFont typeface="Arial" panose="020B0604020202020204" pitchFamily="34" charset="0"/>
              <a:buChar char="•"/>
            </a:pPr>
            <a:r>
              <a:rPr lang="en-US" altLang="zh-CN" sz="900">
                <a:latin typeface="+mn-ea"/>
                <a:cs typeface="微软雅黑" pitchFamily="34" charset="-120"/>
              </a:rPr>
              <a:t>审计演练</a:t>
            </a:r>
            <a:r>
              <a:rPr lang="zh-CN" altLang="en-US" sz="900">
                <a:latin typeface="+mn-ea"/>
                <a:cs typeface="微软雅黑" pitchFamily="34" charset="-120"/>
              </a:rPr>
              <a:t>记录</a:t>
            </a:r>
            <a:endParaRPr lang="en-US" altLang="zh-CN" sz="900">
              <a:latin typeface="+mn-ea"/>
              <a:cs typeface="微软雅黑" pitchFamily="34" charset="-120"/>
            </a:endParaRPr>
          </a:p>
          <a:p>
            <a:pPr marL="171450" indent="-171450" defTabSz="685800">
              <a:buFont typeface="Arial" panose="020B0604020202020204" pitchFamily="34" charset="0"/>
              <a:buChar char="•"/>
            </a:pPr>
            <a:r>
              <a:rPr lang="en-US" altLang="zh-CN" sz="900">
                <a:latin typeface="+mn-ea"/>
                <a:cs typeface="微软雅黑" pitchFamily="34" charset="-120"/>
              </a:rPr>
              <a:t>会话档案归档</a:t>
            </a:r>
          </a:p>
        </p:txBody>
      </p:sp>
      <p:sp>
        <p:nvSpPr>
          <p:cNvPr id="118" name="m-ai1">
            <a:extLst>
              <a:ext uri="{FF2B5EF4-FFF2-40B4-BE49-F238E27FC236}">
                <a16:creationId xmlns:a16="http://schemas.microsoft.com/office/drawing/2014/main" id="{2DF4856D-8E75-ED16-6976-0D07FB01D6D0}"/>
              </a:ext>
            </a:extLst>
          </p:cNvPr>
          <p:cNvSpPr txBox="1"/>
          <p:nvPr/>
        </p:nvSpPr>
        <p:spPr>
          <a:xfrm>
            <a:off x="6519555" y="2906981"/>
            <a:ext cx="1047750" cy="49440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171450" indent="-171450" defTabSz="685800">
              <a:buFont typeface="Arial" panose="020B0604020202020204" pitchFamily="34" charset="0"/>
              <a:buChar char="•"/>
            </a:pP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微软雅黑" pitchFamily="34" charset="0"/>
              </a:rPr>
              <a:t>变更说明</a:t>
            </a: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微软雅黑" pitchFamily="34" charset="0"/>
            </a:endParaRPr>
          </a:p>
          <a:p>
            <a:pPr marL="171450" indent="-171450" defTabSz="685800">
              <a:buFont typeface="Arial" panose="020B0604020202020204" pitchFamily="34" charset="0"/>
              <a:buChar char="•"/>
            </a:pP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微软雅黑" pitchFamily="34" charset="0"/>
              </a:rPr>
              <a:t>运维记录</a:t>
            </a: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微软雅黑" pitchFamily="34" charset="0"/>
            </a:endParaRPr>
          </a:p>
          <a:p>
            <a:pPr defTabSz="685800"/>
            <a:endParaRPr lang="zh-CN" altLang="en-US" sz="900" noProof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20" name="m-ai1">
            <a:extLst>
              <a:ext uri="{FF2B5EF4-FFF2-40B4-BE49-F238E27FC236}">
                <a16:creationId xmlns:a16="http://schemas.microsoft.com/office/drawing/2014/main" id="{17EB6636-EA34-E839-7D90-D6E6DD9391EE}"/>
              </a:ext>
            </a:extLst>
          </p:cNvPr>
          <p:cNvSpPr txBox="1"/>
          <p:nvPr/>
        </p:nvSpPr>
        <p:spPr>
          <a:xfrm>
            <a:off x="7666472" y="2906981"/>
            <a:ext cx="1047750" cy="49440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171450" indent="-171450" defTabSz="685800">
              <a:buFont typeface="Arial" panose="020B0604020202020204" pitchFamily="34" charset="0"/>
              <a:buChar char="•"/>
            </a:pPr>
            <a:r>
              <a:rPr lang="zh-CN" altLang="en-US" sz="900" noProof="1">
                <a:solidFill>
                  <a:srgbClr val="000000"/>
                </a:solidFill>
                <a:latin typeface="+mn-ea"/>
              </a:rPr>
              <a:t>退役清单</a:t>
            </a:r>
            <a:endParaRPr lang="en-US" altLang="zh-CN" sz="900" noProof="1">
              <a:solidFill>
                <a:srgbClr val="000000"/>
              </a:solidFill>
              <a:latin typeface="+mn-ea"/>
            </a:endParaRPr>
          </a:p>
          <a:p>
            <a:pPr marL="171450" indent="-171450" defTabSz="685800">
              <a:buFont typeface="Arial" panose="020B0604020202020204" pitchFamily="34" charset="0"/>
              <a:buChar char="•"/>
            </a:pPr>
            <a:r>
              <a:rPr lang="zh-CN" altLang="en-US" sz="900" noProof="1">
                <a:solidFill>
                  <a:srgbClr val="000000"/>
                </a:solidFill>
                <a:latin typeface="+mn-ea"/>
              </a:rPr>
              <a:t>审计材料</a:t>
            </a:r>
            <a:endParaRPr lang="en-US" altLang="zh-CN" sz="900" noProof="1">
              <a:solidFill>
                <a:srgbClr val="000000"/>
              </a:solidFill>
              <a:latin typeface="+mn-ea"/>
            </a:endParaRPr>
          </a:p>
          <a:p>
            <a:pPr marL="171450" indent="-171450" defTabSz="685800">
              <a:buFont typeface="Arial" panose="020B0604020202020204" pitchFamily="34" charset="0"/>
              <a:buChar char="•"/>
            </a:pPr>
            <a:r>
              <a:rPr lang="zh-CN" altLang="en-US" sz="900">
                <a:latin typeface="+mn-ea"/>
                <a:cs typeface="微软雅黑" pitchFamily="34" charset="0"/>
              </a:rPr>
              <a:t>签字后的合规包</a:t>
            </a:r>
            <a:endParaRPr lang="en-US" altLang="zh-CN" sz="900" noProof="1">
              <a:solidFill>
                <a:srgbClr val="000000"/>
              </a:solidFill>
              <a:latin typeface="+mn-ea"/>
            </a:endParaRPr>
          </a:p>
          <a:p>
            <a:pPr marL="171450" indent="-171450" defTabSz="685800">
              <a:buFont typeface="Arial" panose="020B0604020202020204" pitchFamily="34" charset="0"/>
              <a:buChar char="•"/>
            </a:pPr>
            <a:endParaRPr lang="zh-CN" altLang="en-US" sz="900" noProof="1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F98C22AB-8AE3-B44C-3678-D68CB171B151}"/>
              </a:ext>
            </a:extLst>
          </p:cNvPr>
          <p:cNvCxnSpPr>
            <a:cxnSpLocks/>
          </p:cNvCxnSpPr>
          <p:nvPr/>
        </p:nvCxnSpPr>
        <p:spPr>
          <a:xfrm>
            <a:off x="771015" y="1840744"/>
            <a:ext cx="0" cy="177706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E0131B8F-8786-9F43-0BFD-1087C1824B0B}"/>
              </a:ext>
            </a:extLst>
          </p:cNvPr>
          <p:cNvCxnSpPr>
            <a:cxnSpLocks/>
          </p:cNvCxnSpPr>
          <p:nvPr/>
        </p:nvCxnSpPr>
        <p:spPr>
          <a:xfrm>
            <a:off x="1888106" y="1840744"/>
            <a:ext cx="0" cy="177706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9620F8E5-CF72-3E9F-D1E3-BE77C089DEA7}"/>
              </a:ext>
            </a:extLst>
          </p:cNvPr>
          <p:cNvCxnSpPr>
            <a:cxnSpLocks/>
          </p:cNvCxnSpPr>
          <p:nvPr/>
        </p:nvCxnSpPr>
        <p:spPr>
          <a:xfrm>
            <a:off x="3013230" y="1840744"/>
            <a:ext cx="0" cy="177706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45F1FB05-6DD2-666D-FFD8-FB5FD326CE7D}"/>
              </a:ext>
            </a:extLst>
          </p:cNvPr>
          <p:cNvCxnSpPr>
            <a:cxnSpLocks/>
          </p:cNvCxnSpPr>
          <p:nvPr/>
        </p:nvCxnSpPr>
        <p:spPr>
          <a:xfrm>
            <a:off x="4169026" y="1840744"/>
            <a:ext cx="0" cy="177706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0CC07C9F-C603-642D-661A-19E7CDA8AEF4}"/>
              </a:ext>
            </a:extLst>
          </p:cNvPr>
          <p:cNvCxnSpPr>
            <a:cxnSpLocks/>
          </p:cNvCxnSpPr>
          <p:nvPr/>
        </p:nvCxnSpPr>
        <p:spPr>
          <a:xfrm>
            <a:off x="5327772" y="1840744"/>
            <a:ext cx="0" cy="177706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E213F147-ECD1-1675-8148-165F5BA08DF8}"/>
              </a:ext>
            </a:extLst>
          </p:cNvPr>
          <p:cNvCxnSpPr>
            <a:cxnSpLocks/>
          </p:cNvCxnSpPr>
          <p:nvPr/>
        </p:nvCxnSpPr>
        <p:spPr>
          <a:xfrm>
            <a:off x="6444381" y="1840744"/>
            <a:ext cx="0" cy="177706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85056303-601A-EE2F-B808-3585697DC00D}"/>
              </a:ext>
            </a:extLst>
          </p:cNvPr>
          <p:cNvCxnSpPr>
            <a:cxnSpLocks/>
          </p:cNvCxnSpPr>
          <p:nvPr/>
        </p:nvCxnSpPr>
        <p:spPr>
          <a:xfrm>
            <a:off x="7623038" y="1840744"/>
            <a:ext cx="0" cy="177706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C9D4B2A0-1E00-AF54-33E6-C8D379E02FFC}"/>
              </a:ext>
            </a:extLst>
          </p:cNvPr>
          <p:cNvCxnSpPr>
            <a:cxnSpLocks/>
          </p:cNvCxnSpPr>
          <p:nvPr/>
        </p:nvCxnSpPr>
        <p:spPr>
          <a:xfrm>
            <a:off x="765934" y="2333333"/>
            <a:ext cx="7948288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330C77C1-68C3-A105-C240-E5158D57172E}"/>
              </a:ext>
            </a:extLst>
          </p:cNvPr>
          <p:cNvCxnSpPr>
            <a:cxnSpLocks/>
          </p:cNvCxnSpPr>
          <p:nvPr/>
        </p:nvCxnSpPr>
        <p:spPr>
          <a:xfrm>
            <a:off x="765934" y="2845800"/>
            <a:ext cx="7948288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1087DE5A-B1EC-6822-1E4A-A4BBAB09EECE}"/>
              </a:ext>
            </a:extLst>
          </p:cNvPr>
          <p:cNvCxnSpPr>
            <a:cxnSpLocks/>
          </p:cNvCxnSpPr>
          <p:nvPr/>
        </p:nvCxnSpPr>
        <p:spPr>
          <a:xfrm>
            <a:off x="765934" y="3617811"/>
            <a:ext cx="7948288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C03A2A9F-059E-7DEA-C422-1821F5C27E77}"/>
              </a:ext>
            </a:extLst>
          </p:cNvPr>
          <p:cNvCxnSpPr>
            <a:cxnSpLocks/>
          </p:cNvCxnSpPr>
          <p:nvPr/>
        </p:nvCxnSpPr>
        <p:spPr>
          <a:xfrm>
            <a:off x="8724880" y="1840744"/>
            <a:ext cx="0" cy="177706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vs-box">
            <a:extLst>
              <a:ext uri="{FF2B5EF4-FFF2-40B4-BE49-F238E27FC236}">
                <a16:creationId xmlns:a16="http://schemas.microsoft.com/office/drawing/2014/main" id="{DBBFA475-E297-8798-A03A-2DC6BE67E676}"/>
              </a:ext>
            </a:extLst>
          </p:cNvPr>
          <p:cNvSpPr/>
          <p:nvPr/>
        </p:nvSpPr>
        <p:spPr>
          <a:xfrm>
            <a:off x="227004" y="4232007"/>
            <a:ext cx="8497873" cy="526549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B9D9FB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12" name="vs-label">
            <a:extLst>
              <a:ext uri="{FF2B5EF4-FFF2-40B4-BE49-F238E27FC236}">
                <a16:creationId xmlns:a16="http://schemas.microsoft.com/office/drawing/2014/main" id="{E13F5230-AA85-9DA8-C080-B3216A7EF48F}"/>
              </a:ext>
            </a:extLst>
          </p:cNvPr>
          <p:cNvSpPr txBox="1"/>
          <p:nvPr/>
        </p:nvSpPr>
        <p:spPr>
          <a:xfrm>
            <a:off x="339635" y="4410500"/>
            <a:ext cx="581624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1000" b="1" noProof="1">
                <a:latin typeface="+mn-ea"/>
              </a:rPr>
              <a:t>交付价值</a:t>
            </a:r>
            <a:endParaRPr lang="en-US" sz="1000" noProof="1">
              <a:latin typeface="+mn-ea"/>
            </a:endParaRPr>
          </a:p>
        </p:txBody>
      </p:sp>
      <p:sp>
        <p:nvSpPr>
          <p:cNvPr id="214" name="vs-d1">
            <a:extLst>
              <a:ext uri="{FF2B5EF4-FFF2-40B4-BE49-F238E27FC236}">
                <a16:creationId xmlns:a16="http://schemas.microsoft.com/office/drawing/2014/main" id="{086A5190-CB69-EA27-90E5-31187BF97557}"/>
              </a:ext>
            </a:extLst>
          </p:cNvPr>
          <p:cNvSpPr/>
          <p:nvPr/>
        </p:nvSpPr>
        <p:spPr>
          <a:xfrm>
            <a:off x="1360983" y="4277477"/>
            <a:ext cx="9088" cy="438150"/>
          </a:xfrm>
          <a:prstGeom prst="rect">
            <a:avLst/>
          </a:prstGeom>
          <a:solidFill>
            <a:srgbClr val="E3EBF7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16" name="vs-d2">
            <a:extLst>
              <a:ext uri="{FF2B5EF4-FFF2-40B4-BE49-F238E27FC236}">
                <a16:creationId xmlns:a16="http://schemas.microsoft.com/office/drawing/2014/main" id="{C2134802-ED4D-C70F-5C42-1E43484207C6}"/>
              </a:ext>
            </a:extLst>
          </p:cNvPr>
          <p:cNvSpPr/>
          <p:nvPr/>
        </p:nvSpPr>
        <p:spPr>
          <a:xfrm>
            <a:off x="2712411" y="4277477"/>
            <a:ext cx="9088" cy="438150"/>
          </a:xfrm>
          <a:prstGeom prst="rect">
            <a:avLst/>
          </a:prstGeom>
          <a:solidFill>
            <a:srgbClr val="E3EBF7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19" name="vs-d3">
            <a:extLst>
              <a:ext uri="{FF2B5EF4-FFF2-40B4-BE49-F238E27FC236}">
                <a16:creationId xmlns:a16="http://schemas.microsoft.com/office/drawing/2014/main" id="{581F8DF4-D2DD-F46B-F89F-B2DF6C4F2C1C}"/>
              </a:ext>
            </a:extLst>
          </p:cNvPr>
          <p:cNvSpPr/>
          <p:nvPr/>
        </p:nvSpPr>
        <p:spPr>
          <a:xfrm>
            <a:off x="3923774" y="4277477"/>
            <a:ext cx="9088" cy="438150"/>
          </a:xfrm>
          <a:prstGeom prst="rect">
            <a:avLst/>
          </a:prstGeom>
          <a:solidFill>
            <a:srgbClr val="E3EBF7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22" name="vs-d4">
            <a:extLst>
              <a:ext uri="{FF2B5EF4-FFF2-40B4-BE49-F238E27FC236}">
                <a16:creationId xmlns:a16="http://schemas.microsoft.com/office/drawing/2014/main" id="{C4C5E0F6-BD27-EE44-6AEA-0B7D72829924}"/>
              </a:ext>
            </a:extLst>
          </p:cNvPr>
          <p:cNvSpPr/>
          <p:nvPr/>
        </p:nvSpPr>
        <p:spPr>
          <a:xfrm>
            <a:off x="5340788" y="4277477"/>
            <a:ext cx="9088" cy="438150"/>
          </a:xfrm>
          <a:prstGeom prst="rect">
            <a:avLst/>
          </a:prstGeom>
          <a:solidFill>
            <a:srgbClr val="E3EBF7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24" name="vs-d5">
            <a:extLst>
              <a:ext uri="{FF2B5EF4-FFF2-40B4-BE49-F238E27FC236}">
                <a16:creationId xmlns:a16="http://schemas.microsoft.com/office/drawing/2014/main" id="{404991FA-4FB9-4DF4-26FE-B9F71A5F5061}"/>
              </a:ext>
            </a:extLst>
          </p:cNvPr>
          <p:cNvSpPr/>
          <p:nvPr/>
        </p:nvSpPr>
        <p:spPr>
          <a:xfrm>
            <a:off x="6904331" y="4277477"/>
            <a:ext cx="9088" cy="438150"/>
          </a:xfrm>
          <a:prstGeom prst="rect">
            <a:avLst/>
          </a:prstGeom>
          <a:solidFill>
            <a:srgbClr val="E3EBF7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27" name="vs1-icon">
            <a:extLst>
              <a:ext uri="{FF2B5EF4-FFF2-40B4-BE49-F238E27FC236}">
                <a16:creationId xmlns:a16="http://schemas.microsoft.com/office/drawing/2014/main" id="{F47CD1D9-25B8-4985-D2C7-BD126F4043AE}"/>
              </a:ext>
            </a:extLst>
          </p:cNvPr>
          <p:cNvSpPr/>
          <p:nvPr>
            <p:extLst>
              <p:ext uri="{F5677B7D-0D2A-4D9B-9A5C-6D8D7D0E5A5D}">
                <pptd:icon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="" encoding="base64url">eyJpY29uTmFtZSI6ImZhczpzaGllbGQtaGFsdmVkIn0</pptd:icon>
              </p:ext>
            </p:extLst>
          </p:nvPr>
        </p:nvSpPr>
        <p:spPr>
          <a:xfrm>
            <a:off x="1079258" y="4372727"/>
            <a:ext cx="227197" cy="238125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61" y="0"/>
                  <a:pt x="265" y="1"/>
                  <a:pt x="269" y="3"/>
                </a:cubicBezTo>
                <a:lnTo>
                  <a:pt x="458" y="83"/>
                </a:lnTo>
                <a:cubicBezTo>
                  <a:pt x="480" y="92"/>
                  <a:pt x="496" y="114"/>
                  <a:pt x="496" y="140"/>
                </a:cubicBezTo>
                <a:cubicBezTo>
                  <a:pt x="496" y="239"/>
                  <a:pt x="455" y="421"/>
                  <a:pt x="283" y="503"/>
                </a:cubicBezTo>
                <a:cubicBezTo>
                  <a:pt x="266" y="511"/>
                  <a:pt x="246" y="511"/>
                  <a:pt x="230" y="503"/>
                </a:cubicBezTo>
                <a:cubicBezTo>
                  <a:pt x="57" y="421"/>
                  <a:pt x="17" y="239"/>
                  <a:pt x="16" y="140"/>
                </a:cubicBezTo>
                <a:cubicBezTo>
                  <a:pt x="16" y="114"/>
                  <a:pt x="32" y="92"/>
                  <a:pt x="54" y="83"/>
                </a:cubicBezTo>
                <a:lnTo>
                  <a:pt x="243" y="3"/>
                </a:lnTo>
                <a:cubicBezTo>
                  <a:pt x="247" y="1"/>
                  <a:pt x="251" y="0"/>
                  <a:pt x="256" y="0"/>
                </a:cubicBezTo>
                <a:close/>
                <a:moveTo>
                  <a:pt x="256" y="67"/>
                </a:moveTo>
                <a:lnTo>
                  <a:pt x="256" y="445"/>
                </a:lnTo>
                <a:cubicBezTo>
                  <a:pt x="394" y="378"/>
                  <a:pt x="431" y="230"/>
                  <a:pt x="432" y="142"/>
                </a:cubicBezTo>
                <a:lnTo>
                  <a:pt x="256" y="67"/>
                </a:lnTo>
                <a:lnTo>
                  <a:pt x="256" y="6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30" name="vs1-title">
            <a:extLst>
              <a:ext uri="{FF2B5EF4-FFF2-40B4-BE49-F238E27FC236}">
                <a16:creationId xmlns:a16="http://schemas.microsoft.com/office/drawing/2014/main" id="{D989FAF7-7B33-D5E5-7771-96A8DBE775C2}"/>
              </a:ext>
            </a:extLst>
          </p:cNvPr>
          <p:cNvSpPr txBox="1"/>
          <p:nvPr/>
        </p:nvSpPr>
        <p:spPr>
          <a:xfrm>
            <a:off x="1499371" y="4277477"/>
            <a:ext cx="946816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900" b="1" noProof="1">
                <a:solidFill>
                  <a:schemeClr val="accent3"/>
                </a:solidFill>
                <a:latin typeface="+mn-ea"/>
              </a:rPr>
              <a:t>完整治理不改变</a:t>
            </a:r>
            <a:endParaRPr lang="en-US" sz="900" noProof="1">
              <a:solidFill>
                <a:schemeClr val="accent3"/>
              </a:solidFill>
              <a:latin typeface="+mn-ea"/>
            </a:endParaRPr>
          </a:p>
        </p:txBody>
      </p:sp>
      <p:sp>
        <p:nvSpPr>
          <p:cNvPr id="232" name="vs1-body">
            <a:extLst>
              <a:ext uri="{FF2B5EF4-FFF2-40B4-BE49-F238E27FC236}">
                <a16:creationId xmlns:a16="http://schemas.microsoft.com/office/drawing/2014/main" id="{F272CCF9-75BE-5C98-0926-671010975726}"/>
              </a:ext>
            </a:extLst>
          </p:cNvPr>
          <p:cNvSpPr txBox="1"/>
          <p:nvPr/>
        </p:nvSpPr>
        <p:spPr>
          <a:xfrm>
            <a:off x="1499371" y="4429877"/>
            <a:ext cx="8959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defTabSz="685800">
              <a:lnSpc>
                <a:spcPct val="150000"/>
              </a:lnSpc>
            </a:pPr>
            <a:r>
              <a:rPr lang="en-US" sz="700" noProof="1">
                <a:latin typeface="+mn-ea"/>
              </a:rPr>
              <a:t>保留 SLC 七个阶段与</a:t>
            </a:r>
          </a:p>
          <a:p>
            <a:pPr defTabSz="685800">
              <a:lnSpc>
                <a:spcPct val="150000"/>
              </a:lnSpc>
            </a:pPr>
            <a:r>
              <a:rPr lang="en-US" sz="700" noProof="1">
                <a:latin typeface="+mn-ea"/>
              </a:rPr>
              <a:t>合规治理要求</a:t>
            </a:r>
          </a:p>
        </p:txBody>
      </p:sp>
      <p:sp>
        <p:nvSpPr>
          <p:cNvPr id="235" name="vs2-icon">
            <a:extLst>
              <a:ext uri="{FF2B5EF4-FFF2-40B4-BE49-F238E27FC236}">
                <a16:creationId xmlns:a16="http://schemas.microsoft.com/office/drawing/2014/main" id="{7AFB9655-0442-8D76-19BC-BD0F4AA6E961}"/>
              </a:ext>
            </a:extLst>
          </p:cNvPr>
          <p:cNvSpPr/>
          <p:nvPr>
            <p:extLst>
              <p:ext uri="{F5677B7D-0D2A-4D9B-9A5C-6D8D7D0E5A5D}">
                <pptd:icon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="" encoding="base64url">eyJpY29uTmFtZSI6ImZhczphcnJvdy10cmVuZC11cCJ9</pptd:icon>
              </p:ext>
            </p:extLst>
          </p:nvPr>
        </p:nvSpPr>
        <p:spPr>
          <a:xfrm>
            <a:off x="2394336" y="4372727"/>
            <a:ext cx="227197" cy="238125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384" y="160"/>
                </a:moveTo>
                <a:cubicBezTo>
                  <a:pt x="366" y="160"/>
                  <a:pt x="352" y="146"/>
                  <a:pt x="352" y="128"/>
                </a:cubicBezTo>
                <a:cubicBezTo>
                  <a:pt x="352" y="110"/>
                  <a:pt x="366" y="96"/>
                  <a:pt x="384" y="96"/>
                </a:cubicBezTo>
                <a:lnTo>
                  <a:pt x="544" y="96"/>
                </a:lnTo>
                <a:cubicBezTo>
                  <a:pt x="562" y="96"/>
                  <a:pt x="576" y="110"/>
                  <a:pt x="576" y="128"/>
                </a:cubicBezTo>
                <a:lnTo>
                  <a:pt x="576" y="288"/>
                </a:lnTo>
                <a:cubicBezTo>
                  <a:pt x="576" y="306"/>
                  <a:pt x="562" y="320"/>
                  <a:pt x="544" y="320"/>
                </a:cubicBezTo>
                <a:cubicBezTo>
                  <a:pt x="526" y="320"/>
                  <a:pt x="512" y="306"/>
                  <a:pt x="512" y="288"/>
                </a:cubicBezTo>
                <a:lnTo>
                  <a:pt x="512" y="205"/>
                </a:lnTo>
                <a:lnTo>
                  <a:pt x="343" y="375"/>
                </a:lnTo>
                <a:cubicBezTo>
                  <a:pt x="330" y="387"/>
                  <a:pt x="310" y="387"/>
                  <a:pt x="297" y="375"/>
                </a:cubicBezTo>
                <a:lnTo>
                  <a:pt x="192" y="269"/>
                </a:lnTo>
                <a:lnTo>
                  <a:pt x="55" y="407"/>
                </a:lnTo>
                <a:cubicBezTo>
                  <a:pt x="42" y="419"/>
                  <a:pt x="22" y="419"/>
                  <a:pt x="9" y="407"/>
                </a:cubicBezTo>
                <a:cubicBezTo>
                  <a:pt x="-3" y="394"/>
                  <a:pt x="-3" y="374"/>
                  <a:pt x="9" y="361"/>
                </a:cubicBezTo>
                <a:lnTo>
                  <a:pt x="169" y="201"/>
                </a:lnTo>
                <a:cubicBezTo>
                  <a:pt x="182" y="189"/>
                  <a:pt x="202" y="189"/>
                  <a:pt x="215" y="201"/>
                </a:cubicBezTo>
                <a:lnTo>
                  <a:pt x="320" y="307"/>
                </a:lnTo>
                <a:lnTo>
                  <a:pt x="467" y="160"/>
                </a:lnTo>
                <a:lnTo>
                  <a:pt x="384" y="16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38" name="vs2-title">
            <a:extLst>
              <a:ext uri="{FF2B5EF4-FFF2-40B4-BE49-F238E27FC236}">
                <a16:creationId xmlns:a16="http://schemas.microsoft.com/office/drawing/2014/main" id="{11280710-7C34-221F-4DA9-7B8F6F8012A3}"/>
              </a:ext>
            </a:extLst>
          </p:cNvPr>
          <p:cNvSpPr txBox="1"/>
          <p:nvPr/>
        </p:nvSpPr>
        <p:spPr>
          <a:xfrm>
            <a:off x="2833229" y="4277477"/>
            <a:ext cx="1090545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900" b="1" noProof="1">
                <a:solidFill>
                  <a:schemeClr val="accent3"/>
                </a:solidFill>
                <a:latin typeface="+mn-ea"/>
              </a:rPr>
              <a:t>AI 提升效率</a:t>
            </a:r>
            <a:endParaRPr lang="en-US" sz="900" noProof="1">
              <a:solidFill>
                <a:schemeClr val="accent3"/>
              </a:solidFill>
              <a:latin typeface="+mn-ea"/>
            </a:endParaRPr>
          </a:p>
        </p:txBody>
      </p:sp>
      <p:sp>
        <p:nvSpPr>
          <p:cNvPr id="241" name="vs2-body">
            <a:extLst>
              <a:ext uri="{FF2B5EF4-FFF2-40B4-BE49-F238E27FC236}">
                <a16:creationId xmlns:a16="http://schemas.microsoft.com/office/drawing/2014/main" id="{48EFF8D0-1DDB-1EB4-D806-7D3D8C02A039}"/>
              </a:ext>
            </a:extLst>
          </p:cNvPr>
          <p:cNvSpPr txBox="1"/>
          <p:nvPr/>
        </p:nvSpPr>
        <p:spPr>
          <a:xfrm>
            <a:off x="2833229" y="4429877"/>
            <a:ext cx="109054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defTabSz="685800">
              <a:lnSpc>
                <a:spcPct val="150000"/>
              </a:lnSpc>
            </a:pPr>
            <a:r>
              <a:rPr lang="en-US" sz="700" noProof="1">
                <a:latin typeface="+mn-ea"/>
              </a:rPr>
              <a:t>缩短周期、降低人工投入，</a:t>
            </a:r>
          </a:p>
          <a:p>
            <a:pPr defTabSz="685800">
              <a:lnSpc>
                <a:spcPct val="150000"/>
              </a:lnSpc>
            </a:pPr>
            <a:r>
              <a:rPr lang="en-US" sz="700" noProof="1">
                <a:latin typeface="+mn-ea"/>
              </a:rPr>
              <a:t>提升交付速度</a:t>
            </a:r>
          </a:p>
        </p:txBody>
      </p:sp>
      <p:sp>
        <p:nvSpPr>
          <p:cNvPr id="245" name="vs3-icon">
            <a:extLst>
              <a:ext uri="{FF2B5EF4-FFF2-40B4-BE49-F238E27FC236}">
                <a16:creationId xmlns:a16="http://schemas.microsoft.com/office/drawing/2014/main" id="{00F2CF25-5666-9113-D896-32EFE1CEAECA}"/>
              </a:ext>
            </a:extLst>
          </p:cNvPr>
          <p:cNvSpPr/>
          <p:nvPr>
            <p:extLst>
              <p:ext uri="{F5677B7D-0D2A-4D9B-9A5C-6D8D7D0E5A5D}">
                <pptd:icon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="" encoding="base64url">eyJpY29uTmFtZSI6ImZhczpjcm9zc2hhaXJzIn0</pptd:icon>
              </p:ext>
            </p:extLst>
          </p:nvPr>
        </p:nvSpPr>
        <p:spPr>
          <a:xfrm>
            <a:off x="4000643" y="4372727"/>
            <a:ext cx="273494" cy="238125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288" y="-16"/>
                </a:moveTo>
                <a:cubicBezTo>
                  <a:pt x="306" y="-16"/>
                  <a:pt x="320" y="-2"/>
                  <a:pt x="320" y="16"/>
                </a:cubicBezTo>
                <a:lnTo>
                  <a:pt x="320" y="34"/>
                </a:lnTo>
                <a:cubicBezTo>
                  <a:pt x="418" y="48"/>
                  <a:pt x="496" y="126"/>
                  <a:pt x="510" y="224"/>
                </a:cubicBezTo>
                <a:lnTo>
                  <a:pt x="528" y="224"/>
                </a:lnTo>
                <a:cubicBezTo>
                  <a:pt x="546" y="224"/>
                  <a:pt x="560" y="238"/>
                  <a:pt x="560" y="256"/>
                </a:cubicBezTo>
                <a:cubicBezTo>
                  <a:pt x="560" y="274"/>
                  <a:pt x="546" y="288"/>
                  <a:pt x="528" y="288"/>
                </a:cubicBezTo>
                <a:lnTo>
                  <a:pt x="510" y="288"/>
                </a:lnTo>
                <a:cubicBezTo>
                  <a:pt x="496" y="386"/>
                  <a:pt x="418" y="464"/>
                  <a:pt x="320" y="478"/>
                </a:cubicBezTo>
                <a:lnTo>
                  <a:pt x="320" y="496"/>
                </a:lnTo>
                <a:cubicBezTo>
                  <a:pt x="320" y="514"/>
                  <a:pt x="306" y="528"/>
                  <a:pt x="288" y="528"/>
                </a:cubicBezTo>
                <a:cubicBezTo>
                  <a:pt x="270" y="528"/>
                  <a:pt x="256" y="514"/>
                  <a:pt x="256" y="496"/>
                </a:cubicBezTo>
                <a:lnTo>
                  <a:pt x="256" y="478"/>
                </a:lnTo>
                <a:cubicBezTo>
                  <a:pt x="158" y="464"/>
                  <a:pt x="80" y="386"/>
                  <a:pt x="66" y="288"/>
                </a:cubicBezTo>
                <a:lnTo>
                  <a:pt x="48" y="288"/>
                </a:lnTo>
                <a:cubicBezTo>
                  <a:pt x="30" y="288"/>
                  <a:pt x="16" y="274"/>
                  <a:pt x="16" y="256"/>
                </a:cubicBezTo>
                <a:cubicBezTo>
                  <a:pt x="16" y="238"/>
                  <a:pt x="30" y="224"/>
                  <a:pt x="48" y="224"/>
                </a:cubicBezTo>
                <a:lnTo>
                  <a:pt x="66" y="224"/>
                </a:lnTo>
                <a:cubicBezTo>
                  <a:pt x="80" y="126"/>
                  <a:pt x="158" y="48"/>
                  <a:pt x="256" y="34"/>
                </a:cubicBezTo>
                <a:lnTo>
                  <a:pt x="256" y="16"/>
                </a:lnTo>
                <a:cubicBezTo>
                  <a:pt x="256" y="-2"/>
                  <a:pt x="270" y="-16"/>
                  <a:pt x="288" y="-16"/>
                </a:cubicBezTo>
                <a:close/>
                <a:moveTo>
                  <a:pt x="131" y="288"/>
                </a:moveTo>
                <a:cubicBezTo>
                  <a:pt x="144" y="351"/>
                  <a:pt x="193" y="400"/>
                  <a:pt x="256" y="413"/>
                </a:cubicBezTo>
                <a:lnTo>
                  <a:pt x="256" y="400"/>
                </a:lnTo>
                <a:cubicBezTo>
                  <a:pt x="256" y="382"/>
                  <a:pt x="270" y="368"/>
                  <a:pt x="288" y="368"/>
                </a:cubicBezTo>
                <a:cubicBezTo>
                  <a:pt x="306" y="368"/>
                  <a:pt x="320" y="382"/>
                  <a:pt x="320" y="400"/>
                </a:cubicBezTo>
                <a:lnTo>
                  <a:pt x="320" y="413"/>
                </a:lnTo>
                <a:cubicBezTo>
                  <a:pt x="383" y="400"/>
                  <a:pt x="432" y="351"/>
                  <a:pt x="445" y="288"/>
                </a:cubicBezTo>
                <a:lnTo>
                  <a:pt x="432" y="288"/>
                </a:lnTo>
                <a:cubicBezTo>
                  <a:pt x="414" y="288"/>
                  <a:pt x="400" y="274"/>
                  <a:pt x="400" y="256"/>
                </a:cubicBezTo>
                <a:cubicBezTo>
                  <a:pt x="400" y="238"/>
                  <a:pt x="414" y="224"/>
                  <a:pt x="432" y="224"/>
                </a:cubicBezTo>
                <a:lnTo>
                  <a:pt x="445" y="224"/>
                </a:lnTo>
                <a:cubicBezTo>
                  <a:pt x="432" y="161"/>
                  <a:pt x="383" y="112"/>
                  <a:pt x="320" y="99"/>
                </a:cubicBezTo>
                <a:lnTo>
                  <a:pt x="320" y="112"/>
                </a:lnTo>
                <a:cubicBezTo>
                  <a:pt x="320" y="130"/>
                  <a:pt x="306" y="144"/>
                  <a:pt x="288" y="144"/>
                </a:cubicBezTo>
                <a:cubicBezTo>
                  <a:pt x="270" y="144"/>
                  <a:pt x="256" y="130"/>
                  <a:pt x="256" y="112"/>
                </a:cubicBezTo>
                <a:lnTo>
                  <a:pt x="256" y="99"/>
                </a:lnTo>
                <a:cubicBezTo>
                  <a:pt x="193" y="112"/>
                  <a:pt x="144" y="161"/>
                  <a:pt x="131" y="224"/>
                </a:cubicBezTo>
                <a:lnTo>
                  <a:pt x="144" y="224"/>
                </a:lnTo>
                <a:cubicBezTo>
                  <a:pt x="162" y="224"/>
                  <a:pt x="176" y="238"/>
                  <a:pt x="176" y="256"/>
                </a:cubicBezTo>
                <a:cubicBezTo>
                  <a:pt x="176" y="274"/>
                  <a:pt x="162" y="288"/>
                  <a:pt x="144" y="288"/>
                </a:cubicBezTo>
                <a:lnTo>
                  <a:pt x="131" y="288"/>
                </a:lnTo>
                <a:close/>
              </a:path>
              <a:path w="576" h="512">
                <a:moveTo>
                  <a:pt x="288" y="208"/>
                </a:moveTo>
                <a:cubicBezTo>
                  <a:pt x="315" y="208"/>
                  <a:pt x="336" y="229"/>
                  <a:pt x="336" y="256"/>
                </a:cubicBezTo>
                <a:cubicBezTo>
                  <a:pt x="336" y="283"/>
                  <a:pt x="315" y="304"/>
                  <a:pt x="288" y="304"/>
                </a:cubicBezTo>
                <a:cubicBezTo>
                  <a:pt x="261" y="304"/>
                  <a:pt x="240" y="283"/>
                  <a:pt x="240" y="256"/>
                </a:cubicBezTo>
                <a:cubicBezTo>
                  <a:pt x="240" y="229"/>
                  <a:pt x="261" y="208"/>
                  <a:pt x="288" y="20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49" name="vs3-title">
            <a:extLst>
              <a:ext uri="{FF2B5EF4-FFF2-40B4-BE49-F238E27FC236}">
                <a16:creationId xmlns:a16="http://schemas.microsoft.com/office/drawing/2014/main" id="{01A29671-5149-3C24-AEA7-02EF4E53C097}"/>
              </a:ext>
            </a:extLst>
          </p:cNvPr>
          <p:cNvSpPr txBox="1"/>
          <p:nvPr/>
        </p:nvSpPr>
        <p:spPr>
          <a:xfrm>
            <a:off x="4329848" y="4277477"/>
            <a:ext cx="873499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900" b="1" noProof="1">
                <a:solidFill>
                  <a:schemeClr val="accent3"/>
                </a:solidFill>
                <a:latin typeface="+mn-ea"/>
              </a:rPr>
              <a:t>标准化与可追溯</a:t>
            </a:r>
            <a:endParaRPr lang="en-US" sz="900" noProof="1">
              <a:solidFill>
                <a:schemeClr val="accent3"/>
              </a:solidFill>
              <a:latin typeface="+mn-ea"/>
            </a:endParaRPr>
          </a:p>
        </p:txBody>
      </p:sp>
      <p:sp>
        <p:nvSpPr>
          <p:cNvPr id="253" name="vs3-body">
            <a:extLst>
              <a:ext uri="{FF2B5EF4-FFF2-40B4-BE49-F238E27FC236}">
                <a16:creationId xmlns:a16="http://schemas.microsoft.com/office/drawing/2014/main" id="{12B4AAF5-D365-2BD2-A1A6-763C91B7FC84}"/>
              </a:ext>
            </a:extLst>
          </p:cNvPr>
          <p:cNvSpPr txBox="1"/>
          <p:nvPr/>
        </p:nvSpPr>
        <p:spPr>
          <a:xfrm>
            <a:off x="4329848" y="4429877"/>
            <a:ext cx="87349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defTabSz="685800">
              <a:lnSpc>
                <a:spcPct val="150000"/>
              </a:lnSpc>
            </a:pPr>
            <a:r>
              <a:rPr lang="en-US" sz="700" noProof="1">
                <a:latin typeface="+mn-ea"/>
              </a:rPr>
              <a:t>规范驱动、结构化产出，</a:t>
            </a:r>
          </a:p>
          <a:p>
            <a:pPr defTabSz="685800">
              <a:lnSpc>
                <a:spcPct val="150000"/>
              </a:lnSpc>
            </a:pPr>
            <a:r>
              <a:rPr lang="en-US" sz="700" noProof="1">
                <a:latin typeface="+mn-ea"/>
              </a:rPr>
              <a:t>全流程可追溯</a:t>
            </a:r>
          </a:p>
        </p:txBody>
      </p:sp>
      <p:sp>
        <p:nvSpPr>
          <p:cNvPr id="257" name="vs4-icon">
            <a:extLst>
              <a:ext uri="{FF2B5EF4-FFF2-40B4-BE49-F238E27FC236}">
                <a16:creationId xmlns:a16="http://schemas.microsoft.com/office/drawing/2014/main" id="{E4F1105A-FF16-1640-D93B-2C5345387E42}"/>
              </a:ext>
            </a:extLst>
          </p:cNvPr>
          <p:cNvSpPr/>
          <p:nvPr>
            <p:extLst>
              <p:ext uri="{F5677B7D-0D2A-4D9B-9A5C-6D8D7D0E5A5D}">
                <pptd:icon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="" encoding="base64url">eyJpY29uTmFtZSI6ImZhcjpjaXJjbGUtY2hlY2sifQ</pptd:icon>
              </p:ext>
            </p:extLst>
          </p:nvPr>
        </p:nvSpPr>
        <p:spPr>
          <a:xfrm>
            <a:off x="5488264" y="4372727"/>
            <a:ext cx="227197" cy="238125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256" y="48"/>
                </a:moveTo>
                <a:cubicBezTo>
                  <a:pt x="141" y="48"/>
                  <a:pt x="48" y="141"/>
                  <a:pt x="48" y="256"/>
                </a:cubicBezTo>
                <a:cubicBezTo>
                  <a:pt x="48" y="371"/>
                  <a:pt x="141" y="464"/>
                  <a:pt x="256" y="464"/>
                </a:cubicBezTo>
                <a:cubicBezTo>
                  <a:pt x="371" y="464"/>
                  <a:pt x="464" y="371"/>
                  <a:pt x="464" y="256"/>
                </a:cubicBezTo>
                <a:cubicBezTo>
                  <a:pt x="464" y="141"/>
                  <a:pt x="371" y="48"/>
                  <a:pt x="256" y="48"/>
                </a:cubicBezTo>
                <a:close/>
              </a:path>
              <a:path w="512" h="512">
                <a:moveTo>
                  <a:pt x="327" y="170"/>
                </a:moveTo>
                <a:cubicBezTo>
                  <a:pt x="335" y="159"/>
                  <a:pt x="350" y="157"/>
                  <a:pt x="360" y="165"/>
                </a:cubicBezTo>
                <a:cubicBezTo>
                  <a:pt x="371" y="172"/>
                  <a:pt x="373" y="187"/>
                  <a:pt x="366" y="198"/>
                </a:cubicBezTo>
                <a:lnTo>
                  <a:pt x="243" y="366"/>
                </a:lnTo>
                <a:cubicBezTo>
                  <a:pt x="239" y="372"/>
                  <a:pt x="233" y="375"/>
                  <a:pt x="226" y="376"/>
                </a:cubicBezTo>
                <a:cubicBezTo>
                  <a:pt x="219" y="376"/>
                  <a:pt x="212" y="374"/>
                  <a:pt x="207" y="369"/>
                </a:cubicBezTo>
                <a:lnTo>
                  <a:pt x="151" y="313"/>
                </a:lnTo>
                <a:cubicBezTo>
                  <a:pt x="142" y="304"/>
                  <a:pt x="142" y="289"/>
                  <a:pt x="151" y="279"/>
                </a:cubicBezTo>
                <a:cubicBezTo>
                  <a:pt x="161" y="270"/>
                  <a:pt x="176" y="270"/>
                  <a:pt x="185" y="279"/>
                </a:cubicBezTo>
                <a:lnTo>
                  <a:pt x="221" y="315"/>
                </a:lnTo>
                <a:lnTo>
                  <a:pt x="327" y="17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61" name="vs4-title">
            <a:extLst>
              <a:ext uri="{FF2B5EF4-FFF2-40B4-BE49-F238E27FC236}">
                <a16:creationId xmlns:a16="http://schemas.microsoft.com/office/drawing/2014/main" id="{FBE703E0-19C6-3EF3-DFB3-0238E394CEB9}"/>
              </a:ext>
            </a:extLst>
          </p:cNvPr>
          <p:cNvSpPr txBox="1"/>
          <p:nvPr/>
        </p:nvSpPr>
        <p:spPr>
          <a:xfrm>
            <a:off x="5788164" y="4277477"/>
            <a:ext cx="1027163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900" b="1" noProof="1">
                <a:solidFill>
                  <a:schemeClr val="accent3"/>
                </a:solidFill>
                <a:latin typeface="+mn-ea"/>
              </a:rPr>
              <a:t>提升产出质量</a:t>
            </a:r>
            <a:endParaRPr lang="en-US" sz="900" noProof="1">
              <a:solidFill>
                <a:schemeClr val="accent3"/>
              </a:solidFill>
              <a:latin typeface="+mn-ea"/>
            </a:endParaRPr>
          </a:p>
        </p:txBody>
      </p:sp>
      <p:sp>
        <p:nvSpPr>
          <p:cNvPr id="265" name="vs4-body">
            <a:extLst>
              <a:ext uri="{FF2B5EF4-FFF2-40B4-BE49-F238E27FC236}">
                <a16:creationId xmlns:a16="http://schemas.microsoft.com/office/drawing/2014/main" id="{7E501D15-ED0A-2A9B-AD36-9F72EDDEF787}"/>
              </a:ext>
            </a:extLst>
          </p:cNvPr>
          <p:cNvSpPr txBox="1"/>
          <p:nvPr/>
        </p:nvSpPr>
        <p:spPr>
          <a:xfrm>
            <a:off x="5788164" y="4429877"/>
            <a:ext cx="102716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defTabSz="685800">
              <a:lnSpc>
                <a:spcPct val="150000"/>
              </a:lnSpc>
            </a:pPr>
            <a:r>
              <a:rPr lang="en-US" sz="700" noProof="1">
                <a:latin typeface="+mn-ea"/>
              </a:rPr>
              <a:t>一致性检查、智能分析与</a:t>
            </a:r>
          </a:p>
          <a:p>
            <a:pPr defTabSz="685800">
              <a:lnSpc>
                <a:spcPct val="150000"/>
              </a:lnSpc>
            </a:pPr>
            <a:r>
              <a:rPr lang="en-US" sz="700" noProof="1">
                <a:latin typeface="+mn-ea"/>
              </a:rPr>
              <a:t>自动化验证，减少缺陷</a:t>
            </a:r>
          </a:p>
        </p:txBody>
      </p:sp>
      <p:sp>
        <p:nvSpPr>
          <p:cNvPr id="269" name="vs5-icon">
            <a:extLst>
              <a:ext uri="{FF2B5EF4-FFF2-40B4-BE49-F238E27FC236}">
                <a16:creationId xmlns:a16="http://schemas.microsoft.com/office/drawing/2014/main" id="{BA09439F-F490-3DCD-3EF7-35A956A15E63}"/>
              </a:ext>
            </a:extLst>
          </p:cNvPr>
          <p:cNvSpPr/>
          <p:nvPr>
            <p:extLst>
              <p:ext uri="{F5677B7D-0D2A-4D9B-9A5C-6D8D7D0E5A5D}">
                <pptd:icon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="" encoding="base64url">eyJpY29uTmFtZSI6ImZhczphcnJvd3Mtcm90YXRlIn0</pptd:icon>
              </p:ext>
            </p:extLst>
          </p:nvPr>
        </p:nvSpPr>
        <p:spPr>
          <a:xfrm>
            <a:off x="7023588" y="4372727"/>
            <a:ext cx="227197" cy="238125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66" y="229"/>
                </a:moveTo>
                <a:cubicBezTo>
                  <a:pt x="79" y="136"/>
                  <a:pt x="159" y="64"/>
                  <a:pt x="256" y="64"/>
                </a:cubicBezTo>
                <a:cubicBezTo>
                  <a:pt x="309" y="64"/>
                  <a:pt x="357" y="86"/>
                  <a:pt x="392" y="120"/>
                </a:cubicBezTo>
                <a:cubicBezTo>
                  <a:pt x="392" y="120"/>
                  <a:pt x="392" y="121"/>
                  <a:pt x="392" y="121"/>
                </a:cubicBezTo>
                <a:lnTo>
                  <a:pt x="400" y="128"/>
                </a:lnTo>
                <a:lnTo>
                  <a:pt x="352" y="128"/>
                </a:lnTo>
                <a:cubicBezTo>
                  <a:pt x="334" y="128"/>
                  <a:pt x="320" y="142"/>
                  <a:pt x="320" y="160"/>
                </a:cubicBezTo>
                <a:cubicBezTo>
                  <a:pt x="320" y="178"/>
                  <a:pt x="334" y="192"/>
                  <a:pt x="352" y="192"/>
                </a:cubicBezTo>
                <a:lnTo>
                  <a:pt x="480" y="192"/>
                </a:lnTo>
                <a:cubicBezTo>
                  <a:pt x="498" y="192"/>
                  <a:pt x="512" y="178"/>
                  <a:pt x="512" y="160"/>
                </a:cubicBezTo>
                <a:lnTo>
                  <a:pt x="512" y="32"/>
                </a:lnTo>
                <a:cubicBezTo>
                  <a:pt x="512" y="14"/>
                  <a:pt x="498" y="0"/>
                  <a:pt x="480" y="0"/>
                </a:cubicBezTo>
                <a:cubicBezTo>
                  <a:pt x="462" y="0"/>
                  <a:pt x="448" y="14"/>
                  <a:pt x="448" y="32"/>
                </a:cubicBezTo>
                <a:lnTo>
                  <a:pt x="448" y="85"/>
                </a:lnTo>
                <a:lnTo>
                  <a:pt x="437" y="75"/>
                </a:lnTo>
                <a:cubicBezTo>
                  <a:pt x="391" y="29"/>
                  <a:pt x="327" y="0"/>
                  <a:pt x="256" y="0"/>
                </a:cubicBezTo>
                <a:cubicBezTo>
                  <a:pt x="127" y="0"/>
                  <a:pt x="20" y="95"/>
                  <a:pt x="3" y="220"/>
                </a:cubicBezTo>
                <a:cubicBezTo>
                  <a:pt x="0" y="237"/>
                  <a:pt x="12" y="253"/>
                  <a:pt x="30" y="256"/>
                </a:cubicBezTo>
                <a:cubicBezTo>
                  <a:pt x="47" y="258"/>
                  <a:pt x="63" y="246"/>
                  <a:pt x="66" y="229"/>
                </a:cubicBezTo>
                <a:close/>
                <a:moveTo>
                  <a:pt x="509" y="293"/>
                </a:moveTo>
                <a:cubicBezTo>
                  <a:pt x="512" y="275"/>
                  <a:pt x="500" y="259"/>
                  <a:pt x="482" y="256"/>
                </a:cubicBezTo>
                <a:cubicBezTo>
                  <a:pt x="465" y="254"/>
                  <a:pt x="449" y="266"/>
                  <a:pt x="446" y="283"/>
                </a:cubicBezTo>
                <a:cubicBezTo>
                  <a:pt x="433" y="376"/>
                  <a:pt x="353" y="448"/>
                  <a:pt x="256" y="448"/>
                </a:cubicBezTo>
                <a:cubicBezTo>
                  <a:pt x="203" y="448"/>
                  <a:pt x="155" y="426"/>
                  <a:pt x="120" y="392"/>
                </a:cubicBezTo>
                <a:cubicBezTo>
                  <a:pt x="120" y="392"/>
                  <a:pt x="120" y="391"/>
                  <a:pt x="120" y="391"/>
                </a:cubicBezTo>
                <a:lnTo>
                  <a:pt x="112" y="384"/>
                </a:lnTo>
                <a:lnTo>
                  <a:pt x="160" y="384"/>
                </a:lnTo>
                <a:cubicBezTo>
                  <a:pt x="178" y="384"/>
                  <a:pt x="192" y="370"/>
                  <a:pt x="192" y="352"/>
                </a:cubicBezTo>
                <a:cubicBezTo>
                  <a:pt x="192" y="334"/>
                  <a:pt x="178" y="320"/>
                  <a:pt x="160" y="320"/>
                </a:cubicBezTo>
                <a:lnTo>
                  <a:pt x="32" y="320"/>
                </a:lnTo>
                <a:cubicBezTo>
                  <a:pt x="24" y="320"/>
                  <a:pt x="15" y="323"/>
                  <a:pt x="9" y="330"/>
                </a:cubicBezTo>
                <a:cubicBezTo>
                  <a:pt x="3" y="336"/>
                  <a:pt x="0" y="344"/>
                  <a:pt x="0" y="352"/>
                </a:cubicBezTo>
                <a:lnTo>
                  <a:pt x="1" y="479"/>
                </a:lnTo>
                <a:cubicBezTo>
                  <a:pt x="1" y="497"/>
                  <a:pt x="16" y="511"/>
                  <a:pt x="33" y="511"/>
                </a:cubicBezTo>
                <a:cubicBezTo>
                  <a:pt x="51" y="511"/>
                  <a:pt x="65" y="496"/>
                  <a:pt x="65" y="479"/>
                </a:cubicBezTo>
                <a:lnTo>
                  <a:pt x="65" y="427"/>
                </a:lnTo>
                <a:lnTo>
                  <a:pt x="75" y="437"/>
                </a:lnTo>
                <a:cubicBezTo>
                  <a:pt x="122" y="483"/>
                  <a:pt x="186" y="512"/>
                  <a:pt x="256" y="512"/>
                </a:cubicBezTo>
                <a:cubicBezTo>
                  <a:pt x="385" y="512"/>
                  <a:pt x="492" y="417"/>
                  <a:pt x="509" y="29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73" name="vs5-title">
            <a:extLst>
              <a:ext uri="{FF2B5EF4-FFF2-40B4-BE49-F238E27FC236}">
                <a16:creationId xmlns:a16="http://schemas.microsoft.com/office/drawing/2014/main" id="{4D25D155-EC24-0921-C627-71D0BA510DEA}"/>
              </a:ext>
            </a:extLst>
          </p:cNvPr>
          <p:cNvSpPr txBox="1"/>
          <p:nvPr/>
        </p:nvSpPr>
        <p:spPr>
          <a:xfrm>
            <a:off x="7449957" y="4277477"/>
            <a:ext cx="1126897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900" b="1" noProof="1">
                <a:solidFill>
                  <a:schemeClr val="accent3"/>
                </a:solidFill>
                <a:latin typeface="+mn-ea"/>
              </a:rPr>
              <a:t>持续改进与复用</a:t>
            </a:r>
            <a:endParaRPr lang="en-US" sz="900" noProof="1">
              <a:solidFill>
                <a:schemeClr val="accent3"/>
              </a:solidFill>
              <a:latin typeface="+mn-ea"/>
            </a:endParaRPr>
          </a:p>
        </p:txBody>
      </p:sp>
      <p:sp>
        <p:nvSpPr>
          <p:cNvPr id="277" name="vs5-body">
            <a:extLst>
              <a:ext uri="{FF2B5EF4-FFF2-40B4-BE49-F238E27FC236}">
                <a16:creationId xmlns:a16="http://schemas.microsoft.com/office/drawing/2014/main" id="{F7517995-F405-537E-E938-D8ECE7BB6327}"/>
              </a:ext>
            </a:extLst>
          </p:cNvPr>
          <p:cNvSpPr txBox="1"/>
          <p:nvPr/>
        </p:nvSpPr>
        <p:spPr>
          <a:xfrm>
            <a:off x="7449957" y="4429877"/>
            <a:ext cx="112689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defTabSz="685800">
              <a:lnSpc>
                <a:spcPct val="150000"/>
              </a:lnSpc>
            </a:pPr>
            <a:r>
              <a:rPr lang="en-US" sz="700" noProof="1">
                <a:latin typeface="+mn-ea"/>
              </a:rPr>
              <a:t>沉淀知识库与资产，</a:t>
            </a:r>
          </a:p>
          <a:p>
            <a:pPr defTabSz="685800">
              <a:lnSpc>
                <a:spcPct val="150000"/>
              </a:lnSpc>
            </a:pPr>
            <a:r>
              <a:rPr lang="en-US" sz="700" noProof="1">
                <a:latin typeface="+mn-ea"/>
              </a:rPr>
              <a:t>支撑后续项目快速复用</a:t>
            </a:r>
          </a:p>
        </p:txBody>
      </p:sp>
      <p:sp>
        <p:nvSpPr>
          <p:cNvPr id="281" name="vs-box">
            <a:extLst>
              <a:ext uri="{FF2B5EF4-FFF2-40B4-BE49-F238E27FC236}">
                <a16:creationId xmlns:a16="http://schemas.microsoft.com/office/drawing/2014/main" id="{0ACC5C27-DCA3-8D1A-CB3F-C48A2A518DCC}"/>
              </a:ext>
            </a:extLst>
          </p:cNvPr>
          <p:cNvSpPr/>
          <p:nvPr/>
        </p:nvSpPr>
        <p:spPr>
          <a:xfrm>
            <a:off x="227004" y="3676809"/>
            <a:ext cx="8497871" cy="480405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B9D9FB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285" name="Rectangle: Rounded Corners 284">
            <a:extLst>
              <a:ext uri="{FF2B5EF4-FFF2-40B4-BE49-F238E27FC236}">
                <a16:creationId xmlns:a16="http://schemas.microsoft.com/office/drawing/2014/main" id="{23C95A0D-4A25-F489-A831-501AE6D0B305}"/>
              </a:ext>
            </a:extLst>
          </p:cNvPr>
          <p:cNvSpPr/>
          <p:nvPr/>
        </p:nvSpPr>
        <p:spPr>
          <a:xfrm>
            <a:off x="1905110" y="1322971"/>
            <a:ext cx="4528614" cy="2294838"/>
          </a:xfrm>
          <a:prstGeom prst="roundRect">
            <a:avLst>
              <a:gd name="adj" fmla="val 2865"/>
            </a:avLst>
          </a:prstGeom>
          <a:noFill/>
          <a:ln w="1270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6" name="collect-note">
            <a:extLst>
              <a:ext uri="{FF2B5EF4-FFF2-40B4-BE49-F238E27FC236}">
                <a16:creationId xmlns:a16="http://schemas.microsoft.com/office/drawing/2014/main" id="{CE0E618A-641A-EC83-9918-3C10B70A33DD}"/>
              </a:ext>
            </a:extLst>
          </p:cNvPr>
          <p:cNvSpPr>
            <a:spLocks noGrp="1"/>
          </p:cNvSpPr>
          <p:nvPr/>
        </p:nvSpPr>
        <p:spPr>
          <a:xfrm>
            <a:off x="3272536" y="1217212"/>
            <a:ext cx="1829556" cy="222132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750" b="0">
                <a:solidFill>
                  <a:srgbClr val="607384"/>
                </a:solidFill>
              </a:defRPr>
            </a:pPr>
            <a:r>
              <a:rPr lang="en-US" altLang="zh-CN" sz="1000" b="1">
                <a:solidFill>
                  <a:schemeClr val="accent1"/>
                </a:solidFill>
                <a:latin typeface="+mn-ea"/>
              </a:rPr>
              <a:t>SDD</a:t>
            </a:r>
            <a:r>
              <a:rPr lang="zh-CN" altLang="en-US" sz="1000" b="1">
                <a:solidFill>
                  <a:schemeClr val="accent1"/>
                </a:solidFill>
                <a:latin typeface="+mn-ea"/>
              </a:rPr>
              <a:t>规范驱动开发覆盖范围</a:t>
            </a:r>
          </a:p>
        </p:txBody>
      </p:sp>
      <p:sp>
        <p:nvSpPr>
          <p:cNvPr id="287" name="collect-note">
            <a:extLst>
              <a:ext uri="{FF2B5EF4-FFF2-40B4-BE49-F238E27FC236}">
                <a16:creationId xmlns:a16="http://schemas.microsoft.com/office/drawing/2014/main" id="{A521B3DB-EE88-8AEF-B257-918717034F74}"/>
              </a:ext>
            </a:extLst>
          </p:cNvPr>
          <p:cNvSpPr>
            <a:spLocks noGrp="1"/>
          </p:cNvSpPr>
          <p:nvPr/>
        </p:nvSpPr>
        <p:spPr>
          <a:xfrm>
            <a:off x="308734" y="3770454"/>
            <a:ext cx="1305836" cy="321005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750" b="0">
                <a:solidFill>
                  <a:srgbClr val="607384"/>
                </a:solidFill>
              </a:defRPr>
            </a:pPr>
            <a:r>
              <a:rPr lang="en-US" altLang="zh-CN" sz="800" b="1">
                <a:solidFill>
                  <a:srgbClr val="004F71"/>
                </a:solidFill>
                <a:latin typeface="+mn-ea"/>
              </a:rPr>
              <a:t>SDD</a:t>
            </a:r>
            <a:r>
              <a:rPr lang="zh-CN" altLang="en-US" sz="800" b="1">
                <a:solidFill>
                  <a:srgbClr val="004F71"/>
                </a:solidFill>
                <a:latin typeface="+mn-ea"/>
              </a:rPr>
              <a:t>规范驱动开发主线</a:t>
            </a:r>
            <a:br>
              <a:rPr lang="en-US" altLang="zh-CN" sz="800" b="1">
                <a:solidFill>
                  <a:srgbClr val="004F71"/>
                </a:solidFill>
                <a:latin typeface="+mn-ea"/>
              </a:rPr>
            </a:br>
            <a:r>
              <a:rPr lang="en-US" altLang="zh-CN" sz="800" b="1">
                <a:solidFill>
                  <a:srgbClr val="004F71"/>
                </a:solidFill>
                <a:latin typeface="+mn-ea"/>
              </a:rPr>
              <a:t>(</a:t>
            </a:r>
            <a:r>
              <a:rPr lang="zh-CN" altLang="en-US" sz="800" b="1">
                <a:solidFill>
                  <a:srgbClr val="004F71"/>
                </a:solidFill>
                <a:latin typeface="+mn-ea"/>
              </a:rPr>
              <a:t>覆盖</a:t>
            </a:r>
            <a:r>
              <a:rPr lang="en-US" altLang="zh-CN" sz="800" b="1">
                <a:solidFill>
                  <a:srgbClr val="004F71"/>
                </a:solidFill>
                <a:latin typeface="+mn-ea"/>
              </a:rPr>
              <a:t>02-05)</a:t>
            </a:r>
            <a:endParaRPr lang="zh-CN" altLang="en-US" sz="800" b="1">
              <a:solidFill>
                <a:srgbClr val="004F71"/>
              </a:solidFill>
              <a:latin typeface="+mn-ea"/>
            </a:endParaRPr>
          </a:p>
        </p:txBody>
      </p:sp>
      <p:sp>
        <p:nvSpPr>
          <p:cNvPr id="288" name="collect-note">
            <a:extLst>
              <a:ext uri="{FF2B5EF4-FFF2-40B4-BE49-F238E27FC236}">
                <a16:creationId xmlns:a16="http://schemas.microsoft.com/office/drawing/2014/main" id="{CA760270-D0A9-F467-DABA-F3D878183B02}"/>
              </a:ext>
            </a:extLst>
          </p:cNvPr>
          <p:cNvSpPr>
            <a:spLocks noGrp="1"/>
          </p:cNvSpPr>
          <p:nvPr/>
        </p:nvSpPr>
        <p:spPr>
          <a:xfrm>
            <a:off x="1531135" y="3770454"/>
            <a:ext cx="1482095" cy="321005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750" b="0">
                <a:solidFill>
                  <a:srgbClr val="607384"/>
                </a:solidFill>
              </a:defRPr>
            </a:pPr>
            <a:r>
              <a:rPr lang="en-US" altLang="zh-CN" sz="700" b="1">
                <a:solidFill>
                  <a:srgbClr val="004F71"/>
                </a:solidFill>
                <a:latin typeface="+mn-ea"/>
              </a:rPr>
              <a:t>SDD</a:t>
            </a:r>
            <a:r>
              <a:rPr lang="zh-CN" altLang="en-US" sz="700" b="1">
                <a:solidFill>
                  <a:srgbClr val="004F71"/>
                </a:solidFill>
                <a:latin typeface="+mn-ea"/>
              </a:rPr>
              <a:t>输入：需求与设计产出</a:t>
            </a:r>
          </a:p>
        </p:txBody>
      </p:sp>
      <p:sp>
        <p:nvSpPr>
          <p:cNvPr id="289" name="collect-note">
            <a:extLst>
              <a:ext uri="{FF2B5EF4-FFF2-40B4-BE49-F238E27FC236}">
                <a16:creationId xmlns:a16="http://schemas.microsoft.com/office/drawing/2014/main" id="{ABD883C2-BFC4-283D-09EE-7B0B437FFDD0}"/>
              </a:ext>
            </a:extLst>
          </p:cNvPr>
          <p:cNvSpPr>
            <a:spLocks noGrp="1"/>
          </p:cNvSpPr>
          <p:nvPr/>
        </p:nvSpPr>
        <p:spPr>
          <a:xfrm>
            <a:off x="3118148" y="3770454"/>
            <a:ext cx="904734" cy="321005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750" b="0">
                <a:solidFill>
                  <a:srgbClr val="607384"/>
                </a:solidFill>
              </a:defRPr>
            </a:pPr>
            <a:r>
              <a:rPr lang="zh-CN" altLang="en-US" sz="700" b="1">
                <a:solidFill>
                  <a:srgbClr val="004F71"/>
                </a:solidFill>
                <a:latin typeface="+mn-ea"/>
              </a:rPr>
              <a:t>规范化（</a:t>
            </a:r>
            <a:r>
              <a:rPr lang="en-US" altLang="zh-CN" sz="700" b="1">
                <a:solidFill>
                  <a:srgbClr val="004F71"/>
                </a:solidFill>
                <a:latin typeface="+mn-ea"/>
              </a:rPr>
              <a:t>Spec</a:t>
            </a:r>
            <a:r>
              <a:rPr lang="zh-CN" altLang="en-US" sz="700" b="1">
                <a:solidFill>
                  <a:srgbClr val="004F71"/>
                </a:solidFill>
                <a:latin typeface="+mn-ea"/>
              </a:rPr>
              <a:t>）</a:t>
            </a:r>
          </a:p>
        </p:txBody>
      </p:sp>
      <p:sp>
        <p:nvSpPr>
          <p:cNvPr id="290" name="collect-note">
            <a:extLst>
              <a:ext uri="{FF2B5EF4-FFF2-40B4-BE49-F238E27FC236}">
                <a16:creationId xmlns:a16="http://schemas.microsoft.com/office/drawing/2014/main" id="{B04B59E0-195A-E55D-FDE5-9094066F847D}"/>
              </a:ext>
            </a:extLst>
          </p:cNvPr>
          <p:cNvSpPr>
            <a:spLocks noGrp="1"/>
          </p:cNvSpPr>
          <p:nvPr/>
        </p:nvSpPr>
        <p:spPr>
          <a:xfrm>
            <a:off x="6075679" y="3770454"/>
            <a:ext cx="1251334" cy="321005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750" b="0">
                <a:solidFill>
                  <a:srgbClr val="607384"/>
                </a:solidFill>
              </a:defRPr>
            </a:pPr>
            <a:r>
              <a:rPr lang="en-US" altLang="zh-CN" sz="700" b="1">
                <a:solidFill>
                  <a:srgbClr val="004F71"/>
                </a:solidFill>
                <a:latin typeface="+mn-ea"/>
              </a:rPr>
              <a:t>SDD</a:t>
            </a:r>
            <a:r>
              <a:rPr lang="zh-CN" altLang="en-US" sz="700" b="1">
                <a:solidFill>
                  <a:srgbClr val="004F71"/>
                </a:solidFill>
                <a:latin typeface="+mn-ea"/>
              </a:rPr>
              <a:t>输出：可验证产出</a:t>
            </a:r>
          </a:p>
        </p:txBody>
      </p:sp>
      <p:sp>
        <p:nvSpPr>
          <p:cNvPr id="291" name="collect-note">
            <a:extLst>
              <a:ext uri="{FF2B5EF4-FFF2-40B4-BE49-F238E27FC236}">
                <a16:creationId xmlns:a16="http://schemas.microsoft.com/office/drawing/2014/main" id="{DF64989E-72E6-075B-4851-D92228D11629}"/>
              </a:ext>
            </a:extLst>
          </p:cNvPr>
          <p:cNvSpPr>
            <a:spLocks noGrp="1"/>
          </p:cNvSpPr>
          <p:nvPr/>
        </p:nvSpPr>
        <p:spPr>
          <a:xfrm>
            <a:off x="7324789" y="3770454"/>
            <a:ext cx="1251334" cy="321005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750" b="0">
                <a:solidFill>
                  <a:srgbClr val="607384"/>
                </a:solidFill>
              </a:defRPr>
            </a:pPr>
            <a:r>
              <a:rPr lang="zh-CN" altLang="en-US" sz="700" b="1">
                <a:solidFill>
                  <a:srgbClr val="004F71"/>
                </a:solidFill>
                <a:latin typeface="+mn-ea"/>
              </a:rPr>
              <a:t>测试与审计验证</a:t>
            </a:r>
          </a:p>
        </p:txBody>
      </p:sp>
      <p:pic>
        <p:nvPicPr>
          <p:cNvPr id="293" name="Picture 292">
            <a:extLst>
              <a:ext uri="{FF2B5EF4-FFF2-40B4-BE49-F238E27FC236}">
                <a16:creationId xmlns:a16="http://schemas.microsoft.com/office/drawing/2014/main" id="{8557F408-4DD8-C590-A70E-0B0B4B723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2259" y="3809362"/>
            <a:ext cx="1606834" cy="226070"/>
          </a:xfrm>
          <a:prstGeom prst="rect">
            <a:avLst/>
          </a:prstGeom>
        </p:spPr>
      </p:pic>
      <p:cxnSp>
        <p:nvCxnSpPr>
          <p:cNvPr id="295" name="Straight Arrow Connector 294">
            <a:extLst>
              <a:ext uri="{FF2B5EF4-FFF2-40B4-BE49-F238E27FC236}">
                <a16:creationId xmlns:a16="http://schemas.microsoft.com/office/drawing/2014/main" id="{89007D60-62EB-3077-8CCD-B89D94522686}"/>
              </a:ext>
            </a:extLst>
          </p:cNvPr>
          <p:cNvCxnSpPr>
            <a:cxnSpLocks/>
          </p:cNvCxnSpPr>
          <p:nvPr/>
        </p:nvCxnSpPr>
        <p:spPr>
          <a:xfrm>
            <a:off x="2868273" y="3925824"/>
            <a:ext cx="317818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Straight Arrow Connector 297">
            <a:extLst>
              <a:ext uri="{FF2B5EF4-FFF2-40B4-BE49-F238E27FC236}">
                <a16:creationId xmlns:a16="http://schemas.microsoft.com/office/drawing/2014/main" id="{5FF9CE3A-45A6-4C70-09E7-2DF1002BA98B}"/>
              </a:ext>
            </a:extLst>
          </p:cNvPr>
          <p:cNvCxnSpPr>
            <a:cxnSpLocks/>
          </p:cNvCxnSpPr>
          <p:nvPr/>
        </p:nvCxnSpPr>
        <p:spPr>
          <a:xfrm>
            <a:off x="3902234" y="3925824"/>
            <a:ext cx="317818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Arrow Connector 298">
            <a:extLst>
              <a:ext uri="{FF2B5EF4-FFF2-40B4-BE49-F238E27FC236}">
                <a16:creationId xmlns:a16="http://schemas.microsoft.com/office/drawing/2014/main" id="{E0B9248E-4762-24F2-B1D6-4DCD4519E581}"/>
              </a:ext>
            </a:extLst>
          </p:cNvPr>
          <p:cNvCxnSpPr>
            <a:cxnSpLocks/>
          </p:cNvCxnSpPr>
          <p:nvPr/>
        </p:nvCxnSpPr>
        <p:spPr>
          <a:xfrm>
            <a:off x="5868610" y="3925824"/>
            <a:ext cx="317818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Straight Arrow Connector 299">
            <a:extLst>
              <a:ext uri="{FF2B5EF4-FFF2-40B4-BE49-F238E27FC236}">
                <a16:creationId xmlns:a16="http://schemas.microsoft.com/office/drawing/2014/main" id="{735A08AC-6187-DC1B-DFB5-07D14E2F0284}"/>
              </a:ext>
            </a:extLst>
          </p:cNvPr>
          <p:cNvCxnSpPr>
            <a:cxnSpLocks/>
          </p:cNvCxnSpPr>
          <p:nvPr/>
        </p:nvCxnSpPr>
        <p:spPr>
          <a:xfrm>
            <a:off x="7249487" y="3925824"/>
            <a:ext cx="317818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378825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382FC9A-3748-6EC5-B5AC-A44E69F34DC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China RIMS Solution Proposal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93A07A3-2D58-3597-B0F6-FDDD96D6F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SDD </a:t>
            </a:r>
            <a:r>
              <a:rPr lang="zh-CN" altLang="en-US"/>
              <a:t>规范驱动开发（</a:t>
            </a:r>
            <a:r>
              <a:rPr lang="en-US" altLang="zh-CN"/>
              <a:t>AI </a:t>
            </a:r>
            <a:r>
              <a:rPr lang="zh-CN" altLang="en-US"/>
              <a:t>赋能方法）</a:t>
            </a:r>
            <a:br>
              <a:rPr lang="zh-CN" altLang="en-US"/>
            </a:br>
            <a:endParaRPr lang="zh-CN" altLang="en-US"/>
          </a:p>
        </p:txBody>
      </p:sp>
      <p:sp>
        <p:nvSpPr>
          <p:cNvPr id="322" name="frame1">
            <a:extLst>
              <a:ext uri="{FF2B5EF4-FFF2-40B4-BE49-F238E27FC236}">
                <a16:creationId xmlns:a16="http://schemas.microsoft.com/office/drawing/2014/main" id="{293C32CA-834F-BD45-8DC4-C4C6961791DA}"/>
              </a:ext>
            </a:extLst>
          </p:cNvPr>
          <p:cNvSpPr/>
          <p:nvPr/>
        </p:nvSpPr>
        <p:spPr>
          <a:xfrm>
            <a:off x="257175" y="1255707"/>
            <a:ext cx="8620125" cy="158558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chemeClr val="accent3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324" name="banner1">
            <a:extLst>
              <a:ext uri="{FF2B5EF4-FFF2-40B4-BE49-F238E27FC236}">
                <a16:creationId xmlns:a16="http://schemas.microsoft.com/office/drawing/2014/main" id="{EADB8402-CF58-F8FF-FA22-74BFF37513C7}"/>
              </a:ext>
            </a:extLst>
          </p:cNvPr>
          <p:cNvSpPr/>
          <p:nvPr/>
        </p:nvSpPr>
        <p:spPr>
          <a:xfrm>
            <a:off x="247650" y="1227132"/>
            <a:ext cx="2676525" cy="200025"/>
          </a:xfrm>
          <a:prstGeom prst="roundRect">
            <a:avLst>
              <a:gd name="adj" fmla="val 50000"/>
            </a:avLst>
          </a:prstGeom>
          <a:solidFill>
            <a:srgbClr val="594EC5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326" name="banner1-t">
            <a:extLst>
              <a:ext uri="{FF2B5EF4-FFF2-40B4-BE49-F238E27FC236}">
                <a16:creationId xmlns:a16="http://schemas.microsoft.com/office/drawing/2014/main" id="{2160DED9-9AC2-3F41-1912-ADE4A2D11F09}"/>
              </a:ext>
            </a:extLst>
          </p:cNvPr>
          <p:cNvSpPr txBox="1"/>
          <p:nvPr/>
        </p:nvSpPr>
        <p:spPr>
          <a:xfrm>
            <a:off x="247650" y="1227132"/>
            <a:ext cx="2676525" cy="2000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750" b="1" noProof="1">
                <a:solidFill>
                  <a:srgbClr val="FFFFFF"/>
                </a:solidFill>
                <a:latin typeface="+mn-ea"/>
                <a:cs typeface="MiSans"/>
              </a:rPr>
              <a:t>六步工作流（AI-Enabled Development Workflow）</a:t>
            </a:r>
            <a:endParaRPr lang="en-US" sz="750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328" name="c0-box">
            <a:extLst>
              <a:ext uri="{FF2B5EF4-FFF2-40B4-BE49-F238E27FC236}">
                <a16:creationId xmlns:a16="http://schemas.microsoft.com/office/drawing/2014/main" id="{2184AC88-1272-2806-E0D0-CB61537C019C}"/>
              </a:ext>
            </a:extLst>
          </p:cNvPr>
          <p:cNvSpPr/>
          <p:nvPr/>
        </p:nvSpPr>
        <p:spPr>
          <a:xfrm>
            <a:off x="428625" y="1503357"/>
            <a:ext cx="1200150" cy="12573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9CDE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334" name="c0-tt">
            <a:extLst>
              <a:ext uri="{FF2B5EF4-FFF2-40B4-BE49-F238E27FC236}">
                <a16:creationId xmlns:a16="http://schemas.microsoft.com/office/drawing/2014/main" id="{61CB1F10-8507-4830-B23D-0F9623A6D04C}"/>
              </a:ext>
            </a:extLst>
          </p:cNvPr>
          <p:cNvSpPr txBox="1"/>
          <p:nvPr/>
        </p:nvSpPr>
        <p:spPr>
          <a:xfrm>
            <a:off x="609600" y="1548280"/>
            <a:ext cx="8382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788" b="1" noProof="1">
                <a:latin typeface="+mn-ea"/>
                <a:cs typeface="MiSans"/>
              </a:rPr>
              <a:t>Step1: 需求结构化</a:t>
            </a:r>
            <a:endParaRPr lang="en-US" sz="788" noProof="1">
              <a:latin typeface="+mn-ea"/>
              <a:cs typeface="MiSans"/>
            </a:endParaRPr>
          </a:p>
        </p:txBody>
      </p:sp>
      <p:sp>
        <p:nvSpPr>
          <p:cNvPr id="336" name="c0-i1">
            <a:extLst>
              <a:ext uri="{FF2B5EF4-FFF2-40B4-BE49-F238E27FC236}">
                <a16:creationId xmlns:a16="http://schemas.microsoft.com/office/drawing/2014/main" id="{38986027-3B4C-42DF-E0C0-F0965D3F9ADD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eyJpY29uTmFtZSI6ImZhczpyb2JvdCJ9</pptd:icon>
              </p:ext>
            </p:extLst>
          </p:nvPr>
        </p:nvSpPr>
        <p:spPr>
          <a:xfrm>
            <a:off x="857250" y="1789107"/>
            <a:ext cx="123825" cy="123825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352" y="0"/>
                </a:moveTo>
                <a:cubicBezTo>
                  <a:pt x="352" y="-18"/>
                  <a:pt x="338" y="-32"/>
                  <a:pt x="320" y="-32"/>
                </a:cubicBezTo>
                <a:cubicBezTo>
                  <a:pt x="302" y="-32"/>
                  <a:pt x="288" y="-18"/>
                  <a:pt x="288" y="0"/>
                </a:cubicBezTo>
                <a:lnTo>
                  <a:pt x="288" y="64"/>
                </a:lnTo>
                <a:lnTo>
                  <a:pt x="192" y="64"/>
                </a:lnTo>
                <a:cubicBezTo>
                  <a:pt x="139" y="64"/>
                  <a:pt x="96" y="107"/>
                  <a:pt x="96" y="160"/>
                </a:cubicBezTo>
                <a:lnTo>
                  <a:pt x="96" y="384"/>
                </a:lnTo>
                <a:cubicBezTo>
                  <a:pt x="96" y="437"/>
                  <a:pt x="139" y="480"/>
                  <a:pt x="192" y="480"/>
                </a:cubicBezTo>
                <a:lnTo>
                  <a:pt x="448" y="480"/>
                </a:lnTo>
                <a:cubicBezTo>
                  <a:pt x="501" y="480"/>
                  <a:pt x="544" y="437"/>
                  <a:pt x="544" y="384"/>
                </a:cubicBezTo>
                <a:lnTo>
                  <a:pt x="544" y="160"/>
                </a:lnTo>
                <a:cubicBezTo>
                  <a:pt x="544" y="107"/>
                  <a:pt x="501" y="64"/>
                  <a:pt x="448" y="64"/>
                </a:cubicBezTo>
                <a:lnTo>
                  <a:pt x="352" y="64"/>
                </a:lnTo>
                <a:lnTo>
                  <a:pt x="352" y="0"/>
                </a:lnTo>
                <a:close/>
                <a:moveTo>
                  <a:pt x="160" y="368"/>
                </a:moveTo>
                <a:cubicBezTo>
                  <a:pt x="160" y="355"/>
                  <a:pt x="171" y="344"/>
                  <a:pt x="184" y="344"/>
                </a:cubicBezTo>
                <a:lnTo>
                  <a:pt x="216" y="344"/>
                </a:lnTo>
                <a:cubicBezTo>
                  <a:pt x="229" y="344"/>
                  <a:pt x="240" y="355"/>
                  <a:pt x="240" y="368"/>
                </a:cubicBezTo>
                <a:cubicBezTo>
                  <a:pt x="240" y="381"/>
                  <a:pt x="229" y="392"/>
                  <a:pt x="216" y="392"/>
                </a:cubicBezTo>
                <a:lnTo>
                  <a:pt x="184" y="392"/>
                </a:lnTo>
                <a:cubicBezTo>
                  <a:pt x="171" y="392"/>
                  <a:pt x="160" y="381"/>
                  <a:pt x="160" y="368"/>
                </a:cubicBezTo>
                <a:close/>
                <a:moveTo>
                  <a:pt x="280" y="368"/>
                </a:moveTo>
                <a:cubicBezTo>
                  <a:pt x="280" y="355"/>
                  <a:pt x="291" y="344"/>
                  <a:pt x="304" y="344"/>
                </a:cubicBezTo>
                <a:lnTo>
                  <a:pt x="336" y="344"/>
                </a:lnTo>
                <a:cubicBezTo>
                  <a:pt x="349" y="344"/>
                  <a:pt x="360" y="355"/>
                  <a:pt x="360" y="368"/>
                </a:cubicBezTo>
                <a:cubicBezTo>
                  <a:pt x="360" y="381"/>
                  <a:pt x="349" y="392"/>
                  <a:pt x="336" y="392"/>
                </a:cubicBezTo>
                <a:lnTo>
                  <a:pt x="304" y="392"/>
                </a:lnTo>
                <a:cubicBezTo>
                  <a:pt x="291" y="392"/>
                  <a:pt x="280" y="381"/>
                  <a:pt x="280" y="368"/>
                </a:cubicBezTo>
                <a:close/>
                <a:moveTo>
                  <a:pt x="400" y="368"/>
                </a:moveTo>
                <a:cubicBezTo>
                  <a:pt x="400" y="355"/>
                  <a:pt x="411" y="344"/>
                  <a:pt x="424" y="344"/>
                </a:cubicBezTo>
                <a:lnTo>
                  <a:pt x="456" y="344"/>
                </a:lnTo>
                <a:cubicBezTo>
                  <a:pt x="469" y="344"/>
                  <a:pt x="480" y="355"/>
                  <a:pt x="480" y="368"/>
                </a:cubicBezTo>
                <a:cubicBezTo>
                  <a:pt x="480" y="381"/>
                  <a:pt x="469" y="392"/>
                  <a:pt x="456" y="392"/>
                </a:cubicBezTo>
                <a:lnTo>
                  <a:pt x="424" y="392"/>
                </a:lnTo>
                <a:cubicBezTo>
                  <a:pt x="411" y="392"/>
                  <a:pt x="400" y="381"/>
                  <a:pt x="400" y="368"/>
                </a:cubicBezTo>
                <a:close/>
                <a:moveTo>
                  <a:pt x="224" y="176"/>
                </a:moveTo>
                <a:cubicBezTo>
                  <a:pt x="251" y="176"/>
                  <a:pt x="272" y="197"/>
                  <a:pt x="272" y="224"/>
                </a:cubicBezTo>
                <a:cubicBezTo>
                  <a:pt x="272" y="251"/>
                  <a:pt x="251" y="272"/>
                  <a:pt x="224" y="272"/>
                </a:cubicBezTo>
                <a:cubicBezTo>
                  <a:pt x="197" y="272"/>
                  <a:pt x="176" y="251"/>
                  <a:pt x="176" y="224"/>
                </a:cubicBezTo>
                <a:cubicBezTo>
                  <a:pt x="176" y="197"/>
                  <a:pt x="197" y="176"/>
                  <a:pt x="224" y="176"/>
                </a:cubicBezTo>
                <a:close/>
                <a:moveTo>
                  <a:pt x="368" y="224"/>
                </a:moveTo>
                <a:cubicBezTo>
                  <a:pt x="368" y="197"/>
                  <a:pt x="389" y="176"/>
                  <a:pt x="416" y="176"/>
                </a:cubicBezTo>
                <a:cubicBezTo>
                  <a:pt x="443" y="176"/>
                  <a:pt x="464" y="197"/>
                  <a:pt x="464" y="224"/>
                </a:cubicBezTo>
                <a:cubicBezTo>
                  <a:pt x="464" y="251"/>
                  <a:pt x="443" y="272"/>
                  <a:pt x="416" y="272"/>
                </a:cubicBezTo>
                <a:cubicBezTo>
                  <a:pt x="389" y="272"/>
                  <a:pt x="368" y="251"/>
                  <a:pt x="368" y="224"/>
                </a:cubicBezTo>
                <a:close/>
              </a:path>
              <a:path w="640" h="512">
                <a:moveTo>
                  <a:pt x="64" y="224"/>
                </a:moveTo>
                <a:cubicBezTo>
                  <a:pt x="64" y="206"/>
                  <a:pt x="50" y="192"/>
                  <a:pt x="32" y="192"/>
                </a:cubicBezTo>
                <a:cubicBezTo>
                  <a:pt x="14" y="192"/>
                  <a:pt x="0" y="206"/>
                  <a:pt x="0" y="224"/>
                </a:cubicBezTo>
                <a:lnTo>
                  <a:pt x="0" y="320"/>
                </a:lnTo>
                <a:cubicBezTo>
                  <a:pt x="0" y="338"/>
                  <a:pt x="14" y="352"/>
                  <a:pt x="32" y="352"/>
                </a:cubicBezTo>
                <a:cubicBezTo>
                  <a:pt x="50" y="352"/>
                  <a:pt x="64" y="338"/>
                  <a:pt x="64" y="320"/>
                </a:cubicBezTo>
                <a:lnTo>
                  <a:pt x="64" y="224"/>
                </a:lnTo>
                <a:close/>
              </a:path>
              <a:path w="640" h="512">
                <a:moveTo>
                  <a:pt x="608" y="192"/>
                </a:moveTo>
                <a:cubicBezTo>
                  <a:pt x="590" y="192"/>
                  <a:pt x="576" y="206"/>
                  <a:pt x="576" y="224"/>
                </a:cubicBezTo>
                <a:lnTo>
                  <a:pt x="576" y="320"/>
                </a:lnTo>
                <a:cubicBezTo>
                  <a:pt x="576" y="338"/>
                  <a:pt x="590" y="352"/>
                  <a:pt x="608" y="352"/>
                </a:cubicBezTo>
                <a:cubicBezTo>
                  <a:pt x="626" y="352"/>
                  <a:pt x="640" y="338"/>
                  <a:pt x="640" y="320"/>
                </a:cubicBezTo>
                <a:lnTo>
                  <a:pt x="640" y="224"/>
                </a:lnTo>
                <a:cubicBezTo>
                  <a:pt x="640" y="206"/>
                  <a:pt x="626" y="192"/>
                  <a:pt x="608" y="19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338" name="c0-plus">
            <a:extLst>
              <a:ext uri="{FF2B5EF4-FFF2-40B4-BE49-F238E27FC236}">
                <a16:creationId xmlns:a16="http://schemas.microsoft.com/office/drawing/2014/main" id="{06FAE498-A540-DD13-51FC-FCA106151A1A}"/>
              </a:ext>
            </a:extLst>
          </p:cNvPr>
          <p:cNvSpPr txBox="1"/>
          <p:nvPr/>
        </p:nvSpPr>
        <p:spPr>
          <a:xfrm>
            <a:off x="981075" y="1779582"/>
            <a:ext cx="9525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675" noProof="1">
                <a:solidFill>
                  <a:srgbClr val="565661"/>
                </a:solidFill>
                <a:latin typeface="+mn-ea"/>
                <a:cs typeface="MiSans"/>
              </a:rPr>
              <a:t>+</a:t>
            </a:r>
            <a:endParaRPr lang="en-US" sz="675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340" name="c0-i2">
            <a:extLst>
              <a:ext uri="{FF2B5EF4-FFF2-40B4-BE49-F238E27FC236}">
                <a16:creationId xmlns:a16="http://schemas.microsoft.com/office/drawing/2014/main" id="{010CC386-B915-A968-FC07-164E6D1E435B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eyJpY29uTmFtZSI6ImZhczp1c2VyIn0</pptd:icon>
              </p:ext>
            </p:extLst>
          </p:nvPr>
        </p:nvSpPr>
        <p:spPr>
          <a:xfrm>
            <a:off x="1076325" y="1789107"/>
            <a:ext cx="123825" cy="123825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224" y="248"/>
                </a:moveTo>
                <a:cubicBezTo>
                  <a:pt x="290" y="248"/>
                  <a:pt x="344" y="194"/>
                  <a:pt x="344" y="128"/>
                </a:cubicBezTo>
                <a:cubicBezTo>
                  <a:pt x="344" y="62"/>
                  <a:pt x="290" y="8"/>
                  <a:pt x="224" y="8"/>
                </a:cubicBezTo>
                <a:cubicBezTo>
                  <a:pt x="158" y="8"/>
                  <a:pt x="104" y="62"/>
                  <a:pt x="104" y="128"/>
                </a:cubicBezTo>
                <a:cubicBezTo>
                  <a:pt x="104" y="194"/>
                  <a:pt x="158" y="248"/>
                  <a:pt x="224" y="248"/>
                </a:cubicBezTo>
                <a:close/>
                <a:moveTo>
                  <a:pt x="194" y="304"/>
                </a:moveTo>
                <a:cubicBezTo>
                  <a:pt x="96" y="304"/>
                  <a:pt x="16" y="384"/>
                  <a:pt x="16" y="482"/>
                </a:cubicBezTo>
                <a:cubicBezTo>
                  <a:pt x="16" y="499"/>
                  <a:pt x="29" y="512"/>
                  <a:pt x="46" y="512"/>
                </a:cubicBezTo>
                <a:lnTo>
                  <a:pt x="402" y="512"/>
                </a:lnTo>
                <a:cubicBezTo>
                  <a:pt x="419" y="512"/>
                  <a:pt x="432" y="499"/>
                  <a:pt x="432" y="482"/>
                </a:cubicBezTo>
                <a:cubicBezTo>
                  <a:pt x="432" y="384"/>
                  <a:pt x="352" y="304"/>
                  <a:pt x="254" y="304"/>
                </a:cubicBezTo>
                <a:lnTo>
                  <a:pt x="194" y="304"/>
                </a:lnTo>
                <a:close/>
              </a:path>
            </a:pathLst>
          </a:custGeom>
          <a:solidFill>
            <a:srgbClr val="129B75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342" name="c0-bl">
            <a:extLst>
              <a:ext uri="{FF2B5EF4-FFF2-40B4-BE49-F238E27FC236}">
                <a16:creationId xmlns:a16="http://schemas.microsoft.com/office/drawing/2014/main" id="{00C01137-B812-17A0-3353-217D5E49A7C8}"/>
              </a:ext>
            </a:extLst>
          </p:cNvPr>
          <p:cNvSpPr txBox="1"/>
          <p:nvPr/>
        </p:nvSpPr>
        <p:spPr>
          <a:xfrm>
            <a:off x="504825" y="1970082"/>
            <a:ext cx="104775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>
              <a:lnSpc>
                <a:spcPct val="155000"/>
              </a:lnSpc>
            </a:pPr>
            <a:r>
              <a:rPr lang="en-US" sz="600" noProof="1">
                <a:solidFill>
                  <a:srgbClr val="565661"/>
                </a:solidFill>
                <a:latin typeface="+mn-ea"/>
                <a:cs typeface="MiSans"/>
              </a:rPr>
              <a:t>•  澄清业务需求与目标</a:t>
            </a:r>
            <a:endParaRPr lang="en-US" sz="600" noProof="1">
              <a:solidFill>
                <a:srgbClr val="000000"/>
              </a:solidFill>
              <a:latin typeface="+mn-ea"/>
              <a:cs typeface="MiSans"/>
            </a:endParaRPr>
          </a:p>
          <a:p>
            <a:pPr defTabSz="685800">
              <a:lnSpc>
                <a:spcPct val="155000"/>
              </a:lnSpc>
            </a:pPr>
            <a:r>
              <a:rPr lang="en-US" sz="600" noProof="1">
                <a:solidFill>
                  <a:srgbClr val="565661"/>
                </a:solidFill>
                <a:latin typeface="+mn-ea"/>
                <a:cs typeface="MiSans"/>
              </a:rPr>
              <a:t>•  识别边界、约束与验收标准</a:t>
            </a:r>
            <a:endParaRPr lang="en-US" sz="600" noProof="1">
              <a:solidFill>
                <a:srgbClr val="000000"/>
              </a:solidFill>
              <a:latin typeface="+mn-ea"/>
              <a:cs typeface="MiSans"/>
            </a:endParaRPr>
          </a:p>
          <a:p>
            <a:pPr defTabSz="685800">
              <a:lnSpc>
                <a:spcPct val="155000"/>
              </a:lnSpc>
            </a:pPr>
            <a:r>
              <a:rPr lang="en-US" sz="600" noProof="1">
                <a:solidFill>
                  <a:srgbClr val="565661"/>
                </a:solidFill>
                <a:latin typeface="+mn-ea"/>
                <a:cs typeface="MiSans"/>
              </a:rPr>
              <a:t>•  输出结构化需求</a:t>
            </a:r>
            <a:endParaRPr lang="en-US" sz="600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344" name="c0-p00">
            <a:extLst>
              <a:ext uri="{FF2B5EF4-FFF2-40B4-BE49-F238E27FC236}">
                <a16:creationId xmlns:a16="http://schemas.microsoft.com/office/drawing/2014/main" id="{A029F4BE-DF03-CDB2-C15A-93EECD97629B}"/>
              </a:ext>
            </a:extLst>
          </p:cNvPr>
          <p:cNvSpPr/>
          <p:nvPr/>
        </p:nvSpPr>
        <p:spPr>
          <a:xfrm>
            <a:off x="742950" y="2503482"/>
            <a:ext cx="571500" cy="133350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  <a:alpha val="45000"/>
            </a:schemeClr>
          </a:solidFill>
          <a:ln w="12700">
            <a:solidFill>
              <a:schemeClr val="accent3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346" name="c0-pt00">
            <a:extLst>
              <a:ext uri="{FF2B5EF4-FFF2-40B4-BE49-F238E27FC236}">
                <a16:creationId xmlns:a16="http://schemas.microsoft.com/office/drawing/2014/main" id="{C6DA5B64-CB68-A5E3-AF7C-2061B5F8CF9B}"/>
              </a:ext>
            </a:extLst>
          </p:cNvPr>
          <p:cNvSpPr txBox="1"/>
          <p:nvPr/>
        </p:nvSpPr>
        <p:spPr>
          <a:xfrm>
            <a:off x="742950" y="2503482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600" b="1" noProof="1">
                <a:latin typeface="+mn-ea"/>
                <a:cs typeface="MiSans"/>
              </a:rPr>
              <a:t>spec.md</a:t>
            </a:r>
            <a:endParaRPr lang="en-US" sz="600" noProof="1">
              <a:latin typeface="+mn-ea"/>
              <a:cs typeface="MiSans"/>
            </a:endParaRPr>
          </a:p>
        </p:txBody>
      </p:sp>
      <p:sp>
        <p:nvSpPr>
          <p:cNvPr id="348" name="c1-box">
            <a:extLst>
              <a:ext uri="{FF2B5EF4-FFF2-40B4-BE49-F238E27FC236}">
                <a16:creationId xmlns:a16="http://schemas.microsoft.com/office/drawing/2014/main" id="{E81A1630-7096-2312-4F44-75A14CB81FDC}"/>
              </a:ext>
            </a:extLst>
          </p:cNvPr>
          <p:cNvSpPr/>
          <p:nvPr/>
        </p:nvSpPr>
        <p:spPr>
          <a:xfrm>
            <a:off x="1809750" y="1503357"/>
            <a:ext cx="1314450" cy="12573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9CDE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354" name="c1-tt">
            <a:extLst>
              <a:ext uri="{FF2B5EF4-FFF2-40B4-BE49-F238E27FC236}">
                <a16:creationId xmlns:a16="http://schemas.microsoft.com/office/drawing/2014/main" id="{F394EECA-C968-FA71-87DB-01868C888D40}"/>
              </a:ext>
            </a:extLst>
          </p:cNvPr>
          <p:cNvSpPr txBox="1"/>
          <p:nvPr/>
        </p:nvSpPr>
        <p:spPr>
          <a:xfrm>
            <a:off x="1990725" y="1548280"/>
            <a:ext cx="9525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788" b="1" noProof="1">
                <a:latin typeface="+mn-ea"/>
                <a:cs typeface="MiSans"/>
              </a:rPr>
              <a:t>Step 2: Spec 冻结</a:t>
            </a:r>
            <a:endParaRPr lang="en-US" sz="788" noProof="1">
              <a:latin typeface="+mn-ea"/>
              <a:cs typeface="MiSans"/>
            </a:endParaRPr>
          </a:p>
        </p:txBody>
      </p:sp>
      <p:sp>
        <p:nvSpPr>
          <p:cNvPr id="356" name="c1-i1">
            <a:extLst>
              <a:ext uri="{FF2B5EF4-FFF2-40B4-BE49-F238E27FC236}">
                <a16:creationId xmlns:a16="http://schemas.microsoft.com/office/drawing/2014/main" id="{B06215EF-5BA0-59CB-CD5F-05F036B55237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eyJpY29uTmFtZSI6ImZhczpyb2JvdCJ9</pptd:icon>
              </p:ext>
            </p:extLst>
          </p:nvPr>
        </p:nvSpPr>
        <p:spPr>
          <a:xfrm>
            <a:off x="2295525" y="1789107"/>
            <a:ext cx="123825" cy="123825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352" y="0"/>
                </a:moveTo>
                <a:cubicBezTo>
                  <a:pt x="352" y="-18"/>
                  <a:pt x="338" y="-32"/>
                  <a:pt x="320" y="-32"/>
                </a:cubicBezTo>
                <a:cubicBezTo>
                  <a:pt x="302" y="-32"/>
                  <a:pt x="288" y="-18"/>
                  <a:pt x="288" y="0"/>
                </a:cubicBezTo>
                <a:lnTo>
                  <a:pt x="288" y="64"/>
                </a:lnTo>
                <a:lnTo>
                  <a:pt x="192" y="64"/>
                </a:lnTo>
                <a:cubicBezTo>
                  <a:pt x="139" y="64"/>
                  <a:pt x="96" y="107"/>
                  <a:pt x="96" y="160"/>
                </a:cubicBezTo>
                <a:lnTo>
                  <a:pt x="96" y="384"/>
                </a:lnTo>
                <a:cubicBezTo>
                  <a:pt x="96" y="437"/>
                  <a:pt x="139" y="480"/>
                  <a:pt x="192" y="480"/>
                </a:cubicBezTo>
                <a:lnTo>
                  <a:pt x="448" y="480"/>
                </a:lnTo>
                <a:cubicBezTo>
                  <a:pt x="501" y="480"/>
                  <a:pt x="544" y="437"/>
                  <a:pt x="544" y="384"/>
                </a:cubicBezTo>
                <a:lnTo>
                  <a:pt x="544" y="160"/>
                </a:lnTo>
                <a:cubicBezTo>
                  <a:pt x="544" y="107"/>
                  <a:pt x="501" y="64"/>
                  <a:pt x="448" y="64"/>
                </a:cubicBezTo>
                <a:lnTo>
                  <a:pt x="352" y="64"/>
                </a:lnTo>
                <a:lnTo>
                  <a:pt x="352" y="0"/>
                </a:lnTo>
                <a:close/>
                <a:moveTo>
                  <a:pt x="160" y="368"/>
                </a:moveTo>
                <a:cubicBezTo>
                  <a:pt x="160" y="355"/>
                  <a:pt x="171" y="344"/>
                  <a:pt x="184" y="344"/>
                </a:cubicBezTo>
                <a:lnTo>
                  <a:pt x="216" y="344"/>
                </a:lnTo>
                <a:cubicBezTo>
                  <a:pt x="229" y="344"/>
                  <a:pt x="240" y="355"/>
                  <a:pt x="240" y="368"/>
                </a:cubicBezTo>
                <a:cubicBezTo>
                  <a:pt x="240" y="381"/>
                  <a:pt x="229" y="392"/>
                  <a:pt x="216" y="392"/>
                </a:cubicBezTo>
                <a:lnTo>
                  <a:pt x="184" y="392"/>
                </a:lnTo>
                <a:cubicBezTo>
                  <a:pt x="171" y="392"/>
                  <a:pt x="160" y="381"/>
                  <a:pt x="160" y="368"/>
                </a:cubicBezTo>
                <a:close/>
                <a:moveTo>
                  <a:pt x="280" y="368"/>
                </a:moveTo>
                <a:cubicBezTo>
                  <a:pt x="280" y="355"/>
                  <a:pt x="291" y="344"/>
                  <a:pt x="304" y="344"/>
                </a:cubicBezTo>
                <a:lnTo>
                  <a:pt x="336" y="344"/>
                </a:lnTo>
                <a:cubicBezTo>
                  <a:pt x="349" y="344"/>
                  <a:pt x="360" y="355"/>
                  <a:pt x="360" y="368"/>
                </a:cubicBezTo>
                <a:cubicBezTo>
                  <a:pt x="360" y="381"/>
                  <a:pt x="349" y="392"/>
                  <a:pt x="336" y="392"/>
                </a:cubicBezTo>
                <a:lnTo>
                  <a:pt x="304" y="392"/>
                </a:lnTo>
                <a:cubicBezTo>
                  <a:pt x="291" y="392"/>
                  <a:pt x="280" y="381"/>
                  <a:pt x="280" y="368"/>
                </a:cubicBezTo>
                <a:close/>
                <a:moveTo>
                  <a:pt x="400" y="368"/>
                </a:moveTo>
                <a:cubicBezTo>
                  <a:pt x="400" y="355"/>
                  <a:pt x="411" y="344"/>
                  <a:pt x="424" y="344"/>
                </a:cubicBezTo>
                <a:lnTo>
                  <a:pt x="456" y="344"/>
                </a:lnTo>
                <a:cubicBezTo>
                  <a:pt x="469" y="344"/>
                  <a:pt x="480" y="355"/>
                  <a:pt x="480" y="368"/>
                </a:cubicBezTo>
                <a:cubicBezTo>
                  <a:pt x="480" y="381"/>
                  <a:pt x="469" y="392"/>
                  <a:pt x="456" y="392"/>
                </a:cubicBezTo>
                <a:lnTo>
                  <a:pt x="424" y="392"/>
                </a:lnTo>
                <a:cubicBezTo>
                  <a:pt x="411" y="392"/>
                  <a:pt x="400" y="381"/>
                  <a:pt x="400" y="368"/>
                </a:cubicBezTo>
                <a:close/>
                <a:moveTo>
                  <a:pt x="224" y="176"/>
                </a:moveTo>
                <a:cubicBezTo>
                  <a:pt x="251" y="176"/>
                  <a:pt x="272" y="197"/>
                  <a:pt x="272" y="224"/>
                </a:cubicBezTo>
                <a:cubicBezTo>
                  <a:pt x="272" y="251"/>
                  <a:pt x="251" y="272"/>
                  <a:pt x="224" y="272"/>
                </a:cubicBezTo>
                <a:cubicBezTo>
                  <a:pt x="197" y="272"/>
                  <a:pt x="176" y="251"/>
                  <a:pt x="176" y="224"/>
                </a:cubicBezTo>
                <a:cubicBezTo>
                  <a:pt x="176" y="197"/>
                  <a:pt x="197" y="176"/>
                  <a:pt x="224" y="176"/>
                </a:cubicBezTo>
                <a:close/>
                <a:moveTo>
                  <a:pt x="368" y="224"/>
                </a:moveTo>
                <a:cubicBezTo>
                  <a:pt x="368" y="197"/>
                  <a:pt x="389" y="176"/>
                  <a:pt x="416" y="176"/>
                </a:cubicBezTo>
                <a:cubicBezTo>
                  <a:pt x="443" y="176"/>
                  <a:pt x="464" y="197"/>
                  <a:pt x="464" y="224"/>
                </a:cubicBezTo>
                <a:cubicBezTo>
                  <a:pt x="464" y="251"/>
                  <a:pt x="443" y="272"/>
                  <a:pt x="416" y="272"/>
                </a:cubicBezTo>
                <a:cubicBezTo>
                  <a:pt x="389" y="272"/>
                  <a:pt x="368" y="251"/>
                  <a:pt x="368" y="224"/>
                </a:cubicBezTo>
                <a:close/>
              </a:path>
              <a:path w="640" h="512">
                <a:moveTo>
                  <a:pt x="64" y="224"/>
                </a:moveTo>
                <a:cubicBezTo>
                  <a:pt x="64" y="206"/>
                  <a:pt x="50" y="192"/>
                  <a:pt x="32" y="192"/>
                </a:cubicBezTo>
                <a:cubicBezTo>
                  <a:pt x="14" y="192"/>
                  <a:pt x="0" y="206"/>
                  <a:pt x="0" y="224"/>
                </a:cubicBezTo>
                <a:lnTo>
                  <a:pt x="0" y="320"/>
                </a:lnTo>
                <a:cubicBezTo>
                  <a:pt x="0" y="338"/>
                  <a:pt x="14" y="352"/>
                  <a:pt x="32" y="352"/>
                </a:cubicBezTo>
                <a:cubicBezTo>
                  <a:pt x="50" y="352"/>
                  <a:pt x="64" y="338"/>
                  <a:pt x="64" y="320"/>
                </a:cubicBezTo>
                <a:lnTo>
                  <a:pt x="64" y="224"/>
                </a:lnTo>
                <a:close/>
              </a:path>
              <a:path w="640" h="512">
                <a:moveTo>
                  <a:pt x="608" y="192"/>
                </a:moveTo>
                <a:cubicBezTo>
                  <a:pt x="590" y="192"/>
                  <a:pt x="576" y="206"/>
                  <a:pt x="576" y="224"/>
                </a:cubicBezTo>
                <a:lnTo>
                  <a:pt x="576" y="320"/>
                </a:lnTo>
                <a:cubicBezTo>
                  <a:pt x="576" y="338"/>
                  <a:pt x="590" y="352"/>
                  <a:pt x="608" y="352"/>
                </a:cubicBezTo>
                <a:cubicBezTo>
                  <a:pt x="626" y="352"/>
                  <a:pt x="640" y="338"/>
                  <a:pt x="640" y="320"/>
                </a:cubicBezTo>
                <a:lnTo>
                  <a:pt x="640" y="224"/>
                </a:lnTo>
                <a:cubicBezTo>
                  <a:pt x="640" y="206"/>
                  <a:pt x="626" y="192"/>
                  <a:pt x="608" y="19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358" name="c1-plus">
            <a:extLst>
              <a:ext uri="{FF2B5EF4-FFF2-40B4-BE49-F238E27FC236}">
                <a16:creationId xmlns:a16="http://schemas.microsoft.com/office/drawing/2014/main" id="{3E867053-78DB-08D3-917A-3B6BD392DCEA}"/>
              </a:ext>
            </a:extLst>
          </p:cNvPr>
          <p:cNvSpPr txBox="1"/>
          <p:nvPr/>
        </p:nvSpPr>
        <p:spPr>
          <a:xfrm>
            <a:off x="2419350" y="1779582"/>
            <a:ext cx="9525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675" noProof="1">
                <a:solidFill>
                  <a:srgbClr val="565661"/>
                </a:solidFill>
                <a:latin typeface="+mn-ea"/>
                <a:cs typeface="MiSans"/>
              </a:rPr>
              <a:t>+</a:t>
            </a:r>
            <a:endParaRPr lang="en-US" sz="675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360" name="c1-i2">
            <a:extLst>
              <a:ext uri="{FF2B5EF4-FFF2-40B4-BE49-F238E27FC236}">
                <a16:creationId xmlns:a16="http://schemas.microsoft.com/office/drawing/2014/main" id="{404951A8-9A0D-0065-2044-CF8C8A2745BF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eyJpY29uTmFtZSI6ImZhczp1c2VyIn0</pptd:icon>
              </p:ext>
            </p:extLst>
          </p:nvPr>
        </p:nvSpPr>
        <p:spPr>
          <a:xfrm>
            <a:off x="2514600" y="1789107"/>
            <a:ext cx="123825" cy="123825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224" y="248"/>
                </a:moveTo>
                <a:cubicBezTo>
                  <a:pt x="290" y="248"/>
                  <a:pt x="344" y="194"/>
                  <a:pt x="344" y="128"/>
                </a:cubicBezTo>
                <a:cubicBezTo>
                  <a:pt x="344" y="62"/>
                  <a:pt x="290" y="8"/>
                  <a:pt x="224" y="8"/>
                </a:cubicBezTo>
                <a:cubicBezTo>
                  <a:pt x="158" y="8"/>
                  <a:pt x="104" y="62"/>
                  <a:pt x="104" y="128"/>
                </a:cubicBezTo>
                <a:cubicBezTo>
                  <a:pt x="104" y="194"/>
                  <a:pt x="158" y="248"/>
                  <a:pt x="224" y="248"/>
                </a:cubicBezTo>
                <a:close/>
                <a:moveTo>
                  <a:pt x="194" y="304"/>
                </a:moveTo>
                <a:cubicBezTo>
                  <a:pt x="96" y="304"/>
                  <a:pt x="16" y="384"/>
                  <a:pt x="16" y="482"/>
                </a:cubicBezTo>
                <a:cubicBezTo>
                  <a:pt x="16" y="499"/>
                  <a:pt x="29" y="512"/>
                  <a:pt x="46" y="512"/>
                </a:cubicBezTo>
                <a:lnTo>
                  <a:pt x="402" y="512"/>
                </a:lnTo>
                <a:cubicBezTo>
                  <a:pt x="419" y="512"/>
                  <a:pt x="432" y="499"/>
                  <a:pt x="432" y="482"/>
                </a:cubicBezTo>
                <a:cubicBezTo>
                  <a:pt x="432" y="384"/>
                  <a:pt x="352" y="304"/>
                  <a:pt x="254" y="304"/>
                </a:cubicBezTo>
                <a:lnTo>
                  <a:pt x="194" y="304"/>
                </a:lnTo>
                <a:close/>
              </a:path>
            </a:pathLst>
          </a:custGeom>
          <a:solidFill>
            <a:srgbClr val="129B75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362" name="c1-bl">
            <a:extLst>
              <a:ext uri="{FF2B5EF4-FFF2-40B4-BE49-F238E27FC236}">
                <a16:creationId xmlns:a16="http://schemas.microsoft.com/office/drawing/2014/main" id="{420E62E1-E504-6E29-C244-DF16F78FABB4}"/>
              </a:ext>
            </a:extLst>
          </p:cNvPr>
          <p:cNvSpPr txBox="1"/>
          <p:nvPr/>
        </p:nvSpPr>
        <p:spPr>
          <a:xfrm>
            <a:off x="1885950" y="1970082"/>
            <a:ext cx="116205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>
              <a:lnSpc>
                <a:spcPct val="155000"/>
              </a:lnSpc>
            </a:pPr>
            <a:r>
              <a:rPr lang="en-US" sz="600" noProof="1">
                <a:solidFill>
                  <a:srgbClr val="565661"/>
                </a:solidFill>
                <a:latin typeface="+mn-ea"/>
                <a:cs typeface="MiSans"/>
              </a:rPr>
              <a:t>•  定义治理原则与约束</a:t>
            </a:r>
            <a:endParaRPr lang="en-US" sz="600" noProof="1">
              <a:solidFill>
                <a:srgbClr val="000000"/>
              </a:solidFill>
              <a:latin typeface="+mn-ea"/>
              <a:cs typeface="MiSans"/>
            </a:endParaRPr>
          </a:p>
          <a:p>
            <a:pPr defTabSz="685800">
              <a:lnSpc>
                <a:spcPct val="155000"/>
              </a:lnSpc>
            </a:pPr>
            <a:r>
              <a:rPr lang="en-US" sz="600" noProof="1">
                <a:solidFill>
                  <a:srgbClr val="565661"/>
                </a:solidFill>
                <a:latin typeface="+mn-ea"/>
                <a:cs typeface="MiSans"/>
              </a:rPr>
              <a:t>•  形成技术方案与数据模型</a:t>
            </a:r>
            <a:endParaRPr lang="en-US" sz="600" noProof="1">
              <a:solidFill>
                <a:srgbClr val="000000"/>
              </a:solidFill>
              <a:latin typeface="+mn-ea"/>
              <a:cs typeface="MiSans"/>
            </a:endParaRPr>
          </a:p>
          <a:p>
            <a:pPr defTabSz="685800">
              <a:lnSpc>
                <a:spcPct val="155000"/>
              </a:lnSpc>
            </a:pPr>
            <a:r>
              <a:rPr lang="en-US" sz="600" noProof="1">
                <a:solidFill>
                  <a:srgbClr val="565661"/>
                </a:solidFill>
                <a:latin typeface="+mn-ea"/>
                <a:cs typeface="MiSans"/>
              </a:rPr>
              <a:t>•  固化为可执行规范</a:t>
            </a:r>
            <a:endParaRPr lang="en-US" sz="600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364" name="c1-p00">
            <a:extLst>
              <a:ext uri="{FF2B5EF4-FFF2-40B4-BE49-F238E27FC236}">
                <a16:creationId xmlns:a16="http://schemas.microsoft.com/office/drawing/2014/main" id="{7D02C383-F2A9-FF02-E6A0-A40D2136DDEC}"/>
              </a:ext>
            </a:extLst>
          </p:cNvPr>
          <p:cNvSpPr/>
          <p:nvPr/>
        </p:nvSpPr>
        <p:spPr>
          <a:xfrm>
            <a:off x="1914525" y="2446332"/>
            <a:ext cx="666750" cy="133350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  <a:alpha val="45000"/>
            </a:schemeClr>
          </a:solidFill>
          <a:ln w="12700">
            <a:solidFill>
              <a:schemeClr val="accent3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366" name="c1-pt00">
            <a:extLst>
              <a:ext uri="{FF2B5EF4-FFF2-40B4-BE49-F238E27FC236}">
                <a16:creationId xmlns:a16="http://schemas.microsoft.com/office/drawing/2014/main" id="{B8D191B6-B25B-CC8D-225B-AAE6DE8CDC80}"/>
              </a:ext>
            </a:extLst>
          </p:cNvPr>
          <p:cNvSpPr txBox="1"/>
          <p:nvPr/>
        </p:nvSpPr>
        <p:spPr>
          <a:xfrm>
            <a:off x="1914525" y="2446332"/>
            <a:ext cx="66675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600" b="1" noProof="1">
                <a:latin typeface="+mn-ea"/>
                <a:cs typeface="MiSans"/>
              </a:rPr>
              <a:t>constitution.md</a:t>
            </a:r>
            <a:endParaRPr lang="en-US" sz="600" noProof="1">
              <a:latin typeface="+mn-ea"/>
              <a:cs typeface="MiSans"/>
            </a:endParaRPr>
          </a:p>
        </p:txBody>
      </p:sp>
      <p:sp>
        <p:nvSpPr>
          <p:cNvPr id="368" name="c1-p01">
            <a:extLst>
              <a:ext uri="{FF2B5EF4-FFF2-40B4-BE49-F238E27FC236}">
                <a16:creationId xmlns:a16="http://schemas.microsoft.com/office/drawing/2014/main" id="{CAFC9823-ED26-05F8-AA47-2DA3131573D7}"/>
              </a:ext>
            </a:extLst>
          </p:cNvPr>
          <p:cNvSpPr/>
          <p:nvPr/>
        </p:nvSpPr>
        <p:spPr>
          <a:xfrm>
            <a:off x="2638425" y="2446332"/>
            <a:ext cx="381000" cy="133350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  <a:alpha val="45000"/>
            </a:schemeClr>
          </a:solidFill>
          <a:ln w="12700">
            <a:solidFill>
              <a:schemeClr val="accent3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370" name="c1-pt01">
            <a:extLst>
              <a:ext uri="{FF2B5EF4-FFF2-40B4-BE49-F238E27FC236}">
                <a16:creationId xmlns:a16="http://schemas.microsoft.com/office/drawing/2014/main" id="{01B7D12A-C5A8-83BC-5FE9-CAB84E951193}"/>
              </a:ext>
            </a:extLst>
          </p:cNvPr>
          <p:cNvSpPr txBox="1"/>
          <p:nvPr/>
        </p:nvSpPr>
        <p:spPr>
          <a:xfrm>
            <a:off x="2638425" y="2446332"/>
            <a:ext cx="38100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600" b="1" noProof="1">
                <a:latin typeface="+mn-ea"/>
                <a:cs typeface="MiSans"/>
              </a:rPr>
              <a:t>plan.md</a:t>
            </a:r>
            <a:endParaRPr lang="en-US" sz="600" noProof="1">
              <a:latin typeface="+mn-ea"/>
              <a:cs typeface="MiSans"/>
            </a:endParaRPr>
          </a:p>
        </p:txBody>
      </p:sp>
      <p:sp>
        <p:nvSpPr>
          <p:cNvPr id="372" name="c1-p10">
            <a:extLst>
              <a:ext uri="{FF2B5EF4-FFF2-40B4-BE49-F238E27FC236}">
                <a16:creationId xmlns:a16="http://schemas.microsoft.com/office/drawing/2014/main" id="{FB0DD8ED-24D2-A6F9-7898-72E83686B89F}"/>
              </a:ext>
            </a:extLst>
          </p:cNvPr>
          <p:cNvSpPr/>
          <p:nvPr/>
        </p:nvSpPr>
        <p:spPr>
          <a:xfrm>
            <a:off x="1905000" y="2608257"/>
            <a:ext cx="1114426" cy="133350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  <a:alpha val="45000"/>
            </a:schemeClr>
          </a:solidFill>
          <a:ln w="12700">
            <a:solidFill>
              <a:schemeClr val="accent3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374" name="c1-pt10">
            <a:extLst>
              <a:ext uri="{FF2B5EF4-FFF2-40B4-BE49-F238E27FC236}">
                <a16:creationId xmlns:a16="http://schemas.microsoft.com/office/drawing/2014/main" id="{51EEF438-D0E7-CFD3-63B3-2CB70ED77242}"/>
              </a:ext>
            </a:extLst>
          </p:cNvPr>
          <p:cNvSpPr txBox="1"/>
          <p:nvPr/>
        </p:nvSpPr>
        <p:spPr>
          <a:xfrm>
            <a:off x="1857375" y="2608257"/>
            <a:ext cx="121920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600" b="1" noProof="1">
                <a:latin typeface="+mn-ea"/>
                <a:cs typeface="MiSans"/>
              </a:rPr>
              <a:t>data-model.md</a:t>
            </a:r>
            <a:endParaRPr lang="en-US" sz="600" noProof="1">
              <a:latin typeface="+mn-ea"/>
              <a:cs typeface="MiSans"/>
            </a:endParaRPr>
          </a:p>
        </p:txBody>
      </p:sp>
      <p:sp>
        <p:nvSpPr>
          <p:cNvPr id="376" name="c2-box">
            <a:extLst>
              <a:ext uri="{FF2B5EF4-FFF2-40B4-BE49-F238E27FC236}">
                <a16:creationId xmlns:a16="http://schemas.microsoft.com/office/drawing/2014/main" id="{0C7B292B-CD45-1980-7921-74DCC742C8C2}"/>
              </a:ext>
            </a:extLst>
          </p:cNvPr>
          <p:cNvSpPr/>
          <p:nvPr/>
        </p:nvSpPr>
        <p:spPr>
          <a:xfrm>
            <a:off x="3324225" y="1503357"/>
            <a:ext cx="1190625" cy="12573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9CDE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382" name="c2-tt">
            <a:extLst>
              <a:ext uri="{FF2B5EF4-FFF2-40B4-BE49-F238E27FC236}">
                <a16:creationId xmlns:a16="http://schemas.microsoft.com/office/drawing/2014/main" id="{88AC911A-30AE-629E-FE90-AE72710309F7}"/>
              </a:ext>
            </a:extLst>
          </p:cNvPr>
          <p:cNvSpPr txBox="1"/>
          <p:nvPr/>
        </p:nvSpPr>
        <p:spPr>
          <a:xfrm>
            <a:off x="3505200" y="1548280"/>
            <a:ext cx="82867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788" b="1" noProof="1">
                <a:latin typeface="+mn-ea"/>
                <a:cs typeface="MiSans"/>
              </a:rPr>
              <a:t>Step 3: 任务拆解</a:t>
            </a:r>
            <a:endParaRPr lang="en-US" sz="788" noProof="1">
              <a:latin typeface="+mn-ea"/>
              <a:cs typeface="MiSans"/>
            </a:endParaRPr>
          </a:p>
        </p:txBody>
      </p:sp>
      <p:sp>
        <p:nvSpPr>
          <p:cNvPr id="384" name="c2-i1">
            <a:extLst>
              <a:ext uri="{FF2B5EF4-FFF2-40B4-BE49-F238E27FC236}">
                <a16:creationId xmlns:a16="http://schemas.microsoft.com/office/drawing/2014/main" id="{824CD7FB-A711-0704-46AF-A4C4EA00A6F9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eyJpY29uTmFtZSI6ImZhczpyb2JvdCJ9</pptd:icon>
              </p:ext>
            </p:extLst>
          </p:nvPr>
        </p:nvSpPr>
        <p:spPr>
          <a:xfrm>
            <a:off x="3852863" y="1779582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352" y="0"/>
                </a:moveTo>
                <a:cubicBezTo>
                  <a:pt x="352" y="-18"/>
                  <a:pt x="338" y="-32"/>
                  <a:pt x="320" y="-32"/>
                </a:cubicBezTo>
                <a:cubicBezTo>
                  <a:pt x="302" y="-32"/>
                  <a:pt x="288" y="-18"/>
                  <a:pt x="288" y="0"/>
                </a:cubicBezTo>
                <a:lnTo>
                  <a:pt x="288" y="64"/>
                </a:lnTo>
                <a:lnTo>
                  <a:pt x="192" y="64"/>
                </a:lnTo>
                <a:cubicBezTo>
                  <a:pt x="139" y="64"/>
                  <a:pt x="96" y="107"/>
                  <a:pt x="96" y="160"/>
                </a:cubicBezTo>
                <a:lnTo>
                  <a:pt x="96" y="384"/>
                </a:lnTo>
                <a:cubicBezTo>
                  <a:pt x="96" y="437"/>
                  <a:pt x="139" y="480"/>
                  <a:pt x="192" y="480"/>
                </a:cubicBezTo>
                <a:lnTo>
                  <a:pt x="448" y="480"/>
                </a:lnTo>
                <a:cubicBezTo>
                  <a:pt x="501" y="480"/>
                  <a:pt x="544" y="437"/>
                  <a:pt x="544" y="384"/>
                </a:cubicBezTo>
                <a:lnTo>
                  <a:pt x="544" y="160"/>
                </a:lnTo>
                <a:cubicBezTo>
                  <a:pt x="544" y="107"/>
                  <a:pt x="501" y="64"/>
                  <a:pt x="448" y="64"/>
                </a:cubicBezTo>
                <a:lnTo>
                  <a:pt x="352" y="64"/>
                </a:lnTo>
                <a:lnTo>
                  <a:pt x="352" y="0"/>
                </a:lnTo>
                <a:close/>
                <a:moveTo>
                  <a:pt x="160" y="368"/>
                </a:moveTo>
                <a:cubicBezTo>
                  <a:pt x="160" y="355"/>
                  <a:pt x="171" y="344"/>
                  <a:pt x="184" y="344"/>
                </a:cubicBezTo>
                <a:lnTo>
                  <a:pt x="216" y="344"/>
                </a:lnTo>
                <a:cubicBezTo>
                  <a:pt x="229" y="344"/>
                  <a:pt x="240" y="355"/>
                  <a:pt x="240" y="368"/>
                </a:cubicBezTo>
                <a:cubicBezTo>
                  <a:pt x="240" y="381"/>
                  <a:pt x="229" y="392"/>
                  <a:pt x="216" y="392"/>
                </a:cubicBezTo>
                <a:lnTo>
                  <a:pt x="184" y="392"/>
                </a:lnTo>
                <a:cubicBezTo>
                  <a:pt x="171" y="392"/>
                  <a:pt x="160" y="381"/>
                  <a:pt x="160" y="368"/>
                </a:cubicBezTo>
                <a:close/>
                <a:moveTo>
                  <a:pt x="280" y="368"/>
                </a:moveTo>
                <a:cubicBezTo>
                  <a:pt x="280" y="355"/>
                  <a:pt x="291" y="344"/>
                  <a:pt x="304" y="344"/>
                </a:cubicBezTo>
                <a:lnTo>
                  <a:pt x="336" y="344"/>
                </a:lnTo>
                <a:cubicBezTo>
                  <a:pt x="349" y="344"/>
                  <a:pt x="360" y="355"/>
                  <a:pt x="360" y="368"/>
                </a:cubicBezTo>
                <a:cubicBezTo>
                  <a:pt x="360" y="381"/>
                  <a:pt x="349" y="392"/>
                  <a:pt x="336" y="392"/>
                </a:cubicBezTo>
                <a:lnTo>
                  <a:pt x="304" y="392"/>
                </a:lnTo>
                <a:cubicBezTo>
                  <a:pt x="291" y="392"/>
                  <a:pt x="280" y="381"/>
                  <a:pt x="280" y="368"/>
                </a:cubicBezTo>
                <a:close/>
                <a:moveTo>
                  <a:pt x="400" y="368"/>
                </a:moveTo>
                <a:cubicBezTo>
                  <a:pt x="400" y="355"/>
                  <a:pt x="411" y="344"/>
                  <a:pt x="424" y="344"/>
                </a:cubicBezTo>
                <a:lnTo>
                  <a:pt x="456" y="344"/>
                </a:lnTo>
                <a:cubicBezTo>
                  <a:pt x="469" y="344"/>
                  <a:pt x="480" y="355"/>
                  <a:pt x="480" y="368"/>
                </a:cubicBezTo>
                <a:cubicBezTo>
                  <a:pt x="480" y="381"/>
                  <a:pt x="469" y="392"/>
                  <a:pt x="456" y="392"/>
                </a:cubicBezTo>
                <a:lnTo>
                  <a:pt x="424" y="392"/>
                </a:lnTo>
                <a:cubicBezTo>
                  <a:pt x="411" y="392"/>
                  <a:pt x="400" y="381"/>
                  <a:pt x="400" y="368"/>
                </a:cubicBezTo>
                <a:close/>
                <a:moveTo>
                  <a:pt x="224" y="176"/>
                </a:moveTo>
                <a:cubicBezTo>
                  <a:pt x="251" y="176"/>
                  <a:pt x="272" y="197"/>
                  <a:pt x="272" y="224"/>
                </a:cubicBezTo>
                <a:cubicBezTo>
                  <a:pt x="272" y="251"/>
                  <a:pt x="251" y="272"/>
                  <a:pt x="224" y="272"/>
                </a:cubicBezTo>
                <a:cubicBezTo>
                  <a:pt x="197" y="272"/>
                  <a:pt x="176" y="251"/>
                  <a:pt x="176" y="224"/>
                </a:cubicBezTo>
                <a:cubicBezTo>
                  <a:pt x="176" y="197"/>
                  <a:pt x="197" y="176"/>
                  <a:pt x="224" y="176"/>
                </a:cubicBezTo>
                <a:close/>
                <a:moveTo>
                  <a:pt x="368" y="224"/>
                </a:moveTo>
                <a:cubicBezTo>
                  <a:pt x="368" y="197"/>
                  <a:pt x="389" y="176"/>
                  <a:pt x="416" y="176"/>
                </a:cubicBezTo>
                <a:cubicBezTo>
                  <a:pt x="443" y="176"/>
                  <a:pt x="464" y="197"/>
                  <a:pt x="464" y="224"/>
                </a:cubicBezTo>
                <a:cubicBezTo>
                  <a:pt x="464" y="251"/>
                  <a:pt x="443" y="272"/>
                  <a:pt x="416" y="272"/>
                </a:cubicBezTo>
                <a:cubicBezTo>
                  <a:pt x="389" y="272"/>
                  <a:pt x="368" y="251"/>
                  <a:pt x="368" y="224"/>
                </a:cubicBezTo>
                <a:close/>
              </a:path>
              <a:path w="640" h="512">
                <a:moveTo>
                  <a:pt x="64" y="224"/>
                </a:moveTo>
                <a:cubicBezTo>
                  <a:pt x="64" y="206"/>
                  <a:pt x="50" y="192"/>
                  <a:pt x="32" y="192"/>
                </a:cubicBezTo>
                <a:cubicBezTo>
                  <a:pt x="14" y="192"/>
                  <a:pt x="0" y="206"/>
                  <a:pt x="0" y="224"/>
                </a:cubicBezTo>
                <a:lnTo>
                  <a:pt x="0" y="320"/>
                </a:lnTo>
                <a:cubicBezTo>
                  <a:pt x="0" y="338"/>
                  <a:pt x="14" y="352"/>
                  <a:pt x="32" y="352"/>
                </a:cubicBezTo>
                <a:cubicBezTo>
                  <a:pt x="50" y="352"/>
                  <a:pt x="64" y="338"/>
                  <a:pt x="64" y="320"/>
                </a:cubicBezTo>
                <a:lnTo>
                  <a:pt x="64" y="224"/>
                </a:lnTo>
                <a:close/>
              </a:path>
              <a:path w="640" h="512">
                <a:moveTo>
                  <a:pt x="608" y="192"/>
                </a:moveTo>
                <a:cubicBezTo>
                  <a:pt x="590" y="192"/>
                  <a:pt x="576" y="206"/>
                  <a:pt x="576" y="224"/>
                </a:cubicBezTo>
                <a:lnTo>
                  <a:pt x="576" y="320"/>
                </a:lnTo>
                <a:cubicBezTo>
                  <a:pt x="576" y="338"/>
                  <a:pt x="590" y="352"/>
                  <a:pt x="608" y="352"/>
                </a:cubicBezTo>
                <a:cubicBezTo>
                  <a:pt x="626" y="352"/>
                  <a:pt x="640" y="338"/>
                  <a:pt x="640" y="320"/>
                </a:cubicBezTo>
                <a:lnTo>
                  <a:pt x="640" y="224"/>
                </a:lnTo>
                <a:cubicBezTo>
                  <a:pt x="640" y="206"/>
                  <a:pt x="626" y="192"/>
                  <a:pt x="608" y="19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386" name="c2-bl">
            <a:extLst>
              <a:ext uri="{FF2B5EF4-FFF2-40B4-BE49-F238E27FC236}">
                <a16:creationId xmlns:a16="http://schemas.microsoft.com/office/drawing/2014/main" id="{B15A08DF-5873-E5B1-9357-A7C96E7CD92F}"/>
              </a:ext>
            </a:extLst>
          </p:cNvPr>
          <p:cNvSpPr txBox="1"/>
          <p:nvPr/>
        </p:nvSpPr>
        <p:spPr>
          <a:xfrm>
            <a:off x="3400425" y="1970082"/>
            <a:ext cx="1038225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>
              <a:lnSpc>
                <a:spcPct val="155000"/>
              </a:lnSpc>
            </a:pPr>
            <a:r>
              <a:rPr lang="en-US" sz="600" noProof="1">
                <a:solidFill>
                  <a:srgbClr val="565661"/>
                </a:solidFill>
                <a:latin typeface="+mn-ea"/>
                <a:cs typeface="MiSans"/>
              </a:rPr>
              <a:t>•  基于规范拆解为可执行任务</a:t>
            </a:r>
            <a:endParaRPr lang="en-US" sz="600" noProof="1">
              <a:solidFill>
                <a:srgbClr val="000000"/>
              </a:solidFill>
              <a:latin typeface="+mn-ea"/>
              <a:cs typeface="MiSans"/>
            </a:endParaRPr>
          </a:p>
          <a:p>
            <a:pPr defTabSz="685800">
              <a:lnSpc>
                <a:spcPct val="155000"/>
              </a:lnSpc>
            </a:pPr>
            <a:r>
              <a:rPr lang="en-US" sz="600" noProof="1">
                <a:solidFill>
                  <a:srgbClr val="565661"/>
                </a:solidFill>
                <a:latin typeface="+mn-ea"/>
                <a:cs typeface="MiSans"/>
              </a:rPr>
              <a:t>•  明确依赖、顺序与验收点</a:t>
            </a:r>
            <a:endParaRPr lang="en-US" sz="600" noProof="1">
              <a:solidFill>
                <a:srgbClr val="000000"/>
              </a:solidFill>
              <a:latin typeface="+mn-ea"/>
              <a:cs typeface="MiSans"/>
            </a:endParaRPr>
          </a:p>
          <a:p>
            <a:pPr defTabSz="685800">
              <a:lnSpc>
                <a:spcPct val="155000"/>
              </a:lnSpc>
            </a:pPr>
            <a:r>
              <a:rPr lang="en-US" sz="600" noProof="1">
                <a:solidFill>
                  <a:srgbClr val="565661"/>
                </a:solidFill>
                <a:latin typeface="+mn-ea"/>
                <a:cs typeface="MiSans"/>
              </a:rPr>
              <a:t>•  生成任务清单</a:t>
            </a:r>
            <a:endParaRPr lang="en-US" sz="600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388" name="c2-p00">
            <a:extLst>
              <a:ext uri="{FF2B5EF4-FFF2-40B4-BE49-F238E27FC236}">
                <a16:creationId xmlns:a16="http://schemas.microsoft.com/office/drawing/2014/main" id="{50901292-21E6-7A4D-D225-BCD38F352A8D}"/>
              </a:ext>
            </a:extLst>
          </p:cNvPr>
          <p:cNvSpPr/>
          <p:nvPr/>
        </p:nvSpPr>
        <p:spPr>
          <a:xfrm>
            <a:off x="3638550" y="2503482"/>
            <a:ext cx="571500" cy="133350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  <a:alpha val="45000"/>
            </a:schemeClr>
          </a:solidFill>
          <a:ln w="12700">
            <a:solidFill>
              <a:schemeClr val="accent3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390" name="c2-pt00">
            <a:extLst>
              <a:ext uri="{FF2B5EF4-FFF2-40B4-BE49-F238E27FC236}">
                <a16:creationId xmlns:a16="http://schemas.microsoft.com/office/drawing/2014/main" id="{4A1A99C2-9353-C41C-5B9E-985FDA664CF4}"/>
              </a:ext>
            </a:extLst>
          </p:cNvPr>
          <p:cNvSpPr txBox="1"/>
          <p:nvPr/>
        </p:nvSpPr>
        <p:spPr>
          <a:xfrm>
            <a:off x="3638550" y="2503482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600" b="1" noProof="1">
                <a:latin typeface="+mn-ea"/>
                <a:cs typeface="MiSans"/>
              </a:rPr>
              <a:t>tasks.md</a:t>
            </a:r>
            <a:endParaRPr lang="en-US" sz="600" noProof="1">
              <a:latin typeface="+mn-ea"/>
              <a:cs typeface="MiSans"/>
            </a:endParaRPr>
          </a:p>
        </p:txBody>
      </p:sp>
      <p:sp>
        <p:nvSpPr>
          <p:cNvPr id="392" name="c3-box">
            <a:extLst>
              <a:ext uri="{FF2B5EF4-FFF2-40B4-BE49-F238E27FC236}">
                <a16:creationId xmlns:a16="http://schemas.microsoft.com/office/drawing/2014/main" id="{72EA5078-882E-52E7-2937-2417B265E243}"/>
              </a:ext>
            </a:extLst>
          </p:cNvPr>
          <p:cNvSpPr/>
          <p:nvPr/>
        </p:nvSpPr>
        <p:spPr>
          <a:xfrm>
            <a:off x="4705350" y="1503357"/>
            <a:ext cx="1219200" cy="12573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9CDE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398" name="c3-tt">
            <a:extLst>
              <a:ext uri="{FF2B5EF4-FFF2-40B4-BE49-F238E27FC236}">
                <a16:creationId xmlns:a16="http://schemas.microsoft.com/office/drawing/2014/main" id="{786C0305-31A0-5712-7BC9-089C33878041}"/>
              </a:ext>
            </a:extLst>
          </p:cNvPr>
          <p:cNvSpPr txBox="1"/>
          <p:nvPr/>
        </p:nvSpPr>
        <p:spPr>
          <a:xfrm>
            <a:off x="4886325" y="1548280"/>
            <a:ext cx="85725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788" b="1" noProof="1">
                <a:latin typeface="+mn-ea"/>
                <a:cs typeface="MiSans"/>
              </a:rPr>
              <a:t>S</a:t>
            </a:r>
            <a:r>
              <a:rPr lang="en-US" altLang="zh-CN" sz="788" b="1" noProof="1">
                <a:latin typeface="+mn-ea"/>
                <a:cs typeface="MiSans"/>
              </a:rPr>
              <a:t>tep 4: </a:t>
            </a:r>
            <a:r>
              <a:rPr lang="en-US" sz="788" b="1" noProof="1">
                <a:latin typeface="+mn-ea"/>
                <a:cs typeface="MiSans"/>
              </a:rPr>
              <a:t>AI 生成与验证</a:t>
            </a:r>
            <a:endParaRPr lang="en-US" sz="788" noProof="1">
              <a:latin typeface="+mn-ea"/>
              <a:cs typeface="MiSans"/>
            </a:endParaRPr>
          </a:p>
        </p:txBody>
      </p:sp>
      <p:sp>
        <p:nvSpPr>
          <p:cNvPr id="400" name="c3-i1">
            <a:extLst>
              <a:ext uri="{FF2B5EF4-FFF2-40B4-BE49-F238E27FC236}">
                <a16:creationId xmlns:a16="http://schemas.microsoft.com/office/drawing/2014/main" id="{35C8E682-7B56-4EB5-A3E6-958B33D0FD93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eyJpY29uTmFtZSI6ImZhczpyb2JvdCJ9</pptd:icon>
              </p:ext>
            </p:extLst>
          </p:nvPr>
        </p:nvSpPr>
        <p:spPr>
          <a:xfrm>
            <a:off x="5248275" y="1779582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352" y="0"/>
                </a:moveTo>
                <a:cubicBezTo>
                  <a:pt x="352" y="-18"/>
                  <a:pt x="338" y="-32"/>
                  <a:pt x="320" y="-32"/>
                </a:cubicBezTo>
                <a:cubicBezTo>
                  <a:pt x="302" y="-32"/>
                  <a:pt x="288" y="-18"/>
                  <a:pt x="288" y="0"/>
                </a:cubicBezTo>
                <a:lnTo>
                  <a:pt x="288" y="64"/>
                </a:lnTo>
                <a:lnTo>
                  <a:pt x="192" y="64"/>
                </a:lnTo>
                <a:cubicBezTo>
                  <a:pt x="139" y="64"/>
                  <a:pt x="96" y="107"/>
                  <a:pt x="96" y="160"/>
                </a:cubicBezTo>
                <a:lnTo>
                  <a:pt x="96" y="384"/>
                </a:lnTo>
                <a:cubicBezTo>
                  <a:pt x="96" y="437"/>
                  <a:pt x="139" y="480"/>
                  <a:pt x="192" y="480"/>
                </a:cubicBezTo>
                <a:lnTo>
                  <a:pt x="448" y="480"/>
                </a:lnTo>
                <a:cubicBezTo>
                  <a:pt x="501" y="480"/>
                  <a:pt x="544" y="437"/>
                  <a:pt x="544" y="384"/>
                </a:cubicBezTo>
                <a:lnTo>
                  <a:pt x="544" y="160"/>
                </a:lnTo>
                <a:cubicBezTo>
                  <a:pt x="544" y="107"/>
                  <a:pt x="501" y="64"/>
                  <a:pt x="448" y="64"/>
                </a:cubicBezTo>
                <a:lnTo>
                  <a:pt x="352" y="64"/>
                </a:lnTo>
                <a:lnTo>
                  <a:pt x="352" y="0"/>
                </a:lnTo>
                <a:close/>
                <a:moveTo>
                  <a:pt x="160" y="368"/>
                </a:moveTo>
                <a:cubicBezTo>
                  <a:pt x="160" y="355"/>
                  <a:pt x="171" y="344"/>
                  <a:pt x="184" y="344"/>
                </a:cubicBezTo>
                <a:lnTo>
                  <a:pt x="216" y="344"/>
                </a:lnTo>
                <a:cubicBezTo>
                  <a:pt x="229" y="344"/>
                  <a:pt x="240" y="355"/>
                  <a:pt x="240" y="368"/>
                </a:cubicBezTo>
                <a:cubicBezTo>
                  <a:pt x="240" y="381"/>
                  <a:pt x="229" y="392"/>
                  <a:pt x="216" y="392"/>
                </a:cubicBezTo>
                <a:lnTo>
                  <a:pt x="184" y="392"/>
                </a:lnTo>
                <a:cubicBezTo>
                  <a:pt x="171" y="392"/>
                  <a:pt x="160" y="381"/>
                  <a:pt x="160" y="368"/>
                </a:cubicBezTo>
                <a:close/>
                <a:moveTo>
                  <a:pt x="280" y="368"/>
                </a:moveTo>
                <a:cubicBezTo>
                  <a:pt x="280" y="355"/>
                  <a:pt x="291" y="344"/>
                  <a:pt x="304" y="344"/>
                </a:cubicBezTo>
                <a:lnTo>
                  <a:pt x="336" y="344"/>
                </a:lnTo>
                <a:cubicBezTo>
                  <a:pt x="349" y="344"/>
                  <a:pt x="360" y="355"/>
                  <a:pt x="360" y="368"/>
                </a:cubicBezTo>
                <a:cubicBezTo>
                  <a:pt x="360" y="381"/>
                  <a:pt x="349" y="392"/>
                  <a:pt x="336" y="392"/>
                </a:cubicBezTo>
                <a:lnTo>
                  <a:pt x="304" y="392"/>
                </a:lnTo>
                <a:cubicBezTo>
                  <a:pt x="291" y="392"/>
                  <a:pt x="280" y="381"/>
                  <a:pt x="280" y="368"/>
                </a:cubicBezTo>
                <a:close/>
                <a:moveTo>
                  <a:pt x="400" y="368"/>
                </a:moveTo>
                <a:cubicBezTo>
                  <a:pt x="400" y="355"/>
                  <a:pt x="411" y="344"/>
                  <a:pt x="424" y="344"/>
                </a:cubicBezTo>
                <a:lnTo>
                  <a:pt x="456" y="344"/>
                </a:lnTo>
                <a:cubicBezTo>
                  <a:pt x="469" y="344"/>
                  <a:pt x="480" y="355"/>
                  <a:pt x="480" y="368"/>
                </a:cubicBezTo>
                <a:cubicBezTo>
                  <a:pt x="480" y="381"/>
                  <a:pt x="469" y="392"/>
                  <a:pt x="456" y="392"/>
                </a:cubicBezTo>
                <a:lnTo>
                  <a:pt x="424" y="392"/>
                </a:lnTo>
                <a:cubicBezTo>
                  <a:pt x="411" y="392"/>
                  <a:pt x="400" y="381"/>
                  <a:pt x="400" y="368"/>
                </a:cubicBezTo>
                <a:close/>
                <a:moveTo>
                  <a:pt x="224" y="176"/>
                </a:moveTo>
                <a:cubicBezTo>
                  <a:pt x="251" y="176"/>
                  <a:pt x="272" y="197"/>
                  <a:pt x="272" y="224"/>
                </a:cubicBezTo>
                <a:cubicBezTo>
                  <a:pt x="272" y="251"/>
                  <a:pt x="251" y="272"/>
                  <a:pt x="224" y="272"/>
                </a:cubicBezTo>
                <a:cubicBezTo>
                  <a:pt x="197" y="272"/>
                  <a:pt x="176" y="251"/>
                  <a:pt x="176" y="224"/>
                </a:cubicBezTo>
                <a:cubicBezTo>
                  <a:pt x="176" y="197"/>
                  <a:pt x="197" y="176"/>
                  <a:pt x="224" y="176"/>
                </a:cubicBezTo>
                <a:close/>
                <a:moveTo>
                  <a:pt x="368" y="224"/>
                </a:moveTo>
                <a:cubicBezTo>
                  <a:pt x="368" y="197"/>
                  <a:pt x="389" y="176"/>
                  <a:pt x="416" y="176"/>
                </a:cubicBezTo>
                <a:cubicBezTo>
                  <a:pt x="443" y="176"/>
                  <a:pt x="464" y="197"/>
                  <a:pt x="464" y="224"/>
                </a:cubicBezTo>
                <a:cubicBezTo>
                  <a:pt x="464" y="251"/>
                  <a:pt x="443" y="272"/>
                  <a:pt x="416" y="272"/>
                </a:cubicBezTo>
                <a:cubicBezTo>
                  <a:pt x="389" y="272"/>
                  <a:pt x="368" y="251"/>
                  <a:pt x="368" y="224"/>
                </a:cubicBezTo>
                <a:close/>
              </a:path>
              <a:path w="640" h="512">
                <a:moveTo>
                  <a:pt x="64" y="224"/>
                </a:moveTo>
                <a:cubicBezTo>
                  <a:pt x="64" y="206"/>
                  <a:pt x="50" y="192"/>
                  <a:pt x="32" y="192"/>
                </a:cubicBezTo>
                <a:cubicBezTo>
                  <a:pt x="14" y="192"/>
                  <a:pt x="0" y="206"/>
                  <a:pt x="0" y="224"/>
                </a:cubicBezTo>
                <a:lnTo>
                  <a:pt x="0" y="320"/>
                </a:lnTo>
                <a:cubicBezTo>
                  <a:pt x="0" y="338"/>
                  <a:pt x="14" y="352"/>
                  <a:pt x="32" y="352"/>
                </a:cubicBezTo>
                <a:cubicBezTo>
                  <a:pt x="50" y="352"/>
                  <a:pt x="64" y="338"/>
                  <a:pt x="64" y="320"/>
                </a:cubicBezTo>
                <a:lnTo>
                  <a:pt x="64" y="224"/>
                </a:lnTo>
                <a:close/>
              </a:path>
              <a:path w="640" h="512">
                <a:moveTo>
                  <a:pt x="608" y="192"/>
                </a:moveTo>
                <a:cubicBezTo>
                  <a:pt x="590" y="192"/>
                  <a:pt x="576" y="206"/>
                  <a:pt x="576" y="224"/>
                </a:cubicBezTo>
                <a:lnTo>
                  <a:pt x="576" y="320"/>
                </a:lnTo>
                <a:cubicBezTo>
                  <a:pt x="576" y="338"/>
                  <a:pt x="590" y="352"/>
                  <a:pt x="608" y="352"/>
                </a:cubicBezTo>
                <a:cubicBezTo>
                  <a:pt x="626" y="352"/>
                  <a:pt x="640" y="338"/>
                  <a:pt x="640" y="320"/>
                </a:cubicBezTo>
                <a:lnTo>
                  <a:pt x="640" y="224"/>
                </a:lnTo>
                <a:cubicBezTo>
                  <a:pt x="640" y="206"/>
                  <a:pt x="626" y="192"/>
                  <a:pt x="608" y="19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402" name="c3-bl">
            <a:extLst>
              <a:ext uri="{FF2B5EF4-FFF2-40B4-BE49-F238E27FC236}">
                <a16:creationId xmlns:a16="http://schemas.microsoft.com/office/drawing/2014/main" id="{39D4E885-09F0-4A04-DC0F-2825E93B89EF}"/>
              </a:ext>
            </a:extLst>
          </p:cNvPr>
          <p:cNvSpPr txBox="1"/>
          <p:nvPr/>
        </p:nvSpPr>
        <p:spPr>
          <a:xfrm>
            <a:off x="4781550" y="1970082"/>
            <a:ext cx="1066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>
              <a:lnSpc>
                <a:spcPct val="155000"/>
              </a:lnSpc>
            </a:pPr>
            <a:r>
              <a:rPr lang="en-US" sz="600" noProof="1">
                <a:solidFill>
                  <a:srgbClr val="565661"/>
                </a:solidFill>
                <a:latin typeface="+mn-ea"/>
                <a:cs typeface="MiSans"/>
              </a:rPr>
              <a:t>•  AI 生成代码与单元测试</a:t>
            </a:r>
            <a:endParaRPr lang="en-US" sz="600" noProof="1">
              <a:solidFill>
                <a:srgbClr val="000000"/>
              </a:solidFill>
              <a:latin typeface="+mn-ea"/>
              <a:cs typeface="MiSans"/>
            </a:endParaRPr>
          </a:p>
          <a:p>
            <a:pPr defTabSz="685800">
              <a:lnSpc>
                <a:spcPct val="155000"/>
              </a:lnSpc>
            </a:pPr>
            <a:r>
              <a:rPr lang="en-US" sz="600" noProof="1">
                <a:solidFill>
                  <a:srgbClr val="565661"/>
                </a:solidFill>
                <a:latin typeface="+mn-ea"/>
                <a:cs typeface="MiSans"/>
              </a:rPr>
              <a:t>•  自动执行自测与静态检查</a:t>
            </a:r>
            <a:endParaRPr lang="en-US" sz="600" noProof="1">
              <a:solidFill>
                <a:srgbClr val="000000"/>
              </a:solidFill>
              <a:latin typeface="+mn-ea"/>
              <a:cs typeface="MiSans"/>
            </a:endParaRPr>
          </a:p>
          <a:p>
            <a:pPr defTabSz="685800">
              <a:lnSpc>
                <a:spcPct val="155000"/>
              </a:lnSpc>
            </a:pPr>
            <a:r>
              <a:rPr lang="en-US" sz="600" noProof="1">
                <a:solidFill>
                  <a:srgbClr val="565661"/>
                </a:solidFill>
                <a:latin typeface="+mn-ea"/>
                <a:cs typeface="MiSans"/>
              </a:rPr>
              <a:t>•  产出可验证的交付物</a:t>
            </a:r>
            <a:endParaRPr lang="en-US" sz="600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404" name="c3-p00">
            <a:extLst>
              <a:ext uri="{FF2B5EF4-FFF2-40B4-BE49-F238E27FC236}">
                <a16:creationId xmlns:a16="http://schemas.microsoft.com/office/drawing/2014/main" id="{D7FEEA3E-0037-4F50-6D4F-6CF4D96CAAA8}"/>
              </a:ext>
            </a:extLst>
          </p:cNvPr>
          <p:cNvSpPr/>
          <p:nvPr/>
        </p:nvSpPr>
        <p:spPr>
          <a:xfrm>
            <a:off x="4819650" y="2503482"/>
            <a:ext cx="342900" cy="133350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  <a:alpha val="45000"/>
            </a:schemeClr>
          </a:solidFill>
          <a:ln w="12700">
            <a:solidFill>
              <a:schemeClr val="accent3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406" name="c3-pt00">
            <a:extLst>
              <a:ext uri="{FF2B5EF4-FFF2-40B4-BE49-F238E27FC236}">
                <a16:creationId xmlns:a16="http://schemas.microsoft.com/office/drawing/2014/main" id="{C18134C5-ECC0-43B1-FA3C-0E7BC529A561}"/>
              </a:ext>
            </a:extLst>
          </p:cNvPr>
          <p:cNvSpPr txBox="1"/>
          <p:nvPr/>
        </p:nvSpPr>
        <p:spPr>
          <a:xfrm>
            <a:off x="4819650" y="2503482"/>
            <a:ext cx="34290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600" b="1" noProof="1">
                <a:latin typeface="+mn-ea"/>
                <a:cs typeface="MiSans"/>
              </a:rPr>
              <a:t>源</a:t>
            </a:r>
            <a:r>
              <a:rPr lang="zh-CN" altLang="en-US" sz="600" b="1" noProof="1">
                <a:latin typeface="+mn-ea"/>
                <a:cs typeface="MiSans"/>
              </a:rPr>
              <a:t>代</a:t>
            </a:r>
            <a:r>
              <a:rPr lang="en-US" sz="600" b="1" noProof="1">
                <a:latin typeface="+mn-ea"/>
                <a:cs typeface="MiSans"/>
              </a:rPr>
              <a:t>码</a:t>
            </a:r>
            <a:endParaRPr lang="en-US" sz="600" noProof="1">
              <a:latin typeface="+mn-ea"/>
              <a:cs typeface="MiSans"/>
            </a:endParaRPr>
          </a:p>
        </p:txBody>
      </p:sp>
      <p:sp>
        <p:nvSpPr>
          <p:cNvPr id="408" name="c3-p01">
            <a:extLst>
              <a:ext uri="{FF2B5EF4-FFF2-40B4-BE49-F238E27FC236}">
                <a16:creationId xmlns:a16="http://schemas.microsoft.com/office/drawing/2014/main" id="{3D949733-148C-18A9-82A0-8577D19E3106}"/>
              </a:ext>
            </a:extLst>
          </p:cNvPr>
          <p:cNvSpPr/>
          <p:nvPr/>
        </p:nvSpPr>
        <p:spPr>
          <a:xfrm>
            <a:off x="5219700" y="2503482"/>
            <a:ext cx="590550" cy="133350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  <a:alpha val="45000"/>
            </a:schemeClr>
          </a:solidFill>
          <a:ln w="12700">
            <a:solidFill>
              <a:schemeClr val="accent3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410" name="c3-pt01">
            <a:extLst>
              <a:ext uri="{FF2B5EF4-FFF2-40B4-BE49-F238E27FC236}">
                <a16:creationId xmlns:a16="http://schemas.microsoft.com/office/drawing/2014/main" id="{38D101C7-A5AD-C033-1FCA-9C21DF46F657}"/>
              </a:ext>
            </a:extLst>
          </p:cNvPr>
          <p:cNvSpPr txBox="1"/>
          <p:nvPr/>
        </p:nvSpPr>
        <p:spPr>
          <a:xfrm>
            <a:off x="5219700" y="2503482"/>
            <a:ext cx="59055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600" b="1" noProof="1">
                <a:latin typeface="+mn-ea"/>
                <a:cs typeface="MiSans"/>
              </a:rPr>
              <a:t>单元测试证据</a:t>
            </a:r>
            <a:endParaRPr lang="en-US" sz="600" noProof="1">
              <a:latin typeface="+mn-ea"/>
              <a:cs typeface="MiSans"/>
            </a:endParaRPr>
          </a:p>
        </p:txBody>
      </p:sp>
      <p:sp>
        <p:nvSpPr>
          <p:cNvPr id="412" name="c4-box">
            <a:extLst>
              <a:ext uri="{FF2B5EF4-FFF2-40B4-BE49-F238E27FC236}">
                <a16:creationId xmlns:a16="http://schemas.microsoft.com/office/drawing/2014/main" id="{B2724920-727C-F3D2-0FB5-FDCF881DF3F5}"/>
              </a:ext>
            </a:extLst>
          </p:cNvPr>
          <p:cNvSpPr/>
          <p:nvPr/>
        </p:nvSpPr>
        <p:spPr>
          <a:xfrm>
            <a:off x="6124575" y="1503357"/>
            <a:ext cx="1190625" cy="12573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9CDE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418" name="c4-tt">
            <a:extLst>
              <a:ext uri="{FF2B5EF4-FFF2-40B4-BE49-F238E27FC236}">
                <a16:creationId xmlns:a16="http://schemas.microsoft.com/office/drawing/2014/main" id="{74F50429-BA89-7E98-AA83-591A3618669F}"/>
              </a:ext>
            </a:extLst>
          </p:cNvPr>
          <p:cNvSpPr txBox="1"/>
          <p:nvPr/>
        </p:nvSpPr>
        <p:spPr>
          <a:xfrm>
            <a:off x="6305550" y="1548280"/>
            <a:ext cx="82867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788" b="1" noProof="1">
                <a:latin typeface="+mn-ea"/>
                <a:cs typeface="MiSans"/>
              </a:rPr>
              <a:t>S</a:t>
            </a:r>
            <a:r>
              <a:rPr lang="en-US" altLang="zh-CN" sz="788" b="1" noProof="1">
                <a:latin typeface="+mn-ea"/>
                <a:cs typeface="MiSans"/>
              </a:rPr>
              <a:t>tep 5: </a:t>
            </a:r>
            <a:r>
              <a:rPr lang="en-US" sz="788" b="1" noProof="1">
                <a:latin typeface="+mn-ea"/>
                <a:cs typeface="MiSans"/>
              </a:rPr>
              <a:t>人工审查与合并</a:t>
            </a:r>
            <a:endParaRPr lang="en-US" sz="788" noProof="1">
              <a:latin typeface="+mn-ea"/>
              <a:cs typeface="MiSans"/>
            </a:endParaRPr>
          </a:p>
        </p:txBody>
      </p:sp>
      <p:sp>
        <p:nvSpPr>
          <p:cNvPr id="420" name="c4-i1">
            <a:extLst>
              <a:ext uri="{FF2B5EF4-FFF2-40B4-BE49-F238E27FC236}">
                <a16:creationId xmlns:a16="http://schemas.microsoft.com/office/drawing/2014/main" id="{2D868C85-7C2C-7B65-4593-169458A3E585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eyJpY29uTmFtZSI6ImZhczp1c2VyIn0</pptd:icon>
              </p:ext>
            </p:extLst>
          </p:nvPr>
        </p:nvSpPr>
        <p:spPr>
          <a:xfrm>
            <a:off x="6653213" y="1779582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224" y="248"/>
                </a:moveTo>
                <a:cubicBezTo>
                  <a:pt x="290" y="248"/>
                  <a:pt x="344" y="194"/>
                  <a:pt x="344" y="128"/>
                </a:cubicBezTo>
                <a:cubicBezTo>
                  <a:pt x="344" y="62"/>
                  <a:pt x="290" y="8"/>
                  <a:pt x="224" y="8"/>
                </a:cubicBezTo>
                <a:cubicBezTo>
                  <a:pt x="158" y="8"/>
                  <a:pt x="104" y="62"/>
                  <a:pt x="104" y="128"/>
                </a:cubicBezTo>
                <a:cubicBezTo>
                  <a:pt x="104" y="194"/>
                  <a:pt x="158" y="248"/>
                  <a:pt x="224" y="248"/>
                </a:cubicBezTo>
                <a:close/>
                <a:moveTo>
                  <a:pt x="194" y="304"/>
                </a:moveTo>
                <a:cubicBezTo>
                  <a:pt x="96" y="304"/>
                  <a:pt x="16" y="384"/>
                  <a:pt x="16" y="482"/>
                </a:cubicBezTo>
                <a:cubicBezTo>
                  <a:pt x="16" y="499"/>
                  <a:pt x="29" y="512"/>
                  <a:pt x="46" y="512"/>
                </a:cubicBezTo>
                <a:lnTo>
                  <a:pt x="402" y="512"/>
                </a:lnTo>
                <a:cubicBezTo>
                  <a:pt x="419" y="512"/>
                  <a:pt x="432" y="499"/>
                  <a:pt x="432" y="482"/>
                </a:cubicBezTo>
                <a:cubicBezTo>
                  <a:pt x="432" y="384"/>
                  <a:pt x="352" y="304"/>
                  <a:pt x="254" y="304"/>
                </a:cubicBezTo>
                <a:lnTo>
                  <a:pt x="194" y="304"/>
                </a:lnTo>
                <a:close/>
              </a:path>
            </a:pathLst>
          </a:custGeom>
          <a:solidFill>
            <a:srgbClr val="129B75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422" name="c4-bl">
            <a:extLst>
              <a:ext uri="{FF2B5EF4-FFF2-40B4-BE49-F238E27FC236}">
                <a16:creationId xmlns:a16="http://schemas.microsoft.com/office/drawing/2014/main" id="{ECCE6B4C-F3C8-873F-E257-DA2E0945969E}"/>
              </a:ext>
            </a:extLst>
          </p:cNvPr>
          <p:cNvSpPr txBox="1"/>
          <p:nvPr/>
        </p:nvSpPr>
        <p:spPr>
          <a:xfrm>
            <a:off x="6200775" y="1970082"/>
            <a:ext cx="1038225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>
              <a:lnSpc>
                <a:spcPct val="155000"/>
              </a:lnSpc>
            </a:pPr>
            <a:r>
              <a:rPr lang="en-US" sz="600" noProof="1">
                <a:solidFill>
                  <a:srgbClr val="565661"/>
                </a:solidFill>
                <a:latin typeface="+mn-ea"/>
                <a:cs typeface="MiSans"/>
              </a:rPr>
              <a:t>•  Code Review 与质量把关</a:t>
            </a:r>
            <a:endParaRPr lang="en-US" sz="600" noProof="1">
              <a:solidFill>
                <a:srgbClr val="000000"/>
              </a:solidFill>
              <a:latin typeface="+mn-ea"/>
              <a:cs typeface="MiSans"/>
            </a:endParaRPr>
          </a:p>
          <a:p>
            <a:pPr defTabSz="685800">
              <a:lnSpc>
                <a:spcPct val="155000"/>
              </a:lnSpc>
            </a:pPr>
            <a:r>
              <a:rPr lang="en-US" sz="600" noProof="1">
                <a:solidFill>
                  <a:srgbClr val="565661"/>
                </a:solidFill>
                <a:latin typeface="+mn-ea"/>
                <a:cs typeface="MiSans"/>
              </a:rPr>
              <a:t>•  合并关键技术决策</a:t>
            </a:r>
            <a:endParaRPr lang="en-US" sz="600" noProof="1">
              <a:solidFill>
                <a:srgbClr val="000000"/>
              </a:solidFill>
              <a:latin typeface="+mn-ea"/>
              <a:cs typeface="MiSans"/>
            </a:endParaRPr>
          </a:p>
          <a:p>
            <a:pPr defTabSz="685800">
              <a:lnSpc>
                <a:spcPct val="155000"/>
              </a:lnSpc>
            </a:pPr>
            <a:r>
              <a:rPr lang="en-US" sz="600" noProof="1">
                <a:solidFill>
                  <a:srgbClr val="565661"/>
                </a:solidFill>
                <a:latin typeface="+mn-ea"/>
                <a:cs typeface="MiSans"/>
              </a:rPr>
              <a:t>•  生成可发布版本</a:t>
            </a:r>
            <a:endParaRPr lang="en-US" sz="600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424" name="c4-p00">
            <a:extLst>
              <a:ext uri="{FF2B5EF4-FFF2-40B4-BE49-F238E27FC236}">
                <a16:creationId xmlns:a16="http://schemas.microsoft.com/office/drawing/2014/main" id="{5D3E3DB1-E382-AACA-88F2-928452D2DECC}"/>
              </a:ext>
            </a:extLst>
          </p:cNvPr>
          <p:cNvSpPr/>
          <p:nvPr/>
        </p:nvSpPr>
        <p:spPr>
          <a:xfrm>
            <a:off x="6210300" y="2503482"/>
            <a:ext cx="419100" cy="133350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  <a:alpha val="45000"/>
            </a:schemeClr>
          </a:solidFill>
          <a:ln w="12700">
            <a:solidFill>
              <a:schemeClr val="accent3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426" name="c4-pt00">
            <a:extLst>
              <a:ext uri="{FF2B5EF4-FFF2-40B4-BE49-F238E27FC236}">
                <a16:creationId xmlns:a16="http://schemas.microsoft.com/office/drawing/2014/main" id="{DF2E79B9-B3EB-09C9-25A0-7F57F02A16CB}"/>
              </a:ext>
            </a:extLst>
          </p:cNvPr>
          <p:cNvSpPr txBox="1"/>
          <p:nvPr/>
        </p:nvSpPr>
        <p:spPr>
          <a:xfrm>
            <a:off x="6210300" y="2503482"/>
            <a:ext cx="41910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600" b="1" noProof="1">
                <a:latin typeface="+mn-ea"/>
                <a:cs typeface="MiSans"/>
              </a:rPr>
              <a:t>合并记录</a:t>
            </a:r>
            <a:endParaRPr lang="en-US" sz="600" noProof="1">
              <a:latin typeface="+mn-ea"/>
              <a:cs typeface="MiSans"/>
            </a:endParaRPr>
          </a:p>
        </p:txBody>
      </p:sp>
      <p:sp>
        <p:nvSpPr>
          <p:cNvPr id="428" name="c4-p01">
            <a:extLst>
              <a:ext uri="{FF2B5EF4-FFF2-40B4-BE49-F238E27FC236}">
                <a16:creationId xmlns:a16="http://schemas.microsoft.com/office/drawing/2014/main" id="{E042C06B-B7EC-2C9D-6FA2-503D72E41AE0}"/>
              </a:ext>
            </a:extLst>
          </p:cNvPr>
          <p:cNvSpPr/>
          <p:nvPr/>
        </p:nvSpPr>
        <p:spPr>
          <a:xfrm>
            <a:off x="6686550" y="2503482"/>
            <a:ext cx="533400" cy="133350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  <a:alpha val="45000"/>
            </a:schemeClr>
          </a:solidFill>
          <a:ln w="12700">
            <a:solidFill>
              <a:schemeClr val="accent3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430" name="c4-pt01">
            <a:extLst>
              <a:ext uri="{FF2B5EF4-FFF2-40B4-BE49-F238E27FC236}">
                <a16:creationId xmlns:a16="http://schemas.microsoft.com/office/drawing/2014/main" id="{7706881E-8E0F-05B0-AADD-FECAF3B2120D}"/>
              </a:ext>
            </a:extLst>
          </p:cNvPr>
          <p:cNvSpPr txBox="1"/>
          <p:nvPr/>
        </p:nvSpPr>
        <p:spPr>
          <a:xfrm>
            <a:off x="6686550" y="2503482"/>
            <a:ext cx="53340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600" b="1" noProof="1">
                <a:latin typeface="+mn-ea"/>
                <a:cs typeface="MiSans"/>
              </a:rPr>
              <a:t>审计演练记录</a:t>
            </a:r>
            <a:endParaRPr lang="en-US" sz="600" noProof="1">
              <a:latin typeface="+mn-ea"/>
              <a:cs typeface="MiSans"/>
            </a:endParaRPr>
          </a:p>
        </p:txBody>
      </p:sp>
      <p:sp>
        <p:nvSpPr>
          <p:cNvPr id="432" name="c5-box">
            <a:extLst>
              <a:ext uri="{FF2B5EF4-FFF2-40B4-BE49-F238E27FC236}">
                <a16:creationId xmlns:a16="http://schemas.microsoft.com/office/drawing/2014/main" id="{A5F7E821-2C0D-BAC1-2EA9-EBC3BF1CD31D}"/>
              </a:ext>
            </a:extLst>
          </p:cNvPr>
          <p:cNvSpPr/>
          <p:nvPr/>
        </p:nvSpPr>
        <p:spPr>
          <a:xfrm>
            <a:off x="7486650" y="1503357"/>
            <a:ext cx="1190625" cy="12573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9CDE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438" name="c5-tt">
            <a:extLst>
              <a:ext uri="{FF2B5EF4-FFF2-40B4-BE49-F238E27FC236}">
                <a16:creationId xmlns:a16="http://schemas.microsoft.com/office/drawing/2014/main" id="{35F24ED0-62A7-5676-26BA-02F2B5BC7D0B}"/>
              </a:ext>
            </a:extLst>
          </p:cNvPr>
          <p:cNvSpPr txBox="1"/>
          <p:nvPr/>
        </p:nvSpPr>
        <p:spPr>
          <a:xfrm>
            <a:off x="7667625" y="1548280"/>
            <a:ext cx="82867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788" b="1" noProof="1">
                <a:latin typeface="+mn-ea"/>
                <a:cs typeface="MiSans"/>
              </a:rPr>
              <a:t>S</a:t>
            </a:r>
            <a:r>
              <a:rPr lang="en-US" altLang="zh-CN" sz="788" b="1" noProof="1">
                <a:latin typeface="+mn-ea"/>
                <a:cs typeface="MiSans"/>
              </a:rPr>
              <a:t>tep 6:</a:t>
            </a:r>
            <a:r>
              <a:rPr lang="zh-CN" altLang="en-US" sz="788" b="1" noProof="1">
                <a:latin typeface="+mn-ea"/>
                <a:cs typeface="MiSans"/>
              </a:rPr>
              <a:t> </a:t>
            </a:r>
            <a:r>
              <a:rPr lang="en-US" sz="788" b="1" noProof="1">
                <a:latin typeface="+mn-ea"/>
                <a:cs typeface="MiSans"/>
              </a:rPr>
              <a:t>验收回放</a:t>
            </a:r>
            <a:endParaRPr lang="en-US" sz="788" noProof="1">
              <a:latin typeface="+mn-ea"/>
              <a:cs typeface="MiSans"/>
            </a:endParaRPr>
          </a:p>
        </p:txBody>
      </p:sp>
      <p:sp>
        <p:nvSpPr>
          <p:cNvPr id="440" name="c5-i1">
            <a:extLst>
              <a:ext uri="{FF2B5EF4-FFF2-40B4-BE49-F238E27FC236}">
                <a16:creationId xmlns:a16="http://schemas.microsoft.com/office/drawing/2014/main" id="{867E7D02-14C6-6061-DE07-EEB7B1534271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eyJpY29uTmFtZSI6ImZhczpyb2JvdCJ9</pptd:icon>
              </p:ext>
            </p:extLst>
          </p:nvPr>
        </p:nvSpPr>
        <p:spPr>
          <a:xfrm>
            <a:off x="7910513" y="1789107"/>
            <a:ext cx="123825" cy="123825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352" y="0"/>
                </a:moveTo>
                <a:cubicBezTo>
                  <a:pt x="352" y="-18"/>
                  <a:pt x="338" y="-32"/>
                  <a:pt x="320" y="-32"/>
                </a:cubicBezTo>
                <a:cubicBezTo>
                  <a:pt x="302" y="-32"/>
                  <a:pt x="288" y="-18"/>
                  <a:pt x="288" y="0"/>
                </a:cubicBezTo>
                <a:lnTo>
                  <a:pt x="288" y="64"/>
                </a:lnTo>
                <a:lnTo>
                  <a:pt x="192" y="64"/>
                </a:lnTo>
                <a:cubicBezTo>
                  <a:pt x="139" y="64"/>
                  <a:pt x="96" y="107"/>
                  <a:pt x="96" y="160"/>
                </a:cubicBezTo>
                <a:lnTo>
                  <a:pt x="96" y="384"/>
                </a:lnTo>
                <a:cubicBezTo>
                  <a:pt x="96" y="437"/>
                  <a:pt x="139" y="480"/>
                  <a:pt x="192" y="480"/>
                </a:cubicBezTo>
                <a:lnTo>
                  <a:pt x="448" y="480"/>
                </a:lnTo>
                <a:cubicBezTo>
                  <a:pt x="501" y="480"/>
                  <a:pt x="544" y="437"/>
                  <a:pt x="544" y="384"/>
                </a:cubicBezTo>
                <a:lnTo>
                  <a:pt x="544" y="160"/>
                </a:lnTo>
                <a:cubicBezTo>
                  <a:pt x="544" y="107"/>
                  <a:pt x="501" y="64"/>
                  <a:pt x="448" y="64"/>
                </a:cubicBezTo>
                <a:lnTo>
                  <a:pt x="352" y="64"/>
                </a:lnTo>
                <a:lnTo>
                  <a:pt x="352" y="0"/>
                </a:lnTo>
                <a:close/>
                <a:moveTo>
                  <a:pt x="160" y="368"/>
                </a:moveTo>
                <a:cubicBezTo>
                  <a:pt x="160" y="355"/>
                  <a:pt x="171" y="344"/>
                  <a:pt x="184" y="344"/>
                </a:cubicBezTo>
                <a:lnTo>
                  <a:pt x="216" y="344"/>
                </a:lnTo>
                <a:cubicBezTo>
                  <a:pt x="229" y="344"/>
                  <a:pt x="240" y="355"/>
                  <a:pt x="240" y="368"/>
                </a:cubicBezTo>
                <a:cubicBezTo>
                  <a:pt x="240" y="381"/>
                  <a:pt x="229" y="392"/>
                  <a:pt x="216" y="392"/>
                </a:cubicBezTo>
                <a:lnTo>
                  <a:pt x="184" y="392"/>
                </a:lnTo>
                <a:cubicBezTo>
                  <a:pt x="171" y="392"/>
                  <a:pt x="160" y="381"/>
                  <a:pt x="160" y="368"/>
                </a:cubicBezTo>
                <a:close/>
                <a:moveTo>
                  <a:pt x="280" y="368"/>
                </a:moveTo>
                <a:cubicBezTo>
                  <a:pt x="280" y="355"/>
                  <a:pt x="291" y="344"/>
                  <a:pt x="304" y="344"/>
                </a:cubicBezTo>
                <a:lnTo>
                  <a:pt x="336" y="344"/>
                </a:lnTo>
                <a:cubicBezTo>
                  <a:pt x="349" y="344"/>
                  <a:pt x="360" y="355"/>
                  <a:pt x="360" y="368"/>
                </a:cubicBezTo>
                <a:cubicBezTo>
                  <a:pt x="360" y="381"/>
                  <a:pt x="349" y="392"/>
                  <a:pt x="336" y="392"/>
                </a:cubicBezTo>
                <a:lnTo>
                  <a:pt x="304" y="392"/>
                </a:lnTo>
                <a:cubicBezTo>
                  <a:pt x="291" y="392"/>
                  <a:pt x="280" y="381"/>
                  <a:pt x="280" y="368"/>
                </a:cubicBezTo>
                <a:close/>
                <a:moveTo>
                  <a:pt x="400" y="368"/>
                </a:moveTo>
                <a:cubicBezTo>
                  <a:pt x="400" y="355"/>
                  <a:pt x="411" y="344"/>
                  <a:pt x="424" y="344"/>
                </a:cubicBezTo>
                <a:lnTo>
                  <a:pt x="456" y="344"/>
                </a:lnTo>
                <a:cubicBezTo>
                  <a:pt x="469" y="344"/>
                  <a:pt x="480" y="355"/>
                  <a:pt x="480" y="368"/>
                </a:cubicBezTo>
                <a:cubicBezTo>
                  <a:pt x="480" y="381"/>
                  <a:pt x="469" y="392"/>
                  <a:pt x="456" y="392"/>
                </a:cubicBezTo>
                <a:lnTo>
                  <a:pt x="424" y="392"/>
                </a:lnTo>
                <a:cubicBezTo>
                  <a:pt x="411" y="392"/>
                  <a:pt x="400" y="381"/>
                  <a:pt x="400" y="368"/>
                </a:cubicBezTo>
                <a:close/>
                <a:moveTo>
                  <a:pt x="224" y="176"/>
                </a:moveTo>
                <a:cubicBezTo>
                  <a:pt x="251" y="176"/>
                  <a:pt x="272" y="197"/>
                  <a:pt x="272" y="224"/>
                </a:cubicBezTo>
                <a:cubicBezTo>
                  <a:pt x="272" y="251"/>
                  <a:pt x="251" y="272"/>
                  <a:pt x="224" y="272"/>
                </a:cubicBezTo>
                <a:cubicBezTo>
                  <a:pt x="197" y="272"/>
                  <a:pt x="176" y="251"/>
                  <a:pt x="176" y="224"/>
                </a:cubicBezTo>
                <a:cubicBezTo>
                  <a:pt x="176" y="197"/>
                  <a:pt x="197" y="176"/>
                  <a:pt x="224" y="176"/>
                </a:cubicBezTo>
                <a:close/>
                <a:moveTo>
                  <a:pt x="368" y="224"/>
                </a:moveTo>
                <a:cubicBezTo>
                  <a:pt x="368" y="197"/>
                  <a:pt x="389" y="176"/>
                  <a:pt x="416" y="176"/>
                </a:cubicBezTo>
                <a:cubicBezTo>
                  <a:pt x="443" y="176"/>
                  <a:pt x="464" y="197"/>
                  <a:pt x="464" y="224"/>
                </a:cubicBezTo>
                <a:cubicBezTo>
                  <a:pt x="464" y="251"/>
                  <a:pt x="443" y="272"/>
                  <a:pt x="416" y="272"/>
                </a:cubicBezTo>
                <a:cubicBezTo>
                  <a:pt x="389" y="272"/>
                  <a:pt x="368" y="251"/>
                  <a:pt x="368" y="224"/>
                </a:cubicBezTo>
                <a:close/>
              </a:path>
              <a:path w="640" h="512">
                <a:moveTo>
                  <a:pt x="64" y="224"/>
                </a:moveTo>
                <a:cubicBezTo>
                  <a:pt x="64" y="206"/>
                  <a:pt x="50" y="192"/>
                  <a:pt x="32" y="192"/>
                </a:cubicBezTo>
                <a:cubicBezTo>
                  <a:pt x="14" y="192"/>
                  <a:pt x="0" y="206"/>
                  <a:pt x="0" y="224"/>
                </a:cubicBezTo>
                <a:lnTo>
                  <a:pt x="0" y="320"/>
                </a:lnTo>
                <a:cubicBezTo>
                  <a:pt x="0" y="338"/>
                  <a:pt x="14" y="352"/>
                  <a:pt x="32" y="352"/>
                </a:cubicBezTo>
                <a:cubicBezTo>
                  <a:pt x="50" y="352"/>
                  <a:pt x="64" y="338"/>
                  <a:pt x="64" y="320"/>
                </a:cubicBezTo>
                <a:lnTo>
                  <a:pt x="64" y="224"/>
                </a:lnTo>
                <a:close/>
              </a:path>
              <a:path w="640" h="512">
                <a:moveTo>
                  <a:pt x="608" y="192"/>
                </a:moveTo>
                <a:cubicBezTo>
                  <a:pt x="590" y="192"/>
                  <a:pt x="576" y="206"/>
                  <a:pt x="576" y="224"/>
                </a:cubicBezTo>
                <a:lnTo>
                  <a:pt x="576" y="320"/>
                </a:lnTo>
                <a:cubicBezTo>
                  <a:pt x="576" y="338"/>
                  <a:pt x="590" y="352"/>
                  <a:pt x="608" y="352"/>
                </a:cubicBezTo>
                <a:cubicBezTo>
                  <a:pt x="626" y="352"/>
                  <a:pt x="640" y="338"/>
                  <a:pt x="640" y="320"/>
                </a:cubicBezTo>
                <a:lnTo>
                  <a:pt x="640" y="224"/>
                </a:lnTo>
                <a:cubicBezTo>
                  <a:pt x="640" y="206"/>
                  <a:pt x="626" y="192"/>
                  <a:pt x="608" y="19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442" name="c5-plus">
            <a:extLst>
              <a:ext uri="{FF2B5EF4-FFF2-40B4-BE49-F238E27FC236}">
                <a16:creationId xmlns:a16="http://schemas.microsoft.com/office/drawing/2014/main" id="{CDAC029D-5147-E839-C743-A4F7B74456BA}"/>
              </a:ext>
            </a:extLst>
          </p:cNvPr>
          <p:cNvSpPr txBox="1"/>
          <p:nvPr/>
        </p:nvSpPr>
        <p:spPr>
          <a:xfrm>
            <a:off x="8034338" y="1779582"/>
            <a:ext cx="9525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675" noProof="1">
                <a:solidFill>
                  <a:srgbClr val="565661"/>
                </a:solidFill>
                <a:latin typeface="+mn-ea"/>
                <a:cs typeface="MiSans"/>
              </a:rPr>
              <a:t>+</a:t>
            </a:r>
            <a:endParaRPr lang="en-US" sz="675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444" name="c5-i2">
            <a:extLst>
              <a:ext uri="{FF2B5EF4-FFF2-40B4-BE49-F238E27FC236}">
                <a16:creationId xmlns:a16="http://schemas.microsoft.com/office/drawing/2014/main" id="{EFE4B06A-F6E3-9EEB-106B-A1FBAB89A153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eyJpY29uTmFtZSI6ImZhczp1c2VyIn0</pptd:icon>
              </p:ext>
            </p:extLst>
          </p:nvPr>
        </p:nvSpPr>
        <p:spPr>
          <a:xfrm>
            <a:off x="8129588" y="1789107"/>
            <a:ext cx="123825" cy="123825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224" y="248"/>
                </a:moveTo>
                <a:cubicBezTo>
                  <a:pt x="290" y="248"/>
                  <a:pt x="344" y="194"/>
                  <a:pt x="344" y="128"/>
                </a:cubicBezTo>
                <a:cubicBezTo>
                  <a:pt x="344" y="62"/>
                  <a:pt x="290" y="8"/>
                  <a:pt x="224" y="8"/>
                </a:cubicBezTo>
                <a:cubicBezTo>
                  <a:pt x="158" y="8"/>
                  <a:pt x="104" y="62"/>
                  <a:pt x="104" y="128"/>
                </a:cubicBezTo>
                <a:cubicBezTo>
                  <a:pt x="104" y="194"/>
                  <a:pt x="158" y="248"/>
                  <a:pt x="224" y="248"/>
                </a:cubicBezTo>
                <a:close/>
                <a:moveTo>
                  <a:pt x="194" y="304"/>
                </a:moveTo>
                <a:cubicBezTo>
                  <a:pt x="96" y="304"/>
                  <a:pt x="16" y="384"/>
                  <a:pt x="16" y="482"/>
                </a:cubicBezTo>
                <a:cubicBezTo>
                  <a:pt x="16" y="499"/>
                  <a:pt x="29" y="512"/>
                  <a:pt x="46" y="512"/>
                </a:cubicBezTo>
                <a:lnTo>
                  <a:pt x="402" y="512"/>
                </a:lnTo>
                <a:cubicBezTo>
                  <a:pt x="419" y="512"/>
                  <a:pt x="432" y="499"/>
                  <a:pt x="432" y="482"/>
                </a:cubicBezTo>
                <a:cubicBezTo>
                  <a:pt x="432" y="384"/>
                  <a:pt x="352" y="304"/>
                  <a:pt x="254" y="304"/>
                </a:cubicBezTo>
                <a:lnTo>
                  <a:pt x="194" y="304"/>
                </a:lnTo>
                <a:close/>
              </a:path>
            </a:pathLst>
          </a:custGeom>
          <a:solidFill>
            <a:srgbClr val="129B75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446" name="c5-bl">
            <a:extLst>
              <a:ext uri="{FF2B5EF4-FFF2-40B4-BE49-F238E27FC236}">
                <a16:creationId xmlns:a16="http://schemas.microsoft.com/office/drawing/2014/main" id="{461A1C32-30C9-9A5B-874B-5319F19FCE7F}"/>
              </a:ext>
            </a:extLst>
          </p:cNvPr>
          <p:cNvSpPr txBox="1"/>
          <p:nvPr/>
        </p:nvSpPr>
        <p:spPr>
          <a:xfrm>
            <a:off x="7562850" y="1970082"/>
            <a:ext cx="1038225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>
              <a:lnSpc>
                <a:spcPct val="155000"/>
              </a:lnSpc>
            </a:pPr>
            <a:r>
              <a:rPr lang="en-US" sz="600" noProof="1">
                <a:solidFill>
                  <a:srgbClr val="565661"/>
                </a:solidFill>
                <a:latin typeface="+mn-ea"/>
                <a:cs typeface="MiSans"/>
              </a:rPr>
              <a:t>•  生成测试用例并执行验证</a:t>
            </a:r>
            <a:endParaRPr lang="en-US" sz="600" noProof="1">
              <a:solidFill>
                <a:srgbClr val="000000"/>
              </a:solidFill>
              <a:latin typeface="+mn-ea"/>
              <a:cs typeface="MiSans"/>
            </a:endParaRPr>
          </a:p>
          <a:p>
            <a:pPr defTabSz="685800">
              <a:lnSpc>
                <a:spcPct val="155000"/>
              </a:lnSpc>
            </a:pPr>
            <a:r>
              <a:rPr lang="en-US" sz="600" noProof="1">
                <a:solidFill>
                  <a:srgbClr val="565661"/>
                </a:solidFill>
                <a:latin typeface="+mn-ea"/>
                <a:cs typeface="MiSans"/>
              </a:rPr>
              <a:t>•  全量回放与缺陷修复</a:t>
            </a:r>
            <a:endParaRPr lang="en-US" sz="600" noProof="1">
              <a:solidFill>
                <a:srgbClr val="000000"/>
              </a:solidFill>
              <a:latin typeface="+mn-ea"/>
              <a:cs typeface="MiSans"/>
            </a:endParaRPr>
          </a:p>
          <a:p>
            <a:pPr defTabSz="685800">
              <a:lnSpc>
                <a:spcPct val="155000"/>
              </a:lnSpc>
            </a:pPr>
            <a:r>
              <a:rPr lang="en-US" sz="600" noProof="1">
                <a:solidFill>
                  <a:srgbClr val="565661"/>
                </a:solidFill>
                <a:latin typeface="+mn-ea"/>
                <a:cs typeface="MiSans"/>
              </a:rPr>
              <a:t>•  确认达成验收标准</a:t>
            </a:r>
            <a:endParaRPr lang="en-US" sz="600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448" name="c5-p00">
            <a:extLst>
              <a:ext uri="{FF2B5EF4-FFF2-40B4-BE49-F238E27FC236}">
                <a16:creationId xmlns:a16="http://schemas.microsoft.com/office/drawing/2014/main" id="{749B0DFE-9697-4058-84F8-232D06DC9D3A}"/>
              </a:ext>
            </a:extLst>
          </p:cNvPr>
          <p:cNvSpPr/>
          <p:nvPr/>
        </p:nvSpPr>
        <p:spPr>
          <a:xfrm>
            <a:off x="7581900" y="2503482"/>
            <a:ext cx="419100" cy="133350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  <a:alpha val="45000"/>
            </a:schemeClr>
          </a:solidFill>
          <a:ln w="12700">
            <a:solidFill>
              <a:schemeClr val="accent3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450" name="c5-pt00">
            <a:extLst>
              <a:ext uri="{FF2B5EF4-FFF2-40B4-BE49-F238E27FC236}">
                <a16:creationId xmlns:a16="http://schemas.microsoft.com/office/drawing/2014/main" id="{3067B2EA-E6C1-0C7B-A2B7-10DF915B27B8}"/>
              </a:ext>
            </a:extLst>
          </p:cNvPr>
          <p:cNvSpPr txBox="1"/>
          <p:nvPr/>
        </p:nvSpPr>
        <p:spPr>
          <a:xfrm>
            <a:off x="7581900" y="2503482"/>
            <a:ext cx="41910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600" b="1" noProof="1">
                <a:latin typeface="+mn-ea"/>
                <a:cs typeface="MiSans"/>
              </a:rPr>
              <a:t>测试报告</a:t>
            </a:r>
            <a:endParaRPr lang="en-US" sz="600" noProof="1">
              <a:latin typeface="+mn-ea"/>
              <a:cs typeface="MiSans"/>
            </a:endParaRPr>
          </a:p>
        </p:txBody>
      </p:sp>
      <p:sp>
        <p:nvSpPr>
          <p:cNvPr id="452" name="c5-p01">
            <a:extLst>
              <a:ext uri="{FF2B5EF4-FFF2-40B4-BE49-F238E27FC236}">
                <a16:creationId xmlns:a16="http://schemas.microsoft.com/office/drawing/2014/main" id="{8BD5FC77-E6A0-AF44-177A-802D4855F778}"/>
              </a:ext>
            </a:extLst>
          </p:cNvPr>
          <p:cNvSpPr/>
          <p:nvPr/>
        </p:nvSpPr>
        <p:spPr>
          <a:xfrm>
            <a:off x="8058150" y="2503482"/>
            <a:ext cx="533400" cy="133350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  <a:alpha val="45000"/>
            </a:schemeClr>
          </a:solidFill>
          <a:ln w="12700">
            <a:solidFill>
              <a:schemeClr val="accent3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454" name="c5-pt01">
            <a:extLst>
              <a:ext uri="{FF2B5EF4-FFF2-40B4-BE49-F238E27FC236}">
                <a16:creationId xmlns:a16="http://schemas.microsoft.com/office/drawing/2014/main" id="{C68E5444-B3E1-CAE9-0DE3-4E669B032461}"/>
              </a:ext>
            </a:extLst>
          </p:cNvPr>
          <p:cNvSpPr txBox="1"/>
          <p:nvPr/>
        </p:nvSpPr>
        <p:spPr>
          <a:xfrm>
            <a:off x="8058150" y="2503482"/>
            <a:ext cx="53340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600" b="1" noProof="1">
                <a:latin typeface="+mn-ea"/>
                <a:cs typeface="MiSans"/>
              </a:rPr>
              <a:t>会话档案归档</a:t>
            </a:r>
            <a:endParaRPr lang="en-US" sz="600" noProof="1">
              <a:latin typeface="+mn-ea"/>
              <a:cs typeface="MiSans"/>
            </a:endParaRPr>
          </a:p>
        </p:txBody>
      </p:sp>
      <p:sp>
        <p:nvSpPr>
          <p:cNvPr id="456" name="tri0">
            <a:extLst>
              <a:ext uri="{FF2B5EF4-FFF2-40B4-BE49-F238E27FC236}">
                <a16:creationId xmlns:a16="http://schemas.microsoft.com/office/drawing/2014/main" id="{3ECFD8B0-EAE8-8D8F-EAEA-D96DC9B8E999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eyJpY29uTmFtZSI6ImZhczpjYXJldC1yaWdodCJ9</pptd:icon>
              </p:ext>
            </p:extLst>
          </p:nvPr>
        </p:nvSpPr>
        <p:spPr>
          <a:xfrm>
            <a:off x="1695450" y="1951032"/>
            <a:ext cx="76200" cy="123825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9" y="236"/>
                </a:moveTo>
                <a:cubicBezTo>
                  <a:pt x="260" y="248"/>
                  <a:pt x="259" y="267"/>
                  <a:pt x="247" y="279"/>
                </a:cubicBezTo>
                <a:lnTo>
                  <a:pt x="119" y="407"/>
                </a:lnTo>
                <a:cubicBezTo>
                  <a:pt x="110" y="416"/>
                  <a:pt x="96" y="419"/>
                  <a:pt x="84" y="414"/>
                </a:cubicBezTo>
                <a:cubicBezTo>
                  <a:pt x="72" y="409"/>
                  <a:pt x="65" y="397"/>
                  <a:pt x="65" y="384"/>
                </a:cubicBezTo>
                <a:lnTo>
                  <a:pt x="65" y="128"/>
                </a:lnTo>
                <a:cubicBezTo>
                  <a:pt x="65" y="115"/>
                  <a:pt x="72" y="103"/>
                  <a:pt x="84" y="98"/>
                </a:cubicBezTo>
                <a:cubicBezTo>
                  <a:pt x="96" y="93"/>
                  <a:pt x="110" y="96"/>
                  <a:pt x="119" y="105"/>
                </a:cubicBezTo>
                <a:lnTo>
                  <a:pt x="247" y="233"/>
                </a:lnTo>
                <a:lnTo>
                  <a:pt x="249" y="236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458" name="tri1">
            <a:extLst>
              <a:ext uri="{FF2B5EF4-FFF2-40B4-BE49-F238E27FC236}">
                <a16:creationId xmlns:a16="http://schemas.microsoft.com/office/drawing/2014/main" id="{592A5A5B-0C19-83A1-BD07-E936C2E83AD0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eyJpY29uTmFtZSI6ImZhczpjYXJldC1yaWdodCJ9</pptd:icon>
              </p:ext>
            </p:extLst>
          </p:nvPr>
        </p:nvSpPr>
        <p:spPr>
          <a:xfrm>
            <a:off x="3200400" y="1951032"/>
            <a:ext cx="76200" cy="123825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9" y="236"/>
                </a:moveTo>
                <a:cubicBezTo>
                  <a:pt x="260" y="248"/>
                  <a:pt x="259" y="267"/>
                  <a:pt x="247" y="279"/>
                </a:cubicBezTo>
                <a:lnTo>
                  <a:pt x="119" y="407"/>
                </a:lnTo>
                <a:cubicBezTo>
                  <a:pt x="110" y="416"/>
                  <a:pt x="96" y="419"/>
                  <a:pt x="84" y="414"/>
                </a:cubicBezTo>
                <a:cubicBezTo>
                  <a:pt x="72" y="409"/>
                  <a:pt x="65" y="397"/>
                  <a:pt x="65" y="384"/>
                </a:cubicBezTo>
                <a:lnTo>
                  <a:pt x="65" y="128"/>
                </a:lnTo>
                <a:cubicBezTo>
                  <a:pt x="65" y="115"/>
                  <a:pt x="72" y="103"/>
                  <a:pt x="84" y="98"/>
                </a:cubicBezTo>
                <a:cubicBezTo>
                  <a:pt x="96" y="93"/>
                  <a:pt x="110" y="96"/>
                  <a:pt x="119" y="105"/>
                </a:cubicBezTo>
                <a:lnTo>
                  <a:pt x="247" y="233"/>
                </a:lnTo>
                <a:lnTo>
                  <a:pt x="249" y="236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460" name="tri2">
            <a:extLst>
              <a:ext uri="{FF2B5EF4-FFF2-40B4-BE49-F238E27FC236}">
                <a16:creationId xmlns:a16="http://schemas.microsoft.com/office/drawing/2014/main" id="{599F6AC6-1694-DC38-01CC-D206A3DCDFC2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eyJpY29uTmFtZSI6ImZhczpjYXJldC1yaWdodCJ9</pptd:icon>
              </p:ext>
            </p:extLst>
          </p:nvPr>
        </p:nvSpPr>
        <p:spPr>
          <a:xfrm>
            <a:off x="4581525" y="1951032"/>
            <a:ext cx="76200" cy="123825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9" y="236"/>
                </a:moveTo>
                <a:cubicBezTo>
                  <a:pt x="260" y="248"/>
                  <a:pt x="259" y="267"/>
                  <a:pt x="247" y="279"/>
                </a:cubicBezTo>
                <a:lnTo>
                  <a:pt x="119" y="407"/>
                </a:lnTo>
                <a:cubicBezTo>
                  <a:pt x="110" y="416"/>
                  <a:pt x="96" y="419"/>
                  <a:pt x="84" y="414"/>
                </a:cubicBezTo>
                <a:cubicBezTo>
                  <a:pt x="72" y="409"/>
                  <a:pt x="65" y="397"/>
                  <a:pt x="65" y="384"/>
                </a:cubicBezTo>
                <a:lnTo>
                  <a:pt x="65" y="128"/>
                </a:lnTo>
                <a:cubicBezTo>
                  <a:pt x="65" y="115"/>
                  <a:pt x="72" y="103"/>
                  <a:pt x="84" y="98"/>
                </a:cubicBezTo>
                <a:cubicBezTo>
                  <a:pt x="96" y="93"/>
                  <a:pt x="110" y="96"/>
                  <a:pt x="119" y="105"/>
                </a:cubicBezTo>
                <a:lnTo>
                  <a:pt x="247" y="233"/>
                </a:lnTo>
                <a:lnTo>
                  <a:pt x="249" y="236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462" name="tri3">
            <a:extLst>
              <a:ext uri="{FF2B5EF4-FFF2-40B4-BE49-F238E27FC236}">
                <a16:creationId xmlns:a16="http://schemas.microsoft.com/office/drawing/2014/main" id="{25F26BAA-16D4-2E39-15BE-52D8DD31BB2C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eyJpY29uTmFtZSI6ImZhczpjYXJldC1yaWdodCJ9</pptd:icon>
              </p:ext>
            </p:extLst>
          </p:nvPr>
        </p:nvSpPr>
        <p:spPr>
          <a:xfrm>
            <a:off x="6000750" y="1951032"/>
            <a:ext cx="76200" cy="123825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9" y="236"/>
                </a:moveTo>
                <a:cubicBezTo>
                  <a:pt x="260" y="248"/>
                  <a:pt x="259" y="267"/>
                  <a:pt x="247" y="279"/>
                </a:cubicBezTo>
                <a:lnTo>
                  <a:pt x="119" y="407"/>
                </a:lnTo>
                <a:cubicBezTo>
                  <a:pt x="110" y="416"/>
                  <a:pt x="96" y="419"/>
                  <a:pt x="84" y="414"/>
                </a:cubicBezTo>
                <a:cubicBezTo>
                  <a:pt x="72" y="409"/>
                  <a:pt x="65" y="397"/>
                  <a:pt x="65" y="384"/>
                </a:cubicBezTo>
                <a:lnTo>
                  <a:pt x="65" y="128"/>
                </a:lnTo>
                <a:cubicBezTo>
                  <a:pt x="65" y="115"/>
                  <a:pt x="72" y="103"/>
                  <a:pt x="84" y="98"/>
                </a:cubicBezTo>
                <a:cubicBezTo>
                  <a:pt x="96" y="93"/>
                  <a:pt x="110" y="96"/>
                  <a:pt x="119" y="105"/>
                </a:cubicBezTo>
                <a:lnTo>
                  <a:pt x="247" y="233"/>
                </a:lnTo>
                <a:lnTo>
                  <a:pt x="249" y="236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464" name="tri4">
            <a:extLst>
              <a:ext uri="{FF2B5EF4-FFF2-40B4-BE49-F238E27FC236}">
                <a16:creationId xmlns:a16="http://schemas.microsoft.com/office/drawing/2014/main" id="{4B4A5BEC-F21A-5FE1-D21F-0D8FC0EAFC69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eyJpY29uTmFtZSI6ImZhczpjYXJldC1yaWdodCJ9</pptd:icon>
              </p:ext>
            </p:extLst>
          </p:nvPr>
        </p:nvSpPr>
        <p:spPr>
          <a:xfrm>
            <a:off x="7372350" y="1951032"/>
            <a:ext cx="76200" cy="123825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9" y="236"/>
                </a:moveTo>
                <a:cubicBezTo>
                  <a:pt x="260" y="248"/>
                  <a:pt x="259" y="267"/>
                  <a:pt x="247" y="279"/>
                </a:cubicBezTo>
                <a:lnTo>
                  <a:pt x="119" y="407"/>
                </a:lnTo>
                <a:cubicBezTo>
                  <a:pt x="110" y="416"/>
                  <a:pt x="96" y="419"/>
                  <a:pt x="84" y="414"/>
                </a:cubicBezTo>
                <a:cubicBezTo>
                  <a:pt x="72" y="409"/>
                  <a:pt x="65" y="397"/>
                  <a:pt x="65" y="384"/>
                </a:cubicBezTo>
                <a:lnTo>
                  <a:pt x="65" y="128"/>
                </a:lnTo>
                <a:cubicBezTo>
                  <a:pt x="65" y="115"/>
                  <a:pt x="72" y="103"/>
                  <a:pt x="84" y="98"/>
                </a:cubicBezTo>
                <a:cubicBezTo>
                  <a:pt x="96" y="93"/>
                  <a:pt x="110" y="96"/>
                  <a:pt x="119" y="105"/>
                </a:cubicBezTo>
                <a:lnTo>
                  <a:pt x="247" y="233"/>
                </a:lnTo>
                <a:lnTo>
                  <a:pt x="249" y="236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484" name="frame2">
            <a:extLst>
              <a:ext uri="{FF2B5EF4-FFF2-40B4-BE49-F238E27FC236}">
                <a16:creationId xmlns:a16="http://schemas.microsoft.com/office/drawing/2014/main" id="{A4140D51-23A5-D3B5-8664-9495B054EDB9}"/>
              </a:ext>
            </a:extLst>
          </p:cNvPr>
          <p:cNvSpPr/>
          <p:nvPr/>
        </p:nvSpPr>
        <p:spPr>
          <a:xfrm>
            <a:off x="257175" y="3046408"/>
            <a:ext cx="8620125" cy="97546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chemeClr val="accent3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488" name="banner2-t">
            <a:extLst>
              <a:ext uri="{FF2B5EF4-FFF2-40B4-BE49-F238E27FC236}">
                <a16:creationId xmlns:a16="http://schemas.microsoft.com/office/drawing/2014/main" id="{E60C2800-228D-95E3-3747-23D3D28F0027}"/>
              </a:ext>
            </a:extLst>
          </p:cNvPr>
          <p:cNvSpPr txBox="1"/>
          <p:nvPr/>
        </p:nvSpPr>
        <p:spPr>
          <a:xfrm>
            <a:off x="257175" y="2927329"/>
            <a:ext cx="2667000" cy="2095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750" b="1" noProof="1">
                <a:solidFill>
                  <a:srgbClr val="FFFFFF"/>
                </a:solidFill>
                <a:latin typeface="+mn-ea"/>
                <a:cs typeface="MiSans"/>
              </a:rPr>
              <a:t>Spec Kit 工具链（支撑六步工作流的命令集）</a:t>
            </a:r>
            <a:r>
              <a:rPr lang="zh-CN" altLang="en-US" sz="750" b="1" noProof="1">
                <a:solidFill>
                  <a:srgbClr val="FFFFFF"/>
                </a:solidFill>
                <a:latin typeface="+mn-ea"/>
                <a:cs typeface="MiSans"/>
              </a:rPr>
              <a:t>与对应关系</a:t>
            </a:r>
            <a:endParaRPr lang="en-US" sz="750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490" name="k0-box">
            <a:extLst>
              <a:ext uri="{FF2B5EF4-FFF2-40B4-BE49-F238E27FC236}">
                <a16:creationId xmlns:a16="http://schemas.microsoft.com/office/drawing/2014/main" id="{5498F99D-E425-61DF-65A0-D40E08ACB7AF}"/>
              </a:ext>
            </a:extLst>
          </p:cNvPr>
          <p:cNvSpPr/>
          <p:nvPr/>
        </p:nvSpPr>
        <p:spPr>
          <a:xfrm>
            <a:off x="485775" y="3217857"/>
            <a:ext cx="990600" cy="52387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9CDE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492" name="k0-ic">
            <a:extLst>
              <a:ext uri="{FF2B5EF4-FFF2-40B4-BE49-F238E27FC236}">
                <a16:creationId xmlns:a16="http://schemas.microsoft.com/office/drawing/2014/main" id="{02773A23-4C86-4F33-A2E0-3D44C5A9642C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eyJpY29uTmFtZSI6ImZhczpzY2FsZS1iYWxhbmNlZCJ9</pptd:icon>
              </p:ext>
            </p:extLst>
          </p:nvPr>
        </p:nvSpPr>
        <p:spPr>
          <a:xfrm>
            <a:off x="571500" y="3332157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384" y="32"/>
                </a:moveTo>
                <a:lnTo>
                  <a:pt x="512" y="32"/>
                </a:lnTo>
                <a:cubicBezTo>
                  <a:pt x="530" y="32"/>
                  <a:pt x="544" y="46"/>
                  <a:pt x="544" y="64"/>
                </a:cubicBezTo>
                <a:cubicBezTo>
                  <a:pt x="544" y="82"/>
                  <a:pt x="530" y="96"/>
                  <a:pt x="512" y="96"/>
                </a:cubicBezTo>
                <a:lnTo>
                  <a:pt x="398" y="96"/>
                </a:lnTo>
                <a:cubicBezTo>
                  <a:pt x="393" y="122"/>
                  <a:pt x="376" y="143"/>
                  <a:pt x="352" y="153"/>
                </a:cubicBezTo>
                <a:lnTo>
                  <a:pt x="352" y="448"/>
                </a:lnTo>
                <a:lnTo>
                  <a:pt x="512" y="448"/>
                </a:lnTo>
                <a:cubicBezTo>
                  <a:pt x="530" y="448"/>
                  <a:pt x="544" y="462"/>
                  <a:pt x="544" y="480"/>
                </a:cubicBezTo>
                <a:cubicBezTo>
                  <a:pt x="544" y="498"/>
                  <a:pt x="530" y="512"/>
                  <a:pt x="512" y="512"/>
                </a:cubicBezTo>
                <a:lnTo>
                  <a:pt x="128" y="512"/>
                </a:lnTo>
                <a:cubicBezTo>
                  <a:pt x="110" y="512"/>
                  <a:pt x="96" y="498"/>
                  <a:pt x="96" y="480"/>
                </a:cubicBezTo>
                <a:cubicBezTo>
                  <a:pt x="96" y="462"/>
                  <a:pt x="110" y="448"/>
                  <a:pt x="128" y="448"/>
                </a:cubicBezTo>
                <a:lnTo>
                  <a:pt x="288" y="448"/>
                </a:lnTo>
                <a:lnTo>
                  <a:pt x="288" y="153"/>
                </a:lnTo>
                <a:cubicBezTo>
                  <a:pt x="265" y="143"/>
                  <a:pt x="247" y="122"/>
                  <a:pt x="242" y="96"/>
                </a:cubicBezTo>
                <a:lnTo>
                  <a:pt x="128" y="96"/>
                </a:lnTo>
                <a:cubicBezTo>
                  <a:pt x="110" y="96"/>
                  <a:pt x="96" y="82"/>
                  <a:pt x="96" y="64"/>
                </a:cubicBezTo>
                <a:cubicBezTo>
                  <a:pt x="96" y="46"/>
                  <a:pt x="110" y="32"/>
                  <a:pt x="128" y="32"/>
                </a:cubicBezTo>
                <a:lnTo>
                  <a:pt x="256" y="32"/>
                </a:lnTo>
                <a:cubicBezTo>
                  <a:pt x="271" y="13"/>
                  <a:pt x="294" y="0"/>
                  <a:pt x="320" y="0"/>
                </a:cubicBezTo>
                <a:cubicBezTo>
                  <a:pt x="346" y="0"/>
                  <a:pt x="369" y="13"/>
                  <a:pt x="384" y="32"/>
                </a:cubicBezTo>
                <a:close/>
              </a:path>
              <a:path w="640" h="512">
                <a:moveTo>
                  <a:pt x="512" y="416"/>
                </a:moveTo>
                <a:cubicBezTo>
                  <a:pt x="449" y="416"/>
                  <a:pt x="397" y="382"/>
                  <a:pt x="386" y="337"/>
                </a:cubicBezTo>
                <a:cubicBezTo>
                  <a:pt x="383" y="326"/>
                  <a:pt x="387" y="315"/>
                  <a:pt x="393" y="305"/>
                </a:cubicBezTo>
                <a:lnTo>
                  <a:pt x="488" y="142"/>
                </a:lnTo>
                <a:cubicBezTo>
                  <a:pt x="493" y="133"/>
                  <a:pt x="502" y="128"/>
                  <a:pt x="512" y="128"/>
                </a:cubicBezTo>
                <a:cubicBezTo>
                  <a:pt x="522" y="128"/>
                  <a:pt x="531" y="133"/>
                  <a:pt x="536" y="142"/>
                </a:cubicBezTo>
                <a:lnTo>
                  <a:pt x="631" y="305"/>
                </a:lnTo>
                <a:cubicBezTo>
                  <a:pt x="637" y="315"/>
                  <a:pt x="641" y="326"/>
                  <a:pt x="638" y="337"/>
                </a:cubicBezTo>
                <a:cubicBezTo>
                  <a:pt x="627" y="382"/>
                  <a:pt x="575" y="416"/>
                  <a:pt x="512" y="416"/>
                </a:cubicBezTo>
                <a:close/>
                <a:moveTo>
                  <a:pt x="440" y="320"/>
                </a:moveTo>
                <a:lnTo>
                  <a:pt x="584" y="320"/>
                </a:lnTo>
                <a:lnTo>
                  <a:pt x="512" y="196"/>
                </a:lnTo>
                <a:lnTo>
                  <a:pt x="440" y="320"/>
                </a:lnTo>
                <a:close/>
              </a:path>
              <a:path w="640" h="512">
                <a:moveTo>
                  <a:pt x="1" y="337"/>
                </a:moveTo>
                <a:cubicBezTo>
                  <a:pt x="-2" y="326"/>
                  <a:pt x="2" y="315"/>
                  <a:pt x="8" y="305"/>
                </a:cubicBezTo>
                <a:lnTo>
                  <a:pt x="103" y="142"/>
                </a:lnTo>
                <a:cubicBezTo>
                  <a:pt x="108" y="133"/>
                  <a:pt x="117" y="128"/>
                  <a:pt x="127" y="128"/>
                </a:cubicBezTo>
                <a:cubicBezTo>
                  <a:pt x="137" y="128"/>
                  <a:pt x="146" y="133"/>
                  <a:pt x="151" y="142"/>
                </a:cubicBezTo>
                <a:lnTo>
                  <a:pt x="246" y="305"/>
                </a:lnTo>
                <a:cubicBezTo>
                  <a:pt x="252" y="315"/>
                  <a:pt x="256" y="326"/>
                  <a:pt x="253" y="337"/>
                </a:cubicBezTo>
                <a:cubicBezTo>
                  <a:pt x="242" y="382"/>
                  <a:pt x="190" y="416"/>
                  <a:pt x="127" y="416"/>
                </a:cubicBezTo>
                <a:cubicBezTo>
                  <a:pt x="64" y="416"/>
                  <a:pt x="12" y="382"/>
                  <a:pt x="1" y="337"/>
                </a:cubicBezTo>
                <a:close/>
                <a:moveTo>
                  <a:pt x="127" y="196"/>
                </a:moveTo>
                <a:lnTo>
                  <a:pt x="54" y="320"/>
                </a:lnTo>
                <a:lnTo>
                  <a:pt x="199" y="320"/>
                </a:lnTo>
                <a:lnTo>
                  <a:pt x="127" y="19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494" name="k0-cmd">
            <a:extLst>
              <a:ext uri="{FF2B5EF4-FFF2-40B4-BE49-F238E27FC236}">
                <a16:creationId xmlns:a16="http://schemas.microsoft.com/office/drawing/2014/main" id="{D55D5F83-54AC-D826-B96B-60E44501544C}"/>
              </a:ext>
            </a:extLst>
          </p:cNvPr>
          <p:cNvSpPr txBox="1"/>
          <p:nvPr/>
        </p:nvSpPr>
        <p:spPr>
          <a:xfrm>
            <a:off x="752475" y="3265482"/>
            <a:ext cx="676275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800" b="1" noProof="1">
                <a:latin typeface="+mn-ea"/>
                <a:cs typeface="MiSans"/>
              </a:rPr>
              <a:t>constitution</a:t>
            </a:r>
            <a:endParaRPr lang="en-US" sz="800" noProof="1">
              <a:latin typeface="+mn-ea"/>
              <a:cs typeface="MiSans"/>
            </a:endParaRPr>
          </a:p>
        </p:txBody>
      </p:sp>
      <p:sp>
        <p:nvSpPr>
          <p:cNvPr id="496" name="k0-ds">
            <a:extLst>
              <a:ext uri="{FF2B5EF4-FFF2-40B4-BE49-F238E27FC236}">
                <a16:creationId xmlns:a16="http://schemas.microsoft.com/office/drawing/2014/main" id="{75B5D1DF-62C1-6FC9-E555-63B0384211A6}"/>
              </a:ext>
            </a:extLst>
          </p:cNvPr>
          <p:cNvSpPr txBox="1"/>
          <p:nvPr/>
        </p:nvSpPr>
        <p:spPr>
          <a:xfrm>
            <a:off x="752475" y="3398832"/>
            <a:ext cx="676275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>
              <a:lnSpc>
                <a:spcPct val="140000"/>
              </a:lnSpc>
            </a:pPr>
            <a:r>
              <a:rPr lang="en-US" sz="563" noProof="1">
                <a:solidFill>
                  <a:srgbClr val="6B6C74"/>
                </a:solidFill>
                <a:latin typeface="+mn-ea"/>
                <a:cs typeface="MiSans"/>
              </a:rPr>
              <a:t>建立治理原则</a:t>
            </a:r>
            <a:endParaRPr lang="en-US" sz="563" noProof="1">
              <a:solidFill>
                <a:srgbClr val="000000"/>
              </a:solidFill>
              <a:latin typeface="+mn-ea"/>
              <a:cs typeface="MiSans"/>
            </a:endParaRPr>
          </a:p>
          <a:p>
            <a:pPr defTabSz="685800">
              <a:lnSpc>
                <a:spcPct val="140000"/>
              </a:lnSpc>
            </a:pPr>
            <a:r>
              <a:rPr lang="en-US" sz="563" noProof="1">
                <a:solidFill>
                  <a:srgbClr val="6B6C74"/>
                </a:solidFill>
                <a:latin typeface="+mn-ea"/>
                <a:cs typeface="MiSans"/>
              </a:rPr>
              <a:t>与边界</a:t>
            </a:r>
            <a:endParaRPr lang="en-US" sz="563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498" name="k1-box">
            <a:extLst>
              <a:ext uri="{FF2B5EF4-FFF2-40B4-BE49-F238E27FC236}">
                <a16:creationId xmlns:a16="http://schemas.microsoft.com/office/drawing/2014/main" id="{D90D90F9-517D-2CAC-D0D5-AD008399CC74}"/>
              </a:ext>
            </a:extLst>
          </p:cNvPr>
          <p:cNvSpPr/>
          <p:nvPr/>
        </p:nvSpPr>
        <p:spPr>
          <a:xfrm>
            <a:off x="1552575" y="3217857"/>
            <a:ext cx="933450" cy="52387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chemeClr val="accent3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500" name="k1-ic">
            <a:extLst>
              <a:ext uri="{FF2B5EF4-FFF2-40B4-BE49-F238E27FC236}">
                <a16:creationId xmlns:a16="http://schemas.microsoft.com/office/drawing/2014/main" id="{298EB566-1BFE-9734-496E-8B996779960B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eyJpY29uTmFtZSI6ImZhcjpmaWxlLWxpbmVzIn0</pptd:icon>
              </p:ext>
            </p:extLst>
          </p:nvPr>
        </p:nvSpPr>
        <p:spPr>
          <a:xfrm>
            <a:off x="1638300" y="3332157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64" y="0"/>
                </a:moveTo>
                <a:cubicBezTo>
                  <a:pt x="29" y="0"/>
                  <a:pt x="0" y="29"/>
                  <a:pt x="0" y="64"/>
                </a:cubicBezTo>
                <a:lnTo>
                  <a:pt x="0" y="448"/>
                </a:lnTo>
                <a:cubicBezTo>
                  <a:pt x="0" y="483"/>
                  <a:pt x="29" y="512"/>
                  <a:pt x="64" y="512"/>
                </a:cubicBezTo>
                <a:lnTo>
                  <a:pt x="320" y="512"/>
                </a:lnTo>
                <a:cubicBezTo>
                  <a:pt x="355" y="512"/>
                  <a:pt x="384" y="483"/>
                  <a:pt x="384" y="448"/>
                </a:cubicBezTo>
                <a:lnTo>
                  <a:pt x="384" y="187"/>
                </a:lnTo>
                <a:cubicBezTo>
                  <a:pt x="384" y="170"/>
                  <a:pt x="377" y="153"/>
                  <a:pt x="365" y="141"/>
                </a:cubicBezTo>
                <a:lnTo>
                  <a:pt x="243" y="19"/>
                </a:lnTo>
                <a:cubicBezTo>
                  <a:pt x="231" y="7"/>
                  <a:pt x="215" y="0"/>
                  <a:pt x="198" y="0"/>
                </a:cubicBezTo>
                <a:lnTo>
                  <a:pt x="64" y="0"/>
                </a:lnTo>
                <a:close/>
                <a:moveTo>
                  <a:pt x="64" y="48"/>
                </a:moveTo>
                <a:lnTo>
                  <a:pt x="176" y="48"/>
                </a:lnTo>
                <a:lnTo>
                  <a:pt x="176" y="136"/>
                </a:lnTo>
                <a:cubicBezTo>
                  <a:pt x="176" y="176"/>
                  <a:pt x="208" y="208"/>
                  <a:pt x="248" y="208"/>
                </a:cubicBezTo>
                <a:lnTo>
                  <a:pt x="336" y="208"/>
                </a:lnTo>
                <a:lnTo>
                  <a:pt x="336" y="448"/>
                </a:lnTo>
                <a:cubicBezTo>
                  <a:pt x="336" y="457"/>
                  <a:pt x="329" y="464"/>
                  <a:pt x="320" y="464"/>
                </a:cubicBezTo>
                <a:lnTo>
                  <a:pt x="64" y="464"/>
                </a:lnTo>
                <a:cubicBezTo>
                  <a:pt x="55" y="464"/>
                  <a:pt x="48" y="457"/>
                  <a:pt x="48" y="448"/>
                </a:cubicBezTo>
                <a:lnTo>
                  <a:pt x="48" y="64"/>
                </a:lnTo>
                <a:cubicBezTo>
                  <a:pt x="48" y="55"/>
                  <a:pt x="55" y="48"/>
                  <a:pt x="64" y="48"/>
                </a:cubicBezTo>
                <a:close/>
                <a:moveTo>
                  <a:pt x="224" y="68"/>
                </a:moveTo>
                <a:lnTo>
                  <a:pt x="316" y="160"/>
                </a:lnTo>
                <a:lnTo>
                  <a:pt x="248" y="160"/>
                </a:lnTo>
                <a:cubicBezTo>
                  <a:pt x="235" y="160"/>
                  <a:pt x="224" y="149"/>
                  <a:pt x="224" y="136"/>
                </a:cubicBezTo>
                <a:lnTo>
                  <a:pt x="224" y="68"/>
                </a:lnTo>
                <a:close/>
              </a:path>
              <a:path w="384" h="512">
                <a:moveTo>
                  <a:pt x="120" y="256"/>
                </a:moveTo>
                <a:cubicBezTo>
                  <a:pt x="107" y="256"/>
                  <a:pt x="96" y="267"/>
                  <a:pt x="96" y="280"/>
                </a:cubicBezTo>
                <a:cubicBezTo>
                  <a:pt x="96" y="293"/>
                  <a:pt x="107" y="304"/>
                  <a:pt x="120" y="304"/>
                </a:cubicBezTo>
                <a:lnTo>
                  <a:pt x="264" y="304"/>
                </a:lnTo>
                <a:cubicBezTo>
                  <a:pt x="277" y="304"/>
                  <a:pt x="288" y="293"/>
                  <a:pt x="288" y="280"/>
                </a:cubicBezTo>
                <a:cubicBezTo>
                  <a:pt x="288" y="267"/>
                  <a:pt x="277" y="256"/>
                  <a:pt x="264" y="256"/>
                </a:cubicBezTo>
                <a:lnTo>
                  <a:pt x="120" y="256"/>
                </a:lnTo>
                <a:close/>
              </a:path>
              <a:path w="384" h="512">
                <a:moveTo>
                  <a:pt x="120" y="352"/>
                </a:moveTo>
                <a:cubicBezTo>
                  <a:pt x="107" y="352"/>
                  <a:pt x="96" y="363"/>
                  <a:pt x="96" y="376"/>
                </a:cubicBezTo>
                <a:cubicBezTo>
                  <a:pt x="96" y="389"/>
                  <a:pt x="107" y="400"/>
                  <a:pt x="120" y="400"/>
                </a:cubicBezTo>
                <a:lnTo>
                  <a:pt x="264" y="400"/>
                </a:lnTo>
                <a:cubicBezTo>
                  <a:pt x="277" y="400"/>
                  <a:pt x="288" y="389"/>
                  <a:pt x="288" y="376"/>
                </a:cubicBezTo>
                <a:cubicBezTo>
                  <a:pt x="288" y="363"/>
                  <a:pt x="277" y="352"/>
                  <a:pt x="264" y="352"/>
                </a:cubicBezTo>
                <a:lnTo>
                  <a:pt x="120" y="35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502" name="k1-cmd">
            <a:extLst>
              <a:ext uri="{FF2B5EF4-FFF2-40B4-BE49-F238E27FC236}">
                <a16:creationId xmlns:a16="http://schemas.microsoft.com/office/drawing/2014/main" id="{106AED30-6F8B-5223-5229-07FFF8AFE1AF}"/>
              </a:ext>
            </a:extLst>
          </p:cNvPr>
          <p:cNvSpPr txBox="1"/>
          <p:nvPr/>
        </p:nvSpPr>
        <p:spPr>
          <a:xfrm>
            <a:off x="1819275" y="3265482"/>
            <a:ext cx="619125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800" b="1" noProof="1">
                <a:latin typeface="+mn-ea"/>
                <a:cs typeface="MiSans"/>
              </a:rPr>
              <a:t>specify</a:t>
            </a:r>
            <a:endParaRPr lang="en-US" sz="800" noProof="1">
              <a:latin typeface="+mn-ea"/>
              <a:cs typeface="MiSans"/>
            </a:endParaRPr>
          </a:p>
        </p:txBody>
      </p:sp>
      <p:sp>
        <p:nvSpPr>
          <p:cNvPr id="504" name="k1-ds">
            <a:extLst>
              <a:ext uri="{FF2B5EF4-FFF2-40B4-BE49-F238E27FC236}">
                <a16:creationId xmlns:a16="http://schemas.microsoft.com/office/drawing/2014/main" id="{9DCA9F71-D8CA-FA2D-45D2-01F8D1467372}"/>
              </a:ext>
            </a:extLst>
          </p:cNvPr>
          <p:cNvSpPr txBox="1"/>
          <p:nvPr/>
        </p:nvSpPr>
        <p:spPr>
          <a:xfrm>
            <a:off x="1819275" y="3398832"/>
            <a:ext cx="619125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>
              <a:lnSpc>
                <a:spcPct val="140000"/>
              </a:lnSpc>
            </a:pPr>
            <a:r>
              <a:rPr lang="en-US" sz="563" noProof="1">
                <a:solidFill>
                  <a:srgbClr val="6B6C74"/>
                </a:solidFill>
                <a:latin typeface="+mn-ea"/>
                <a:cs typeface="MiSans"/>
              </a:rPr>
              <a:t>结构化需求与</a:t>
            </a:r>
            <a:endParaRPr lang="en-US" sz="563" noProof="1">
              <a:solidFill>
                <a:srgbClr val="000000"/>
              </a:solidFill>
              <a:latin typeface="+mn-ea"/>
              <a:cs typeface="MiSans"/>
            </a:endParaRPr>
          </a:p>
          <a:p>
            <a:pPr defTabSz="685800">
              <a:lnSpc>
                <a:spcPct val="140000"/>
              </a:lnSpc>
            </a:pPr>
            <a:r>
              <a:rPr lang="en-US" sz="563" noProof="1">
                <a:solidFill>
                  <a:srgbClr val="6B6C74"/>
                </a:solidFill>
                <a:latin typeface="+mn-ea"/>
                <a:cs typeface="MiSans"/>
              </a:rPr>
              <a:t>验收标准</a:t>
            </a:r>
            <a:endParaRPr lang="en-US" sz="563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506" name="k2-box">
            <a:extLst>
              <a:ext uri="{FF2B5EF4-FFF2-40B4-BE49-F238E27FC236}">
                <a16:creationId xmlns:a16="http://schemas.microsoft.com/office/drawing/2014/main" id="{663C90B8-4791-2308-DD77-11E2CF025B6F}"/>
              </a:ext>
            </a:extLst>
          </p:cNvPr>
          <p:cNvSpPr/>
          <p:nvPr/>
        </p:nvSpPr>
        <p:spPr>
          <a:xfrm>
            <a:off x="2581275" y="3217857"/>
            <a:ext cx="923925" cy="52387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chemeClr val="accent3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508" name="k2-ic">
            <a:extLst>
              <a:ext uri="{FF2B5EF4-FFF2-40B4-BE49-F238E27FC236}">
                <a16:creationId xmlns:a16="http://schemas.microsoft.com/office/drawing/2014/main" id="{A8D3BB51-09DC-F098-6210-0CCDE9BDE90F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eyJpY29uTmFtZSI6ImZhcjpjaXJjbGUtcXVlc3Rpb24ifQ</pptd:icon>
              </p:ext>
            </p:extLst>
          </p:nvPr>
        </p:nvSpPr>
        <p:spPr>
          <a:xfrm>
            <a:off x="2667000" y="3332157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0" y="256"/>
                </a:move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ubicBezTo>
                  <a:pt x="115" y="512"/>
                  <a:pt x="0" y="397"/>
                  <a:pt x="0" y="256"/>
                </a:cubicBezTo>
                <a:close/>
                <a:moveTo>
                  <a:pt x="464" y="256"/>
                </a:moveTo>
                <a:cubicBezTo>
                  <a:pt x="464" y="141"/>
                  <a:pt x="371" y="48"/>
                  <a:pt x="256" y="48"/>
                </a:cubicBezTo>
                <a:cubicBezTo>
                  <a:pt x="141" y="48"/>
                  <a:pt x="48" y="141"/>
                  <a:pt x="48" y="256"/>
                </a:cubicBezTo>
                <a:cubicBezTo>
                  <a:pt x="48" y="371"/>
                  <a:pt x="141" y="464"/>
                  <a:pt x="256" y="464"/>
                </a:cubicBezTo>
                <a:cubicBezTo>
                  <a:pt x="371" y="464"/>
                  <a:pt x="464" y="371"/>
                  <a:pt x="464" y="256"/>
                </a:cubicBezTo>
                <a:close/>
              </a:path>
              <a:path w="512" h="512">
                <a:moveTo>
                  <a:pt x="256" y="176"/>
                </a:moveTo>
                <a:cubicBezTo>
                  <a:pt x="238" y="176"/>
                  <a:pt x="224" y="190"/>
                  <a:pt x="224" y="208"/>
                </a:cubicBezTo>
                <a:cubicBezTo>
                  <a:pt x="224" y="221"/>
                  <a:pt x="213" y="232"/>
                  <a:pt x="200" y="232"/>
                </a:cubicBezTo>
                <a:cubicBezTo>
                  <a:pt x="187" y="232"/>
                  <a:pt x="176" y="221"/>
                  <a:pt x="176" y="208"/>
                </a:cubicBezTo>
                <a:cubicBezTo>
                  <a:pt x="176" y="164"/>
                  <a:pt x="212" y="128"/>
                  <a:pt x="256" y="128"/>
                </a:cubicBezTo>
                <a:cubicBezTo>
                  <a:pt x="300" y="128"/>
                  <a:pt x="336" y="164"/>
                  <a:pt x="336" y="208"/>
                </a:cubicBezTo>
                <a:cubicBezTo>
                  <a:pt x="336" y="255"/>
                  <a:pt x="300" y="275"/>
                  <a:pt x="280" y="283"/>
                </a:cubicBezTo>
                <a:lnTo>
                  <a:pt x="280" y="286"/>
                </a:lnTo>
                <a:cubicBezTo>
                  <a:pt x="280" y="300"/>
                  <a:pt x="269" y="310"/>
                  <a:pt x="256" y="310"/>
                </a:cubicBezTo>
                <a:cubicBezTo>
                  <a:pt x="243" y="310"/>
                  <a:pt x="232" y="300"/>
                  <a:pt x="232" y="286"/>
                </a:cubicBezTo>
                <a:lnTo>
                  <a:pt x="232" y="278"/>
                </a:lnTo>
                <a:cubicBezTo>
                  <a:pt x="232" y="258"/>
                  <a:pt x="247" y="243"/>
                  <a:pt x="262" y="238"/>
                </a:cubicBezTo>
                <a:cubicBezTo>
                  <a:pt x="269" y="236"/>
                  <a:pt x="275" y="233"/>
                  <a:pt x="280" y="228"/>
                </a:cubicBezTo>
                <a:cubicBezTo>
                  <a:pt x="285" y="224"/>
                  <a:pt x="288" y="218"/>
                  <a:pt x="288" y="208"/>
                </a:cubicBezTo>
                <a:cubicBezTo>
                  <a:pt x="288" y="190"/>
                  <a:pt x="274" y="176"/>
                  <a:pt x="256" y="176"/>
                </a:cubicBezTo>
                <a:close/>
              </a:path>
              <a:path w="512" h="512">
                <a:moveTo>
                  <a:pt x="224" y="368"/>
                </a:moveTo>
                <a:cubicBezTo>
                  <a:pt x="224" y="350"/>
                  <a:pt x="238" y="336"/>
                  <a:pt x="256" y="336"/>
                </a:cubicBezTo>
                <a:cubicBezTo>
                  <a:pt x="274" y="336"/>
                  <a:pt x="288" y="350"/>
                  <a:pt x="288" y="368"/>
                </a:cubicBezTo>
                <a:cubicBezTo>
                  <a:pt x="288" y="386"/>
                  <a:pt x="274" y="400"/>
                  <a:pt x="256" y="400"/>
                </a:cubicBezTo>
                <a:cubicBezTo>
                  <a:pt x="238" y="400"/>
                  <a:pt x="224" y="386"/>
                  <a:pt x="224" y="36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510" name="k2-cmd">
            <a:extLst>
              <a:ext uri="{FF2B5EF4-FFF2-40B4-BE49-F238E27FC236}">
                <a16:creationId xmlns:a16="http://schemas.microsoft.com/office/drawing/2014/main" id="{50BA7B7A-00F7-8473-5D40-E9BF4D50BAAD}"/>
              </a:ext>
            </a:extLst>
          </p:cNvPr>
          <p:cNvSpPr txBox="1"/>
          <p:nvPr/>
        </p:nvSpPr>
        <p:spPr>
          <a:xfrm>
            <a:off x="2847975" y="3265482"/>
            <a:ext cx="609600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800" b="1" noProof="1">
                <a:latin typeface="+mn-ea"/>
                <a:cs typeface="MiSans"/>
              </a:rPr>
              <a:t>clarify</a:t>
            </a:r>
            <a:endParaRPr lang="en-US" sz="800" noProof="1">
              <a:latin typeface="+mn-ea"/>
              <a:cs typeface="MiSans"/>
            </a:endParaRPr>
          </a:p>
        </p:txBody>
      </p:sp>
      <p:sp>
        <p:nvSpPr>
          <p:cNvPr id="512" name="k2-ds">
            <a:extLst>
              <a:ext uri="{FF2B5EF4-FFF2-40B4-BE49-F238E27FC236}">
                <a16:creationId xmlns:a16="http://schemas.microsoft.com/office/drawing/2014/main" id="{81515D7C-8750-05E9-B811-3B61CC7CE7E8}"/>
              </a:ext>
            </a:extLst>
          </p:cNvPr>
          <p:cNvSpPr txBox="1"/>
          <p:nvPr/>
        </p:nvSpPr>
        <p:spPr>
          <a:xfrm>
            <a:off x="2847975" y="3398832"/>
            <a:ext cx="6096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>
              <a:lnSpc>
                <a:spcPct val="140000"/>
              </a:lnSpc>
            </a:pPr>
            <a:r>
              <a:rPr lang="en-US" sz="563" noProof="1">
                <a:solidFill>
                  <a:srgbClr val="6B6C74"/>
                </a:solidFill>
                <a:latin typeface="+mn-ea"/>
                <a:cs typeface="MiSans"/>
              </a:rPr>
              <a:t>澄清歧义与</a:t>
            </a:r>
            <a:endParaRPr lang="en-US" sz="563" noProof="1">
              <a:solidFill>
                <a:srgbClr val="000000"/>
              </a:solidFill>
              <a:latin typeface="+mn-ea"/>
              <a:cs typeface="MiSans"/>
            </a:endParaRPr>
          </a:p>
          <a:p>
            <a:pPr defTabSz="685800">
              <a:lnSpc>
                <a:spcPct val="140000"/>
              </a:lnSpc>
            </a:pPr>
            <a:r>
              <a:rPr lang="en-US" sz="563" noProof="1">
                <a:solidFill>
                  <a:srgbClr val="6B6C74"/>
                </a:solidFill>
                <a:latin typeface="+mn-ea"/>
                <a:cs typeface="MiSans"/>
              </a:rPr>
              <a:t>反向提问</a:t>
            </a:r>
            <a:endParaRPr lang="en-US" sz="563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514" name="k3-box">
            <a:extLst>
              <a:ext uri="{FF2B5EF4-FFF2-40B4-BE49-F238E27FC236}">
                <a16:creationId xmlns:a16="http://schemas.microsoft.com/office/drawing/2014/main" id="{A297DFB8-9F36-B960-C3AD-CDE3F5DA72DB}"/>
              </a:ext>
            </a:extLst>
          </p:cNvPr>
          <p:cNvSpPr/>
          <p:nvPr/>
        </p:nvSpPr>
        <p:spPr>
          <a:xfrm>
            <a:off x="3590925" y="3217857"/>
            <a:ext cx="933450" cy="52387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chemeClr val="accent3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516" name="k3-ic">
            <a:extLst>
              <a:ext uri="{FF2B5EF4-FFF2-40B4-BE49-F238E27FC236}">
                <a16:creationId xmlns:a16="http://schemas.microsoft.com/office/drawing/2014/main" id="{7EA32F22-5299-E3E6-B672-744E5F0FAAA2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eyJpY29uTmFtZSI6ImZhczpkaWNlLWZvdXIifQ</pptd:icon>
              </p:ext>
            </p:extLst>
          </p:nvPr>
        </p:nvSpPr>
        <p:spPr>
          <a:xfrm>
            <a:off x="3676650" y="3332157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0" y="96"/>
                </a:moveTo>
                <a:cubicBezTo>
                  <a:pt x="0" y="61"/>
                  <a:pt x="29" y="32"/>
                  <a:pt x="64" y="32"/>
                </a:cubicBezTo>
                <a:lnTo>
                  <a:pt x="384" y="32"/>
                </a:lnTo>
                <a:cubicBezTo>
                  <a:pt x="419" y="32"/>
                  <a:pt x="448" y="61"/>
                  <a:pt x="448" y="96"/>
                </a:cubicBezTo>
                <a:lnTo>
                  <a:pt x="448" y="416"/>
                </a:lnTo>
                <a:cubicBezTo>
                  <a:pt x="448" y="451"/>
                  <a:pt x="419" y="480"/>
                  <a:pt x="384" y="480"/>
                </a:cubicBezTo>
                <a:lnTo>
                  <a:pt x="64" y="480"/>
                </a:lnTo>
                <a:cubicBezTo>
                  <a:pt x="29" y="480"/>
                  <a:pt x="0" y="451"/>
                  <a:pt x="0" y="416"/>
                </a:cubicBezTo>
                <a:lnTo>
                  <a:pt x="0" y="96"/>
                </a:lnTo>
                <a:close/>
                <a:moveTo>
                  <a:pt x="160" y="160"/>
                </a:moveTo>
                <a:cubicBezTo>
                  <a:pt x="160" y="142"/>
                  <a:pt x="146" y="128"/>
                  <a:pt x="128" y="128"/>
                </a:cubicBezTo>
                <a:cubicBezTo>
                  <a:pt x="110" y="128"/>
                  <a:pt x="96" y="142"/>
                  <a:pt x="96" y="160"/>
                </a:cubicBezTo>
                <a:cubicBezTo>
                  <a:pt x="96" y="178"/>
                  <a:pt x="110" y="192"/>
                  <a:pt x="128" y="192"/>
                </a:cubicBezTo>
                <a:cubicBezTo>
                  <a:pt x="146" y="192"/>
                  <a:pt x="160" y="178"/>
                  <a:pt x="160" y="160"/>
                </a:cubicBezTo>
                <a:close/>
                <a:moveTo>
                  <a:pt x="128" y="384"/>
                </a:moveTo>
                <a:cubicBezTo>
                  <a:pt x="146" y="384"/>
                  <a:pt x="160" y="370"/>
                  <a:pt x="160" y="352"/>
                </a:cubicBezTo>
                <a:cubicBezTo>
                  <a:pt x="160" y="334"/>
                  <a:pt x="146" y="320"/>
                  <a:pt x="128" y="320"/>
                </a:cubicBezTo>
                <a:cubicBezTo>
                  <a:pt x="110" y="320"/>
                  <a:pt x="96" y="334"/>
                  <a:pt x="96" y="352"/>
                </a:cubicBezTo>
                <a:cubicBezTo>
                  <a:pt x="96" y="370"/>
                  <a:pt x="110" y="384"/>
                  <a:pt x="128" y="384"/>
                </a:cubicBezTo>
                <a:close/>
                <a:moveTo>
                  <a:pt x="352" y="160"/>
                </a:moveTo>
                <a:cubicBezTo>
                  <a:pt x="352" y="142"/>
                  <a:pt x="338" y="128"/>
                  <a:pt x="320" y="128"/>
                </a:cubicBezTo>
                <a:cubicBezTo>
                  <a:pt x="302" y="128"/>
                  <a:pt x="288" y="142"/>
                  <a:pt x="288" y="160"/>
                </a:cubicBezTo>
                <a:cubicBezTo>
                  <a:pt x="288" y="178"/>
                  <a:pt x="302" y="192"/>
                  <a:pt x="320" y="192"/>
                </a:cubicBezTo>
                <a:cubicBezTo>
                  <a:pt x="338" y="192"/>
                  <a:pt x="352" y="178"/>
                  <a:pt x="352" y="160"/>
                </a:cubicBezTo>
                <a:close/>
                <a:moveTo>
                  <a:pt x="320" y="384"/>
                </a:moveTo>
                <a:cubicBezTo>
                  <a:pt x="338" y="384"/>
                  <a:pt x="352" y="370"/>
                  <a:pt x="352" y="352"/>
                </a:cubicBezTo>
                <a:cubicBezTo>
                  <a:pt x="352" y="334"/>
                  <a:pt x="338" y="320"/>
                  <a:pt x="320" y="320"/>
                </a:cubicBezTo>
                <a:cubicBezTo>
                  <a:pt x="302" y="320"/>
                  <a:pt x="288" y="334"/>
                  <a:pt x="288" y="352"/>
                </a:cubicBezTo>
                <a:cubicBezTo>
                  <a:pt x="288" y="370"/>
                  <a:pt x="302" y="384"/>
                  <a:pt x="320" y="38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518" name="k3-cmd">
            <a:extLst>
              <a:ext uri="{FF2B5EF4-FFF2-40B4-BE49-F238E27FC236}">
                <a16:creationId xmlns:a16="http://schemas.microsoft.com/office/drawing/2014/main" id="{9F0B9CC4-6B73-A27C-DD6E-BD262393F2E6}"/>
              </a:ext>
            </a:extLst>
          </p:cNvPr>
          <p:cNvSpPr txBox="1"/>
          <p:nvPr/>
        </p:nvSpPr>
        <p:spPr>
          <a:xfrm>
            <a:off x="3857625" y="3265482"/>
            <a:ext cx="619125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800" b="1" noProof="1">
                <a:latin typeface="+mn-ea"/>
                <a:cs typeface="MiSans"/>
              </a:rPr>
              <a:t>plan</a:t>
            </a:r>
            <a:endParaRPr lang="en-US" sz="800" noProof="1">
              <a:latin typeface="+mn-ea"/>
              <a:cs typeface="MiSans"/>
            </a:endParaRPr>
          </a:p>
        </p:txBody>
      </p:sp>
      <p:sp>
        <p:nvSpPr>
          <p:cNvPr id="520" name="k3-ds">
            <a:extLst>
              <a:ext uri="{FF2B5EF4-FFF2-40B4-BE49-F238E27FC236}">
                <a16:creationId xmlns:a16="http://schemas.microsoft.com/office/drawing/2014/main" id="{E7305F9D-F614-73AD-7646-1779FE5C55A4}"/>
              </a:ext>
            </a:extLst>
          </p:cNvPr>
          <p:cNvSpPr txBox="1"/>
          <p:nvPr/>
        </p:nvSpPr>
        <p:spPr>
          <a:xfrm>
            <a:off x="3857625" y="3398832"/>
            <a:ext cx="619125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>
              <a:lnSpc>
                <a:spcPct val="140000"/>
              </a:lnSpc>
            </a:pPr>
            <a:r>
              <a:rPr lang="en-US" sz="563" noProof="1">
                <a:solidFill>
                  <a:srgbClr val="6B6C74"/>
                </a:solidFill>
                <a:latin typeface="+mn-ea"/>
                <a:cs typeface="MiSans"/>
              </a:rPr>
              <a:t>生成技术方案</a:t>
            </a:r>
            <a:endParaRPr lang="en-US" sz="563" noProof="1">
              <a:solidFill>
                <a:srgbClr val="000000"/>
              </a:solidFill>
              <a:latin typeface="+mn-ea"/>
              <a:cs typeface="MiSans"/>
            </a:endParaRPr>
          </a:p>
          <a:p>
            <a:pPr defTabSz="685800">
              <a:lnSpc>
                <a:spcPct val="140000"/>
              </a:lnSpc>
            </a:pPr>
            <a:r>
              <a:rPr lang="en-US" sz="563" noProof="1">
                <a:solidFill>
                  <a:srgbClr val="6B6C74"/>
                </a:solidFill>
                <a:latin typeface="+mn-ea"/>
                <a:cs typeface="MiSans"/>
              </a:rPr>
              <a:t>与执行计划</a:t>
            </a:r>
            <a:endParaRPr lang="en-US" sz="563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522" name="k4-box">
            <a:extLst>
              <a:ext uri="{FF2B5EF4-FFF2-40B4-BE49-F238E27FC236}">
                <a16:creationId xmlns:a16="http://schemas.microsoft.com/office/drawing/2014/main" id="{712DB527-AB1E-B19C-5C91-F3EAB23996F3}"/>
              </a:ext>
            </a:extLst>
          </p:cNvPr>
          <p:cNvSpPr/>
          <p:nvPr/>
        </p:nvSpPr>
        <p:spPr>
          <a:xfrm>
            <a:off x="4610100" y="3217857"/>
            <a:ext cx="942975" cy="52387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chemeClr val="accent3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524" name="k4-ic">
            <a:extLst>
              <a:ext uri="{FF2B5EF4-FFF2-40B4-BE49-F238E27FC236}">
                <a16:creationId xmlns:a16="http://schemas.microsoft.com/office/drawing/2014/main" id="{A8F3A92F-8BA1-63F5-FCFC-0BC95C88E068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eyJpY29uTmFtZSI6ImZhczpsaXN0LWNoZWNrIn0</pptd:icon>
              </p:ext>
            </p:extLst>
          </p:nvPr>
        </p:nvSpPr>
        <p:spPr>
          <a:xfrm>
            <a:off x="4695825" y="3332157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34" y="36"/>
                </a:moveTo>
                <a:cubicBezTo>
                  <a:pt x="145" y="44"/>
                  <a:pt x="147" y="59"/>
                  <a:pt x="140" y="70"/>
                </a:cubicBezTo>
                <a:lnTo>
                  <a:pt x="84" y="150"/>
                </a:lnTo>
                <a:cubicBezTo>
                  <a:pt x="80" y="156"/>
                  <a:pt x="73" y="159"/>
                  <a:pt x="66" y="160"/>
                </a:cubicBezTo>
                <a:cubicBezTo>
                  <a:pt x="59" y="160"/>
                  <a:pt x="52" y="158"/>
                  <a:pt x="47" y="153"/>
                </a:cubicBezTo>
                <a:lnTo>
                  <a:pt x="7" y="113"/>
                </a:lnTo>
                <a:cubicBezTo>
                  <a:pt x="-2" y="104"/>
                  <a:pt x="-2" y="88"/>
                  <a:pt x="7" y="79"/>
                </a:cubicBezTo>
                <a:cubicBezTo>
                  <a:pt x="16" y="70"/>
                  <a:pt x="32" y="70"/>
                  <a:pt x="41" y="79"/>
                </a:cubicBezTo>
                <a:lnTo>
                  <a:pt x="61" y="99"/>
                </a:lnTo>
                <a:lnTo>
                  <a:pt x="100" y="42"/>
                </a:lnTo>
                <a:cubicBezTo>
                  <a:pt x="108" y="31"/>
                  <a:pt x="123" y="29"/>
                  <a:pt x="134" y="36"/>
                </a:cubicBezTo>
                <a:close/>
              </a:path>
              <a:path w="512" h="512">
                <a:moveTo>
                  <a:pt x="134" y="196"/>
                </a:moveTo>
                <a:cubicBezTo>
                  <a:pt x="145" y="204"/>
                  <a:pt x="147" y="219"/>
                  <a:pt x="140" y="230"/>
                </a:cubicBezTo>
                <a:lnTo>
                  <a:pt x="84" y="310"/>
                </a:lnTo>
                <a:cubicBezTo>
                  <a:pt x="80" y="316"/>
                  <a:pt x="73" y="319"/>
                  <a:pt x="66" y="320"/>
                </a:cubicBezTo>
                <a:cubicBezTo>
                  <a:pt x="59" y="320"/>
                  <a:pt x="52" y="318"/>
                  <a:pt x="47" y="313"/>
                </a:cubicBezTo>
                <a:lnTo>
                  <a:pt x="7" y="273"/>
                </a:lnTo>
                <a:cubicBezTo>
                  <a:pt x="-2" y="264"/>
                  <a:pt x="-2" y="248"/>
                  <a:pt x="7" y="239"/>
                </a:cubicBezTo>
                <a:cubicBezTo>
                  <a:pt x="16" y="230"/>
                  <a:pt x="32" y="230"/>
                  <a:pt x="41" y="239"/>
                </a:cubicBezTo>
                <a:lnTo>
                  <a:pt x="61" y="259"/>
                </a:lnTo>
                <a:lnTo>
                  <a:pt x="100" y="202"/>
                </a:lnTo>
                <a:cubicBezTo>
                  <a:pt x="108" y="191"/>
                  <a:pt x="123" y="189"/>
                  <a:pt x="134" y="196"/>
                </a:cubicBezTo>
                <a:close/>
              </a:path>
              <a:path w="512" h="512">
                <a:moveTo>
                  <a:pt x="224" y="96"/>
                </a:moveTo>
                <a:cubicBezTo>
                  <a:pt x="224" y="78"/>
                  <a:pt x="238" y="64"/>
                  <a:pt x="256" y="64"/>
                </a:cubicBezTo>
                <a:lnTo>
                  <a:pt x="480" y="64"/>
                </a:lnTo>
                <a:cubicBezTo>
                  <a:pt x="498" y="64"/>
                  <a:pt x="512" y="78"/>
                  <a:pt x="512" y="96"/>
                </a:cubicBezTo>
                <a:cubicBezTo>
                  <a:pt x="512" y="114"/>
                  <a:pt x="498" y="128"/>
                  <a:pt x="480" y="128"/>
                </a:cubicBezTo>
                <a:lnTo>
                  <a:pt x="256" y="128"/>
                </a:lnTo>
                <a:cubicBezTo>
                  <a:pt x="238" y="128"/>
                  <a:pt x="224" y="114"/>
                  <a:pt x="224" y="96"/>
                </a:cubicBezTo>
                <a:close/>
              </a:path>
              <a:path w="512" h="512">
                <a:moveTo>
                  <a:pt x="224" y="256"/>
                </a:moveTo>
                <a:cubicBezTo>
                  <a:pt x="224" y="238"/>
                  <a:pt x="238" y="224"/>
                  <a:pt x="256" y="224"/>
                </a:cubicBezTo>
                <a:lnTo>
                  <a:pt x="480" y="224"/>
                </a:lnTo>
                <a:cubicBezTo>
                  <a:pt x="498" y="224"/>
                  <a:pt x="512" y="238"/>
                  <a:pt x="512" y="256"/>
                </a:cubicBezTo>
                <a:cubicBezTo>
                  <a:pt x="512" y="274"/>
                  <a:pt x="498" y="288"/>
                  <a:pt x="480" y="288"/>
                </a:cubicBezTo>
                <a:lnTo>
                  <a:pt x="256" y="288"/>
                </a:lnTo>
                <a:cubicBezTo>
                  <a:pt x="238" y="288"/>
                  <a:pt x="224" y="274"/>
                  <a:pt x="224" y="256"/>
                </a:cubicBezTo>
                <a:close/>
              </a:path>
              <a:path w="512" h="512">
                <a:moveTo>
                  <a:pt x="160" y="416"/>
                </a:moveTo>
                <a:cubicBezTo>
                  <a:pt x="160" y="398"/>
                  <a:pt x="174" y="384"/>
                  <a:pt x="192" y="384"/>
                </a:cubicBezTo>
                <a:lnTo>
                  <a:pt x="480" y="384"/>
                </a:lnTo>
                <a:cubicBezTo>
                  <a:pt x="498" y="384"/>
                  <a:pt x="512" y="398"/>
                  <a:pt x="512" y="416"/>
                </a:cubicBezTo>
                <a:cubicBezTo>
                  <a:pt x="512" y="434"/>
                  <a:pt x="498" y="448"/>
                  <a:pt x="480" y="448"/>
                </a:cubicBezTo>
                <a:lnTo>
                  <a:pt x="192" y="448"/>
                </a:lnTo>
                <a:cubicBezTo>
                  <a:pt x="174" y="448"/>
                  <a:pt x="160" y="434"/>
                  <a:pt x="160" y="416"/>
                </a:cubicBezTo>
                <a:close/>
              </a:path>
              <a:path w="512" h="512">
                <a:moveTo>
                  <a:pt x="64" y="376"/>
                </a:moveTo>
                <a:cubicBezTo>
                  <a:pt x="86" y="376"/>
                  <a:pt x="104" y="394"/>
                  <a:pt x="104" y="416"/>
                </a:cubicBezTo>
                <a:cubicBezTo>
                  <a:pt x="104" y="438"/>
                  <a:pt x="86" y="456"/>
                  <a:pt x="64" y="456"/>
                </a:cubicBezTo>
                <a:cubicBezTo>
                  <a:pt x="42" y="456"/>
                  <a:pt x="24" y="438"/>
                  <a:pt x="24" y="416"/>
                </a:cubicBezTo>
                <a:cubicBezTo>
                  <a:pt x="24" y="394"/>
                  <a:pt x="42" y="376"/>
                  <a:pt x="64" y="376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526" name="k4-cmd">
            <a:extLst>
              <a:ext uri="{FF2B5EF4-FFF2-40B4-BE49-F238E27FC236}">
                <a16:creationId xmlns:a16="http://schemas.microsoft.com/office/drawing/2014/main" id="{E9044F13-30D7-E8C1-5BB0-641C627558D0}"/>
              </a:ext>
            </a:extLst>
          </p:cNvPr>
          <p:cNvSpPr txBox="1"/>
          <p:nvPr/>
        </p:nvSpPr>
        <p:spPr>
          <a:xfrm>
            <a:off x="4876800" y="3265482"/>
            <a:ext cx="628650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800" b="1" noProof="1">
                <a:latin typeface="+mn-ea"/>
                <a:cs typeface="MiSans"/>
              </a:rPr>
              <a:t>tasks</a:t>
            </a:r>
            <a:endParaRPr lang="en-US" sz="800" noProof="1">
              <a:latin typeface="+mn-ea"/>
              <a:cs typeface="MiSans"/>
            </a:endParaRPr>
          </a:p>
        </p:txBody>
      </p:sp>
      <p:sp>
        <p:nvSpPr>
          <p:cNvPr id="528" name="k4-ds">
            <a:extLst>
              <a:ext uri="{FF2B5EF4-FFF2-40B4-BE49-F238E27FC236}">
                <a16:creationId xmlns:a16="http://schemas.microsoft.com/office/drawing/2014/main" id="{8393E2FF-A669-6B89-1747-27367313F99A}"/>
              </a:ext>
            </a:extLst>
          </p:cNvPr>
          <p:cNvSpPr txBox="1"/>
          <p:nvPr/>
        </p:nvSpPr>
        <p:spPr>
          <a:xfrm>
            <a:off x="4876800" y="3398832"/>
            <a:ext cx="62865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>
              <a:lnSpc>
                <a:spcPct val="140000"/>
              </a:lnSpc>
            </a:pPr>
            <a:r>
              <a:rPr lang="en-US" sz="563" noProof="1">
                <a:solidFill>
                  <a:srgbClr val="6B6C74"/>
                </a:solidFill>
                <a:latin typeface="+mn-ea"/>
                <a:cs typeface="MiSans"/>
              </a:rPr>
              <a:t>生成任务清单</a:t>
            </a:r>
            <a:endParaRPr lang="en-US" sz="563" noProof="1">
              <a:solidFill>
                <a:srgbClr val="000000"/>
              </a:solidFill>
              <a:latin typeface="+mn-ea"/>
              <a:cs typeface="MiSans"/>
            </a:endParaRPr>
          </a:p>
          <a:p>
            <a:pPr defTabSz="685800">
              <a:lnSpc>
                <a:spcPct val="140000"/>
              </a:lnSpc>
            </a:pPr>
            <a:r>
              <a:rPr lang="en-US" sz="563" noProof="1">
                <a:solidFill>
                  <a:srgbClr val="6B6C74"/>
                </a:solidFill>
                <a:latin typeface="+mn-ea"/>
                <a:cs typeface="MiSans"/>
              </a:rPr>
              <a:t>与依赖关系</a:t>
            </a:r>
            <a:endParaRPr lang="en-US" sz="563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530" name="k5-box">
            <a:extLst>
              <a:ext uri="{FF2B5EF4-FFF2-40B4-BE49-F238E27FC236}">
                <a16:creationId xmlns:a16="http://schemas.microsoft.com/office/drawing/2014/main" id="{BBB0E618-EA3C-91C3-EC77-984C7754A02F}"/>
              </a:ext>
            </a:extLst>
          </p:cNvPr>
          <p:cNvSpPr/>
          <p:nvPr/>
        </p:nvSpPr>
        <p:spPr>
          <a:xfrm>
            <a:off x="5638800" y="3217857"/>
            <a:ext cx="933450" cy="52387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chemeClr val="accent3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532" name="k5-ic">
            <a:extLst>
              <a:ext uri="{FF2B5EF4-FFF2-40B4-BE49-F238E27FC236}">
                <a16:creationId xmlns:a16="http://schemas.microsoft.com/office/drawing/2014/main" id="{DA60760D-C1C0-1D9A-EA45-6636E8767720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eyJpY29uTmFtZSI6ImZhczptYWduaWZ5aW5nLWdsYXNzIn0</pptd:icon>
              </p:ext>
            </p:extLst>
          </p:nvPr>
        </p:nvSpPr>
        <p:spPr>
          <a:xfrm>
            <a:off x="5724525" y="3332157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416" y="208"/>
                </a:moveTo>
                <a:cubicBezTo>
                  <a:pt x="416" y="254"/>
                  <a:pt x="401" y="296"/>
                  <a:pt x="376" y="331"/>
                </a:cubicBezTo>
                <a:lnTo>
                  <a:pt x="503" y="457"/>
                </a:lnTo>
                <a:cubicBezTo>
                  <a:pt x="515" y="470"/>
                  <a:pt x="515" y="490"/>
                  <a:pt x="503" y="503"/>
                </a:cubicBezTo>
                <a:cubicBezTo>
                  <a:pt x="490" y="515"/>
                  <a:pt x="470" y="515"/>
                  <a:pt x="457" y="503"/>
                </a:cubicBezTo>
                <a:lnTo>
                  <a:pt x="331" y="376"/>
                </a:lnTo>
                <a:cubicBezTo>
                  <a:pt x="296" y="401"/>
                  <a:pt x="254" y="416"/>
                  <a:pt x="208" y="416"/>
                </a:cubicBezTo>
                <a:cubicBezTo>
                  <a:pt x="93" y="416"/>
                  <a:pt x="0" y="323"/>
                  <a:pt x="0" y="208"/>
                </a:cubicBezTo>
                <a:cubicBezTo>
                  <a:pt x="0" y="93"/>
                  <a:pt x="93" y="0"/>
                  <a:pt x="208" y="0"/>
                </a:cubicBezTo>
                <a:cubicBezTo>
                  <a:pt x="323" y="0"/>
                  <a:pt x="416" y="93"/>
                  <a:pt x="416" y="208"/>
                </a:cubicBezTo>
                <a:close/>
                <a:moveTo>
                  <a:pt x="208" y="352"/>
                </a:moveTo>
                <a:cubicBezTo>
                  <a:pt x="288" y="352"/>
                  <a:pt x="352" y="288"/>
                  <a:pt x="352" y="208"/>
                </a:cubicBezTo>
                <a:cubicBezTo>
                  <a:pt x="352" y="128"/>
                  <a:pt x="288" y="64"/>
                  <a:pt x="208" y="64"/>
                </a:cubicBezTo>
                <a:cubicBezTo>
                  <a:pt x="128" y="64"/>
                  <a:pt x="64" y="128"/>
                  <a:pt x="64" y="208"/>
                </a:cubicBezTo>
                <a:cubicBezTo>
                  <a:pt x="64" y="288"/>
                  <a:pt x="128" y="352"/>
                  <a:pt x="208" y="35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534" name="k5-cmd">
            <a:extLst>
              <a:ext uri="{FF2B5EF4-FFF2-40B4-BE49-F238E27FC236}">
                <a16:creationId xmlns:a16="http://schemas.microsoft.com/office/drawing/2014/main" id="{D3C5C92E-5343-D883-EEA7-E3C404C47041}"/>
              </a:ext>
            </a:extLst>
          </p:cNvPr>
          <p:cNvSpPr txBox="1"/>
          <p:nvPr/>
        </p:nvSpPr>
        <p:spPr>
          <a:xfrm>
            <a:off x="5905500" y="3265482"/>
            <a:ext cx="619125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800" b="1" noProof="1">
                <a:latin typeface="+mn-ea"/>
                <a:cs typeface="MiSans"/>
              </a:rPr>
              <a:t>analyze</a:t>
            </a:r>
            <a:endParaRPr lang="en-US" sz="800" noProof="1">
              <a:latin typeface="+mn-ea"/>
              <a:cs typeface="MiSans"/>
            </a:endParaRPr>
          </a:p>
        </p:txBody>
      </p:sp>
      <p:sp>
        <p:nvSpPr>
          <p:cNvPr id="536" name="k5-ds">
            <a:extLst>
              <a:ext uri="{FF2B5EF4-FFF2-40B4-BE49-F238E27FC236}">
                <a16:creationId xmlns:a16="http://schemas.microsoft.com/office/drawing/2014/main" id="{83D7042D-C590-3449-94F5-EBE0DA20817E}"/>
              </a:ext>
            </a:extLst>
          </p:cNvPr>
          <p:cNvSpPr txBox="1"/>
          <p:nvPr/>
        </p:nvSpPr>
        <p:spPr>
          <a:xfrm>
            <a:off x="5905500" y="3398832"/>
            <a:ext cx="619125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>
              <a:lnSpc>
                <a:spcPct val="140000"/>
              </a:lnSpc>
            </a:pPr>
            <a:r>
              <a:rPr lang="en-US" sz="563" noProof="1">
                <a:solidFill>
                  <a:srgbClr val="6B6C74"/>
                </a:solidFill>
                <a:latin typeface="+mn-ea"/>
                <a:cs typeface="MiSans"/>
              </a:rPr>
              <a:t>一致性与覆盖率</a:t>
            </a:r>
            <a:endParaRPr lang="en-US" sz="563" noProof="1">
              <a:solidFill>
                <a:srgbClr val="000000"/>
              </a:solidFill>
              <a:latin typeface="+mn-ea"/>
              <a:cs typeface="MiSans"/>
            </a:endParaRPr>
          </a:p>
          <a:p>
            <a:pPr defTabSz="685800">
              <a:lnSpc>
                <a:spcPct val="140000"/>
              </a:lnSpc>
            </a:pPr>
            <a:r>
              <a:rPr lang="en-US" sz="563" noProof="1">
                <a:solidFill>
                  <a:srgbClr val="6B6C74"/>
                </a:solidFill>
                <a:latin typeface="+mn-ea"/>
                <a:cs typeface="MiSans"/>
              </a:rPr>
              <a:t>检查</a:t>
            </a:r>
            <a:endParaRPr lang="en-US" sz="563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538" name="k6-box">
            <a:extLst>
              <a:ext uri="{FF2B5EF4-FFF2-40B4-BE49-F238E27FC236}">
                <a16:creationId xmlns:a16="http://schemas.microsoft.com/office/drawing/2014/main" id="{B34C0A36-579D-D8AE-0EA5-905B8621F5BE}"/>
              </a:ext>
            </a:extLst>
          </p:cNvPr>
          <p:cNvSpPr/>
          <p:nvPr/>
        </p:nvSpPr>
        <p:spPr>
          <a:xfrm>
            <a:off x="6657975" y="3217857"/>
            <a:ext cx="933450" cy="52387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chemeClr val="accent3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540" name="k6-ic">
            <a:extLst>
              <a:ext uri="{FF2B5EF4-FFF2-40B4-BE49-F238E27FC236}">
                <a16:creationId xmlns:a16="http://schemas.microsoft.com/office/drawing/2014/main" id="{99CA0174-15AF-F6C0-319F-2D24BADF9215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eyJpY29uTmFtZSI6ImZhczpjb2RlIn0</pptd:icon>
              </p:ext>
            </p:extLst>
          </p:nvPr>
        </p:nvSpPr>
        <p:spPr>
          <a:xfrm>
            <a:off x="6743700" y="3332157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361" y="1"/>
                </a:moveTo>
                <a:cubicBezTo>
                  <a:pt x="344" y="-4"/>
                  <a:pt x="326" y="6"/>
                  <a:pt x="321" y="23"/>
                </a:cubicBezTo>
                <a:lnTo>
                  <a:pt x="193" y="471"/>
                </a:lnTo>
                <a:cubicBezTo>
                  <a:pt x="188" y="488"/>
                  <a:pt x="198" y="506"/>
                  <a:pt x="215" y="511"/>
                </a:cubicBezTo>
                <a:cubicBezTo>
                  <a:pt x="232" y="516"/>
                  <a:pt x="250" y="506"/>
                  <a:pt x="255" y="489"/>
                </a:cubicBezTo>
                <a:lnTo>
                  <a:pt x="383" y="41"/>
                </a:lnTo>
                <a:cubicBezTo>
                  <a:pt x="388" y="24"/>
                  <a:pt x="378" y="6"/>
                  <a:pt x="361" y="1"/>
                </a:cubicBezTo>
                <a:close/>
              </a:path>
              <a:path w="576" h="512">
                <a:moveTo>
                  <a:pt x="425" y="137"/>
                </a:moveTo>
                <a:cubicBezTo>
                  <a:pt x="413" y="150"/>
                  <a:pt x="413" y="170"/>
                  <a:pt x="425" y="183"/>
                </a:cubicBezTo>
                <a:lnTo>
                  <a:pt x="499" y="256"/>
                </a:lnTo>
                <a:lnTo>
                  <a:pt x="425" y="329"/>
                </a:lnTo>
                <a:cubicBezTo>
                  <a:pt x="413" y="342"/>
                  <a:pt x="413" y="362"/>
                  <a:pt x="425" y="375"/>
                </a:cubicBezTo>
                <a:cubicBezTo>
                  <a:pt x="438" y="387"/>
                  <a:pt x="458" y="387"/>
                  <a:pt x="471" y="375"/>
                </a:cubicBezTo>
                <a:lnTo>
                  <a:pt x="567" y="279"/>
                </a:lnTo>
                <a:cubicBezTo>
                  <a:pt x="579" y="266"/>
                  <a:pt x="579" y="246"/>
                  <a:pt x="567" y="233"/>
                </a:cubicBezTo>
                <a:lnTo>
                  <a:pt x="471" y="137"/>
                </a:lnTo>
                <a:cubicBezTo>
                  <a:pt x="458" y="125"/>
                  <a:pt x="438" y="125"/>
                  <a:pt x="425" y="137"/>
                </a:cubicBezTo>
                <a:close/>
              </a:path>
              <a:path w="576" h="512">
                <a:moveTo>
                  <a:pt x="151" y="137"/>
                </a:moveTo>
                <a:cubicBezTo>
                  <a:pt x="138" y="125"/>
                  <a:pt x="118" y="125"/>
                  <a:pt x="105" y="137"/>
                </a:cubicBezTo>
                <a:lnTo>
                  <a:pt x="9" y="233"/>
                </a:lnTo>
                <a:cubicBezTo>
                  <a:pt x="-3" y="246"/>
                  <a:pt x="-3" y="266"/>
                  <a:pt x="9" y="279"/>
                </a:cubicBezTo>
                <a:lnTo>
                  <a:pt x="105" y="375"/>
                </a:lnTo>
                <a:cubicBezTo>
                  <a:pt x="118" y="387"/>
                  <a:pt x="138" y="387"/>
                  <a:pt x="151" y="375"/>
                </a:cubicBezTo>
                <a:cubicBezTo>
                  <a:pt x="163" y="362"/>
                  <a:pt x="163" y="342"/>
                  <a:pt x="151" y="329"/>
                </a:cubicBezTo>
                <a:lnTo>
                  <a:pt x="77" y="256"/>
                </a:lnTo>
                <a:lnTo>
                  <a:pt x="151" y="183"/>
                </a:lnTo>
                <a:cubicBezTo>
                  <a:pt x="163" y="170"/>
                  <a:pt x="163" y="150"/>
                  <a:pt x="151" y="13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542" name="k6-cmd">
            <a:extLst>
              <a:ext uri="{FF2B5EF4-FFF2-40B4-BE49-F238E27FC236}">
                <a16:creationId xmlns:a16="http://schemas.microsoft.com/office/drawing/2014/main" id="{4DA1E1CB-D1F8-1625-822C-7AA28FE484FD}"/>
              </a:ext>
            </a:extLst>
          </p:cNvPr>
          <p:cNvSpPr txBox="1"/>
          <p:nvPr/>
        </p:nvSpPr>
        <p:spPr>
          <a:xfrm>
            <a:off x="6924675" y="3265482"/>
            <a:ext cx="619125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800" b="1" noProof="1">
                <a:latin typeface="+mn-ea"/>
                <a:cs typeface="MiSans"/>
              </a:rPr>
              <a:t>implement</a:t>
            </a:r>
            <a:endParaRPr lang="en-US" sz="800" noProof="1">
              <a:latin typeface="+mn-ea"/>
              <a:cs typeface="MiSans"/>
            </a:endParaRPr>
          </a:p>
        </p:txBody>
      </p:sp>
      <p:sp>
        <p:nvSpPr>
          <p:cNvPr id="544" name="k6-ds">
            <a:extLst>
              <a:ext uri="{FF2B5EF4-FFF2-40B4-BE49-F238E27FC236}">
                <a16:creationId xmlns:a16="http://schemas.microsoft.com/office/drawing/2014/main" id="{DBDFBC8B-0B9F-569B-28CB-3C8F3BE7154D}"/>
              </a:ext>
            </a:extLst>
          </p:cNvPr>
          <p:cNvSpPr txBox="1"/>
          <p:nvPr/>
        </p:nvSpPr>
        <p:spPr>
          <a:xfrm>
            <a:off x="6924675" y="3398832"/>
            <a:ext cx="619125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>
              <a:lnSpc>
                <a:spcPct val="140000"/>
              </a:lnSpc>
            </a:pPr>
            <a:r>
              <a:rPr lang="en-US" sz="563" noProof="1">
                <a:solidFill>
                  <a:srgbClr val="6B6C74"/>
                </a:solidFill>
                <a:latin typeface="+mn-ea"/>
                <a:cs typeface="MiSans"/>
              </a:rPr>
              <a:t>依据任务生成</a:t>
            </a:r>
            <a:endParaRPr lang="en-US" sz="563" noProof="1">
              <a:solidFill>
                <a:srgbClr val="000000"/>
              </a:solidFill>
              <a:latin typeface="+mn-ea"/>
              <a:cs typeface="MiSans"/>
            </a:endParaRPr>
          </a:p>
          <a:p>
            <a:pPr defTabSz="685800">
              <a:lnSpc>
                <a:spcPct val="140000"/>
              </a:lnSpc>
            </a:pPr>
            <a:r>
              <a:rPr lang="en-US" sz="563" noProof="1">
                <a:solidFill>
                  <a:srgbClr val="6B6C74"/>
                </a:solidFill>
                <a:latin typeface="+mn-ea"/>
                <a:cs typeface="MiSans"/>
              </a:rPr>
              <a:t>代码与测试</a:t>
            </a:r>
            <a:endParaRPr lang="en-US" sz="563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546" name="k7-box">
            <a:extLst>
              <a:ext uri="{FF2B5EF4-FFF2-40B4-BE49-F238E27FC236}">
                <a16:creationId xmlns:a16="http://schemas.microsoft.com/office/drawing/2014/main" id="{8C6BEC60-FC24-07E8-17B2-15D85766EBDF}"/>
              </a:ext>
            </a:extLst>
          </p:cNvPr>
          <p:cNvSpPr/>
          <p:nvPr/>
        </p:nvSpPr>
        <p:spPr>
          <a:xfrm>
            <a:off x="7686675" y="3217857"/>
            <a:ext cx="952500" cy="52387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chemeClr val="accent3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548" name="k7-ic">
            <a:extLst>
              <a:ext uri="{FF2B5EF4-FFF2-40B4-BE49-F238E27FC236}">
                <a16:creationId xmlns:a16="http://schemas.microsoft.com/office/drawing/2014/main" id="{B17BD163-F48B-494B-F75C-0E70A77982CF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eyJpY29uTmFtZSI6ImZhczpidWxsc2V5ZSJ9</pptd:icon>
              </p:ext>
            </p:extLst>
          </p:nvPr>
        </p:nvSpPr>
        <p:spPr>
          <a:xfrm>
            <a:off x="7772400" y="3332157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0" y="256"/>
                </a:move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ubicBezTo>
                  <a:pt x="115" y="512"/>
                  <a:pt x="0" y="397"/>
                  <a:pt x="0" y="256"/>
                </a:cubicBezTo>
                <a:close/>
                <a:moveTo>
                  <a:pt x="448" y="256"/>
                </a:moveTo>
                <a:cubicBezTo>
                  <a:pt x="448" y="150"/>
                  <a:pt x="362" y="64"/>
                  <a:pt x="256" y="64"/>
                </a:cubicBezTo>
                <a:cubicBezTo>
                  <a:pt x="150" y="64"/>
                  <a:pt x="64" y="150"/>
                  <a:pt x="64" y="256"/>
                </a:cubicBezTo>
                <a:cubicBezTo>
                  <a:pt x="64" y="362"/>
                  <a:pt x="150" y="448"/>
                  <a:pt x="256" y="448"/>
                </a:cubicBezTo>
                <a:cubicBezTo>
                  <a:pt x="362" y="448"/>
                  <a:pt x="448" y="362"/>
                  <a:pt x="448" y="256"/>
                </a:cubicBezTo>
                <a:close/>
              </a:path>
              <a:path w="512" h="512">
                <a:moveTo>
                  <a:pt x="256" y="112"/>
                </a:moveTo>
                <a:cubicBezTo>
                  <a:pt x="336" y="112"/>
                  <a:pt x="400" y="176"/>
                  <a:pt x="400" y="256"/>
                </a:cubicBezTo>
                <a:cubicBezTo>
                  <a:pt x="400" y="336"/>
                  <a:pt x="336" y="400"/>
                  <a:pt x="256" y="400"/>
                </a:cubicBezTo>
                <a:cubicBezTo>
                  <a:pt x="176" y="400"/>
                  <a:pt x="112" y="336"/>
                  <a:pt x="112" y="256"/>
                </a:cubicBezTo>
                <a:cubicBezTo>
                  <a:pt x="112" y="176"/>
                  <a:pt x="176" y="112"/>
                  <a:pt x="256" y="112"/>
                </a:cubicBezTo>
                <a:close/>
                <a:moveTo>
                  <a:pt x="256" y="336"/>
                </a:moveTo>
                <a:cubicBezTo>
                  <a:pt x="300" y="336"/>
                  <a:pt x="336" y="300"/>
                  <a:pt x="336" y="256"/>
                </a:cubicBezTo>
                <a:cubicBezTo>
                  <a:pt x="336" y="212"/>
                  <a:pt x="300" y="176"/>
                  <a:pt x="256" y="176"/>
                </a:cubicBezTo>
                <a:cubicBezTo>
                  <a:pt x="212" y="176"/>
                  <a:pt x="176" y="212"/>
                  <a:pt x="176" y="256"/>
                </a:cubicBezTo>
                <a:cubicBezTo>
                  <a:pt x="176" y="300"/>
                  <a:pt x="212" y="336"/>
                  <a:pt x="256" y="336"/>
                </a:cubicBezTo>
                <a:close/>
              </a:path>
              <a:path w="512" h="512">
                <a:moveTo>
                  <a:pt x="224" y="256"/>
                </a:moveTo>
                <a:cubicBezTo>
                  <a:pt x="224" y="238"/>
                  <a:pt x="238" y="224"/>
                  <a:pt x="256" y="224"/>
                </a:cubicBezTo>
                <a:cubicBezTo>
                  <a:pt x="274" y="224"/>
                  <a:pt x="288" y="238"/>
                  <a:pt x="288" y="256"/>
                </a:cubicBezTo>
                <a:cubicBezTo>
                  <a:pt x="288" y="274"/>
                  <a:pt x="274" y="288"/>
                  <a:pt x="256" y="288"/>
                </a:cubicBezTo>
                <a:cubicBezTo>
                  <a:pt x="238" y="288"/>
                  <a:pt x="224" y="274"/>
                  <a:pt x="224" y="256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550" name="k7-cmd">
            <a:extLst>
              <a:ext uri="{FF2B5EF4-FFF2-40B4-BE49-F238E27FC236}">
                <a16:creationId xmlns:a16="http://schemas.microsoft.com/office/drawing/2014/main" id="{D7BD75A0-9140-B254-6F49-6C2522E96141}"/>
              </a:ext>
            </a:extLst>
          </p:cNvPr>
          <p:cNvSpPr txBox="1"/>
          <p:nvPr/>
        </p:nvSpPr>
        <p:spPr>
          <a:xfrm>
            <a:off x="7953375" y="3265482"/>
            <a:ext cx="638175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800" b="1" noProof="1">
                <a:latin typeface="+mn-ea"/>
                <a:cs typeface="MiSans"/>
              </a:rPr>
              <a:t>converge</a:t>
            </a:r>
            <a:endParaRPr lang="en-US" sz="800" noProof="1">
              <a:latin typeface="+mn-ea"/>
              <a:cs typeface="MiSans"/>
            </a:endParaRPr>
          </a:p>
        </p:txBody>
      </p:sp>
      <p:sp>
        <p:nvSpPr>
          <p:cNvPr id="552" name="k7-ds">
            <a:extLst>
              <a:ext uri="{FF2B5EF4-FFF2-40B4-BE49-F238E27FC236}">
                <a16:creationId xmlns:a16="http://schemas.microsoft.com/office/drawing/2014/main" id="{22C7536A-A20E-687F-ACA3-ED5DD517475F}"/>
              </a:ext>
            </a:extLst>
          </p:cNvPr>
          <p:cNvSpPr txBox="1"/>
          <p:nvPr/>
        </p:nvSpPr>
        <p:spPr>
          <a:xfrm>
            <a:off x="7953375" y="3398832"/>
            <a:ext cx="638175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>
              <a:lnSpc>
                <a:spcPct val="140000"/>
              </a:lnSpc>
            </a:pPr>
            <a:r>
              <a:rPr lang="en-US" sz="563" noProof="1">
                <a:solidFill>
                  <a:srgbClr val="6B6C74"/>
                </a:solidFill>
                <a:latin typeface="+mn-ea"/>
                <a:cs typeface="MiSans"/>
              </a:rPr>
              <a:t>代码差距评估与</a:t>
            </a:r>
            <a:endParaRPr lang="en-US" sz="563" noProof="1">
              <a:solidFill>
                <a:srgbClr val="000000"/>
              </a:solidFill>
              <a:latin typeface="+mn-ea"/>
              <a:cs typeface="MiSans"/>
            </a:endParaRPr>
          </a:p>
          <a:p>
            <a:pPr defTabSz="685800">
              <a:lnSpc>
                <a:spcPct val="140000"/>
              </a:lnSpc>
            </a:pPr>
            <a:r>
              <a:rPr lang="en-US" sz="563" noProof="1">
                <a:solidFill>
                  <a:srgbClr val="6B6C74"/>
                </a:solidFill>
                <a:latin typeface="+mn-ea"/>
                <a:cs typeface="MiSans"/>
              </a:rPr>
              <a:t>重建任务生成</a:t>
            </a:r>
            <a:endParaRPr lang="en-US" sz="563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556" name="mp0-box">
            <a:extLst>
              <a:ext uri="{FF2B5EF4-FFF2-40B4-BE49-F238E27FC236}">
                <a16:creationId xmlns:a16="http://schemas.microsoft.com/office/drawing/2014/main" id="{41948BE5-00EB-BF9D-3A6B-EE7F47B0D3A9}"/>
              </a:ext>
            </a:extLst>
          </p:cNvPr>
          <p:cNvSpPr/>
          <p:nvPr/>
        </p:nvSpPr>
        <p:spPr>
          <a:xfrm>
            <a:off x="485775" y="3790638"/>
            <a:ext cx="990600" cy="142875"/>
          </a:xfrm>
          <a:prstGeom prst="roundRect">
            <a:avLst>
              <a:gd name="adj" fmla="val 24000"/>
            </a:avLst>
          </a:prstGeom>
          <a:solidFill>
            <a:srgbClr val="E5F7FF"/>
          </a:solidFill>
          <a:ln w="12700">
            <a:solidFill>
              <a:schemeClr val="accent3"/>
            </a:solidFill>
          </a:ln>
        </p:spPr>
        <p:txBody>
          <a:bodyPr/>
          <a:lstStyle/>
          <a:p>
            <a:pPr defTabSz="685800"/>
            <a:endParaRPr lang="zh-CN" altLang="en-US" sz="140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588" name="val-strip">
            <a:extLst>
              <a:ext uri="{FF2B5EF4-FFF2-40B4-BE49-F238E27FC236}">
                <a16:creationId xmlns:a16="http://schemas.microsoft.com/office/drawing/2014/main" id="{681E12AA-FB53-87F5-A887-A9A3A1F2571B}"/>
              </a:ext>
            </a:extLst>
          </p:cNvPr>
          <p:cNvSpPr/>
          <p:nvPr/>
        </p:nvSpPr>
        <p:spPr>
          <a:xfrm>
            <a:off x="257174" y="4140953"/>
            <a:ext cx="8620125" cy="47625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6350">
            <a:solidFill>
              <a:schemeClr val="accent3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590" name="val-gem">
            <a:extLst>
              <a:ext uri="{FF2B5EF4-FFF2-40B4-BE49-F238E27FC236}">
                <a16:creationId xmlns:a16="http://schemas.microsoft.com/office/drawing/2014/main" id="{55D3997B-5B91-BD93-C163-E63BA9DFE872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eyJpY29uTmFtZSI6ImZhcjpnZW0ifQ</pptd:icon>
              </p:ext>
            </p:extLst>
          </p:nvPr>
        </p:nvSpPr>
        <p:spPr>
          <a:xfrm>
            <a:off x="457200" y="4283828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6" y="216"/>
                </a:moveTo>
                <a:lnTo>
                  <a:pt x="274" y="472"/>
                </a:lnTo>
                <a:cubicBezTo>
                  <a:pt x="269" y="477"/>
                  <a:pt x="263" y="480"/>
                  <a:pt x="256" y="480"/>
                </a:cubicBezTo>
                <a:cubicBezTo>
                  <a:pt x="249" y="480"/>
                  <a:pt x="243" y="477"/>
                  <a:pt x="238" y="472"/>
                </a:cubicBezTo>
                <a:lnTo>
                  <a:pt x="6" y="216"/>
                </a:lnTo>
                <a:cubicBezTo>
                  <a:pt x="-2" y="208"/>
                  <a:pt x="-2" y="195"/>
                  <a:pt x="5" y="186"/>
                </a:cubicBezTo>
                <a:lnTo>
                  <a:pt x="117" y="34"/>
                </a:lnTo>
                <a:cubicBezTo>
                  <a:pt x="121" y="28"/>
                  <a:pt x="128" y="24"/>
                  <a:pt x="136" y="24"/>
                </a:cubicBezTo>
                <a:lnTo>
                  <a:pt x="376" y="24"/>
                </a:lnTo>
                <a:cubicBezTo>
                  <a:pt x="384" y="24"/>
                  <a:pt x="391" y="28"/>
                  <a:pt x="395" y="34"/>
                </a:cubicBezTo>
                <a:lnTo>
                  <a:pt x="507" y="186"/>
                </a:lnTo>
                <a:cubicBezTo>
                  <a:pt x="514" y="195"/>
                  <a:pt x="513" y="208"/>
                  <a:pt x="506" y="216"/>
                </a:cubicBezTo>
                <a:close/>
                <a:moveTo>
                  <a:pt x="169" y="72"/>
                </a:moveTo>
                <a:lnTo>
                  <a:pt x="256" y="165"/>
                </a:lnTo>
                <a:lnTo>
                  <a:pt x="344" y="72"/>
                </a:lnTo>
                <a:lnTo>
                  <a:pt x="169" y="72"/>
                </a:lnTo>
                <a:close/>
                <a:moveTo>
                  <a:pt x="384" y="99"/>
                </a:moveTo>
                <a:lnTo>
                  <a:pt x="312" y="176"/>
                </a:lnTo>
                <a:lnTo>
                  <a:pt x="441" y="176"/>
                </a:lnTo>
                <a:lnTo>
                  <a:pt x="384" y="99"/>
                </a:lnTo>
                <a:close/>
                <a:moveTo>
                  <a:pt x="434" y="224"/>
                </a:moveTo>
                <a:lnTo>
                  <a:pt x="78" y="224"/>
                </a:lnTo>
                <a:lnTo>
                  <a:pt x="256" y="420"/>
                </a:lnTo>
                <a:lnTo>
                  <a:pt x="434" y="224"/>
                </a:lnTo>
                <a:close/>
                <a:moveTo>
                  <a:pt x="72" y="176"/>
                </a:moveTo>
                <a:lnTo>
                  <a:pt x="201" y="176"/>
                </a:lnTo>
                <a:lnTo>
                  <a:pt x="128" y="99"/>
                </a:lnTo>
                <a:lnTo>
                  <a:pt x="72" y="17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592" name="val-label">
            <a:extLst>
              <a:ext uri="{FF2B5EF4-FFF2-40B4-BE49-F238E27FC236}">
                <a16:creationId xmlns:a16="http://schemas.microsoft.com/office/drawing/2014/main" id="{96CF2C16-46EE-F7A1-7393-9FC0AEA425A8}"/>
              </a:ext>
            </a:extLst>
          </p:cNvPr>
          <p:cNvSpPr txBox="1"/>
          <p:nvPr/>
        </p:nvSpPr>
        <p:spPr>
          <a:xfrm>
            <a:off x="666750" y="4283828"/>
            <a:ext cx="52387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750" b="1" noProof="1">
                <a:solidFill>
                  <a:schemeClr val="accent3"/>
                </a:solidFill>
                <a:latin typeface="+mn-ea"/>
                <a:cs typeface="MiSans"/>
              </a:rPr>
              <a:t>价值收益</a:t>
            </a:r>
            <a:endParaRPr lang="en-US" sz="750" noProof="1">
              <a:solidFill>
                <a:schemeClr val="accent3"/>
              </a:solidFill>
              <a:latin typeface="+mn-ea"/>
              <a:cs typeface="MiSans"/>
            </a:endParaRPr>
          </a:p>
        </p:txBody>
      </p:sp>
      <p:sp>
        <p:nvSpPr>
          <p:cNvPr id="594" name="v0-ic">
            <a:extLst>
              <a:ext uri="{FF2B5EF4-FFF2-40B4-BE49-F238E27FC236}">
                <a16:creationId xmlns:a16="http://schemas.microsoft.com/office/drawing/2014/main" id="{F20F5829-EFFF-D86A-7D73-58895B3DF69A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eyJpY29uTmFtZSI6ImZhczpidWxsc2V5ZSJ9</pptd:icon>
              </p:ext>
            </p:extLst>
          </p:nvPr>
        </p:nvSpPr>
        <p:spPr>
          <a:xfrm>
            <a:off x="1647825" y="4293353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0" y="256"/>
                </a:move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ubicBezTo>
                  <a:pt x="115" y="512"/>
                  <a:pt x="0" y="397"/>
                  <a:pt x="0" y="256"/>
                </a:cubicBezTo>
                <a:close/>
                <a:moveTo>
                  <a:pt x="448" y="256"/>
                </a:moveTo>
                <a:cubicBezTo>
                  <a:pt x="448" y="150"/>
                  <a:pt x="362" y="64"/>
                  <a:pt x="256" y="64"/>
                </a:cubicBezTo>
                <a:cubicBezTo>
                  <a:pt x="150" y="64"/>
                  <a:pt x="64" y="150"/>
                  <a:pt x="64" y="256"/>
                </a:cubicBezTo>
                <a:cubicBezTo>
                  <a:pt x="64" y="362"/>
                  <a:pt x="150" y="448"/>
                  <a:pt x="256" y="448"/>
                </a:cubicBezTo>
                <a:cubicBezTo>
                  <a:pt x="362" y="448"/>
                  <a:pt x="448" y="362"/>
                  <a:pt x="448" y="256"/>
                </a:cubicBezTo>
                <a:close/>
              </a:path>
              <a:path w="512" h="512">
                <a:moveTo>
                  <a:pt x="256" y="112"/>
                </a:moveTo>
                <a:cubicBezTo>
                  <a:pt x="336" y="112"/>
                  <a:pt x="400" y="176"/>
                  <a:pt x="400" y="256"/>
                </a:cubicBezTo>
                <a:cubicBezTo>
                  <a:pt x="400" y="336"/>
                  <a:pt x="336" y="400"/>
                  <a:pt x="256" y="400"/>
                </a:cubicBezTo>
                <a:cubicBezTo>
                  <a:pt x="176" y="400"/>
                  <a:pt x="112" y="336"/>
                  <a:pt x="112" y="256"/>
                </a:cubicBezTo>
                <a:cubicBezTo>
                  <a:pt x="112" y="176"/>
                  <a:pt x="176" y="112"/>
                  <a:pt x="256" y="112"/>
                </a:cubicBezTo>
                <a:close/>
                <a:moveTo>
                  <a:pt x="256" y="336"/>
                </a:moveTo>
                <a:cubicBezTo>
                  <a:pt x="300" y="336"/>
                  <a:pt x="336" y="300"/>
                  <a:pt x="336" y="256"/>
                </a:cubicBezTo>
                <a:cubicBezTo>
                  <a:pt x="336" y="212"/>
                  <a:pt x="300" y="176"/>
                  <a:pt x="256" y="176"/>
                </a:cubicBezTo>
                <a:cubicBezTo>
                  <a:pt x="212" y="176"/>
                  <a:pt x="176" y="212"/>
                  <a:pt x="176" y="256"/>
                </a:cubicBezTo>
                <a:cubicBezTo>
                  <a:pt x="176" y="300"/>
                  <a:pt x="212" y="336"/>
                  <a:pt x="256" y="336"/>
                </a:cubicBezTo>
                <a:close/>
              </a:path>
              <a:path w="512" h="512">
                <a:moveTo>
                  <a:pt x="224" y="256"/>
                </a:moveTo>
                <a:cubicBezTo>
                  <a:pt x="224" y="238"/>
                  <a:pt x="238" y="224"/>
                  <a:pt x="256" y="224"/>
                </a:cubicBezTo>
                <a:cubicBezTo>
                  <a:pt x="274" y="224"/>
                  <a:pt x="288" y="238"/>
                  <a:pt x="288" y="256"/>
                </a:cubicBezTo>
                <a:cubicBezTo>
                  <a:pt x="288" y="274"/>
                  <a:pt x="274" y="288"/>
                  <a:pt x="256" y="288"/>
                </a:cubicBezTo>
                <a:cubicBezTo>
                  <a:pt x="238" y="288"/>
                  <a:pt x="224" y="274"/>
                  <a:pt x="224" y="256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596" name="v0-tt">
            <a:extLst>
              <a:ext uri="{FF2B5EF4-FFF2-40B4-BE49-F238E27FC236}">
                <a16:creationId xmlns:a16="http://schemas.microsoft.com/office/drawing/2014/main" id="{0CDEFE9D-7AA6-333A-41FB-4B16ADF42047}"/>
              </a:ext>
            </a:extLst>
          </p:cNvPr>
          <p:cNvSpPr txBox="1"/>
          <p:nvPr/>
        </p:nvSpPr>
        <p:spPr>
          <a:xfrm>
            <a:off x="1857375" y="4245728"/>
            <a:ext cx="95250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713" b="1" noProof="1">
                <a:solidFill>
                  <a:schemeClr val="accent3"/>
                </a:solidFill>
                <a:latin typeface="+mn-ea"/>
                <a:cs typeface="MiSans"/>
              </a:rPr>
              <a:t>需求更清晰</a:t>
            </a:r>
            <a:endParaRPr lang="en-US" sz="713" noProof="1">
              <a:solidFill>
                <a:schemeClr val="accent3"/>
              </a:solidFill>
              <a:latin typeface="+mn-ea"/>
              <a:cs typeface="MiSans"/>
            </a:endParaRPr>
          </a:p>
        </p:txBody>
      </p:sp>
      <p:sp>
        <p:nvSpPr>
          <p:cNvPr id="598" name="v0-ds">
            <a:extLst>
              <a:ext uri="{FF2B5EF4-FFF2-40B4-BE49-F238E27FC236}">
                <a16:creationId xmlns:a16="http://schemas.microsoft.com/office/drawing/2014/main" id="{815617A3-25C0-0BED-BA4C-C8535E071F09}"/>
              </a:ext>
            </a:extLst>
          </p:cNvPr>
          <p:cNvSpPr txBox="1"/>
          <p:nvPr/>
        </p:nvSpPr>
        <p:spPr>
          <a:xfrm>
            <a:off x="1857375" y="4407653"/>
            <a:ext cx="104775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600" noProof="1">
                <a:solidFill>
                  <a:srgbClr val="6B7A90"/>
                </a:solidFill>
                <a:latin typeface="+mn-ea"/>
                <a:cs typeface="MiSans"/>
              </a:rPr>
              <a:t>结构化 + 澄清闭环</a:t>
            </a:r>
            <a:endParaRPr lang="en-US" sz="600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600" name="v1-ic">
            <a:extLst>
              <a:ext uri="{FF2B5EF4-FFF2-40B4-BE49-F238E27FC236}">
                <a16:creationId xmlns:a16="http://schemas.microsoft.com/office/drawing/2014/main" id="{F317D7EE-B699-8B76-3BE9-E3BC618BDDFF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eyJpY29uTmFtZSI6ImZhczphcnJvdy10cmVuZC11cCJ9</pptd:icon>
              </p:ext>
            </p:extLst>
          </p:nvPr>
        </p:nvSpPr>
        <p:spPr>
          <a:xfrm>
            <a:off x="3133725" y="4293353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384" y="160"/>
                </a:moveTo>
                <a:cubicBezTo>
                  <a:pt x="366" y="160"/>
                  <a:pt x="352" y="146"/>
                  <a:pt x="352" y="128"/>
                </a:cubicBezTo>
                <a:cubicBezTo>
                  <a:pt x="352" y="110"/>
                  <a:pt x="366" y="96"/>
                  <a:pt x="384" y="96"/>
                </a:cubicBezTo>
                <a:lnTo>
                  <a:pt x="544" y="96"/>
                </a:lnTo>
                <a:cubicBezTo>
                  <a:pt x="562" y="96"/>
                  <a:pt x="576" y="110"/>
                  <a:pt x="576" y="128"/>
                </a:cubicBezTo>
                <a:lnTo>
                  <a:pt x="576" y="288"/>
                </a:lnTo>
                <a:cubicBezTo>
                  <a:pt x="576" y="306"/>
                  <a:pt x="562" y="320"/>
                  <a:pt x="544" y="320"/>
                </a:cubicBezTo>
                <a:cubicBezTo>
                  <a:pt x="526" y="320"/>
                  <a:pt x="512" y="306"/>
                  <a:pt x="512" y="288"/>
                </a:cubicBezTo>
                <a:lnTo>
                  <a:pt x="512" y="205"/>
                </a:lnTo>
                <a:lnTo>
                  <a:pt x="343" y="375"/>
                </a:lnTo>
                <a:cubicBezTo>
                  <a:pt x="330" y="387"/>
                  <a:pt x="310" y="387"/>
                  <a:pt x="297" y="375"/>
                </a:cubicBezTo>
                <a:lnTo>
                  <a:pt x="192" y="269"/>
                </a:lnTo>
                <a:lnTo>
                  <a:pt x="55" y="407"/>
                </a:lnTo>
                <a:cubicBezTo>
                  <a:pt x="42" y="419"/>
                  <a:pt x="22" y="419"/>
                  <a:pt x="9" y="407"/>
                </a:cubicBezTo>
                <a:cubicBezTo>
                  <a:pt x="-3" y="394"/>
                  <a:pt x="-3" y="374"/>
                  <a:pt x="9" y="361"/>
                </a:cubicBezTo>
                <a:lnTo>
                  <a:pt x="169" y="201"/>
                </a:lnTo>
                <a:cubicBezTo>
                  <a:pt x="182" y="189"/>
                  <a:pt x="202" y="189"/>
                  <a:pt x="215" y="201"/>
                </a:cubicBezTo>
                <a:lnTo>
                  <a:pt x="320" y="307"/>
                </a:lnTo>
                <a:lnTo>
                  <a:pt x="467" y="160"/>
                </a:lnTo>
                <a:lnTo>
                  <a:pt x="384" y="16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602" name="v1-tt">
            <a:extLst>
              <a:ext uri="{FF2B5EF4-FFF2-40B4-BE49-F238E27FC236}">
                <a16:creationId xmlns:a16="http://schemas.microsoft.com/office/drawing/2014/main" id="{2E039973-9671-E3CD-CE9A-E6C05318F62F}"/>
              </a:ext>
            </a:extLst>
          </p:cNvPr>
          <p:cNvSpPr txBox="1"/>
          <p:nvPr/>
        </p:nvSpPr>
        <p:spPr>
          <a:xfrm>
            <a:off x="3343275" y="4245728"/>
            <a:ext cx="95250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713" b="1" noProof="1">
                <a:solidFill>
                  <a:schemeClr val="accent3"/>
                </a:solidFill>
                <a:latin typeface="+mn-ea"/>
                <a:cs typeface="MiSans"/>
              </a:rPr>
              <a:t>开发更高效</a:t>
            </a:r>
            <a:endParaRPr lang="en-US" sz="713" noProof="1">
              <a:solidFill>
                <a:schemeClr val="accent3"/>
              </a:solidFill>
              <a:latin typeface="+mn-ea"/>
              <a:cs typeface="MiSans"/>
            </a:endParaRPr>
          </a:p>
        </p:txBody>
      </p:sp>
      <p:sp>
        <p:nvSpPr>
          <p:cNvPr id="604" name="v1-ds">
            <a:extLst>
              <a:ext uri="{FF2B5EF4-FFF2-40B4-BE49-F238E27FC236}">
                <a16:creationId xmlns:a16="http://schemas.microsoft.com/office/drawing/2014/main" id="{96FEFE3D-E217-415C-35EC-D5CDC2379C44}"/>
              </a:ext>
            </a:extLst>
          </p:cNvPr>
          <p:cNvSpPr txBox="1"/>
          <p:nvPr/>
        </p:nvSpPr>
        <p:spPr>
          <a:xfrm>
            <a:off x="3343275" y="4407653"/>
            <a:ext cx="104775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600" noProof="1">
                <a:solidFill>
                  <a:srgbClr val="6B7A90"/>
                </a:solidFill>
                <a:latin typeface="+mn-ea"/>
                <a:cs typeface="MiSans"/>
              </a:rPr>
              <a:t>AI 执行编码与自测</a:t>
            </a:r>
            <a:endParaRPr lang="en-US" sz="600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606" name="v2-ic">
            <a:extLst>
              <a:ext uri="{FF2B5EF4-FFF2-40B4-BE49-F238E27FC236}">
                <a16:creationId xmlns:a16="http://schemas.microsoft.com/office/drawing/2014/main" id="{3F59DBD4-1719-FA2C-675E-B841DB9271A1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eyJpY29uTmFtZSI6ImZhczpzaGllbGQtaGFsdmVkIn0</pptd:icon>
              </p:ext>
            </p:extLst>
          </p:nvPr>
        </p:nvSpPr>
        <p:spPr>
          <a:xfrm>
            <a:off x="4619625" y="4293353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61" y="0"/>
                  <a:pt x="265" y="1"/>
                  <a:pt x="269" y="3"/>
                </a:cubicBezTo>
                <a:lnTo>
                  <a:pt x="458" y="83"/>
                </a:lnTo>
                <a:cubicBezTo>
                  <a:pt x="480" y="92"/>
                  <a:pt x="496" y="114"/>
                  <a:pt x="496" y="140"/>
                </a:cubicBezTo>
                <a:cubicBezTo>
                  <a:pt x="496" y="239"/>
                  <a:pt x="455" y="421"/>
                  <a:pt x="283" y="503"/>
                </a:cubicBezTo>
                <a:cubicBezTo>
                  <a:pt x="266" y="511"/>
                  <a:pt x="246" y="511"/>
                  <a:pt x="230" y="503"/>
                </a:cubicBezTo>
                <a:cubicBezTo>
                  <a:pt x="57" y="421"/>
                  <a:pt x="17" y="239"/>
                  <a:pt x="16" y="140"/>
                </a:cubicBezTo>
                <a:cubicBezTo>
                  <a:pt x="16" y="114"/>
                  <a:pt x="32" y="92"/>
                  <a:pt x="54" y="83"/>
                </a:cubicBezTo>
                <a:lnTo>
                  <a:pt x="243" y="3"/>
                </a:lnTo>
                <a:cubicBezTo>
                  <a:pt x="247" y="1"/>
                  <a:pt x="251" y="0"/>
                  <a:pt x="256" y="0"/>
                </a:cubicBezTo>
                <a:close/>
                <a:moveTo>
                  <a:pt x="256" y="67"/>
                </a:moveTo>
                <a:lnTo>
                  <a:pt x="256" y="445"/>
                </a:lnTo>
                <a:cubicBezTo>
                  <a:pt x="394" y="378"/>
                  <a:pt x="431" y="230"/>
                  <a:pt x="432" y="142"/>
                </a:cubicBezTo>
                <a:lnTo>
                  <a:pt x="256" y="67"/>
                </a:lnTo>
                <a:lnTo>
                  <a:pt x="256" y="6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608" name="v2-tt">
            <a:extLst>
              <a:ext uri="{FF2B5EF4-FFF2-40B4-BE49-F238E27FC236}">
                <a16:creationId xmlns:a16="http://schemas.microsoft.com/office/drawing/2014/main" id="{3B9252A7-5342-F43E-CD07-9BEDCDB18A75}"/>
              </a:ext>
            </a:extLst>
          </p:cNvPr>
          <p:cNvSpPr txBox="1"/>
          <p:nvPr/>
        </p:nvSpPr>
        <p:spPr>
          <a:xfrm>
            <a:off x="4829175" y="4245728"/>
            <a:ext cx="95250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713" b="1" noProof="1">
                <a:solidFill>
                  <a:schemeClr val="accent3"/>
                </a:solidFill>
                <a:latin typeface="+mn-ea"/>
                <a:cs typeface="MiSans"/>
              </a:rPr>
              <a:t>质量更可控</a:t>
            </a:r>
            <a:endParaRPr lang="en-US" sz="713" noProof="1">
              <a:solidFill>
                <a:schemeClr val="accent3"/>
              </a:solidFill>
              <a:latin typeface="+mn-ea"/>
              <a:cs typeface="MiSans"/>
            </a:endParaRPr>
          </a:p>
        </p:txBody>
      </p:sp>
      <p:sp>
        <p:nvSpPr>
          <p:cNvPr id="610" name="v2-ds">
            <a:extLst>
              <a:ext uri="{FF2B5EF4-FFF2-40B4-BE49-F238E27FC236}">
                <a16:creationId xmlns:a16="http://schemas.microsoft.com/office/drawing/2014/main" id="{C5EA8F16-DE0A-F103-1C7F-117A85E8D62B}"/>
              </a:ext>
            </a:extLst>
          </p:cNvPr>
          <p:cNvSpPr txBox="1"/>
          <p:nvPr/>
        </p:nvSpPr>
        <p:spPr>
          <a:xfrm>
            <a:off x="4829175" y="4407653"/>
            <a:ext cx="104775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600" noProof="1">
                <a:solidFill>
                  <a:srgbClr val="6B7A90"/>
                </a:solidFill>
                <a:latin typeface="+mn-ea"/>
                <a:cs typeface="MiSans"/>
              </a:rPr>
              <a:t>规范驱动 + 人工把关</a:t>
            </a:r>
            <a:endParaRPr lang="en-US" sz="600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612" name="v3-ic">
            <a:extLst>
              <a:ext uri="{FF2B5EF4-FFF2-40B4-BE49-F238E27FC236}">
                <a16:creationId xmlns:a16="http://schemas.microsoft.com/office/drawing/2014/main" id="{44095F7C-8E94-1687-EEEF-9165E1AC05EB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eyJpY29uTmFtZSI6ImZhcjpjaXJjbGUtY2hlY2sifQ</pptd:icon>
              </p:ext>
            </p:extLst>
          </p:nvPr>
        </p:nvSpPr>
        <p:spPr>
          <a:xfrm>
            <a:off x="6086475" y="4293353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256" y="48"/>
                </a:moveTo>
                <a:cubicBezTo>
                  <a:pt x="141" y="48"/>
                  <a:pt x="48" y="141"/>
                  <a:pt x="48" y="256"/>
                </a:cubicBezTo>
                <a:cubicBezTo>
                  <a:pt x="48" y="371"/>
                  <a:pt x="141" y="464"/>
                  <a:pt x="256" y="464"/>
                </a:cubicBezTo>
                <a:cubicBezTo>
                  <a:pt x="371" y="464"/>
                  <a:pt x="464" y="371"/>
                  <a:pt x="464" y="256"/>
                </a:cubicBezTo>
                <a:cubicBezTo>
                  <a:pt x="464" y="141"/>
                  <a:pt x="371" y="48"/>
                  <a:pt x="256" y="48"/>
                </a:cubicBezTo>
                <a:close/>
              </a:path>
              <a:path w="512" h="512">
                <a:moveTo>
                  <a:pt x="327" y="170"/>
                </a:moveTo>
                <a:cubicBezTo>
                  <a:pt x="335" y="159"/>
                  <a:pt x="350" y="157"/>
                  <a:pt x="360" y="165"/>
                </a:cubicBezTo>
                <a:cubicBezTo>
                  <a:pt x="371" y="172"/>
                  <a:pt x="373" y="187"/>
                  <a:pt x="366" y="198"/>
                </a:cubicBezTo>
                <a:lnTo>
                  <a:pt x="243" y="366"/>
                </a:lnTo>
                <a:cubicBezTo>
                  <a:pt x="239" y="372"/>
                  <a:pt x="233" y="375"/>
                  <a:pt x="226" y="376"/>
                </a:cubicBezTo>
                <a:cubicBezTo>
                  <a:pt x="219" y="376"/>
                  <a:pt x="212" y="374"/>
                  <a:pt x="207" y="369"/>
                </a:cubicBezTo>
                <a:lnTo>
                  <a:pt x="151" y="313"/>
                </a:lnTo>
                <a:cubicBezTo>
                  <a:pt x="142" y="304"/>
                  <a:pt x="142" y="289"/>
                  <a:pt x="151" y="279"/>
                </a:cubicBezTo>
                <a:cubicBezTo>
                  <a:pt x="161" y="270"/>
                  <a:pt x="176" y="270"/>
                  <a:pt x="185" y="279"/>
                </a:cubicBezTo>
                <a:lnTo>
                  <a:pt x="221" y="315"/>
                </a:lnTo>
                <a:lnTo>
                  <a:pt x="327" y="17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614" name="v3-tt">
            <a:extLst>
              <a:ext uri="{FF2B5EF4-FFF2-40B4-BE49-F238E27FC236}">
                <a16:creationId xmlns:a16="http://schemas.microsoft.com/office/drawing/2014/main" id="{FB41C3B9-2BC8-8671-34E7-569390F878EA}"/>
              </a:ext>
            </a:extLst>
          </p:cNvPr>
          <p:cNvSpPr txBox="1"/>
          <p:nvPr/>
        </p:nvSpPr>
        <p:spPr>
          <a:xfrm>
            <a:off x="6296025" y="4245728"/>
            <a:ext cx="95250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713" b="1" noProof="1">
                <a:solidFill>
                  <a:schemeClr val="accent3"/>
                </a:solidFill>
                <a:latin typeface="+mn-ea"/>
                <a:cs typeface="MiSans"/>
              </a:rPr>
              <a:t>交付更可靠</a:t>
            </a:r>
            <a:endParaRPr lang="en-US" sz="713" noProof="1">
              <a:solidFill>
                <a:schemeClr val="accent3"/>
              </a:solidFill>
              <a:latin typeface="+mn-ea"/>
              <a:cs typeface="MiSans"/>
            </a:endParaRPr>
          </a:p>
        </p:txBody>
      </p:sp>
      <p:sp>
        <p:nvSpPr>
          <p:cNvPr id="616" name="v3-ds">
            <a:extLst>
              <a:ext uri="{FF2B5EF4-FFF2-40B4-BE49-F238E27FC236}">
                <a16:creationId xmlns:a16="http://schemas.microsoft.com/office/drawing/2014/main" id="{C7BC3E54-8A19-06B4-0C23-9B2036CE7B2B}"/>
              </a:ext>
            </a:extLst>
          </p:cNvPr>
          <p:cNvSpPr txBox="1"/>
          <p:nvPr/>
        </p:nvSpPr>
        <p:spPr>
          <a:xfrm>
            <a:off x="6296025" y="4407653"/>
            <a:ext cx="104775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600" noProof="1">
                <a:solidFill>
                  <a:srgbClr val="6B7A90"/>
                </a:solidFill>
                <a:latin typeface="+mn-ea"/>
                <a:cs typeface="MiSans"/>
              </a:rPr>
              <a:t>验收回放 + 可审计</a:t>
            </a:r>
            <a:endParaRPr lang="en-US" sz="600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618" name="v4-ic">
            <a:extLst>
              <a:ext uri="{FF2B5EF4-FFF2-40B4-BE49-F238E27FC236}">
                <a16:creationId xmlns:a16="http://schemas.microsoft.com/office/drawing/2014/main" id="{41A7BF59-86EC-C038-691D-67F2866D8C70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eyJpY29uTmFtZSI6ImZhczphcnJvd3Mtcm90YXRlIn0</pptd:icon>
              </p:ext>
            </p:extLst>
          </p:nvPr>
        </p:nvSpPr>
        <p:spPr>
          <a:xfrm>
            <a:off x="7572375" y="4293353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66" y="229"/>
                </a:moveTo>
                <a:cubicBezTo>
                  <a:pt x="79" y="136"/>
                  <a:pt x="159" y="64"/>
                  <a:pt x="256" y="64"/>
                </a:cubicBezTo>
                <a:cubicBezTo>
                  <a:pt x="309" y="64"/>
                  <a:pt x="357" y="86"/>
                  <a:pt x="392" y="120"/>
                </a:cubicBezTo>
                <a:cubicBezTo>
                  <a:pt x="392" y="120"/>
                  <a:pt x="392" y="121"/>
                  <a:pt x="392" y="121"/>
                </a:cubicBezTo>
                <a:lnTo>
                  <a:pt x="400" y="128"/>
                </a:lnTo>
                <a:lnTo>
                  <a:pt x="352" y="128"/>
                </a:lnTo>
                <a:cubicBezTo>
                  <a:pt x="334" y="128"/>
                  <a:pt x="320" y="142"/>
                  <a:pt x="320" y="160"/>
                </a:cubicBezTo>
                <a:cubicBezTo>
                  <a:pt x="320" y="178"/>
                  <a:pt x="334" y="192"/>
                  <a:pt x="352" y="192"/>
                </a:cubicBezTo>
                <a:lnTo>
                  <a:pt x="480" y="192"/>
                </a:lnTo>
                <a:cubicBezTo>
                  <a:pt x="498" y="192"/>
                  <a:pt x="512" y="178"/>
                  <a:pt x="512" y="160"/>
                </a:cubicBezTo>
                <a:lnTo>
                  <a:pt x="512" y="32"/>
                </a:lnTo>
                <a:cubicBezTo>
                  <a:pt x="512" y="14"/>
                  <a:pt x="498" y="0"/>
                  <a:pt x="480" y="0"/>
                </a:cubicBezTo>
                <a:cubicBezTo>
                  <a:pt x="462" y="0"/>
                  <a:pt x="448" y="14"/>
                  <a:pt x="448" y="32"/>
                </a:cubicBezTo>
                <a:lnTo>
                  <a:pt x="448" y="85"/>
                </a:lnTo>
                <a:lnTo>
                  <a:pt x="437" y="75"/>
                </a:lnTo>
                <a:cubicBezTo>
                  <a:pt x="391" y="29"/>
                  <a:pt x="327" y="0"/>
                  <a:pt x="256" y="0"/>
                </a:cubicBezTo>
                <a:cubicBezTo>
                  <a:pt x="127" y="0"/>
                  <a:pt x="20" y="95"/>
                  <a:pt x="3" y="220"/>
                </a:cubicBezTo>
                <a:cubicBezTo>
                  <a:pt x="0" y="237"/>
                  <a:pt x="12" y="253"/>
                  <a:pt x="30" y="256"/>
                </a:cubicBezTo>
                <a:cubicBezTo>
                  <a:pt x="47" y="258"/>
                  <a:pt x="63" y="246"/>
                  <a:pt x="66" y="229"/>
                </a:cubicBezTo>
                <a:close/>
                <a:moveTo>
                  <a:pt x="509" y="293"/>
                </a:moveTo>
                <a:cubicBezTo>
                  <a:pt x="512" y="275"/>
                  <a:pt x="500" y="259"/>
                  <a:pt x="482" y="256"/>
                </a:cubicBezTo>
                <a:cubicBezTo>
                  <a:pt x="465" y="254"/>
                  <a:pt x="449" y="266"/>
                  <a:pt x="446" y="283"/>
                </a:cubicBezTo>
                <a:cubicBezTo>
                  <a:pt x="433" y="376"/>
                  <a:pt x="353" y="448"/>
                  <a:pt x="256" y="448"/>
                </a:cubicBezTo>
                <a:cubicBezTo>
                  <a:pt x="203" y="448"/>
                  <a:pt x="155" y="426"/>
                  <a:pt x="120" y="392"/>
                </a:cubicBezTo>
                <a:cubicBezTo>
                  <a:pt x="120" y="392"/>
                  <a:pt x="120" y="391"/>
                  <a:pt x="120" y="391"/>
                </a:cubicBezTo>
                <a:lnTo>
                  <a:pt x="112" y="384"/>
                </a:lnTo>
                <a:lnTo>
                  <a:pt x="160" y="384"/>
                </a:lnTo>
                <a:cubicBezTo>
                  <a:pt x="178" y="384"/>
                  <a:pt x="192" y="370"/>
                  <a:pt x="192" y="352"/>
                </a:cubicBezTo>
                <a:cubicBezTo>
                  <a:pt x="192" y="334"/>
                  <a:pt x="178" y="320"/>
                  <a:pt x="160" y="320"/>
                </a:cubicBezTo>
                <a:lnTo>
                  <a:pt x="32" y="320"/>
                </a:lnTo>
                <a:cubicBezTo>
                  <a:pt x="24" y="320"/>
                  <a:pt x="15" y="323"/>
                  <a:pt x="9" y="330"/>
                </a:cubicBezTo>
                <a:cubicBezTo>
                  <a:pt x="3" y="336"/>
                  <a:pt x="0" y="344"/>
                  <a:pt x="0" y="352"/>
                </a:cubicBezTo>
                <a:lnTo>
                  <a:pt x="1" y="479"/>
                </a:lnTo>
                <a:cubicBezTo>
                  <a:pt x="1" y="497"/>
                  <a:pt x="16" y="511"/>
                  <a:pt x="33" y="511"/>
                </a:cubicBezTo>
                <a:cubicBezTo>
                  <a:pt x="51" y="511"/>
                  <a:pt x="65" y="496"/>
                  <a:pt x="65" y="479"/>
                </a:cubicBezTo>
                <a:lnTo>
                  <a:pt x="65" y="427"/>
                </a:lnTo>
                <a:lnTo>
                  <a:pt x="75" y="437"/>
                </a:lnTo>
                <a:cubicBezTo>
                  <a:pt x="122" y="483"/>
                  <a:pt x="186" y="512"/>
                  <a:pt x="256" y="512"/>
                </a:cubicBezTo>
                <a:cubicBezTo>
                  <a:pt x="385" y="512"/>
                  <a:pt x="492" y="417"/>
                  <a:pt x="509" y="29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620" name="v4-tt">
            <a:extLst>
              <a:ext uri="{FF2B5EF4-FFF2-40B4-BE49-F238E27FC236}">
                <a16:creationId xmlns:a16="http://schemas.microsoft.com/office/drawing/2014/main" id="{0F4B8FE0-892A-6CC5-EFCD-C0C0F7F8A7BF}"/>
              </a:ext>
            </a:extLst>
          </p:cNvPr>
          <p:cNvSpPr txBox="1"/>
          <p:nvPr/>
        </p:nvSpPr>
        <p:spPr>
          <a:xfrm>
            <a:off x="7781925" y="4245728"/>
            <a:ext cx="95250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713" b="1" noProof="1">
                <a:solidFill>
                  <a:schemeClr val="accent3"/>
                </a:solidFill>
                <a:latin typeface="+mn-ea"/>
                <a:cs typeface="MiSans"/>
              </a:rPr>
              <a:t>知识可复用</a:t>
            </a:r>
            <a:endParaRPr lang="en-US" sz="713" noProof="1">
              <a:solidFill>
                <a:schemeClr val="accent3"/>
              </a:solidFill>
              <a:latin typeface="+mn-ea"/>
              <a:cs typeface="MiSans"/>
            </a:endParaRPr>
          </a:p>
        </p:txBody>
      </p:sp>
      <p:sp>
        <p:nvSpPr>
          <p:cNvPr id="622" name="v4-ds">
            <a:extLst>
              <a:ext uri="{FF2B5EF4-FFF2-40B4-BE49-F238E27FC236}">
                <a16:creationId xmlns:a16="http://schemas.microsoft.com/office/drawing/2014/main" id="{DC276CD8-9C58-EF72-8FC3-FC66DACA5DDD}"/>
              </a:ext>
            </a:extLst>
          </p:cNvPr>
          <p:cNvSpPr txBox="1"/>
          <p:nvPr/>
        </p:nvSpPr>
        <p:spPr>
          <a:xfrm>
            <a:off x="7781925" y="4407653"/>
            <a:ext cx="104775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600" noProof="1">
                <a:solidFill>
                  <a:srgbClr val="6B7A90"/>
                </a:solidFill>
                <a:latin typeface="+mn-ea"/>
                <a:cs typeface="MiSans"/>
              </a:rPr>
              <a:t>全链路沉淀与复用</a:t>
            </a:r>
            <a:endParaRPr lang="en-US" sz="600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624" name="vd0">
            <a:extLst>
              <a:ext uri="{FF2B5EF4-FFF2-40B4-BE49-F238E27FC236}">
                <a16:creationId xmlns:a16="http://schemas.microsoft.com/office/drawing/2014/main" id="{A6A9DC7A-E639-333C-F1A8-5D354A14CBA8}"/>
              </a:ext>
            </a:extLst>
          </p:cNvPr>
          <p:cNvSpPr/>
          <p:nvPr/>
        </p:nvSpPr>
        <p:spPr>
          <a:xfrm>
            <a:off x="1323975" y="4226678"/>
            <a:ext cx="9525" cy="304800"/>
          </a:xfrm>
          <a:prstGeom prst="rect">
            <a:avLst/>
          </a:prstGeom>
          <a:solidFill>
            <a:srgbClr val="E8E9F2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626" name="vd1">
            <a:extLst>
              <a:ext uri="{FF2B5EF4-FFF2-40B4-BE49-F238E27FC236}">
                <a16:creationId xmlns:a16="http://schemas.microsoft.com/office/drawing/2014/main" id="{FC1A5556-FAA2-1A7F-DAAD-97082382E310}"/>
              </a:ext>
            </a:extLst>
          </p:cNvPr>
          <p:cNvSpPr/>
          <p:nvPr/>
        </p:nvSpPr>
        <p:spPr>
          <a:xfrm>
            <a:off x="2809875" y="4226678"/>
            <a:ext cx="9525" cy="304800"/>
          </a:xfrm>
          <a:prstGeom prst="rect">
            <a:avLst/>
          </a:prstGeom>
          <a:solidFill>
            <a:srgbClr val="E8E9F2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628" name="vd2">
            <a:extLst>
              <a:ext uri="{FF2B5EF4-FFF2-40B4-BE49-F238E27FC236}">
                <a16:creationId xmlns:a16="http://schemas.microsoft.com/office/drawing/2014/main" id="{454BDCC1-6003-A947-2650-0D5C10365853}"/>
              </a:ext>
            </a:extLst>
          </p:cNvPr>
          <p:cNvSpPr/>
          <p:nvPr/>
        </p:nvSpPr>
        <p:spPr>
          <a:xfrm>
            <a:off x="4305300" y="4226678"/>
            <a:ext cx="9525" cy="304800"/>
          </a:xfrm>
          <a:prstGeom prst="rect">
            <a:avLst/>
          </a:prstGeom>
          <a:solidFill>
            <a:srgbClr val="E8E9F2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630" name="vd3">
            <a:extLst>
              <a:ext uri="{FF2B5EF4-FFF2-40B4-BE49-F238E27FC236}">
                <a16:creationId xmlns:a16="http://schemas.microsoft.com/office/drawing/2014/main" id="{38825DDC-5A11-A17B-22E5-6940390963CB}"/>
              </a:ext>
            </a:extLst>
          </p:cNvPr>
          <p:cNvSpPr/>
          <p:nvPr/>
        </p:nvSpPr>
        <p:spPr>
          <a:xfrm>
            <a:off x="5791200" y="4226678"/>
            <a:ext cx="9525" cy="304800"/>
          </a:xfrm>
          <a:prstGeom prst="rect">
            <a:avLst/>
          </a:prstGeom>
          <a:solidFill>
            <a:srgbClr val="E8E9F2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632" name="vd4">
            <a:extLst>
              <a:ext uri="{FF2B5EF4-FFF2-40B4-BE49-F238E27FC236}">
                <a16:creationId xmlns:a16="http://schemas.microsoft.com/office/drawing/2014/main" id="{C5BB0021-26E5-5BBD-0362-36D3BB10BC6B}"/>
              </a:ext>
            </a:extLst>
          </p:cNvPr>
          <p:cNvSpPr/>
          <p:nvPr/>
        </p:nvSpPr>
        <p:spPr>
          <a:xfrm>
            <a:off x="7277100" y="4226678"/>
            <a:ext cx="9525" cy="304800"/>
          </a:xfrm>
          <a:prstGeom prst="rect">
            <a:avLst/>
          </a:prstGeom>
          <a:solidFill>
            <a:srgbClr val="E8E9F2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638" name="collect-note">
            <a:extLst>
              <a:ext uri="{FF2B5EF4-FFF2-40B4-BE49-F238E27FC236}">
                <a16:creationId xmlns:a16="http://schemas.microsoft.com/office/drawing/2014/main" id="{42D24C70-DA46-C0BC-649D-E3D448B03B1E}"/>
              </a:ext>
            </a:extLst>
          </p:cNvPr>
          <p:cNvSpPr>
            <a:spLocks noGrp="1"/>
          </p:cNvSpPr>
          <p:nvPr/>
        </p:nvSpPr>
        <p:spPr>
          <a:xfrm>
            <a:off x="1768862" y="960120"/>
            <a:ext cx="5459978" cy="2221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50" b="0">
                <a:solidFill>
                  <a:srgbClr val="607384"/>
                </a:solidFill>
              </a:defRPr>
            </a:pPr>
            <a:r>
              <a:rPr lang="zh-CN" altLang="en-US" sz="1000">
                <a:latin typeface="+mn-ea"/>
              </a:rPr>
              <a:t>将需求与设计转化为可执行规范，</a:t>
            </a:r>
            <a:r>
              <a:rPr lang="en-US" altLang="zh-CN" sz="1000">
                <a:latin typeface="+mn-ea"/>
              </a:rPr>
              <a:t>AI </a:t>
            </a:r>
            <a:r>
              <a:rPr lang="zh-CN" altLang="en-US" sz="1000">
                <a:latin typeface="+mn-ea"/>
              </a:rPr>
              <a:t>执行开发与验证，人负责关键决策与结果判断</a:t>
            </a:r>
          </a:p>
        </p:txBody>
      </p:sp>
      <p:sp>
        <p:nvSpPr>
          <p:cNvPr id="639" name="mp0-box">
            <a:extLst>
              <a:ext uri="{FF2B5EF4-FFF2-40B4-BE49-F238E27FC236}">
                <a16:creationId xmlns:a16="http://schemas.microsoft.com/office/drawing/2014/main" id="{8A9ECA8C-D7BE-A862-34D2-A4D613363F36}"/>
              </a:ext>
            </a:extLst>
          </p:cNvPr>
          <p:cNvSpPr/>
          <p:nvPr/>
        </p:nvSpPr>
        <p:spPr>
          <a:xfrm>
            <a:off x="1552575" y="3790638"/>
            <a:ext cx="941705" cy="142875"/>
          </a:xfrm>
          <a:prstGeom prst="roundRect">
            <a:avLst>
              <a:gd name="adj" fmla="val 24000"/>
            </a:avLst>
          </a:prstGeom>
          <a:solidFill>
            <a:srgbClr val="E5F7FF"/>
          </a:solidFill>
          <a:ln w="12700">
            <a:solidFill>
              <a:schemeClr val="accent3"/>
            </a:solidFill>
          </a:ln>
        </p:spPr>
        <p:txBody>
          <a:bodyPr/>
          <a:lstStyle/>
          <a:p>
            <a:pPr defTabSz="685800"/>
            <a:endParaRPr lang="zh-CN" altLang="en-US" sz="140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640" name="mp0-box">
            <a:extLst>
              <a:ext uri="{FF2B5EF4-FFF2-40B4-BE49-F238E27FC236}">
                <a16:creationId xmlns:a16="http://schemas.microsoft.com/office/drawing/2014/main" id="{13C54143-FA4C-1730-6AD4-68FF88D715E0}"/>
              </a:ext>
            </a:extLst>
          </p:cNvPr>
          <p:cNvSpPr/>
          <p:nvPr/>
        </p:nvSpPr>
        <p:spPr>
          <a:xfrm>
            <a:off x="2576512" y="3790638"/>
            <a:ext cx="941705" cy="142875"/>
          </a:xfrm>
          <a:prstGeom prst="roundRect">
            <a:avLst>
              <a:gd name="adj" fmla="val 24000"/>
            </a:avLst>
          </a:prstGeom>
          <a:solidFill>
            <a:srgbClr val="E5F7FF"/>
          </a:solidFill>
          <a:ln w="12700">
            <a:solidFill>
              <a:schemeClr val="accent3"/>
            </a:solidFill>
          </a:ln>
        </p:spPr>
        <p:txBody>
          <a:bodyPr/>
          <a:lstStyle/>
          <a:p>
            <a:pPr defTabSz="685800"/>
            <a:endParaRPr lang="zh-CN" altLang="en-US" sz="140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641" name="mp0-box">
            <a:extLst>
              <a:ext uri="{FF2B5EF4-FFF2-40B4-BE49-F238E27FC236}">
                <a16:creationId xmlns:a16="http://schemas.microsoft.com/office/drawing/2014/main" id="{E4E7498A-DB13-0E30-2A22-38E871593A57}"/>
              </a:ext>
            </a:extLst>
          </p:cNvPr>
          <p:cNvSpPr/>
          <p:nvPr/>
        </p:nvSpPr>
        <p:spPr>
          <a:xfrm>
            <a:off x="3585210" y="3790638"/>
            <a:ext cx="941705" cy="142875"/>
          </a:xfrm>
          <a:prstGeom prst="roundRect">
            <a:avLst>
              <a:gd name="adj" fmla="val 24000"/>
            </a:avLst>
          </a:prstGeom>
          <a:solidFill>
            <a:srgbClr val="E5F7FF"/>
          </a:solidFill>
          <a:ln w="12700">
            <a:solidFill>
              <a:schemeClr val="accent3"/>
            </a:solidFill>
          </a:ln>
        </p:spPr>
        <p:txBody>
          <a:bodyPr/>
          <a:lstStyle/>
          <a:p>
            <a:pPr defTabSz="685800"/>
            <a:endParaRPr lang="zh-CN" altLang="en-US" sz="140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642" name="mp0-box">
            <a:extLst>
              <a:ext uri="{FF2B5EF4-FFF2-40B4-BE49-F238E27FC236}">
                <a16:creationId xmlns:a16="http://schemas.microsoft.com/office/drawing/2014/main" id="{7804ED96-3AD3-4641-899C-F2220F8050B7}"/>
              </a:ext>
            </a:extLst>
          </p:cNvPr>
          <p:cNvSpPr/>
          <p:nvPr/>
        </p:nvSpPr>
        <p:spPr>
          <a:xfrm>
            <a:off x="4606290" y="3790638"/>
            <a:ext cx="941705" cy="142875"/>
          </a:xfrm>
          <a:prstGeom prst="roundRect">
            <a:avLst>
              <a:gd name="adj" fmla="val 24000"/>
            </a:avLst>
          </a:prstGeom>
          <a:solidFill>
            <a:srgbClr val="E5F7FF"/>
          </a:solidFill>
          <a:ln w="12700">
            <a:solidFill>
              <a:schemeClr val="accent3"/>
            </a:solidFill>
          </a:ln>
        </p:spPr>
        <p:txBody>
          <a:bodyPr/>
          <a:lstStyle/>
          <a:p>
            <a:pPr defTabSz="685800"/>
            <a:endParaRPr lang="zh-CN" altLang="en-US" sz="140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643" name="mp0-box">
            <a:extLst>
              <a:ext uri="{FF2B5EF4-FFF2-40B4-BE49-F238E27FC236}">
                <a16:creationId xmlns:a16="http://schemas.microsoft.com/office/drawing/2014/main" id="{56092990-2FA0-3EE4-453F-CC14FD78A8ED}"/>
              </a:ext>
            </a:extLst>
          </p:cNvPr>
          <p:cNvSpPr/>
          <p:nvPr/>
        </p:nvSpPr>
        <p:spPr>
          <a:xfrm>
            <a:off x="5640387" y="3790638"/>
            <a:ext cx="941705" cy="142875"/>
          </a:xfrm>
          <a:prstGeom prst="roundRect">
            <a:avLst>
              <a:gd name="adj" fmla="val 24000"/>
            </a:avLst>
          </a:prstGeom>
          <a:solidFill>
            <a:srgbClr val="E5F7FF"/>
          </a:solidFill>
          <a:ln w="12700">
            <a:solidFill>
              <a:schemeClr val="accent3"/>
            </a:solidFill>
          </a:ln>
        </p:spPr>
        <p:txBody>
          <a:bodyPr/>
          <a:lstStyle/>
          <a:p>
            <a:pPr defTabSz="685800"/>
            <a:endParaRPr lang="zh-CN" altLang="en-US" sz="140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644" name="mp0-box">
            <a:extLst>
              <a:ext uri="{FF2B5EF4-FFF2-40B4-BE49-F238E27FC236}">
                <a16:creationId xmlns:a16="http://schemas.microsoft.com/office/drawing/2014/main" id="{D42D5CA0-D682-CE71-D553-341F248E786F}"/>
              </a:ext>
            </a:extLst>
          </p:cNvPr>
          <p:cNvSpPr/>
          <p:nvPr/>
        </p:nvSpPr>
        <p:spPr>
          <a:xfrm>
            <a:off x="6653213" y="3790638"/>
            <a:ext cx="941705" cy="142875"/>
          </a:xfrm>
          <a:prstGeom prst="roundRect">
            <a:avLst>
              <a:gd name="adj" fmla="val 24000"/>
            </a:avLst>
          </a:prstGeom>
          <a:solidFill>
            <a:srgbClr val="E5F7FF"/>
          </a:solidFill>
          <a:ln w="12700">
            <a:solidFill>
              <a:schemeClr val="accent3"/>
            </a:solidFill>
          </a:ln>
        </p:spPr>
        <p:txBody>
          <a:bodyPr/>
          <a:lstStyle/>
          <a:p>
            <a:pPr defTabSz="685800"/>
            <a:endParaRPr lang="zh-CN" altLang="en-US" sz="140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645" name="mp0-box">
            <a:extLst>
              <a:ext uri="{FF2B5EF4-FFF2-40B4-BE49-F238E27FC236}">
                <a16:creationId xmlns:a16="http://schemas.microsoft.com/office/drawing/2014/main" id="{D73A5164-AA92-126F-6ACB-11206F663CBB}"/>
              </a:ext>
            </a:extLst>
          </p:cNvPr>
          <p:cNvSpPr/>
          <p:nvPr/>
        </p:nvSpPr>
        <p:spPr>
          <a:xfrm>
            <a:off x="7696201" y="3790638"/>
            <a:ext cx="944880" cy="142875"/>
          </a:xfrm>
          <a:prstGeom prst="roundRect">
            <a:avLst>
              <a:gd name="adj" fmla="val 24000"/>
            </a:avLst>
          </a:prstGeom>
          <a:solidFill>
            <a:srgbClr val="E5F7FF"/>
          </a:solidFill>
          <a:ln w="12700">
            <a:solidFill>
              <a:schemeClr val="accent3"/>
            </a:solidFill>
          </a:ln>
        </p:spPr>
        <p:txBody>
          <a:bodyPr/>
          <a:lstStyle/>
          <a:p>
            <a:pPr defTabSz="685800"/>
            <a:endParaRPr lang="zh-CN" altLang="en-US" sz="140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558" name="mp0-t">
            <a:extLst>
              <a:ext uri="{FF2B5EF4-FFF2-40B4-BE49-F238E27FC236}">
                <a16:creationId xmlns:a16="http://schemas.microsoft.com/office/drawing/2014/main" id="{DF797B18-7CCA-5073-4996-F5945BAF407B}"/>
              </a:ext>
            </a:extLst>
          </p:cNvPr>
          <p:cNvSpPr txBox="1"/>
          <p:nvPr/>
        </p:nvSpPr>
        <p:spPr>
          <a:xfrm>
            <a:off x="533400" y="3794119"/>
            <a:ext cx="89535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700" noProof="1">
                <a:latin typeface="+mn-ea"/>
                <a:cs typeface="MiSans"/>
              </a:rPr>
              <a:t>②Spec 冻结</a:t>
            </a:r>
          </a:p>
        </p:txBody>
      </p:sp>
      <p:sp>
        <p:nvSpPr>
          <p:cNvPr id="562" name="mp1-t">
            <a:extLst>
              <a:ext uri="{FF2B5EF4-FFF2-40B4-BE49-F238E27FC236}">
                <a16:creationId xmlns:a16="http://schemas.microsoft.com/office/drawing/2014/main" id="{5871E409-A288-2D13-99CB-D772FC3EBB10}"/>
              </a:ext>
            </a:extLst>
          </p:cNvPr>
          <p:cNvSpPr txBox="1"/>
          <p:nvPr/>
        </p:nvSpPr>
        <p:spPr>
          <a:xfrm>
            <a:off x="1495425" y="3794119"/>
            <a:ext cx="89535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700" noProof="1">
                <a:latin typeface="+mn-ea"/>
                <a:cs typeface="MiSans"/>
              </a:rPr>
              <a:t>① 需求结构化</a:t>
            </a:r>
          </a:p>
        </p:txBody>
      </p:sp>
      <p:sp>
        <p:nvSpPr>
          <p:cNvPr id="566" name="mp2-t">
            <a:extLst>
              <a:ext uri="{FF2B5EF4-FFF2-40B4-BE49-F238E27FC236}">
                <a16:creationId xmlns:a16="http://schemas.microsoft.com/office/drawing/2014/main" id="{AB5AA8C0-1B2B-57B0-9C5A-7AF851B8B7EA}"/>
              </a:ext>
            </a:extLst>
          </p:cNvPr>
          <p:cNvSpPr txBox="1"/>
          <p:nvPr/>
        </p:nvSpPr>
        <p:spPr>
          <a:xfrm>
            <a:off x="2614041" y="3794119"/>
            <a:ext cx="89535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700" noProof="1">
                <a:latin typeface="+mn-ea"/>
                <a:cs typeface="MiSans"/>
              </a:rPr>
              <a:t>① 需求结构化</a:t>
            </a:r>
          </a:p>
        </p:txBody>
      </p:sp>
      <p:sp>
        <p:nvSpPr>
          <p:cNvPr id="570" name="mp3-t">
            <a:extLst>
              <a:ext uri="{FF2B5EF4-FFF2-40B4-BE49-F238E27FC236}">
                <a16:creationId xmlns:a16="http://schemas.microsoft.com/office/drawing/2014/main" id="{AB88922C-C2B8-A9B0-1EDD-32AAAF6BCC0F}"/>
              </a:ext>
            </a:extLst>
          </p:cNvPr>
          <p:cNvSpPr txBox="1"/>
          <p:nvPr/>
        </p:nvSpPr>
        <p:spPr>
          <a:xfrm>
            <a:off x="3595687" y="3794119"/>
            <a:ext cx="89535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700" noProof="1">
                <a:latin typeface="+mn-ea"/>
                <a:cs typeface="MiSans"/>
              </a:rPr>
              <a:t>② Spec 冻结</a:t>
            </a:r>
          </a:p>
        </p:txBody>
      </p:sp>
      <p:sp>
        <p:nvSpPr>
          <p:cNvPr id="574" name="mp4-t">
            <a:extLst>
              <a:ext uri="{FF2B5EF4-FFF2-40B4-BE49-F238E27FC236}">
                <a16:creationId xmlns:a16="http://schemas.microsoft.com/office/drawing/2014/main" id="{5240A8E6-F562-F36D-D41F-DF0CF0D92DAC}"/>
              </a:ext>
            </a:extLst>
          </p:cNvPr>
          <p:cNvSpPr txBox="1"/>
          <p:nvPr/>
        </p:nvSpPr>
        <p:spPr>
          <a:xfrm>
            <a:off x="4629467" y="3794119"/>
            <a:ext cx="89535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700" noProof="1">
                <a:latin typeface="+mn-ea"/>
                <a:cs typeface="MiSans"/>
              </a:rPr>
              <a:t>③ 任务拆解</a:t>
            </a:r>
          </a:p>
        </p:txBody>
      </p:sp>
      <p:sp>
        <p:nvSpPr>
          <p:cNvPr id="578" name="mp5-t">
            <a:extLst>
              <a:ext uri="{FF2B5EF4-FFF2-40B4-BE49-F238E27FC236}">
                <a16:creationId xmlns:a16="http://schemas.microsoft.com/office/drawing/2014/main" id="{CF215526-C0D8-781D-5E52-D006DD0276E4}"/>
              </a:ext>
            </a:extLst>
          </p:cNvPr>
          <p:cNvSpPr txBox="1"/>
          <p:nvPr/>
        </p:nvSpPr>
        <p:spPr>
          <a:xfrm>
            <a:off x="5676900" y="3794119"/>
            <a:ext cx="89535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700" noProof="1">
                <a:latin typeface="+mn-ea"/>
                <a:cs typeface="MiSans"/>
              </a:rPr>
              <a:t>③/④ 过程检查</a:t>
            </a:r>
          </a:p>
        </p:txBody>
      </p:sp>
      <p:sp>
        <p:nvSpPr>
          <p:cNvPr id="582" name="mp6-t">
            <a:extLst>
              <a:ext uri="{FF2B5EF4-FFF2-40B4-BE49-F238E27FC236}">
                <a16:creationId xmlns:a16="http://schemas.microsoft.com/office/drawing/2014/main" id="{72E3F077-5359-6ED7-7252-2BA25936947A}"/>
              </a:ext>
            </a:extLst>
          </p:cNvPr>
          <p:cNvSpPr txBox="1"/>
          <p:nvPr/>
        </p:nvSpPr>
        <p:spPr>
          <a:xfrm>
            <a:off x="6653213" y="3794119"/>
            <a:ext cx="89535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700" noProof="1">
                <a:latin typeface="+mn-ea"/>
                <a:cs typeface="MiSans"/>
              </a:rPr>
              <a:t>④ AI 生成与验证</a:t>
            </a:r>
          </a:p>
        </p:txBody>
      </p:sp>
      <p:sp>
        <p:nvSpPr>
          <p:cNvPr id="586" name="mp7-t">
            <a:extLst>
              <a:ext uri="{FF2B5EF4-FFF2-40B4-BE49-F238E27FC236}">
                <a16:creationId xmlns:a16="http://schemas.microsoft.com/office/drawing/2014/main" id="{2460D915-3608-6DFB-3944-77A88748759F}"/>
              </a:ext>
            </a:extLst>
          </p:cNvPr>
          <p:cNvSpPr txBox="1"/>
          <p:nvPr/>
        </p:nvSpPr>
        <p:spPr>
          <a:xfrm>
            <a:off x="7716838" y="3794119"/>
            <a:ext cx="89535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700" noProof="1">
                <a:latin typeface="+mn-ea"/>
                <a:cs typeface="MiSans"/>
              </a:rPr>
              <a:t>④/⑥ 持续收敛</a:t>
            </a:r>
          </a:p>
        </p:txBody>
      </p:sp>
      <p:sp>
        <p:nvSpPr>
          <p:cNvPr id="649" name="lg-r1">
            <a:extLst>
              <a:ext uri="{FF2B5EF4-FFF2-40B4-BE49-F238E27FC236}">
                <a16:creationId xmlns:a16="http://schemas.microsoft.com/office/drawing/2014/main" id="{4A1A4394-EF06-A6AC-7CCE-B9CB808C170E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eyJpY29uTmFtZSI6ImZhczpyb2JvdCJ9</pptd:icon>
              </p:ext>
            </p:extLst>
          </p:nvPr>
        </p:nvSpPr>
        <p:spPr>
          <a:xfrm>
            <a:off x="7662862" y="266700"/>
            <a:ext cx="104775" cy="104775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352" y="0"/>
                </a:moveTo>
                <a:cubicBezTo>
                  <a:pt x="352" y="-18"/>
                  <a:pt x="338" y="-32"/>
                  <a:pt x="320" y="-32"/>
                </a:cubicBezTo>
                <a:cubicBezTo>
                  <a:pt x="302" y="-32"/>
                  <a:pt x="288" y="-18"/>
                  <a:pt x="288" y="0"/>
                </a:cubicBezTo>
                <a:lnTo>
                  <a:pt x="288" y="64"/>
                </a:lnTo>
                <a:lnTo>
                  <a:pt x="192" y="64"/>
                </a:lnTo>
                <a:cubicBezTo>
                  <a:pt x="139" y="64"/>
                  <a:pt x="96" y="107"/>
                  <a:pt x="96" y="160"/>
                </a:cubicBezTo>
                <a:lnTo>
                  <a:pt x="96" y="384"/>
                </a:lnTo>
                <a:cubicBezTo>
                  <a:pt x="96" y="437"/>
                  <a:pt x="139" y="480"/>
                  <a:pt x="192" y="480"/>
                </a:cubicBezTo>
                <a:lnTo>
                  <a:pt x="448" y="480"/>
                </a:lnTo>
                <a:cubicBezTo>
                  <a:pt x="501" y="480"/>
                  <a:pt x="544" y="437"/>
                  <a:pt x="544" y="384"/>
                </a:cubicBezTo>
                <a:lnTo>
                  <a:pt x="544" y="160"/>
                </a:lnTo>
                <a:cubicBezTo>
                  <a:pt x="544" y="107"/>
                  <a:pt x="501" y="64"/>
                  <a:pt x="448" y="64"/>
                </a:cubicBezTo>
                <a:lnTo>
                  <a:pt x="352" y="64"/>
                </a:lnTo>
                <a:lnTo>
                  <a:pt x="352" y="0"/>
                </a:lnTo>
                <a:close/>
                <a:moveTo>
                  <a:pt x="160" y="368"/>
                </a:moveTo>
                <a:cubicBezTo>
                  <a:pt x="160" y="355"/>
                  <a:pt x="171" y="344"/>
                  <a:pt x="184" y="344"/>
                </a:cubicBezTo>
                <a:lnTo>
                  <a:pt x="216" y="344"/>
                </a:lnTo>
                <a:cubicBezTo>
                  <a:pt x="229" y="344"/>
                  <a:pt x="240" y="355"/>
                  <a:pt x="240" y="368"/>
                </a:cubicBezTo>
                <a:cubicBezTo>
                  <a:pt x="240" y="381"/>
                  <a:pt x="229" y="392"/>
                  <a:pt x="216" y="392"/>
                </a:cubicBezTo>
                <a:lnTo>
                  <a:pt x="184" y="392"/>
                </a:lnTo>
                <a:cubicBezTo>
                  <a:pt x="171" y="392"/>
                  <a:pt x="160" y="381"/>
                  <a:pt x="160" y="368"/>
                </a:cubicBezTo>
                <a:close/>
                <a:moveTo>
                  <a:pt x="280" y="368"/>
                </a:moveTo>
                <a:cubicBezTo>
                  <a:pt x="280" y="355"/>
                  <a:pt x="291" y="344"/>
                  <a:pt x="304" y="344"/>
                </a:cubicBezTo>
                <a:lnTo>
                  <a:pt x="336" y="344"/>
                </a:lnTo>
                <a:cubicBezTo>
                  <a:pt x="349" y="344"/>
                  <a:pt x="360" y="355"/>
                  <a:pt x="360" y="368"/>
                </a:cubicBezTo>
                <a:cubicBezTo>
                  <a:pt x="360" y="381"/>
                  <a:pt x="349" y="392"/>
                  <a:pt x="336" y="392"/>
                </a:cubicBezTo>
                <a:lnTo>
                  <a:pt x="304" y="392"/>
                </a:lnTo>
                <a:cubicBezTo>
                  <a:pt x="291" y="392"/>
                  <a:pt x="280" y="381"/>
                  <a:pt x="280" y="368"/>
                </a:cubicBezTo>
                <a:close/>
                <a:moveTo>
                  <a:pt x="400" y="368"/>
                </a:moveTo>
                <a:cubicBezTo>
                  <a:pt x="400" y="355"/>
                  <a:pt x="411" y="344"/>
                  <a:pt x="424" y="344"/>
                </a:cubicBezTo>
                <a:lnTo>
                  <a:pt x="456" y="344"/>
                </a:lnTo>
                <a:cubicBezTo>
                  <a:pt x="469" y="344"/>
                  <a:pt x="480" y="355"/>
                  <a:pt x="480" y="368"/>
                </a:cubicBezTo>
                <a:cubicBezTo>
                  <a:pt x="480" y="381"/>
                  <a:pt x="469" y="392"/>
                  <a:pt x="456" y="392"/>
                </a:cubicBezTo>
                <a:lnTo>
                  <a:pt x="424" y="392"/>
                </a:lnTo>
                <a:cubicBezTo>
                  <a:pt x="411" y="392"/>
                  <a:pt x="400" y="381"/>
                  <a:pt x="400" y="368"/>
                </a:cubicBezTo>
                <a:close/>
                <a:moveTo>
                  <a:pt x="224" y="176"/>
                </a:moveTo>
                <a:cubicBezTo>
                  <a:pt x="251" y="176"/>
                  <a:pt x="272" y="197"/>
                  <a:pt x="272" y="224"/>
                </a:cubicBezTo>
                <a:cubicBezTo>
                  <a:pt x="272" y="251"/>
                  <a:pt x="251" y="272"/>
                  <a:pt x="224" y="272"/>
                </a:cubicBezTo>
                <a:cubicBezTo>
                  <a:pt x="197" y="272"/>
                  <a:pt x="176" y="251"/>
                  <a:pt x="176" y="224"/>
                </a:cubicBezTo>
                <a:cubicBezTo>
                  <a:pt x="176" y="197"/>
                  <a:pt x="197" y="176"/>
                  <a:pt x="224" y="176"/>
                </a:cubicBezTo>
                <a:close/>
                <a:moveTo>
                  <a:pt x="368" y="224"/>
                </a:moveTo>
                <a:cubicBezTo>
                  <a:pt x="368" y="197"/>
                  <a:pt x="389" y="176"/>
                  <a:pt x="416" y="176"/>
                </a:cubicBezTo>
                <a:cubicBezTo>
                  <a:pt x="443" y="176"/>
                  <a:pt x="464" y="197"/>
                  <a:pt x="464" y="224"/>
                </a:cubicBezTo>
                <a:cubicBezTo>
                  <a:pt x="464" y="251"/>
                  <a:pt x="443" y="272"/>
                  <a:pt x="416" y="272"/>
                </a:cubicBezTo>
                <a:cubicBezTo>
                  <a:pt x="389" y="272"/>
                  <a:pt x="368" y="251"/>
                  <a:pt x="368" y="224"/>
                </a:cubicBezTo>
                <a:close/>
              </a:path>
              <a:path w="640" h="512">
                <a:moveTo>
                  <a:pt x="64" y="224"/>
                </a:moveTo>
                <a:cubicBezTo>
                  <a:pt x="64" y="206"/>
                  <a:pt x="50" y="192"/>
                  <a:pt x="32" y="192"/>
                </a:cubicBezTo>
                <a:cubicBezTo>
                  <a:pt x="14" y="192"/>
                  <a:pt x="0" y="206"/>
                  <a:pt x="0" y="224"/>
                </a:cubicBezTo>
                <a:lnTo>
                  <a:pt x="0" y="320"/>
                </a:lnTo>
                <a:cubicBezTo>
                  <a:pt x="0" y="338"/>
                  <a:pt x="14" y="352"/>
                  <a:pt x="32" y="352"/>
                </a:cubicBezTo>
                <a:cubicBezTo>
                  <a:pt x="50" y="352"/>
                  <a:pt x="64" y="338"/>
                  <a:pt x="64" y="320"/>
                </a:cubicBezTo>
                <a:lnTo>
                  <a:pt x="64" y="224"/>
                </a:lnTo>
                <a:close/>
              </a:path>
              <a:path w="640" h="512">
                <a:moveTo>
                  <a:pt x="608" y="192"/>
                </a:moveTo>
                <a:cubicBezTo>
                  <a:pt x="590" y="192"/>
                  <a:pt x="576" y="206"/>
                  <a:pt x="576" y="224"/>
                </a:cubicBezTo>
                <a:lnTo>
                  <a:pt x="576" y="320"/>
                </a:lnTo>
                <a:cubicBezTo>
                  <a:pt x="576" y="338"/>
                  <a:pt x="590" y="352"/>
                  <a:pt x="608" y="352"/>
                </a:cubicBezTo>
                <a:cubicBezTo>
                  <a:pt x="626" y="352"/>
                  <a:pt x="640" y="338"/>
                  <a:pt x="640" y="320"/>
                </a:cubicBezTo>
                <a:lnTo>
                  <a:pt x="640" y="224"/>
                </a:lnTo>
                <a:cubicBezTo>
                  <a:pt x="640" y="206"/>
                  <a:pt x="626" y="192"/>
                  <a:pt x="608" y="19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latin typeface="+mn-ea"/>
              <a:cs typeface="MiSans"/>
            </a:endParaRPr>
          </a:p>
        </p:txBody>
      </p:sp>
      <p:sp>
        <p:nvSpPr>
          <p:cNvPr id="651" name="lg-t1">
            <a:extLst>
              <a:ext uri="{FF2B5EF4-FFF2-40B4-BE49-F238E27FC236}">
                <a16:creationId xmlns:a16="http://schemas.microsoft.com/office/drawing/2014/main" id="{C81BD6CA-268A-4520-517B-03232BBEE0AD}"/>
              </a:ext>
            </a:extLst>
          </p:cNvPr>
          <p:cNvSpPr txBox="1"/>
          <p:nvPr/>
        </p:nvSpPr>
        <p:spPr>
          <a:xfrm>
            <a:off x="7876540" y="257175"/>
            <a:ext cx="715010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700" noProof="1">
                <a:latin typeface="+mn-ea"/>
                <a:cs typeface="MiSans"/>
              </a:rPr>
              <a:t>AI 执行 / 生成</a:t>
            </a:r>
          </a:p>
        </p:txBody>
      </p:sp>
      <p:sp>
        <p:nvSpPr>
          <p:cNvPr id="653" name="lg-r2">
            <a:extLst>
              <a:ext uri="{FF2B5EF4-FFF2-40B4-BE49-F238E27FC236}">
                <a16:creationId xmlns:a16="http://schemas.microsoft.com/office/drawing/2014/main" id="{24595CA8-EDDA-DD99-79FF-05EFC731DB00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eyJpY29uTmFtZSI6ImZhczp1c2VyIn0</pptd:icon>
              </p:ext>
            </p:extLst>
          </p:nvPr>
        </p:nvSpPr>
        <p:spPr>
          <a:xfrm>
            <a:off x="7662862" y="447675"/>
            <a:ext cx="104775" cy="104775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224" y="248"/>
                </a:moveTo>
                <a:cubicBezTo>
                  <a:pt x="290" y="248"/>
                  <a:pt x="344" y="194"/>
                  <a:pt x="344" y="128"/>
                </a:cubicBezTo>
                <a:cubicBezTo>
                  <a:pt x="344" y="62"/>
                  <a:pt x="290" y="8"/>
                  <a:pt x="224" y="8"/>
                </a:cubicBezTo>
                <a:cubicBezTo>
                  <a:pt x="158" y="8"/>
                  <a:pt x="104" y="62"/>
                  <a:pt x="104" y="128"/>
                </a:cubicBezTo>
                <a:cubicBezTo>
                  <a:pt x="104" y="194"/>
                  <a:pt x="158" y="248"/>
                  <a:pt x="224" y="248"/>
                </a:cubicBezTo>
                <a:close/>
                <a:moveTo>
                  <a:pt x="194" y="304"/>
                </a:moveTo>
                <a:cubicBezTo>
                  <a:pt x="96" y="304"/>
                  <a:pt x="16" y="384"/>
                  <a:pt x="16" y="482"/>
                </a:cubicBezTo>
                <a:cubicBezTo>
                  <a:pt x="16" y="499"/>
                  <a:pt x="29" y="512"/>
                  <a:pt x="46" y="512"/>
                </a:cubicBezTo>
                <a:lnTo>
                  <a:pt x="402" y="512"/>
                </a:lnTo>
                <a:cubicBezTo>
                  <a:pt x="419" y="512"/>
                  <a:pt x="432" y="499"/>
                  <a:pt x="432" y="482"/>
                </a:cubicBezTo>
                <a:cubicBezTo>
                  <a:pt x="432" y="384"/>
                  <a:pt x="352" y="304"/>
                  <a:pt x="254" y="304"/>
                </a:cubicBezTo>
                <a:lnTo>
                  <a:pt x="194" y="304"/>
                </a:lnTo>
                <a:close/>
              </a:path>
            </a:pathLst>
          </a:custGeom>
          <a:solidFill>
            <a:srgbClr val="129B75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latin typeface="+mn-ea"/>
              <a:cs typeface="MiSans"/>
            </a:endParaRPr>
          </a:p>
        </p:txBody>
      </p:sp>
      <p:sp>
        <p:nvSpPr>
          <p:cNvPr id="655" name="lg-t2">
            <a:extLst>
              <a:ext uri="{FF2B5EF4-FFF2-40B4-BE49-F238E27FC236}">
                <a16:creationId xmlns:a16="http://schemas.microsoft.com/office/drawing/2014/main" id="{EB543ECF-86AF-7715-B783-F885612C9AF0}"/>
              </a:ext>
            </a:extLst>
          </p:cNvPr>
          <p:cNvSpPr txBox="1"/>
          <p:nvPr/>
        </p:nvSpPr>
        <p:spPr>
          <a:xfrm>
            <a:off x="7876540" y="438150"/>
            <a:ext cx="715010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700" noProof="1">
                <a:latin typeface="+mn-ea"/>
                <a:cs typeface="MiSans"/>
              </a:rPr>
              <a:t>人工决策 / 审查</a:t>
            </a:r>
          </a:p>
        </p:txBody>
      </p:sp>
      <p:sp>
        <p:nvSpPr>
          <p:cNvPr id="657" name="lg-r3a">
            <a:extLst>
              <a:ext uri="{FF2B5EF4-FFF2-40B4-BE49-F238E27FC236}">
                <a16:creationId xmlns:a16="http://schemas.microsoft.com/office/drawing/2014/main" id="{F86EC212-D2C5-8844-0447-6B69EE87E330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eyJpY29uTmFtZSI6ImZhczpyb2JvdCJ9</pptd:icon>
              </p:ext>
            </p:extLst>
          </p:nvPr>
        </p:nvSpPr>
        <p:spPr>
          <a:xfrm>
            <a:off x="7615237" y="628650"/>
            <a:ext cx="95250" cy="9525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352" y="0"/>
                </a:moveTo>
                <a:cubicBezTo>
                  <a:pt x="352" y="-18"/>
                  <a:pt x="338" y="-32"/>
                  <a:pt x="320" y="-32"/>
                </a:cubicBezTo>
                <a:cubicBezTo>
                  <a:pt x="302" y="-32"/>
                  <a:pt x="288" y="-18"/>
                  <a:pt x="288" y="0"/>
                </a:cubicBezTo>
                <a:lnTo>
                  <a:pt x="288" y="64"/>
                </a:lnTo>
                <a:lnTo>
                  <a:pt x="192" y="64"/>
                </a:lnTo>
                <a:cubicBezTo>
                  <a:pt x="139" y="64"/>
                  <a:pt x="96" y="107"/>
                  <a:pt x="96" y="160"/>
                </a:cubicBezTo>
                <a:lnTo>
                  <a:pt x="96" y="384"/>
                </a:lnTo>
                <a:cubicBezTo>
                  <a:pt x="96" y="437"/>
                  <a:pt x="139" y="480"/>
                  <a:pt x="192" y="480"/>
                </a:cubicBezTo>
                <a:lnTo>
                  <a:pt x="448" y="480"/>
                </a:lnTo>
                <a:cubicBezTo>
                  <a:pt x="501" y="480"/>
                  <a:pt x="544" y="437"/>
                  <a:pt x="544" y="384"/>
                </a:cubicBezTo>
                <a:lnTo>
                  <a:pt x="544" y="160"/>
                </a:lnTo>
                <a:cubicBezTo>
                  <a:pt x="544" y="107"/>
                  <a:pt x="501" y="64"/>
                  <a:pt x="448" y="64"/>
                </a:cubicBezTo>
                <a:lnTo>
                  <a:pt x="352" y="64"/>
                </a:lnTo>
                <a:lnTo>
                  <a:pt x="352" y="0"/>
                </a:lnTo>
                <a:close/>
                <a:moveTo>
                  <a:pt x="160" y="368"/>
                </a:moveTo>
                <a:cubicBezTo>
                  <a:pt x="160" y="355"/>
                  <a:pt x="171" y="344"/>
                  <a:pt x="184" y="344"/>
                </a:cubicBezTo>
                <a:lnTo>
                  <a:pt x="216" y="344"/>
                </a:lnTo>
                <a:cubicBezTo>
                  <a:pt x="229" y="344"/>
                  <a:pt x="240" y="355"/>
                  <a:pt x="240" y="368"/>
                </a:cubicBezTo>
                <a:cubicBezTo>
                  <a:pt x="240" y="381"/>
                  <a:pt x="229" y="392"/>
                  <a:pt x="216" y="392"/>
                </a:cubicBezTo>
                <a:lnTo>
                  <a:pt x="184" y="392"/>
                </a:lnTo>
                <a:cubicBezTo>
                  <a:pt x="171" y="392"/>
                  <a:pt x="160" y="381"/>
                  <a:pt x="160" y="368"/>
                </a:cubicBezTo>
                <a:close/>
                <a:moveTo>
                  <a:pt x="280" y="368"/>
                </a:moveTo>
                <a:cubicBezTo>
                  <a:pt x="280" y="355"/>
                  <a:pt x="291" y="344"/>
                  <a:pt x="304" y="344"/>
                </a:cubicBezTo>
                <a:lnTo>
                  <a:pt x="336" y="344"/>
                </a:lnTo>
                <a:cubicBezTo>
                  <a:pt x="349" y="344"/>
                  <a:pt x="360" y="355"/>
                  <a:pt x="360" y="368"/>
                </a:cubicBezTo>
                <a:cubicBezTo>
                  <a:pt x="360" y="381"/>
                  <a:pt x="349" y="392"/>
                  <a:pt x="336" y="392"/>
                </a:cubicBezTo>
                <a:lnTo>
                  <a:pt x="304" y="392"/>
                </a:lnTo>
                <a:cubicBezTo>
                  <a:pt x="291" y="392"/>
                  <a:pt x="280" y="381"/>
                  <a:pt x="280" y="368"/>
                </a:cubicBezTo>
                <a:close/>
                <a:moveTo>
                  <a:pt x="400" y="368"/>
                </a:moveTo>
                <a:cubicBezTo>
                  <a:pt x="400" y="355"/>
                  <a:pt x="411" y="344"/>
                  <a:pt x="424" y="344"/>
                </a:cubicBezTo>
                <a:lnTo>
                  <a:pt x="456" y="344"/>
                </a:lnTo>
                <a:cubicBezTo>
                  <a:pt x="469" y="344"/>
                  <a:pt x="480" y="355"/>
                  <a:pt x="480" y="368"/>
                </a:cubicBezTo>
                <a:cubicBezTo>
                  <a:pt x="480" y="381"/>
                  <a:pt x="469" y="392"/>
                  <a:pt x="456" y="392"/>
                </a:cubicBezTo>
                <a:lnTo>
                  <a:pt x="424" y="392"/>
                </a:lnTo>
                <a:cubicBezTo>
                  <a:pt x="411" y="392"/>
                  <a:pt x="400" y="381"/>
                  <a:pt x="400" y="368"/>
                </a:cubicBezTo>
                <a:close/>
                <a:moveTo>
                  <a:pt x="224" y="176"/>
                </a:moveTo>
                <a:cubicBezTo>
                  <a:pt x="251" y="176"/>
                  <a:pt x="272" y="197"/>
                  <a:pt x="272" y="224"/>
                </a:cubicBezTo>
                <a:cubicBezTo>
                  <a:pt x="272" y="251"/>
                  <a:pt x="251" y="272"/>
                  <a:pt x="224" y="272"/>
                </a:cubicBezTo>
                <a:cubicBezTo>
                  <a:pt x="197" y="272"/>
                  <a:pt x="176" y="251"/>
                  <a:pt x="176" y="224"/>
                </a:cubicBezTo>
                <a:cubicBezTo>
                  <a:pt x="176" y="197"/>
                  <a:pt x="197" y="176"/>
                  <a:pt x="224" y="176"/>
                </a:cubicBezTo>
                <a:close/>
                <a:moveTo>
                  <a:pt x="368" y="224"/>
                </a:moveTo>
                <a:cubicBezTo>
                  <a:pt x="368" y="197"/>
                  <a:pt x="389" y="176"/>
                  <a:pt x="416" y="176"/>
                </a:cubicBezTo>
                <a:cubicBezTo>
                  <a:pt x="443" y="176"/>
                  <a:pt x="464" y="197"/>
                  <a:pt x="464" y="224"/>
                </a:cubicBezTo>
                <a:cubicBezTo>
                  <a:pt x="464" y="251"/>
                  <a:pt x="443" y="272"/>
                  <a:pt x="416" y="272"/>
                </a:cubicBezTo>
                <a:cubicBezTo>
                  <a:pt x="389" y="272"/>
                  <a:pt x="368" y="251"/>
                  <a:pt x="368" y="224"/>
                </a:cubicBezTo>
                <a:close/>
              </a:path>
              <a:path w="640" h="512">
                <a:moveTo>
                  <a:pt x="64" y="224"/>
                </a:moveTo>
                <a:cubicBezTo>
                  <a:pt x="64" y="206"/>
                  <a:pt x="50" y="192"/>
                  <a:pt x="32" y="192"/>
                </a:cubicBezTo>
                <a:cubicBezTo>
                  <a:pt x="14" y="192"/>
                  <a:pt x="0" y="206"/>
                  <a:pt x="0" y="224"/>
                </a:cubicBezTo>
                <a:lnTo>
                  <a:pt x="0" y="320"/>
                </a:lnTo>
                <a:cubicBezTo>
                  <a:pt x="0" y="338"/>
                  <a:pt x="14" y="352"/>
                  <a:pt x="32" y="352"/>
                </a:cubicBezTo>
                <a:cubicBezTo>
                  <a:pt x="50" y="352"/>
                  <a:pt x="64" y="338"/>
                  <a:pt x="64" y="320"/>
                </a:cubicBezTo>
                <a:lnTo>
                  <a:pt x="64" y="224"/>
                </a:lnTo>
                <a:close/>
              </a:path>
              <a:path w="640" h="512">
                <a:moveTo>
                  <a:pt x="608" y="192"/>
                </a:moveTo>
                <a:cubicBezTo>
                  <a:pt x="590" y="192"/>
                  <a:pt x="576" y="206"/>
                  <a:pt x="576" y="224"/>
                </a:cubicBezTo>
                <a:lnTo>
                  <a:pt x="576" y="320"/>
                </a:lnTo>
                <a:cubicBezTo>
                  <a:pt x="576" y="338"/>
                  <a:pt x="590" y="352"/>
                  <a:pt x="608" y="352"/>
                </a:cubicBezTo>
                <a:cubicBezTo>
                  <a:pt x="626" y="352"/>
                  <a:pt x="640" y="338"/>
                  <a:pt x="640" y="320"/>
                </a:cubicBezTo>
                <a:lnTo>
                  <a:pt x="640" y="224"/>
                </a:lnTo>
                <a:cubicBezTo>
                  <a:pt x="640" y="206"/>
                  <a:pt x="626" y="192"/>
                  <a:pt x="608" y="19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latin typeface="+mn-ea"/>
              <a:cs typeface="MiSans"/>
            </a:endParaRPr>
          </a:p>
        </p:txBody>
      </p:sp>
      <p:sp>
        <p:nvSpPr>
          <p:cNvPr id="659" name="lg-r3b">
            <a:extLst>
              <a:ext uri="{FF2B5EF4-FFF2-40B4-BE49-F238E27FC236}">
                <a16:creationId xmlns:a16="http://schemas.microsoft.com/office/drawing/2014/main" id="{1E104EFF-FD01-1362-668E-1C1AB16922B9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eyJpY29uTmFtZSI6ImZhczp1c2VyIn0</pptd:icon>
              </p:ext>
            </p:extLst>
          </p:nvPr>
        </p:nvSpPr>
        <p:spPr>
          <a:xfrm>
            <a:off x="7743825" y="628650"/>
            <a:ext cx="95250" cy="9525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224" y="248"/>
                </a:moveTo>
                <a:cubicBezTo>
                  <a:pt x="290" y="248"/>
                  <a:pt x="344" y="194"/>
                  <a:pt x="344" y="128"/>
                </a:cubicBezTo>
                <a:cubicBezTo>
                  <a:pt x="344" y="62"/>
                  <a:pt x="290" y="8"/>
                  <a:pt x="224" y="8"/>
                </a:cubicBezTo>
                <a:cubicBezTo>
                  <a:pt x="158" y="8"/>
                  <a:pt x="104" y="62"/>
                  <a:pt x="104" y="128"/>
                </a:cubicBezTo>
                <a:cubicBezTo>
                  <a:pt x="104" y="194"/>
                  <a:pt x="158" y="248"/>
                  <a:pt x="224" y="248"/>
                </a:cubicBezTo>
                <a:close/>
                <a:moveTo>
                  <a:pt x="194" y="304"/>
                </a:moveTo>
                <a:cubicBezTo>
                  <a:pt x="96" y="304"/>
                  <a:pt x="16" y="384"/>
                  <a:pt x="16" y="482"/>
                </a:cubicBezTo>
                <a:cubicBezTo>
                  <a:pt x="16" y="499"/>
                  <a:pt x="29" y="512"/>
                  <a:pt x="46" y="512"/>
                </a:cubicBezTo>
                <a:lnTo>
                  <a:pt x="402" y="512"/>
                </a:lnTo>
                <a:cubicBezTo>
                  <a:pt x="419" y="512"/>
                  <a:pt x="432" y="499"/>
                  <a:pt x="432" y="482"/>
                </a:cubicBezTo>
                <a:cubicBezTo>
                  <a:pt x="432" y="384"/>
                  <a:pt x="352" y="304"/>
                  <a:pt x="254" y="304"/>
                </a:cubicBezTo>
                <a:lnTo>
                  <a:pt x="194" y="304"/>
                </a:lnTo>
                <a:close/>
              </a:path>
            </a:pathLst>
          </a:custGeom>
          <a:solidFill>
            <a:srgbClr val="129B75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latin typeface="+mn-ea"/>
              <a:cs typeface="MiSans"/>
            </a:endParaRPr>
          </a:p>
        </p:txBody>
      </p:sp>
      <p:sp>
        <p:nvSpPr>
          <p:cNvPr id="661" name="lg-t3">
            <a:extLst>
              <a:ext uri="{FF2B5EF4-FFF2-40B4-BE49-F238E27FC236}">
                <a16:creationId xmlns:a16="http://schemas.microsoft.com/office/drawing/2014/main" id="{2C1D3329-EDBD-FFC9-0F77-B70DF96437CE}"/>
              </a:ext>
            </a:extLst>
          </p:cNvPr>
          <p:cNvSpPr txBox="1"/>
          <p:nvPr/>
        </p:nvSpPr>
        <p:spPr>
          <a:xfrm>
            <a:off x="7876541" y="619125"/>
            <a:ext cx="679260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700" noProof="1">
                <a:latin typeface="+mn-ea"/>
                <a:cs typeface="MiSans"/>
              </a:rPr>
              <a:t>人机协同</a:t>
            </a:r>
          </a:p>
        </p:txBody>
      </p:sp>
    </p:spTree>
    <p:extLst>
      <p:ext uri="{BB962C8B-B14F-4D97-AF65-F5344CB8AC3E}">
        <p14:creationId xmlns:p14="http://schemas.microsoft.com/office/powerpoint/2010/main" val="33182570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77825" y="246888"/>
            <a:ext cx="7923047" cy="377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685800"/>
            <a:endParaRPr lang="en-US" sz="1875">
              <a:solidFill>
                <a:srgbClr val="009CDE"/>
              </a:solidFill>
              <a:latin typeface="Georgia"/>
            </a:endParaRPr>
          </a:p>
        </p:txBody>
      </p:sp>
      <p:sp>
        <p:nvSpPr>
          <p:cNvPr id="5" name="Text 3"/>
          <p:cNvSpPr/>
          <p:nvPr/>
        </p:nvSpPr>
        <p:spPr>
          <a:xfrm>
            <a:off x="877825" y="987279"/>
            <a:ext cx="6950331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1050" err="1">
                <a:solidFill>
                  <a:srgbClr val="667085"/>
                </a:solidFill>
                <a:latin typeface="Georgia"/>
                <a:ea typeface="微软雅黑" pitchFamily="34" charset="-122"/>
                <a:cs typeface="微软雅黑" pitchFamily="34" charset="-120"/>
              </a:rPr>
              <a:t>不是「没有人</a:t>
            </a:r>
            <a:r>
              <a:rPr lang="en-US" sz="1050">
                <a:solidFill>
                  <a:srgbClr val="667085"/>
                </a:solidFill>
                <a:latin typeface="Georgia"/>
                <a:ea typeface="微软雅黑" pitchFamily="34" charset="-122"/>
                <a:cs typeface="微软雅黑" pitchFamily="34" charset="-120"/>
              </a:rPr>
              <a:t>」，</a:t>
            </a:r>
            <a:r>
              <a:rPr lang="en-US" sz="1050" err="1">
                <a:solidFill>
                  <a:srgbClr val="667085"/>
                </a:solidFill>
                <a:latin typeface="Georgia"/>
                <a:ea typeface="微软雅黑" pitchFamily="34" charset="-122"/>
                <a:cs typeface="微软雅黑" pitchFamily="34" charset="-120"/>
              </a:rPr>
              <a:t>而是把传统团队职责重组成功能角色</a:t>
            </a:r>
            <a:r>
              <a:rPr lang="en-US" sz="1050">
                <a:solidFill>
                  <a:srgbClr val="667085"/>
                </a:solidFill>
                <a:latin typeface="Georgia"/>
                <a:ea typeface="微软雅黑" pitchFamily="34" charset="-122"/>
                <a:cs typeface="微软雅黑" pitchFamily="34" charset="-120"/>
              </a:rPr>
              <a:t> — </a:t>
            </a:r>
            <a:r>
              <a:rPr lang="en-US" sz="1050" err="1">
                <a:solidFill>
                  <a:srgbClr val="667085"/>
                </a:solidFill>
                <a:latin typeface="Georgia"/>
                <a:ea typeface="微软雅黑" pitchFamily="34" charset="-122"/>
                <a:cs typeface="微软雅黑" pitchFamily="34" charset="-120"/>
              </a:rPr>
              <a:t>本项目配置</a:t>
            </a:r>
            <a:r>
              <a:rPr lang="en-US" sz="1050">
                <a:solidFill>
                  <a:srgbClr val="667085"/>
                </a:solidFill>
                <a:latin typeface="Georgia"/>
                <a:ea typeface="微软雅黑" pitchFamily="34" charset="-122"/>
                <a:cs typeface="微软雅黑" pitchFamily="34" charset="-120"/>
              </a:rPr>
              <a:t> </a:t>
            </a:r>
            <a:r>
              <a:rPr lang="en-US" altLang="zh-CN" sz="1050">
                <a:solidFill>
                  <a:srgbClr val="667085"/>
                </a:solidFill>
                <a:latin typeface="Georgia"/>
                <a:ea typeface="微软雅黑" pitchFamily="34" charset="-122"/>
                <a:cs typeface="微软雅黑" pitchFamily="34" charset="-120"/>
              </a:rPr>
              <a:t>4</a:t>
            </a:r>
            <a:r>
              <a:rPr lang="en-US" sz="1050">
                <a:solidFill>
                  <a:srgbClr val="667085"/>
                </a:solidFill>
                <a:latin typeface="Georgia"/>
                <a:ea typeface="微软雅黑" pitchFamily="34" charset="-122"/>
                <a:cs typeface="微软雅黑" pitchFamily="34" charset="-120"/>
              </a:rPr>
              <a:t> 人（</a:t>
            </a:r>
            <a:r>
              <a:rPr lang="en-US" altLang="zh-CN" sz="1050">
                <a:solidFill>
                  <a:srgbClr val="667085"/>
                </a:solidFill>
                <a:latin typeface="Georgia"/>
                <a:ea typeface="微软雅黑" pitchFamily="34" charset="-122"/>
                <a:cs typeface="微软雅黑" pitchFamily="34" charset="-120"/>
              </a:rPr>
              <a:t>0.5</a:t>
            </a:r>
            <a:r>
              <a:rPr lang="zh-CN" altLang="en-US" sz="1050">
                <a:solidFill>
                  <a:srgbClr val="667085"/>
                </a:solidFill>
                <a:latin typeface="Georgia"/>
                <a:ea typeface="微软雅黑" pitchFamily="34" charset="-122"/>
                <a:cs typeface="微软雅黑" pitchFamily="34" charset="-120"/>
              </a:rPr>
              <a:t>业务</a:t>
            </a:r>
            <a:r>
              <a:rPr lang="en-US" altLang="zh-CN" sz="1050">
                <a:solidFill>
                  <a:srgbClr val="667085"/>
                </a:solidFill>
                <a:latin typeface="Georgia"/>
                <a:ea typeface="微软雅黑" pitchFamily="34" charset="-122"/>
                <a:cs typeface="微软雅黑" pitchFamily="34" charset="-120"/>
              </a:rPr>
              <a:t>+</a:t>
            </a:r>
            <a:r>
              <a:rPr lang="en-US" sz="1050">
                <a:solidFill>
                  <a:srgbClr val="667085"/>
                </a:solidFill>
                <a:latin typeface="Georgia"/>
                <a:ea typeface="微软雅黑" pitchFamily="34" charset="-122"/>
                <a:cs typeface="微软雅黑" pitchFamily="34" charset="-120"/>
              </a:rPr>
              <a:t>1架构师+2工程师+0.5测试）</a:t>
            </a:r>
            <a:endParaRPr lang="en-US" sz="1050">
              <a:solidFill>
                <a:srgbClr val="000000"/>
              </a:solidFill>
              <a:latin typeface="Georgia"/>
            </a:endParaRPr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728608"/>
              </p:ext>
            </p:extLst>
          </p:nvPr>
        </p:nvGraphicFramePr>
        <p:xfrm>
          <a:off x="351011" y="1284265"/>
          <a:ext cx="8457971" cy="3058290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01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16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chemeClr val="bg1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角色</a:t>
                      </a:r>
                      <a:endParaRPr lang="en-US" sz="900">
                        <a:solidFill>
                          <a:schemeClr val="bg1"/>
                        </a:solidFill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C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chemeClr val="bg1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传统</a:t>
                      </a:r>
                      <a:endParaRPr lang="en-US" sz="900">
                        <a:solidFill>
                          <a:schemeClr val="bg1"/>
                        </a:solidFill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C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chemeClr val="bg1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关键区别</a:t>
                      </a:r>
                      <a:endParaRPr lang="en-US" sz="900">
                        <a:solidFill>
                          <a:schemeClr val="bg1"/>
                        </a:solidFill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C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chemeClr val="bg1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现在谁做</a:t>
                      </a:r>
                      <a:endParaRPr lang="en-US" sz="900">
                        <a:solidFill>
                          <a:schemeClr val="bg1"/>
                        </a:solidFill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C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4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>
                          <a:solidFill>
                            <a:srgbClr val="10233B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PO  产品/需求负责人</a:t>
                      </a:r>
                      <a:endParaRPr lang="en-US" sz="80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产品经理写优先级、</a:t>
                      </a:r>
                      <a:endParaRPr lang="en-US" sz="800">
                        <a:solidFill>
                          <a:schemeClr val="tx1"/>
                        </a:solidFill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开会拍板</a:t>
                      </a:r>
                      <a:endParaRPr lang="en-US" sz="800">
                        <a:solidFill>
                          <a:schemeClr val="tx1"/>
                        </a:solidFill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err="1">
                          <a:solidFill>
                            <a:schemeClr val="tx1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只拍板目标与验收标准</a:t>
                      </a:r>
                      <a:endParaRPr lang="en-US" sz="800">
                        <a:solidFill>
                          <a:schemeClr val="tx1"/>
                        </a:solidFill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err="1">
                          <a:solidFill>
                            <a:schemeClr val="tx1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团队</a:t>
                      </a:r>
                      <a:r>
                        <a:rPr lang="en-US" sz="800">
                          <a:solidFill>
                            <a:schemeClr val="tx1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 </a:t>
                      </a: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0.5</a:t>
                      </a:r>
                      <a:r>
                        <a:rPr lang="en-US" sz="800">
                          <a:solidFill>
                            <a:schemeClr val="tx1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 人</a:t>
                      </a:r>
                      <a:r>
                        <a:rPr lang="zh-CN" altLang="en-US" sz="800">
                          <a:solidFill>
                            <a:schemeClr val="tx1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，</a:t>
                      </a:r>
                      <a:r>
                        <a:rPr lang="en-US" sz="800" err="1">
                          <a:solidFill>
                            <a:schemeClr val="tx1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业务方担任</a:t>
                      </a:r>
                      <a:endParaRPr lang="en-US" sz="800">
                        <a:solidFill>
                          <a:schemeClr val="tx1"/>
                        </a:solidFill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4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>
                          <a:solidFill>
                            <a:srgbClr val="10233B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Arch  架构师/技术负责人</a:t>
                      </a:r>
                      <a:endParaRPr lang="en-US" sz="80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写规范文档，</a:t>
                      </a:r>
                      <a:endParaRPr lang="en-US" sz="800">
                        <a:solidFill>
                          <a:schemeClr val="tx1"/>
                        </a:solidFill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评审后归档</a:t>
                      </a:r>
                      <a:endParaRPr lang="en-US" sz="800">
                        <a:solidFill>
                          <a:schemeClr val="tx1"/>
                        </a:solidFill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变成宪法 owner：规格与跨边界最终拍板，</a:t>
                      </a:r>
                      <a:endParaRPr lang="en-US" sz="800">
                        <a:solidFill>
                          <a:schemeClr val="tx1"/>
                        </a:solidFill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文档给机器强制执行</a:t>
                      </a:r>
                      <a:endParaRPr lang="en-US" sz="800">
                        <a:solidFill>
                          <a:schemeClr val="tx1"/>
                        </a:solidFill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团队 1 人，兼 AI 宪法 owner</a:t>
                      </a:r>
                      <a:endParaRPr lang="en-US" sz="800">
                        <a:solidFill>
                          <a:schemeClr val="tx1"/>
                        </a:solidFill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4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>
                          <a:solidFill>
                            <a:srgbClr val="10233B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Eng  AI 编排工程师</a:t>
                      </a:r>
                      <a:endParaRPr lang="en-US" sz="80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逐行手写代码</a:t>
                      </a:r>
                      <a:endParaRPr lang="en-US" sz="800">
                        <a:solidFill>
                          <a:schemeClr val="tx1"/>
                        </a:solidFill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从「写代码」变成驾会话、审 diff 合并</a:t>
                      </a:r>
                      <a:endParaRPr lang="en-US" sz="800">
                        <a:solidFill>
                          <a:schemeClr val="tx1"/>
                        </a:solidFill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团队 2 人</a:t>
                      </a:r>
                      <a:endParaRPr lang="en-US" sz="800">
                        <a:solidFill>
                          <a:schemeClr val="tx1"/>
                        </a:solidFill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94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>
                          <a:solidFill>
                            <a:srgbClr val="10233B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Sec  安全与合规审查员 【新增】</a:t>
                      </a:r>
                      <a:endParaRPr lang="en-US" sz="80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通常无此岗，</a:t>
                      </a:r>
                      <a:endParaRPr lang="en-US" sz="800">
                        <a:solidFill>
                          <a:schemeClr val="tx1"/>
                        </a:solidFill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资深开发/测试兼顾</a:t>
                      </a:r>
                      <a:endParaRPr lang="en-US" sz="800">
                        <a:solidFill>
                          <a:schemeClr val="tx1"/>
                        </a:solidFill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独立闸门：三类敏感 diff 必须人审，</a:t>
                      </a:r>
                      <a:endParaRPr lang="en-US" sz="800">
                        <a:solidFill>
                          <a:schemeClr val="tx1"/>
                        </a:solidFill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AI 不能当裁判</a:t>
                      </a:r>
                      <a:endParaRPr lang="en-US" sz="800">
                        <a:solidFill>
                          <a:schemeClr val="tx1"/>
                        </a:solidFill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架构师兼，不可省略</a:t>
                      </a:r>
                      <a:endParaRPr lang="en-US" sz="800">
                        <a:solidFill>
                          <a:schemeClr val="tx1"/>
                        </a:solidFill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94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>
                          <a:solidFill>
                            <a:srgbClr val="10233B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QA  测试工程师</a:t>
                      </a:r>
                      <a:endParaRPr lang="en-US" sz="80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事后手写用例、</a:t>
                      </a:r>
                      <a:endParaRPr lang="en-US" sz="800">
                        <a:solidFill>
                          <a:schemeClr val="tx1"/>
                        </a:solidFill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补测</a:t>
                      </a:r>
                      <a:endParaRPr lang="en-US" sz="800">
                        <a:solidFill>
                          <a:schemeClr val="tx1"/>
                        </a:solidFill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从「手写用例」变成定标准、验收回放、</a:t>
                      </a:r>
                      <a:endParaRPr lang="en-US" sz="800">
                        <a:solidFill>
                          <a:schemeClr val="tx1"/>
                        </a:solidFill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卡覆盖率</a:t>
                      </a:r>
                      <a:endParaRPr lang="en-US" sz="800">
                        <a:solidFill>
                          <a:schemeClr val="tx1"/>
                        </a:solidFill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err="1">
                          <a:solidFill>
                            <a:schemeClr val="tx1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团队</a:t>
                      </a:r>
                      <a:r>
                        <a:rPr lang="en-US" sz="800">
                          <a:solidFill>
                            <a:schemeClr val="tx1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 </a:t>
                      </a: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0.5</a:t>
                      </a:r>
                      <a:r>
                        <a:rPr lang="en-US" sz="800">
                          <a:solidFill>
                            <a:schemeClr val="tx1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 席</a:t>
                      </a:r>
                      <a:endParaRPr lang="en-US" sz="800">
                        <a:solidFill>
                          <a:schemeClr val="tx1"/>
                        </a:solidFill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94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>
                          <a:solidFill>
                            <a:srgbClr val="10233B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PM  项目协调人</a:t>
                      </a:r>
                      <a:endParaRPr lang="en-US" sz="80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拆 WBS、</a:t>
                      </a:r>
                      <a:endParaRPr lang="en-US" sz="800">
                        <a:solidFill>
                          <a:schemeClr val="tx1"/>
                        </a:solidFill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组织会议</a:t>
                      </a:r>
                      <a:endParaRPr lang="en-US" sz="800">
                        <a:solidFill>
                          <a:schemeClr val="tx1"/>
                        </a:solidFill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不再拆任务，改为进度协调、签字流程、</a:t>
                      </a:r>
                      <a:endParaRPr lang="en-US" sz="800">
                        <a:solidFill>
                          <a:schemeClr val="tx1"/>
                        </a:solidFill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会话档案</a:t>
                      </a:r>
                      <a:endParaRPr lang="en-US" sz="800">
                        <a:solidFill>
                          <a:schemeClr val="tx1"/>
                        </a:solidFill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架构师兼</a:t>
                      </a:r>
                      <a:endParaRPr lang="en-US" sz="800">
                        <a:solidFill>
                          <a:schemeClr val="tx1"/>
                        </a:solidFill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51011" y="4422890"/>
            <a:ext cx="8457971" cy="356616"/>
          </a:xfrm>
          <a:prstGeom prst="roundRect">
            <a:avLst>
              <a:gd name="adj" fmla="val 11538"/>
            </a:avLst>
          </a:prstGeom>
          <a:solidFill>
            <a:srgbClr val="FDEDEC"/>
          </a:solidFill>
          <a:ln w="9525">
            <a:solidFill>
              <a:srgbClr val="F5C6C3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8" name="Text 5"/>
          <p:cNvSpPr/>
          <p:nvPr/>
        </p:nvSpPr>
        <p:spPr>
          <a:xfrm>
            <a:off x="447023" y="4422890"/>
            <a:ext cx="8252231" cy="3566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685800"/>
            <a:r>
              <a:rPr lang="en-US" sz="750" b="1">
                <a:solidFill>
                  <a:srgbClr val="B326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关键提醒：  </a:t>
            </a:r>
            <a:r>
              <a:rPr lang="en-US" sz="75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安全敏感 / 不可逆代码的「生成者」与「审查者」不能是同一次判断——AI 生成之后必须有 Sec/Arch 独立人工审查，这条线不因团队小而省略。</a:t>
            </a:r>
            <a:endParaRPr lang="en-US" sz="7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52ABA45-A2EA-9D60-5706-FF4324A401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China RIMS Solution Proposal</a:t>
            </a:r>
          </a:p>
          <a:p>
            <a:endParaRPr lang="zh-CN" alt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4D1B3209-57F0-8C46-2373-991B13A69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角色分工：传统 </a:t>
            </a:r>
            <a:r>
              <a:rPr lang="en-US" altLang="zh-CN"/>
              <a:t>VS AI</a:t>
            </a:r>
            <a:r>
              <a:rPr lang="zh-CN" altLang="en-US"/>
              <a:t>赋能的</a:t>
            </a:r>
            <a:r>
              <a:rPr lang="en-US" altLang="zh-CN"/>
              <a:t>SLC</a:t>
            </a:r>
            <a:endParaRPr lang="zh-CN" alt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2E5F10-2E62-5F08-9F92-09756ED0C117}"/>
              </a:ext>
            </a:extLst>
          </p:cNvPr>
          <p:cNvSpPr/>
          <p:nvPr/>
        </p:nvSpPr>
        <p:spPr>
          <a:xfrm>
            <a:off x="8115300" y="0"/>
            <a:ext cx="1028700" cy="21972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latin typeface="+mj-lt"/>
                <a:ea typeface="+mj-ea"/>
              </a:rPr>
              <a:t>Appendix</a:t>
            </a:r>
            <a:endParaRPr lang="zh-CN" altLang="en-US" sz="1100">
              <a:latin typeface="+mj-lt"/>
              <a:ea typeface="+mj-e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5120" y="274320"/>
            <a:ext cx="415544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 defTabSz="685800"/>
            <a:r>
              <a:rPr lang="en-US" sz="1350" b="1">
                <a:solidFill>
                  <a:srgbClr val="FFFFFF"/>
                </a:solidFill>
                <a:latin typeface="Georgia"/>
                <a:ea typeface="Calibri" pitchFamily="34" charset="-122"/>
                <a:cs typeface="Calibri" pitchFamily="34" charset="-120"/>
              </a:rPr>
              <a:t>03</a:t>
            </a:r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6" name="Text 4"/>
          <p:cNvSpPr/>
          <p:nvPr/>
        </p:nvSpPr>
        <p:spPr>
          <a:xfrm>
            <a:off x="342900" y="1042036"/>
            <a:ext cx="380619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685800"/>
            <a:r>
              <a:rPr lang="en-US" sz="1200" b="1">
                <a:solidFill>
                  <a:srgbClr val="10233B"/>
                </a:solidFill>
                <a:latin typeface="Georgia"/>
                <a:ea typeface="微软雅黑" pitchFamily="34" charset="-122"/>
                <a:cs typeface="微软雅黑" pitchFamily="34" charset="-120"/>
              </a:rPr>
              <a:t>AI 的代价 — 为什么不能直接用</a:t>
            </a:r>
            <a:endParaRPr lang="en-US" sz="120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42900" y="1316356"/>
            <a:ext cx="3806190" cy="486918"/>
          </a:xfrm>
          <a:prstGeom prst="roundRect">
            <a:avLst>
              <a:gd name="adj" fmla="val 7042"/>
            </a:avLst>
          </a:prstGeom>
          <a:solidFill>
            <a:srgbClr val="FFF3E0"/>
          </a:solidFill>
          <a:ln w="9525">
            <a:solidFill>
              <a:srgbClr val="F3D6AE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8" name="Text 6"/>
          <p:cNvSpPr/>
          <p:nvPr/>
        </p:nvSpPr>
        <p:spPr>
          <a:xfrm>
            <a:off x="445770" y="1343788"/>
            <a:ext cx="3600450" cy="1783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685800"/>
            <a:r>
              <a:rPr lang="en-US" sz="825" b="1">
                <a:solidFill>
                  <a:srgbClr val="10233B"/>
                </a:solidFill>
                <a:latin typeface="Georgia"/>
                <a:ea typeface="微软雅黑" pitchFamily="34" charset="-122"/>
                <a:cs typeface="微软雅黑" pitchFamily="34" charset="-120"/>
              </a:rPr>
              <a:t>错误 / 幻觉</a:t>
            </a:r>
            <a:endParaRPr lang="en-US" sz="825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9" name="Text 7"/>
          <p:cNvSpPr/>
          <p:nvPr/>
        </p:nvSpPr>
        <p:spPr>
          <a:xfrm>
            <a:off x="445770" y="1522096"/>
            <a:ext cx="3600450" cy="2606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685800">
              <a:lnSpc>
                <a:spcPct val="110000"/>
              </a:lnSpc>
            </a:pPr>
            <a:r>
              <a:rPr lang="en-US" sz="675">
                <a:solidFill>
                  <a:srgbClr val="1F2937"/>
                </a:solidFill>
                <a:latin typeface="Georgia"/>
                <a:ea typeface="微软雅黑" pitchFamily="34" charset="-122"/>
                <a:cs typeface="微软雅黑" pitchFamily="34" charset="-120"/>
              </a:rPr>
              <a:t>API 用错、字段编造、逻辑与需求不符——错误逻辑上线后影响真实数据</a:t>
            </a:r>
            <a:endParaRPr lang="en-US" sz="675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42900" y="1885570"/>
            <a:ext cx="3806190" cy="486918"/>
          </a:xfrm>
          <a:prstGeom prst="roundRect">
            <a:avLst>
              <a:gd name="adj" fmla="val 7042"/>
            </a:avLst>
          </a:prstGeom>
          <a:solidFill>
            <a:srgbClr val="FFF3E0"/>
          </a:solidFill>
          <a:ln w="9525">
            <a:solidFill>
              <a:srgbClr val="F3D6AE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45770" y="1913002"/>
            <a:ext cx="3600450" cy="1783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685800"/>
            <a:r>
              <a:rPr lang="en-US" sz="825" b="1">
                <a:solidFill>
                  <a:srgbClr val="10233B"/>
                </a:solidFill>
                <a:latin typeface="Georgia"/>
                <a:ea typeface="微软雅黑" pitchFamily="34" charset="-122"/>
                <a:cs typeface="微软雅黑" pitchFamily="34" charset="-120"/>
              </a:rPr>
              <a:t>安全漏洞</a:t>
            </a:r>
            <a:endParaRPr lang="en-US" sz="825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45770" y="2091310"/>
            <a:ext cx="3600450" cy="2606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685800">
              <a:lnSpc>
                <a:spcPct val="110000"/>
              </a:lnSpc>
            </a:pPr>
            <a:r>
              <a:rPr lang="en-US" sz="675">
                <a:solidFill>
                  <a:srgbClr val="1F2937"/>
                </a:solidFill>
                <a:latin typeface="Georgia"/>
                <a:ea typeface="微软雅黑" pitchFamily="34" charset="-122"/>
                <a:cs typeface="微软雅黑" pitchFamily="34" charset="-120"/>
              </a:rPr>
              <a:t>SQL 拼接绕过白名单、密钥写死、越权接口——数据泄露、合规事故</a:t>
            </a:r>
            <a:endParaRPr lang="en-US" sz="675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42900" y="2454784"/>
            <a:ext cx="3806190" cy="486918"/>
          </a:xfrm>
          <a:prstGeom prst="roundRect">
            <a:avLst>
              <a:gd name="adj" fmla="val 7042"/>
            </a:avLst>
          </a:prstGeom>
          <a:solidFill>
            <a:srgbClr val="FFF3E0"/>
          </a:solidFill>
          <a:ln w="9525">
            <a:solidFill>
              <a:srgbClr val="F3D6AE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45770" y="2482216"/>
            <a:ext cx="3600450" cy="1783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685800"/>
            <a:r>
              <a:rPr lang="en-US" sz="825" b="1">
                <a:solidFill>
                  <a:srgbClr val="10233B"/>
                </a:solidFill>
                <a:latin typeface="Georgia"/>
                <a:ea typeface="微软雅黑" pitchFamily="34" charset="-122"/>
                <a:cs typeface="微软雅黑" pitchFamily="34" charset="-120"/>
              </a:rPr>
              <a:t>缺少测试</a:t>
            </a:r>
            <a:endParaRPr lang="en-US" sz="825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45770" y="2660524"/>
            <a:ext cx="3600450" cy="2606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685800">
              <a:lnSpc>
                <a:spcPct val="110000"/>
              </a:lnSpc>
            </a:pPr>
            <a:r>
              <a:rPr lang="en-US" sz="675">
                <a:solidFill>
                  <a:srgbClr val="1F2937"/>
                </a:solidFill>
                <a:latin typeface="Georgia"/>
                <a:ea typeface="微软雅黑" pitchFamily="34" charset="-122"/>
                <a:cs typeface="微软雅黑" pitchFamily="34" charset="-120"/>
              </a:rPr>
              <a:t>只生成实现不验证测试——回归无保障，缺陷流到生产</a:t>
            </a:r>
            <a:endParaRPr lang="en-US" sz="675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42900" y="3023998"/>
            <a:ext cx="3806190" cy="486918"/>
          </a:xfrm>
          <a:prstGeom prst="roundRect">
            <a:avLst>
              <a:gd name="adj" fmla="val 7042"/>
            </a:avLst>
          </a:prstGeom>
          <a:solidFill>
            <a:srgbClr val="FFF3E0"/>
          </a:solidFill>
          <a:ln w="9525">
            <a:solidFill>
              <a:srgbClr val="F3D6AE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45770" y="3051430"/>
            <a:ext cx="3600450" cy="1783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685800"/>
            <a:r>
              <a:rPr lang="en-US" sz="825" b="1">
                <a:solidFill>
                  <a:srgbClr val="10233B"/>
                </a:solidFill>
                <a:latin typeface="Georgia"/>
                <a:ea typeface="微软雅黑" pitchFamily="34" charset="-122"/>
                <a:cs typeface="微软雅黑" pitchFamily="34" charset="-120"/>
              </a:rPr>
              <a:t>隐性技术债</a:t>
            </a:r>
            <a:endParaRPr lang="en-US" sz="825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45770" y="3229738"/>
            <a:ext cx="3600450" cy="2606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685800">
              <a:lnSpc>
                <a:spcPct val="110000"/>
              </a:lnSpc>
            </a:pPr>
            <a:r>
              <a:rPr lang="en-US" sz="675">
                <a:solidFill>
                  <a:srgbClr val="1F2937"/>
                </a:solidFill>
                <a:latin typeface="Georgia"/>
                <a:ea typeface="微软雅黑" pitchFamily="34" charset="-122"/>
                <a:cs typeface="微软雅黑" pitchFamily="34" charset="-120"/>
              </a:rPr>
              <a:t>重复代码、结构混乱、不守分层规范——维护成本陡增</a:t>
            </a:r>
            <a:endParaRPr lang="en-US" sz="675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42900" y="3593212"/>
            <a:ext cx="3806190" cy="486918"/>
          </a:xfrm>
          <a:prstGeom prst="roundRect">
            <a:avLst>
              <a:gd name="adj" fmla="val 7042"/>
            </a:avLst>
          </a:prstGeom>
          <a:solidFill>
            <a:srgbClr val="FFF3E0"/>
          </a:solidFill>
          <a:ln w="9525">
            <a:solidFill>
              <a:srgbClr val="F3D6AE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45770" y="3620644"/>
            <a:ext cx="3600450" cy="1783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685800"/>
            <a:r>
              <a:rPr lang="en-US" sz="825" b="1">
                <a:solidFill>
                  <a:srgbClr val="10233B"/>
                </a:solidFill>
                <a:latin typeface="Georgia"/>
                <a:ea typeface="微软雅黑" pitchFamily="34" charset="-122"/>
                <a:cs typeface="微软雅黑" pitchFamily="34" charset="-120"/>
              </a:rPr>
              <a:t>边界缺失</a:t>
            </a:r>
            <a:endParaRPr lang="en-US" sz="825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45770" y="3798952"/>
            <a:ext cx="3600450" cy="2606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685800">
              <a:lnSpc>
                <a:spcPct val="110000"/>
              </a:lnSpc>
            </a:pPr>
            <a:r>
              <a:rPr lang="en-US" sz="675">
                <a:solidFill>
                  <a:srgbClr val="1F2937"/>
                </a:solidFill>
                <a:latin typeface="Georgia"/>
                <a:ea typeface="微软雅黑" pitchFamily="34" charset="-122"/>
                <a:cs typeface="微软雅黑" pitchFamily="34" charset="-120"/>
              </a:rPr>
              <a:t>未处理异常/并发/幂等/超时——不可逆场景（销毁）后果致命</a:t>
            </a:r>
            <a:endParaRPr lang="en-US" sz="675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306824" y="1042036"/>
            <a:ext cx="449199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685800"/>
            <a:r>
              <a:rPr lang="en-US" sz="1200" b="1" err="1">
                <a:solidFill>
                  <a:srgbClr val="10233B"/>
                </a:solidFill>
                <a:latin typeface="Georgia"/>
                <a:ea typeface="微软雅黑" pitchFamily="34" charset="-122"/>
                <a:cs typeface="微软雅黑" pitchFamily="34" charset="-120"/>
              </a:rPr>
              <a:t>七层护栏</a:t>
            </a:r>
            <a:r>
              <a:rPr lang="en-US" sz="1200" b="1">
                <a:solidFill>
                  <a:srgbClr val="10233B"/>
                </a:solidFill>
                <a:latin typeface="Georgia"/>
                <a:ea typeface="微软雅黑" pitchFamily="34" charset="-122"/>
                <a:cs typeface="微软雅黑" pitchFamily="34" charset="-120"/>
              </a:rPr>
              <a:t> — 越往上越强制，逐层拦截</a:t>
            </a:r>
            <a:endParaRPr lang="en-US" sz="1200">
              <a:solidFill>
                <a:srgbClr val="000000"/>
              </a:solidFill>
              <a:latin typeface="Georgia"/>
            </a:endParaRPr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6107490"/>
              </p:ext>
            </p:extLst>
          </p:nvPr>
        </p:nvGraphicFramePr>
        <p:xfrm>
          <a:off x="4306824" y="1316356"/>
          <a:ext cx="4491990" cy="2414016"/>
        </p:xfrm>
        <a:graphic>
          <a:graphicData uri="http://schemas.openxmlformats.org/drawingml/2006/table">
            <a:tbl>
              <a:tblPr/>
              <a:tblGrid>
                <a:gridCol w="377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57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层</a:t>
                      </a:r>
                      <a:endParaRPr lang="en-US" sz="70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C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护栏 / 内容</a:t>
                      </a:r>
                      <a:endParaRPr lang="en-US" sz="70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C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拦截时机 · 失败动作</a:t>
                      </a:r>
                      <a:endParaRPr lang="en-US" sz="70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C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1E3A5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L1</a:t>
                      </a:r>
                      <a:endParaRPr lang="en-US" sz="80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>
                          <a:solidFill>
                            <a:srgbClr val="1023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风格与静态检查  </a:t>
                      </a:r>
                      <a:r>
                        <a:rPr lang="en-US" sz="700">
                          <a:solidFill>
                            <a:srgbClr val="66708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ESLint/StyleCop + strict tsc</a:t>
                      </a:r>
                      <a:endParaRPr lang="en-US" sz="70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保存即检 · 阻断提交</a:t>
                      </a:r>
                      <a:endParaRPr lang="en-US" sz="70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1E3A5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L2</a:t>
                      </a:r>
                      <a:endParaRPr lang="en-US" sz="80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>
                          <a:solidFill>
                            <a:srgbClr val="1023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类型 + 分层依赖  </a:t>
                      </a:r>
                      <a:r>
                        <a:rPr lang="en-US" sz="700">
                          <a:solidFill>
                            <a:srgbClr val="66708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TS strict / C# 强类型 / 分层单向约束</a:t>
                      </a:r>
                      <a:endParaRPr lang="en-US" sz="70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本地构建 · 阻断提交</a:t>
                      </a:r>
                      <a:endParaRPr lang="en-US" sz="70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1E3A5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L3</a:t>
                      </a:r>
                      <a:endParaRPr lang="en-US" sz="80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>
                          <a:solidFill>
                            <a:srgbClr val="1023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单元测试  </a:t>
                      </a:r>
                      <a:r>
                        <a:rPr lang="en-US" sz="700">
                          <a:solidFill>
                            <a:srgbClr val="66708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xUnit + Vitest；核心链路覆盖率 ≥70%</a:t>
                      </a:r>
                      <a:endParaRPr lang="en-US" sz="70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生成循环 · 自动修复重试</a:t>
                      </a:r>
                      <a:endParaRPr lang="en-US" sz="70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1E3A5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L4</a:t>
                      </a:r>
                      <a:endParaRPr lang="en-US" sz="80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>
                          <a:solidFill>
                            <a:srgbClr val="1023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契约校验  </a:t>
                      </a:r>
                      <a:r>
                        <a:rPr lang="en-US" sz="700">
                          <a:solidFill>
                            <a:srgbClr val="66708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OpenAPI diff / schema 校验 / 验收用例全绿</a:t>
                      </a:r>
                      <a:endParaRPr lang="en-US" sz="70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生成循环 · 自动修复重试</a:t>
                      </a:r>
                      <a:endParaRPr lang="en-US" sz="70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B3261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L5</a:t>
                      </a:r>
                      <a:endParaRPr lang="en-US" sz="80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>
                          <a:solidFill>
                            <a:srgbClr val="1023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安全扫描  </a:t>
                      </a:r>
                      <a:r>
                        <a:rPr lang="en-US" sz="700">
                          <a:solidFill>
                            <a:srgbClr val="66708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gitleaks / 依赖漏洞 / SQL拼接 / 重复度检测</a:t>
                      </a:r>
                      <a:endParaRPr lang="en-US" sz="70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>
                          <a:solidFill>
                            <a:srgbClr val="B3261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CI流水线 · 阻断合并</a:t>
                      </a:r>
                      <a:endParaRPr lang="en-US" sz="70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B3261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L6</a:t>
                      </a:r>
                      <a:endParaRPr lang="en-US" sz="80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>
                          <a:solidFill>
                            <a:srgbClr val="1023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集成验证  </a:t>
                      </a:r>
                      <a:r>
                        <a:rPr lang="en-US" sz="700">
                          <a:solidFill>
                            <a:srgbClr val="66708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集成测试 / Migrations校验 / 脱敏越权用例</a:t>
                      </a:r>
                      <a:endParaRPr lang="en-US" sz="70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>
                          <a:solidFill>
                            <a:srgbClr val="B3261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CI流水线 · 阻断合并</a:t>
                      </a:r>
                      <a:endParaRPr lang="en-US" sz="70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B3261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L7</a:t>
                      </a:r>
                      <a:endParaRPr lang="en-US" sz="80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>
                          <a:solidFill>
                            <a:srgbClr val="1023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人工闸门  </a:t>
                      </a:r>
                      <a:r>
                        <a:rPr lang="en-US" sz="700">
                          <a:solidFill>
                            <a:srgbClr val="66708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三类diff（安全/不可逆/跨边界）强制人审</a:t>
                      </a:r>
                      <a:endParaRPr lang="en-US" sz="70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>
                          <a:solidFill>
                            <a:srgbClr val="B3261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合并前 · 无旁路</a:t>
                      </a:r>
                      <a:endParaRPr lang="en-US" sz="70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342901" y="4162426"/>
            <a:ext cx="8457971" cy="411480"/>
          </a:xfrm>
          <a:prstGeom prst="roundRect">
            <a:avLst>
              <a:gd name="adj" fmla="val 10000"/>
            </a:avLst>
          </a:prstGeom>
          <a:solidFill>
            <a:srgbClr val="FDEDEC"/>
          </a:solidFill>
          <a:ln w="9525">
            <a:solidFill>
              <a:srgbClr val="F5C6C3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445771" y="4162426"/>
            <a:ext cx="8272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685800">
              <a:lnSpc>
                <a:spcPct val="110000"/>
              </a:lnSpc>
            </a:pPr>
            <a:r>
              <a:rPr lang="en-US" sz="713" b="1">
                <a:solidFill>
                  <a:srgbClr val="B3261E"/>
                </a:solidFill>
                <a:latin typeface="Georgia"/>
                <a:ea typeface="微软雅黑" pitchFamily="34" charset="-122"/>
                <a:cs typeface="微软雅黑" pitchFamily="34" charset="-120"/>
              </a:rPr>
              <a:t>三条红线（AI 永不越线）：  </a:t>
            </a:r>
            <a:r>
              <a:rPr lang="en-US" sz="713">
                <a:solidFill>
                  <a:srgbClr val="1F2937"/>
                </a:solidFill>
                <a:latin typeface="Georgia"/>
                <a:ea typeface="微软雅黑" pitchFamily="34" charset="-122"/>
                <a:cs typeface="微软雅黑" pitchFamily="34" charset="-120"/>
              </a:rPr>
              <a:t>① 物理销毁与不可逆DDL —— 双人确认，AI只咨询不执行；② 密钥凭据 —— 不允许出现真实值，只允许引用 Key Vault；③ 字段脱敏 —— 必须平台侧 COLUMN MASK，应用层「等效实现」拒绝合并。</a:t>
            </a:r>
            <a:endParaRPr lang="en-US" sz="713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D10A90E7-1603-C035-934C-2935D3FCA7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China RIMS Solution Proposal</a:t>
            </a:r>
          </a:p>
          <a:p>
            <a:endParaRPr lang="zh-CN" altLang="en-US"/>
          </a:p>
          <a:p>
            <a:endParaRPr lang="zh-CN" altLang="en-US"/>
          </a:p>
        </p:txBody>
      </p:sp>
      <p:sp>
        <p:nvSpPr>
          <p:cNvPr id="30" name="Title 29">
            <a:extLst>
              <a:ext uri="{FF2B5EF4-FFF2-40B4-BE49-F238E27FC236}">
                <a16:creationId xmlns:a16="http://schemas.microsoft.com/office/drawing/2014/main" id="{2DFFC8D2-AABE-383C-0AA3-098628B74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AI </a:t>
            </a:r>
            <a:r>
              <a:rPr lang="zh-CN" altLang="en-US"/>
              <a:t>的代价与七层护栏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1CCCD2-35C9-8126-AE4F-D4446DBE3E0F}"/>
              </a:ext>
            </a:extLst>
          </p:cNvPr>
          <p:cNvSpPr/>
          <p:nvPr/>
        </p:nvSpPr>
        <p:spPr>
          <a:xfrm>
            <a:off x="8115300" y="0"/>
            <a:ext cx="1028700" cy="21972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latin typeface="+mj-lt"/>
                <a:ea typeface="+mj-ea"/>
              </a:rPr>
              <a:t>Appendix</a:t>
            </a:r>
            <a:endParaRPr lang="zh-CN" altLang="en-US" sz="1100">
              <a:latin typeface="+mj-lt"/>
              <a:ea typeface="+mj-e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9062E-E48F-959B-E459-A6AC22B61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D3162926-6E7F-5783-18BA-8464035B8F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2921" y="266700"/>
            <a:ext cx="5241925" cy="261610"/>
          </a:xfrm>
        </p:spPr>
        <p:txBody>
          <a:bodyPr/>
          <a:lstStyle/>
          <a:p>
            <a:r>
              <a:rPr lang="en-US"/>
              <a:t>China RIMS Solution Proposal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88F7A32-62ED-083F-3A94-C41F4A6E0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实施路线图与交付效率</a:t>
            </a:r>
          </a:p>
        </p:txBody>
      </p:sp>
      <p:sp>
        <p:nvSpPr>
          <p:cNvPr id="91" name="collect-note">
            <a:extLst>
              <a:ext uri="{FF2B5EF4-FFF2-40B4-BE49-F238E27FC236}">
                <a16:creationId xmlns:a16="http://schemas.microsoft.com/office/drawing/2014/main" id="{506D53F9-B36C-F996-FCF7-7E5606998865}"/>
              </a:ext>
            </a:extLst>
          </p:cNvPr>
          <p:cNvSpPr>
            <a:spLocks noGrp="1"/>
          </p:cNvSpPr>
          <p:nvPr/>
        </p:nvSpPr>
        <p:spPr>
          <a:xfrm>
            <a:off x="502919" y="960119"/>
            <a:ext cx="8079105" cy="2095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50" b="0">
                <a:solidFill>
                  <a:srgbClr val="607384"/>
                </a:solidFill>
              </a:defRPr>
            </a:pPr>
            <a:r>
              <a:rPr lang="zh-CN" altLang="en-US" sz="1000">
                <a:latin typeface="+mn-ea"/>
              </a:rPr>
              <a:t>基于本项目六步工作流，预计 </a:t>
            </a:r>
            <a:r>
              <a:rPr lang="en-US" altLang="zh-CN" sz="1000">
                <a:latin typeface="+mn-ea"/>
              </a:rPr>
              <a:t>1 </a:t>
            </a:r>
            <a:r>
              <a:rPr lang="zh-CN" altLang="en-US" sz="1000">
                <a:latin typeface="+mn-ea"/>
              </a:rPr>
              <a:t>周完成 </a:t>
            </a:r>
            <a:r>
              <a:rPr lang="en-US" altLang="zh-CN" sz="1000">
                <a:latin typeface="+mn-ea"/>
              </a:rPr>
              <a:t>Phase I</a:t>
            </a:r>
            <a:r>
              <a:rPr lang="zh-CN" altLang="en-US" sz="1000">
                <a:latin typeface="+mn-ea"/>
              </a:rPr>
              <a:t> 上线，通过</a:t>
            </a:r>
            <a:r>
              <a:rPr lang="en-US" altLang="zh-CN" sz="1000">
                <a:latin typeface="+mn-ea"/>
              </a:rPr>
              <a:t>AI</a:t>
            </a:r>
            <a:r>
              <a:rPr lang="zh-CN" altLang="en-US" sz="1000">
                <a:latin typeface="+mn-ea"/>
              </a:rPr>
              <a:t>赋能</a:t>
            </a:r>
            <a:r>
              <a:rPr lang="en-US" altLang="zh-CN" sz="1000">
                <a:latin typeface="+mn-ea"/>
              </a:rPr>
              <a:t>+</a:t>
            </a:r>
            <a:r>
              <a:rPr lang="zh-CN" altLang="en-US" sz="1000">
                <a:latin typeface="+mn-ea"/>
              </a:rPr>
              <a:t>功能范围裁剪，实施投入由</a:t>
            </a:r>
            <a:r>
              <a:rPr lang="en-US" altLang="zh-CN" sz="1000">
                <a:latin typeface="+mn-ea"/>
              </a:rPr>
              <a:t>320</a:t>
            </a:r>
            <a:r>
              <a:rPr lang="zh-CN" altLang="en-US" sz="1000">
                <a:latin typeface="+mn-ea"/>
              </a:rPr>
              <a:t>人天降至</a:t>
            </a:r>
            <a:r>
              <a:rPr lang="en-US" altLang="zh-CN" sz="1000">
                <a:latin typeface="+mn-ea"/>
              </a:rPr>
              <a:t>196</a:t>
            </a:r>
            <a:r>
              <a:rPr lang="zh-CN" altLang="en-US" sz="1000">
                <a:latin typeface="+mn-ea"/>
              </a:rPr>
              <a:t>人天</a:t>
            </a:r>
            <a:endParaRPr sz="1000">
              <a:latin typeface="+mn-ea"/>
            </a:endParaRPr>
          </a:p>
        </p:txBody>
      </p:sp>
      <p:sp>
        <p:nvSpPr>
          <p:cNvPr id="4" name="roadmap-title">
            <a:extLst>
              <a:ext uri="{FF2B5EF4-FFF2-40B4-BE49-F238E27FC236}">
                <a16:creationId xmlns:a16="http://schemas.microsoft.com/office/drawing/2014/main" id="{B9F57CA2-0FCF-4E2B-E379-42531E8902C1}"/>
              </a:ext>
            </a:extLst>
          </p:cNvPr>
          <p:cNvSpPr txBox="1"/>
          <p:nvPr/>
        </p:nvSpPr>
        <p:spPr>
          <a:xfrm>
            <a:off x="3143250" y="1213884"/>
            <a:ext cx="28575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1000" b="1" noProof="1">
                <a:solidFill>
                  <a:srgbClr val="171F56"/>
                </a:solidFill>
                <a:latin typeface="+mn-ea"/>
                <a:cs typeface="MiSans"/>
              </a:rPr>
              <a:t>Phase I Implementation Roadmap | 12 Weeks</a:t>
            </a:r>
            <a:endParaRPr lang="en-US" sz="1000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23" name="tl-w1">
            <a:extLst>
              <a:ext uri="{FF2B5EF4-FFF2-40B4-BE49-F238E27FC236}">
                <a16:creationId xmlns:a16="http://schemas.microsoft.com/office/drawing/2014/main" id="{F18EAD97-4A6D-770E-EB4E-13855D48BEB8}"/>
              </a:ext>
            </a:extLst>
          </p:cNvPr>
          <p:cNvSpPr txBox="1"/>
          <p:nvPr/>
        </p:nvSpPr>
        <p:spPr>
          <a:xfrm>
            <a:off x="209550" y="1442484"/>
            <a:ext cx="57150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900" noProof="1">
                <a:solidFill>
                  <a:srgbClr val="3A3B3F"/>
                </a:solidFill>
                <a:latin typeface="+mn-ea"/>
                <a:cs typeface="MiSans"/>
              </a:rPr>
              <a:t>Week 1</a:t>
            </a:r>
            <a:endParaRPr lang="en-US" sz="900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25" name="tl-w3">
            <a:extLst>
              <a:ext uri="{FF2B5EF4-FFF2-40B4-BE49-F238E27FC236}">
                <a16:creationId xmlns:a16="http://schemas.microsoft.com/office/drawing/2014/main" id="{8A159423-33AA-F690-072E-E24C16A7356F}"/>
              </a:ext>
            </a:extLst>
          </p:cNvPr>
          <p:cNvSpPr txBox="1"/>
          <p:nvPr/>
        </p:nvSpPr>
        <p:spPr>
          <a:xfrm>
            <a:off x="1952624" y="1442484"/>
            <a:ext cx="57150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900" noProof="1">
                <a:solidFill>
                  <a:srgbClr val="3A3B3F"/>
                </a:solidFill>
                <a:latin typeface="+mn-ea"/>
                <a:cs typeface="MiSans"/>
              </a:rPr>
              <a:t>Week 2</a:t>
            </a:r>
            <a:endParaRPr lang="en-US" sz="900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29" name="tl-w8">
            <a:extLst>
              <a:ext uri="{FF2B5EF4-FFF2-40B4-BE49-F238E27FC236}">
                <a16:creationId xmlns:a16="http://schemas.microsoft.com/office/drawing/2014/main" id="{E6265F18-277F-892A-2CA4-B76297C4AA47}"/>
              </a:ext>
            </a:extLst>
          </p:cNvPr>
          <p:cNvSpPr txBox="1"/>
          <p:nvPr/>
        </p:nvSpPr>
        <p:spPr>
          <a:xfrm>
            <a:off x="4501793" y="1442484"/>
            <a:ext cx="57150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900" noProof="1">
                <a:solidFill>
                  <a:srgbClr val="3A3B3F"/>
                </a:solidFill>
                <a:latin typeface="+mn-ea"/>
                <a:cs typeface="MiSans"/>
              </a:rPr>
              <a:t>Week 10</a:t>
            </a:r>
            <a:endParaRPr lang="en-US" sz="900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33" name="tl-w10">
            <a:extLst>
              <a:ext uri="{FF2B5EF4-FFF2-40B4-BE49-F238E27FC236}">
                <a16:creationId xmlns:a16="http://schemas.microsoft.com/office/drawing/2014/main" id="{3A32A76C-DE19-9BB4-8991-8E714E33698C}"/>
              </a:ext>
            </a:extLst>
          </p:cNvPr>
          <p:cNvSpPr txBox="1"/>
          <p:nvPr/>
        </p:nvSpPr>
        <p:spPr>
          <a:xfrm>
            <a:off x="6357937" y="1442484"/>
            <a:ext cx="57150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900" noProof="1">
                <a:solidFill>
                  <a:srgbClr val="3A3B3F"/>
                </a:solidFill>
                <a:latin typeface="+mn-ea"/>
                <a:cs typeface="MiSans"/>
              </a:rPr>
              <a:t>Week 11</a:t>
            </a:r>
            <a:endParaRPr lang="en-US" sz="900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35" name="tl-w11">
            <a:extLst>
              <a:ext uri="{FF2B5EF4-FFF2-40B4-BE49-F238E27FC236}">
                <a16:creationId xmlns:a16="http://schemas.microsoft.com/office/drawing/2014/main" id="{FF725F03-5C2E-9121-DF7A-E0E9332B1126}"/>
              </a:ext>
            </a:extLst>
          </p:cNvPr>
          <p:cNvSpPr txBox="1"/>
          <p:nvPr/>
        </p:nvSpPr>
        <p:spPr>
          <a:xfrm>
            <a:off x="8214081" y="1442484"/>
            <a:ext cx="64770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900" noProof="1">
                <a:solidFill>
                  <a:srgbClr val="3A3B3F"/>
                </a:solidFill>
                <a:latin typeface="+mn-ea"/>
                <a:cs typeface="MiSans"/>
              </a:rPr>
              <a:t>Week 12</a:t>
            </a:r>
            <a:endParaRPr lang="en-US" sz="900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9949E8AC-CB28-4D10-3223-57B8FA9D1042}"/>
              </a:ext>
            </a:extLst>
          </p:cNvPr>
          <p:cNvCxnSpPr>
            <a:cxnSpLocks/>
          </p:cNvCxnSpPr>
          <p:nvPr/>
        </p:nvCxnSpPr>
        <p:spPr>
          <a:xfrm>
            <a:off x="209550" y="1618696"/>
            <a:ext cx="860679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pa-hdr">
            <a:extLst>
              <a:ext uri="{FF2B5EF4-FFF2-40B4-BE49-F238E27FC236}">
                <a16:creationId xmlns:a16="http://schemas.microsoft.com/office/drawing/2014/main" id="{C6B2D3C6-FB25-1E33-19F8-FA83E33DA655}"/>
              </a:ext>
            </a:extLst>
          </p:cNvPr>
          <p:cNvSpPr/>
          <p:nvPr/>
        </p:nvSpPr>
        <p:spPr>
          <a:xfrm>
            <a:off x="342900" y="1712182"/>
            <a:ext cx="1895475" cy="172786"/>
          </a:xfrm>
          <a:prstGeom prst="roundRect">
            <a:avLst>
              <a:gd name="adj" fmla="val 10000"/>
            </a:avLst>
          </a:prstGeom>
          <a:solidFill>
            <a:srgbClr val="0386B4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39" name="pa-hdr-text">
            <a:extLst>
              <a:ext uri="{FF2B5EF4-FFF2-40B4-BE49-F238E27FC236}">
                <a16:creationId xmlns:a16="http://schemas.microsoft.com/office/drawing/2014/main" id="{A15D82D4-AD0A-243A-ABA8-13FB626C85AC}"/>
              </a:ext>
            </a:extLst>
          </p:cNvPr>
          <p:cNvSpPr txBox="1"/>
          <p:nvPr/>
        </p:nvSpPr>
        <p:spPr>
          <a:xfrm>
            <a:off x="342900" y="1712182"/>
            <a:ext cx="1895475" cy="17278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750" b="1" noProof="1">
                <a:solidFill>
                  <a:srgbClr val="FFFFFF"/>
                </a:solidFill>
                <a:latin typeface="+mn-ea"/>
                <a:cs typeface="MiSans"/>
              </a:rPr>
              <a:t>2 Weeks</a:t>
            </a:r>
            <a:endParaRPr lang="en-US" sz="750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41" name="pa-card">
            <a:extLst>
              <a:ext uri="{FF2B5EF4-FFF2-40B4-BE49-F238E27FC236}">
                <a16:creationId xmlns:a16="http://schemas.microsoft.com/office/drawing/2014/main" id="{7FBD21FF-597E-E0D9-BB95-D7B1ABA796C1}"/>
              </a:ext>
            </a:extLst>
          </p:cNvPr>
          <p:cNvSpPr/>
          <p:nvPr/>
        </p:nvSpPr>
        <p:spPr>
          <a:xfrm>
            <a:off x="342900" y="1884968"/>
            <a:ext cx="1895475" cy="131317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chemeClr val="bg1">
                <a:lumMod val="65000"/>
              </a:schemeClr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43" name="pa-step">
            <a:extLst>
              <a:ext uri="{FF2B5EF4-FFF2-40B4-BE49-F238E27FC236}">
                <a16:creationId xmlns:a16="http://schemas.microsoft.com/office/drawing/2014/main" id="{1D32308D-1673-0E13-5581-2E095EFF6BE7}"/>
              </a:ext>
            </a:extLst>
          </p:cNvPr>
          <p:cNvSpPr txBox="1"/>
          <p:nvPr/>
        </p:nvSpPr>
        <p:spPr>
          <a:xfrm>
            <a:off x="438150" y="1954082"/>
            <a:ext cx="1704975" cy="120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750" b="1" noProof="1">
                <a:latin typeface="+mn-ea"/>
                <a:cs typeface="MiSans"/>
              </a:rPr>
              <a:t>STEP 1+2 </a:t>
            </a:r>
            <a:r>
              <a:rPr lang="zh-CN" altLang="en-US" sz="750" b="1" noProof="1">
                <a:latin typeface="+mn-ea"/>
                <a:cs typeface="MiSans"/>
              </a:rPr>
              <a:t>需求分析与设计</a:t>
            </a:r>
            <a:endParaRPr lang="en-US" sz="750" noProof="1">
              <a:latin typeface="+mn-ea"/>
              <a:cs typeface="MiSans"/>
            </a:endParaRPr>
          </a:p>
        </p:txBody>
      </p:sp>
      <p:sp>
        <p:nvSpPr>
          <p:cNvPr id="45" name="pa-items">
            <a:extLst>
              <a:ext uri="{FF2B5EF4-FFF2-40B4-BE49-F238E27FC236}">
                <a16:creationId xmlns:a16="http://schemas.microsoft.com/office/drawing/2014/main" id="{DEF84164-D449-E4C4-111A-45069527E960}"/>
              </a:ext>
            </a:extLst>
          </p:cNvPr>
          <p:cNvSpPr txBox="1"/>
          <p:nvPr/>
        </p:nvSpPr>
        <p:spPr>
          <a:xfrm>
            <a:off x="397192" y="2105812"/>
            <a:ext cx="1800225" cy="6398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171450" indent="-171450" defTabSz="68580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zh-CN" altLang="en-US" sz="800" noProof="1">
                <a:latin typeface="+mn-ea"/>
                <a:cs typeface="MiSans"/>
              </a:rPr>
              <a:t>需求基线冻结</a:t>
            </a:r>
            <a:endParaRPr lang="en-US" sz="800" noProof="1">
              <a:latin typeface="+mn-ea"/>
              <a:cs typeface="MiSans"/>
            </a:endParaRPr>
          </a:p>
          <a:p>
            <a:pPr marL="171450" indent="-171450" defTabSz="68580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zh-CN" altLang="en-US" sz="800" noProof="1">
                <a:latin typeface="+mn-ea"/>
                <a:cs typeface="MiSans"/>
              </a:rPr>
              <a:t>技术方案与模块接口定稿</a:t>
            </a:r>
            <a:endParaRPr lang="en-US" altLang="zh-CN" sz="800" noProof="1">
              <a:latin typeface="+mn-ea"/>
              <a:cs typeface="MiSans"/>
            </a:endParaRPr>
          </a:p>
          <a:p>
            <a:pPr marL="171450" indent="-171450" defTabSz="68580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zh-CN" altLang="en-US" sz="800" noProof="1">
                <a:latin typeface="+mn-ea"/>
                <a:cs typeface="MiSans"/>
              </a:rPr>
              <a:t>基础框架搭建</a:t>
            </a:r>
            <a:endParaRPr lang="en-US" sz="800" noProof="1">
              <a:latin typeface="+mn-ea"/>
              <a:cs typeface="MiSans"/>
            </a:endParaRPr>
          </a:p>
        </p:txBody>
      </p:sp>
      <p:sp>
        <p:nvSpPr>
          <p:cNvPr id="55" name="pb-hdr">
            <a:extLst>
              <a:ext uri="{FF2B5EF4-FFF2-40B4-BE49-F238E27FC236}">
                <a16:creationId xmlns:a16="http://schemas.microsoft.com/office/drawing/2014/main" id="{02ED19C5-97C5-1CD6-F3B6-E28A92EAD62A}"/>
              </a:ext>
            </a:extLst>
          </p:cNvPr>
          <p:cNvSpPr/>
          <p:nvPr/>
        </p:nvSpPr>
        <p:spPr>
          <a:xfrm>
            <a:off x="2381250" y="1712182"/>
            <a:ext cx="2390775" cy="172786"/>
          </a:xfrm>
          <a:prstGeom prst="roundRect">
            <a:avLst>
              <a:gd name="adj" fmla="val 10000"/>
            </a:avLst>
          </a:prstGeom>
          <a:solidFill>
            <a:srgbClr val="512BAA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57" name="pb-hdr-text">
            <a:extLst>
              <a:ext uri="{FF2B5EF4-FFF2-40B4-BE49-F238E27FC236}">
                <a16:creationId xmlns:a16="http://schemas.microsoft.com/office/drawing/2014/main" id="{CD14D5A1-63D5-09A7-E06F-6E600CAFD242}"/>
              </a:ext>
            </a:extLst>
          </p:cNvPr>
          <p:cNvSpPr txBox="1"/>
          <p:nvPr/>
        </p:nvSpPr>
        <p:spPr>
          <a:xfrm>
            <a:off x="2381250" y="1712182"/>
            <a:ext cx="2390775" cy="17278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altLang="zh-CN" sz="750" b="1" noProof="1">
                <a:solidFill>
                  <a:srgbClr val="FFFFFF"/>
                </a:solidFill>
                <a:latin typeface="+mn-ea"/>
                <a:cs typeface="MiSans"/>
              </a:rPr>
              <a:t>8 Weeks</a:t>
            </a:r>
            <a:endParaRPr lang="en-US" sz="750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59" name="pb-card">
            <a:extLst>
              <a:ext uri="{FF2B5EF4-FFF2-40B4-BE49-F238E27FC236}">
                <a16:creationId xmlns:a16="http://schemas.microsoft.com/office/drawing/2014/main" id="{44A60700-1620-C602-A0E1-AD9BB3834D80}"/>
              </a:ext>
            </a:extLst>
          </p:cNvPr>
          <p:cNvSpPr/>
          <p:nvPr/>
        </p:nvSpPr>
        <p:spPr>
          <a:xfrm>
            <a:off x="2381250" y="1884968"/>
            <a:ext cx="2390775" cy="131317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chemeClr val="bg1">
                <a:lumMod val="65000"/>
              </a:schemeClr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61" name="pb-step">
            <a:extLst>
              <a:ext uri="{FF2B5EF4-FFF2-40B4-BE49-F238E27FC236}">
                <a16:creationId xmlns:a16="http://schemas.microsoft.com/office/drawing/2014/main" id="{52DD6731-F910-FB34-3944-73119C03C045}"/>
              </a:ext>
            </a:extLst>
          </p:cNvPr>
          <p:cNvSpPr txBox="1"/>
          <p:nvPr/>
        </p:nvSpPr>
        <p:spPr>
          <a:xfrm>
            <a:off x="2476500" y="1954082"/>
            <a:ext cx="2200275" cy="120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750" b="1" noProof="1">
                <a:latin typeface="+mn-ea"/>
                <a:cs typeface="MiSans"/>
              </a:rPr>
              <a:t>STEP 3+4+5</a:t>
            </a:r>
            <a:r>
              <a:rPr lang="en-US" altLang="zh-CN" sz="750" b="1" noProof="1">
                <a:latin typeface="+mn-ea"/>
                <a:cs typeface="MiSans"/>
              </a:rPr>
              <a:t>+6</a:t>
            </a:r>
            <a:r>
              <a:rPr lang="en-US" sz="750" b="1" noProof="1">
                <a:latin typeface="+mn-ea"/>
                <a:cs typeface="MiSans"/>
              </a:rPr>
              <a:t> </a:t>
            </a:r>
            <a:r>
              <a:rPr lang="zh-CN" altLang="en-US" sz="750" b="1" noProof="1">
                <a:latin typeface="+mn-ea"/>
                <a:cs typeface="MiSans"/>
              </a:rPr>
              <a:t>平台骨架</a:t>
            </a:r>
            <a:r>
              <a:rPr lang="en-US" altLang="zh-CN" sz="750" b="1" noProof="1">
                <a:latin typeface="+mn-ea"/>
                <a:cs typeface="MiSans"/>
              </a:rPr>
              <a:t>+</a:t>
            </a:r>
            <a:r>
              <a:rPr lang="zh-CN" altLang="en-US" sz="750" b="1" noProof="1">
                <a:latin typeface="+mn-ea"/>
                <a:cs typeface="MiSans"/>
              </a:rPr>
              <a:t>功能开发</a:t>
            </a:r>
            <a:r>
              <a:rPr lang="en-US" altLang="zh-CN" sz="750" b="1" noProof="1">
                <a:latin typeface="+mn-ea"/>
                <a:cs typeface="MiSans"/>
              </a:rPr>
              <a:t>+</a:t>
            </a:r>
            <a:r>
              <a:rPr lang="zh-CN" altLang="en-US" sz="750" b="1" noProof="1">
                <a:latin typeface="+mn-ea"/>
                <a:cs typeface="MiSans"/>
              </a:rPr>
              <a:t>系统集成</a:t>
            </a:r>
            <a:endParaRPr lang="en-US" sz="750" noProof="1">
              <a:latin typeface="+mn-ea"/>
              <a:cs typeface="MiSans"/>
            </a:endParaRPr>
          </a:p>
        </p:txBody>
      </p:sp>
      <p:sp>
        <p:nvSpPr>
          <p:cNvPr id="63" name="pb-items">
            <a:extLst>
              <a:ext uri="{FF2B5EF4-FFF2-40B4-BE49-F238E27FC236}">
                <a16:creationId xmlns:a16="http://schemas.microsoft.com/office/drawing/2014/main" id="{212BB4C6-C6DB-2B46-CD2B-F4A7C82EB0A0}"/>
              </a:ext>
            </a:extLst>
          </p:cNvPr>
          <p:cNvSpPr txBox="1"/>
          <p:nvPr/>
        </p:nvSpPr>
        <p:spPr>
          <a:xfrm>
            <a:off x="2438400" y="2105812"/>
            <a:ext cx="2257425" cy="6637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171450" indent="-171450" defTabSz="68580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zh-CN" altLang="en-US" sz="800" noProof="1">
                <a:latin typeface="+mn-ea"/>
                <a:cs typeface="MiSans"/>
              </a:rPr>
              <a:t>平台骨架</a:t>
            </a:r>
            <a:r>
              <a:rPr lang="en-US" altLang="zh-CN" sz="800" noProof="1">
                <a:latin typeface="+mn-ea"/>
                <a:cs typeface="MiSans"/>
              </a:rPr>
              <a:t>+</a:t>
            </a:r>
            <a:r>
              <a:rPr lang="zh-CN" altLang="en-US" sz="800" noProof="1">
                <a:latin typeface="+mn-ea"/>
                <a:cs typeface="MiSans"/>
              </a:rPr>
              <a:t>模块 </a:t>
            </a:r>
            <a:r>
              <a:rPr lang="en-US" altLang="zh-CN" sz="800" noProof="1">
                <a:latin typeface="+mn-ea"/>
                <a:cs typeface="MiSans"/>
              </a:rPr>
              <a:t>1/8 </a:t>
            </a:r>
            <a:r>
              <a:rPr lang="zh-CN" altLang="en-US" sz="800" noProof="1">
                <a:latin typeface="+mn-ea"/>
                <a:cs typeface="MiSans"/>
              </a:rPr>
              <a:t>端到端（样本数据）</a:t>
            </a:r>
            <a:endParaRPr lang="en-US" altLang="zh-CN" sz="800" noProof="1">
              <a:latin typeface="+mn-ea"/>
              <a:cs typeface="MiSans"/>
            </a:endParaRPr>
          </a:p>
          <a:p>
            <a:pPr marL="171450" indent="-171450" defTabSz="68580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zh-CN" altLang="en-US" sz="800" noProof="1">
                <a:latin typeface="+mn-ea"/>
                <a:cs typeface="MiSans"/>
              </a:rPr>
              <a:t>模块 </a:t>
            </a:r>
            <a:r>
              <a:rPr lang="en-US" altLang="zh-CN" sz="800" noProof="1">
                <a:latin typeface="+mn-ea"/>
                <a:cs typeface="MiSans"/>
              </a:rPr>
              <a:t>2/3/4/5/6 </a:t>
            </a:r>
            <a:r>
              <a:rPr lang="zh-CN" altLang="en-US" sz="800" noProof="1">
                <a:latin typeface="+mn-ea"/>
                <a:cs typeface="MiSans"/>
              </a:rPr>
              <a:t>全功能开发（样本数据）</a:t>
            </a:r>
            <a:endParaRPr lang="en-US" altLang="zh-CN" sz="800" noProof="1">
              <a:latin typeface="+mn-ea"/>
              <a:cs typeface="MiSans"/>
            </a:endParaRPr>
          </a:p>
        </p:txBody>
      </p:sp>
      <p:sp>
        <p:nvSpPr>
          <p:cNvPr id="73" name="pc-hdr">
            <a:extLst>
              <a:ext uri="{FF2B5EF4-FFF2-40B4-BE49-F238E27FC236}">
                <a16:creationId xmlns:a16="http://schemas.microsoft.com/office/drawing/2014/main" id="{B5913C1A-4091-9A64-DF96-17304146B540}"/>
              </a:ext>
            </a:extLst>
          </p:cNvPr>
          <p:cNvSpPr/>
          <p:nvPr/>
        </p:nvSpPr>
        <p:spPr>
          <a:xfrm>
            <a:off x="4905375" y="1712182"/>
            <a:ext cx="1771650" cy="172786"/>
          </a:xfrm>
          <a:prstGeom prst="roundRect">
            <a:avLst>
              <a:gd name="adj" fmla="val 10000"/>
            </a:avLst>
          </a:prstGeom>
          <a:solidFill>
            <a:srgbClr val="DD7505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75" name="pc-hdr-text">
            <a:extLst>
              <a:ext uri="{FF2B5EF4-FFF2-40B4-BE49-F238E27FC236}">
                <a16:creationId xmlns:a16="http://schemas.microsoft.com/office/drawing/2014/main" id="{FFF1C9D3-73CB-4D90-2405-DA26A7E1E9EE}"/>
              </a:ext>
            </a:extLst>
          </p:cNvPr>
          <p:cNvSpPr txBox="1"/>
          <p:nvPr/>
        </p:nvSpPr>
        <p:spPr>
          <a:xfrm>
            <a:off x="4905375" y="1712182"/>
            <a:ext cx="1771650" cy="17278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altLang="zh-CN" sz="750" b="1" noProof="1">
                <a:solidFill>
                  <a:srgbClr val="FFFFFF"/>
                </a:solidFill>
                <a:latin typeface="+mn-ea"/>
                <a:cs typeface="MiSans"/>
              </a:rPr>
              <a:t>4 Weeks</a:t>
            </a:r>
            <a:endParaRPr lang="en-US" sz="750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77" name="pc-card">
            <a:extLst>
              <a:ext uri="{FF2B5EF4-FFF2-40B4-BE49-F238E27FC236}">
                <a16:creationId xmlns:a16="http://schemas.microsoft.com/office/drawing/2014/main" id="{E2749F27-1790-E614-0F1F-CD07A4A6C869}"/>
              </a:ext>
            </a:extLst>
          </p:cNvPr>
          <p:cNvSpPr/>
          <p:nvPr/>
        </p:nvSpPr>
        <p:spPr>
          <a:xfrm>
            <a:off x="4905375" y="1884968"/>
            <a:ext cx="1771650" cy="131317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chemeClr val="bg1">
                <a:lumMod val="65000"/>
              </a:schemeClr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79" name="pc-step">
            <a:extLst>
              <a:ext uri="{FF2B5EF4-FFF2-40B4-BE49-F238E27FC236}">
                <a16:creationId xmlns:a16="http://schemas.microsoft.com/office/drawing/2014/main" id="{9175CC42-C981-4459-37BB-917616776B29}"/>
              </a:ext>
            </a:extLst>
          </p:cNvPr>
          <p:cNvSpPr txBox="1"/>
          <p:nvPr/>
        </p:nvSpPr>
        <p:spPr>
          <a:xfrm>
            <a:off x="5000625" y="1954082"/>
            <a:ext cx="1581150" cy="120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750" b="1" noProof="1">
                <a:latin typeface="+mn-ea"/>
                <a:cs typeface="MiSans"/>
              </a:rPr>
              <a:t>STEP </a:t>
            </a:r>
            <a:r>
              <a:rPr lang="en-US" altLang="zh-CN" sz="750" b="1" noProof="1">
                <a:latin typeface="+mn-ea"/>
                <a:cs typeface="MiSans"/>
              </a:rPr>
              <a:t>8</a:t>
            </a:r>
            <a:r>
              <a:rPr lang="en-US" sz="750" b="1" noProof="1">
                <a:latin typeface="+mn-ea"/>
                <a:cs typeface="MiSans"/>
              </a:rPr>
              <a:t> </a:t>
            </a:r>
            <a:r>
              <a:rPr lang="zh-CN" altLang="en-US" sz="750" b="1" noProof="1">
                <a:latin typeface="+mn-ea"/>
                <a:cs typeface="MiSans"/>
              </a:rPr>
              <a:t>系统测试</a:t>
            </a:r>
            <a:endParaRPr lang="en-US" sz="750" noProof="1">
              <a:latin typeface="+mn-ea"/>
              <a:cs typeface="MiSans"/>
            </a:endParaRPr>
          </a:p>
        </p:txBody>
      </p:sp>
      <p:sp>
        <p:nvSpPr>
          <p:cNvPr id="81" name="pc-items">
            <a:extLst>
              <a:ext uri="{FF2B5EF4-FFF2-40B4-BE49-F238E27FC236}">
                <a16:creationId xmlns:a16="http://schemas.microsoft.com/office/drawing/2014/main" id="{FBBC157A-AD60-9A71-EACC-B5FD6DEF70CE}"/>
              </a:ext>
            </a:extLst>
          </p:cNvPr>
          <p:cNvSpPr txBox="1"/>
          <p:nvPr/>
        </p:nvSpPr>
        <p:spPr>
          <a:xfrm>
            <a:off x="5000625" y="2105812"/>
            <a:ext cx="1600200" cy="4838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171450" indent="-171450" defTabSz="68580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zh-CN" altLang="en-US" sz="800" noProof="1">
                <a:latin typeface="+mn-ea"/>
                <a:cs typeface="MiSans"/>
              </a:rPr>
              <a:t>系统集成 </a:t>
            </a:r>
            <a:r>
              <a:rPr lang="en-US" altLang="zh-CN" sz="800" noProof="1">
                <a:latin typeface="+mn-ea"/>
                <a:cs typeface="MiSans"/>
              </a:rPr>
              <a:t>+ CC </a:t>
            </a:r>
            <a:r>
              <a:rPr lang="zh-CN" altLang="en-US" sz="800" noProof="1">
                <a:latin typeface="+mn-ea"/>
                <a:cs typeface="MiSans"/>
              </a:rPr>
              <a:t>数据迁移演练</a:t>
            </a:r>
            <a:endParaRPr lang="en-US" altLang="zh-CN" sz="800" noProof="1">
              <a:latin typeface="+mn-ea"/>
              <a:cs typeface="MiSans"/>
            </a:endParaRPr>
          </a:p>
          <a:p>
            <a:pPr marL="171450" indent="-171450" defTabSz="68580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zh-CN" altLang="en-US" sz="800" noProof="1">
                <a:latin typeface="+mn-ea"/>
                <a:cs typeface="MiSans"/>
              </a:rPr>
              <a:t>全量测试 （以</a:t>
            </a:r>
            <a:r>
              <a:rPr lang="en-US" altLang="zh-CN" sz="800" noProof="1">
                <a:latin typeface="+mn-ea"/>
                <a:cs typeface="MiSans"/>
              </a:rPr>
              <a:t>CC</a:t>
            </a:r>
            <a:r>
              <a:rPr lang="zh-CN" altLang="en-US" sz="800" noProof="1">
                <a:latin typeface="+mn-ea"/>
                <a:cs typeface="MiSans"/>
              </a:rPr>
              <a:t>为验证系统）</a:t>
            </a:r>
            <a:r>
              <a:rPr lang="en-US" altLang="zh-CN" sz="800" noProof="1">
                <a:latin typeface="+mn-ea"/>
                <a:cs typeface="MiSans"/>
              </a:rPr>
              <a:t>+ UAT+ </a:t>
            </a:r>
            <a:r>
              <a:rPr lang="zh-CN" altLang="en-US" sz="800" noProof="1">
                <a:latin typeface="+mn-ea"/>
                <a:cs typeface="MiSans"/>
              </a:rPr>
              <a:t>代码质量和</a:t>
            </a:r>
            <a:r>
              <a:rPr lang="en-US" altLang="zh-CN" sz="800" noProof="1">
                <a:latin typeface="+mn-ea"/>
                <a:cs typeface="MiSans"/>
              </a:rPr>
              <a:t>bug</a:t>
            </a:r>
            <a:r>
              <a:rPr lang="zh-CN" altLang="en-US" sz="800" noProof="1">
                <a:latin typeface="+mn-ea"/>
                <a:cs typeface="MiSans"/>
              </a:rPr>
              <a:t>修复</a:t>
            </a:r>
            <a:endParaRPr lang="en-US" sz="800" noProof="1">
              <a:latin typeface="+mn-ea"/>
              <a:cs typeface="MiSans"/>
            </a:endParaRPr>
          </a:p>
        </p:txBody>
      </p:sp>
      <p:sp>
        <p:nvSpPr>
          <p:cNvPr id="92" name="pd-hdr">
            <a:extLst>
              <a:ext uri="{FF2B5EF4-FFF2-40B4-BE49-F238E27FC236}">
                <a16:creationId xmlns:a16="http://schemas.microsoft.com/office/drawing/2014/main" id="{5378FB5D-6A8D-2C4B-B567-7C1477815F93}"/>
              </a:ext>
            </a:extLst>
          </p:cNvPr>
          <p:cNvSpPr/>
          <p:nvPr/>
        </p:nvSpPr>
        <p:spPr>
          <a:xfrm>
            <a:off x="6810375" y="1712182"/>
            <a:ext cx="1771650" cy="172786"/>
          </a:xfrm>
          <a:prstGeom prst="roundRect">
            <a:avLst>
              <a:gd name="adj" fmla="val 10000"/>
            </a:avLst>
          </a:prstGeom>
          <a:solidFill>
            <a:srgbClr val="03774D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94" name="pd-hdr-text">
            <a:extLst>
              <a:ext uri="{FF2B5EF4-FFF2-40B4-BE49-F238E27FC236}">
                <a16:creationId xmlns:a16="http://schemas.microsoft.com/office/drawing/2014/main" id="{39F4EDC7-798D-45A4-337A-23A836AC28D3}"/>
              </a:ext>
            </a:extLst>
          </p:cNvPr>
          <p:cNvSpPr txBox="1"/>
          <p:nvPr/>
        </p:nvSpPr>
        <p:spPr>
          <a:xfrm>
            <a:off x="6810375" y="1712182"/>
            <a:ext cx="1771650" cy="17278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altLang="zh-CN" sz="750" b="1" noProof="1">
                <a:solidFill>
                  <a:srgbClr val="FFFFFF"/>
                </a:solidFill>
                <a:latin typeface="+mn-ea"/>
                <a:cs typeface="MiSans"/>
              </a:rPr>
              <a:t>1 Week</a:t>
            </a:r>
            <a:endParaRPr lang="en-US" sz="750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96" name="pd-card">
            <a:extLst>
              <a:ext uri="{FF2B5EF4-FFF2-40B4-BE49-F238E27FC236}">
                <a16:creationId xmlns:a16="http://schemas.microsoft.com/office/drawing/2014/main" id="{DE515461-E341-F7D3-B69C-56FBBE69F86C}"/>
              </a:ext>
            </a:extLst>
          </p:cNvPr>
          <p:cNvSpPr/>
          <p:nvPr/>
        </p:nvSpPr>
        <p:spPr>
          <a:xfrm>
            <a:off x="6810375" y="1884968"/>
            <a:ext cx="1771650" cy="131317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chemeClr val="bg1">
                <a:lumMod val="65000"/>
              </a:schemeClr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98" name="pd-step">
            <a:extLst>
              <a:ext uri="{FF2B5EF4-FFF2-40B4-BE49-F238E27FC236}">
                <a16:creationId xmlns:a16="http://schemas.microsoft.com/office/drawing/2014/main" id="{9DA7469B-DFB8-A99B-3F9D-14FD53660A29}"/>
              </a:ext>
            </a:extLst>
          </p:cNvPr>
          <p:cNvSpPr txBox="1"/>
          <p:nvPr/>
        </p:nvSpPr>
        <p:spPr>
          <a:xfrm>
            <a:off x="6915150" y="1954082"/>
            <a:ext cx="1581150" cy="120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zh-CN" altLang="en-US" sz="750" b="1" noProof="1">
                <a:latin typeface="+mn-ea"/>
                <a:cs typeface="MiSans"/>
              </a:rPr>
              <a:t>部署上线</a:t>
            </a:r>
            <a:endParaRPr lang="en-US" altLang="zh-CN" sz="750" noProof="1">
              <a:latin typeface="+mn-ea"/>
              <a:cs typeface="MiSans"/>
            </a:endParaRPr>
          </a:p>
        </p:txBody>
      </p:sp>
      <p:sp>
        <p:nvSpPr>
          <p:cNvPr id="100" name="pd-items">
            <a:extLst>
              <a:ext uri="{FF2B5EF4-FFF2-40B4-BE49-F238E27FC236}">
                <a16:creationId xmlns:a16="http://schemas.microsoft.com/office/drawing/2014/main" id="{8BA7A8C0-C82E-4EC2-567E-AD5D4B907284}"/>
              </a:ext>
            </a:extLst>
          </p:cNvPr>
          <p:cNvSpPr txBox="1"/>
          <p:nvPr/>
        </p:nvSpPr>
        <p:spPr>
          <a:xfrm>
            <a:off x="6905625" y="2105812"/>
            <a:ext cx="1600200" cy="6637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171450" indent="-171450" defTabSz="68580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zh-CN" altLang="en-US" sz="800" noProof="1">
                <a:latin typeface="+mn-ea"/>
                <a:cs typeface="MiSans"/>
              </a:rPr>
              <a:t>单次 </a:t>
            </a:r>
            <a:r>
              <a:rPr lang="en-US" altLang="zh-CN" sz="800" noProof="1">
                <a:latin typeface="+mn-ea"/>
                <a:cs typeface="MiSans"/>
              </a:rPr>
              <a:t>Release: CC </a:t>
            </a:r>
            <a:r>
              <a:rPr lang="zh-CN" altLang="en-US" sz="800" noProof="1">
                <a:latin typeface="+mn-ea"/>
                <a:cs typeface="MiSans"/>
              </a:rPr>
              <a:t>生产部署 </a:t>
            </a:r>
            <a:r>
              <a:rPr lang="en-US" altLang="zh-CN" sz="800" noProof="1">
                <a:latin typeface="+mn-ea"/>
                <a:cs typeface="MiSans"/>
              </a:rPr>
              <a:t>+ </a:t>
            </a:r>
            <a:r>
              <a:rPr lang="zh-CN" altLang="en-US" sz="800" noProof="1">
                <a:latin typeface="+mn-ea"/>
                <a:cs typeface="MiSans"/>
              </a:rPr>
              <a:t>上线</a:t>
            </a:r>
            <a:endParaRPr lang="en-US" sz="800" noProof="1">
              <a:latin typeface="+mn-ea"/>
              <a:cs typeface="MiSans"/>
            </a:endParaRPr>
          </a:p>
        </p:txBody>
      </p:sp>
      <p:sp>
        <p:nvSpPr>
          <p:cNvPr id="47" name="pa-ms-bg">
            <a:extLst>
              <a:ext uri="{FF2B5EF4-FFF2-40B4-BE49-F238E27FC236}">
                <a16:creationId xmlns:a16="http://schemas.microsoft.com/office/drawing/2014/main" id="{34342D04-93D6-0705-B8FD-4D3E3CD83A54}"/>
              </a:ext>
            </a:extLst>
          </p:cNvPr>
          <p:cNvSpPr/>
          <p:nvPr/>
        </p:nvSpPr>
        <p:spPr>
          <a:xfrm>
            <a:off x="361950" y="2806507"/>
            <a:ext cx="1857375" cy="374356"/>
          </a:xfrm>
          <a:prstGeom prst="roundRect">
            <a:avLst>
              <a:gd name="adj" fmla="val 6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49" name="pa-ms-diamond">
            <a:extLst>
              <a:ext uri="{FF2B5EF4-FFF2-40B4-BE49-F238E27FC236}">
                <a16:creationId xmlns:a16="http://schemas.microsoft.com/office/drawing/2014/main" id="{E54DD011-64B9-B826-6DF4-1B45971E4D16}"/>
              </a:ext>
            </a:extLst>
          </p:cNvPr>
          <p:cNvSpPr/>
          <p:nvPr/>
        </p:nvSpPr>
        <p:spPr>
          <a:xfrm>
            <a:off x="476250" y="2859916"/>
            <a:ext cx="85725" cy="73244"/>
          </a:xfrm>
          <a:prstGeom prst="diamond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latin typeface="+mn-ea"/>
              <a:cs typeface="MiSans"/>
            </a:endParaRPr>
          </a:p>
        </p:txBody>
      </p:sp>
      <p:sp>
        <p:nvSpPr>
          <p:cNvPr id="51" name="pa-ms-label">
            <a:extLst>
              <a:ext uri="{FF2B5EF4-FFF2-40B4-BE49-F238E27FC236}">
                <a16:creationId xmlns:a16="http://schemas.microsoft.com/office/drawing/2014/main" id="{0305A639-F24A-690A-E566-7C0A24991FC5}"/>
              </a:ext>
            </a:extLst>
          </p:cNvPr>
          <p:cNvSpPr txBox="1"/>
          <p:nvPr/>
        </p:nvSpPr>
        <p:spPr>
          <a:xfrm>
            <a:off x="609600" y="2835502"/>
            <a:ext cx="952500" cy="1057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zh-CN" altLang="en-US" sz="675" b="1" noProof="1">
                <a:latin typeface="+mn-ea"/>
                <a:cs typeface="MiSans"/>
              </a:rPr>
              <a:t>退出标准</a:t>
            </a:r>
            <a:endParaRPr lang="en-US" sz="675" noProof="1">
              <a:latin typeface="+mn-ea"/>
              <a:cs typeface="MiSans"/>
            </a:endParaRPr>
          </a:p>
        </p:txBody>
      </p:sp>
      <p:sp>
        <p:nvSpPr>
          <p:cNvPr id="53" name="pa-ms-text">
            <a:extLst>
              <a:ext uri="{FF2B5EF4-FFF2-40B4-BE49-F238E27FC236}">
                <a16:creationId xmlns:a16="http://schemas.microsoft.com/office/drawing/2014/main" id="{0A2A3498-EB67-CEED-304F-EFD34D336634}"/>
              </a:ext>
            </a:extLst>
          </p:cNvPr>
          <p:cNvSpPr txBox="1"/>
          <p:nvPr/>
        </p:nvSpPr>
        <p:spPr>
          <a:xfrm>
            <a:off x="702237" y="2985546"/>
            <a:ext cx="739140" cy="11393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zh-CN" altLang="en-US" sz="700" b="1" noProof="1">
                <a:solidFill>
                  <a:srgbClr val="1F2430"/>
                </a:solidFill>
                <a:latin typeface="+mn-ea"/>
                <a:cs typeface="MiSans"/>
              </a:rPr>
              <a:t>设计</a:t>
            </a:r>
            <a:r>
              <a:rPr lang="en-US" sz="700" b="1" noProof="1">
                <a:solidFill>
                  <a:srgbClr val="1F2430"/>
                </a:solidFill>
                <a:latin typeface="+mn-ea"/>
                <a:cs typeface="MiSans"/>
              </a:rPr>
              <a:t>评审通过 + </a:t>
            </a:r>
            <a:r>
              <a:rPr lang="zh-CN" altLang="en-US" sz="700" b="1" noProof="1">
                <a:solidFill>
                  <a:srgbClr val="1F2430"/>
                </a:solidFill>
                <a:latin typeface="+mn-ea"/>
                <a:cs typeface="MiSans"/>
              </a:rPr>
              <a:t>模块接口冻结</a:t>
            </a:r>
            <a:endParaRPr lang="en-US" sz="700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65" name="pb-ms-bg">
            <a:extLst>
              <a:ext uri="{FF2B5EF4-FFF2-40B4-BE49-F238E27FC236}">
                <a16:creationId xmlns:a16="http://schemas.microsoft.com/office/drawing/2014/main" id="{23743FB6-D4B8-E035-8006-5639EFA1CD08}"/>
              </a:ext>
            </a:extLst>
          </p:cNvPr>
          <p:cNvSpPr/>
          <p:nvPr/>
        </p:nvSpPr>
        <p:spPr>
          <a:xfrm>
            <a:off x="2400300" y="2806507"/>
            <a:ext cx="2352675" cy="374356"/>
          </a:xfrm>
          <a:prstGeom prst="roundRect">
            <a:avLst>
              <a:gd name="adj" fmla="val 6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67" name="pb-ms-diamond">
            <a:extLst>
              <a:ext uri="{FF2B5EF4-FFF2-40B4-BE49-F238E27FC236}">
                <a16:creationId xmlns:a16="http://schemas.microsoft.com/office/drawing/2014/main" id="{E34F0881-A684-9A01-A081-4A5C0148EBF4}"/>
              </a:ext>
            </a:extLst>
          </p:cNvPr>
          <p:cNvSpPr/>
          <p:nvPr/>
        </p:nvSpPr>
        <p:spPr>
          <a:xfrm>
            <a:off x="2466975" y="2859916"/>
            <a:ext cx="85725" cy="73244"/>
          </a:xfrm>
          <a:prstGeom prst="diamond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latin typeface="+mn-ea"/>
              <a:cs typeface="MiSans"/>
            </a:endParaRPr>
          </a:p>
        </p:txBody>
      </p:sp>
      <p:sp>
        <p:nvSpPr>
          <p:cNvPr id="69" name="pb-ms-label">
            <a:extLst>
              <a:ext uri="{FF2B5EF4-FFF2-40B4-BE49-F238E27FC236}">
                <a16:creationId xmlns:a16="http://schemas.microsoft.com/office/drawing/2014/main" id="{B41E235F-1887-48D8-A58A-79E8A5765B4E}"/>
              </a:ext>
            </a:extLst>
          </p:cNvPr>
          <p:cNvSpPr txBox="1"/>
          <p:nvPr/>
        </p:nvSpPr>
        <p:spPr>
          <a:xfrm>
            <a:off x="2600325" y="2835502"/>
            <a:ext cx="952500" cy="1057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zh-CN" altLang="en-US" sz="675" b="1" noProof="1">
                <a:latin typeface="+mn-ea"/>
                <a:cs typeface="MiSans"/>
              </a:rPr>
              <a:t>退出标准</a:t>
            </a:r>
            <a:endParaRPr lang="en-US" altLang="zh-CN" sz="675" noProof="1">
              <a:latin typeface="+mn-ea"/>
              <a:cs typeface="MiSans"/>
            </a:endParaRPr>
          </a:p>
        </p:txBody>
      </p:sp>
      <p:sp>
        <p:nvSpPr>
          <p:cNvPr id="71" name="pb-ms-text">
            <a:extLst>
              <a:ext uri="{FF2B5EF4-FFF2-40B4-BE49-F238E27FC236}">
                <a16:creationId xmlns:a16="http://schemas.microsoft.com/office/drawing/2014/main" id="{2804A5AC-6663-CEF2-E955-FA22D4B1BD32}"/>
              </a:ext>
            </a:extLst>
          </p:cNvPr>
          <p:cNvSpPr txBox="1"/>
          <p:nvPr/>
        </p:nvSpPr>
        <p:spPr>
          <a:xfrm>
            <a:off x="2514600" y="2985546"/>
            <a:ext cx="2124075" cy="11393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700" b="1" noProof="1">
                <a:solidFill>
                  <a:srgbClr val="1F2430"/>
                </a:solidFill>
                <a:latin typeface="+mn-ea"/>
                <a:cs typeface="MiSans"/>
              </a:rPr>
              <a:t>P0/P1 清零 + </a:t>
            </a:r>
            <a:r>
              <a:rPr lang="zh-CN" altLang="en-US" sz="700" b="1" noProof="1">
                <a:solidFill>
                  <a:srgbClr val="1F2430"/>
                </a:solidFill>
                <a:latin typeface="+mn-ea"/>
                <a:cs typeface="MiSans"/>
              </a:rPr>
              <a:t>冒烟测试通过</a:t>
            </a:r>
            <a:endParaRPr lang="en-US" sz="700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83" name="pc-ms-bg">
            <a:extLst>
              <a:ext uri="{FF2B5EF4-FFF2-40B4-BE49-F238E27FC236}">
                <a16:creationId xmlns:a16="http://schemas.microsoft.com/office/drawing/2014/main" id="{9B5651DC-8166-7DB2-59EF-736060A935D7}"/>
              </a:ext>
            </a:extLst>
          </p:cNvPr>
          <p:cNvSpPr/>
          <p:nvPr/>
        </p:nvSpPr>
        <p:spPr>
          <a:xfrm>
            <a:off x="4924425" y="2806507"/>
            <a:ext cx="1733550" cy="374356"/>
          </a:xfrm>
          <a:prstGeom prst="roundRect">
            <a:avLst>
              <a:gd name="adj" fmla="val 6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85" name="pc-ms-diamond">
            <a:extLst>
              <a:ext uri="{FF2B5EF4-FFF2-40B4-BE49-F238E27FC236}">
                <a16:creationId xmlns:a16="http://schemas.microsoft.com/office/drawing/2014/main" id="{078FD666-FBE0-3462-9223-A27EBF5AE2FC}"/>
              </a:ext>
            </a:extLst>
          </p:cNvPr>
          <p:cNvSpPr/>
          <p:nvPr/>
        </p:nvSpPr>
        <p:spPr>
          <a:xfrm>
            <a:off x="5038725" y="2859916"/>
            <a:ext cx="85725" cy="73244"/>
          </a:xfrm>
          <a:prstGeom prst="diamond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latin typeface="+mn-ea"/>
              <a:cs typeface="MiSans"/>
            </a:endParaRPr>
          </a:p>
        </p:txBody>
      </p:sp>
      <p:sp>
        <p:nvSpPr>
          <p:cNvPr id="87" name="pc-ms-label">
            <a:extLst>
              <a:ext uri="{FF2B5EF4-FFF2-40B4-BE49-F238E27FC236}">
                <a16:creationId xmlns:a16="http://schemas.microsoft.com/office/drawing/2014/main" id="{E0E270B6-FE27-53D8-3E33-FFC462B0A1C2}"/>
              </a:ext>
            </a:extLst>
          </p:cNvPr>
          <p:cNvSpPr txBox="1"/>
          <p:nvPr/>
        </p:nvSpPr>
        <p:spPr>
          <a:xfrm>
            <a:off x="5172075" y="2835502"/>
            <a:ext cx="952500" cy="1057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zh-CN" altLang="en-US" sz="675" b="1" noProof="1">
                <a:latin typeface="+mn-ea"/>
                <a:cs typeface="MiSans"/>
              </a:rPr>
              <a:t>退出标准</a:t>
            </a:r>
            <a:endParaRPr lang="en-US" altLang="zh-CN" sz="675" noProof="1">
              <a:latin typeface="+mn-ea"/>
              <a:cs typeface="MiSans"/>
            </a:endParaRPr>
          </a:p>
        </p:txBody>
      </p:sp>
      <p:sp>
        <p:nvSpPr>
          <p:cNvPr id="89" name="pc-ms-text">
            <a:extLst>
              <a:ext uri="{FF2B5EF4-FFF2-40B4-BE49-F238E27FC236}">
                <a16:creationId xmlns:a16="http://schemas.microsoft.com/office/drawing/2014/main" id="{248E92A9-E1B3-B558-2B8B-FF5846101A7B}"/>
              </a:ext>
            </a:extLst>
          </p:cNvPr>
          <p:cNvSpPr txBox="1"/>
          <p:nvPr/>
        </p:nvSpPr>
        <p:spPr>
          <a:xfrm>
            <a:off x="5038725" y="2985546"/>
            <a:ext cx="1524000" cy="11393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en-US" sz="700" b="1" noProof="1">
                <a:solidFill>
                  <a:srgbClr val="1F2430"/>
                </a:solidFill>
                <a:latin typeface="+mn-ea"/>
                <a:cs typeface="MiSans"/>
              </a:rPr>
              <a:t>UAT 签字</a:t>
            </a:r>
            <a:endParaRPr lang="en-US" sz="700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102" name="pd-ms-bg">
            <a:extLst>
              <a:ext uri="{FF2B5EF4-FFF2-40B4-BE49-F238E27FC236}">
                <a16:creationId xmlns:a16="http://schemas.microsoft.com/office/drawing/2014/main" id="{88F72CE2-EB21-EAC8-EC14-4D2BB728654F}"/>
              </a:ext>
            </a:extLst>
          </p:cNvPr>
          <p:cNvSpPr/>
          <p:nvPr/>
        </p:nvSpPr>
        <p:spPr>
          <a:xfrm>
            <a:off x="6829425" y="2806507"/>
            <a:ext cx="1733550" cy="374356"/>
          </a:xfrm>
          <a:prstGeom prst="roundRect">
            <a:avLst>
              <a:gd name="adj" fmla="val 6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104" name="pd-ms-diamond">
            <a:extLst>
              <a:ext uri="{FF2B5EF4-FFF2-40B4-BE49-F238E27FC236}">
                <a16:creationId xmlns:a16="http://schemas.microsoft.com/office/drawing/2014/main" id="{A9A9190F-DF33-D2D0-0E62-9A56E855D1C9}"/>
              </a:ext>
            </a:extLst>
          </p:cNvPr>
          <p:cNvSpPr/>
          <p:nvPr/>
        </p:nvSpPr>
        <p:spPr>
          <a:xfrm>
            <a:off x="6880661" y="2859916"/>
            <a:ext cx="85725" cy="73244"/>
          </a:xfrm>
          <a:prstGeom prst="diamond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latin typeface="+mn-ea"/>
              <a:cs typeface="MiSans"/>
            </a:endParaRPr>
          </a:p>
        </p:txBody>
      </p:sp>
      <p:sp>
        <p:nvSpPr>
          <p:cNvPr id="106" name="pd-ms-label">
            <a:extLst>
              <a:ext uri="{FF2B5EF4-FFF2-40B4-BE49-F238E27FC236}">
                <a16:creationId xmlns:a16="http://schemas.microsoft.com/office/drawing/2014/main" id="{F8A64266-0875-3CF2-E8B1-7DB167296989}"/>
              </a:ext>
            </a:extLst>
          </p:cNvPr>
          <p:cNvSpPr txBox="1"/>
          <p:nvPr/>
        </p:nvSpPr>
        <p:spPr>
          <a:xfrm>
            <a:off x="7037660" y="2835502"/>
            <a:ext cx="952500" cy="1057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zh-CN" altLang="en-US" sz="675" b="1" noProof="1">
                <a:latin typeface="+mn-ea"/>
                <a:cs typeface="MiSans"/>
              </a:rPr>
              <a:t>退出标准</a:t>
            </a:r>
            <a:endParaRPr lang="en-US" altLang="zh-CN" sz="675" noProof="1">
              <a:latin typeface="+mn-ea"/>
              <a:cs typeface="MiSans"/>
            </a:endParaRPr>
          </a:p>
        </p:txBody>
      </p:sp>
      <p:sp>
        <p:nvSpPr>
          <p:cNvPr id="108" name="pd-ms-text">
            <a:extLst>
              <a:ext uri="{FF2B5EF4-FFF2-40B4-BE49-F238E27FC236}">
                <a16:creationId xmlns:a16="http://schemas.microsoft.com/office/drawing/2014/main" id="{CBB384CF-0DF9-3383-494E-9470A5E9FFCC}"/>
              </a:ext>
            </a:extLst>
          </p:cNvPr>
          <p:cNvSpPr txBox="1"/>
          <p:nvPr/>
        </p:nvSpPr>
        <p:spPr>
          <a:xfrm>
            <a:off x="6943725" y="2985546"/>
            <a:ext cx="1524000" cy="11393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 defTabSz="685800">
              <a:lnSpc>
                <a:spcPct val="120000"/>
              </a:lnSpc>
            </a:pPr>
            <a:r>
              <a:rPr lang="zh-CN" altLang="en-US" sz="700" noProof="1">
                <a:solidFill>
                  <a:srgbClr val="000000"/>
                </a:solidFill>
                <a:latin typeface="+mn-ea"/>
                <a:cs typeface="MiSans"/>
              </a:rPr>
              <a:t>生产验证通过</a:t>
            </a:r>
            <a:endParaRPr lang="en-US" sz="700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113" name="eff-icon-circle">
            <a:extLst>
              <a:ext uri="{FF2B5EF4-FFF2-40B4-BE49-F238E27FC236}">
                <a16:creationId xmlns:a16="http://schemas.microsoft.com/office/drawing/2014/main" id="{C26D11D2-0FDC-9FF9-E322-E8014A41E28B}"/>
              </a:ext>
            </a:extLst>
          </p:cNvPr>
          <p:cNvSpPr/>
          <p:nvPr/>
        </p:nvSpPr>
        <p:spPr>
          <a:xfrm>
            <a:off x="352425" y="3379282"/>
            <a:ext cx="314325" cy="314325"/>
          </a:xfrm>
          <a:prstGeom prst="ellipse">
            <a:avLst/>
          </a:prstGeom>
          <a:solidFill>
            <a:srgbClr val="1467CE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115" name="eff-icon">
            <a:extLst>
              <a:ext uri="{FF2B5EF4-FFF2-40B4-BE49-F238E27FC236}">
                <a16:creationId xmlns:a16="http://schemas.microsoft.com/office/drawing/2014/main" id="{C4C500F4-BD07-27A9-2EAC-05130429D8E3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eyJpY29uTmFtZSI6ImZhczpjaGFydC1zaW1wbGUifQ</pptd:icon>
              </p:ext>
            </p:extLst>
          </p:nvPr>
        </p:nvSpPr>
        <p:spPr>
          <a:xfrm>
            <a:off x="428625" y="3455482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92" y="80"/>
                </a:moveTo>
                <a:cubicBezTo>
                  <a:pt x="192" y="54"/>
                  <a:pt x="214" y="32"/>
                  <a:pt x="240" y="32"/>
                </a:cubicBezTo>
                <a:lnTo>
                  <a:pt x="272" y="32"/>
                </a:lnTo>
                <a:cubicBezTo>
                  <a:pt x="299" y="32"/>
                  <a:pt x="320" y="54"/>
                  <a:pt x="320" y="80"/>
                </a:cubicBezTo>
                <a:lnTo>
                  <a:pt x="320" y="432"/>
                </a:lnTo>
                <a:cubicBezTo>
                  <a:pt x="320" y="459"/>
                  <a:pt x="299" y="480"/>
                  <a:pt x="272" y="480"/>
                </a:cubicBezTo>
                <a:lnTo>
                  <a:pt x="240" y="480"/>
                </a:lnTo>
                <a:cubicBezTo>
                  <a:pt x="214" y="480"/>
                  <a:pt x="192" y="459"/>
                  <a:pt x="192" y="432"/>
                </a:cubicBezTo>
                <a:lnTo>
                  <a:pt x="192" y="80"/>
                </a:lnTo>
                <a:close/>
              </a:path>
              <a:path w="512" h="512">
                <a:moveTo>
                  <a:pt x="0" y="272"/>
                </a:moveTo>
                <a:cubicBezTo>
                  <a:pt x="0" y="246"/>
                  <a:pt x="22" y="224"/>
                  <a:pt x="48" y="224"/>
                </a:cubicBezTo>
                <a:lnTo>
                  <a:pt x="80" y="224"/>
                </a:lnTo>
                <a:cubicBezTo>
                  <a:pt x="107" y="224"/>
                  <a:pt x="128" y="246"/>
                  <a:pt x="128" y="272"/>
                </a:cubicBezTo>
                <a:lnTo>
                  <a:pt x="128" y="432"/>
                </a:lnTo>
                <a:cubicBezTo>
                  <a:pt x="128" y="459"/>
                  <a:pt x="107" y="480"/>
                  <a:pt x="80" y="480"/>
                </a:cubicBezTo>
                <a:lnTo>
                  <a:pt x="48" y="480"/>
                </a:lnTo>
                <a:cubicBezTo>
                  <a:pt x="22" y="480"/>
                  <a:pt x="0" y="459"/>
                  <a:pt x="0" y="432"/>
                </a:cubicBezTo>
                <a:lnTo>
                  <a:pt x="0" y="272"/>
                </a:lnTo>
                <a:close/>
              </a:path>
              <a:path w="512" h="512">
                <a:moveTo>
                  <a:pt x="432" y="96"/>
                </a:moveTo>
                <a:lnTo>
                  <a:pt x="464" y="96"/>
                </a:lnTo>
                <a:cubicBezTo>
                  <a:pt x="491" y="96"/>
                  <a:pt x="512" y="118"/>
                  <a:pt x="512" y="144"/>
                </a:cubicBezTo>
                <a:lnTo>
                  <a:pt x="512" y="432"/>
                </a:lnTo>
                <a:cubicBezTo>
                  <a:pt x="512" y="459"/>
                  <a:pt x="491" y="480"/>
                  <a:pt x="464" y="480"/>
                </a:cubicBezTo>
                <a:lnTo>
                  <a:pt x="432" y="480"/>
                </a:lnTo>
                <a:cubicBezTo>
                  <a:pt x="406" y="480"/>
                  <a:pt x="384" y="459"/>
                  <a:pt x="384" y="432"/>
                </a:cubicBezTo>
                <a:lnTo>
                  <a:pt x="384" y="144"/>
                </a:lnTo>
                <a:cubicBezTo>
                  <a:pt x="384" y="118"/>
                  <a:pt x="406" y="96"/>
                  <a:pt x="432" y="9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117" name="eff-title">
            <a:extLst>
              <a:ext uri="{FF2B5EF4-FFF2-40B4-BE49-F238E27FC236}">
                <a16:creationId xmlns:a16="http://schemas.microsoft.com/office/drawing/2014/main" id="{BA1A01F0-B268-1E22-C5EC-718337071F45}"/>
              </a:ext>
            </a:extLst>
          </p:cNvPr>
          <p:cNvSpPr txBox="1"/>
          <p:nvPr/>
        </p:nvSpPr>
        <p:spPr>
          <a:xfrm>
            <a:off x="781050" y="3370927"/>
            <a:ext cx="24765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1100" b="1" noProof="1">
                <a:solidFill>
                  <a:srgbClr val="171F56"/>
                </a:solidFill>
                <a:latin typeface="+mn-ea"/>
                <a:cs typeface="MiSans"/>
              </a:rPr>
              <a:t>Implementation Effort</a:t>
            </a:r>
            <a:endParaRPr lang="en-US" sz="1100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119" name="eff-subtitle">
            <a:extLst>
              <a:ext uri="{FF2B5EF4-FFF2-40B4-BE49-F238E27FC236}">
                <a16:creationId xmlns:a16="http://schemas.microsoft.com/office/drawing/2014/main" id="{2627490E-20BC-AF1D-5131-4CDFF4B75F1A}"/>
              </a:ext>
            </a:extLst>
          </p:cNvPr>
          <p:cNvSpPr txBox="1"/>
          <p:nvPr/>
        </p:nvSpPr>
        <p:spPr>
          <a:xfrm>
            <a:off x="781050" y="3560257"/>
            <a:ext cx="1905000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800" noProof="1">
                <a:solidFill>
                  <a:srgbClr val="4F4F4F"/>
                </a:solidFill>
                <a:latin typeface="+mn-ea"/>
                <a:cs typeface="MiSans"/>
              </a:rPr>
              <a:t>实施投入对比（人天）</a:t>
            </a:r>
            <a:endParaRPr lang="en-US" sz="800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121" name="eff-label1">
            <a:extLst>
              <a:ext uri="{FF2B5EF4-FFF2-40B4-BE49-F238E27FC236}">
                <a16:creationId xmlns:a16="http://schemas.microsoft.com/office/drawing/2014/main" id="{BCE4B4F0-6796-F6FF-7A0D-BF1232BE162F}"/>
              </a:ext>
            </a:extLst>
          </p:cNvPr>
          <p:cNvSpPr txBox="1"/>
          <p:nvPr/>
        </p:nvSpPr>
        <p:spPr>
          <a:xfrm>
            <a:off x="383135" y="3904609"/>
            <a:ext cx="1104900" cy="1873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/>
            <a:r>
              <a:rPr lang="en-US" sz="900" b="1" noProof="1">
                <a:solidFill>
                  <a:srgbClr val="1F2430"/>
                </a:solidFill>
                <a:latin typeface="+mn-ea"/>
                <a:cs typeface="MiSans"/>
              </a:rPr>
              <a:t>Traditional SLC </a:t>
            </a:r>
            <a:r>
              <a:rPr lang="zh-CN" altLang="en-US" sz="900" b="1" noProof="1">
                <a:solidFill>
                  <a:srgbClr val="1F2430"/>
                </a:solidFill>
                <a:latin typeface="+mn-ea"/>
                <a:cs typeface="MiSans"/>
              </a:rPr>
              <a:t>模式</a:t>
            </a:r>
            <a:endParaRPr lang="en-US" sz="900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127" name="eff-label2">
            <a:extLst>
              <a:ext uri="{FF2B5EF4-FFF2-40B4-BE49-F238E27FC236}">
                <a16:creationId xmlns:a16="http://schemas.microsoft.com/office/drawing/2014/main" id="{CEDAE4A6-A682-450A-9D8B-28B171922088}"/>
              </a:ext>
            </a:extLst>
          </p:cNvPr>
          <p:cNvSpPr txBox="1"/>
          <p:nvPr/>
        </p:nvSpPr>
        <p:spPr>
          <a:xfrm>
            <a:off x="383135" y="4290408"/>
            <a:ext cx="1104900" cy="1619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/>
            <a:r>
              <a:rPr lang="en-US" sz="900" b="1" noProof="1">
                <a:solidFill>
                  <a:srgbClr val="004F71"/>
                </a:solidFill>
                <a:latin typeface="+mn-ea"/>
                <a:cs typeface="MiSans"/>
              </a:rPr>
              <a:t>SLC + AI </a:t>
            </a:r>
            <a:r>
              <a:rPr lang="zh-CN" altLang="en-US" sz="900" b="1" noProof="1">
                <a:solidFill>
                  <a:srgbClr val="004F71"/>
                </a:solidFill>
                <a:latin typeface="+mn-ea"/>
                <a:cs typeface="MiSans"/>
              </a:rPr>
              <a:t>模式</a:t>
            </a:r>
            <a:endParaRPr lang="en-US" altLang="zh-CN" sz="900" b="1" noProof="1">
              <a:solidFill>
                <a:srgbClr val="004F71"/>
              </a:solidFill>
              <a:latin typeface="+mn-ea"/>
              <a:cs typeface="MiSans"/>
            </a:endParaRPr>
          </a:p>
        </p:txBody>
      </p:sp>
      <p:sp>
        <p:nvSpPr>
          <p:cNvPr id="135" name="save-card">
            <a:extLst>
              <a:ext uri="{FF2B5EF4-FFF2-40B4-BE49-F238E27FC236}">
                <a16:creationId xmlns:a16="http://schemas.microsoft.com/office/drawing/2014/main" id="{59036241-3692-F5A2-2317-BC6F75DA0B99}"/>
              </a:ext>
            </a:extLst>
          </p:cNvPr>
          <p:cNvSpPr/>
          <p:nvPr/>
        </p:nvSpPr>
        <p:spPr>
          <a:xfrm>
            <a:off x="5886452" y="3556259"/>
            <a:ext cx="2686048" cy="1123950"/>
          </a:xfrm>
          <a:prstGeom prst="roundRect">
            <a:avLst>
              <a:gd name="adj" fmla="val 6000"/>
            </a:avLst>
          </a:prstGeom>
          <a:solidFill>
            <a:srgbClr val="00B0F0">
              <a:alpha val="10000"/>
            </a:srgbClr>
          </a:solidFill>
          <a:ln w="12700">
            <a:solidFill>
              <a:srgbClr val="00B0F0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chemeClr val="accent6"/>
              </a:solidFill>
              <a:latin typeface="+mn-ea"/>
              <a:cs typeface="MiSans"/>
            </a:endParaRPr>
          </a:p>
        </p:txBody>
      </p:sp>
      <p:sp>
        <p:nvSpPr>
          <p:cNvPr id="137" name="save-arrow">
            <a:extLst>
              <a:ext uri="{FF2B5EF4-FFF2-40B4-BE49-F238E27FC236}">
                <a16:creationId xmlns:a16="http://schemas.microsoft.com/office/drawing/2014/main" id="{8D815415-D93A-087C-C0AD-4824E798103D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eyJpY29uTmFtZSI6ImZhczphcnJvdy1kb3duIn0</pptd:icon>
              </p:ext>
            </p:extLst>
          </p:nvPr>
        </p:nvSpPr>
        <p:spPr>
          <a:xfrm>
            <a:off x="6499376" y="3651509"/>
            <a:ext cx="198299" cy="20955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169" y="503"/>
                </a:moveTo>
                <a:cubicBezTo>
                  <a:pt x="182" y="515"/>
                  <a:pt x="202" y="515"/>
                  <a:pt x="215" y="503"/>
                </a:cubicBezTo>
                <a:lnTo>
                  <a:pt x="375" y="343"/>
                </a:lnTo>
                <a:cubicBezTo>
                  <a:pt x="387" y="330"/>
                  <a:pt x="387" y="310"/>
                  <a:pt x="375" y="297"/>
                </a:cubicBezTo>
                <a:cubicBezTo>
                  <a:pt x="362" y="285"/>
                  <a:pt x="342" y="285"/>
                  <a:pt x="329" y="297"/>
                </a:cubicBezTo>
                <a:lnTo>
                  <a:pt x="224" y="403"/>
                </a:lnTo>
                <a:lnTo>
                  <a:pt x="224" y="32"/>
                </a:lnTo>
                <a:cubicBezTo>
                  <a:pt x="224" y="14"/>
                  <a:pt x="210" y="0"/>
                  <a:pt x="192" y="0"/>
                </a:cubicBezTo>
                <a:cubicBezTo>
                  <a:pt x="174" y="0"/>
                  <a:pt x="160" y="14"/>
                  <a:pt x="160" y="32"/>
                </a:cubicBezTo>
                <a:lnTo>
                  <a:pt x="160" y="403"/>
                </a:lnTo>
                <a:lnTo>
                  <a:pt x="55" y="297"/>
                </a:lnTo>
                <a:cubicBezTo>
                  <a:pt x="42" y="285"/>
                  <a:pt x="22" y="285"/>
                  <a:pt x="9" y="297"/>
                </a:cubicBezTo>
                <a:cubicBezTo>
                  <a:pt x="-3" y="310"/>
                  <a:pt x="-3" y="330"/>
                  <a:pt x="9" y="343"/>
                </a:cubicBezTo>
                <a:lnTo>
                  <a:pt x="169" y="503"/>
                </a:lnTo>
                <a:close/>
              </a:path>
            </a:pathLst>
          </a:cu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/>
          <a:lstStyle/>
          <a:p>
            <a:pPr defTabSz="685800"/>
            <a:endParaRPr lang="zh-CN" altLang="en-US" sz="1350">
              <a:solidFill>
                <a:schemeClr val="accent6"/>
              </a:solidFill>
              <a:latin typeface="+mn-ea"/>
              <a:cs typeface="MiSans"/>
            </a:endParaRPr>
          </a:p>
        </p:txBody>
      </p:sp>
      <p:sp>
        <p:nvSpPr>
          <p:cNvPr id="139" name="save-num">
            <a:extLst>
              <a:ext uri="{FF2B5EF4-FFF2-40B4-BE49-F238E27FC236}">
                <a16:creationId xmlns:a16="http://schemas.microsoft.com/office/drawing/2014/main" id="{FCCC85B5-AF0A-3714-88CE-B41C3F637316}"/>
              </a:ext>
            </a:extLst>
          </p:cNvPr>
          <p:cNvSpPr txBox="1"/>
          <p:nvPr/>
        </p:nvSpPr>
        <p:spPr>
          <a:xfrm>
            <a:off x="6733729" y="3594359"/>
            <a:ext cx="1352038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b="1" noProof="1">
                <a:solidFill>
                  <a:schemeClr val="accent6"/>
                </a:solidFill>
                <a:latin typeface="+mn-ea"/>
                <a:cs typeface="MiSans"/>
              </a:rPr>
              <a:t>1</a:t>
            </a:r>
            <a:r>
              <a:rPr lang="en-US" altLang="zh-CN" b="1" noProof="1">
                <a:solidFill>
                  <a:schemeClr val="accent6"/>
                </a:solidFill>
                <a:latin typeface="+mn-ea"/>
                <a:cs typeface="MiSans"/>
              </a:rPr>
              <a:t>24</a:t>
            </a:r>
            <a:r>
              <a:rPr lang="en-US" b="1" noProof="1">
                <a:solidFill>
                  <a:schemeClr val="accent6"/>
                </a:solidFill>
                <a:latin typeface="+mn-ea"/>
                <a:cs typeface="MiSans"/>
              </a:rPr>
              <a:t> </a:t>
            </a:r>
            <a:r>
              <a:rPr lang="en-US" sz="1200" b="1" noProof="1">
                <a:solidFill>
                  <a:schemeClr val="accent6"/>
                </a:solidFill>
                <a:latin typeface="+mn-ea"/>
                <a:cs typeface="MiSans"/>
              </a:rPr>
              <a:t>人天</a:t>
            </a:r>
            <a:endParaRPr lang="en-US" noProof="1">
              <a:solidFill>
                <a:schemeClr val="accent6"/>
              </a:solidFill>
              <a:latin typeface="+mn-ea"/>
              <a:cs typeface="MiSans"/>
            </a:endParaRPr>
          </a:p>
        </p:txBody>
      </p:sp>
      <p:sp>
        <p:nvSpPr>
          <p:cNvPr id="141" name="save-sub">
            <a:extLst>
              <a:ext uri="{FF2B5EF4-FFF2-40B4-BE49-F238E27FC236}">
                <a16:creationId xmlns:a16="http://schemas.microsoft.com/office/drawing/2014/main" id="{8FA781DB-8DB1-4DC4-878E-5170226CD085}"/>
              </a:ext>
            </a:extLst>
          </p:cNvPr>
          <p:cNvSpPr txBox="1"/>
          <p:nvPr/>
        </p:nvSpPr>
        <p:spPr>
          <a:xfrm>
            <a:off x="6733729" y="3956309"/>
            <a:ext cx="171258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900" b="1" noProof="1">
                <a:solidFill>
                  <a:schemeClr val="accent6"/>
                </a:solidFill>
                <a:latin typeface="+mn-ea"/>
                <a:cs typeface="MiSans"/>
              </a:rPr>
              <a:t>~4</a:t>
            </a:r>
            <a:r>
              <a:rPr lang="en-US" altLang="zh-CN" sz="900" b="1" noProof="1">
                <a:solidFill>
                  <a:schemeClr val="accent6"/>
                </a:solidFill>
                <a:latin typeface="+mn-ea"/>
                <a:cs typeface="MiSans"/>
              </a:rPr>
              <a:t>0</a:t>
            </a:r>
            <a:r>
              <a:rPr lang="en-US" sz="900" b="1" noProof="1">
                <a:solidFill>
                  <a:schemeClr val="accent6"/>
                </a:solidFill>
                <a:latin typeface="+mn-ea"/>
                <a:cs typeface="MiSans"/>
              </a:rPr>
              <a:t>% Effort Saving</a:t>
            </a:r>
            <a:endParaRPr lang="en-US" sz="900" noProof="1">
              <a:solidFill>
                <a:schemeClr val="accent6"/>
              </a:solidFill>
              <a:latin typeface="+mn-ea"/>
              <a:cs typeface="MiSans"/>
            </a:endParaRPr>
          </a:p>
        </p:txBody>
      </p:sp>
      <p:sp>
        <p:nvSpPr>
          <p:cNvPr id="143" name="save-sep">
            <a:extLst>
              <a:ext uri="{FF2B5EF4-FFF2-40B4-BE49-F238E27FC236}">
                <a16:creationId xmlns:a16="http://schemas.microsoft.com/office/drawing/2014/main" id="{32F23E4D-9B93-1EDC-9322-8CAEFC2EF6C9}"/>
              </a:ext>
            </a:extLst>
          </p:cNvPr>
          <p:cNvSpPr/>
          <p:nvPr/>
        </p:nvSpPr>
        <p:spPr>
          <a:xfrm>
            <a:off x="6030669" y="4184909"/>
            <a:ext cx="2397613" cy="9525"/>
          </a:xfrm>
          <a:prstGeom prst="rect">
            <a:avLst/>
          </a:prstGeom>
          <a:solidFill>
            <a:srgbClr val="C9D6F5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145" name="save-m1-icon">
            <a:extLst>
              <a:ext uri="{FF2B5EF4-FFF2-40B4-BE49-F238E27FC236}">
                <a16:creationId xmlns:a16="http://schemas.microsoft.com/office/drawing/2014/main" id="{EC41720B-E53E-33A1-ECE0-F4B0489F911A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eyJpY29uTmFtZSI6ImZhcjpjYWxlbmRhci1jaGVjayJ9</pptd:icon>
              </p:ext>
            </p:extLst>
          </p:nvPr>
        </p:nvSpPr>
        <p:spPr>
          <a:xfrm>
            <a:off x="6066724" y="4299209"/>
            <a:ext cx="126190" cy="13335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328" y="0"/>
                </a:moveTo>
                <a:cubicBezTo>
                  <a:pt x="341" y="0"/>
                  <a:pt x="352" y="11"/>
                  <a:pt x="352" y="24"/>
                </a:cubicBezTo>
                <a:lnTo>
                  <a:pt x="352" y="64"/>
                </a:lnTo>
                <a:lnTo>
                  <a:pt x="384" y="64"/>
                </a:lnTo>
                <a:cubicBezTo>
                  <a:pt x="419" y="64"/>
                  <a:pt x="448" y="93"/>
                  <a:pt x="448" y="128"/>
                </a:cubicBezTo>
                <a:lnTo>
                  <a:pt x="448" y="416"/>
                </a:lnTo>
                <a:cubicBezTo>
                  <a:pt x="448" y="451"/>
                  <a:pt x="419" y="480"/>
                  <a:pt x="384" y="480"/>
                </a:cubicBezTo>
                <a:lnTo>
                  <a:pt x="64" y="480"/>
                </a:lnTo>
                <a:cubicBezTo>
                  <a:pt x="29" y="480"/>
                  <a:pt x="0" y="451"/>
                  <a:pt x="0" y="416"/>
                </a:cubicBezTo>
                <a:lnTo>
                  <a:pt x="0" y="128"/>
                </a:lnTo>
                <a:cubicBezTo>
                  <a:pt x="0" y="93"/>
                  <a:pt x="29" y="64"/>
                  <a:pt x="64" y="64"/>
                </a:cubicBezTo>
                <a:lnTo>
                  <a:pt x="96" y="64"/>
                </a:lnTo>
                <a:lnTo>
                  <a:pt x="96" y="24"/>
                </a:lnTo>
                <a:cubicBezTo>
                  <a:pt x="96" y="11"/>
                  <a:pt x="107" y="0"/>
                  <a:pt x="120" y="0"/>
                </a:cubicBezTo>
                <a:cubicBezTo>
                  <a:pt x="133" y="0"/>
                  <a:pt x="144" y="11"/>
                  <a:pt x="144" y="24"/>
                </a:cubicBezTo>
                <a:lnTo>
                  <a:pt x="144" y="64"/>
                </a:lnTo>
                <a:lnTo>
                  <a:pt x="304" y="64"/>
                </a:lnTo>
                <a:lnTo>
                  <a:pt x="304" y="24"/>
                </a:lnTo>
                <a:cubicBezTo>
                  <a:pt x="304" y="11"/>
                  <a:pt x="315" y="0"/>
                  <a:pt x="328" y="0"/>
                </a:cubicBezTo>
                <a:close/>
                <a:moveTo>
                  <a:pt x="64" y="112"/>
                </a:moveTo>
                <a:cubicBezTo>
                  <a:pt x="55" y="112"/>
                  <a:pt x="48" y="119"/>
                  <a:pt x="48" y="128"/>
                </a:cubicBezTo>
                <a:lnTo>
                  <a:pt x="48" y="416"/>
                </a:lnTo>
                <a:cubicBezTo>
                  <a:pt x="48" y="425"/>
                  <a:pt x="55" y="432"/>
                  <a:pt x="64" y="432"/>
                </a:cubicBezTo>
                <a:lnTo>
                  <a:pt x="384" y="432"/>
                </a:lnTo>
                <a:cubicBezTo>
                  <a:pt x="393" y="432"/>
                  <a:pt x="400" y="425"/>
                  <a:pt x="400" y="416"/>
                </a:cubicBezTo>
                <a:lnTo>
                  <a:pt x="400" y="128"/>
                </a:lnTo>
                <a:cubicBezTo>
                  <a:pt x="400" y="119"/>
                  <a:pt x="393" y="112"/>
                  <a:pt x="384" y="112"/>
                </a:cubicBezTo>
                <a:lnTo>
                  <a:pt x="64" y="112"/>
                </a:lnTo>
                <a:close/>
              </a:path>
              <a:path w="448" h="512">
                <a:moveTo>
                  <a:pt x="295" y="178"/>
                </a:moveTo>
                <a:cubicBezTo>
                  <a:pt x="303" y="167"/>
                  <a:pt x="318" y="165"/>
                  <a:pt x="328" y="173"/>
                </a:cubicBezTo>
                <a:cubicBezTo>
                  <a:pt x="339" y="180"/>
                  <a:pt x="341" y="195"/>
                  <a:pt x="334" y="206"/>
                </a:cubicBezTo>
                <a:lnTo>
                  <a:pt x="211" y="374"/>
                </a:lnTo>
                <a:cubicBezTo>
                  <a:pt x="207" y="380"/>
                  <a:pt x="201" y="383"/>
                  <a:pt x="194" y="384"/>
                </a:cubicBezTo>
                <a:cubicBezTo>
                  <a:pt x="187" y="384"/>
                  <a:pt x="180" y="382"/>
                  <a:pt x="175" y="377"/>
                </a:cubicBezTo>
                <a:lnTo>
                  <a:pt x="119" y="321"/>
                </a:lnTo>
                <a:cubicBezTo>
                  <a:pt x="110" y="312"/>
                  <a:pt x="110" y="297"/>
                  <a:pt x="119" y="287"/>
                </a:cubicBezTo>
                <a:cubicBezTo>
                  <a:pt x="129" y="278"/>
                  <a:pt x="144" y="278"/>
                  <a:pt x="153" y="287"/>
                </a:cubicBezTo>
                <a:lnTo>
                  <a:pt x="189" y="323"/>
                </a:lnTo>
                <a:lnTo>
                  <a:pt x="295" y="17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147" name="save-m1">
            <a:extLst>
              <a:ext uri="{FF2B5EF4-FFF2-40B4-BE49-F238E27FC236}">
                <a16:creationId xmlns:a16="http://schemas.microsoft.com/office/drawing/2014/main" id="{20585FEA-9078-36D2-3113-39D167F564CE}"/>
              </a:ext>
            </a:extLst>
          </p:cNvPr>
          <p:cNvSpPr txBox="1"/>
          <p:nvPr/>
        </p:nvSpPr>
        <p:spPr>
          <a:xfrm>
            <a:off x="6228968" y="4280159"/>
            <a:ext cx="558842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>
              <a:lnSpc>
                <a:spcPct val="130000"/>
              </a:lnSpc>
            </a:pPr>
            <a:r>
              <a:rPr lang="en-US" sz="900" b="1" noProof="1">
                <a:solidFill>
                  <a:srgbClr val="1F2430"/>
                </a:solidFill>
                <a:latin typeface="+mn-ea"/>
                <a:cs typeface="MiSans"/>
              </a:rPr>
              <a:t>12 Weeks</a:t>
            </a:r>
            <a:endParaRPr lang="en-US" sz="900" noProof="1">
              <a:solidFill>
                <a:srgbClr val="000000"/>
              </a:solidFill>
              <a:latin typeface="+mn-ea"/>
              <a:cs typeface="MiSans"/>
            </a:endParaRPr>
          </a:p>
          <a:p>
            <a:pPr defTabSz="685800">
              <a:lnSpc>
                <a:spcPct val="130000"/>
              </a:lnSpc>
            </a:pPr>
            <a:r>
              <a:rPr lang="en-US" sz="800" noProof="1">
                <a:solidFill>
                  <a:srgbClr val="6B7280"/>
                </a:solidFill>
                <a:latin typeface="+mn-ea"/>
                <a:cs typeface="MiSans"/>
              </a:rPr>
              <a:t>实施周期</a:t>
            </a:r>
            <a:endParaRPr lang="en-US" sz="900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149" name="save-m2-icon">
            <a:extLst>
              <a:ext uri="{FF2B5EF4-FFF2-40B4-BE49-F238E27FC236}">
                <a16:creationId xmlns:a16="http://schemas.microsoft.com/office/drawing/2014/main" id="{30304EE1-94F9-C5C7-39CE-7740A6BD86CC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eyJpY29uTmFtZSI6ImZhcjpjbG9jayJ9</pptd:icon>
              </p:ext>
            </p:extLst>
          </p:nvPr>
        </p:nvSpPr>
        <p:spPr>
          <a:xfrm>
            <a:off x="6841892" y="4299209"/>
            <a:ext cx="126190" cy="13335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0" y="256"/>
                </a:moveTo>
                <a:cubicBezTo>
                  <a:pt x="0" y="397"/>
                  <a:pt x="115" y="512"/>
                  <a:pt x="256" y="512"/>
                </a:cubicBezTo>
                <a:cubicBezTo>
                  <a:pt x="397" y="512"/>
                  <a:pt x="512" y="397"/>
                  <a:pt x="512" y="256"/>
                </a:cubicBezTo>
                <a:cubicBezTo>
                  <a:pt x="512" y="115"/>
                  <a:pt x="397" y="0"/>
                  <a:pt x="256" y="0"/>
                </a:cubicBezTo>
                <a:cubicBezTo>
                  <a:pt x="115" y="0"/>
                  <a:pt x="0" y="115"/>
                  <a:pt x="0" y="256"/>
                </a:cubicBezTo>
                <a:close/>
                <a:moveTo>
                  <a:pt x="464" y="256"/>
                </a:moveTo>
                <a:cubicBezTo>
                  <a:pt x="464" y="371"/>
                  <a:pt x="371" y="464"/>
                  <a:pt x="256" y="464"/>
                </a:cubicBezTo>
                <a:cubicBezTo>
                  <a:pt x="141" y="464"/>
                  <a:pt x="48" y="371"/>
                  <a:pt x="48" y="256"/>
                </a:cubicBezTo>
                <a:cubicBezTo>
                  <a:pt x="48" y="141"/>
                  <a:pt x="141" y="48"/>
                  <a:pt x="256" y="48"/>
                </a:cubicBezTo>
                <a:cubicBezTo>
                  <a:pt x="371" y="48"/>
                  <a:pt x="464" y="141"/>
                  <a:pt x="464" y="256"/>
                </a:cubicBezTo>
                <a:close/>
              </a:path>
              <a:path w="512" h="512">
                <a:moveTo>
                  <a:pt x="232" y="120"/>
                </a:moveTo>
                <a:lnTo>
                  <a:pt x="232" y="256"/>
                </a:lnTo>
                <a:cubicBezTo>
                  <a:pt x="232" y="264"/>
                  <a:pt x="236" y="272"/>
                  <a:pt x="243" y="276"/>
                </a:cubicBezTo>
                <a:lnTo>
                  <a:pt x="339" y="340"/>
                </a:lnTo>
                <a:cubicBezTo>
                  <a:pt x="350" y="347"/>
                  <a:pt x="365" y="344"/>
                  <a:pt x="372" y="333"/>
                </a:cubicBezTo>
                <a:cubicBezTo>
                  <a:pt x="379" y="322"/>
                  <a:pt x="376" y="307"/>
                  <a:pt x="365" y="300"/>
                </a:cubicBezTo>
                <a:lnTo>
                  <a:pt x="280" y="243"/>
                </a:lnTo>
                <a:lnTo>
                  <a:pt x="280" y="120"/>
                </a:lnTo>
                <a:cubicBezTo>
                  <a:pt x="280" y="107"/>
                  <a:pt x="269" y="96"/>
                  <a:pt x="256" y="96"/>
                </a:cubicBezTo>
                <a:cubicBezTo>
                  <a:pt x="243" y="96"/>
                  <a:pt x="232" y="107"/>
                  <a:pt x="232" y="12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151" name="save-m2">
            <a:extLst>
              <a:ext uri="{FF2B5EF4-FFF2-40B4-BE49-F238E27FC236}">
                <a16:creationId xmlns:a16="http://schemas.microsoft.com/office/drawing/2014/main" id="{70DF0C73-878E-74CC-3747-21E9D10C62A1}"/>
              </a:ext>
            </a:extLst>
          </p:cNvPr>
          <p:cNvSpPr txBox="1"/>
          <p:nvPr/>
        </p:nvSpPr>
        <p:spPr>
          <a:xfrm>
            <a:off x="7004136" y="4280159"/>
            <a:ext cx="594897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>
              <a:lnSpc>
                <a:spcPct val="130000"/>
              </a:lnSpc>
            </a:pPr>
            <a:r>
              <a:rPr lang="en-US" sz="900" b="1" noProof="1">
                <a:solidFill>
                  <a:srgbClr val="1F2430"/>
                </a:solidFill>
                <a:latin typeface="+mn-ea"/>
                <a:cs typeface="MiSans"/>
              </a:rPr>
              <a:t>~3 Months</a:t>
            </a:r>
            <a:endParaRPr lang="en-US" sz="900" noProof="1">
              <a:solidFill>
                <a:srgbClr val="000000"/>
              </a:solidFill>
              <a:latin typeface="+mn-ea"/>
              <a:cs typeface="MiSans"/>
            </a:endParaRPr>
          </a:p>
          <a:p>
            <a:pPr defTabSz="685800">
              <a:lnSpc>
                <a:spcPct val="130000"/>
              </a:lnSpc>
            </a:pPr>
            <a:r>
              <a:rPr lang="en-US" sz="800" noProof="1">
                <a:solidFill>
                  <a:srgbClr val="6B7280"/>
                </a:solidFill>
                <a:latin typeface="+mn-ea"/>
                <a:cs typeface="MiSans"/>
              </a:rPr>
              <a:t>约 3 个月</a:t>
            </a:r>
            <a:endParaRPr lang="en-US" sz="900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153" name="save-m3-icon">
            <a:extLst>
              <a:ext uri="{FF2B5EF4-FFF2-40B4-BE49-F238E27FC236}">
                <a16:creationId xmlns:a16="http://schemas.microsoft.com/office/drawing/2014/main" id="{69C28449-2FDB-F405-85EA-7E023C1BE39C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eyJpY29uTmFtZSI6ImZhczp1c2VyLWdyb3VwIn0</pptd:icon>
              </p:ext>
            </p:extLst>
          </p:nvPr>
        </p:nvSpPr>
        <p:spPr>
          <a:xfrm>
            <a:off x="7653114" y="4299209"/>
            <a:ext cx="126190" cy="13335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64" y="128"/>
                </a:moveTo>
                <a:cubicBezTo>
                  <a:pt x="64" y="66"/>
                  <a:pt x="114" y="16"/>
                  <a:pt x="176" y="16"/>
                </a:cubicBezTo>
                <a:cubicBezTo>
                  <a:pt x="238" y="16"/>
                  <a:pt x="288" y="66"/>
                  <a:pt x="288" y="128"/>
                </a:cubicBezTo>
                <a:cubicBezTo>
                  <a:pt x="288" y="190"/>
                  <a:pt x="238" y="240"/>
                  <a:pt x="176" y="240"/>
                </a:cubicBezTo>
                <a:cubicBezTo>
                  <a:pt x="114" y="240"/>
                  <a:pt x="64" y="190"/>
                  <a:pt x="64" y="128"/>
                </a:cubicBezTo>
                <a:close/>
              </a:path>
              <a:path w="576" h="512">
                <a:moveTo>
                  <a:pt x="0" y="464"/>
                </a:moveTo>
                <a:cubicBezTo>
                  <a:pt x="0" y="367"/>
                  <a:pt x="79" y="288"/>
                  <a:pt x="176" y="288"/>
                </a:cubicBezTo>
                <a:cubicBezTo>
                  <a:pt x="273" y="288"/>
                  <a:pt x="352" y="367"/>
                  <a:pt x="352" y="464"/>
                </a:cubicBezTo>
                <a:lnTo>
                  <a:pt x="352" y="470"/>
                </a:lnTo>
                <a:cubicBezTo>
                  <a:pt x="352" y="493"/>
                  <a:pt x="333" y="512"/>
                  <a:pt x="310" y="512"/>
                </a:cubicBezTo>
                <a:lnTo>
                  <a:pt x="42" y="512"/>
                </a:lnTo>
                <a:cubicBezTo>
                  <a:pt x="19" y="512"/>
                  <a:pt x="0" y="493"/>
                  <a:pt x="0" y="470"/>
                </a:cubicBezTo>
                <a:lnTo>
                  <a:pt x="0" y="464"/>
                </a:lnTo>
                <a:close/>
              </a:path>
              <a:path w="576" h="512">
                <a:moveTo>
                  <a:pt x="432" y="64"/>
                </a:moveTo>
                <a:cubicBezTo>
                  <a:pt x="485" y="64"/>
                  <a:pt x="528" y="107"/>
                  <a:pt x="528" y="160"/>
                </a:cubicBezTo>
                <a:cubicBezTo>
                  <a:pt x="528" y="213"/>
                  <a:pt x="485" y="256"/>
                  <a:pt x="432" y="256"/>
                </a:cubicBezTo>
                <a:cubicBezTo>
                  <a:pt x="379" y="256"/>
                  <a:pt x="336" y="213"/>
                  <a:pt x="336" y="160"/>
                </a:cubicBezTo>
                <a:cubicBezTo>
                  <a:pt x="336" y="107"/>
                  <a:pt x="379" y="64"/>
                  <a:pt x="432" y="64"/>
                </a:cubicBezTo>
                <a:close/>
              </a:path>
              <a:path w="576" h="512">
                <a:moveTo>
                  <a:pt x="432" y="304"/>
                </a:moveTo>
                <a:cubicBezTo>
                  <a:pt x="512" y="304"/>
                  <a:pt x="576" y="369"/>
                  <a:pt x="576" y="448"/>
                </a:cubicBezTo>
                <a:lnTo>
                  <a:pt x="576" y="470"/>
                </a:lnTo>
                <a:cubicBezTo>
                  <a:pt x="576" y="493"/>
                  <a:pt x="557" y="512"/>
                  <a:pt x="534" y="512"/>
                </a:cubicBezTo>
                <a:lnTo>
                  <a:pt x="390" y="512"/>
                </a:lnTo>
                <a:cubicBezTo>
                  <a:pt x="396" y="500"/>
                  <a:pt x="400" y="485"/>
                  <a:pt x="400" y="470"/>
                </a:cubicBezTo>
                <a:lnTo>
                  <a:pt x="400" y="464"/>
                </a:lnTo>
                <a:cubicBezTo>
                  <a:pt x="400" y="413"/>
                  <a:pt x="383" y="365"/>
                  <a:pt x="353" y="327"/>
                </a:cubicBezTo>
                <a:cubicBezTo>
                  <a:pt x="376" y="313"/>
                  <a:pt x="403" y="304"/>
                  <a:pt x="432" y="30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155" name="save-m3">
            <a:extLst>
              <a:ext uri="{FF2B5EF4-FFF2-40B4-BE49-F238E27FC236}">
                <a16:creationId xmlns:a16="http://schemas.microsoft.com/office/drawing/2014/main" id="{A8C201E7-8D58-02A4-0CE5-71C3D2DCFBF7}"/>
              </a:ext>
            </a:extLst>
          </p:cNvPr>
          <p:cNvSpPr txBox="1"/>
          <p:nvPr/>
        </p:nvSpPr>
        <p:spPr>
          <a:xfrm>
            <a:off x="7815359" y="4280159"/>
            <a:ext cx="793195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defTabSz="685800">
              <a:lnSpc>
                <a:spcPct val="130000"/>
              </a:lnSpc>
            </a:pPr>
            <a:r>
              <a:rPr lang="en-US" sz="900" b="1" noProof="1">
                <a:solidFill>
                  <a:srgbClr val="1F2430"/>
                </a:solidFill>
                <a:latin typeface="+mn-ea"/>
                <a:cs typeface="MiSans"/>
              </a:rPr>
              <a:t>3-4 person</a:t>
            </a:r>
            <a:r>
              <a:rPr lang="en-US" altLang="zh-CN" sz="900" b="1" noProof="1">
                <a:solidFill>
                  <a:srgbClr val="1F2430"/>
                </a:solidFill>
                <a:latin typeface="+mn-ea"/>
                <a:cs typeface="MiSans"/>
              </a:rPr>
              <a:t>s</a:t>
            </a:r>
            <a:endParaRPr lang="en-US" sz="900" noProof="1">
              <a:solidFill>
                <a:srgbClr val="000000"/>
              </a:solidFill>
              <a:latin typeface="+mn-ea"/>
              <a:cs typeface="MiSans"/>
            </a:endParaRPr>
          </a:p>
          <a:p>
            <a:pPr defTabSz="685800">
              <a:lnSpc>
                <a:spcPct val="130000"/>
              </a:lnSpc>
            </a:pPr>
            <a:r>
              <a:rPr lang="en-US" sz="800" noProof="1">
                <a:solidFill>
                  <a:srgbClr val="6B7280"/>
                </a:solidFill>
                <a:latin typeface="+mn-ea"/>
                <a:cs typeface="MiSans"/>
              </a:rPr>
              <a:t>核心团队</a:t>
            </a:r>
            <a:endParaRPr lang="en-US" sz="900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192" name="Shape 15">
            <a:extLst>
              <a:ext uri="{FF2B5EF4-FFF2-40B4-BE49-F238E27FC236}">
                <a16:creationId xmlns:a16="http://schemas.microsoft.com/office/drawing/2014/main" id="{6C9BB8E5-F7D3-DA14-7946-0587DEA75F48}"/>
              </a:ext>
            </a:extLst>
          </p:cNvPr>
          <p:cNvSpPr/>
          <p:nvPr/>
        </p:nvSpPr>
        <p:spPr>
          <a:xfrm>
            <a:off x="1561170" y="3875272"/>
            <a:ext cx="220656" cy="258193"/>
          </a:xfrm>
          <a:prstGeom prst="rect">
            <a:avLst/>
          </a:prstGeom>
          <a:solidFill>
            <a:srgbClr val="DCECF5"/>
          </a:solidFill>
          <a:ln w="9525">
            <a:solidFill>
              <a:srgbClr val="FFFFFF"/>
            </a:solidFill>
            <a:prstDash val="solid"/>
          </a:ln>
        </p:spPr>
        <p:txBody>
          <a:bodyPr lIns="36000" tIns="36000" rIns="36000" bIns="3600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38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Calibri" pitchFamily="34" charset="-120"/>
              </a:rPr>
              <a:t>6%</a:t>
            </a:r>
            <a:endParaRPr kumimoji="0" lang="en-US" altLang="zh-CN" sz="638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94" name="Shape 17">
            <a:extLst>
              <a:ext uri="{FF2B5EF4-FFF2-40B4-BE49-F238E27FC236}">
                <a16:creationId xmlns:a16="http://schemas.microsoft.com/office/drawing/2014/main" id="{C4CED3C5-7980-CE73-E816-C8FCB3C67E34}"/>
              </a:ext>
            </a:extLst>
          </p:cNvPr>
          <p:cNvSpPr/>
          <p:nvPr/>
        </p:nvSpPr>
        <p:spPr>
          <a:xfrm>
            <a:off x="1781826" y="3875272"/>
            <a:ext cx="294208" cy="258193"/>
          </a:xfrm>
          <a:prstGeom prst="rect">
            <a:avLst/>
          </a:prstGeom>
          <a:solidFill>
            <a:srgbClr val="C5EEFF"/>
          </a:solidFill>
          <a:ln w="9525">
            <a:solidFill>
              <a:srgbClr val="FFFFFF"/>
            </a:solidFill>
            <a:prstDash val="solid"/>
          </a:ln>
        </p:spPr>
        <p:txBody>
          <a:bodyPr lIns="36000" tIns="36000" rIns="36000" bIns="3600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38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Calibri" pitchFamily="34" charset="-120"/>
              </a:rPr>
              <a:t>8%</a:t>
            </a:r>
            <a:endParaRPr kumimoji="0" lang="en-US" altLang="zh-CN" sz="638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96" name="Shape 19">
            <a:extLst>
              <a:ext uri="{FF2B5EF4-FFF2-40B4-BE49-F238E27FC236}">
                <a16:creationId xmlns:a16="http://schemas.microsoft.com/office/drawing/2014/main" id="{D8E18FDC-4518-3CB8-73AC-2BCF8AE9F508}"/>
              </a:ext>
            </a:extLst>
          </p:cNvPr>
          <p:cNvSpPr/>
          <p:nvPr/>
        </p:nvSpPr>
        <p:spPr>
          <a:xfrm>
            <a:off x="2076035" y="3875272"/>
            <a:ext cx="1728474" cy="258193"/>
          </a:xfrm>
          <a:prstGeom prst="rect">
            <a:avLst/>
          </a:prstGeom>
          <a:solidFill>
            <a:srgbClr val="009CDE"/>
          </a:solidFill>
          <a:ln w="9525">
            <a:solidFill>
              <a:srgbClr val="FFFFFF"/>
            </a:solidFill>
            <a:prstDash val="solid"/>
          </a:ln>
        </p:spPr>
        <p:txBody>
          <a:bodyPr lIns="36000" tIns="36000" rIns="36000" bIns="3600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38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cs typeface="Calibri" pitchFamily="34" charset="-120"/>
              </a:rPr>
              <a:t>47%</a:t>
            </a:r>
            <a:endParaRPr kumimoji="0" lang="en-US" altLang="zh-CN" sz="638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98" name="Shape 21">
            <a:extLst>
              <a:ext uri="{FF2B5EF4-FFF2-40B4-BE49-F238E27FC236}">
                <a16:creationId xmlns:a16="http://schemas.microsoft.com/office/drawing/2014/main" id="{670A165E-C928-A910-AD5A-13144FBABDDC}"/>
              </a:ext>
            </a:extLst>
          </p:cNvPr>
          <p:cNvSpPr/>
          <p:nvPr/>
        </p:nvSpPr>
        <p:spPr>
          <a:xfrm>
            <a:off x="3804507" y="3875272"/>
            <a:ext cx="588417" cy="258193"/>
          </a:xfrm>
          <a:prstGeom prst="rect">
            <a:avLst/>
          </a:prstGeom>
          <a:solidFill>
            <a:srgbClr val="2A83C8"/>
          </a:solidFill>
          <a:ln w="9525">
            <a:solidFill>
              <a:srgbClr val="FFFFFF"/>
            </a:solidFill>
            <a:prstDash val="solid"/>
          </a:ln>
        </p:spPr>
        <p:txBody>
          <a:bodyPr lIns="36000" tIns="36000" rIns="36000" bIns="3600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38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cs typeface="Calibri" pitchFamily="34" charset="-120"/>
              </a:rPr>
              <a:t>16%</a:t>
            </a:r>
            <a:endParaRPr kumimoji="0" lang="en-US" altLang="zh-CN" sz="638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00" name="Shape 23">
            <a:extLst>
              <a:ext uri="{FF2B5EF4-FFF2-40B4-BE49-F238E27FC236}">
                <a16:creationId xmlns:a16="http://schemas.microsoft.com/office/drawing/2014/main" id="{E66EE0F9-A232-B74F-C4A9-1801E9173A5A}"/>
              </a:ext>
            </a:extLst>
          </p:cNvPr>
          <p:cNvSpPr/>
          <p:nvPr/>
        </p:nvSpPr>
        <p:spPr>
          <a:xfrm>
            <a:off x="4392925" y="3875272"/>
            <a:ext cx="845848" cy="258193"/>
          </a:xfrm>
          <a:prstGeom prst="rect">
            <a:avLst/>
          </a:prstGeom>
          <a:solidFill>
            <a:srgbClr val="004F71"/>
          </a:solidFill>
          <a:ln w="9525">
            <a:solidFill>
              <a:srgbClr val="FFFFFF"/>
            </a:solidFill>
            <a:prstDash val="solid"/>
          </a:ln>
        </p:spPr>
        <p:txBody>
          <a:bodyPr lIns="36000" tIns="36000" rIns="36000" bIns="3600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38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cs typeface="Calibri" pitchFamily="34" charset="-120"/>
              </a:rPr>
              <a:t>23%</a:t>
            </a:r>
            <a:endParaRPr kumimoji="0" lang="en-US" altLang="zh-CN" sz="638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02" name="Shape 27">
            <a:extLst>
              <a:ext uri="{FF2B5EF4-FFF2-40B4-BE49-F238E27FC236}">
                <a16:creationId xmlns:a16="http://schemas.microsoft.com/office/drawing/2014/main" id="{A72C869E-DDC1-CD38-2527-108A51CD5453}"/>
              </a:ext>
            </a:extLst>
          </p:cNvPr>
          <p:cNvSpPr/>
          <p:nvPr/>
        </p:nvSpPr>
        <p:spPr>
          <a:xfrm>
            <a:off x="1561172" y="4223272"/>
            <a:ext cx="220654" cy="258193"/>
          </a:xfrm>
          <a:prstGeom prst="rect">
            <a:avLst/>
          </a:prstGeom>
          <a:solidFill>
            <a:srgbClr val="DCECF5"/>
          </a:solidFill>
          <a:ln w="9525">
            <a:solidFill>
              <a:srgbClr val="FFFFFF"/>
            </a:solidFill>
            <a:prstDash val="solid"/>
          </a:ln>
        </p:spPr>
        <p:txBody>
          <a:bodyPr lIns="36000" tIns="36000" rIns="36000" bIns="3600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38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Calibri" pitchFamily="34" charset="-120"/>
              </a:rPr>
              <a:t>6%</a:t>
            </a:r>
            <a:endParaRPr kumimoji="0" lang="en-US" altLang="zh-CN" sz="638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04" name="Shape 29">
            <a:extLst>
              <a:ext uri="{FF2B5EF4-FFF2-40B4-BE49-F238E27FC236}">
                <a16:creationId xmlns:a16="http://schemas.microsoft.com/office/drawing/2014/main" id="{8A0EE86F-14E3-A8AF-BF4B-11B6CBC091CF}"/>
              </a:ext>
            </a:extLst>
          </p:cNvPr>
          <p:cNvSpPr/>
          <p:nvPr/>
        </p:nvSpPr>
        <p:spPr>
          <a:xfrm>
            <a:off x="1789018" y="4223272"/>
            <a:ext cx="545719" cy="258193"/>
          </a:xfrm>
          <a:prstGeom prst="rect">
            <a:avLst/>
          </a:prstGeom>
          <a:solidFill>
            <a:srgbClr val="C5EEFF"/>
          </a:solidFill>
          <a:ln w="9525">
            <a:solidFill>
              <a:srgbClr val="FFFFFF"/>
            </a:solidFill>
            <a:prstDash val="solid"/>
          </a:ln>
        </p:spPr>
        <p:txBody>
          <a:bodyPr lIns="36000" tIns="36000" rIns="36000" bIns="3600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638" b="1">
                <a:latin typeface="+mn-ea"/>
                <a:cs typeface="Calibri" pitchFamily="34" charset="-120"/>
              </a:rPr>
              <a:t>16</a:t>
            </a:r>
            <a:r>
              <a:rPr kumimoji="0" lang="en-US" altLang="zh-CN" sz="638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Calibri" pitchFamily="34" charset="-120"/>
              </a:rPr>
              <a:t>%</a:t>
            </a:r>
            <a:endParaRPr kumimoji="0" lang="en-US" altLang="zh-CN" sz="638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06" name="Shape 31">
            <a:extLst>
              <a:ext uri="{FF2B5EF4-FFF2-40B4-BE49-F238E27FC236}">
                <a16:creationId xmlns:a16="http://schemas.microsoft.com/office/drawing/2014/main" id="{A7F03C36-40CC-C34C-4092-531A54175E90}"/>
              </a:ext>
            </a:extLst>
          </p:cNvPr>
          <p:cNvSpPr/>
          <p:nvPr/>
        </p:nvSpPr>
        <p:spPr>
          <a:xfrm>
            <a:off x="2341929" y="4223272"/>
            <a:ext cx="1217295" cy="258193"/>
          </a:xfrm>
          <a:prstGeom prst="rect">
            <a:avLst/>
          </a:prstGeom>
          <a:solidFill>
            <a:srgbClr val="009CDE"/>
          </a:solidFill>
          <a:ln w="9525">
            <a:solidFill>
              <a:srgbClr val="FFFFFF"/>
            </a:solidFill>
            <a:prstDash val="solid"/>
          </a:ln>
        </p:spPr>
        <p:txBody>
          <a:bodyPr lIns="36000" tIns="36000" rIns="36000" bIns="3600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38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cs typeface="Calibri" pitchFamily="34" charset="-120"/>
              </a:rPr>
              <a:t>51%</a:t>
            </a:r>
            <a:endParaRPr kumimoji="0" lang="en-US" altLang="zh-CN" sz="638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08" name="Shape 33">
            <a:extLst>
              <a:ext uri="{FF2B5EF4-FFF2-40B4-BE49-F238E27FC236}">
                <a16:creationId xmlns:a16="http://schemas.microsoft.com/office/drawing/2014/main" id="{CE8DA56D-0EAC-D273-22E8-0F1907AF8E25}"/>
              </a:ext>
            </a:extLst>
          </p:cNvPr>
          <p:cNvSpPr/>
          <p:nvPr/>
        </p:nvSpPr>
        <p:spPr>
          <a:xfrm>
            <a:off x="3563037" y="4223272"/>
            <a:ext cx="377737" cy="258193"/>
          </a:xfrm>
          <a:prstGeom prst="rect">
            <a:avLst/>
          </a:prstGeom>
          <a:solidFill>
            <a:srgbClr val="2A83C8"/>
          </a:solidFill>
          <a:ln w="9525">
            <a:solidFill>
              <a:srgbClr val="FFFFFF"/>
            </a:solidFill>
            <a:prstDash val="solid"/>
          </a:ln>
        </p:spPr>
        <p:txBody>
          <a:bodyPr lIns="36000" tIns="36000" rIns="36000" bIns="3600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38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cs typeface="Calibri" pitchFamily="34" charset="-120"/>
              </a:rPr>
              <a:t>19%</a:t>
            </a:r>
            <a:endParaRPr kumimoji="0" lang="en-US" altLang="zh-CN" sz="638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10" name="Shape 35">
            <a:extLst>
              <a:ext uri="{FF2B5EF4-FFF2-40B4-BE49-F238E27FC236}">
                <a16:creationId xmlns:a16="http://schemas.microsoft.com/office/drawing/2014/main" id="{C11A938A-0DF9-2BB7-58C6-9C6D54259E77}"/>
              </a:ext>
            </a:extLst>
          </p:cNvPr>
          <p:cNvSpPr/>
          <p:nvPr/>
        </p:nvSpPr>
        <p:spPr>
          <a:xfrm>
            <a:off x="3947966" y="4223272"/>
            <a:ext cx="285366" cy="258193"/>
          </a:xfrm>
          <a:prstGeom prst="rect">
            <a:avLst/>
          </a:prstGeom>
          <a:solidFill>
            <a:srgbClr val="004F71"/>
          </a:solidFill>
          <a:ln w="9525">
            <a:solidFill>
              <a:srgbClr val="FFFFFF"/>
            </a:solidFill>
            <a:prstDash val="solid"/>
          </a:ln>
        </p:spPr>
        <p:txBody>
          <a:bodyPr lIns="36000" tIns="36000" rIns="36000" bIns="3600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638" b="1">
                <a:solidFill>
                  <a:srgbClr val="FFFFFF"/>
                </a:solidFill>
                <a:latin typeface="+mn-ea"/>
                <a:cs typeface="Calibri" pitchFamily="34" charset="-120"/>
              </a:rPr>
              <a:t>8</a:t>
            </a:r>
            <a:r>
              <a:rPr kumimoji="0" lang="en-US" altLang="zh-CN" sz="638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cs typeface="Calibri" pitchFamily="34" charset="-120"/>
              </a:rPr>
              <a:t>%</a:t>
            </a:r>
            <a:endParaRPr kumimoji="0" lang="en-US" altLang="zh-CN" sz="638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58" name="Text 3">
            <a:extLst>
              <a:ext uri="{FF2B5EF4-FFF2-40B4-BE49-F238E27FC236}">
                <a16:creationId xmlns:a16="http://schemas.microsoft.com/office/drawing/2014/main" id="{65D801F9-FA03-7BD1-E60E-8CB7A6B47A18}"/>
              </a:ext>
            </a:extLst>
          </p:cNvPr>
          <p:cNvSpPr/>
          <p:nvPr/>
        </p:nvSpPr>
        <p:spPr>
          <a:xfrm>
            <a:off x="371475" y="4547122"/>
            <a:ext cx="4800599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685800"/>
            <a:r>
              <a:rPr lang="en-US" altLang="zh-CN" sz="800" i="1">
                <a:solidFill>
                  <a:srgbClr val="667085"/>
                </a:solidFill>
                <a:latin typeface="+mn-ea"/>
                <a:cs typeface="微软雅黑" pitchFamily="34" charset="-120"/>
              </a:rPr>
              <a:t>AI </a:t>
            </a:r>
            <a:r>
              <a:rPr lang="zh-CN" altLang="en-US" sz="800" i="1">
                <a:solidFill>
                  <a:srgbClr val="667085"/>
                </a:solidFill>
                <a:latin typeface="+mn-ea"/>
                <a:cs typeface="微软雅黑" pitchFamily="34" charset="-120"/>
              </a:rPr>
              <a:t>赋能叠加 </a:t>
            </a:r>
            <a:r>
              <a:rPr lang="en-US" altLang="zh-CN" sz="800" i="1">
                <a:solidFill>
                  <a:srgbClr val="667085"/>
                </a:solidFill>
                <a:latin typeface="+mn-ea"/>
                <a:cs typeface="微软雅黑" pitchFamily="34" charset="-120"/>
              </a:rPr>
              <a:t>Phase1 </a:t>
            </a:r>
            <a:r>
              <a:rPr lang="zh-CN" altLang="en-US" sz="800" i="1">
                <a:solidFill>
                  <a:srgbClr val="667085"/>
                </a:solidFill>
                <a:latin typeface="+mn-ea"/>
                <a:cs typeface="微软雅黑" pitchFamily="34" charset="-120"/>
              </a:rPr>
              <a:t>非核心功能后置裁剪，保障前置需求架构投入，实现整体人天大幅压缩。</a:t>
            </a:r>
            <a:endParaRPr lang="en-US" sz="800" i="1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60" name="eff-val1">
            <a:extLst>
              <a:ext uri="{FF2B5EF4-FFF2-40B4-BE49-F238E27FC236}">
                <a16:creationId xmlns:a16="http://schemas.microsoft.com/office/drawing/2014/main" id="{28270A05-E8DE-46ED-ECD0-E8C1FA3EFB62}"/>
              </a:ext>
            </a:extLst>
          </p:cNvPr>
          <p:cNvSpPr txBox="1"/>
          <p:nvPr/>
        </p:nvSpPr>
        <p:spPr>
          <a:xfrm>
            <a:off x="5299933" y="3918607"/>
            <a:ext cx="402707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825" b="1" noProof="1">
                <a:solidFill>
                  <a:srgbClr val="333333"/>
                </a:solidFill>
                <a:latin typeface="+mn-ea"/>
                <a:cs typeface="MiSans"/>
              </a:rPr>
              <a:t>320</a:t>
            </a:r>
            <a:r>
              <a:rPr lang="en-US" sz="825" noProof="1">
                <a:solidFill>
                  <a:srgbClr val="333333"/>
                </a:solidFill>
                <a:latin typeface="+mn-ea"/>
                <a:cs typeface="MiSans"/>
              </a:rPr>
              <a:t> </a:t>
            </a:r>
            <a:r>
              <a:rPr lang="en-US" sz="638" noProof="1">
                <a:solidFill>
                  <a:srgbClr val="333333"/>
                </a:solidFill>
                <a:latin typeface="+mn-ea"/>
                <a:cs typeface="MiSans"/>
              </a:rPr>
              <a:t>人天</a:t>
            </a:r>
            <a:endParaRPr lang="en-US" sz="825" noProof="1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262" name="eff-val2">
            <a:extLst>
              <a:ext uri="{FF2B5EF4-FFF2-40B4-BE49-F238E27FC236}">
                <a16:creationId xmlns:a16="http://schemas.microsoft.com/office/drawing/2014/main" id="{2E5D151C-7173-1BB0-1B92-61F724D2BC68}"/>
              </a:ext>
            </a:extLst>
          </p:cNvPr>
          <p:cNvSpPr txBox="1"/>
          <p:nvPr/>
        </p:nvSpPr>
        <p:spPr>
          <a:xfrm>
            <a:off x="4290402" y="4263457"/>
            <a:ext cx="409575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defTabSz="685800">
              <a:lnSpc>
                <a:spcPct val="120000"/>
              </a:lnSpc>
            </a:pPr>
            <a:r>
              <a:rPr lang="en-US" sz="1050" b="1" noProof="1">
                <a:solidFill>
                  <a:srgbClr val="004F71"/>
                </a:solidFill>
                <a:latin typeface="+mn-ea"/>
                <a:cs typeface="MiSans"/>
              </a:rPr>
              <a:t>1</a:t>
            </a:r>
            <a:r>
              <a:rPr lang="en-US" altLang="zh-CN" sz="1050" b="1" noProof="1">
                <a:solidFill>
                  <a:srgbClr val="004F71"/>
                </a:solidFill>
                <a:latin typeface="+mn-ea"/>
                <a:cs typeface="MiSans"/>
              </a:rPr>
              <a:t>95</a:t>
            </a:r>
            <a:r>
              <a:rPr lang="en-US" sz="1050" b="1" noProof="1">
                <a:solidFill>
                  <a:srgbClr val="004F71"/>
                </a:solidFill>
                <a:latin typeface="+mn-ea"/>
                <a:cs typeface="MiSans"/>
              </a:rPr>
              <a:t> </a:t>
            </a:r>
            <a:r>
              <a:rPr lang="en-US" sz="900" b="1" noProof="1">
                <a:solidFill>
                  <a:srgbClr val="004F71"/>
                </a:solidFill>
                <a:latin typeface="+mn-ea"/>
                <a:cs typeface="MiSans"/>
              </a:rPr>
              <a:t>人天</a:t>
            </a:r>
            <a:endParaRPr lang="en-US" sz="1050" b="1" noProof="1">
              <a:solidFill>
                <a:srgbClr val="004F71"/>
              </a:solidFill>
              <a:latin typeface="+mn-ea"/>
              <a:cs typeface="MiSans"/>
            </a:endParaRPr>
          </a:p>
        </p:txBody>
      </p:sp>
      <p:sp>
        <p:nvSpPr>
          <p:cNvPr id="264" name="eff-dashline">
            <a:extLst>
              <a:ext uri="{FF2B5EF4-FFF2-40B4-BE49-F238E27FC236}">
                <a16:creationId xmlns:a16="http://schemas.microsoft.com/office/drawing/2014/main" id="{7C93C6D3-35F4-AF1D-C0A3-6FE0B66C26C1}"/>
              </a:ext>
            </a:extLst>
          </p:cNvPr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eyJ2aWV3Qm94IjpbMSwxXSwicG9pbnRzIjoiMC41LDAgMC41LDEifQ</pptd:line>
              </p:ext>
            </p:extLst>
          </p:nvPr>
        </p:nvSpPr>
        <p:spPr>
          <a:xfrm>
            <a:off x="5216653" y="3876118"/>
            <a:ext cx="19050" cy="6120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1" y="0"/>
                </a:moveTo>
                <a:lnTo>
                  <a:pt x="1" y="1"/>
                </a:lnTo>
              </a:path>
            </a:pathLst>
          </a:custGeom>
          <a:noFill/>
          <a:ln w="12700" cap="rnd">
            <a:solidFill>
              <a:srgbClr val="9AA1AC"/>
            </a:solidFill>
            <a:prstDash val="dash"/>
            <a:round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268" name="Shape 4">
            <a:extLst>
              <a:ext uri="{FF2B5EF4-FFF2-40B4-BE49-F238E27FC236}">
                <a16:creationId xmlns:a16="http://schemas.microsoft.com/office/drawing/2014/main" id="{624ABBEF-81E6-970C-434D-8BDF64BEC4B4}"/>
              </a:ext>
            </a:extLst>
          </p:cNvPr>
          <p:cNvSpPr/>
          <p:nvPr/>
        </p:nvSpPr>
        <p:spPr>
          <a:xfrm>
            <a:off x="2304901" y="3672464"/>
            <a:ext cx="144000" cy="144000"/>
          </a:xfrm>
          <a:prstGeom prst="roundRect">
            <a:avLst/>
          </a:prstGeom>
          <a:solidFill>
            <a:srgbClr val="DCECF5"/>
          </a:solidFill>
        </p:spPr>
        <p:txBody>
          <a:bodyPr/>
          <a:lstStyle/>
          <a:p>
            <a:endParaRPr lang="en-US" sz="1400"/>
          </a:p>
        </p:txBody>
      </p:sp>
      <p:sp>
        <p:nvSpPr>
          <p:cNvPr id="270" name="Text 5">
            <a:extLst>
              <a:ext uri="{FF2B5EF4-FFF2-40B4-BE49-F238E27FC236}">
                <a16:creationId xmlns:a16="http://schemas.microsoft.com/office/drawing/2014/main" id="{B253382E-6CE4-2FD9-4F75-23AEC3393FBF}"/>
              </a:ext>
            </a:extLst>
          </p:cNvPr>
          <p:cNvSpPr/>
          <p:nvPr/>
        </p:nvSpPr>
        <p:spPr>
          <a:xfrm>
            <a:off x="2475570" y="3626744"/>
            <a:ext cx="88947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1F2937"/>
                </a:solidFill>
                <a:ea typeface="微软雅黑" pitchFamily="34" charset="-122"/>
                <a:cs typeface="微软雅黑" pitchFamily="34" charset="-120"/>
              </a:rPr>
              <a:t>需求+Spec</a:t>
            </a:r>
            <a:endParaRPr lang="en-US" sz="700"/>
          </a:p>
        </p:txBody>
      </p:sp>
      <p:sp>
        <p:nvSpPr>
          <p:cNvPr id="272" name="Shape 6">
            <a:extLst>
              <a:ext uri="{FF2B5EF4-FFF2-40B4-BE49-F238E27FC236}">
                <a16:creationId xmlns:a16="http://schemas.microsoft.com/office/drawing/2014/main" id="{F24F217B-F3C7-22B1-8CBA-FBDF83A73271}"/>
              </a:ext>
            </a:extLst>
          </p:cNvPr>
          <p:cNvSpPr/>
          <p:nvPr/>
        </p:nvSpPr>
        <p:spPr>
          <a:xfrm>
            <a:off x="2960523" y="3672464"/>
            <a:ext cx="144000" cy="1440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/>
          <a:lstStyle/>
          <a:p>
            <a:endParaRPr lang="en-US" sz="1400"/>
          </a:p>
        </p:txBody>
      </p:sp>
      <p:sp>
        <p:nvSpPr>
          <p:cNvPr id="274" name="Text 7">
            <a:extLst>
              <a:ext uri="{FF2B5EF4-FFF2-40B4-BE49-F238E27FC236}">
                <a16:creationId xmlns:a16="http://schemas.microsoft.com/office/drawing/2014/main" id="{66F7A4A4-BB39-912C-A2BF-3B8D3E2ECB26}"/>
              </a:ext>
            </a:extLst>
          </p:cNvPr>
          <p:cNvSpPr/>
          <p:nvPr/>
        </p:nvSpPr>
        <p:spPr>
          <a:xfrm>
            <a:off x="3132796" y="3626744"/>
            <a:ext cx="41973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1F2937"/>
                </a:solidFill>
                <a:ea typeface="微软雅黑" pitchFamily="34" charset="-122"/>
                <a:cs typeface="微软雅黑" pitchFamily="34" charset="-120"/>
              </a:rPr>
              <a:t>架构+设计</a:t>
            </a:r>
            <a:endParaRPr lang="en-US" sz="700"/>
          </a:p>
        </p:txBody>
      </p:sp>
      <p:sp>
        <p:nvSpPr>
          <p:cNvPr id="276" name="Shape 8">
            <a:extLst>
              <a:ext uri="{FF2B5EF4-FFF2-40B4-BE49-F238E27FC236}">
                <a16:creationId xmlns:a16="http://schemas.microsoft.com/office/drawing/2014/main" id="{57AAADEB-75B5-2538-893C-30ECDB869BE8}"/>
              </a:ext>
            </a:extLst>
          </p:cNvPr>
          <p:cNvSpPr/>
          <p:nvPr/>
        </p:nvSpPr>
        <p:spPr>
          <a:xfrm>
            <a:off x="3590209" y="3672464"/>
            <a:ext cx="144000" cy="144000"/>
          </a:xfrm>
          <a:prstGeom prst="roundRect">
            <a:avLst/>
          </a:prstGeom>
          <a:solidFill>
            <a:srgbClr val="009CDE"/>
          </a:solidFill>
        </p:spPr>
        <p:txBody>
          <a:bodyPr/>
          <a:lstStyle/>
          <a:p>
            <a:endParaRPr lang="en-US" sz="1400"/>
          </a:p>
        </p:txBody>
      </p:sp>
      <p:sp>
        <p:nvSpPr>
          <p:cNvPr id="278" name="Text 9">
            <a:extLst>
              <a:ext uri="{FF2B5EF4-FFF2-40B4-BE49-F238E27FC236}">
                <a16:creationId xmlns:a16="http://schemas.microsoft.com/office/drawing/2014/main" id="{9F0D4FF0-1835-500B-7B75-76591584A4A8}"/>
              </a:ext>
            </a:extLst>
          </p:cNvPr>
          <p:cNvSpPr/>
          <p:nvPr/>
        </p:nvSpPr>
        <p:spPr>
          <a:xfrm>
            <a:off x="3765643" y="3626744"/>
            <a:ext cx="20535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1F2937"/>
                </a:solidFill>
                <a:ea typeface="微软雅黑" pitchFamily="34" charset="-122"/>
                <a:cs typeface="微软雅黑" pitchFamily="34" charset="-120"/>
              </a:rPr>
              <a:t>编码</a:t>
            </a:r>
            <a:endParaRPr lang="en-US" sz="700"/>
          </a:p>
        </p:txBody>
      </p:sp>
      <p:sp>
        <p:nvSpPr>
          <p:cNvPr id="280" name="Shape 10">
            <a:extLst>
              <a:ext uri="{FF2B5EF4-FFF2-40B4-BE49-F238E27FC236}">
                <a16:creationId xmlns:a16="http://schemas.microsoft.com/office/drawing/2014/main" id="{B14D7792-E89E-A791-2828-59329621D190}"/>
              </a:ext>
            </a:extLst>
          </p:cNvPr>
          <p:cNvSpPr/>
          <p:nvPr/>
        </p:nvSpPr>
        <p:spPr>
          <a:xfrm>
            <a:off x="4057257" y="3672464"/>
            <a:ext cx="144000" cy="144000"/>
          </a:xfrm>
          <a:prstGeom prst="roundRect">
            <a:avLst/>
          </a:prstGeom>
          <a:solidFill>
            <a:srgbClr val="2A83C8"/>
          </a:solidFill>
        </p:spPr>
        <p:txBody>
          <a:bodyPr/>
          <a:lstStyle/>
          <a:p>
            <a:endParaRPr lang="en-US" sz="1400"/>
          </a:p>
        </p:txBody>
      </p:sp>
      <p:sp>
        <p:nvSpPr>
          <p:cNvPr id="282" name="Text 11">
            <a:extLst>
              <a:ext uri="{FF2B5EF4-FFF2-40B4-BE49-F238E27FC236}">
                <a16:creationId xmlns:a16="http://schemas.microsoft.com/office/drawing/2014/main" id="{667E1517-A3AA-C8BF-C9D9-6C962D59EE45}"/>
              </a:ext>
            </a:extLst>
          </p:cNvPr>
          <p:cNvSpPr/>
          <p:nvPr/>
        </p:nvSpPr>
        <p:spPr>
          <a:xfrm>
            <a:off x="4253918" y="3626744"/>
            <a:ext cx="259135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1F2937"/>
                </a:solidFill>
                <a:ea typeface="微软雅黑" pitchFamily="34" charset="-122"/>
                <a:cs typeface="微软雅黑" pitchFamily="34" charset="-120"/>
              </a:rPr>
              <a:t>测试</a:t>
            </a:r>
            <a:endParaRPr lang="en-US" sz="700"/>
          </a:p>
        </p:txBody>
      </p:sp>
      <p:sp>
        <p:nvSpPr>
          <p:cNvPr id="284" name="Shape 12">
            <a:extLst>
              <a:ext uri="{FF2B5EF4-FFF2-40B4-BE49-F238E27FC236}">
                <a16:creationId xmlns:a16="http://schemas.microsoft.com/office/drawing/2014/main" id="{2CC22EC9-16A1-017B-D458-2F4D36FF4DD2}"/>
              </a:ext>
            </a:extLst>
          </p:cNvPr>
          <p:cNvSpPr/>
          <p:nvPr/>
        </p:nvSpPr>
        <p:spPr>
          <a:xfrm>
            <a:off x="4504394" y="3672464"/>
            <a:ext cx="144000" cy="144000"/>
          </a:xfrm>
          <a:prstGeom prst="roundRect">
            <a:avLst/>
          </a:prstGeom>
          <a:solidFill>
            <a:srgbClr val="004F71"/>
          </a:solidFill>
        </p:spPr>
        <p:txBody>
          <a:bodyPr/>
          <a:lstStyle/>
          <a:p>
            <a:endParaRPr lang="en-US" sz="1400"/>
          </a:p>
        </p:txBody>
      </p:sp>
      <p:sp>
        <p:nvSpPr>
          <p:cNvPr id="286" name="Text 13">
            <a:extLst>
              <a:ext uri="{FF2B5EF4-FFF2-40B4-BE49-F238E27FC236}">
                <a16:creationId xmlns:a16="http://schemas.microsoft.com/office/drawing/2014/main" id="{0DA26A1B-A123-BC01-7251-384E50673BF1}"/>
              </a:ext>
            </a:extLst>
          </p:cNvPr>
          <p:cNvSpPr/>
          <p:nvPr/>
        </p:nvSpPr>
        <p:spPr>
          <a:xfrm>
            <a:off x="4713945" y="3626744"/>
            <a:ext cx="428785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1F2937"/>
                </a:solidFill>
                <a:ea typeface="微软雅黑" pitchFamily="34" charset="-122"/>
                <a:cs typeface="微软雅黑" pitchFamily="34" charset="-120"/>
              </a:rPr>
              <a:t>交付+PM</a:t>
            </a:r>
            <a:endParaRPr lang="en-US" sz="700"/>
          </a:p>
        </p:txBody>
      </p:sp>
      <p:pic>
        <p:nvPicPr>
          <p:cNvPr id="289" name="Graphic 288">
            <a:extLst>
              <a:ext uri="{FF2B5EF4-FFF2-40B4-BE49-F238E27FC236}">
                <a16:creationId xmlns:a16="http://schemas.microsoft.com/office/drawing/2014/main" id="{F3BC3115-0650-8402-12C2-6C58F0F609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7809" y="4248717"/>
            <a:ext cx="207301" cy="207301"/>
          </a:xfrm>
          <a:prstGeom prst="rect">
            <a:avLst/>
          </a:prstGeom>
        </p:spPr>
      </p:pic>
      <p:sp>
        <p:nvSpPr>
          <p:cNvPr id="8" name="tl-w1-dot">
            <a:extLst>
              <a:ext uri="{FF2B5EF4-FFF2-40B4-BE49-F238E27FC236}">
                <a16:creationId xmlns:a16="http://schemas.microsoft.com/office/drawing/2014/main" id="{E1F2162E-7141-FF8A-B52D-096478EF1032}"/>
              </a:ext>
            </a:extLst>
          </p:cNvPr>
          <p:cNvSpPr/>
          <p:nvPr/>
        </p:nvSpPr>
        <p:spPr>
          <a:xfrm>
            <a:off x="352424" y="1568375"/>
            <a:ext cx="108000" cy="108000"/>
          </a:xfrm>
          <a:prstGeom prst="ellipse">
            <a:avLst/>
          </a:prstGeom>
          <a:solidFill>
            <a:srgbClr val="2575B7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11" name="tl-w3-dot">
            <a:extLst>
              <a:ext uri="{FF2B5EF4-FFF2-40B4-BE49-F238E27FC236}">
                <a16:creationId xmlns:a16="http://schemas.microsoft.com/office/drawing/2014/main" id="{31283C0C-2263-DCF2-2B80-E70D0A62B144}"/>
              </a:ext>
            </a:extLst>
          </p:cNvPr>
          <p:cNvSpPr/>
          <p:nvPr/>
        </p:nvSpPr>
        <p:spPr>
          <a:xfrm>
            <a:off x="2205036" y="1568375"/>
            <a:ext cx="108000" cy="108000"/>
          </a:xfrm>
          <a:prstGeom prst="ellipse">
            <a:avLst/>
          </a:prstGeom>
          <a:solidFill>
            <a:srgbClr val="2575B7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15" name="tl-w8-dot">
            <a:extLst>
              <a:ext uri="{FF2B5EF4-FFF2-40B4-BE49-F238E27FC236}">
                <a16:creationId xmlns:a16="http://schemas.microsoft.com/office/drawing/2014/main" id="{20FF5B49-80CB-0125-DD76-4FA2D95D72DB}"/>
              </a:ext>
            </a:extLst>
          </p:cNvPr>
          <p:cNvSpPr/>
          <p:nvPr/>
        </p:nvSpPr>
        <p:spPr>
          <a:xfrm>
            <a:off x="4719636" y="1568375"/>
            <a:ext cx="108000" cy="108000"/>
          </a:xfrm>
          <a:prstGeom prst="ellipse">
            <a:avLst/>
          </a:prstGeom>
          <a:solidFill>
            <a:srgbClr val="2575B7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19" name="tl-w10-dot">
            <a:extLst>
              <a:ext uri="{FF2B5EF4-FFF2-40B4-BE49-F238E27FC236}">
                <a16:creationId xmlns:a16="http://schemas.microsoft.com/office/drawing/2014/main" id="{0CDD584D-0F2A-12DB-87FC-8C83F52B2F37}"/>
              </a:ext>
            </a:extLst>
          </p:cNvPr>
          <p:cNvSpPr/>
          <p:nvPr/>
        </p:nvSpPr>
        <p:spPr>
          <a:xfrm>
            <a:off x="6643686" y="1568375"/>
            <a:ext cx="108000" cy="108000"/>
          </a:xfrm>
          <a:prstGeom prst="ellipse">
            <a:avLst/>
          </a:prstGeom>
          <a:solidFill>
            <a:srgbClr val="2575B7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  <p:sp>
        <p:nvSpPr>
          <p:cNvPr id="21" name="tl-w11-dot">
            <a:extLst>
              <a:ext uri="{FF2B5EF4-FFF2-40B4-BE49-F238E27FC236}">
                <a16:creationId xmlns:a16="http://schemas.microsoft.com/office/drawing/2014/main" id="{B8A84063-780B-44B6-4DE2-0A5B30EEC538}"/>
              </a:ext>
            </a:extLst>
          </p:cNvPr>
          <p:cNvSpPr/>
          <p:nvPr/>
        </p:nvSpPr>
        <p:spPr>
          <a:xfrm>
            <a:off x="8537930" y="1568375"/>
            <a:ext cx="108000" cy="108000"/>
          </a:xfrm>
          <a:prstGeom prst="ellipse">
            <a:avLst/>
          </a:prstGeom>
          <a:solidFill>
            <a:srgbClr val="2575B7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>
              <a:solidFill>
                <a:srgbClr val="000000"/>
              </a:solidFill>
              <a:latin typeface="+mn-ea"/>
              <a:cs typeface="MiSans"/>
            </a:endParaRPr>
          </a:p>
        </p:txBody>
      </p:sp>
    </p:spTree>
    <p:extLst>
      <p:ext uri="{BB962C8B-B14F-4D97-AF65-F5344CB8AC3E}">
        <p14:creationId xmlns:p14="http://schemas.microsoft.com/office/powerpoint/2010/main" val="4250265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FACEF-C50A-011B-2521-5472B5CDB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34DEBD08-1B7D-D0D5-C481-C08E41EA9B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2921" y="266700"/>
            <a:ext cx="5241925" cy="261610"/>
          </a:xfrm>
        </p:spPr>
        <p:txBody>
          <a:bodyPr/>
          <a:lstStyle/>
          <a:p>
            <a:r>
              <a:rPr lang="en-US"/>
              <a:t>China RIMS Solution Proposal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CCEC496-617A-6AD1-DCB3-DF57897E7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China</a:t>
            </a:r>
            <a:r>
              <a:rPr lang="zh-CN" altLang="en-US"/>
              <a:t> </a:t>
            </a:r>
            <a:r>
              <a:rPr lang="en-US" altLang="zh-CN"/>
              <a:t>RIMS</a:t>
            </a:r>
            <a:r>
              <a:rPr lang="zh-CN" altLang="en-US"/>
              <a:t> 成本概览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5C3DB09-9C13-50B9-31F3-7F3C1776C4E1}"/>
              </a:ext>
            </a:extLst>
          </p:cNvPr>
          <p:cNvGrpSpPr/>
          <p:nvPr/>
        </p:nvGrpSpPr>
        <p:grpSpPr>
          <a:xfrm>
            <a:off x="502920" y="1241502"/>
            <a:ext cx="8138160" cy="3496372"/>
            <a:chOff x="502920" y="1116753"/>
            <a:chExt cx="8138160" cy="3621121"/>
          </a:xfrm>
        </p:grpSpPr>
        <p:sp>
          <p:nvSpPr>
            <p:cNvPr id="357" name="panelL">
              <a:extLst>
                <a:ext uri="{FF2B5EF4-FFF2-40B4-BE49-F238E27FC236}">
                  <a16:creationId xmlns:a16="http://schemas.microsoft.com/office/drawing/2014/main" id="{C4498CB3-52E0-5E5A-A68F-956D7141F298}"/>
                </a:ext>
              </a:extLst>
            </p:cNvPr>
            <p:cNvSpPr/>
            <p:nvPr/>
          </p:nvSpPr>
          <p:spPr>
            <a:xfrm>
              <a:off x="502920" y="1116753"/>
              <a:ext cx="3930004" cy="3217354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2700">
              <a:solidFill>
                <a:srgbClr val="C9D4EE"/>
              </a:solidFill>
            </a:ln>
          </p:spPr>
          <p:txBody>
            <a:bodyPr/>
            <a:lstStyle/>
            <a:p>
              <a:pPr defTabSz="685800"/>
              <a:endParaRPr lang="zh-CN" altLang="en-US" sz="1350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359" name="banL">
              <a:extLst>
                <a:ext uri="{FF2B5EF4-FFF2-40B4-BE49-F238E27FC236}">
                  <a16:creationId xmlns:a16="http://schemas.microsoft.com/office/drawing/2014/main" id="{C73DD83C-C3D4-643A-3A20-90ABED6B1DBF}"/>
                </a:ext>
              </a:extLst>
            </p:cNvPr>
            <p:cNvSpPr/>
            <p:nvPr/>
          </p:nvSpPr>
          <p:spPr>
            <a:xfrm>
              <a:off x="502920" y="1116753"/>
              <a:ext cx="3930004" cy="179452"/>
            </a:xfrm>
            <a:prstGeom prst="roundRect">
              <a:avLst>
                <a:gd name="adj" fmla="val 22000"/>
              </a:avLst>
            </a:prstGeom>
            <a:solidFill>
              <a:srgbClr val="0134B2"/>
            </a:solidFill>
            <a:ln>
              <a:noFill/>
            </a:ln>
          </p:spPr>
          <p:txBody>
            <a:bodyPr/>
            <a:lstStyle/>
            <a:p>
              <a:pPr defTabSz="685800"/>
              <a:endParaRPr lang="zh-CN" altLang="en-US" sz="1350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361" name="banL-fix">
              <a:extLst>
                <a:ext uri="{FF2B5EF4-FFF2-40B4-BE49-F238E27FC236}">
                  <a16:creationId xmlns:a16="http://schemas.microsoft.com/office/drawing/2014/main" id="{1EB8C0BF-9488-4DC9-1D05-72A13016B8B4}"/>
                </a:ext>
              </a:extLst>
            </p:cNvPr>
            <p:cNvSpPr/>
            <p:nvPr/>
          </p:nvSpPr>
          <p:spPr>
            <a:xfrm>
              <a:off x="502920" y="1215452"/>
              <a:ext cx="3930004" cy="80754"/>
            </a:xfrm>
            <a:prstGeom prst="rect">
              <a:avLst/>
            </a:prstGeom>
            <a:solidFill>
              <a:srgbClr val="0134B2"/>
            </a:solidFill>
            <a:ln>
              <a:noFill/>
            </a:ln>
          </p:spPr>
          <p:txBody>
            <a:bodyPr/>
            <a:lstStyle/>
            <a:p>
              <a:pPr defTabSz="685800"/>
              <a:endParaRPr lang="zh-CN" altLang="en-US" sz="1350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363" name="banL-t">
              <a:extLst>
                <a:ext uri="{FF2B5EF4-FFF2-40B4-BE49-F238E27FC236}">
                  <a16:creationId xmlns:a16="http://schemas.microsoft.com/office/drawing/2014/main" id="{76BC5872-C0DF-C817-45A6-E07A43693086}"/>
                </a:ext>
              </a:extLst>
            </p:cNvPr>
            <p:cNvSpPr txBox="1"/>
            <p:nvPr/>
          </p:nvSpPr>
          <p:spPr>
            <a:xfrm>
              <a:off x="502920" y="1116753"/>
              <a:ext cx="3930004" cy="1794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/>
            <a:lstStyle/>
            <a:p>
              <a:pPr algn="ctr" defTabSz="685800">
                <a:lnSpc>
                  <a:spcPct val="120000"/>
                </a:lnSpc>
              </a:pPr>
              <a:r>
                <a:rPr lang="en-US" sz="825" b="1" noProof="1">
                  <a:solidFill>
                    <a:srgbClr val="FFFFFF"/>
                  </a:solidFill>
                  <a:latin typeface="+mn-ea"/>
                  <a:cs typeface="MiSans"/>
                </a:rPr>
                <a:t>ONE-TIME COST</a:t>
              </a:r>
              <a:endParaRPr lang="en-US" sz="825" noProof="1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365" name="bignumL">
              <a:extLst>
                <a:ext uri="{FF2B5EF4-FFF2-40B4-BE49-F238E27FC236}">
                  <a16:creationId xmlns:a16="http://schemas.microsoft.com/office/drawing/2014/main" id="{1271572D-01C7-4A23-6D8F-9A248693A729}"/>
                </a:ext>
              </a:extLst>
            </p:cNvPr>
            <p:cNvSpPr txBox="1"/>
            <p:nvPr/>
          </p:nvSpPr>
          <p:spPr>
            <a:xfrm>
              <a:off x="502920" y="1314150"/>
              <a:ext cx="3930004" cy="2871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/>
            <a:lstStyle/>
            <a:p>
              <a:pPr algn="ctr" defTabSz="685800">
                <a:lnSpc>
                  <a:spcPct val="120000"/>
                </a:lnSpc>
              </a:pPr>
              <a:r>
                <a:rPr lang="en-US" sz="1875" b="1" noProof="1">
                  <a:solidFill>
                    <a:srgbClr val="0632AB"/>
                  </a:solidFill>
                  <a:latin typeface="+mn-ea"/>
                  <a:cs typeface="MiSans"/>
                </a:rPr>
                <a:t>¥111.7 万</a:t>
              </a:r>
              <a:endParaRPr lang="en-US" sz="1875" noProof="1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367" name="bigsubL">
              <a:extLst>
                <a:ext uri="{FF2B5EF4-FFF2-40B4-BE49-F238E27FC236}">
                  <a16:creationId xmlns:a16="http://schemas.microsoft.com/office/drawing/2014/main" id="{C66EB9D2-B3A3-7761-7530-BA2695DE288D}"/>
                </a:ext>
              </a:extLst>
            </p:cNvPr>
            <p:cNvSpPr txBox="1"/>
            <p:nvPr/>
          </p:nvSpPr>
          <p:spPr>
            <a:xfrm>
              <a:off x="502920" y="1619219"/>
              <a:ext cx="3930004" cy="1256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/>
            <a:lstStyle/>
            <a:p>
              <a:pPr algn="ctr" defTabSz="685800">
                <a:lnSpc>
                  <a:spcPct val="120000"/>
                </a:lnSpc>
              </a:pPr>
              <a:r>
                <a:rPr lang="en-US" sz="788" b="1" noProof="1">
                  <a:solidFill>
                    <a:srgbClr val="121747"/>
                  </a:solidFill>
                  <a:latin typeface="+mn-ea"/>
                  <a:cs typeface="MiSans"/>
                </a:rPr>
                <a:t>One-time Total Cost</a:t>
              </a:r>
              <a:endParaRPr lang="en-US" sz="788" noProof="1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369" name="L1-box">
              <a:extLst>
                <a:ext uri="{FF2B5EF4-FFF2-40B4-BE49-F238E27FC236}">
                  <a16:creationId xmlns:a16="http://schemas.microsoft.com/office/drawing/2014/main" id="{FE7867FE-033F-DA29-9918-52171337FBBE}"/>
                </a:ext>
              </a:extLst>
            </p:cNvPr>
            <p:cNvSpPr/>
            <p:nvPr/>
          </p:nvSpPr>
          <p:spPr>
            <a:xfrm>
              <a:off x="610591" y="1834562"/>
              <a:ext cx="3705689" cy="940329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2700">
              <a:solidFill>
                <a:srgbClr val="CCD8F2"/>
              </a:solidFill>
            </a:ln>
          </p:spPr>
          <p:txBody>
            <a:bodyPr/>
            <a:lstStyle/>
            <a:p>
              <a:pPr defTabSz="685800"/>
              <a:endParaRPr lang="zh-CN" altLang="en-US" sz="1350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371" name="L1-badge">
              <a:extLst>
                <a:ext uri="{FF2B5EF4-FFF2-40B4-BE49-F238E27FC236}">
                  <a16:creationId xmlns:a16="http://schemas.microsoft.com/office/drawing/2014/main" id="{B27D528E-15F0-2A1C-A644-C2DD739102AB}"/>
                </a:ext>
              </a:extLst>
            </p:cNvPr>
            <p:cNvSpPr/>
            <p:nvPr/>
          </p:nvSpPr>
          <p:spPr>
            <a:xfrm>
              <a:off x="709290" y="1888398"/>
              <a:ext cx="224315" cy="170480"/>
            </a:xfrm>
            <a:prstGeom prst="roundRect">
              <a:avLst>
                <a:gd name="adj" fmla="val 22000"/>
              </a:avLst>
            </a:prstGeom>
            <a:solidFill>
              <a:srgbClr val="063AB3"/>
            </a:solidFill>
            <a:ln>
              <a:noFill/>
            </a:ln>
          </p:spPr>
          <p:txBody>
            <a:bodyPr/>
            <a:lstStyle/>
            <a:p>
              <a:pPr defTabSz="685800"/>
              <a:endParaRPr lang="zh-CN" altLang="en-US" sz="1350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373" name="L1-bn">
              <a:extLst>
                <a:ext uri="{FF2B5EF4-FFF2-40B4-BE49-F238E27FC236}">
                  <a16:creationId xmlns:a16="http://schemas.microsoft.com/office/drawing/2014/main" id="{29BE1FCE-FAD9-AC4E-A013-6F8B811CB752}"/>
                </a:ext>
              </a:extLst>
            </p:cNvPr>
            <p:cNvSpPr txBox="1"/>
            <p:nvPr/>
          </p:nvSpPr>
          <p:spPr>
            <a:xfrm>
              <a:off x="709290" y="1888398"/>
              <a:ext cx="224315" cy="170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/>
            <a:lstStyle/>
            <a:p>
              <a:pPr algn="ctr" defTabSz="685800">
                <a:lnSpc>
                  <a:spcPct val="120000"/>
                </a:lnSpc>
              </a:pPr>
              <a:r>
                <a:rPr lang="en-US" sz="713" b="1" noProof="1">
                  <a:solidFill>
                    <a:srgbClr val="FFFFFF"/>
                  </a:solidFill>
                  <a:latin typeface="+mn-ea"/>
                  <a:cs typeface="MiSans"/>
                </a:rPr>
                <a:t>01</a:t>
              </a:r>
              <a:endParaRPr lang="en-US" sz="713" noProof="1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375" name="L1-title">
              <a:extLst>
                <a:ext uri="{FF2B5EF4-FFF2-40B4-BE49-F238E27FC236}">
                  <a16:creationId xmlns:a16="http://schemas.microsoft.com/office/drawing/2014/main" id="{45EB6E98-A9E5-0032-AFD3-CE175F85F18A}"/>
                </a:ext>
              </a:extLst>
            </p:cNvPr>
            <p:cNvSpPr txBox="1"/>
            <p:nvPr/>
          </p:nvSpPr>
          <p:spPr>
            <a:xfrm>
              <a:off x="1005386" y="1897370"/>
              <a:ext cx="1973975" cy="1525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/>
            <a:lstStyle/>
            <a:p>
              <a:pPr defTabSz="685800">
                <a:lnSpc>
                  <a:spcPct val="120000"/>
                </a:lnSpc>
              </a:pPr>
              <a:r>
                <a:rPr lang="en-US" sz="825" b="1" noProof="1">
                  <a:solidFill>
                    <a:srgbClr val="121747"/>
                  </a:solidFill>
                  <a:latin typeface="+mn-ea"/>
                  <a:cs typeface="MiSans"/>
                </a:rPr>
                <a:t>RIMS平台一次性建设成本 (</a:t>
              </a:r>
              <a:r>
                <a:rPr lang="zh-CN" altLang="en-US" sz="825" b="1" noProof="1">
                  <a:solidFill>
                    <a:srgbClr val="121747"/>
                  </a:solidFill>
                  <a:latin typeface="+mn-ea"/>
                  <a:cs typeface="MiSans"/>
                </a:rPr>
                <a:t>含</a:t>
              </a:r>
              <a:r>
                <a:rPr lang="en-US" altLang="zh-CN" sz="825" b="1" noProof="1">
                  <a:solidFill>
                    <a:srgbClr val="121747"/>
                  </a:solidFill>
                  <a:latin typeface="+mn-ea"/>
                  <a:cs typeface="MiSans"/>
                </a:rPr>
                <a:t>1</a:t>
              </a:r>
              <a:r>
                <a:rPr lang="zh-CN" altLang="en-US" sz="825" b="1" noProof="1">
                  <a:solidFill>
                    <a:srgbClr val="121747"/>
                  </a:solidFill>
                  <a:latin typeface="+mn-ea"/>
                  <a:cs typeface="MiSans"/>
                </a:rPr>
                <a:t>个系统接入</a:t>
              </a:r>
              <a:r>
                <a:rPr lang="en-US" sz="825" b="1" noProof="1">
                  <a:solidFill>
                    <a:srgbClr val="121747"/>
                  </a:solidFill>
                  <a:latin typeface="+mn-ea"/>
                  <a:cs typeface="MiSans"/>
                </a:rPr>
                <a:t>)</a:t>
              </a:r>
              <a:endParaRPr lang="en-US" sz="825" noProof="1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377" name="L1-price">
              <a:extLst>
                <a:ext uri="{FF2B5EF4-FFF2-40B4-BE49-F238E27FC236}">
                  <a16:creationId xmlns:a16="http://schemas.microsoft.com/office/drawing/2014/main" id="{970A074D-1AB7-D59B-7904-25C90E8E8DC0}"/>
                </a:ext>
              </a:extLst>
            </p:cNvPr>
            <p:cNvSpPr txBox="1"/>
            <p:nvPr/>
          </p:nvSpPr>
          <p:spPr>
            <a:xfrm>
              <a:off x="3356211" y="1897370"/>
              <a:ext cx="897261" cy="1525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/>
            <a:lstStyle/>
            <a:p>
              <a:pPr algn="r" defTabSz="685800">
                <a:lnSpc>
                  <a:spcPct val="120000"/>
                </a:lnSpc>
              </a:pPr>
              <a:r>
                <a:rPr lang="en-US" sz="825" b="1" noProof="1">
                  <a:solidFill>
                    <a:srgbClr val="0A2CB1"/>
                  </a:solidFill>
                  <a:latin typeface="+mn-ea"/>
                  <a:cs typeface="MiSans"/>
                </a:rPr>
                <a:t>¥</a:t>
              </a:r>
              <a:r>
                <a:rPr lang="en-US" altLang="zh-CN" sz="825" b="1" noProof="1">
                  <a:solidFill>
                    <a:srgbClr val="0A2CB1"/>
                  </a:solidFill>
                  <a:latin typeface="+mn-ea"/>
                  <a:cs typeface="MiSans"/>
                </a:rPr>
                <a:t>66</a:t>
              </a:r>
              <a:r>
                <a:rPr lang="en-US" sz="825" b="1" noProof="1">
                  <a:solidFill>
                    <a:srgbClr val="0A2CB1"/>
                  </a:solidFill>
                  <a:latin typeface="+mn-ea"/>
                  <a:cs typeface="MiSans"/>
                </a:rPr>
                <a:t>.</a:t>
              </a:r>
              <a:r>
                <a:rPr lang="en-US" altLang="zh-CN" sz="825" b="1" noProof="1">
                  <a:solidFill>
                    <a:srgbClr val="0A2CB1"/>
                  </a:solidFill>
                  <a:latin typeface="+mn-ea"/>
                  <a:cs typeface="MiSans"/>
                </a:rPr>
                <a:t>8</a:t>
              </a:r>
              <a:r>
                <a:rPr lang="en-US" sz="825" b="1" noProof="1">
                  <a:solidFill>
                    <a:srgbClr val="0A2CB1"/>
                  </a:solidFill>
                  <a:latin typeface="+mn-ea"/>
                  <a:cs typeface="MiSans"/>
                </a:rPr>
                <a:t> 万</a:t>
              </a:r>
              <a:endParaRPr lang="en-US" sz="825" noProof="1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379" name="L1-div">
              <a:extLst>
                <a:ext uri="{FF2B5EF4-FFF2-40B4-BE49-F238E27FC236}">
                  <a16:creationId xmlns:a16="http://schemas.microsoft.com/office/drawing/2014/main" id="{69C047AF-D9BA-37E1-A615-3B83A2546005}"/>
                </a:ext>
              </a:extLst>
            </p:cNvPr>
            <p:cNvSpPr/>
            <p:nvPr/>
          </p:nvSpPr>
          <p:spPr>
            <a:xfrm>
              <a:off x="709290" y="2076822"/>
              <a:ext cx="3508292" cy="8973"/>
            </a:xfrm>
            <a:prstGeom prst="rect">
              <a:avLst/>
            </a:prstGeom>
            <a:solidFill>
              <a:srgbClr val="E3EAF6"/>
            </a:solidFill>
            <a:ln>
              <a:noFill/>
            </a:ln>
          </p:spPr>
          <p:txBody>
            <a:bodyPr/>
            <a:lstStyle/>
            <a:p>
              <a:pPr defTabSz="685800"/>
              <a:endParaRPr lang="zh-CN" altLang="en-US" sz="1350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381" name="L1-ic1">
              <a:extLst>
                <a:ext uri="{FF2B5EF4-FFF2-40B4-BE49-F238E27FC236}">
                  <a16:creationId xmlns:a16="http://schemas.microsoft.com/office/drawing/2014/main" id="{036AB6D3-D2C3-AEE8-38C1-B2D5EF81E7E1}"/>
                </a:ext>
              </a:extLst>
            </p:cNvPr>
            <p:cNvSpPr/>
            <p:nvPr>
              <p:extLst>
                <p:ext uri="{F5677B7D-0D2A-4D9B-9A5C-6D8D7D0E5A5D}">
  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eyJpY29uTmFtZSI6ImZhczp1c2VycyJ9</pptd:icon>
                </p:ext>
              </p:extLst>
            </p:nvPr>
          </p:nvSpPr>
          <p:spPr>
            <a:xfrm>
              <a:off x="834907" y="2229357"/>
              <a:ext cx="233288" cy="215343"/>
            </a:xfrm>
            <a:custGeom>
              <a:avLst/>
              <a:gdLst/>
              <a:ahLst/>
              <a:cxnLst/>
              <a:rect l="l" t="t" r="r" b="b"/>
              <a:pathLst>
                <a:path w="640" h="512">
                  <a:moveTo>
                    <a:pt x="320" y="16"/>
                  </a:moveTo>
                  <a:cubicBezTo>
                    <a:pt x="377" y="16"/>
                    <a:pt x="424" y="63"/>
                    <a:pt x="424" y="120"/>
                  </a:cubicBezTo>
                  <a:cubicBezTo>
                    <a:pt x="424" y="177"/>
                    <a:pt x="377" y="224"/>
                    <a:pt x="320" y="224"/>
                  </a:cubicBezTo>
                  <a:cubicBezTo>
                    <a:pt x="263" y="224"/>
                    <a:pt x="216" y="177"/>
                    <a:pt x="216" y="120"/>
                  </a:cubicBezTo>
                  <a:cubicBezTo>
                    <a:pt x="216" y="63"/>
                    <a:pt x="263" y="16"/>
                    <a:pt x="320" y="16"/>
                  </a:cubicBezTo>
                  <a:close/>
                </a:path>
                <a:path w="640" h="512">
                  <a:moveTo>
                    <a:pt x="96" y="88"/>
                  </a:moveTo>
                  <a:cubicBezTo>
                    <a:pt x="136" y="88"/>
                    <a:pt x="168" y="120"/>
                    <a:pt x="168" y="160"/>
                  </a:cubicBezTo>
                  <a:cubicBezTo>
                    <a:pt x="168" y="200"/>
                    <a:pt x="136" y="232"/>
                    <a:pt x="96" y="232"/>
                  </a:cubicBezTo>
                  <a:cubicBezTo>
                    <a:pt x="56" y="232"/>
                    <a:pt x="24" y="200"/>
                    <a:pt x="24" y="160"/>
                  </a:cubicBezTo>
                  <a:cubicBezTo>
                    <a:pt x="24" y="120"/>
                    <a:pt x="56" y="88"/>
                    <a:pt x="96" y="88"/>
                  </a:cubicBezTo>
                  <a:close/>
                </a:path>
                <a:path w="640" h="512">
                  <a:moveTo>
                    <a:pt x="0" y="416"/>
                  </a:moveTo>
                  <a:cubicBezTo>
                    <a:pt x="0" y="345"/>
                    <a:pt x="57" y="288"/>
                    <a:pt x="128" y="288"/>
                  </a:cubicBezTo>
                  <a:cubicBezTo>
                    <a:pt x="141" y="288"/>
                    <a:pt x="153" y="290"/>
                    <a:pt x="165" y="293"/>
                  </a:cubicBezTo>
                  <a:cubicBezTo>
                    <a:pt x="132" y="330"/>
                    <a:pt x="112" y="379"/>
                    <a:pt x="112" y="432"/>
                  </a:cubicBezTo>
                  <a:lnTo>
                    <a:pt x="112" y="448"/>
                  </a:lnTo>
                  <a:cubicBezTo>
                    <a:pt x="112" y="459"/>
                    <a:pt x="114" y="470"/>
                    <a:pt x="119" y="480"/>
                  </a:cubicBezTo>
                  <a:lnTo>
                    <a:pt x="32" y="480"/>
                  </a:lnTo>
                  <a:cubicBezTo>
                    <a:pt x="14" y="480"/>
                    <a:pt x="0" y="466"/>
                    <a:pt x="0" y="448"/>
                  </a:cubicBezTo>
                  <a:lnTo>
                    <a:pt x="0" y="416"/>
                  </a:lnTo>
                  <a:close/>
                </a:path>
                <a:path w="640" h="512">
                  <a:moveTo>
                    <a:pt x="521" y="480"/>
                  </a:moveTo>
                  <a:cubicBezTo>
                    <a:pt x="526" y="470"/>
                    <a:pt x="528" y="459"/>
                    <a:pt x="528" y="448"/>
                  </a:cubicBezTo>
                  <a:lnTo>
                    <a:pt x="528" y="432"/>
                  </a:lnTo>
                  <a:cubicBezTo>
                    <a:pt x="528" y="379"/>
                    <a:pt x="508" y="330"/>
                    <a:pt x="475" y="293"/>
                  </a:cubicBezTo>
                  <a:cubicBezTo>
                    <a:pt x="487" y="290"/>
                    <a:pt x="499" y="288"/>
                    <a:pt x="512" y="288"/>
                  </a:cubicBezTo>
                  <a:cubicBezTo>
                    <a:pt x="583" y="288"/>
                    <a:pt x="640" y="345"/>
                    <a:pt x="640" y="416"/>
                  </a:cubicBezTo>
                  <a:lnTo>
                    <a:pt x="640" y="448"/>
                  </a:lnTo>
                  <a:cubicBezTo>
                    <a:pt x="640" y="466"/>
                    <a:pt x="626" y="480"/>
                    <a:pt x="608" y="480"/>
                  </a:cubicBezTo>
                  <a:lnTo>
                    <a:pt x="521" y="480"/>
                  </a:lnTo>
                  <a:close/>
                </a:path>
                <a:path w="640" h="512">
                  <a:moveTo>
                    <a:pt x="472" y="160"/>
                  </a:moveTo>
                  <a:cubicBezTo>
                    <a:pt x="472" y="120"/>
                    <a:pt x="504" y="88"/>
                    <a:pt x="544" y="88"/>
                  </a:cubicBezTo>
                  <a:cubicBezTo>
                    <a:pt x="584" y="88"/>
                    <a:pt x="616" y="120"/>
                    <a:pt x="616" y="160"/>
                  </a:cubicBezTo>
                  <a:cubicBezTo>
                    <a:pt x="616" y="200"/>
                    <a:pt x="584" y="232"/>
                    <a:pt x="544" y="232"/>
                  </a:cubicBezTo>
                  <a:cubicBezTo>
                    <a:pt x="504" y="232"/>
                    <a:pt x="472" y="200"/>
                    <a:pt x="472" y="160"/>
                  </a:cubicBezTo>
                  <a:close/>
                </a:path>
                <a:path w="640" h="512">
                  <a:moveTo>
                    <a:pt x="160" y="432"/>
                  </a:moveTo>
                  <a:cubicBezTo>
                    <a:pt x="160" y="344"/>
                    <a:pt x="232" y="272"/>
                    <a:pt x="320" y="272"/>
                  </a:cubicBezTo>
                  <a:cubicBezTo>
                    <a:pt x="408" y="272"/>
                    <a:pt x="480" y="344"/>
                    <a:pt x="480" y="432"/>
                  </a:cubicBezTo>
                  <a:lnTo>
                    <a:pt x="480" y="448"/>
                  </a:lnTo>
                  <a:cubicBezTo>
                    <a:pt x="480" y="466"/>
                    <a:pt x="466" y="480"/>
                    <a:pt x="448" y="480"/>
                  </a:cubicBezTo>
                  <a:lnTo>
                    <a:pt x="192" y="480"/>
                  </a:lnTo>
                  <a:cubicBezTo>
                    <a:pt x="174" y="480"/>
                    <a:pt x="160" y="466"/>
                    <a:pt x="160" y="448"/>
                  </a:cubicBezTo>
                  <a:lnTo>
                    <a:pt x="160" y="432"/>
                  </a:lnTo>
                  <a:close/>
                </a:path>
              </a:pathLst>
            </a:custGeom>
            <a:solidFill>
              <a:srgbClr val="0636B2"/>
            </a:solidFill>
            <a:ln>
              <a:noFill/>
            </a:ln>
          </p:spPr>
          <p:txBody>
            <a:bodyPr/>
            <a:lstStyle/>
            <a:p>
              <a:pPr defTabSz="685800"/>
              <a:endParaRPr lang="zh-CN" altLang="en-US" sz="1350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383" name="L1-t1">
              <a:extLst>
                <a:ext uri="{FF2B5EF4-FFF2-40B4-BE49-F238E27FC236}">
                  <a16:creationId xmlns:a16="http://schemas.microsoft.com/office/drawing/2014/main" id="{6CDA560F-96EC-FA82-26CD-538398A1C267}"/>
                </a:ext>
              </a:extLst>
            </p:cNvPr>
            <p:cNvSpPr txBox="1"/>
            <p:nvPr/>
          </p:nvSpPr>
          <p:spPr>
            <a:xfrm>
              <a:off x="1292510" y="2171306"/>
              <a:ext cx="1287852" cy="4486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defTabSz="685800">
                <a:lnSpc>
                  <a:spcPct val="150000"/>
                </a:lnSpc>
              </a:pPr>
              <a:r>
                <a:rPr lang="en-US" sz="675" noProof="1">
                  <a:solidFill>
                    <a:srgbClr val="333A55"/>
                  </a:solidFill>
                  <a:latin typeface="+mn-ea"/>
                  <a:cs typeface="MiSans"/>
                </a:rPr>
                <a:t>实施人力成本</a:t>
              </a:r>
              <a:endParaRPr lang="en-US" sz="675" noProof="1">
                <a:solidFill>
                  <a:srgbClr val="000000"/>
                </a:solidFill>
                <a:latin typeface="+mn-ea"/>
                <a:cs typeface="MiSans"/>
              </a:endParaRPr>
            </a:p>
            <a:p>
              <a:pPr defTabSz="685800">
                <a:lnSpc>
                  <a:spcPct val="150000"/>
                </a:lnSpc>
              </a:pPr>
              <a:r>
                <a:rPr lang="en-US" sz="675" b="1" noProof="1">
                  <a:solidFill>
                    <a:srgbClr val="0636B2"/>
                  </a:solidFill>
                  <a:latin typeface="+mn-ea"/>
                  <a:cs typeface="MiSans"/>
                </a:rPr>
                <a:t>¥54.9 万 </a:t>
              </a:r>
              <a:r>
                <a:rPr lang="zh-CN" altLang="en-US" sz="675" b="1" noProof="1">
                  <a:solidFill>
                    <a:srgbClr val="0636B2"/>
                  </a:solidFill>
                  <a:latin typeface="+mn-ea"/>
                  <a:cs typeface="MiSans"/>
                </a:rPr>
                <a:t>（共</a:t>
              </a:r>
              <a:r>
                <a:rPr lang="en-US" altLang="zh-CN" sz="675" b="1" noProof="1">
                  <a:solidFill>
                    <a:srgbClr val="0636B2"/>
                  </a:solidFill>
                  <a:latin typeface="+mn-ea"/>
                  <a:cs typeface="MiSans"/>
                </a:rPr>
                <a:t>195</a:t>
              </a:r>
              <a:r>
                <a:rPr lang="zh-CN" altLang="en-US" sz="675" b="1" noProof="1">
                  <a:solidFill>
                    <a:srgbClr val="0636B2"/>
                  </a:solidFill>
                  <a:latin typeface="+mn-ea"/>
                  <a:cs typeface="MiSans"/>
                </a:rPr>
                <a:t>人天）</a:t>
              </a:r>
              <a:endParaRPr lang="en-US" sz="675" noProof="1">
                <a:solidFill>
                  <a:srgbClr val="000000"/>
                </a:solidFill>
                <a:latin typeface="+mn-ea"/>
                <a:cs typeface="MiSans"/>
              </a:endParaRPr>
            </a:p>
            <a:p>
              <a:pPr defTabSz="685800">
                <a:lnSpc>
                  <a:spcPct val="150000"/>
                </a:lnSpc>
              </a:pPr>
              <a:r>
                <a:rPr lang="en-US" altLang="zh-CN" sz="400" noProof="1">
                  <a:solidFill>
                    <a:srgbClr val="4A577D"/>
                  </a:solidFill>
                  <a:latin typeface="+mn-ea"/>
                  <a:cs typeface="MiSans"/>
                </a:rPr>
                <a:t>65</a:t>
              </a:r>
              <a:r>
                <a:rPr lang="en-US" sz="400" noProof="1">
                  <a:solidFill>
                    <a:srgbClr val="4A577D"/>
                  </a:solidFill>
                  <a:latin typeface="+mn-ea"/>
                  <a:cs typeface="MiSans"/>
                </a:rPr>
                <a:t> 人天 × ¥3,300  </a:t>
              </a:r>
              <a:r>
                <a:rPr lang="zh-CN" altLang="en-US" sz="400" noProof="1">
                  <a:solidFill>
                    <a:srgbClr val="4A577D"/>
                  </a:solidFill>
                  <a:latin typeface="+mn-ea"/>
                  <a:cs typeface="MiSans"/>
                </a:rPr>
                <a:t>（</a:t>
              </a:r>
              <a:r>
                <a:rPr lang="en-US" altLang="zh-CN" sz="400" noProof="1">
                  <a:solidFill>
                    <a:srgbClr val="4A577D"/>
                  </a:solidFill>
                  <a:latin typeface="+mn-ea"/>
                  <a:cs typeface="MiSans"/>
                </a:rPr>
                <a:t>BA</a:t>
              </a:r>
              <a:r>
                <a:rPr lang="zh-CN" altLang="en-US" sz="400" noProof="1">
                  <a:solidFill>
                    <a:srgbClr val="4A577D"/>
                  </a:solidFill>
                  <a:latin typeface="+mn-ea"/>
                  <a:cs typeface="MiSans"/>
                </a:rPr>
                <a:t>）</a:t>
              </a:r>
              <a:endParaRPr lang="en-US" altLang="zh-CN" sz="400" noProof="1">
                <a:solidFill>
                  <a:srgbClr val="4A577D"/>
                </a:solidFill>
                <a:latin typeface="+mn-ea"/>
                <a:cs typeface="MiSans"/>
              </a:endParaRPr>
            </a:p>
            <a:p>
              <a:pPr defTabSz="685800">
                <a:lnSpc>
                  <a:spcPct val="150000"/>
                </a:lnSpc>
              </a:pPr>
              <a:r>
                <a:rPr lang="en-US" altLang="zh-CN" sz="400" noProof="1">
                  <a:solidFill>
                    <a:srgbClr val="4A577D"/>
                  </a:solidFill>
                  <a:latin typeface="+mn-ea"/>
                  <a:cs typeface="MiSans"/>
                </a:rPr>
                <a:t>60 人天 × ¥3,900  </a:t>
              </a:r>
              <a:r>
                <a:rPr lang="zh-CN" altLang="en-US" sz="400" noProof="1">
                  <a:solidFill>
                    <a:srgbClr val="4A577D"/>
                  </a:solidFill>
                  <a:latin typeface="+mn-ea"/>
                  <a:cs typeface="MiSans"/>
                </a:rPr>
                <a:t>（</a:t>
              </a:r>
              <a:r>
                <a:rPr lang="en-US" altLang="zh-CN" sz="400" noProof="1">
                  <a:solidFill>
                    <a:srgbClr val="4A577D"/>
                  </a:solidFill>
                  <a:latin typeface="+mn-ea"/>
                  <a:cs typeface="MiSans"/>
                </a:rPr>
                <a:t>DEV-A</a:t>
              </a:r>
              <a:r>
                <a:rPr lang="zh-CN" altLang="en-US" sz="400" noProof="1">
                  <a:solidFill>
                    <a:srgbClr val="4A577D"/>
                  </a:solidFill>
                  <a:latin typeface="+mn-ea"/>
                  <a:cs typeface="MiSans"/>
                </a:rPr>
                <a:t>）</a:t>
              </a:r>
              <a:endParaRPr lang="en-US" altLang="zh-CN" sz="400" noProof="1">
                <a:solidFill>
                  <a:srgbClr val="4A577D"/>
                </a:solidFill>
                <a:latin typeface="+mn-ea"/>
                <a:cs typeface="MiSans"/>
              </a:endParaRPr>
            </a:p>
            <a:p>
              <a:pPr defTabSz="685800">
                <a:lnSpc>
                  <a:spcPct val="150000"/>
                </a:lnSpc>
              </a:pPr>
              <a:r>
                <a:rPr lang="en-US" altLang="zh-CN" sz="400" noProof="1">
                  <a:solidFill>
                    <a:srgbClr val="4A577D"/>
                  </a:solidFill>
                  <a:latin typeface="+mn-ea"/>
                  <a:cs typeface="MiSans"/>
                </a:rPr>
                <a:t>70 人天 × ¥2,500  </a:t>
              </a:r>
              <a:r>
                <a:rPr lang="zh-CN" altLang="en-US" sz="400" noProof="1">
                  <a:solidFill>
                    <a:srgbClr val="4A577D"/>
                  </a:solidFill>
                  <a:latin typeface="+mn-ea"/>
                  <a:cs typeface="MiSans"/>
                </a:rPr>
                <a:t>（</a:t>
              </a:r>
              <a:r>
                <a:rPr lang="en-US" altLang="zh-CN" sz="400" noProof="1">
                  <a:solidFill>
                    <a:srgbClr val="4A577D"/>
                  </a:solidFill>
                  <a:latin typeface="+mn-ea"/>
                  <a:cs typeface="MiSans"/>
                </a:rPr>
                <a:t>DEV-B</a:t>
              </a:r>
              <a:r>
                <a:rPr lang="zh-CN" altLang="en-US" sz="400" noProof="1">
                  <a:solidFill>
                    <a:srgbClr val="4A577D"/>
                  </a:solidFill>
                  <a:latin typeface="+mn-ea"/>
                  <a:cs typeface="MiSans"/>
                </a:rPr>
                <a:t>）</a:t>
              </a:r>
              <a:endParaRPr lang="en-US" altLang="zh-CN" sz="400" noProof="1">
                <a:solidFill>
                  <a:srgbClr val="4A577D"/>
                </a:solidFill>
                <a:latin typeface="+mn-ea"/>
                <a:cs typeface="MiSans"/>
              </a:endParaRPr>
            </a:p>
          </p:txBody>
        </p:sp>
        <p:sp>
          <p:nvSpPr>
            <p:cNvPr id="385" name="L1-plus">
              <a:extLst>
                <a:ext uri="{FF2B5EF4-FFF2-40B4-BE49-F238E27FC236}">
                  <a16:creationId xmlns:a16="http://schemas.microsoft.com/office/drawing/2014/main" id="{3EB03611-810F-FC0E-D715-9A63FA90E823}"/>
                </a:ext>
              </a:extLst>
            </p:cNvPr>
            <p:cNvSpPr/>
            <p:nvPr/>
          </p:nvSpPr>
          <p:spPr>
            <a:xfrm>
              <a:off x="2458950" y="2292165"/>
              <a:ext cx="134589" cy="134589"/>
            </a:xfrm>
            <a:prstGeom prst="ellipse">
              <a:avLst/>
            </a:prstGeom>
            <a:solidFill>
              <a:srgbClr val="F0F4FD"/>
            </a:solidFill>
            <a:ln>
              <a:noFill/>
            </a:ln>
          </p:spPr>
          <p:txBody>
            <a:bodyPr/>
            <a:lstStyle/>
            <a:p>
              <a:pPr defTabSz="685800"/>
              <a:endParaRPr lang="zh-CN" altLang="en-US" sz="1350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387" name="L1-plus-t">
              <a:extLst>
                <a:ext uri="{FF2B5EF4-FFF2-40B4-BE49-F238E27FC236}">
                  <a16:creationId xmlns:a16="http://schemas.microsoft.com/office/drawing/2014/main" id="{7B9FEC9E-0194-11B4-A79D-4DEB69B4C3C8}"/>
                </a:ext>
              </a:extLst>
            </p:cNvPr>
            <p:cNvSpPr txBox="1"/>
            <p:nvPr/>
          </p:nvSpPr>
          <p:spPr>
            <a:xfrm>
              <a:off x="2458950" y="2292165"/>
              <a:ext cx="134589" cy="1345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/>
            <a:lstStyle/>
            <a:p>
              <a:pPr algn="ctr" defTabSz="685800">
                <a:lnSpc>
                  <a:spcPct val="120000"/>
                </a:lnSpc>
              </a:pPr>
              <a:r>
                <a:rPr lang="en-US" sz="750" b="1" noProof="1">
                  <a:solidFill>
                    <a:srgbClr val="0636B2"/>
                  </a:solidFill>
                  <a:latin typeface="+mn-ea"/>
                  <a:cs typeface="MiSans"/>
                </a:rPr>
                <a:t>+</a:t>
              </a:r>
              <a:endParaRPr lang="en-US" sz="750" noProof="1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389" name="L1-ic2">
              <a:extLst>
                <a:ext uri="{FF2B5EF4-FFF2-40B4-BE49-F238E27FC236}">
                  <a16:creationId xmlns:a16="http://schemas.microsoft.com/office/drawing/2014/main" id="{D19FF6CD-69E7-AC5F-5E2C-451B6867FFBA}"/>
                </a:ext>
              </a:extLst>
            </p:cNvPr>
            <p:cNvSpPr/>
            <p:nvPr>
              <p:extLst>
                <p:ext uri="{F5677B7D-0D2A-4D9B-9A5C-6D8D7D0E5A5D}">
  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eyJpY29uTmFtZSI6ImZhczpyb2JvdCJ9</pptd:icon>
                </p:ext>
              </p:extLst>
            </p:nvPr>
          </p:nvSpPr>
          <p:spPr>
            <a:xfrm>
              <a:off x="2844772" y="2229357"/>
              <a:ext cx="233288" cy="215343"/>
            </a:xfrm>
            <a:custGeom>
              <a:avLst/>
              <a:gdLst/>
              <a:ahLst/>
              <a:cxnLst/>
              <a:rect l="l" t="t" r="r" b="b"/>
              <a:pathLst>
                <a:path w="640" h="512">
                  <a:moveTo>
                    <a:pt x="352" y="0"/>
                  </a:moveTo>
                  <a:cubicBezTo>
                    <a:pt x="352" y="-18"/>
                    <a:pt x="338" y="-32"/>
                    <a:pt x="320" y="-32"/>
                  </a:cubicBezTo>
                  <a:cubicBezTo>
                    <a:pt x="302" y="-32"/>
                    <a:pt x="288" y="-18"/>
                    <a:pt x="288" y="0"/>
                  </a:cubicBezTo>
                  <a:lnTo>
                    <a:pt x="288" y="64"/>
                  </a:lnTo>
                  <a:lnTo>
                    <a:pt x="192" y="64"/>
                  </a:lnTo>
                  <a:cubicBezTo>
                    <a:pt x="139" y="64"/>
                    <a:pt x="96" y="107"/>
                    <a:pt x="96" y="160"/>
                  </a:cubicBezTo>
                  <a:lnTo>
                    <a:pt x="96" y="384"/>
                  </a:lnTo>
                  <a:cubicBezTo>
                    <a:pt x="96" y="437"/>
                    <a:pt x="139" y="480"/>
                    <a:pt x="192" y="480"/>
                  </a:cubicBezTo>
                  <a:lnTo>
                    <a:pt x="448" y="480"/>
                  </a:lnTo>
                  <a:cubicBezTo>
                    <a:pt x="501" y="480"/>
                    <a:pt x="544" y="437"/>
                    <a:pt x="544" y="384"/>
                  </a:cubicBezTo>
                  <a:lnTo>
                    <a:pt x="544" y="160"/>
                  </a:lnTo>
                  <a:cubicBezTo>
                    <a:pt x="544" y="107"/>
                    <a:pt x="501" y="64"/>
                    <a:pt x="448" y="64"/>
                  </a:cubicBezTo>
                  <a:lnTo>
                    <a:pt x="352" y="64"/>
                  </a:lnTo>
                  <a:lnTo>
                    <a:pt x="352" y="0"/>
                  </a:lnTo>
                  <a:close/>
                  <a:moveTo>
                    <a:pt x="160" y="368"/>
                  </a:moveTo>
                  <a:cubicBezTo>
                    <a:pt x="160" y="355"/>
                    <a:pt x="171" y="344"/>
                    <a:pt x="184" y="344"/>
                  </a:cubicBezTo>
                  <a:lnTo>
                    <a:pt x="216" y="344"/>
                  </a:lnTo>
                  <a:cubicBezTo>
                    <a:pt x="229" y="344"/>
                    <a:pt x="240" y="355"/>
                    <a:pt x="240" y="368"/>
                  </a:cubicBezTo>
                  <a:cubicBezTo>
                    <a:pt x="240" y="381"/>
                    <a:pt x="229" y="392"/>
                    <a:pt x="216" y="392"/>
                  </a:cubicBezTo>
                  <a:lnTo>
                    <a:pt x="184" y="392"/>
                  </a:lnTo>
                  <a:cubicBezTo>
                    <a:pt x="171" y="392"/>
                    <a:pt x="160" y="381"/>
                    <a:pt x="160" y="368"/>
                  </a:cubicBezTo>
                  <a:close/>
                  <a:moveTo>
                    <a:pt x="280" y="368"/>
                  </a:moveTo>
                  <a:cubicBezTo>
                    <a:pt x="280" y="355"/>
                    <a:pt x="291" y="344"/>
                    <a:pt x="304" y="344"/>
                  </a:cubicBezTo>
                  <a:lnTo>
                    <a:pt x="336" y="344"/>
                  </a:lnTo>
                  <a:cubicBezTo>
                    <a:pt x="349" y="344"/>
                    <a:pt x="360" y="355"/>
                    <a:pt x="360" y="368"/>
                  </a:cubicBezTo>
                  <a:cubicBezTo>
                    <a:pt x="360" y="381"/>
                    <a:pt x="349" y="392"/>
                    <a:pt x="336" y="392"/>
                  </a:cubicBezTo>
                  <a:lnTo>
                    <a:pt x="304" y="392"/>
                  </a:lnTo>
                  <a:cubicBezTo>
                    <a:pt x="291" y="392"/>
                    <a:pt x="280" y="381"/>
                    <a:pt x="280" y="368"/>
                  </a:cubicBezTo>
                  <a:close/>
                  <a:moveTo>
                    <a:pt x="400" y="368"/>
                  </a:moveTo>
                  <a:cubicBezTo>
                    <a:pt x="400" y="355"/>
                    <a:pt x="411" y="344"/>
                    <a:pt x="424" y="344"/>
                  </a:cubicBezTo>
                  <a:lnTo>
                    <a:pt x="456" y="344"/>
                  </a:lnTo>
                  <a:cubicBezTo>
                    <a:pt x="469" y="344"/>
                    <a:pt x="480" y="355"/>
                    <a:pt x="480" y="368"/>
                  </a:cubicBezTo>
                  <a:cubicBezTo>
                    <a:pt x="480" y="381"/>
                    <a:pt x="469" y="392"/>
                    <a:pt x="456" y="392"/>
                  </a:cubicBezTo>
                  <a:lnTo>
                    <a:pt x="424" y="392"/>
                  </a:lnTo>
                  <a:cubicBezTo>
                    <a:pt x="411" y="392"/>
                    <a:pt x="400" y="381"/>
                    <a:pt x="400" y="368"/>
                  </a:cubicBezTo>
                  <a:close/>
                  <a:moveTo>
                    <a:pt x="224" y="176"/>
                  </a:moveTo>
                  <a:cubicBezTo>
                    <a:pt x="251" y="176"/>
                    <a:pt x="272" y="197"/>
                    <a:pt x="272" y="224"/>
                  </a:cubicBezTo>
                  <a:cubicBezTo>
                    <a:pt x="272" y="251"/>
                    <a:pt x="251" y="272"/>
                    <a:pt x="224" y="272"/>
                  </a:cubicBezTo>
                  <a:cubicBezTo>
                    <a:pt x="197" y="272"/>
                    <a:pt x="176" y="251"/>
                    <a:pt x="176" y="224"/>
                  </a:cubicBezTo>
                  <a:cubicBezTo>
                    <a:pt x="176" y="197"/>
                    <a:pt x="197" y="176"/>
                    <a:pt x="224" y="176"/>
                  </a:cubicBezTo>
                  <a:close/>
                  <a:moveTo>
                    <a:pt x="368" y="224"/>
                  </a:moveTo>
                  <a:cubicBezTo>
                    <a:pt x="368" y="197"/>
                    <a:pt x="389" y="176"/>
                    <a:pt x="416" y="176"/>
                  </a:cubicBezTo>
                  <a:cubicBezTo>
                    <a:pt x="443" y="176"/>
                    <a:pt x="464" y="197"/>
                    <a:pt x="464" y="224"/>
                  </a:cubicBezTo>
                  <a:cubicBezTo>
                    <a:pt x="464" y="251"/>
                    <a:pt x="443" y="272"/>
                    <a:pt x="416" y="272"/>
                  </a:cubicBezTo>
                  <a:cubicBezTo>
                    <a:pt x="389" y="272"/>
                    <a:pt x="368" y="251"/>
                    <a:pt x="368" y="224"/>
                  </a:cubicBezTo>
                  <a:close/>
                </a:path>
                <a:path w="640" h="512">
                  <a:moveTo>
                    <a:pt x="64" y="224"/>
                  </a:moveTo>
                  <a:cubicBezTo>
                    <a:pt x="64" y="206"/>
                    <a:pt x="50" y="192"/>
                    <a:pt x="32" y="192"/>
                  </a:cubicBezTo>
                  <a:cubicBezTo>
                    <a:pt x="14" y="192"/>
                    <a:pt x="0" y="206"/>
                    <a:pt x="0" y="224"/>
                  </a:cubicBezTo>
                  <a:lnTo>
                    <a:pt x="0" y="320"/>
                  </a:lnTo>
                  <a:cubicBezTo>
                    <a:pt x="0" y="338"/>
                    <a:pt x="14" y="352"/>
                    <a:pt x="32" y="352"/>
                  </a:cubicBezTo>
                  <a:cubicBezTo>
                    <a:pt x="50" y="352"/>
                    <a:pt x="64" y="338"/>
                    <a:pt x="64" y="320"/>
                  </a:cubicBezTo>
                  <a:lnTo>
                    <a:pt x="64" y="224"/>
                  </a:lnTo>
                  <a:close/>
                </a:path>
                <a:path w="640" h="512">
                  <a:moveTo>
                    <a:pt x="608" y="192"/>
                  </a:moveTo>
                  <a:cubicBezTo>
                    <a:pt x="590" y="192"/>
                    <a:pt x="576" y="206"/>
                    <a:pt x="576" y="224"/>
                  </a:cubicBezTo>
                  <a:lnTo>
                    <a:pt x="576" y="320"/>
                  </a:lnTo>
                  <a:cubicBezTo>
                    <a:pt x="576" y="338"/>
                    <a:pt x="590" y="352"/>
                    <a:pt x="608" y="352"/>
                  </a:cubicBezTo>
                  <a:cubicBezTo>
                    <a:pt x="626" y="352"/>
                    <a:pt x="640" y="338"/>
                    <a:pt x="640" y="320"/>
                  </a:cubicBezTo>
                  <a:lnTo>
                    <a:pt x="640" y="224"/>
                  </a:lnTo>
                  <a:cubicBezTo>
                    <a:pt x="640" y="206"/>
                    <a:pt x="626" y="192"/>
                    <a:pt x="608" y="192"/>
                  </a:cubicBezTo>
                  <a:close/>
                </a:path>
              </a:pathLst>
            </a:custGeom>
            <a:solidFill>
              <a:srgbClr val="0636B2"/>
            </a:solidFill>
            <a:ln>
              <a:noFill/>
            </a:ln>
          </p:spPr>
          <p:txBody>
            <a:bodyPr/>
            <a:lstStyle/>
            <a:p>
              <a:pPr defTabSz="685800"/>
              <a:endParaRPr lang="zh-CN" altLang="en-US" sz="1350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391" name="L1-t2">
              <a:extLst>
                <a:ext uri="{FF2B5EF4-FFF2-40B4-BE49-F238E27FC236}">
                  <a16:creationId xmlns:a16="http://schemas.microsoft.com/office/drawing/2014/main" id="{37679B78-979A-0EEC-B5A7-3AABC5C9F330}"/>
                </a:ext>
              </a:extLst>
            </p:cNvPr>
            <p:cNvSpPr txBox="1"/>
            <p:nvPr/>
          </p:nvSpPr>
          <p:spPr>
            <a:xfrm>
              <a:off x="3266485" y="2171306"/>
              <a:ext cx="1076714" cy="4486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defTabSz="685800">
                <a:lnSpc>
                  <a:spcPct val="150000"/>
                </a:lnSpc>
              </a:pPr>
              <a:r>
                <a:rPr lang="en-US" sz="675" noProof="1">
                  <a:solidFill>
                    <a:srgbClr val="333A55"/>
                  </a:solidFill>
                  <a:latin typeface="+mn-ea"/>
                  <a:cs typeface="MiSans"/>
                </a:rPr>
                <a:t>AI工具私有化成本</a:t>
              </a:r>
              <a:endParaRPr lang="en-US" sz="675" noProof="1">
                <a:solidFill>
                  <a:srgbClr val="000000"/>
                </a:solidFill>
                <a:latin typeface="+mn-ea"/>
                <a:cs typeface="MiSans"/>
              </a:endParaRPr>
            </a:p>
            <a:p>
              <a:pPr defTabSz="685800">
                <a:lnSpc>
                  <a:spcPct val="150000"/>
                </a:lnSpc>
              </a:pPr>
              <a:r>
                <a:rPr lang="en-US" sz="675" b="1" noProof="1">
                  <a:solidFill>
                    <a:srgbClr val="0636B2"/>
                  </a:solidFill>
                  <a:latin typeface="+mn-ea"/>
                  <a:cs typeface="MiSans"/>
                </a:rPr>
                <a:t>¥0.7 万</a:t>
              </a:r>
              <a:endParaRPr lang="en-US" sz="675" noProof="1">
                <a:solidFill>
                  <a:srgbClr val="000000"/>
                </a:solidFill>
                <a:latin typeface="+mn-ea"/>
                <a:cs typeface="MiSans"/>
              </a:endParaRPr>
            </a:p>
            <a:p>
              <a:pPr defTabSz="685800">
                <a:lnSpc>
                  <a:spcPct val="150000"/>
                </a:lnSpc>
              </a:pPr>
              <a:r>
                <a:rPr lang="en-US" sz="675" noProof="1">
                  <a:solidFill>
                    <a:srgbClr val="4A577D"/>
                  </a:solidFill>
                  <a:latin typeface="+mn-ea"/>
                  <a:cs typeface="MiSans"/>
                </a:rPr>
                <a:t>3个月建设期</a:t>
              </a:r>
              <a:endParaRPr lang="en-US" sz="675" noProof="1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403" name="L2-box">
              <a:extLst>
                <a:ext uri="{FF2B5EF4-FFF2-40B4-BE49-F238E27FC236}">
                  <a16:creationId xmlns:a16="http://schemas.microsoft.com/office/drawing/2014/main" id="{33AC17B8-7301-4978-A908-FF1720D3071C}"/>
                </a:ext>
              </a:extLst>
            </p:cNvPr>
            <p:cNvSpPr/>
            <p:nvPr/>
          </p:nvSpPr>
          <p:spPr>
            <a:xfrm>
              <a:off x="610591" y="2868208"/>
              <a:ext cx="3705689" cy="103185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2700">
              <a:solidFill>
                <a:srgbClr val="CCD8F2"/>
              </a:solidFill>
            </a:ln>
          </p:spPr>
          <p:txBody>
            <a:bodyPr/>
            <a:lstStyle/>
            <a:p>
              <a:pPr defTabSz="685800"/>
              <a:endParaRPr lang="zh-CN" altLang="en-US" sz="1350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405" name="L2-badge">
              <a:extLst>
                <a:ext uri="{FF2B5EF4-FFF2-40B4-BE49-F238E27FC236}">
                  <a16:creationId xmlns:a16="http://schemas.microsoft.com/office/drawing/2014/main" id="{B1F49F71-2FB4-FF4A-9278-731278268EE7}"/>
                </a:ext>
              </a:extLst>
            </p:cNvPr>
            <p:cNvSpPr/>
            <p:nvPr/>
          </p:nvSpPr>
          <p:spPr>
            <a:xfrm>
              <a:off x="709290" y="2922043"/>
              <a:ext cx="224315" cy="170480"/>
            </a:xfrm>
            <a:prstGeom prst="roundRect">
              <a:avLst>
                <a:gd name="adj" fmla="val 22000"/>
              </a:avLst>
            </a:prstGeom>
            <a:solidFill>
              <a:srgbClr val="063AB3"/>
            </a:solidFill>
            <a:ln>
              <a:noFill/>
            </a:ln>
          </p:spPr>
          <p:txBody>
            <a:bodyPr/>
            <a:lstStyle/>
            <a:p>
              <a:pPr defTabSz="685800"/>
              <a:endParaRPr lang="zh-CN" altLang="en-US" sz="1350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407" name="L2-bn">
              <a:extLst>
                <a:ext uri="{FF2B5EF4-FFF2-40B4-BE49-F238E27FC236}">
                  <a16:creationId xmlns:a16="http://schemas.microsoft.com/office/drawing/2014/main" id="{5C730776-A7D2-0F78-984C-FFA2042FA9A9}"/>
                </a:ext>
              </a:extLst>
            </p:cNvPr>
            <p:cNvSpPr txBox="1"/>
            <p:nvPr/>
          </p:nvSpPr>
          <p:spPr>
            <a:xfrm>
              <a:off x="709290" y="2922043"/>
              <a:ext cx="224315" cy="170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/>
            <a:lstStyle/>
            <a:p>
              <a:pPr algn="ctr" defTabSz="685800">
                <a:lnSpc>
                  <a:spcPct val="120000"/>
                </a:lnSpc>
              </a:pPr>
              <a:r>
                <a:rPr lang="en-US" sz="713" b="1" noProof="1">
                  <a:solidFill>
                    <a:srgbClr val="FFFFFF"/>
                  </a:solidFill>
                  <a:latin typeface="+mn-ea"/>
                  <a:cs typeface="MiSans"/>
                </a:rPr>
                <a:t>02</a:t>
              </a:r>
              <a:endParaRPr lang="en-US" sz="713" noProof="1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409" name="L2-title">
              <a:extLst>
                <a:ext uri="{FF2B5EF4-FFF2-40B4-BE49-F238E27FC236}">
                  <a16:creationId xmlns:a16="http://schemas.microsoft.com/office/drawing/2014/main" id="{BE3D44AD-7A01-FCD1-7902-0FBC8BF09C5E}"/>
                </a:ext>
              </a:extLst>
            </p:cNvPr>
            <p:cNvSpPr txBox="1"/>
            <p:nvPr/>
          </p:nvSpPr>
          <p:spPr>
            <a:xfrm>
              <a:off x="1005386" y="2931016"/>
              <a:ext cx="2063701" cy="1525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/>
            <a:lstStyle/>
            <a:p>
              <a:pPr defTabSz="685800">
                <a:lnSpc>
                  <a:spcPct val="120000"/>
                </a:lnSpc>
              </a:pPr>
              <a:r>
                <a:rPr lang="en-US" sz="825" b="1" noProof="1">
                  <a:solidFill>
                    <a:srgbClr val="121747"/>
                  </a:solidFill>
                  <a:latin typeface="+mn-ea"/>
                  <a:cs typeface="MiSans"/>
                </a:rPr>
                <a:t>首批系统接入与数据迁移成本</a:t>
              </a:r>
              <a:endParaRPr lang="en-US" sz="825" noProof="1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411" name="L2-price">
              <a:extLst>
                <a:ext uri="{FF2B5EF4-FFF2-40B4-BE49-F238E27FC236}">
                  <a16:creationId xmlns:a16="http://schemas.microsoft.com/office/drawing/2014/main" id="{5D7DBB0D-AFC6-CC96-1AD8-8E87B2F22855}"/>
                </a:ext>
              </a:extLst>
            </p:cNvPr>
            <p:cNvSpPr txBox="1"/>
            <p:nvPr/>
          </p:nvSpPr>
          <p:spPr>
            <a:xfrm>
              <a:off x="3356211" y="2931016"/>
              <a:ext cx="897261" cy="1525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/>
            <a:lstStyle/>
            <a:p>
              <a:pPr algn="r" defTabSz="685800">
                <a:lnSpc>
                  <a:spcPct val="120000"/>
                </a:lnSpc>
              </a:pPr>
              <a:r>
                <a:rPr lang="en-US" sz="825" b="1" noProof="1">
                  <a:solidFill>
                    <a:srgbClr val="0A2CB1"/>
                  </a:solidFill>
                  <a:latin typeface="+mn-ea"/>
                  <a:cs typeface="MiSans"/>
                </a:rPr>
                <a:t>¥56.1 万</a:t>
              </a:r>
              <a:endParaRPr lang="en-US" sz="825" noProof="1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413" name="L2-div">
              <a:extLst>
                <a:ext uri="{FF2B5EF4-FFF2-40B4-BE49-F238E27FC236}">
                  <a16:creationId xmlns:a16="http://schemas.microsoft.com/office/drawing/2014/main" id="{A1F59700-29C3-567E-19FC-384692F01733}"/>
                </a:ext>
              </a:extLst>
            </p:cNvPr>
            <p:cNvSpPr/>
            <p:nvPr/>
          </p:nvSpPr>
          <p:spPr>
            <a:xfrm>
              <a:off x="709290" y="3110468"/>
              <a:ext cx="3508292" cy="8973"/>
            </a:xfrm>
            <a:prstGeom prst="rect">
              <a:avLst/>
            </a:prstGeom>
            <a:solidFill>
              <a:srgbClr val="EBF0FB"/>
            </a:solidFill>
            <a:ln>
              <a:noFill/>
            </a:ln>
          </p:spPr>
          <p:txBody>
            <a:bodyPr/>
            <a:lstStyle/>
            <a:p>
              <a:pPr defTabSz="685800"/>
              <a:endParaRPr lang="zh-CN" altLang="en-US" sz="1350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415" name="L2-ic1">
              <a:extLst>
                <a:ext uri="{FF2B5EF4-FFF2-40B4-BE49-F238E27FC236}">
                  <a16:creationId xmlns:a16="http://schemas.microsoft.com/office/drawing/2014/main" id="{825C58E6-65C1-255C-24C6-189B27DFCD44}"/>
                </a:ext>
              </a:extLst>
            </p:cNvPr>
            <p:cNvSpPr/>
            <p:nvPr>
              <p:extLst>
                <p:ext uri="{F5677B7D-0D2A-4D9B-9A5C-6D8D7D0E5A5D}">
  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eyJpY29uTmFtZSI6ImZhczpzZXJ2ZXIifQ</pptd:icon>
                </p:ext>
              </p:extLst>
            </p:nvPr>
          </p:nvSpPr>
          <p:spPr>
            <a:xfrm>
              <a:off x="843879" y="3245057"/>
              <a:ext cx="197397" cy="170480"/>
            </a:xfrm>
            <a:custGeom>
              <a:avLst/>
              <a:gdLst/>
              <a:ahLst/>
              <a:cxnLst/>
              <a:rect l="l" t="t" r="r" b="b"/>
              <a:pathLst>
                <a:path w="448" h="512">
                  <a:moveTo>
                    <a:pt x="64" y="32"/>
                  </a:moveTo>
                  <a:cubicBezTo>
                    <a:pt x="29" y="32"/>
                    <a:pt x="0" y="61"/>
                    <a:pt x="0" y="96"/>
                  </a:cubicBezTo>
                  <a:lnTo>
                    <a:pt x="0" y="160"/>
                  </a:lnTo>
                  <a:cubicBezTo>
                    <a:pt x="0" y="195"/>
                    <a:pt x="29" y="224"/>
                    <a:pt x="64" y="224"/>
                  </a:cubicBezTo>
                  <a:lnTo>
                    <a:pt x="384" y="224"/>
                  </a:lnTo>
                  <a:cubicBezTo>
                    <a:pt x="419" y="224"/>
                    <a:pt x="448" y="195"/>
                    <a:pt x="448" y="160"/>
                  </a:cubicBezTo>
                  <a:lnTo>
                    <a:pt x="448" y="96"/>
                  </a:lnTo>
                  <a:cubicBezTo>
                    <a:pt x="448" y="61"/>
                    <a:pt x="419" y="32"/>
                    <a:pt x="384" y="32"/>
                  </a:cubicBezTo>
                  <a:lnTo>
                    <a:pt x="64" y="32"/>
                  </a:lnTo>
                  <a:close/>
                  <a:moveTo>
                    <a:pt x="280" y="104"/>
                  </a:moveTo>
                  <a:cubicBezTo>
                    <a:pt x="293" y="104"/>
                    <a:pt x="304" y="115"/>
                    <a:pt x="304" y="128"/>
                  </a:cubicBezTo>
                  <a:cubicBezTo>
                    <a:pt x="304" y="141"/>
                    <a:pt x="293" y="152"/>
                    <a:pt x="280" y="152"/>
                  </a:cubicBezTo>
                  <a:cubicBezTo>
                    <a:pt x="267" y="152"/>
                    <a:pt x="256" y="141"/>
                    <a:pt x="256" y="128"/>
                  </a:cubicBezTo>
                  <a:cubicBezTo>
                    <a:pt x="256" y="115"/>
                    <a:pt x="267" y="104"/>
                    <a:pt x="280" y="104"/>
                  </a:cubicBezTo>
                  <a:close/>
                  <a:moveTo>
                    <a:pt x="336" y="128"/>
                  </a:moveTo>
                  <a:cubicBezTo>
                    <a:pt x="336" y="115"/>
                    <a:pt x="347" y="104"/>
                    <a:pt x="360" y="104"/>
                  </a:cubicBezTo>
                  <a:cubicBezTo>
                    <a:pt x="373" y="104"/>
                    <a:pt x="384" y="115"/>
                    <a:pt x="384" y="128"/>
                  </a:cubicBezTo>
                  <a:cubicBezTo>
                    <a:pt x="384" y="141"/>
                    <a:pt x="373" y="152"/>
                    <a:pt x="360" y="152"/>
                  </a:cubicBezTo>
                  <a:cubicBezTo>
                    <a:pt x="347" y="152"/>
                    <a:pt x="336" y="141"/>
                    <a:pt x="336" y="128"/>
                  </a:cubicBezTo>
                  <a:close/>
                </a:path>
                <a:path w="448" h="512">
                  <a:moveTo>
                    <a:pt x="64" y="288"/>
                  </a:moveTo>
                  <a:cubicBezTo>
                    <a:pt x="29" y="288"/>
                    <a:pt x="0" y="317"/>
                    <a:pt x="0" y="352"/>
                  </a:cubicBezTo>
                  <a:lnTo>
                    <a:pt x="0" y="416"/>
                  </a:lnTo>
                  <a:cubicBezTo>
                    <a:pt x="0" y="451"/>
                    <a:pt x="29" y="480"/>
                    <a:pt x="64" y="480"/>
                  </a:cubicBezTo>
                  <a:lnTo>
                    <a:pt x="384" y="480"/>
                  </a:lnTo>
                  <a:cubicBezTo>
                    <a:pt x="419" y="480"/>
                    <a:pt x="448" y="451"/>
                    <a:pt x="448" y="416"/>
                  </a:cubicBezTo>
                  <a:lnTo>
                    <a:pt x="448" y="352"/>
                  </a:lnTo>
                  <a:cubicBezTo>
                    <a:pt x="448" y="317"/>
                    <a:pt x="419" y="288"/>
                    <a:pt x="384" y="288"/>
                  </a:cubicBezTo>
                  <a:lnTo>
                    <a:pt x="64" y="288"/>
                  </a:lnTo>
                  <a:close/>
                  <a:moveTo>
                    <a:pt x="280" y="360"/>
                  </a:moveTo>
                  <a:cubicBezTo>
                    <a:pt x="293" y="360"/>
                    <a:pt x="304" y="371"/>
                    <a:pt x="304" y="384"/>
                  </a:cubicBezTo>
                  <a:cubicBezTo>
                    <a:pt x="304" y="397"/>
                    <a:pt x="293" y="408"/>
                    <a:pt x="280" y="408"/>
                  </a:cubicBezTo>
                  <a:cubicBezTo>
                    <a:pt x="267" y="408"/>
                    <a:pt x="256" y="397"/>
                    <a:pt x="256" y="384"/>
                  </a:cubicBezTo>
                  <a:cubicBezTo>
                    <a:pt x="256" y="371"/>
                    <a:pt x="267" y="360"/>
                    <a:pt x="280" y="360"/>
                  </a:cubicBezTo>
                  <a:close/>
                  <a:moveTo>
                    <a:pt x="336" y="384"/>
                  </a:moveTo>
                  <a:cubicBezTo>
                    <a:pt x="336" y="371"/>
                    <a:pt x="347" y="360"/>
                    <a:pt x="360" y="360"/>
                  </a:cubicBezTo>
                  <a:cubicBezTo>
                    <a:pt x="373" y="360"/>
                    <a:pt x="384" y="371"/>
                    <a:pt x="384" y="384"/>
                  </a:cubicBezTo>
                  <a:cubicBezTo>
                    <a:pt x="384" y="397"/>
                    <a:pt x="373" y="408"/>
                    <a:pt x="360" y="408"/>
                  </a:cubicBezTo>
                  <a:cubicBezTo>
                    <a:pt x="347" y="408"/>
                    <a:pt x="336" y="397"/>
                    <a:pt x="336" y="384"/>
                  </a:cubicBezTo>
                  <a:close/>
                </a:path>
              </a:pathLst>
            </a:custGeom>
            <a:solidFill>
              <a:srgbClr val="0636B2"/>
            </a:solidFill>
            <a:ln>
              <a:noFill/>
            </a:ln>
          </p:spPr>
          <p:txBody>
            <a:bodyPr/>
            <a:lstStyle/>
            <a:p>
              <a:pPr defTabSz="685800"/>
              <a:endParaRPr lang="zh-CN" altLang="en-US" sz="1350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417" name="L2-l1">
              <a:extLst>
                <a:ext uri="{FF2B5EF4-FFF2-40B4-BE49-F238E27FC236}">
                  <a16:creationId xmlns:a16="http://schemas.microsoft.com/office/drawing/2014/main" id="{9CC7BFCA-89C4-86FF-2149-5FFA07055640}"/>
                </a:ext>
              </a:extLst>
            </p:cNvPr>
            <p:cNvSpPr txBox="1"/>
            <p:nvPr/>
          </p:nvSpPr>
          <p:spPr>
            <a:xfrm>
              <a:off x="664427" y="3460400"/>
              <a:ext cx="556302" cy="1076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/>
            <a:lstStyle/>
            <a:p>
              <a:pPr algn="ctr" defTabSz="685800">
                <a:lnSpc>
                  <a:spcPct val="120000"/>
                </a:lnSpc>
              </a:pPr>
              <a:r>
                <a:rPr lang="en-US" sz="638" noProof="1">
                  <a:solidFill>
                    <a:srgbClr val="4A4E63"/>
                  </a:solidFill>
                  <a:latin typeface="+mn-ea"/>
                  <a:cs typeface="MiSans"/>
                </a:rPr>
                <a:t>10 个系统</a:t>
              </a:r>
              <a:endParaRPr lang="en-US" sz="638" noProof="1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419" name="L2-m1">
              <a:extLst>
                <a:ext uri="{FF2B5EF4-FFF2-40B4-BE49-F238E27FC236}">
                  <a16:creationId xmlns:a16="http://schemas.microsoft.com/office/drawing/2014/main" id="{11B25ABC-D185-2BA3-B4DD-EC835BB22F37}"/>
                </a:ext>
              </a:extLst>
            </p:cNvPr>
            <p:cNvSpPr/>
            <p:nvPr/>
          </p:nvSpPr>
          <p:spPr>
            <a:xfrm>
              <a:off x="1364291" y="3271975"/>
              <a:ext cx="125617" cy="125617"/>
            </a:xfrm>
            <a:prstGeom prst="ellipse">
              <a:avLst/>
            </a:prstGeom>
            <a:solidFill>
              <a:srgbClr val="F0F4FD"/>
            </a:solidFill>
            <a:ln>
              <a:noFill/>
            </a:ln>
          </p:spPr>
          <p:txBody>
            <a:bodyPr/>
            <a:lstStyle/>
            <a:p>
              <a:pPr defTabSz="685800"/>
              <a:endParaRPr lang="zh-CN" altLang="en-US" sz="1350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421" name="L2-m1t">
              <a:extLst>
                <a:ext uri="{FF2B5EF4-FFF2-40B4-BE49-F238E27FC236}">
                  <a16:creationId xmlns:a16="http://schemas.microsoft.com/office/drawing/2014/main" id="{91AAC941-928E-57BA-270C-4E7CFADAE616}"/>
                </a:ext>
              </a:extLst>
            </p:cNvPr>
            <p:cNvSpPr txBox="1"/>
            <p:nvPr/>
          </p:nvSpPr>
          <p:spPr>
            <a:xfrm>
              <a:off x="1364291" y="3271975"/>
              <a:ext cx="125617" cy="1256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/>
            <a:lstStyle/>
            <a:p>
              <a:pPr algn="ctr" defTabSz="685800">
                <a:lnSpc>
                  <a:spcPct val="120000"/>
                </a:lnSpc>
              </a:pPr>
              <a:r>
                <a:rPr lang="en-US" sz="675" b="1" noProof="1">
                  <a:solidFill>
                    <a:srgbClr val="0636B2"/>
                  </a:solidFill>
                  <a:latin typeface="+mn-ea"/>
                  <a:cs typeface="MiSans"/>
                </a:rPr>
                <a:t>×</a:t>
              </a:r>
              <a:endParaRPr lang="en-US" sz="675" noProof="1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423" name="L2-ic2">
              <a:extLst>
                <a:ext uri="{FF2B5EF4-FFF2-40B4-BE49-F238E27FC236}">
                  <a16:creationId xmlns:a16="http://schemas.microsoft.com/office/drawing/2014/main" id="{4E044C99-2B37-B138-4521-8031EB080D57}"/>
                </a:ext>
              </a:extLst>
            </p:cNvPr>
            <p:cNvSpPr/>
            <p:nvPr>
              <p:extLst>
                <p:ext uri="{F5677B7D-0D2A-4D9B-9A5C-6D8D7D0E5A5D}">
  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eyJpY29uTmFtZSI6ImZhczp1c2VyIn0</pptd:icon>
                </p:ext>
              </p:extLst>
            </p:nvPr>
          </p:nvSpPr>
          <p:spPr>
            <a:xfrm>
              <a:off x="1777031" y="3227112"/>
              <a:ext cx="179452" cy="188425"/>
            </a:xfrm>
            <a:custGeom>
              <a:avLst/>
              <a:gdLst/>
              <a:ahLst/>
              <a:cxnLst/>
              <a:rect l="l" t="t" r="r" b="b"/>
              <a:pathLst>
                <a:path w="448" h="512">
                  <a:moveTo>
                    <a:pt x="224" y="248"/>
                  </a:moveTo>
                  <a:cubicBezTo>
                    <a:pt x="290" y="248"/>
                    <a:pt x="344" y="194"/>
                    <a:pt x="344" y="128"/>
                  </a:cubicBezTo>
                  <a:cubicBezTo>
                    <a:pt x="344" y="62"/>
                    <a:pt x="290" y="8"/>
                    <a:pt x="224" y="8"/>
                  </a:cubicBezTo>
                  <a:cubicBezTo>
                    <a:pt x="158" y="8"/>
                    <a:pt x="104" y="62"/>
                    <a:pt x="104" y="128"/>
                  </a:cubicBezTo>
                  <a:cubicBezTo>
                    <a:pt x="104" y="194"/>
                    <a:pt x="158" y="248"/>
                    <a:pt x="224" y="248"/>
                  </a:cubicBezTo>
                  <a:close/>
                  <a:moveTo>
                    <a:pt x="194" y="304"/>
                  </a:moveTo>
                  <a:cubicBezTo>
                    <a:pt x="96" y="304"/>
                    <a:pt x="16" y="384"/>
                    <a:pt x="16" y="482"/>
                  </a:cubicBezTo>
                  <a:cubicBezTo>
                    <a:pt x="16" y="499"/>
                    <a:pt x="29" y="512"/>
                    <a:pt x="46" y="512"/>
                  </a:cubicBezTo>
                  <a:lnTo>
                    <a:pt x="402" y="512"/>
                  </a:lnTo>
                  <a:cubicBezTo>
                    <a:pt x="419" y="512"/>
                    <a:pt x="432" y="499"/>
                    <a:pt x="432" y="482"/>
                  </a:cubicBezTo>
                  <a:cubicBezTo>
                    <a:pt x="432" y="384"/>
                    <a:pt x="352" y="304"/>
                    <a:pt x="254" y="304"/>
                  </a:cubicBezTo>
                  <a:lnTo>
                    <a:pt x="194" y="304"/>
                  </a:lnTo>
                  <a:close/>
                </a:path>
              </a:pathLst>
            </a:custGeom>
            <a:solidFill>
              <a:srgbClr val="0636B2"/>
            </a:solidFill>
            <a:ln>
              <a:noFill/>
            </a:ln>
          </p:spPr>
          <p:txBody>
            <a:bodyPr/>
            <a:lstStyle/>
            <a:p>
              <a:pPr defTabSz="685800"/>
              <a:endParaRPr lang="zh-CN" altLang="en-US" sz="1350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425" name="L2-l2">
              <a:extLst>
                <a:ext uri="{FF2B5EF4-FFF2-40B4-BE49-F238E27FC236}">
                  <a16:creationId xmlns:a16="http://schemas.microsoft.com/office/drawing/2014/main" id="{C48A05FF-C048-4462-3D43-645ADBCF3441}"/>
                </a:ext>
              </a:extLst>
            </p:cNvPr>
            <p:cNvSpPr txBox="1"/>
            <p:nvPr/>
          </p:nvSpPr>
          <p:spPr>
            <a:xfrm>
              <a:off x="1561688" y="3460400"/>
              <a:ext cx="628083" cy="1076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/>
            <a:lstStyle/>
            <a:p>
              <a:pPr algn="ctr" defTabSz="685800">
                <a:lnSpc>
                  <a:spcPct val="120000"/>
                </a:lnSpc>
              </a:pPr>
              <a:r>
                <a:rPr lang="en-US" sz="638" noProof="1">
                  <a:solidFill>
                    <a:srgbClr val="4A4E63"/>
                  </a:solidFill>
                  <a:latin typeface="+mn-ea"/>
                  <a:cs typeface="MiSans"/>
                </a:rPr>
                <a:t>17 人天 / 系统</a:t>
              </a:r>
              <a:endParaRPr lang="en-US" sz="638" noProof="1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427" name="L2-m2">
              <a:extLst>
                <a:ext uri="{FF2B5EF4-FFF2-40B4-BE49-F238E27FC236}">
                  <a16:creationId xmlns:a16="http://schemas.microsoft.com/office/drawing/2014/main" id="{95615E2E-E306-D2AF-76B9-D6D9B2E2D7C3}"/>
                </a:ext>
              </a:extLst>
            </p:cNvPr>
            <p:cNvSpPr/>
            <p:nvPr/>
          </p:nvSpPr>
          <p:spPr>
            <a:xfrm>
              <a:off x="2369224" y="3271975"/>
              <a:ext cx="125617" cy="125617"/>
            </a:xfrm>
            <a:prstGeom prst="ellipse">
              <a:avLst/>
            </a:prstGeom>
            <a:solidFill>
              <a:srgbClr val="F0F4FD"/>
            </a:solidFill>
            <a:ln>
              <a:noFill/>
            </a:ln>
          </p:spPr>
          <p:txBody>
            <a:bodyPr/>
            <a:lstStyle/>
            <a:p>
              <a:pPr defTabSz="685800"/>
              <a:endParaRPr lang="zh-CN" altLang="en-US" sz="1350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429" name="L2-m2t">
              <a:extLst>
                <a:ext uri="{FF2B5EF4-FFF2-40B4-BE49-F238E27FC236}">
                  <a16:creationId xmlns:a16="http://schemas.microsoft.com/office/drawing/2014/main" id="{974BEA6C-D163-4B2B-5F9B-680C52B8C3C0}"/>
                </a:ext>
              </a:extLst>
            </p:cNvPr>
            <p:cNvSpPr txBox="1"/>
            <p:nvPr/>
          </p:nvSpPr>
          <p:spPr>
            <a:xfrm>
              <a:off x="2369224" y="3271975"/>
              <a:ext cx="125617" cy="1256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/>
            <a:lstStyle/>
            <a:p>
              <a:pPr algn="ctr" defTabSz="685800">
                <a:lnSpc>
                  <a:spcPct val="120000"/>
                </a:lnSpc>
              </a:pPr>
              <a:r>
                <a:rPr lang="en-US" sz="675" b="1" noProof="1">
                  <a:solidFill>
                    <a:srgbClr val="0636B2"/>
                  </a:solidFill>
                  <a:latin typeface="+mn-ea"/>
                  <a:cs typeface="MiSans"/>
                </a:rPr>
                <a:t>×</a:t>
              </a:r>
              <a:endParaRPr lang="en-US" sz="675" noProof="1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431" name="L2-yen">
              <a:extLst>
                <a:ext uri="{FF2B5EF4-FFF2-40B4-BE49-F238E27FC236}">
                  <a16:creationId xmlns:a16="http://schemas.microsoft.com/office/drawing/2014/main" id="{B36D56D4-5E78-838B-C65E-1EA428CE2C2D}"/>
                </a:ext>
              </a:extLst>
            </p:cNvPr>
            <p:cNvSpPr/>
            <p:nvPr/>
          </p:nvSpPr>
          <p:spPr>
            <a:xfrm>
              <a:off x="2746073" y="3227112"/>
              <a:ext cx="179452" cy="179452"/>
            </a:xfrm>
            <a:prstGeom prst="ellipse">
              <a:avLst/>
            </a:prstGeom>
            <a:noFill/>
            <a:ln w="19050">
              <a:solidFill>
                <a:srgbClr val="0F39B5"/>
              </a:solidFill>
            </a:ln>
          </p:spPr>
          <p:txBody>
            <a:bodyPr/>
            <a:lstStyle/>
            <a:p>
              <a:pPr defTabSz="685800"/>
              <a:endParaRPr lang="zh-CN" altLang="en-US" sz="1350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433" name="L2-yent">
              <a:extLst>
                <a:ext uri="{FF2B5EF4-FFF2-40B4-BE49-F238E27FC236}">
                  <a16:creationId xmlns:a16="http://schemas.microsoft.com/office/drawing/2014/main" id="{A7F2A6EA-3DA9-57A4-D8E1-58A397EBABD7}"/>
                </a:ext>
              </a:extLst>
            </p:cNvPr>
            <p:cNvSpPr txBox="1"/>
            <p:nvPr/>
          </p:nvSpPr>
          <p:spPr>
            <a:xfrm>
              <a:off x="2746073" y="3227112"/>
              <a:ext cx="179452" cy="1794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/>
            <a:lstStyle/>
            <a:p>
              <a:pPr algn="ctr" defTabSz="685800">
                <a:lnSpc>
                  <a:spcPct val="120000"/>
                </a:lnSpc>
              </a:pPr>
              <a:r>
                <a:rPr lang="en-US" sz="750" b="1" noProof="1">
                  <a:solidFill>
                    <a:srgbClr val="0F39B5"/>
                  </a:solidFill>
                  <a:latin typeface="+mn-ea"/>
                  <a:cs typeface="MiSans"/>
                </a:rPr>
                <a:t>¥</a:t>
              </a:r>
              <a:endParaRPr lang="en-US" sz="750" noProof="1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435" name="L2-l3">
              <a:extLst>
                <a:ext uri="{FF2B5EF4-FFF2-40B4-BE49-F238E27FC236}">
                  <a16:creationId xmlns:a16="http://schemas.microsoft.com/office/drawing/2014/main" id="{7C2DDC68-5810-0222-7416-21A1C0D52ECA}"/>
                </a:ext>
              </a:extLst>
            </p:cNvPr>
            <p:cNvSpPr txBox="1"/>
            <p:nvPr/>
          </p:nvSpPr>
          <p:spPr>
            <a:xfrm>
              <a:off x="2530731" y="3460400"/>
              <a:ext cx="628083" cy="1076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/>
            <a:lstStyle/>
            <a:p>
              <a:pPr algn="ctr" defTabSz="685800">
                <a:lnSpc>
                  <a:spcPct val="120000"/>
                </a:lnSpc>
              </a:pPr>
              <a:r>
                <a:rPr lang="en-US" sz="638" noProof="1">
                  <a:solidFill>
                    <a:srgbClr val="4A4E63"/>
                  </a:solidFill>
                  <a:latin typeface="+mn-ea"/>
                  <a:cs typeface="MiSans"/>
                </a:rPr>
                <a:t>¥3,300 / 人天</a:t>
              </a:r>
              <a:endParaRPr lang="en-US" sz="638" noProof="1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437" name="L2-eq">
              <a:extLst>
                <a:ext uri="{FF2B5EF4-FFF2-40B4-BE49-F238E27FC236}">
                  <a16:creationId xmlns:a16="http://schemas.microsoft.com/office/drawing/2014/main" id="{25F5ABB2-BACD-9DEE-5014-844AFD877E93}"/>
                </a:ext>
              </a:extLst>
            </p:cNvPr>
            <p:cNvSpPr/>
            <p:nvPr/>
          </p:nvSpPr>
          <p:spPr>
            <a:xfrm>
              <a:off x="3320320" y="3271975"/>
              <a:ext cx="125617" cy="125617"/>
            </a:xfrm>
            <a:prstGeom prst="ellipse">
              <a:avLst/>
            </a:prstGeom>
            <a:solidFill>
              <a:srgbClr val="F0F4FD"/>
            </a:solidFill>
            <a:ln>
              <a:noFill/>
            </a:ln>
          </p:spPr>
          <p:txBody>
            <a:bodyPr/>
            <a:lstStyle/>
            <a:p>
              <a:pPr defTabSz="685800"/>
              <a:endParaRPr lang="zh-CN" altLang="en-US" sz="1350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439" name="L2-eqt">
              <a:extLst>
                <a:ext uri="{FF2B5EF4-FFF2-40B4-BE49-F238E27FC236}">
                  <a16:creationId xmlns:a16="http://schemas.microsoft.com/office/drawing/2014/main" id="{93AF0E09-7B41-5B6B-148C-B2B8E2237C82}"/>
                </a:ext>
              </a:extLst>
            </p:cNvPr>
            <p:cNvSpPr txBox="1"/>
            <p:nvPr/>
          </p:nvSpPr>
          <p:spPr>
            <a:xfrm>
              <a:off x="3320320" y="3271975"/>
              <a:ext cx="125617" cy="1256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/>
            <a:lstStyle/>
            <a:p>
              <a:pPr algn="ctr" defTabSz="685800">
                <a:lnSpc>
                  <a:spcPct val="120000"/>
                </a:lnSpc>
              </a:pPr>
              <a:r>
                <a:rPr lang="en-US" sz="675" b="1" noProof="1">
                  <a:solidFill>
                    <a:srgbClr val="0636B2"/>
                  </a:solidFill>
                  <a:latin typeface="+mn-ea"/>
                  <a:cs typeface="MiSans"/>
                </a:rPr>
                <a:t>=</a:t>
              </a:r>
              <a:endParaRPr lang="en-US" sz="675" noProof="1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441" name="L2-rp">
              <a:extLst>
                <a:ext uri="{FF2B5EF4-FFF2-40B4-BE49-F238E27FC236}">
                  <a16:creationId xmlns:a16="http://schemas.microsoft.com/office/drawing/2014/main" id="{3A020B47-5BEF-A8C3-7E0B-8A8B299B66AA}"/>
                </a:ext>
              </a:extLst>
            </p:cNvPr>
            <p:cNvSpPr txBox="1"/>
            <p:nvPr/>
          </p:nvSpPr>
          <p:spPr>
            <a:xfrm>
              <a:off x="3499773" y="3227112"/>
              <a:ext cx="717809" cy="2332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/>
            <a:lstStyle/>
            <a:p>
              <a:pPr algn="ctr" defTabSz="685800">
                <a:lnSpc>
                  <a:spcPct val="120000"/>
                </a:lnSpc>
              </a:pPr>
              <a:r>
                <a:rPr lang="en-US" sz="975" b="1" noProof="1">
                  <a:solidFill>
                    <a:srgbClr val="0636B2"/>
                  </a:solidFill>
                  <a:latin typeface="+mn-ea"/>
                  <a:cs typeface="MiSans"/>
                </a:rPr>
                <a:t>¥56.1 万</a:t>
              </a:r>
              <a:endParaRPr lang="en-US" sz="975" noProof="1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443" name="L2-note">
              <a:extLst>
                <a:ext uri="{FF2B5EF4-FFF2-40B4-BE49-F238E27FC236}">
                  <a16:creationId xmlns:a16="http://schemas.microsoft.com/office/drawing/2014/main" id="{795E5EB3-F97F-BDDA-5055-F7C43F0A304B}"/>
                </a:ext>
              </a:extLst>
            </p:cNvPr>
            <p:cNvSpPr txBox="1"/>
            <p:nvPr/>
          </p:nvSpPr>
          <p:spPr>
            <a:xfrm>
              <a:off x="610591" y="3693688"/>
              <a:ext cx="3705689" cy="1166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/>
            <a:lstStyle/>
            <a:p>
              <a:pPr algn="ctr" defTabSz="685800">
                <a:lnSpc>
                  <a:spcPct val="120000"/>
                </a:lnSpc>
              </a:pPr>
              <a:r>
                <a:rPr lang="en-US" sz="600" noProof="1">
                  <a:solidFill>
                    <a:srgbClr val="4B608A"/>
                  </a:solidFill>
                  <a:latin typeface="+mn-ea"/>
                  <a:cs typeface="MiSans"/>
                </a:rPr>
                <a:t>包括历史数据迁移、接入配置及上线支持</a:t>
              </a:r>
              <a:endParaRPr lang="en-US" sz="600" noProof="1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445" name="totL">
              <a:extLst>
                <a:ext uri="{FF2B5EF4-FFF2-40B4-BE49-F238E27FC236}">
                  <a16:creationId xmlns:a16="http://schemas.microsoft.com/office/drawing/2014/main" id="{7F340ED8-31B3-E4BA-5B77-4E9A6F96368E}"/>
                </a:ext>
              </a:extLst>
            </p:cNvPr>
            <p:cNvSpPr/>
            <p:nvPr/>
          </p:nvSpPr>
          <p:spPr>
            <a:xfrm>
              <a:off x="556756" y="3971839"/>
              <a:ext cx="3804388" cy="278151"/>
            </a:xfrm>
            <a:prstGeom prst="roundRect">
              <a:avLst>
                <a:gd name="adj" fmla="val 20000"/>
              </a:avLst>
            </a:prstGeom>
            <a:solidFill>
              <a:srgbClr val="0236B3"/>
            </a:solidFill>
            <a:ln>
              <a:noFill/>
            </a:ln>
          </p:spPr>
          <p:txBody>
            <a:bodyPr/>
            <a:lstStyle/>
            <a:p>
              <a:pPr defTabSz="685800"/>
              <a:endParaRPr lang="zh-CN" altLang="en-US" sz="1350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447" name="totL-ic">
              <a:extLst>
                <a:ext uri="{FF2B5EF4-FFF2-40B4-BE49-F238E27FC236}">
                  <a16:creationId xmlns:a16="http://schemas.microsoft.com/office/drawing/2014/main" id="{FC255447-4685-CD9F-7886-AF70674E4D98}"/>
                </a:ext>
              </a:extLst>
            </p:cNvPr>
            <p:cNvSpPr/>
            <p:nvPr>
              <p:extLst>
                <p:ext uri="{F5677B7D-0D2A-4D9B-9A5C-6D8D7D0E5A5D}">
  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eyJpY29uTmFtZSI6ImZhczpjb2lucyJ9</pptd:icon>
                </p:ext>
              </p:extLst>
            </p:nvPr>
          </p:nvSpPr>
          <p:spPr>
            <a:xfrm>
              <a:off x="727235" y="4043619"/>
              <a:ext cx="197397" cy="143562"/>
            </a:xfrm>
            <a:custGeom>
              <a:avLst/>
              <a:gdLst/>
              <a:ahLst/>
              <a:cxnLst/>
              <a:rect l="l" t="t" r="r" b="b"/>
              <a:pathLst>
                <a:path w="512" h="512">
                  <a:moveTo>
                    <a:pt x="128" y="96"/>
                  </a:moveTo>
                  <a:lnTo>
                    <a:pt x="128" y="80"/>
                  </a:lnTo>
                  <a:cubicBezTo>
                    <a:pt x="128" y="36"/>
                    <a:pt x="214" y="0"/>
                    <a:pt x="320" y="0"/>
                  </a:cubicBezTo>
                  <a:cubicBezTo>
                    <a:pt x="426" y="0"/>
                    <a:pt x="512" y="36"/>
                    <a:pt x="512" y="80"/>
                  </a:cubicBezTo>
                  <a:lnTo>
                    <a:pt x="512" y="96"/>
                  </a:lnTo>
                  <a:cubicBezTo>
                    <a:pt x="512" y="127"/>
                    <a:pt x="471" y="153"/>
                    <a:pt x="410" y="167"/>
                  </a:cubicBezTo>
                  <a:cubicBezTo>
                    <a:pt x="408" y="164"/>
                    <a:pt x="405" y="161"/>
                    <a:pt x="403" y="159"/>
                  </a:cubicBezTo>
                  <a:cubicBezTo>
                    <a:pt x="387" y="143"/>
                    <a:pt x="367" y="132"/>
                    <a:pt x="346" y="123"/>
                  </a:cubicBezTo>
                  <a:cubicBezTo>
                    <a:pt x="304" y="106"/>
                    <a:pt x="250" y="96"/>
                    <a:pt x="192" y="96"/>
                  </a:cubicBezTo>
                  <a:cubicBezTo>
                    <a:pt x="170" y="96"/>
                    <a:pt x="149" y="98"/>
                    <a:pt x="128" y="100"/>
                  </a:cubicBezTo>
                  <a:cubicBezTo>
                    <a:pt x="128" y="99"/>
                    <a:pt x="128" y="97"/>
                    <a:pt x="128" y="96"/>
                  </a:cubicBezTo>
                  <a:close/>
                </a:path>
                <a:path w="512" h="512">
                  <a:moveTo>
                    <a:pt x="432" y="353"/>
                  </a:moveTo>
                  <a:lnTo>
                    <a:pt x="432" y="307"/>
                  </a:lnTo>
                  <a:cubicBezTo>
                    <a:pt x="447" y="303"/>
                    <a:pt x="461" y="298"/>
                    <a:pt x="474" y="293"/>
                  </a:cubicBezTo>
                  <a:cubicBezTo>
                    <a:pt x="487" y="287"/>
                    <a:pt x="500" y="281"/>
                    <a:pt x="512" y="273"/>
                  </a:cubicBezTo>
                  <a:lnTo>
                    <a:pt x="512" y="288"/>
                  </a:lnTo>
                  <a:cubicBezTo>
                    <a:pt x="512" y="315"/>
                    <a:pt x="481" y="339"/>
                    <a:pt x="432" y="353"/>
                  </a:cubicBezTo>
                  <a:close/>
                </a:path>
                <a:path w="512" h="512">
                  <a:moveTo>
                    <a:pt x="432" y="257"/>
                  </a:moveTo>
                  <a:lnTo>
                    <a:pt x="432" y="224"/>
                  </a:lnTo>
                  <a:cubicBezTo>
                    <a:pt x="432" y="220"/>
                    <a:pt x="432" y="215"/>
                    <a:pt x="431" y="211"/>
                  </a:cubicBezTo>
                  <a:cubicBezTo>
                    <a:pt x="447" y="207"/>
                    <a:pt x="461" y="202"/>
                    <a:pt x="474" y="197"/>
                  </a:cubicBezTo>
                  <a:cubicBezTo>
                    <a:pt x="487" y="191"/>
                    <a:pt x="500" y="185"/>
                    <a:pt x="512" y="177"/>
                  </a:cubicBezTo>
                  <a:lnTo>
                    <a:pt x="512" y="192"/>
                  </a:lnTo>
                  <a:cubicBezTo>
                    <a:pt x="512" y="219"/>
                    <a:pt x="481" y="242"/>
                    <a:pt x="432" y="257"/>
                  </a:cubicBezTo>
                  <a:close/>
                </a:path>
                <a:path w="512" h="512">
                  <a:moveTo>
                    <a:pt x="0" y="240"/>
                  </a:moveTo>
                  <a:lnTo>
                    <a:pt x="0" y="224"/>
                  </a:lnTo>
                  <a:cubicBezTo>
                    <a:pt x="0" y="180"/>
                    <a:pt x="86" y="144"/>
                    <a:pt x="192" y="144"/>
                  </a:cubicBezTo>
                  <a:cubicBezTo>
                    <a:pt x="298" y="144"/>
                    <a:pt x="384" y="180"/>
                    <a:pt x="384" y="224"/>
                  </a:cubicBezTo>
                  <a:lnTo>
                    <a:pt x="384" y="240"/>
                  </a:lnTo>
                  <a:cubicBezTo>
                    <a:pt x="384" y="284"/>
                    <a:pt x="298" y="320"/>
                    <a:pt x="192" y="320"/>
                  </a:cubicBezTo>
                  <a:cubicBezTo>
                    <a:pt x="86" y="320"/>
                    <a:pt x="0" y="284"/>
                    <a:pt x="0" y="240"/>
                  </a:cubicBezTo>
                  <a:close/>
                </a:path>
                <a:path w="512" h="512">
                  <a:moveTo>
                    <a:pt x="384" y="336"/>
                  </a:moveTo>
                  <a:cubicBezTo>
                    <a:pt x="384" y="380"/>
                    <a:pt x="298" y="416"/>
                    <a:pt x="192" y="416"/>
                  </a:cubicBezTo>
                  <a:cubicBezTo>
                    <a:pt x="86" y="416"/>
                    <a:pt x="0" y="380"/>
                    <a:pt x="0" y="336"/>
                  </a:cubicBezTo>
                  <a:lnTo>
                    <a:pt x="0" y="321"/>
                  </a:lnTo>
                  <a:cubicBezTo>
                    <a:pt x="12" y="329"/>
                    <a:pt x="25" y="335"/>
                    <a:pt x="38" y="341"/>
                  </a:cubicBezTo>
                  <a:cubicBezTo>
                    <a:pt x="80" y="358"/>
                    <a:pt x="134" y="368"/>
                    <a:pt x="192" y="368"/>
                  </a:cubicBezTo>
                  <a:cubicBezTo>
                    <a:pt x="250" y="368"/>
                    <a:pt x="304" y="358"/>
                    <a:pt x="346" y="341"/>
                  </a:cubicBezTo>
                  <a:cubicBezTo>
                    <a:pt x="359" y="335"/>
                    <a:pt x="372" y="329"/>
                    <a:pt x="384" y="321"/>
                  </a:cubicBezTo>
                  <a:lnTo>
                    <a:pt x="384" y="336"/>
                  </a:lnTo>
                  <a:close/>
                </a:path>
                <a:path w="512" h="512">
                  <a:moveTo>
                    <a:pt x="384" y="417"/>
                  </a:moveTo>
                  <a:lnTo>
                    <a:pt x="384" y="432"/>
                  </a:lnTo>
                  <a:cubicBezTo>
                    <a:pt x="384" y="476"/>
                    <a:pt x="298" y="512"/>
                    <a:pt x="192" y="512"/>
                  </a:cubicBezTo>
                  <a:cubicBezTo>
                    <a:pt x="86" y="512"/>
                    <a:pt x="0" y="476"/>
                    <a:pt x="0" y="432"/>
                  </a:cubicBezTo>
                  <a:lnTo>
                    <a:pt x="0" y="417"/>
                  </a:lnTo>
                  <a:cubicBezTo>
                    <a:pt x="12" y="425"/>
                    <a:pt x="25" y="431"/>
                    <a:pt x="38" y="437"/>
                  </a:cubicBezTo>
                  <a:cubicBezTo>
                    <a:pt x="80" y="454"/>
                    <a:pt x="134" y="464"/>
                    <a:pt x="192" y="464"/>
                  </a:cubicBezTo>
                  <a:cubicBezTo>
                    <a:pt x="250" y="464"/>
                    <a:pt x="304" y="454"/>
                    <a:pt x="346" y="437"/>
                  </a:cubicBezTo>
                  <a:cubicBezTo>
                    <a:pt x="359" y="431"/>
                    <a:pt x="372" y="425"/>
                    <a:pt x="384" y="4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pPr defTabSz="685800"/>
              <a:endParaRPr lang="zh-CN" altLang="en-US" sz="1350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449" name="totL-t">
              <a:extLst>
                <a:ext uri="{FF2B5EF4-FFF2-40B4-BE49-F238E27FC236}">
                  <a16:creationId xmlns:a16="http://schemas.microsoft.com/office/drawing/2014/main" id="{E1CF1605-6B90-D367-4073-F3EA97A7FC52}"/>
                </a:ext>
              </a:extLst>
            </p:cNvPr>
            <p:cNvSpPr txBox="1"/>
            <p:nvPr/>
          </p:nvSpPr>
          <p:spPr>
            <a:xfrm>
              <a:off x="1113058" y="4043619"/>
              <a:ext cx="1615070" cy="1345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/>
            <a:lstStyle/>
            <a:p>
              <a:pPr algn="ctr" defTabSz="685800">
                <a:lnSpc>
                  <a:spcPct val="120000"/>
                </a:lnSpc>
              </a:pPr>
              <a:r>
                <a:rPr lang="en-US" sz="788" b="1" noProof="1">
                  <a:solidFill>
                    <a:srgbClr val="FFFFFF"/>
                  </a:solidFill>
                  <a:latin typeface="+mn-ea"/>
                  <a:cs typeface="MiSans"/>
                </a:rPr>
                <a:t>ONE-TIME TOTAL</a:t>
              </a:r>
              <a:endParaRPr lang="en-US" sz="788" noProof="1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451" name="totL-p">
              <a:extLst>
                <a:ext uri="{FF2B5EF4-FFF2-40B4-BE49-F238E27FC236}">
                  <a16:creationId xmlns:a16="http://schemas.microsoft.com/office/drawing/2014/main" id="{6C445BAE-E118-FBCB-A1C9-07FE052DC9C2}"/>
                </a:ext>
              </a:extLst>
            </p:cNvPr>
            <p:cNvSpPr txBox="1"/>
            <p:nvPr/>
          </p:nvSpPr>
          <p:spPr>
            <a:xfrm>
              <a:off x="3266485" y="4025674"/>
              <a:ext cx="1004933" cy="161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/>
            <a:lstStyle/>
            <a:p>
              <a:pPr algn="r" defTabSz="685800">
                <a:lnSpc>
                  <a:spcPct val="120000"/>
                </a:lnSpc>
              </a:pPr>
              <a:r>
                <a:rPr lang="en-US" sz="938" b="1" noProof="1">
                  <a:solidFill>
                    <a:srgbClr val="FFFFFF"/>
                  </a:solidFill>
                  <a:latin typeface="+mn-ea"/>
                  <a:cs typeface="MiSans"/>
                </a:rPr>
                <a:t>¥1</a:t>
              </a:r>
              <a:r>
                <a:rPr lang="en-US" altLang="zh-CN" sz="938" b="1" noProof="1">
                  <a:solidFill>
                    <a:srgbClr val="FFFFFF"/>
                  </a:solidFill>
                  <a:latin typeface="+mn-ea"/>
                  <a:cs typeface="MiSans"/>
                </a:rPr>
                <a:t>23</a:t>
              </a:r>
              <a:r>
                <a:rPr lang="en-US" sz="938" b="1" noProof="1">
                  <a:solidFill>
                    <a:srgbClr val="FFFFFF"/>
                  </a:solidFill>
                  <a:latin typeface="+mn-ea"/>
                  <a:cs typeface="MiSans"/>
                </a:rPr>
                <a:t> 万</a:t>
              </a:r>
              <a:endParaRPr lang="en-US" sz="938" noProof="1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453" name="panelR">
              <a:extLst>
                <a:ext uri="{FF2B5EF4-FFF2-40B4-BE49-F238E27FC236}">
                  <a16:creationId xmlns:a16="http://schemas.microsoft.com/office/drawing/2014/main" id="{52A9E3C2-AE55-ADA3-11B9-8568EE8C9A0C}"/>
                </a:ext>
              </a:extLst>
            </p:cNvPr>
            <p:cNvSpPr/>
            <p:nvPr/>
          </p:nvSpPr>
          <p:spPr>
            <a:xfrm>
              <a:off x="4666212" y="1116753"/>
              <a:ext cx="3974868" cy="3217354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2700">
              <a:solidFill>
                <a:srgbClr val="CBE0D2"/>
              </a:solidFill>
            </a:ln>
          </p:spPr>
          <p:txBody>
            <a:bodyPr/>
            <a:lstStyle/>
            <a:p>
              <a:pPr defTabSz="685800"/>
              <a:endParaRPr lang="zh-CN" altLang="en-US" sz="1350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455" name="banR">
              <a:extLst>
                <a:ext uri="{FF2B5EF4-FFF2-40B4-BE49-F238E27FC236}">
                  <a16:creationId xmlns:a16="http://schemas.microsoft.com/office/drawing/2014/main" id="{05EC7544-598A-9B04-0097-4C97BBD1E1E8}"/>
                </a:ext>
              </a:extLst>
            </p:cNvPr>
            <p:cNvSpPr/>
            <p:nvPr/>
          </p:nvSpPr>
          <p:spPr>
            <a:xfrm>
              <a:off x="4666212" y="1116753"/>
              <a:ext cx="3974868" cy="179452"/>
            </a:xfrm>
            <a:prstGeom prst="roundRect">
              <a:avLst>
                <a:gd name="adj" fmla="val 22000"/>
              </a:avLst>
            </a:prstGeom>
            <a:solidFill>
              <a:srgbClr val="026A2A"/>
            </a:solidFill>
            <a:ln>
              <a:noFill/>
            </a:ln>
          </p:spPr>
          <p:txBody>
            <a:bodyPr/>
            <a:lstStyle/>
            <a:p>
              <a:pPr defTabSz="685800"/>
              <a:endParaRPr lang="zh-CN" altLang="en-US" sz="1350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457" name="banR-fix">
              <a:extLst>
                <a:ext uri="{FF2B5EF4-FFF2-40B4-BE49-F238E27FC236}">
                  <a16:creationId xmlns:a16="http://schemas.microsoft.com/office/drawing/2014/main" id="{F7253236-122B-163D-30ED-A02D72184E55}"/>
                </a:ext>
              </a:extLst>
            </p:cNvPr>
            <p:cNvSpPr/>
            <p:nvPr/>
          </p:nvSpPr>
          <p:spPr>
            <a:xfrm>
              <a:off x="4666212" y="1215452"/>
              <a:ext cx="3974868" cy="80754"/>
            </a:xfrm>
            <a:prstGeom prst="rect">
              <a:avLst/>
            </a:prstGeom>
            <a:solidFill>
              <a:srgbClr val="026A2A"/>
            </a:solidFill>
            <a:ln>
              <a:noFill/>
            </a:ln>
          </p:spPr>
          <p:txBody>
            <a:bodyPr/>
            <a:lstStyle/>
            <a:p>
              <a:pPr defTabSz="685800"/>
              <a:endParaRPr lang="zh-CN" altLang="en-US" sz="1350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459" name="banR-t">
              <a:extLst>
                <a:ext uri="{FF2B5EF4-FFF2-40B4-BE49-F238E27FC236}">
                  <a16:creationId xmlns:a16="http://schemas.microsoft.com/office/drawing/2014/main" id="{78C04666-6C93-602C-92EC-C7805ABD1769}"/>
                </a:ext>
              </a:extLst>
            </p:cNvPr>
            <p:cNvSpPr txBox="1"/>
            <p:nvPr/>
          </p:nvSpPr>
          <p:spPr>
            <a:xfrm>
              <a:off x="4666212" y="1116753"/>
              <a:ext cx="3974868" cy="1794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/>
            <a:lstStyle/>
            <a:p>
              <a:pPr algn="ctr" defTabSz="685800">
                <a:lnSpc>
                  <a:spcPct val="120000"/>
                </a:lnSpc>
              </a:pPr>
              <a:r>
                <a:rPr lang="en-US" sz="825" b="1" noProof="1">
                  <a:solidFill>
                    <a:srgbClr val="FFFFFF"/>
                  </a:solidFill>
                  <a:latin typeface="+mn-ea"/>
                  <a:cs typeface="MiSans"/>
                </a:rPr>
                <a:t>RECURRING COST</a:t>
              </a:r>
              <a:endParaRPr lang="en-US" sz="825" noProof="1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461" name="bignumR">
              <a:extLst>
                <a:ext uri="{FF2B5EF4-FFF2-40B4-BE49-F238E27FC236}">
                  <a16:creationId xmlns:a16="http://schemas.microsoft.com/office/drawing/2014/main" id="{BF198CDA-F130-2A68-E525-C9A791DF2F41}"/>
                </a:ext>
              </a:extLst>
            </p:cNvPr>
            <p:cNvSpPr txBox="1"/>
            <p:nvPr/>
          </p:nvSpPr>
          <p:spPr>
            <a:xfrm>
              <a:off x="4666212" y="1314150"/>
              <a:ext cx="3974868" cy="2871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/>
            <a:lstStyle/>
            <a:p>
              <a:pPr algn="ctr" defTabSz="685800">
                <a:lnSpc>
                  <a:spcPct val="120000"/>
                </a:lnSpc>
              </a:pPr>
              <a:r>
                <a:rPr lang="en-US" sz="1875" b="1" noProof="1">
                  <a:solidFill>
                    <a:srgbClr val="116F34"/>
                  </a:solidFill>
                  <a:latin typeface="+mn-ea"/>
                  <a:cs typeface="MiSans"/>
                </a:rPr>
                <a:t>¥60.96 万</a:t>
              </a:r>
              <a:endParaRPr lang="en-US" sz="1875" noProof="1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463" name="bignumR2">
              <a:extLst>
                <a:ext uri="{FF2B5EF4-FFF2-40B4-BE49-F238E27FC236}">
                  <a16:creationId xmlns:a16="http://schemas.microsoft.com/office/drawing/2014/main" id="{030691BE-8500-E2AE-8E9B-B36E38B49155}"/>
                </a:ext>
              </a:extLst>
            </p:cNvPr>
            <p:cNvSpPr txBox="1"/>
            <p:nvPr/>
          </p:nvSpPr>
          <p:spPr>
            <a:xfrm>
              <a:off x="7250325" y="1367986"/>
              <a:ext cx="376850" cy="161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/>
            <a:lstStyle/>
            <a:p>
              <a:pPr defTabSz="685800">
                <a:lnSpc>
                  <a:spcPct val="120000"/>
                </a:lnSpc>
              </a:pPr>
              <a:r>
                <a:rPr lang="en-US" sz="900" b="1" noProof="1">
                  <a:solidFill>
                    <a:srgbClr val="1E7C3C"/>
                  </a:solidFill>
                  <a:latin typeface="+mn-ea"/>
                  <a:cs typeface="MiSans"/>
                </a:rPr>
                <a:t>/ 年</a:t>
              </a:r>
              <a:endParaRPr lang="en-US" sz="900" noProof="1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465" name="bigsubR">
              <a:extLst>
                <a:ext uri="{FF2B5EF4-FFF2-40B4-BE49-F238E27FC236}">
                  <a16:creationId xmlns:a16="http://schemas.microsoft.com/office/drawing/2014/main" id="{291E22C4-C1D1-2012-8EC3-A60A2066810A}"/>
                </a:ext>
              </a:extLst>
            </p:cNvPr>
            <p:cNvSpPr txBox="1"/>
            <p:nvPr/>
          </p:nvSpPr>
          <p:spPr>
            <a:xfrm>
              <a:off x="4666212" y="1619219"/>
              <a:ext cx="3974868" cy="1256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/>
            <a:lstStyle/>
            <a:p>
              <a:pPr algn="ctr" defTabSz="685800">
                <a:lnSpc>
                  <a:spcPct val="120000"/>
                </a:lnSpc>
              </a:pPr>
              <a:r>
                <a:rPr lang="en-US" sz="788" b="1" noProof="1">
                  <a:solidFill>
                    <a:srgbClr val="121747"/>
                  </a:solidFill>
                  <a:latin typeface="+mn-ea"/>
                  <a:cs typeface="MiSans"/>
                </a:rPr>
                <a:t>Annual Recurring Total Cost</a:t>
              </a:r>
              <a:endParaRPr lang="en-US" sz="788" noProof="1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467" name="R1-box">
              <a:extLst>
                <a:ext uri="{FF2B5EF4-FFF2-40B4-BE49-F238E27FC236}">
                  <a16:creationId xmlns:a16="http://schemas.microsoft.com/office/drawing/2014/main" id="{2E696CFE-1B45-E3EC-A4F6-8DBA737E6E3D}"/>
                </a:ext>
              </a:extLst>
            </p:cNvPr>
            <p:cNvSpPr/>
            <p:nvPr/>
          </p:nvSpPr>
          <p:spPr>
            <a:xfrm>
              <a:off x="4737993" y="1834563"/>
              <a:ext cx="3804388" cy="969042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2700">
              <a:solidFill>
                <a:srgbClr val="CDE3D6"/>
              </a:solidFill>
            </a:ln>
          </p:spPr>
          <p:txBody>
            <a:bodyPr/>
            <a:lstStyle/>
            <a:p>
              <a:pPr defTabSz="685800"/>
              <a:endParaRPr lang="zh-CN" altLang="en-US" sz="1350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469" name="R1-badge">
              <a:extLst>
                <a:ext uri="{FF2B5EF4-FFF2-40B4-BE49-F238E27FC236}">
                  <a16:creationId xmlns:a16="http://schemas.microsoft.com/office/drawing/2014/main" id="{BEB5B950-67C9-2C49-A82C-1C47DB9E22A3}"/>
                </a:ext>
              </a:extLst>
            </p:cNvPr>
            <p:cNvSpPr/>
            <p:nvPr/>
          </p:nvSpPr>
          <p:spPr>
            <a:xfrm>
              <a:off x="4845665" y="1888398"/>
              <a:ext cx="224315" cy="170480"/>
            </a:xfrm>
            <a:prstGeom prst="roundRect">
              <a:avLst>
                <a:gd name="adj" fmla="val 22000"/>
              </a:avLst>
            </a:prstGeom>
            <a:solidFill>
              <a:srgbClr val="076A2D"/>
            </a:solidFill>
            <a:ln>
              <a:noFill/>
            </a:ln>
          </p:spPr>
          <p:txBody>
            <a:bodyPr/>
            <a:lstStyle/>
            <a:p>
              <a:pPr defTabSz="685800"/>
              <a:endParaRPr lang="zh-CN" altLang="en-US" sz="1350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471" name="R1-bn">
              <a:extLst>
                <a:ext uri="{FF2B5EF4-FFF2-40B4-BE49-F238E27FC236}">
                  <a16:creationId xmlns:a16="http://schemas.microsoft.com/office/drawing/2014/main" id="{040A79B0-B228-8D7C-5C88-B1296C8C8EB6}"/>
                </a:ext>
              </a:extLst>
            </p:cNvPr>
            <p:cNvSpPr txBox="1"/>
            <p:nvPr/>
          </p:nvSpPr>
          <p:spPr>
            <a:xfrm>
              <a:off x="4845665" y="1888398"/>
              <a:ext cx="224315" cy="170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/>
            <a:lstStyle/>
            <a:p>
              <a:pPr algn="ctr" defTabSz="685800">
                <a:lnSpc>
                  <a:spcPct val="120000"/>
                </a:lnSpc>
              </a:pPr>
              <a:r>
                <a:rPr lang="en-US" sz="713" b="1" noProof="1">
                  <a:solidFill>
                    <a:srgbClr val="FFFFFF"/>
                  </a:solidFill>
                  <a:latin typeface="+mn-ea"/>
                  <a:cs typeface="MiSans"/>
                </a:rPr>
                <a:t>01</a:t>
              </a:r>
              <a:endParaRPr lang="en-US" sz="713" noProof="1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473" name="R1-title">
              <a:extLst>
                <a:ext uri="{FF2B5EF4-FFF2-40B4-BE49-F238E27FC236}">
                  <a16:creationId xmlns:a16="http://schemas.microsoft.com/office/drawing/2014/main" id="{D8A3DC9D-7678-0668-0F8D-B30891831B03}"/>
                </a:ext>
              </a:extLst>
            </p:cNvPr>
            <p:cNvSpPr txBox="1"/>
            <p:nvPr/>
          </p:nvSpPr>
          <p:spPr>
            <a:xfrm>
              <a:off x="5141761" y="1897370"/>
              <a:ext cx="1973975" cy="1525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/>
            <a:lstStyle/>
            <a:p>
              <a:pPr defTabSz="685800">
                <a:lnSpc>
                  <a:spcPct val="120000"/>
                </a:lnSpc>
              </a:pPr>
              <a:r>
                <a:rPr lang="en-US" sz="825" b="1" noProof="1">
                  <a:solidFill>
                    <a:srgbClr val="121747"/>
                  </a:solidFill>
                  <a:latin typeface="+mn-ea"/>
                  <a:cs typeface="MiSans"/>
                </a:rPr>
                <a:t>RIMS平台年度运行成本</a:t>
              </a:r>
              <a:endParaRPr lang="en-US" sz="825" noProof="1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475" name="R1-price">
              <a:extLst>
                <a:ext uri="{FF2B5EF4-FFF2-40B4-BE49-F238E27FC236}">
                  <a16:creationId xmlns:a16="http://schemas.microsoft.com/office/drawing/2014/main" id="{39FFA15F-53BF-6473-4AE3-0A4DB00E9309}"/>
                </a:ext>
              </a:extLst>
            </p:cNvPr>
            <p:cNvSpPr txBox="1"/>
            <p:nvPr/>
          </p:nvSpPr>
          <p:spPr>
            <a:xfrm>
              <a:off x="7483613" y="1897370"/>
              <a:ext cx="1004933" cy="1525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/>
            <a:lstStyle/>
            <a:p>
              <a:pPr algn="r" defTabSz="685800">
                <a:lnSpc>
                  <a:spcPct val="120000"/>
                </a:lnSpc>
              </a:pPr>
              <a:r>
                <a:rPr lang="en-US" sz="825" b="1" noProof="1">
                  <a:solidFill>
                    <a:srgbClr val="287C40"/>
                  </a:solidFill>
                  <a:latin typeface="+mn-ea"/>
                  <a:cs typeface="MiSans"/>
                </a:rPr>
                <a:t>¥21.36 万 / 年</a:t>
              </a:r>
              <a:endParaRPr lang="en-US" sz="825" noProof="1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477" name="R1-div">
              <a:extLst>
                <a:ext uri="{FF2B5EF4-FFF2-40B4-BE49-F238E27FC236}">
                  <a16:creationId xmlns:a16="http://schemas.microsoft.com/office/drawing/2014/main" id="{352B9603-7F2A-EDF8-7B4D-3065F83783F3}"/>
                </a:ext>
              </a:extLst>
            </p:cNvPr>
            <p:cNvSpPr/>
            <p:nvPr/>
          </p:nvSpPr>
          <p:spPr>
            <a:xfrm>
              <a:off x="4845665" y="2076822"/>
              <a:ext cx="3589045" cy="8973"/>
            </a:xfrm>
            <a:prstGeom prst="rect">
              <a:avLst/>
            </a:prstGeom>
            <a:solidFill>
              <a:srgbClr val="E0EEE7"/>
            </a:solidFill>
            <a:ln>
              <a:noFill/>
            </a:ln>
          </p:spPr>
          <p:txBody>
            <a:bodyPr/>
            <a:lstStyle/>
            <a:p>
              <a:pPr defTabSz="685800"/>
              <a:endParaRPr lang="zh-CN" altLang="en-US" sz="1350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479" name="R1-ic1">
              <a:extLst>
                <a:ext uri="{FF2B5EF4-FFF2-40B4-BE49-F238E27FC236}">
                  <a16:creationId xmlns:a16="http://schemas.microsoft.com/office/drawing/2014/main" id="{B0A7C3F4-943B-DF66-1E24-44DF03E36375}"/>
                </a:ext>
              </a:extLst>
            </p:cNvPr>
            <p:cNvSpPr/>
            <p:nvPr>
              <p:extLst>
                <p:ext uri="{F5677B7D-0D2A-4D9B-9A5C-6D8D7D0E5A5D}">
  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eyJpY29uTmFtZSI6ImZhczp1c2VyLWdlYXIifQ</pptd:icon>
                </p:ext>
              </p:extLst>
            </p:nvPr>
          </p:nvSpPr>
          <p:spPr>
            <a:xfrm>
              <a:off x="4971281" y="2256275"/>
              <a:ext cx="233288" cy="215343"/>
            </a:xfrm>
            <a:custGeom>
              <a:avLst/>
              <a:gdLst/>
              <a:ahLst/>
              <a:cxnLst/>
              <a:rect l="l" t="t" r="r" b="b"/>
              <a:pathLst>
                <a:path w="640" h="512">
                  <a:moveTo>
                    <a:pt x="257" y="8"/>
                  </a:moveTo>
                  <a:cubicBezTo>
                    <a:pt x="323" y="8"/>
                    <a:pt x="377" y="62"/>
                    <a:pt x="377" y="128"/>
                  </a:cubicBezTo>
                  <a:cubicBezTo>
                    <a:pt x="377" y="194"/>
                    <a:pt x="323" y="248"/>
                    <a:pt x="257" y="248"/>
                  </a:cubicBezTo>
                  <a:cubicBezTo>
                    <a:pt x="190" y="248"/>
                    <a:pt x="137" y="194"/>
                    <a:pt x="137" y="128"/>
                  </a:cubicBezTo>
                  <a:cubicBezTo>
                    <a:pt x="137" y="62"/>
                    <a:pt x="190" y="8"/>
                    <a:pt x="257" y="8"/>
                  </a:cubicBezTo>
                  <a:close/>
                </a:path>
                <a:path w="640" h="512">
                  <a:moveTo>
                    <a:pt x="227" y="304"/>
                  </a:moveTo>
                  <a:lnTo>
                    <a:pt x="286" y="304"/>
                  </a:lnTo>
                  <a:lnTo>
                    <a:pt x="288" y="304"/>
                  </a:lnTo>
                  <a:cubicBezTo>
                    <a:pt x="275" y="331"/>
                    <a:pt x="280" y="362"/>
                    <a:pt x="299" y="384"/>
                  </a:cubicBezTo>
                  <a:cubicBezTo>
                    <a:pt x="279" y="406"/>
                    <a:pt x="274" y="439"/>
                    <a:pt x="290" y="467"/>
                  </a:cubicBezTo>
                  <a:lnTo>
                    <a:pt x="312" y="507"/>
                  </a:lnTo>
                  <a:cubicBezTo>
                    <a:pt x="313" y="509"/>
                    <a:pt x="314" y="510"/>
                    <a:pt x="315" y="512"/>
                  </a:cubicBezTo>
                  <a:lnTo>
                    <a:pt x="78" y="512"/>
                  </a:lnTo>
                  <a:cubicBezTo>
                    <a:pt x="62" y="512"/>
                    <a:pt x="48" y="499"/>
                    <a:pt x="48" y="482"/>
                  </a:cubicBezTo>
                  <a:cubicBezTo>
                    <a:pt x="48" y="384"/>
                    <a:pt x="128" y="304"/>
                    <a:pt x="227" y="304"/>
                  </a:cubicBezTo>
                  <a:close/>
                </a:path>
                <a:path w="640" h="512">
                  <a:moveTo>
                    <a:pt x="433" y="248"/>
                  </a:moveTo>
                  <a:cubicBezTo>
                    <a:pt x="433" y="234"/>
                    <a:pt x="443" y="224"/>
                    <a:pt x="457" y="224"/>
                  </a:cubicBezTo>
                  <a:lnTo>
                    <a:pt x="505" y="224"/>
                  </a:lnTo>
                  <a:cubicBezTo>
                    <a:pt x="518" y="224"/>
                    <a:pt x="529" y="234"/>
                    <a:pt x="529" y="248"/>
                  </a:cubicBezTo>
                  <a:lnTo>
                    <a:pt x="529" y="254"/>
                  </a:lnTo>
                  <a:cubicBezTo>
                    <a:pt x="529" y="273"/>
                    <a:pt x="553" y="287"/>
                    <a:pt x="569" y="277"/>
                  </a:cubicBezTo>
                  <a:lnTo>
                    <a:pt x="574" y="274"/>
                  </a:lnTo>
                  <a:cubicBezTo>
                    <a:pt x="586" y="268"/>
                    <a:pt x="601" y="272"/>
                    <a:pt x="607" y="283"/>
                  </a:cubicBezTo>
                  <a:lnTo>
                    <a:pt x="630" y="324"/>
                  </a:lnTo>
                  <a:cubicBezTo>
                    <a:pt x="636" y="335"/>
                    <a:pt x="632" y="349"/>
                    <a:pt x="621" y="356"/>
                  </a:cubicBezTo>
                  <a:lnTo>
                    <a:pt x="617" y="358"/>
                  </a:lnTo>
                  <a:cubicBezTo>
                    <a:pt x="600" y="369"/>
                    <a:pt x="600" y="398"/>
                    <a:pt x="617" y="409"/>
                  </a:cubicBezTo>
                  <a:lnTo>
                    <a:pt x="621" y="411"/>
                  </a:lnTo>
                  <a:cubicBezTo>
                    <a:pt x="632" y="418"/>
                    <a:pt x="636" y="432"/>
                    <a:pt x="629" y="443"/>
                  </a:cubicBezTo>
                  <a:lnTo>
                    <a:pt x="607" y="484"/>
                  </a:lnTo>
                  <a:cubicBezTo>
                    <a:pt x="601" y="496"/>
                    <a:pt x="586" y="500"/>
                    <a:pt x="574" y="493"/>
                  </a:cubicBezTo>
                  <a:lnTo>
                    <a:pt x="569" y="490"/>
                  </a:lnTo>
                  <a:cubicBezTo>
                    <a:pt x="553" y="481"/>
                    <a:pt x="529" y="495"/>
                    <a:pt x="529" y="513"/>
                  </a:cubicBezTo>
                  <a:lnTo>
                    <a:pt x="529" y="520"/>
                  </a:lnTo>
                  <a:cubicBezTo>
                    <a:pt x="529" y="533"/>
                    <a:pt x="518" y="544"/>
                    <a:pt x="505" y="544"/>
                  </a:cubicBezTo>
                  <a:lnTo>
                    <a:pt x="457" y="544"/>
                  </a:lnTo>
                  <a:cubicBezTo>
                    <a:pt x="443" y="544"/>
                    <a:pt x="433" y="533"/>
                    <a:pt x="433" y="520"/>
                  </a:cubicBezTo>
                  <a:lnTo>
                    <a:pt x="433" y="514"/>
                  </a:lnTo>
                  <a:cubicBezTo>
                    <a:pt x="433" y="495"/>
                    <a:pt x="408" y="481"/>
                    <a:pt x="392" y="490"/>
                  </a:cubicBezTo>
                  <a:lnTo>
                    <a:pt x="387" y="493"/>
                  </a:lnTo>
                  <a:cubicBezTo>
                    <a:pt x="376" y="500"/>
                    <a:pt x="361" y="496"/>
                    <a:pt x="354" y="484"/>
                  </a:cubicBezTo>
                  <a:lnTo>
                    <a:pt x="332" y="443"/>
                  </a:lnTo>
                  <a:cubicBezTo>
                    <a:pt x="325" y="432"/>
                    <a:pt x="329" y="418"/>
                    <a:pt x="340" y="411"/>
                  </a:cubicBezTo>
                  <a:lnTo>
                    <a:pt x="344" y="409"/>
                  </a:lnTo>
                  <a:cubicBezTo>
                    <a:pt x="361" y="399"/>
                    <a:pt x="361" y="369"/>
                    <a:pt x="344" y="358"/>
                  </a:cubicBezTo>
                  <a:lnTo>
                    <a:pt x="340" y="356"/>
                  </a:lnTo>
                  <a:cubicBezTo>
                    <a:pt x="329" y="349"/>
                    <a:pt x="325" y="335"/>
                    <a:pt x="331" y="324"/>
                  </a:cubicBezTo>
                  <a:lnTo>
                    <a:pt x="354" y="283"/>
                  </a:lnTo>
                  <a:cubicBezTo>
                    <a:pt x="360" y="272"/>
                    <a:pt x="375" y="267"/>
                    <a:pt x="387" y="274"/>
                  </a:cubicBezTo>
                  <a:lnTo>
                    <a:pt x="392" y="277"/>
                  </a:lnTo>
                  <a:cubicBezTo>
                    <a:pt x="408" y="286"/>
                    <a:pt x="432" y="272"/>
                    <a:pt x="432" y="253"/>
                  </a:cubicBezTo>
                  <a:lnTo>
                    <a:pt x="432" y="248"/>
                  </a:lnTo>
                  <a:close/>
                  <a:moveTo>
                    <a:pt x="533" y="384"/>
                  </a:moveTo>
                  <a:cubicBezTo>
                    <a:pt x="533" y="355"/>
                    <a:pt x="509" y="332"/>
                    <a:pt x="481" y="332"/>
                  </a:cubicBezTo>
                  <a:cubicBezTo>
                    <a:pt x="452" y="332"/>
                    <a:pt x="429" y="355"/>
                    <a:pt x="429" y="384"/>
                  </a:cubicBezTo>
                  <a:cubicBezTo>
                    <a:pt x="429" y="413"/>
                    <a:pt x="452" y="436"/>
                    <a:pt x="481" y="436"/>
                  </a:cubicBezTo>
                  <a:cubicBezTo>
                    <a:pt x="509" y="436"/>
                    <a:pt x="533" y="413"/>
                    <a:pt x="533" y="384"/>
                  </a:cubicBezTo>
                  <a:close/>
                </a:path>
              </a:pathLst>
            </a:custGeom>
            <a:solidFill>
              <a:srgbClr val="117335"/>
            </a:solidFill>
            <a:ln>
              <a:noFill/>
            </a:ln>
          </p:spPr>
          <p:txBody>
            <a:bodyPr/>
            <a:lstStyle/>
            <a:p>
              <a:pPr defTabSz="685800"/>
              <a:endParaRPr lang="zh-CN" altLang="en-US" sz="1350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481" name="R1-t1">
              <a:extLst>
                <a:ext uri="{FF2B5EF4-FFF2-40B4-BE49-F238E27FC236}">
                  <a16:creationId xmlns:a16="http://schemas.microsoft.com/office/drawing/2014/main" id="{F60D3B80-43AA-7878-AE9D-B3E12836D86B}"/>
                </a:ext>
              </a:extLst>
            </p:cNvPr>
            <p:cNvSpPr txBox="1"/>
            <p:nvPr/>
          </p:nvSpPr>
          <p:spPr>
            <a:xfrm>
              <a:off x="5401967" y="2175521"/>
              <a:ext cx="1121577" cy="39479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defTabSz="685800">
                <a:lnSpc>
                  <a:spcPct val="160000"/>
                </a:lnSpc>
              </a:pPr>
              <a:r>
                <a:rPr lang="en-US" sz="675" noProof="1">
                  <a:solidFill>
                    <a:srgbClr val="333A55"/>
                  </a:solidFill>
                  <a:latin typeface="+mn-ea"/>
                  <a:cs typeface="MiSans"/>
                </a:rPr>
                <a:t>年度运维成本</a:t>
              </a:r>
              <a:endParaRPr lang="en-US" sz="675" noProof="1">
                <a:solidFill>
                  <a:srgbClr val="000000"/>
                </a:solidFill>
                <a:latin typeface="+mn-ea"/>
                <a:cs typeface="MiSans"/>
              </a:endParaRPr>
            </a:p>
            <a:p>
              <a:pPr defTabSz="685800">
                <a:lnSpc>
                  <a:spcPct val="160000"/>
                </a:lnSpc>
              </a:pPr>
              <a:r>
                <a:rPr lang="en-US" sz="675" b="1" noProof="1">
                  <a:solidFill>
                    <a:srgbClr val="11702F"/>
                  </a:solidFill>
                  <a:latin typeface="+mn-ea"/>
                  <a:cs typeface="MiSans"/>
                </a:rPr>
                <a:t>¥12万 / 年</a:t>
              </a:r>
              <a:endParaRPr lang="en-US" sz="675" noProof="1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483" name="R1-plus">
              <a:extLst>
                <a:ext uri="{FF2B5EF4-FFF2-40B4-BE49-F238E27FC236}">
                  <a16:creationId xmlns:a16="http://schemas.microsoft.com/office/drawing/2014/main" id="{C9649D14-2230-B499-3821-8BC778D7C136}"/>
                </a:ext>
              </a:extLst>
            </p:cNvPr>
            <p:cNvSpPr/>
            <p:nvPr/>
          </p:nvSpPr>
          <p:spPr>
            <a:xfrm>
              <a:off x="6478680" y="2292165"/>
              <a:ext cx="134589" cy="134589"/>
            </a:xfrm>
            <a:prstGeom prst="ellipse">
              <a:avLst/>
            </a:prstGeom>
            <a:solidFill>
              <a:srgbClr val="E9F3EC"/>
            </a:solidFill>
            <a:ln>
              <a:noFill/>
            </a:ln>
          </p:spPr>
          <p:txBody>
            <a:bodyPr/>
            <a:lstStyle/>
            <a:p>
              <a:pPr defTabSz="685800"/>
              <a:endParaRPr lang="zh-CN" altLang="en-US" sz="1350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485" name="R1-plus-t">
              <a:extLst>
                <a:ext uri="{FF2B5EF4-FFF2-40B4-BE49-F238E27FC236}">
                  <a16:creationId xmlns:a16="http://schemas.microsoft.com/office/drawing/2014/main" id="{3AFE4BC4-DD42-2777-BC2E-EA545680F487}"/>
                </a:ext>
              </a:extLst>
            </p:cNvPr>
            <p:cNvSpPr txBox="1"/>
            <p:nvPr/>
          </p:nvSpPr>
          <p:spPr>
            <a:xfrm>
              <a:off x="6478680" y="2292165"/>
              <a:ext cx="134589" cy="1345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/>
            <a:lstStyle/>
            <a:p>
              <a:pPr algn="ctr" defTabSz="685800">
                <a:lnSpc>
                  <a:spcPct val="120000"/>
                </a:lnSpc>
              </a:pPr>
              <a:r>
                <a:rPr lang="en-US" sz="750" b="1" noProof="1">
                  <a:solidFill>
                    <a:srgbClr val="11702F"/>
                  </a:solidFill>
                  <a:latin typeface="+mn-ea"/>
                  <a:cs typeface="MiSans"/>
                </a:rPr>
                <a:t>+</a:t>
              </a:r>
              <a:endParaRPr lang="en-US" sz="750" noProof="1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487" name="R1-ic2">
              <a:extLst>
                <a:ext uri="{FF2B5EF4-FFF2-40B4-BE49-F238E27FC236}">
                  <a16:creationId xmlns:a16="http://schemas.microsoft.com/office/drawing/2014/main" id="{CB347335-7B88-C2BE-5D38-4325AAEC0347}"/>
                </a:ext>
              </a:extLst>
            </p:cNvPr>
            <p:cNvSpPr/>
            <p:nvPr>
              <p:extLst>
                <p:ext uri="{F5677B7D-0D2A-4D9B-9A5C-6D8D7D0E5A5D}">
  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eyJpY29uTmFtZSI6ImZhczpjbG91ZC1hcnJvdy11cCJ9</pptd:icon>
                </p:ext>
              </p:extLst>
            </p:nvPr>
          </p:nvSpPr>
          <p:spPr>
            <a:xfrm>
              <a:off x="6801694" y="2256275"/>
              <a:ext cx="251233" cy="224315"/>
            </a:xfrm>
            <a:custGeom>
              <a:avLst/>
              <a:gdLst/>
              <a:ahLst/>
              <a:cxnLst/>
              <a:rect l="l" t="t" r="r" b="b"/>
              <a:pathLst>
                <a:path w="576" h="512">
                  <a:moveTo>
                    <a:pt x="144" y="480"/>
                  </a:moveTo>
                  <a:cubicBezTo>
                    <a:pt x="65" y="480"/>
                    <a:pt x="0" y="416"/>
                    <a:pt x="0" y="336"/>
                  </a:cubicBezTo>
                  <a:cubicBezTo>
                    <a:pt x="0" y="273"/>
                    <a:pt x="41" y="219"/>
                    <a:pt x="98" y="200"/>
                  </a:cubicBezTo>
                  <a:cubicBezTo>
                    <a:pt x="97" y="192"/>
                    <a:pt x="96" y="184"/>
                    <a:pt x="96" y="176"/>
                  </a:cubicBezTo>
                  <a:cubicBezTo>
                    <a:pt x="96" y="97"/>
                    <a:pt x="161" y="32"/>
                    <a:pt x="240" y="32"/>
                  </a:cubicBezTo>
                  <a:cubicBezTo>
                    <a:pt x="295" y="32"/>
                    <a:pt x="344" y="63"/>
                    <a:pt x="368" y="109"/>
                  </a:cubicBezTo>
                  <a:cubicBezTo>
                    <a:pt x="382" y="101"/>
                    <a:pt x="398" y="96"/>
                    <a:pt x="416" y="96"/>
                  </a:cubicBezTo>
                  <a:cubicBezTo>
                    <a:pt x="469" y="96"/>
                    <a:pt x="512" y="139"/>
                    <a:pt x="512" y="192"/>
                  </a:cubicBezTo>
                  <a:cubicBezTo>
                    <a:pt x="512" y="208"/>
                    <a:pt x="508" y="223"/>
                    <a:pt x="502" y="236"/>
                  </a:cubicBezTo>
                  <a:cubicBezTo>
                    <a:pt x="546" y="256"/>
                    <a:pt x="576" y="300"/>
                    <a:pt x="576" y="352"/>
                  </a:cubicBezTo>
                  <a:cubicBezTo>
                    <a:pt x="576" y="423"/>
                    <a:pt x="519" y="480"/>
                    <a:pt x="448" y="480"/>
                  </a:cubicBezTo>
                  <a:lnTo>
                    <a:pt x="144" y="480"/>
                  </a:lnTo>
                  <a:close/>
                  <a:moveTo>
                    <a:pt x="305" y="191"/>
                  </a:moveTo>
                  <a:cubicBezTo>
                    <a:pt x="296" y="182"/>
                    <a:pt x="280" y="182"/>
                    <a:pt x="271" y="191"/>
                  </a:cubicBezTo>
                  <a:lnTo>
                    <a:pt x="199" y="263"/>
                  </a:lnTo>
                  <a:cubicBezTo>
                    <a:pt x="190" y="272"/>
                    <a:pt x="190" y="288"/>
                    <a:pt x="199" y="297"/>
                  </a:cubicBezTo>
                  <a:cubicBezTo>
                    <a:pt x="209" y="306"/>
                    <a:pt x="224" y="306"/>
                    <a:pt x="233" y="297"/>
                  </a:cubicBezTo>
                  <a:lnTo>
                    <a:pt x="264" y="266"/>
                  </a:lnTo>
                  <a:lnTo>
                    <a:pt x="264" y="368"/>
                  </a:lnTo>
                  <a:cubicBezTo>
                    <a:pt x="264" y="381"/>
                    <a:pt x="275" y="392"/>
                    <a:pt x="288" y="392"/>
                  </a:cubicBezTo>
                  <a:cubicBezTo>
                    <a:pt x="301" y="392"/>
                    <a:pt x="312" y="381"/>
                    <a:pt x="312" y="368"/>
                  </a:cubicBezTo>
                  <a:lnTo>
                    <a:pt x="312" y="266"/>
                  </a:lnTo>
                  <a:lnTo>
                    <a:pt x="343" y="297"/>
                  </a:lnTo>
                  <a:cubicBezTo>
                    <a:pt x="352" y="306"/>
                    <a:pt x="368" y="306"/>
                    <a:pt x="377" y="297"/>
                  </a:cubicBezTo>
                  <a:cubicBezTo>
                    <a:pt x="386" y="288"/>
                    <a:pt x="386" y="272"/>
                    <a:pt x="377" y="263"/>
                  </a:cubicBezTo>
                  <a:lnTo>
                    <a:pt x="305" y="191"/>
                  </a:lnTo>
                  <a:close/>
                </a:path>
              </a:pathLst>
            </a:custGeom>
            <a:solidFill>
              <a:srgbClr val="117335"/>
            </a:solidFill>
            <a:ln>
              <a:noFill/>
            </a:ln>
          </p:spPr>
          <p:txBody>
            <a:bodyPr/>
            <a:lstStyle/>
            <a:p>
              <a:pPr defTabSz="685800"/>
              <a:endParaRPr lang="zh-CN" altLang="en-US" sz="1350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489" name="R1-t2">
              <a:extLst>
                <a:ext uri="{FF2B5EF4-FFF2-40B4-BE49-F238E27FC236}">
                  <a16:creationId xmlns:a16="http://schemas.microsoft.com/office/drawing/2014/main" id="{BDE31070-CC65-CA69-AC68-F6ACEE508EFC}"/>
                </a:ext>
              </a:extLst>
            </p:cNvPr>
            <p:cNvSpPr txBox="1"/>
            <p:nvPr/>
          </p:nvSpPr>
          <p:spPr>
            <a:xfrm>
              <a:off x="7232380" y="2175521"/>
              <a:ext cx="1166440" cy="4486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defTabSz="685800">
                <a:lnSpc>
                  <a:spcPct val="150000"/>
                </a:lnSpc>
              </a:pPr>
              <a:r>
                <a:rPr lang="en-US" sz="675" noProof="1">
                  <a:solidFill>
                    <a:srgbClr val="333A55"/>
                  </a:solidFill>
                  <a:latin typeface="+mn-ea"/>
                  <a:cs typeface="MiSans"/>
                </a:rPr>
                <a:t>基础云资源成本</a:t>
              </a:r>
              <a:endParaRPr lang="en-US" sz="675" noProof="1">
                <a:solidFill>
                  <a:srgbClr val="000000"/>
                </a:solidFill>
                <a:latin typeface="+mn-ea"/>
                <a:cs typeface="MiSans"/>
              </a:endParaRPr>
            </a:p>
            <a:p>
              <a:pPr defTabSz="685800">
                <a:lnSpc>
                  <a:spcPct val="150000"/>
                </a:lnSpc>
              </a:pPr>
              <a:r>
                <a:rPr lang="en-US" sz="675" b="1" noProof="1">
                  <a:solidFill>
                    <a:srgbClr val="11702F"/>
                  </a:solidFill>
                  <a:latin typeface="+mn-ea"/>
                  <a:cs typeface="MiSans"/>
                </a:rPr>
                <a:t>¥9.36 万 / 年</a:t>
              </a:r>
              <a:endParaRPr lang="en-US" sz="675" noProof="1">
                <a:solidFill>
                  <a:srgbClr val="000000"/>
                </a:solidFill>
                <a:latin typeface="+mn-ea"/>
                <a:cs typeface="MiSans"/>
              </a:endParaRPr>
            </a:p>
            <a:p>
              <a:pPr defTabSz="685800">
                <a:lnSpc>
                  <a:spcPct val="150000"/>
                </a:lnSpc>
              </a:pPr>
              <a:r>
                <a:rPr lang="en-US" sz="675" noProof="1">
                  <a:solidFill>
                    <a:srgbClr val="4A577D"/>
                  </a:solidFill>
                  <a:latin typeface="+mn-ea"/>
                  <a:cs typeface="MiSans"/>
                </a:rPr>
                <a:t>¥7,800 / 月 × 12 个月</a:t>
              </a:r>
              <a:endParaRPr lang="en-US" sz="675" noProof="1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501" name="R2-box">
              <a:extLst>
                <a:ext uri="{FF2B5EF4-FFF2-40B4-BE49-F238E27FC236}">
                  <a16:creationId xmlns:a16="http://schemas.microsoft.com/office/drawing/2014/main" id="{A8A8EEBA-E69F-A604-A6AB-DCD0A82F0C79}"/>
                </a:ext>
              </a:extLst>
            </p:cNvPr>
            <p:cNvSpPr/>
            <p:nvPr/>
          </p:nvSpPr>
          <p:spPr>
            <a:xfrm>
              <a:off x="4737993" y="2868208"/>
              <a:ext cx="3804388" cy="103185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2700">
              <a:solidFill>
                <a:srgbClr val="CDE3D6"/>
              </a:solidFill>
            </a:ln>
          </p:spPr>
          <p:txBody>
            <a:bodyPr/>
            <a:lstStyle/>
            <a:p>
              <a:pPr defTabSz="685800"/>
              <a:endParaRPr lang="zh-CN" altLang="en-US" sz="1350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503" name="R2-badge">
              <a:extLst>
                <a:ext uri="{FF2B5EF4-FFF2-40B4-BE49-F238E27FC236}">
                  <a16:creationId xmlns:a16="http://schemas.microsoft.com/office/drawing/2014/main" id="{832323E4-1B55-CF93-A2FA-92F51D60E6D9}"/>
                </a:ext>
              </a:extLst>
            </p:cNvPr>
            <p:cNvSpPr/>
            <p:nvPr/>
          </p:nvSpPr>
          <p:spPr>
            <a:xfrm>
              <a:off x="4845665" y="2922043"/>
              <a:ext cx="224315" cy="170480"/>
            </a:xfrm>
            <a:prstGeom prst="roundRect">
              <a:avLst>
                <a:gd name="adj" fmla="val 22000"/>
              </a:avLst>
            </a:prstGeom>
            <a:solidFill>
              <a:srgbClr val="076A2D"/>
            </a:solidFill>
            <a:ln>
              <a:noFill/>
            </a:ln>
          </p:spPr>
          <p:txBody>
            <a:bodyPr/>
            <a:lstStyle/>
            <a:p>
              <a:pPr defTabSz="685800"/>
              <a:endParaRPr lang="zh-CN" altLang="en-US" sz="1350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505" name="R2-bn">
              <a:extLst>
                <a:ext uri="{FF2B5EF4-FFF2-40B4-BE49-F238E27FC236}">
                  <a16:creationId xmlns:a16="http://schemas.microsoft.com/office/drawing/2014/main" id="{BDC2EAF4-484A-A41E-1C20-A5096344CCFF}"/>
                </a:ext>
              </a:extLst>
            </p:cNvPr>
            <p:cNvSpPr txBox="1"/>
            <p:nvPr/>
          </p:nvSpPr>
          <p:spPr>
            <a:xfrm>
              <a:off x="4845665" y="2922043"/>
              <a:ext cx="224315" cy="170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/>
            <a:lstStyle/>
            <a:p>
              <a:pPr algn="ctr" defTabSz="685800">
                <a:lnSpc>
                  <a:spcPct val="120000"/>
                </a:lnSpc>
              </a:pPr>
              <a:r>
                <a:rPr lang="en-US" sz="713" b="1" noProof="1">
                  <a:solidFill>
                    <a:srgbClr val="FFFFFF"/>
                  </a:solidFill>
                  <a:latin typeface="+mn-ea"/>
                  <a:cs typeface="MiSans"/>
                </a:rPr>
                <a:t>02</a:t>
              </a:r>
              <a:endParaRPr lang="en-US" sz="713" noProof="1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507" name="R2-title">
              <a:extLst>
                <a:ext uri="{FF2B5EF4-FFF2-40B4-BE49-F238E27FC236}">
                  <a16:creationId xmlns:a16="http://schemas.microsoft.com/office/drawing/2014/main" id="{30115640-8E3F-E986-20A1-05B822501934}"/>
                </a:ext>
              </a:extLst>
            </p:cNvPr>
            <p:cNvSpPr txBox="1"/>
            <p:nvPr/>
          </p:nvSpPr>
          <p:spPr>
            <a:xfrm>
              <a:off x="5141761" y="2931016"/>
              <a:ext cx="1973975" cy="1525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/>
            <a:lstStyle/>
            <a:p>
              <a:pPr defTabSz="685800">
                <a:lnSpc>
                  <a:spcPct val="120000"/>
                </a:lnSpc>
              </a:pPr>
              <a:r>
                <a:rPr lang="en-US" sz="825" b="1" noProof="1">
                  <a:solidFill>
                    <a:srgbClr val="121747"/>
                  </a:solidFill>
                  <a:latin typeface="+mn-ea"/>
                  <a:cs typeface="MiSans"/>
                </a:rPr>
                <a:t>接入系统增量云资源成本</a:t>
              </a:r>
              <a:endParaRPr lang="en-US" sz="825" noProof="1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509" name="R2-price">
              <a:extLst>
                <a:ext uri="{FF2B5EF4-FFF2-40B4-BE49-F238E27FC236}">
                  <a16:creationId xmlns:a16="http://schemas.microsoft.com/office/drawing/2014/main" id="{610E785E-0C9F-0F1F-E265-EF3042615BDD}"/>
                </a:ext>
              </a:extLst>
            </p:cNvPr>
            <p:cNvSpPr txBox="1"/>
            <p:nvPr/>
          </p:nvSpPr>
          <p:spPr>
            <a:xfrm>
              <a:off x="7591284" y="2931016"/>
              <a:ext cx="897261" cy="1525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/>
            <a:lstStyle/>
            <a:p>
              <a:pPr algn="r" defTabSz="685800">
                <a:lnSpc>
                  <a:spcPct val="120000"/>
                </a:lnSpc>
              </a:pPr>
              <a:r>
                <a:rPr lang="en-US" sz="825" b="1" noProof="1">
                  <a:solidFill>
                    <a:srgbClr val="287C40"/>
                  </a:solidFill>
                  <a:latin typeface="+mn-ea"/>
                  <a:cs typeface="MiSans"/>
                </a:rPr>
                <a:t>¥39.6 万 / 年</a:t>
              </a:r>
              <a:endParaRPr lang="en-US" sz="825" noProof="1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511" name="R2-div">
              <a:extLst>
                <a:ext uri="{FF2B5EF4-FFF2-40B4-BE49-F238E27FC236}">
                  <a16:creationId xmlns:a16="http://schemas.microsoft.com/office/drawing/2014/main" id="{26B413BF-C29B-A5EA-2F4D-5ED295613786}"/>
                </a:ext>
              </a:extLst>
            </p:cNvPr>
            <p:cNvSpPr/>
            <p:nvPr/>
          </p:nvSpPr>
          <p:spPr>
            <a:xfrm>
              <a:off x="4845665" y="3110468"/>
              <a:ext cx="3589045" cy="8973"/>
            </a:xfrm>
            <a:prstGeom prst="rect">
              <a:avLst/>
            </a:prstGeom>
            <a:solidFill>
              <a:srgbClr val="E0EEE7"/>
            </a:solidFill>
            <a:ln>
              <a:noFill/>
            </a:ln>
          </p:spPr>
          <p:txBody>
            <a:bodyPr/>
            <a:lstStyle/>
            <a:p>
              <a:pPr defTabSz="685800"/>
              <a:endParaRPr lang="zh-CN" altLang="en-US" sz="1350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513" name="R2-ic1">
              <a:extLst>
                <a:ext uri="{FF2B5EF4-FFF2-40B4-BE49-F238E27FC236}">
                  <a16:creationId xmlns:a16="http://schemas.microsoft.com/office/drawing/2014/main" id="{7291FDAF-2F12-E3B5-D61A-9527C46AD08D}"/>
                </a:ext>
              </a:extLst>
            </p:cNvPr>
            <p:cNvSpPr/>
            <p:nvPr>
              <p:extLst>
                <p:ext uri="{F5677B7D-0D2A-4D9B-9A5C-6D8D7D0E5A5D}">
  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eyJpY29uTmFtZSI6ImZhczpzZXJ2ZXIifQ</pptd:icon>
                </p:ext>
              </p:extLst>
            </p:nvPr>
          </p:nvSpPr>
          <p:spPr>
            <a:xfrm>
              <a:off x="4935391" y="3245057"/>
              <a:ext cx="197397" cy="170480"/>
            </a:xfrm>
            <a:custGeom>
              <a:avLst/>
              <a:gdLst/>
              <a:ahLst/>
              <a:cxnLst/>
              <a:rect l="l" t="t" r="r" b="b"/>
              <a:pathLst>
                <a:path w="448" h="512">
                  <a:moveTo>
                    <a:pt x="64" y="32"/>
                  </a:moveTo>
                  <a:cubicBezTo>
                    <a:pt x="29" y="32"/>
                    <a:pt x="0" y="61"/>
                    <a:pt x="0" y="96"/>
                  </a:cubicBezTo>
                  <a:lnTo>
                    <a:pt x="0" y="160"/>
                  </a:lnTo>
                  <a:cubicBezTo>
                    <a:pt x="0" y="195"/>
                    <a:pt x="29" y="224"/>
                    <a:pt x="64" y="224"/>
                  </a:cubicBezTo>
                  <a:lnTo>
                    <a:pt x="384" y="224"/>
                  </a:lnTo>
                  <a:cubicBezTo>
                    <a:pt x="419" y="224"/>
                    <a:pt x="448" y="195"/>
                    <a:pt x="448" y="160"/>
                  </a:cubicBezTo>
                  <a:lnTo>
                    <a:pt x="448" y="96"/>
                  </a:lnTo>
                  <a:cubicBezTo>
                    <a:pt x="448" y="61"/>
                    <a:pt x="419" y="32"/>
                    <a:pt x="384" y="32"/>
                  </a:cubicBezTo>
                  <a:lnTo>
                    <a:pt x="64" y="32"/>
                  </a:lnTo>
                  <a:close/>
                  <a:moveTo>
                    <a:pt x="280" y="104"/>
                  </a:moveTo>
                  <a:cubicBezTo>
                    <a:pt x="293" y="104"/>
                    <a:pt x="304" y="115"/>
                    <a:pt x="304" y="128"/>
                  </a:cubicBezTo>
                  <a:cubicBezTo>
                    <a:pt x="304" y="141"/>
                    <a:pt x="293" y="152"/>
                    <a:pt x="280" y="152"/>
                  </a:cubicBezTo>
                  <a:cubicBezTo>
                    <a:pt x="267" y="152"/>
                    <a:pt x="256" y="141"/>
                    <a:pt x="256" y="128"/>
                  </a:cubicBezTo>
                  <a:cubicBezTo>
                    <a:pt x="256" y="115"/>
                    <a:pt x="267" y="104"/>
                    <a:pt x="280" y="104"/>
                  </a:cubicBezTo>
                  <a:close/>
                  <a:moveTo>
                    <a:pt x="336" y="128"/>
                  </a:moveTo>
                  <a:cubicBezTo>
                    <a:pt x="336" y="115"/>
                    <a:pt x="347" y="104"/>
                    <a:pt x="360" y="104"/>
                  </a:cubicBezTo>
                  <a:cubicBezTo>
                    <a:pt x="373" y="104"/>
                    <a:pt x="384" y="115"/>
                    <a:pt x="384" y="128"/>
                  </a:cubicBezTo>
                  <a:cubicBezTo>
                    <a:pt x="384" y="141"/>
                    <a:pt x="373" y="152"/>
                    <a:pt x="360" y="152"/>
                  </a:cubicBezTo>
                  <a:cubicBezTo>
                    <a:pt x="347" y="152"/>
                    <a:pt x="336" y="141"/>
                    <a:pt x="336" y="128"/>
                  </a:cubicBezTo>
                  <a:close/>
                </a:path>
                <a:path w="448" h="512">
                  <a:moveTo>
                    <a:pt x="64" y="288"/>
                  </a:moveTo>
                  <a:cubicBezTo>
                    <a:pt x="29" y="288"/>
                    <a:pt x="0" y="317"/>
                    <a:pt x="0" y="352"/>
                  </a:cubicBezTo>
                  <a:lnTo>
                    <a:pt x="0" y="416"/>
                  </a:lnTo>
                  <a:cubicBezTo>
                    <a:pt x="0" y="451"/>
                    <a:pt x="29" y="480"/>
                    <a:pt x="64" y="480"/>
                  </a:cubicBezTo>
                  <a:lnTo>
                    <a:pt x="384" y="480"/>
                  </a:lnTo>
                  <a:cubicBezTo>
                    <a:pt x="419" y="480"/>
                    <a:pt x="448" y="451"/>
                    <a:pt x="448" y="416"/>
                  </a:cubicBezTo>
                  <a:lnTo>
                    <a:pt x="448" y="352"/>
                  </a:lnTo>
                  <a:cubicBezTo>
                    <a:pt x="448" y="317"/>
                    <a:pt x="419" y="288"/>
                    <a:pt x="384" y="288"/>
                  </a:cubicBezTo>
                  <a:lnTo>
                    <a:pt x="64" y="288"/>
                  </a:lnTo>
                  <a:close/>
                  <a:moveTo>
                    <a:pt x="280" y="360"/>
                  </a:moveTo>
                  <a:cubicBezTo>
                    <a:pt x="293" y="360"/>
                    <a:pt x="304" y="371"/>
                    <a:pt x="304" y="384"/>
                  </a:cubicBezTo>
                  <a:cubicBezTo>
                    <a:pt x="304" y="397"/>
                    <a:pt x="293" y="408"/>
                    <a:pt x="280" y="408"/>
                  </a:cubicBezTo>
                  <a:cubicBezTo>
                    <a:pt x="267" y="408"/>
                    <a:pt x="256" y="397"/>
                    <a:pt x="256" y="384"/>
                  </a:cubicBezTo>
                  <a:cubicBezTo>
                    <a:pt x="256" y="371"/>
                    <a:pt x="267" y="360"/>
                    <a:pt x="280" y="360"/>
                  </a:cubicBezTo>
                  <a:close/>
                  <a:moveTo>
                    <a:pt x="336" y="384"/>
                  </a:moveTo>
                  <a:cubicBezTo>
                    <a:pt x="336" y="371"/>
                    <a:pt x="347" y="360"/>
                    <a:pt x="360" y="360"/>
                  </a:cubicBezTo>
                  <a:cubicBezTo>
                    <a:pt x="373" y="360"/>
                    <a:pt x="384" y="371"/>
                    <a:pt x="384" y="384"/>
                  </a:cubicBezTo>
                  <a:cubicBezTo>
                    <a:pt x="384" y="397"/>
                    <a:pt x="373" y="408"/>
                    <a:pt x="360" y="408"/>
                  </a:cubicBezTo>
                  <a:cubicBezTo>
                    <a:pt x="347" y="408"/>
                    <a:pt x="336" y="397"/>
                    <a:pt x="336" y="384"/>
                  </a:cubicBezTo>
                  <a:close/>
                </a:path>
              </a:pathLst>
            </a:custGeom>
            <a:solidFill>
              <a:srgbClr val="117335"/>
            </a:solidFill>
            <a:ln>
              <a:noFill/>
            </a:ln>
          </p:spPr>
          <p:txBody>
            <a:bodyPr/>
            <a:lstStyle/>
            <a:p>
              <a:pPr defTabSz="685800"/>
              <a:endParaRPr lang="zh-CN" altLang="en-US" sz="1350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515" name="R2-l1">
              <a:extLst>
                <a:ext uri="{FF2B5EF4-FFF2-40B4-BE49-F238E27FC236}">
                  <a16:creationId xmlns:a16="http://schemas.microsoft.com/office/drawing/2014/main" id="{48674979-C038-919D-0A3B-EA1008FB0D4D}"/>
                </a:ext>
              </a:extLst>
            </p:cNvPr>
            <p:cNvSpPr txBox="1"/>
            <p:nvPr/>
          </p:nvSpPr>
          <p:spPr>
            <a:xfrm>
              <a:off x="4773884" y="3460400"/>
              <a:ext cx="520412" cy="1076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/>
            <a:lstStyle/>
            <a:p>
              <a:pPr algn="ctr" defTabSz="685800">
                <a:lnSpc>
                  <a:spcPct val="120000"/>
                </a:lnSpc>
              </a:pPr>
              <a:r>
                <a:rPr lang="en-US" sz="638" noProof="1">
                  <a:solidFill>
                    <a:srgbClr val="4A4E63"/>
                  </a:solidFill>
                  <a:latin typeface="+mn-ea"/>
                  <a:cs typeface="MiSans"/>
                </a:rPr>
                <a:t>10个系统</a:t>
              </a:r>
              <a:endParaRPr lang="en-US" sz="638" noProof="1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517" name="R2-m1">
              <a:extLst>
                <a:ext uri="{FF2B5EF4-FFF2-40B4-BE49-F238E27FC236}">
                  <a16:creationId xmlns:a16="http://schemas.microsoft.com/office/drawing/2014/main" id="{60ADFD97-8BE2-5A8E-550F-8E15BB093C3A}"/>
                </a:ext>
              </a:extLst>
            </p:cNvPr>
            <p:cNvSpPr/>
            <p:nvPr/>
          </p:nvSpPr>
          <p:spPr>
            <a:xfrm>
              <a:off x="5428885" y="3271975"/>
              <a:ext cx="125617" cy="125617"/>
            </a:xfrm>
            <a:prstGeom prst="ellipse">
              <a:avLst/>
            </a:prstGeom>
            <a:solidFill>
              <a:srgbClr val="E9F3EC"/>
            </a:solidFill>
            <a:ln>
              <a:noFill/>
            </a:ln>
          </p:spPr>
          <p:txBody>
            <a:bodyPr/>
            <a:lstStyle/>
            <a:p>
              <a:pPr defTabSz="685800"/>
              <a:endParaRPr lang="zh-CN" altLang="en-US" sz="1350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519" name="R2-m1t">
              <a:extLst>
                <a:ext uri="{FF2B5EF4-FFF2-40B4-BE49-F238E27FC236}">
                  <a16:creationId xmlns:a16="http://schemas.microsoft.com/office/drawing/2014/main" id="{DF636858-6906-5022-9DC3-17E10FAF5A77}"/>
                </a:ext>
              </a:extLst>
            </p:cNvPr>
            <p:cNvSpPr txBox="1"/>
            <p:nvPr/>
          </p:nvSpPr>
          <p:spPr>
            <a:xfrm>
              <a:off x="5428885" y="3271975"/>
              <a:ext cx="125617" cy="1256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/>
            <a:lstStyle/>
            <a:p>
              <a:pPr algn="ctr" defTabSz="685800">
                <a:lnSpc>
                  <a:spcPct val="120000"/>
                </a:lnSpc>
              </a:pPr>
              <a:r>
                <a:rPr lang="en-US" sz="675" b="1" noProof="1">
                  <a:solidFill>
                    <a:srgbClr val="11702F"/>
                  </a:solidFill>
                  <a:latin typeface="+mn-ea"/>
                  <a:cs typeface="MiSans"/>
                </a:rPr>
                <a:t>×</a:t>
              </a:r>
              <a:endParaRPr lang="en-US" sz="675" noProof="1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521" name="R2-ic2">
              <a:extLst>
                <a:ext uri="{FF2B5EF4-FFF2-40B4-BE49-F238E27FC236}">
                  <a16:creationId xmlns:a16="http://schemas.microsoft.com/office/drawing/2014/main" id="{2AEC4A7B-7639-FB5B-DBEC-B78D1DC4EB46}"/>
                </a:ext>
              </a:extLst>
            </p:cNvPr>
            <p:cNvSpPr/>
            <p:nvPr>
              <p:extLst>
                <p:ext uri="{F5677B7D-0D2A-4D9B-9A5C-6D8D7D0E5A5D}">
  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eyJpY29uTmFtZSI6ImZhczpjbG91ZCJ9</pptd:icon>
                </p:ext>
              </p:extLst>
            </p:nvPr>
          </p:nvSpPr>
          <p:spPr>
            <a:xfrm>
              <a:off x="5913406" y="3245057"/>
              <a:ext cx="233288" cy="179452"/>
            </a:xfrm>
            <a:custGeom>
              <a:avLst/>
              <a:gdLst/>
              <a:ahLst/>
              <a:cxnLst/>
              <a:rect l="l" t="t" r="r" b="b"/>
              <a:pathLst>
                <a:path w="576" h="512">
                  <a:moveTo>
                    <a:pt x="0" y="336"/>
                  </a:moveTo>
                  <a:cubicBezTo>
                    <a:pt x="0" y="416"/>
                    <a:pt x="65" y="480"/>
                    <a:pt x="144" y="480"/>
                  </a:cubicBezTo>
                  <a:lnTo>
                    <a:pt x="448" y="480"/>
                  </a:lnTo>
                  <a:cubicBezTo>
                    <a:pt x="519" y="480"/>
                    <a:pt x="576" y="423"/>
                    <a:pt x="576" y="352"/>
                  </a:cubicBezTo>
                  <a:cubicBezTo>
                    <a:pt x="576" y="300"/>
                    <a:pt x="546" y="256"/>
                    <a:pt x="502" y="236"/>
                  </a:cubicBezTo>
                  <a:cubicBezTo>
                    <a:pt x="508" y="223"/>
                    <a:pt x="512" y="208"/>
                    <a:pt x="512" y="192"/>
                  </a:cubicBezTo>
                  <a:cubicBezTo>
                    <a:pt x="512" y="139"/>
                    <a:pt x="469" y="96"/>
                    <a:pt x="416" y="96"/>
                  </a:cubicBezTo>
                  <a:cubicBezTo>
                    <a:pt x="398" y="96"/>
                    <a:pt x="382" y="101"/>
                    <a:pt x="368" y="109"/>
                  </a:cubicBezTo>
                  <a:cubicBezTo>
                    <a:pt x="344" y="63"/>
                    <a:pt x="295" y="32"/>
                    <a:pt x="240" y="32"/>
                  </a:cubicBezTo>
                  <a:cubicBezTo>
                    <a:pt x="161" y="32"/>
                    <a:pt x="96" y="97"/>
                    <a:pt x="96" y="176"/>
                  </a:cubicBezTo>
                  <a:cubicBezTo>
                    <a:pt x="96" y="184"/>
                    <a:pt x="97" y="192"/>
                    <a:pt x="98" y="200"/>
                  </a:cubicBezTo>
                  <a:cubicBezTo>
                    <a:pt x="41" y="219"/>
                    <a:pt x="0" y="273"/>
                    <a:pt x="0" y="336"/>
                  </a:cubicBezTo>
                  <a:close/>
                </a:path>
              </a:pathLst>
            </a:custGeom>
            <a:solidFill>
              <a:srgbClr val="117335"/>
            </a:solidFill>
            <a:ln>
              <a:noFill/>
            </a:ln>
          </p:spPr>
          <p:txBody>
            <a:bodyPr/>
            <a:lstStyle/>
            <a:p>
              <a:pPr defTabSz="685800"/>
              <a:endParaRPr lang="zh-CN" altLang="en-US" sz="1350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523" name="R2-l2">
              <a:extLst>
                <a:ext uri="{FF2B5EF4-FFF2-40B4-BE49-F238E27FC236}">
                  <a16:creationId xmlns:a16="http://schemas.microsoft.com/office/drawing/2014/main" id="{2DDE6D4C-24BE-E58D-1F08-789DFA7C2616}"/>
                </a:ext>
              </a:extLst>
            </p:cNvPr>
            <p:cNvSpPr txBox="1"/>
            <p:nvPr/>
          </p:nvSpPr>
          <p:spPr>
            <a:xfrm>
              <a:off x="5689090" y="3460400"/>
              <a:ext cx="897261" cy="1076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/>
            <a:lstStyle/>
            <a:p>
              <a:pPr algn="ctr" defTabSz="685800">
                <a:lnSpc>
                  <a:spcPct val="120000"/>
                </a:lnSpc>
              </a:pPr>
              <a:r>
                <a:rPr lang="en-US" sz="638" noProof="1">
                  <a:solidFill>
                    <a:srgbClr val="4A4E63"/>
                  </a:solidFill>
                  <a:latin typeface="+mn-ea"/>
                  <a:cs typeface="MiSans"/>
                </a:rPr>
                <a:t>¥0.33万 / 月 / 系统</a:t>
              </a:r>
              <a:endParaRPr lang="en-US" sz="638" noProof="1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525" name="R2-m2">
              <a:extLst>
                <a:ext uri="{FF2B5EF4-FFF2-40B4-BE49-F238E27FC236}">
                  <a16:creationId xmlns:a16="http://schemas.microsoft.com/office/drawing/2014/main" id="{A4823FFA-D13F-EDDF-B869-6661579023D8}"/>
                </a:ext>
              </a:extLst>
            </p:cNvPr>
            <p:cNvSpPr/>
            <p:nvPr/>
          </p:nvSpPr>
          <p:spPr>
            <a:xfrm>
              <a:off x="6586352" y="3271975"/>
              <a:ext cx="125617" cy="125617"/>
            </a:xfrm>
            <a:prstGeom prst="ellipse">
              <a:avLst/>
            </a:prstGeom>
            <a:solidFill>
              <a:srgbClr val="E9F3EC"/>
            </a:solidFill>
            <a:ln>
              <a:noFill/>
            </a:ln>
          </p:spPr>
          <p:txBody>
            <a:bodyPr/>
            <a:lstStyle/>
            <a:p>
              <a:pPr defTabSz="685800"/>
              <a:endParaRPr lang="zh-CN" altLang="en-US" sz="1350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527" name="R2-m2t">
              <a:extLst>
                <a:ext uri="{FF2B5EF4-FFF2-40B4-BE49-F238E27FC236}">
                  <a16:creationId xmlns:a16="http://schemas.microsoft.com/office/drawing/2014/main" id="{02AD2D37-02E3-5099-5698-C84A261741B0}"/>
                </a:ext>
              </a:extLst>
            </p:cNvPr>
            <p:cNvSpPr txBox="1"/>
            <p:nvPr/>
          </p:nvSpPr>
          <p:spPr>
            <a:xfrm>
              <a:off x="6586352" y="3271975"/>
              <a:ext cx="125617" cy="1256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/>
            <a:lstStyle/>
            <a:p>
              <a:pPr algn="ctr" defTabSz="685800">
                <a:lnSpc>
                  <a:spcPct val="120000"/>
                </a:lnSpc>
              </a:pPr>
              <a:r>
                <a:rPr lang="en-US" sz="675" b="1" noProof="1">
                  <a:solidFill>
                    <a:srgbClr val="11702F"/>
                  </a:solidFill>
                  <a:latin typeface="+mn-ea"/>
                  <a:cs typeface="MiSans"/>
                </a:rPr>
                <a:t>×</a:t>
              </a:r>
              <a:endParaRPr lang="en-US" sz="675" noProof="1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529" name="R2-ic3">
              <a:extLst>
                <a:ext uri="{FF2B5EF4-FFF2-40B4-BE49-F238E27FC236}">
                  <a16:creationId xmlns:a16="http://schemas.microsoft.com/office/drawing/2014/main" id="{CE454C7E-6D81-9B6C-36B4-D02BCD521630}"/>
                </a:ext>
              </a:extLst>
            </p:cNvPr>
            <p:cNvSpPr/>
            <p:nvPr>
              <p:extLst>
                <p:ext uri="{F5677B7D-0D2A-4D9B-9A5C-6D8D7D0E5A5D}">
  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eyJpY29uTmFtZSI6ImZhczpjYWxlbmRhci1kYXlzIn0</pptd:icon>
                </p:ext>
              </p:extLst>
            </p:nvPr>
          </p:nvSpPr>
          <p:spPr>
            <a:xfrm>
              <a:off x="6909366" y="3236085"/>
              <a:ext cx="215343" cy="188425"/>
            </a:xfrm>
            <a:custGeom>
              <a:avLst/>
              <a:gdLst/>
              <a:ahLst/>
              <a:cxnLst/>
              <a:rect l="l" t="t" r="r" b="b"/>
              <a:pathLst>
                <a:path w="448" h="512">
                  <a:moveTo>
                    <a:pt x="128" y="0"/>
                  </a:moveTo>
                  <a:cubicBezTo>
                    <a:pt x="146" y="0"/>
                    <a:pt x="160" y="14"/>
                    <a:pt x="160" y="32"/>
                  </a:cubicBezTo>
                  <a:lnTo>
                    <a:pt x="160" y="64"/>
                  </a:lnTo>
                  <a:lnTo>
                    <a:pt x="288" y="64"/>
                  </a:lnTo>
                  <a:lnTo>
                    <a:pt x="288" y="32"/>
                  </a:lnTo>
                  <a:cubicBezTo>
                    <a:pt x="288" y="14"/>
                    <a:pt x="302" y="0"/>
                    <a:pt x="320" y="0"/>
                  </a:cubicBezTo>
                  <a:cubicBezTo>
                    <a:pt x="338" y="0"/>
                    <a:pt x="352" y="14"/>
                    <a:pt x="352" y="32"/>
                  </a:cubicBezTo>
                  <a:lnTo>
                    <a:pt x="352" y="64"/>
                  </a:lnTo>
                  <a:lnTo>
                    <a:pt x="384" y="64"/>
                  </a:lnTo>
                  <a:cubicBezTo>
                    <a:pt x="419" y="64"/>
                    <a:pt x="448" y="93"/>
                    <a:pt x="448" y="128"/>
                  </a:cubicBezTo>
                  <a:lnTo>
                    <a:pt x="448" y="416"/>
                  </a:lnTo>
                  <a:cubicBezTo>
                    <a:pt x="448" y="451"/>
                    <a:pt x="419" y="480"/>
                    <a:pt x="384" y="480"/>
                  </a:cubicBezTo>
                  <a:lnTo>
                    <a:pt x="64" y="480"/>
                  </a:lnTo>
                  <a:cubicBezTo>
                    <a:pt x="29" y="480"/>
                    <a:pt x="0" y="451"/>
                    <a:pt x="0" y="416"/>
                  </a:cubicBezTo>
                  <a:lnTo>
                    <a:pt x="0" y="128"/>
                  </a:lnTo>
                  <a:cubicBezTo>
                    <a:pt x="0" y="93"/>
                    <a:pt x="29" y="64"/>
                    <a:pt x="64" y="64"/>
                  </a:cubicBezTo>
                  <a:lnTo>
                    <a:pt x="96" y="64"/>
                  </a:lnTo>
                  <a:lnTo>
                    <a:pt x="96" y="32"/>
                  </a:lnTo>
                  <a:cubicBezTo>
                    <a:pt x="96" y="14"/>
                    <a:pt x="110" y="0"/>
                    <a:pt x="128" y="0"/>
                  </a:cubicBezTo>
                  <a:close/>
                  <a:moveTo>
                    <a:pt x="64" y="240"/>
                  </a:moveTo>
                  <a:lnTo>
                    <a:pt x="64" y="272"/>
                  </a:lnTo>
                  <a:cubicBezTo>
                    <a:pt x="64" y="281"/>
                    <a:pt x="71" y="288"/>
                    <a:pt x="80" y="288"/>
                  </a:cubicBezTo>
                  <a:lnTo>
                    <a:pt x="112" y="288"/>
                  </a:lnTo>
                  <a:cubicBezTo>
                    <a:pt x="121" y="288"/>
                    <a:pt x="128" y="281"/>
                    <a:pt x="128" y="272"/>
                  </a:cubicBezTo>
                  <a:lnTo>
                    <a:pt x="128" y="240"/>
                  </a:lnTo>
                  <a:cubicBezTo>
                    <a:pt x="128" y="231"/>
                    <a:pt x="121" y="224"/>
                    <a:pt x="112" y="224"/>
                  </a:cubicBezTo>
                  <a:lnTo>
                    <a:pt x="80" y="224"/>
                  </a:lnTo>
                  <a:cubicBezTo>
                    <a:pt x="71" y="224"/>
                    <a:pt x="64" y="231"/>
                    <a:pt x="64" y="240"/>
                  </a:cubicBezTo>
                  <a:close/>
                  <a:moveTo>
                    <a:pt x="192" y="240"/>
                  </a:moveTo>
                  <a:lnTo>
                    <a:pt x="192" y="272"/>
                  </a:lnTo>
                  <a:cubicBezTo>
                    <a:pt x="192" y="281"/>
                    <a:pt x="199" y="288"/>
                    <a:pt x="208" y="288"/>
                  </a:cubicBezTo>
                  <a:lnTo>
                    <a:pt x="240" y="288"/>
                  </a:lnTo>
                  <a:cubicBezTo>
                    <a:pt x="249" y="288"/>
                    <a:pt x="256" y="281"/>
                    <a:pt x="256" y="272"/>
                  </a:cubicBezTo>
                  <a:lnTo>
                    <a:pt x="256" y="240"/>
                  </a:lnTo>
                  <a:cubicBezTo>
                    <a:pt x="256" y="231"/>
                    <a:pt x="249" y="224"/>
                    <a:pt x="240" y="224"/>
                  </a:cubicBezTo>
                  <a:lnTo>
                    <a:pt x="208" y="224"/>
                  </a:lnTo>
                  <a:cubicBezTo>
                    <a:pt x="199" y="224"/>
                    <a:pt x="192" y="231"/>
                    <a:pt x="192" y="240"/>
                  </a:cubicBezTo>
                  <a:close/>
                  <a:moveTo>
                    <a:pt x="336" y="224"/>
                  </a:moveTo>
                  <a:cubicBezTo>
                    <a:pt x="327" y="224"/>
                    <a:pt x="320" y="231"/>
                    <a:pt x="320" y="240"/>
                  </a:cubicBezTo>
                  <a:lnTo>
                    <a:pt x="320" y="272"/>
                  </a:lnTo>
                  <a:cubicBezTo>
                    <a:pt x="320" y="281"/>
                    <a:pt x="327" y="288"/>
                    <a:pt x="336" y="288"/>
                  </a:cubicBezTo>
                  <a:lnTo>
                    <a:pt x="368" y="288"/>
                  </a:lnTo>
                  <a:cubicBezTo>
                    <a:pt x="377" y="288"/>
                    <a:pt x="384" y="281"/>
                    <a:pt x="384" y="272"/>
                  </a:cubicBezTo>
                  <a:lnTo>
                    <a:pt x="384" y="240"/>
                  </a:lnTo>
                  <a:cubicBezTo>
                    <a:pt x="384" y="231"/>
                    <a:pt x="377" y="224"/>
                    <a:pt x="368" y="224"/>
                  </a:cubicBezTo>
                  <a:lnTo>
                    <a:pt x="336" y="224"/>
                  </a:lnTo>
                  <a:close/>
                  <a:moveTo>
                    <a:pt x="64" y="368"/>
                  </a:moveTo>
                  <a:lnTo>
                    <a:pt x="64" y="400"/>
                  </a:lnTo>
                  <a:cubicBezTo>
                    <a:pt x="64" y="409"/>
                    <a:pt x="71" y="416"/>
                    <a:pt x="80" y="416"/>
                  </a:cubicBezTo>
                  <a:lnTo>
                    <a:pt x="112" y="416"/>
                  </a:lnTo>
                  <a:cubicBezTo>
                    <a:pt x="121" y="416"/>
                    <a:pt x="128" y="409"/>
                    <a:pt x="128" y="400"/>
                  </a:cubicBezTo>
                  <a:lnTo>
                    <a:pt x="128" y="368"/>
                  </a:lnTo>
                  <a:cubicBezTo>
                    <a:pt x="128" y="359"/>
                    <a:pt x="121" y="352"/>
                    <a:pt x="112" y="352"/>
                  </a:cubicBezTo>
                  <a:lnTo>
                    <a:pt x="80" y="352"/>
                  </a:lnTo>
                  <a:cubicBezTo>
                    <a:pt x="71" y="352"/>
                    <a:pt x="64" y="359"/>
                    <a:pt x="64" y="368"/>
                  </a:cubicBezTo>
                  <a:close/>
                  <a:moveTo>
                    <a:pt x="208" y="352"/>
                  </a:moveTo>
                  <a:cubicBezTo>
                    <a:pt x="199" y="352"/>
                    <a:pt x="192" y="359"/>
                    <a:pt x="192" y="368"/>
                  </a:cubicBezTo>
                  <a:lnTo>
                    <a:pt x="192" y="400"/>
                  </a:lnTo>
                  <a:cubicBezTo>
                    <a:pt x="192" y="409"/>
                    <a:pt x="199" y="416"/>
                    <a:pt x="208" y="416"/>
                  </a:cubicBezTo>
                  <a:lnTo>
                    <a:pt x="240" y="416"/>
                  </a:lnTo>
                  <a:cubicBezTo>
                    <a:pt x="249" y="416"/>
                    <a:pt x="256" y="409"/>
                    <a:pt x="256" y="400"/>
                  </a:cubicBezTo>
                  <a:lnTo>
                    <a:pt x="256" y="368"/>
                  </a:lnTo>
                  <a:cubicBezTo>
                    <a:pt x="256" y="359"/>
                    <a:pt x="249" y="352"/>
                    <a:pt x="240" y="352"/>
                  </a:cubicBezTo>
                  <a:lnTo>
                    <a:pt x="208" y="352"/>
                  </a:lnTo>
                  <a:close/>
                  <a:moveTo>
                    <a:pt x="320" y="368"/>
                  </a:moveTo>
                  <a:lnTo>
                    <a:pt x="320" y="400"/>
                  </a:lnTo>
                  <a:cubicBezTo>
                    <a:pt x="320" y="409"/>
                    <a:pt x="327" y="416"/>
                    <a:pt x="336" y="416"/>
                  </a:cubicBezTo>
                  <a:lnTo>
                    <a:pt x="368" y="416"/>
                  </a:lnTo>
                  <a:cubicBezTo>
                    <a:pt x="377" y="416"/>
                    <a:pt x="384" y="409"/>
                    <a:pt x="384" y="400"/>
                  </a:cubicBezTo>
                  <a:lnTo>
                    <a:pt x="384" y="368"/>
                  </a:lnTo>
                  <a:cubicBezTo>
                    <a:pt x="384" y="359"/>
                    <a:pt x="377" y="352"/>
                    <a:pt x="368" y="352"/>
                  </a:cubicBezTo>
                  <a:lnTo>
                    <a:pt x="336" y="352"/>
                  </a:lnTo>
                  <a:cubicBezTo>
                    <a:pt x="327" y="352"/>
                    <a:pt x="320" y="359"/>
                    <a:pt x="320" y="368"/>
                  </a:cubicBezTo>
                  <a:close/>
                </a:path>
              </a:pathLst>
            </a:custGeom>
            <a:solidFill>
              <a:srgbClr val="117335"/>
            </a:solidFill>
            <a:ln>
              <a:noFill/>
            </a:ln>
          </p:spPr>
          <p:txBody>
            <a:bodyPr/>
            <a:lstStyle/>
            <a:p>
              <a:pPr defTabSz="685800"/>
              <a:endParaRPr lang="zh-CN" altLang="en-US" sz="1350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531" name="R2-l3">
              <a:extLst>
                <a:ext uri="{FF2B5EF4-FFF2-40B4-BE49-F238E27FC236}">
                  <a16:creationId xmlns:a16="http://schemas.microsoft.com/office/drawing/2014/main" id="{03F3BF67-3885-0934-9001-AF7E539617AF}"/>
                </a:ext>
              </a:extLst>
            </p:cNvPr>
            <p:cNvSpPr txBox="1"/>
            <p:nvPr/>
          </p:nvSpPr>
          <p:spPr>
            <a:xfrm>
              <a:off x="6801694" y="3460400"/>
              <a:ext cx="448631" cy="1076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/>
            <a:lstStyle/>
            <a:p>
              <a:pPr algn="ctr" defTabSz="685800">
                <a:lnSpc>
                  <a:spcPct val="120000"/>
                </a:lnSpc>
              </a:pPr>
              <a:r>
                <a:rPr lang="en-US" sz="638" noProof="1">
                  <a:solidFill>
                    <a:srgbClr val="4A4E63"/>
                  </a:solidFill>
                  <a:latin typeface="+mn-ea"/>
                  <a:cs typeface="MiSans"/>
                </a:rPr>
                <a:t>12 个月</a:t>
              </a:r>
              <a:endParaRPr lang="en-US" sz="638" noProof="1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533" name="R2-eq">
              <a:extLst>
                <a:ext uri="{FF2B5EF4-FFF2-40B4-BE49-F238E27FC236}">
                  <a16:creationId xmlns:a16="http://schemas.microsoft.com/office/drawing/2014/main" id="{E88C79DF-B08D-1065-CE5D-2F1AB184FF24}"/>
                </a:ext>
              </a:extLst>
            </p:cNvPr>
            <p:cNvSpPr/>
            <p:nvPr/>
          </p:nvSpPr>
          <p:spPr>
            <a:xfrm>
              <a:off x="7402859" y="3271975"/>
              <a:ext cx="125617" cy="125617"/>
            </a:xfrm>
            <a:prstGeom prst="ellipse">
              <a:avLst/>
            </a:prstGeom>
            <a:solidFill>
              <a:srgbClr val="E9F3EC"/>
            </a:solidFill>
            <a:ln>
              <a:noFill/>
            </a:ln>
          </p:spPr>
          <p:txBody>
            <a:bodyPr/>
            <a:lstStyle/>
            <a:p>
              <a:pPr defTabSz="685800"/>
              <a:endParaRPr lang="zh-CN" altLang="en-US" sz="1350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535" name="R2-eqt">
              <a:extLst>
                <a:ext uri="{FF2B5EF4-FFF2-40B4-BE49-F238E27FC236}">
                  <a16:creationId xmlns:a16="http://schemas.microsoft.com/office/drawing/2014/main" id="{7738F87F-4092-5838-7113-2DD27022C14C}"/>
                </a:ext>
              </a:extLst>
            </p:cNvPr>
            <p:cNvSpPr txBox="1"/>
            <p:nvPr/>
          </p:nvSpPr>
          <p:spPr>
            <a:xfrm>
              <a:off x="7402859" y="3271975"/>
              <a:ext cx="125617" cy="1256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/>
            <a:lstStyle/>
            <a:p>
              <a:pPr algn="ctr" defTabSz="685800">
                <a:lnSpc>
                  <a:spcPct val="120000"/>
                </a:lnSpc>
              </a:pPr>
              <a:r>
                <a:rPr lang="en-US" sz="675" b="1" noProof="1">
                  <a:solidFill>
                    <a:srgbClr val="11702F"/>
                  </a:solidFill>
                  <a:latin typeface="+mn-ea"/>
                  <a:cs typeface="MiSans"/>
                </a:rPr>
                <a:t>=</a:t>
              </a:r>
              <a:endParaRPr lang="en-US" sz="675" noProof="1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537" name="R2-rp">
              <a:extLst>
                <a:ext uri="{FF2B5EF4-FFF2-40B4-BE49-F238E27FC236}">
                  <a16:creationId xmlns:a16="http://schemas.microsoft.com/office/drawing/2014/main" id="{DBCD022B-C615-43CA-06BF-2122D2BBDDD9}"/>
                </a:ext>
              </a:extLst>
            </p:cNvPr>
            <p:cNvSpPr txBox="1"/>
            <p:nvPr/>
          </p:nvSpPr>
          <p:spPr>
            <a:xfrm>
              <a:off x="7591284" y="3227112"/>
              <a:ext cx="897261" cy="2332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/>
            <a:lstStyle/>
            <a:p>
              <a:pPr algn="ctr" defTabSz="685800">
                <a:lnSpc>
                  <a:spcPct val="120000"/>
                </a:lnSpc>
              </a:pPr>
              <a:r>
                <a:rPr lang="en-US" sz="938" b="1" noProof="1">
                  <a:solidFill>
                    <a:srgbClr val="11702F"/>
                  </a:solidFill>
                  <a:latin typeface="+mn-ea"/>
                  <a:cs typeface="MiSans"/>
                </a:rPr>
                <a:t>¥39.6 万 / 年</a:t>
              </a:r>
              <a:endParaRPr lang="en-US" sz="938" noProof="1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539" name="R2-note">
              <a:extLst>
                <a:ext uri="{FF2B5EF4-FFF2-40B4-BE49-F238E27FC236}">
                  <a16:creationId xmlns:a16="http://schemas.microsoft.com/office/drawing/2014/main" id="{25217FAF-2A31-5468-29F2-A475E225AED5}"/>
                </a:ext>
              </a:extLst>
            </p:cNvPr>
            <p:cNvSpPr txBox="1"/>
            <p:nvPr/>
          </p:nvSpPr>
          <p:spPr>
            <a:xfrm>
              <a:off x="4737993" y="3684715"/>
              <a:ext cx="3804388" cy="1166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/>
            <a:lstStyle/>
            <a:p>
              <a:pPr algn="ctr" defTabSz="685800">
                <a:lnSpc>
                  <a:spcPct val="120000"/>
                </a:lnSpc>
              </a:pPr>
              <a:r>
                <a:rPr lang="en-US" sz="600" noProof="1">
                  <a:solidFill>
                    <a:srgbClr val="4B608A"/>
                  </a:solidFill>
                  <a:latin typeface="+mn-ea"/>
                  <a:cs typeface="MiSans"/>
                </a:rPr>
                <a:t>基于假设：每个系统产生的增量云资源平均 ¥0.33万 / 月</a:t>
              </a:r>
              <a:endParaRPr lang="en-US" sz="600" noProof="1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541" name="totR">
              <a:extLst>
                <a:ext uri="{FF2B5EF4-FFF2-40B4-BE49-F238E27FC236}">
                  <a16:creationId xmlns:a16="http://schemas.microsoft.com/office/drawing/2014/main" id="{75C64DF4-1963-A02C-1CE1-7652348B0521}"/>
                </a:ext>
              </a:extLst>
            </p:cNvPr>
            <p:cNvSpPr/>
            <p:nvPr/>
          </p:nvSpPr>
          <p:spPr>
            <a:xfrm>
              <a:off x="4746966" y="3971839"/>
              <a:ext cx="3840278" cy="278151"/>
            </a:xfrm>
            <a:prstGeom prst="roundRect">
              <a:avLst>
                <a:gd name="adj" fmla="val 20000"/>
              </a:avLst>
            </a:prstGeom>
            <a:solidFill>
              <a:srgbClr val="036B2A"/>
            </a:solidFill>
            <a:ln>
              <a:noFill/>
            </a:ln>
          </p:spPr>
          <p:txBody>
            <a:bodyPr/>
            <a:lstStyle/>
            <a:p>
              <a:pPr defTabSz="685800"/>
              <a:endParaRPr lang="zh-CN" altLang="en-US" sz="1350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543" name="totR-ic">
              <a:extLst>
                <a:ext uri="{FF2B5EF4-FFF2-40B4-BE49-F238E27FC236}">
                  <a16:creationId xmlns:a16="http://schemas.microsoft.com/office/drawing/2014/main" id="{3709F292-177E-43F7-0675-2B0080B7E463}"/>
                </a:ext>
              </a:extLst>
            </p:cNvPr>
            <p:cNvSpPr/>
            <p:nvPr>
              <p:extLst>
                <p:ext uri="{F5677B7D-0D2A-4D9B-9A5C-6D8D7D0E5A5D}">
  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eyJpY29uTmFtZSI6ImZhczpjb2lucyJ9</pptd:icon>
                </p:ext>
              </p:extLst>
            </p:nvPr>
          </p:nvSpPr>
          <p:spPr>
            <a:xfrm>
              <a:off x="4908473" y="4043619"/>
              <a:ext cx="197397" cy="143562"/>
            </a:xfrm>
            <a:custGeom>
              <a:avLst/>
              <a:gdLst/>
              <a:ahLst/>
              <a:cxnLst/>
              <a:rect l="l" t="t" r="r" b="b"/>
              <a:pathLst>
                <a:path w="512" h="512">
                  <a:moveTo>
                    <a:pt x="128" y="96"/>
                  </a:moveTo>
                  <a:lnTo>
                    <a:pt x="128" y="80"/>
                  </a:lnTo>
                  <a:cubicBezTo>
                    <a:pt x="128" y="36"/>
                    <a:pt x="214" y="0"/>
                    <a:pt x="320" y="0"/>
                  </a:cubicBezTo>
                  <a:cubicBezTo>
                    <a:pt x="426" y="0"/>
                    <a:pt x="512" y="36"/>
                    <a:pt x="512" y="80"/>
                  </a:cubicBezTo>
                  <a:lnTo>
                    <a:pt x="512" y="96"/>
                  </a:lnTo>
                  <a:cubicBezTo>
                    <a:pt x="512" y="127"/>
                    <a:pt x="471" y="153"/>
                    <a:pt x="410" y="167"/>
                  </a:cubicBezTo>
                  <a:cubicBezTo>
                    <a:pt x="408" y="164"/>
                    <a:pt x="405" y="161"/>
                    <a:pt x="403" y="159"/>
                  </a:cubicBezTo>
                  <a:cubicBezTo>
                    <a:pt x="387" y="143"/>
                    <a:pt x="367" y="132"/>
                    <a:pt x="346" y="123"/>
                  </a:cubicBezTo>
                  <a:cubicBezTo>
                    <a:pt x="304" y="106"/>
                    <a:pt x="250" y="96"/>
                    <a:pt x="192" y="96"/>
                  </a:cubicBezTo>
                  <a:cubicBezTo>
                    <a:pt x="170" y="96"/>
                    <a:pt x="149" y="98"/>
                    <a:pt x="128" y="100"/>
                  </a:cubicBezTo>
                  <a:cubicBezTo>
                    <a:pt x="128" y="99"/>
                    <a:pt x="128" y="97"/>
                    <a:pt x="128" y="96"/>
                  </a:cubicBezTo>
                  <a:close/>
                </a:path>
                <a:path w="512" h="512">
                  <a:moveTo>
                    <a:pt x="432" y="353"/>
                  </a:moveTo>
                  <a:lnTo>
                    <a:pt x="432" y="307"/>
                  </a:lnTo>
                  <a:cubicBezTo>
                    <a:pt x="447" y="303"/>
                    <a:pt x="461" y="298"/>
                    <a:pt x="474" y="293"/>
                  </a:cubicBezTo>
                  <a:cubicBezTo>
                    <a:pt x="487" y="287"/>
                    <a:pt x="500" y="281"/>
                    <a:pt x="512" y="273"/>
                  </a:cubicBezTo>
                  <a:lnTo>
                    <a:pt x="512" y="288"/>
                  </a:lnTo>
                  <a:cubicBezTo>
                    <a:pt x="512" y="315"/>
                    <a:pt x="481" y="339"/>
                    <a:pt x="432" y="353"/>
                  </a:cubicBezTo>
                  <a:close/>
                </a:path>
                <a:path w="512" h="512">
                  <a:moveTo>
                    <a:pt x="432" y="257"/>
                  </a:moveTo>
                  <a:lnTo>
                    <a:pt x="432" y="224"/>
                  </a:lnTo>
                  <a:cubicBezTo>
                    <a:pt x="432" y="220"/>
                    <a:pt x="432" y="215"/>
                    <a:pt x="431" y="211"/>
                  </a:cubicBezTo>
                  <a:cubicBezTo>
                    <a:pt x="447" y="207"/>
                    <a:pt x="461" y="202"/>
                    <a:pt x="474" y="197"/>
                  </a:cubicBezTo>
                  <a:cubicBezTo>
                    <a:pt x="487" y="191"/>
                    <a:pt x="500" y="185"/>
                    <a:pt x="512" y="177"/>
                  </a:cubicBezTo>
                  <a:lnTo>
                    <a:pt x="512" y="192"/>
                  </a:lnTo>
                  <a:cubicBezTo>
                    <a:pt x="512" y="219"/>
                    <a:pt x="481" y="242"/>
                    <a:pt x="432" y="257"/>
                  </a:cubicBezTo>
                  <a:close/>
                </a:path>
                <a:path w="512" h="512">
                  <a:moveTo>
                    <a:pt x="0" y="240"/>
                  </a:moveTo>
                  <a:lnTo>
                    <a:pt x="0" y="224"/>
                  </a:lnTo>
                  <a:cubicBezTo>
                    <a:pt x="0" y="180"/>
                    <a:pt x="86" y="144"/>
                    <a:pt x="192" y="144"/>
                  </a:cubicBezTo>
                  <a:cubicBezTo>
                    <a:pt x="298" y="144"/>
                    <a:pt x="384" y="180"/>
                    <a:pt x="384" y="224"/>
                  </a:cubicBezTo>
                  <a:lnTo>
                    <a:pt x="384" y="240"/>
                  </a:lnTo>
                  <a:cubicBezTo>
                    <a:pt x="384" y="284"/>
                    <a:pt x="298" y="320"/>
                    <a:pt x="192" y="320"/>
                  </a:cubicBezTo>
                  <a:cubicBezTo>
                    <a:pt x="86" y="320"/>
                    <a:pt x="0" y="284"/>
                    <a:pt x="0" y="240"/>
                  </a:cubicBezTo>
                  <a:close/>
                </a:path>
                <a:path w="512" h="512">
                  <a:moveTo>
                    <a:pt x="384" y="336"/>
                  </a:moveTo>
                  <a:cubicBezTo>
                    <a:pt x="384" y="380"/>
                    <a:pt x="298" y="416"/>
                    <a:pt x="192" y="416"/>
                  </a:cubicBezTo>
                  <a:cubicBezTo>
                    <a:pt x="86" y="416"/>
                    <a:pt x="0" y="380"/>
                    <a:pt x="0" y="336"/>
                  </a:cubicBezTo>
                  <a:lnTo>
                    <a:pt x="0" y="321"/>
                  </a:lnTo>
                  <a:cubicBezTo>
                    <a:pt x="12" y="329"/>
                    <a:pt x="25" y="335"/>
                    <a:pt x="38" y="341"/>
                  </a:cubicBezTo>
                  <a:cubicBezTo>
                    <a:pt x="80" y="358"/>
                    <a:pt x="134" y="368"/>
                    <a:pt x="192" y="368"/>
                  </a:cubicBezTo>
                  <a:cubicBezTo>
                    <a:pt x="250" y="368"/>
                    <a:pt x="304" y="358"/>
                    <a:pt x="346" y="341"/>
                  </a:cubicBezTo>
                  <a:cubicBezTo>
                    <a:pt x="359" y="335"/>
                    <a:pt x="372" y="329"/>
                    <a:pt x="384" y="321"/>
                  </a:cubicBezTo>
                  <a:lnTo>
                    <a:pt x="384" y="336"/>
                  </a:lnTo>
                  <a:close/>
                </a:path>
                <a:path w="512" h="512">
                  <a:moveTo>
                    <a:pt x="384" y="417"/>
                  </a:moveTo>
                  <a:lnTo>
                    <a:pt x="384" y="432"/>
                  </a:lnTo>
                  <a:cubicBezTo>
                    <a:pt x="384" y="476"/>
                    <a:pt x="298" y="512"/>
                    <a:pt x="192" y="512"/>
                  </a:cubicBezTo>
                  <a:cubicBezTo>
                    <a:pt x="86" y="512"/>
                    <a:pt x="0" y="476"/>
                    <a:pt x="0" y="432"/>
                  </a:cubicBezTo>
                  <a:lnTo>
                    <a:pt x="0" y="417"/>
                  </a:lnTo>
                  <a:cubicBezTo>
                    <a:pt x="12" y="425"/>
                    <a:pt x="25" y="431"/>
                    <a:pt x="38" y="437"/>
                  </a:cubicBezTo>
                  <a:cubicBezTo>
                    <a:pt x="80" y="454"/>
                    <a:pt x="134" y="464"/>
                    <a:pt x="192" y="464"/>
                  </a:cubicBezTo>
                  <a:cubicBezTo>
                    <a:pt x="250" y="464"/>
                    <a:pt x="304" y="454"/>
                    <a:pt x="346" y="437"/>
                  </a:cubicBezTo>
                  <a:cubicBezTo>
                    <a:pt x="359" y="431"/>
                    <a:pt x="372" y="425"/>
                    <a:pt x="384" y="4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pPr defTabSz="685800"/>
              <a:endParaRPr lang="zh-CN" altLang="en-US" sz="1350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545" name="totR-t">
              <a:extLst>
                <a:ext uri="{FF2B5EF4-FFF2-40B4-BE49-F238E27FC236}">
                  <a16:creationId xmlns:a16="http://schemas.microsoft.com/office/drawing/2014/main" id="{F9E214FD-9EE0-18F2-CA60-809865CA4ACC}"/>
                </a:ext>
              </a:extLst>
            </p:cNvPr>
            <p:cNvSpPr txBox="1"/>
            <p:nvPr/>
          </p:nvSpPr>
          <p:spPr>
            <a:xfrm>
              <a:off x="5285323" y="4043619"/>
              <a:ext cx="1794523" cy="1345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/>
            <a:lstStyle/>
            <a:p>
              <a:pPr algn="ctr" defTabSz="685800">
                <a:lnSpc>
                  <a:spcPct val="120000"/>
                </a:lnSpc>
              </a:pPr>
              <a:r>
                <a:rPr lang="en-US" sz="788" b="1" noProof="1">
                  <a:solidFill>
                    <a:srgbClr val="FFFFFF"/>
                  </a:solidFill>
                  <a:latin typeface="+mn-ea"/>
                  <a:cs typeface="MiSans"/>
                </a:rPr>
                <a:t>ANNUAL RECURRING TOTAL</a:t>
              </a:r>
              <a:endParaRPr lang="en-US" sz="788" noProof="1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547" name="totR-p">
              <a:extLst>
                <a:ext uri="{FF2B5EF4-FFF2-40B4-BE49-F238E27FC236}">
                  <a16:creationId xmlns:a16="http://schemas.microsoft.com/office/drawing/2014/main" id="{3C000CE0-101E-1F9F-5AB2-A4B6EA5F8F97}"/>
                </a:ext>
              </a:extLst>
            </p:cNvPr>
            <p:cNvSpPr txBox="1"/>
            <p:nvPr/>
          </p:nvSpPr>
          <p:spPr>
            <a:xfrm>
              <a:off x="7322106" y="4025674"/>
              <a:ext cx="1166440" cy="161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/>
            <a:lstStyle/>
            <a:p>
              <a:pPr algn="r" defTabSz="685800">
                <a:lnSpc>
                  <a:spcPct val="120000"/>
                </a:lnSpc>
              </a:pPr>
              <a:r>
                <a:rPr lang="en-US" sz="900" b="1" noProof="1">
                  <a:solidFill>
                    <a:srgbClr val="FFFFFF"/>
                  </a:solidFill>
                  <a:latin typeface="+mn-ea"/>
                  <a:cs typeface="MiSans"/>
                </a:rPr>
                <a:t>¥60.96 万 / 年</a:t>
              </a:r>
              <a:endParaRPr lang="en-US" sz="900" noProof="1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549" name="assump">
              <a:extLst>
                <a:ext uri="{FF2B5EF4-FFF2-40B4-BE49-F238E27FC236}">
                  <a16:creationId xmlns:a16="http://schemas.microsoft.com/office/drawing/2014/main" id="{F571024D-5992-E717-1B9D-0D50A6CC7AFE}"/>
                </a:ext>
              </a:extLst>
            </p:cNvPr>
            <p:cNvSpPr/>
            <p:nvPr/>
          </p:nvSpPr>
          <p:spPr>
            <a:xfrm>
              <a:off x="502920" y="4423833"/>
              <a:ext cx="8129187" cy="314041"/>
            </a:xfrm>
            <a:prstGeom prst="roundRect">
              <a:avLst>
                <a:gd name="adj" fmla="val 12000"/>
              </a:avLst>
            </a:prstGeom>
            <a:solidFill>
              <a:srgbClr val="F9FAFC"/>
            </a:solidFill>
            <a:ln w="12700">
              <a:solidFill>
                <a:srgbClr val="D5DCE9"/>
              </a:solidFill>
            </a:ln>
          </p:spPr>
          <p:txBody>
            <a:bodyPr/>
            <a:lstStyle/>
            <a:p>
              <a:pPr defTabSz="685800"/>
              <a:endParaRPr lang="zh-CN" altLang="en-US" sz="1350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551" name="assump-ic">
              <a:extLst>
                <a:ext uri="{FF2B5EF4-FFF2-40B4-BE49-F238E27FC236}">
                  <a16:creationId xmlns:a16="http://schemas.microsoft.com/office/drawing/2014/main" id="{18625837-50AC-5908-2B4C-59DCE5BC1F18}"/>
                </a:ext>
              </a:extLst>
            </p:cNvPr>
            <p:cNvSpPr/>
            <p:nvPr>
              <p:extLst>
                <p:ext uri="{F5677B7D-0D2A-4D9B-9A5C-6D8D7D0E5A5D}">
  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eyJpY29uTmFtZSI6ImZhczpsaWdodGJ1bGIifQ</pptd:icon>
                </p:ext>
              </p:extLst>
            </p:nvPr>
          </p:nvSpPr>
          <p:spPr>
            <a:xfrm>
              <a:off x="754153" y="4495613"/>
              <a:ext cx="143562" cy="170480"/>
            </a:xfrm>
            <a:custGeom>
              <a:avLst/>
              <a:gdLst/>
              <a:ahLst/>
              <a:cxnLst/>
              <a:rect l="l" t="t" r="r" b="b"/>
              <a:pathLst>
                <a:path w="384" h="512">
                  <a:moveTo>
                    <a:pt x="293" y="384"/>
                  </a:moveTo>
                  <a:cubicBezTo>
                    <a:pt x="300" y="362"/>
                    <a:pt x="315" y="342"/>
                    <a:pt x="331" y="324"/>
                  </a:cubicBezTo>
                  <a:cubicBezTo>
                    <a:pt x="364" y="290"/>
                    <a:pt x="384" y="243"/>
                    <a:pt x="384" y="192"/>
                  </a:cubicBezTo>
                  <a:cubicBezTo>
                    <a:pt x="384" y="86"/>
                    <a:pt x="298" y="0"/>
                    <a:pt x="192" y="0"/>
                  </a:cubicBezTo>
                  <a:cubicBezTo>
                    <a:pt x="86" y="0"/>
                    <a:pt x="0" y="86"/>
                    <a:pt x="0" y="192"/>
                  </a:cubicBezTo>
                  <a:cubicBezTo>
                    <a:pt x="0" y="243"/>
                    <a:pt x="20" y="290"/>
                    <a:pt x="53" y="324"/>
                  </a:cubicBezTo>
                  <a:cubicBezTo>
                    <a:pt x="69" y="342"/>
                    <a:pt x="84" y="362"/>
                    <a:pt x="91" y="384"/>
                  </a:cubicBezTo>
                  <a:lnTo>
                    <a:pt x="293" y="384"/>
                  </a:lnTo>
                  <a:close/>
                  <a:moveTo>
                    <a:pt x="184" y="112"/>
                  </a:moveTo>
                  <a:cubicBezTo>
                    <a:pt x="144" y="112"/>
                    <a:pt x="112" y="144"/>
                    <a:pt x="112" y="184"/>
                  </a:cubicBezTo>
                  <a:cubicBezTo>
                    <a:pt x="112" y="197"/>
                    <a:pt x="101" y="208"/>
                    <a:pt x="88" y="208"/>
                  </a:cubicBezTo>
                  <a:cubicBezTo>
                    <a:pt x="75" y="208"/>
                    <a:pt x="64" y="197"/>
                    <a:pt x="64" y="184"/>
                  </a:cubicBezTo>
                  <a:cubicBezTo>
                    <a:pt x="64" y="118"/>
                    <a:pt x="118" y="64"/>
                    <a:pt x="184" y="64"/>
                  </a:cubicBezTo>
                  <a:cubicBezTo>
                    <a:pt x="197" y="64"/>
                    <a:pt x="208" y="75"/>
                    <a:pt x="208" y="88"/>
                  </a:cubicBezTo>
                  <a:cubicBezTo>
                    <a:pt x="208" y="101"/>
                    <a:pt x="197" y="112"/>
                    <a:pt x="184" y="112"/>
                  </a:cubicBezTo>
                  <a:close/>
                </a:path>
                <a:path w="384" h="512">
                  <a:moveTo>
                    <a:pt x="288" y="432"/>
                  </a:moveTo>
                  <a:lnTo>
                    <a:pt x="96" y="432"/>
                  </a:lnTo>
                  <a:lnTo>
                    <a:pt x="96" y="448"/>
                  </a:lnTo>
                  <a:cubicBezTo>
                    <a:pt x="96" y="492"/>
                    <a:pt x="132" y="528"/>
                    <a:pt x="176" y="528"/>
                  </a:cubicBezTo>
                  <a:lnTo>
                    <a:pt x="208" y="528"/>
                  </a:lnTo>
                  <a:cubicBezTo>
                    <a:pt x="252" y="528"/>
                    <a:pt x="288" y="492"/>
                    <a:pt x="288" y="448"/>
                  </a:cubicBezTo>
                  <a:lnTo>
                    <a:pt x="288" y="432"/>
                  </a:lnTo>
                  <a:close/>
                </a:path>
              </a:pathLst>
            </a:custGeom>
            <a:solidFill>
              <a:srgbClr val="14256C"/>
            </a:solidFill>
            <a:ln>
              <a:noFill/>
            </a:ln>
          </p:spPr>
          <p:txBody>
            <a:bodyPr/>
            <a:lstStyle/>
            <a:p>
              <a:pPr defTabSz="685800"/>
              <a:endParaRPr lang="zh-CN" altLang="en-US" sz="1350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553" name="assump-label">
              <a:extLst>
                <a:ext uri="{FF2B5EF4-FFF2-40B4-BE49-F238E27FC236}">
                  <a16:creationId xmlns:a16="http://schemas.microsoft.com/office/drawing/2014/main" id="{ACE99164-4688-9561-A0B2-1C38D99782F2}"/>
                </a:ext>
              </a:extLst>
            </p:cNvPr>
            <p:cNvSpPr txBox="1"/>
            <p:nvPr/>
          </p:nvSpPr>
          <p:spPr>
            <a:xfrm>
              <a:off x="987441" y="4513559"/>
              <a:ext cx="1076714" cy="1345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/>
            <a:lstStyle/>
            <a:p>
              <a:pPr defTabSz="685800">
                <a:lnSpc>
                  <a:spcPct val="120000"/>
                </a:lnSpc>
              </a:pPr>
              <a:r>
                <a:rPr lang="en-US" sz="750" b="1" noProof="1">
                  <a:solidFill>
                    <a:srgbClr val="14256C"/>
                  </a:solidFill>
                  <a:latin typeface="+mn-ea"/>
                  <a:cs typeface="MiSans"/>
                </a:rPr>
                <a:t>Key Assumptions</a:t>
              </a:r>
              <a:endParaRPr lang="en-US" sz="750" noProof="1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  <p:sp>
          <p:nvSpPr>
            <p:cNvPr id="555" name="assump-text">
              <a:extLst>
                <a:ext uri="{FF2B5EF4-FFF2-40B4-BE49-F238E27FC236}">
                  <a16:creationId xmlns:a16="http://schemas.microsoft.com/office/drawing/2014/main" id="{4C3D5ED4-06F4-0828-6A3E-1F5C31B0E28A}"/>
                </a:ext>
              </a:extLst>
            </p:cNvPr>
            <p:cNvSpPr txBox="1"/>
            <p:nvPr/>
          </p:nvSpPr>
          <p:spPr>
            <a:xfrm>
              <a:off x="2010319" y="4513559"/>
              <a:ext cx="6460281" cy="1345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/>
            <a:lstStyle/>
            <a:p>
              <a:pPr defTabSz="685800">
                <a:lnSpc>
                  <a:spcPct val="120000"/>
                </a:lnSpc>
              </a:pPr>
              <a:r>
                <a:rPr lang="en-US" sz="675" noProof="1">
                  <a:solidFill>
                    <a:srgbClr val="434F7A"/>
                  </a:solidFill>
                  <a:latin typeface="+mn-ea"/>
                  <a:cs typeface="MiSans"/>
                </a:rPr>
                <a:t>首批接入 11 个系统；平均 17 人天 / 系统；增量云资源约 ¥0.33万 / 月 / 系统；实际成本将根据系统复杂度及数据量调整。</a:t>
              </a:r>
              <a:endParaRPr lang="en-US" sz="675" noProof="1">
                <a:solidFill>
                  <a:srgbClr val="000000"/>
                </a:solidFill>
                <a:latin typeface="+mn-ea"/>
                <a:cs typeface="MiSans"/>
              </a:endParaRPr>
            </a:p>
          </p:txBody>
        </p:sp>
      </p:grpSp>
      <p:sp>
        <p:nvSpPr>
          <p:cNvPr id="5" name="subtitle">
            <a:extLst>
              <a:ext uri="{FF2B5EF4-FFF2-40B4-BE49-F238E27FC236}">
                <a16:creationId xmlns:a16="http://schemas.microsoft.com/office/drawing/2014/main" id="{9B6C0CB1-90C4-1777-3D36-E0941864BFB3}"/>
              </a:ext>
            </a:extLst>
          </p:cNvPr>
          <p:cNvSpPr txBox="1"/>
          <p:nvPr/>
        </p:nvSpPr>
        <p:spPr>
          <a:xfrm>
            <a:off x="279400" y="960120"/>
            <a:ext cx="812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>
                <a:solidFill>
                  <a:srgbClr val="4A577D"/>
                </a:solidFill>
                <a:latin typeface="Calibri"/>
                <a:ea typeface="MiSans"/>
              </a:rPr>
              <a:t>RIMS整体成本由一次性建设与系统接入投入，以及平台持续运维与云资源成本构成</a:t>
            </a:r>
            <a:endParaRPr lang="en-US" sz="1200" noProof="1"/>
          </a:p>
        </p:txBody>
      </p:sp>
    </p:spTree>
    <p:extLst>
      <p:ext uri="{BB962C8B-B14F-4D97-AF65-F5344CB8AC3E}">
        <p14:creationId xmlns:p14="http://schemas.microsoft.com/office/powerpoint/2010/main" val="425047596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BD8D92D-E310-B8FA-9B92-404A9117D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16">
            <a:extLst>
              <a:ext uri="{FF2B5EF4-FFF2-40B4-BE49-F238E27FC236}">
                <a16:creationId xmlns:a16="http://schemas.microsoft.com/office/drawing/2014/main" id="{B89DE1CE-663E-319E-3A5F-D6C2909DD8E9}"/>
              </a:ext>
            </a:extLst>
          </p:cNvPr>
          <p:cNvSpPr/>
          <p:nvPr/>
        </p:nvSpPr>
        <p:spPr>
          <a:xfrm>
            <a:off x="342901" y="1593204"/>
            <a:ext cx="8457971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685800"/>
            <a:r>
              <a:rPr lang="en-US" sz="938" b="1" err="1">
                <a:solidFill>
                  <a:srgbClr val="10233B"/>
                </a:solidFill>
                <a:latin typeface="Georgia"/>
                <a:ea typeface="微软雅黑" pitchFamily="34" charset="-122"/>
                <a:cs typeface="微软雅黑" pitchFamily="34" charset="-120"/>
              </a:rPr>
              <a:t>云资源成本（运行期</a:t>
            </a:r>
            <a:r>
              <a:rPr lang="en-US" sz="938" b="1">
                <a:solidFill>
                  <a:srgbClr val="10233B"/>
                </a:solidFill>
                <a:latin typeface="Georgia"/>
                <a:ea typeface="微软雅黑" pitchFamily="34" charset="-122"/>
                <a:cs typeface="微软雅黑" pitchFamily="34" charset="-120"/>
              </a:rPr>
              <a:t> · 按月持续 · 全部按上限取值）</a:t>
            </a:r>
            <a:endParaRPr lang="en-US" sz="938">
              <a:solidFill>
                <a:srgbClr val="000000"/>
              </a:solidFill>
              <a:latin typeface="Georgia"/>
            </a:endParaRPr>
          </a:p>
        </p:txBody>
      </p:sp>
      <p:graphicFrame>
        <p:nvGraphicFramePr>
          <p:cNvPr id="19" name="Table 0">
            <a:extLst>
              <a:ext uri="{FF2B5EF4-FFF2-40B4-BE49-F238E27FC236}">
                <a16:creationId xmlns:a16="http://schemas.microsoft.com/office/drawing/2014/main" id="{CAFD24A9-9358-12DB-276D-87BE09615F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8509046"/>
              </p:ext>
            </p:extLst>
          </p:nvPr>
        </p:nvGraphicFramePr>
        <p:xfrm>
          <a:off x="342901" y="1842199"/>
          <a:ext cx="8457971" cy="241401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316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5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组件</a:t>
                      </a:r>
                      <a:endParaRPr lang="en-US" sz="70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C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err="1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测试环境</a:t>
                      </a:r>
                      <a:endParaRPr lang="en-US" sz="70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C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生产环境</a:t>
                      </a:r>
                      <a:endParaRPr lang="en-US" sz="70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C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70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C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err="1">
                          <a:solidFill>
                            <a:srgbClr val="1023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前端服务器</a:t>
                      </a:r>
                      <a:endParaRPr lang="en-US" sz="70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>
                          <a:solidFill>
                            <a:srgbClr val="66708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¥600/月</a:t>
                      </a:r>
                      <a:endParaRPr lang="en-US" sz="70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>
                          <a:solidFill>
                            <a:srgbClr val="1023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¥1,500/月</a:t>
                      </a:r>
                      <a:endParaRPr lang="en-US" sz="70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React 构建产物 + Nginx；生产按并发带宽选型</a:t>
                      </a:r>
                      <a:endParaRPr lang="en-US" sz="70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>
                          <a:solidFill>
                            <a:srgbClr val="1023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后端服务器</a:t>
                      </a:r>
                      <a:endParaRPr lang="en-US" sz="70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>
                          <a:solidFill>
                            <a:srgbClr val="66708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¥600/月</a:t>
                      </a:r>
                      <a:endParaRPr lang="en-US" sz="70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>
                          <a:solidFill>
                            <a:srgbClr val="1023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¥1,500/月</a:t>
                      </a:r>
                      <a:endParaRPr lang="en-US" sz="70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元数据管理/鉴权/同步编排/SAS签发</a:t>
                      </a:r>
                      <a:endParaRPr lang="en-US" sz="70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>
                          <a:solidFill>
                            <a:srgbClr val="1023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Redis</a:t>
                      </a:r>
                      <a:endParaRPr lang="en-US" sz="70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>
                          <a:solidFill>
                            <a:srgbClr val="66708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¥600/月</a:t>
                      </a:r>
                      <a:endParaRPr lang="en-US" sz="70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>
                          <a:solidFill>
                            <a:srgbClr val="1023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¥600/月</a:t>
                      </a:r>
                      <a:endParaRPr lang="en-US" sz="70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Token/会话缓存，生产测试各一台</a:t>
                      </a:r>
                      <a:endParaRPr lang="en-US" sz="70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err="1">
                          <a:solidFill>
                            <a:srgbClr val="1023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元数据库</a:t>
                      </a:r>
                      <a:endParaRPr lang="en-US" sz="70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>
                          <a:solidFill>
                            <a:srgbClr val="66708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¥600/月</a:t>
                      </a:r>
                      <a:endParaRPr lang="en-US" sz="70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>
                          <a:solidFill>
                            <a:srgbClr val="1023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¥1,200/月</a:t>
                      </a:r>
                      <a:endParaRPr lang="en-US" sz="70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仅存元数据，不存归档业务数据（宪法红线）</a:t>
                      </a:r>
                      <a:endParaRPr lang="en-US" sz="70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err="1">
                          <a:solidFill>
                            <a:srgbClr val="1023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归档存储</a:t>
                      </a:r>
                      <a:endParaRPr lang="en-US" sz="70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>
                          <a:solidFill>
                            <a:srgbClr val="66708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¥300/月</a:t>
                      </a:r>
                      <a:endParaRPr lang="en-US" sz="700">
                        <a:solidFill>
                          <a:schemeClr val="tx1"/>
                        </a:solidFill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>
                          <a:solidFill>
                            <a:srgbClr val="1023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¥</a:t>
                      </a:r>
                      <a:r>
                        <a:rPr lang="en-US" altLang="zh-CN" sz="700" b="1">
                          <a:solidFill>
                            <a:srgbClr val="1023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</a:t>
                      </a:r>
                      <a:r>
                        <a:rPr lang="en-US" sz="700" b="1">
                          <a:solidFill>
                            <a:srgbClr val="1023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00/月</a:t>
                      </a:r>
                      <a:endParaRPr lang="en-US" sz="700">
                        <a:solidFill>
                          <a:schemeClr val="tx1"/>
                        </a:solidFill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CN" altLang="en-US" sz="70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存储媒体文件</a:t>
                      </a:r>
                      <a:endParaRPr lang="en-US" sz="700">
                        <a:solidFill>
                          <a:schemeClr val="tx1"/>
                        </a:solidFill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>
                          <a:solidFill>
                            <a:srgbClr val="1023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ETL 计算</a:t>
                      </a:r>
                      <a:endParaRPr lang="en-US" sz="70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700" b="1">
                          <a:solidFill>
                            <a:srgbClr val="FF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0"/>
                        </a:rPr>
                        <a:t>按量付费</a:t>
                      </a:r>
                      <a:endParaRPr lang="en-US" sz="700">
                        <a:solidFill>
                          <a:srgbClr val="FF0000"/>
                        </a:solidFill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700" b="1">
                          <a:solidFill>
                            <a:srgbClr val="FF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0"/>
                        </a:rPr>
                        <a:t>按量</a:t>
                      </a:r>
                      <a:r>
                        <a:rPr lang="zh-CN" altLang="en-US" sz="700" b="1">
                          <a:solidFill>
                            <a:srgbClr val="FF0000"/>
                          </a:solidFill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付费</a:t>
                      </a:r>
                      <a:endParaRPr lang="en-US" sz="700" b="1">
                        <a:solidFill>
                          <a:srgbClr val="FF0000"/>
                        </a:solidFill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err="1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同步入湖、compaction、销毁作业</a:t>
                      </a:r>
                      <a:r>
                        <a:rPr lang="en-US" sz="70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</a:t>
                      </a:r>
                      <a:r>
                        <a:rPr lang="zh-CN" altLang="en-US" sz="70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（</a:t>
                      </a:r>
                      <a:r>
                        <a:rPr lang="en-US" altLang="zh-CN" sz="70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1T/</a:t>
                      </a:r>
                      <a:r>
                        <a:rPr lang="zh-CN" altLang="en-US" sz="70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￥</a:t>
                      </a:r>
                      <a:r>
                        <a:rPr lang="en-US" altLang="zh-CN" sz="70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100</a:t>
                      </a:r>
                      <a:r>
                        <a:rPr lang="zh-CN" altLang="en-US" sz="70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）</a:t>
                      </a:r>
                      <a:endParaRPr lang="en-US" sz="70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>
                          <a:solidFill>
                            <a:srgbClr val="1023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查询引擎</a:t>
                      </a:r>
                      <a:endParaRPr lang="en-US" sz="70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700" b="1">
                          <a:solidFill>
                            <a:srgbClr val="FF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0"/>
                        </a:rPr>
                        <a:t>按量付费</a:t>
                      </a:r>
                      <a:endParaRPr lang="en-US" sz="700">
                        <a:solidFill>
                          <a:srgbClr val="FF0000"/>
                        </a:solidFill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700" b="1">
                          <a:solidFill>
                            <a:srgbClr val="FF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0"/>
                        </a:rPr>
                        <a:t>按量</a:t>
                      </a:r>
                      <a:r>
                        <a:rPr lang="zh-CN" altLang="en-US" sz="700" b="1">
                          <a:solidFill>
                            <a:srgbClr val="FF0000"/>
                          </a:solidFill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付费</a:t>
                      </a:r>
                      <a:endParaRPr lang="en-US" sz="700" b="1">
                        <a:solidFill>
                          <a:srgbClr val="FF0000"/>
                        </a:solidFill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SQL Serverless · 空闲归零，生产读侧主力</a:t>
                      </a:r>
                      <a:r>
                        <a:rPr lang="zh-CN" altLang="en-US" sz="70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（</a:t>
                      </a:r>
                      <a:r>
                        <a:rPr lang="en-US" altLang="zh-CN" sz="70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Serverless </a:t>
                      </a:r>
                      <a:r>
                        <a:rPr lang="zh-CN" altLang="en-US" sz="70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￥</a:t>
                      </a:r>
                      <a:r>
                        <a:rPr lang="en-US" altLang="zh-CN" sz="70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30×8H×22=5280</a:t>
                      </a:r>
                      <a:r>
                        <a:rPr lang="zh-CN" altLang="en-US" sz="70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）</a:t>
                      </a:r>
                      <a:endParaRPr lang="en-US" sz="70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>
                          <a:solidFill>
                            <a:srgbClr val="1023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安全与监控</a:t>
                      </a:r>
                      <a:endParaRPr lang="en-US" sz="70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>
                          <a:solidFill>
                            <a:srgbClr val="66708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¥200/月</a:t>
                      </a:r>
                      <a:endParaRPr lang="en-US" sz="70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>
                          <a:solidFill>
                            <a:srgbClr val="1023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¥600/月</a:t>
                      </a:r>
                      <a:endParaRPr lang="en-US" sz="70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Key Vault · Monitor · 审计日志摄入</a:t>
                      </a:r>
                      <a:endParaRPr lang="en-US" sz="70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月费合计</a:t>
                      </a:r>
                      <a:endParaRPr lang="en-US" sz="70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C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¥2,600+</a:t>
                      </a:r>
                      <a:r>
                        <a:rPr lang="en-US" sz="700" b="1">
                          <a:solidFill>
                            <a:srgbClr val="FF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*</a:t>
                      </a:r>
                      <a:endParaRPr lang="en-US" sz="700">
                        <a:solidFill>
                          <a:srgbClr val="FF0000"/>
                        </a:solidFill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C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¥</a:t>
                      </a:r>
                      <a:r>
                        <a:rPr lang="en-US" altLang="zh-CN" sz="700" b="1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</a:t>
                      </a:r>
                      <a:r>
                        <a:rPr lang="en-US" sz="700" b="1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,</a:t>
                      </a:r>
                      <a:r>
                        <a:rPr lang="en-US" altLang="zh-CN" sz="700" b="1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r>
                        <a:rPr lang="en-US" sz="700" b="1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00 </a:t>
                      </a:r>
                      <a:r>
                        <a:rPr lang="en-US" altLang="zh-CN" sz="700" b="1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 </a:t>
                      </a:r>
                      <a:r>
                        <a:rPr lang="en-US" altLang="zh-CN" sz="700" b="1">
                          <a:solidFill>
                            <a:srgbClr val="FF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*</a:t>
                      </a:r>
                      <a:endParaRPr lang="en-US" sz="700">
                        <a:solidFill>
                          <a:srgbClr val="FF0000"/>
                        </a:solidFill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C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CN" altLang="en-US" sz="700">
                          <a:solidFill>
                            <a:schemeClr val="bg1"/>
                          </a:solidFill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只计算了固定的费用，当接入新系统后，按量付费的费用会增加。</a:t>
                      </a:r>
                      <a:endParaRPr lang="en-US" altLang="zh-CN" sz="700">
                        <a:solidFill>
                          <a:schemeClr val="bg1"/>
                        </a:solidFill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C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0" name="Shape 17">
            <a:extLst>
              <a:ext uri="{FF2B5EF4-FFF2-40B4-BE49-F238E27FC236}">
                <a16:creationId xmlns:a16="http://schemas.microsoft.com/office/drawing/2014/main" id="{7DA45A03-E1F3-2B03-6B9B-046DA5DE04A5}"/>
              </a:ext>
            </a:extLst>
          </p:cNvPr>
          <p:cNvSpPr/>
          <p:nvPr/>
        </p:nvSpPr>
        <p:spPr>
          <a:xfrm>
            <a:off x="342901" y="4299470"/>
            <a:ext cx="8457971" cy="322326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9525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5A8FB32A-F3F6-3F7E-A368-3CEDA1E6E14A}"/>
              </a:ext>
            </a:extLst>
          </p:cNvPr>
          <p:cNvSpPr/>
          <p:nvPr/>
        </p:nvSpPr>
        <p:spPr>
          <a:xfrm>
            <a:off x="445770" y="4272038"/>
            <a:ext cx="8252231" cy="377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685800"/>
            <a:r>
              <a:rPr lang="en-US" sz="713" b="1">
                <a:solidFill>
                  <a:srgbClr val="1F5C3A"/>
                </a:solidFill>
                <a:latin typeface="Georgia"/>
                <a:ea typeface="微软雅黑" pitchFamily="34" charset="-122"/>
                <a:cs typeface="微软雅黑" pitchFamily="34" charset="-120"/>
              </a:rPr>
              <a:t>云成本关键特征：  </a:t>
            </a:r>
            <a:r>
              <a:rPr lang="en-US" sz="713" err="1">
                <a:solidFill>
                  <a:srgbClr val="1F2937"/>
                </a:solidFill>
                <a:latin typeface="Georgia"/>
                <a:ea typeface="微软雅黑" pitchFamily="34" charset="-122"/>
                <a:cs typeface="微软雅黑" pitchFamily="34" charset="-120"/>
              </a:rPr>
              <a:t>测试环境组件与生产同构、只降配置；存算分离，Serverless</a:t>
            </a:r>
            <a:r>
              <a:rPr lang="en-US" sz="713">
                <a:solidFill>
                  <a:srgbClr val="1F2937"/>
                </a:solidFill>
                <a:latin typeface="Georgia"/>
                <a:ea typeface="微软雅黑" pitchFamily="34" charset="-122"/>
                <a:cs typeface="微软雅黑" pitchFamily="34" charset="-120"/>
              </a:rPr>
              <a:t> </a:t>
            </a:r>
            <a:r>
              <a:rPr lang="en-US" sz="713" err="1">
                <a:solidFill>
                  <a:srgbClr val="1F2937"/>
                </a:solidFill>
                <a:latin typeface="Georgia"/>
                <a:ea typeface="微软雅黑" pitchFamily="34" charset="-122"/>
                <a:cs typeface="微软雅黑" pitchFamily="34" charset="-120"/>
              </a:rPr>
              <a:t>空闲归零是读侧省钱关键</a:t>
            </a:r>
            <a:r>
              <a:rPr lang="en-US" sz="713">
                <a:solidFill>
                  <a:srgbClr val="1F2937"/>
                </a:solidFill>
                <a:latin typeface="Georgia"/>
                <a:ea typeface="微软雅黑" pitchFamily="34" charset="-122"/>
                <a:cs typeface="微软雅黑" pitchFamily="34" charset="-120"/>
              </a:rPr>
              <a:t>。</a:t>
            </a:r>
            <a:r>
              <a:rPr lang="zh-CN" altLang="en-US" sz="713">
                <a:solidFill>
                  <a:srgbClr val="1F2937"/>
                </a:solidFill>
                <a:latin typeface="Georgia"/>
                <a:ea typeface="微软雅黑" pitchFamily="34" charset="-122"/>
                <a:cs typeface="微软雅黑" pitchFamily="34" charset="-120"/>
              </a:rPr>
              <a:t>费用根据系统的数量和查询量波动，波动幅度不大</a:t>
            </a:r>
            <a:endParaRPr lang="en-US" sz="713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520122E-A591-964C-89CA-6614C21278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China RIMS Solution Proposal</a:t>
            </a:r>
          </a:p>
          <a:p>
            <a:endParaRPr lang="zh-CN" alt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6D3B44D-02E5-0B07-07AF-F8443830B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云资源成本</a:t>
            </a:r>
            <a:r>
              <a:rPr lang="en-US" altLang="zh-CN"/>
              <a:t>Break-down Zoom-in</a:t>
            </a:r>
            <a:br>
              <a:rPr lang="zh-CN" altLang="en-US"/>
            </a:br>
            <a:endParaRPr lang="zh-CN" altLang="en-US"/>
          </a:p>
        </p:txBody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0D5E5835-AB98-B2AD-B269-6F3AB6E94C39}"/>
              </a:ext>
            </a:extLst>
          </p:cNvPr>
          <p:cNvSpPr/>
          <p:nvPr/>
        </p:nvSpPr>
        <p:spPr>
          <a:xfrm>
            <a:off x="2966392" y="1069341"/>
            <a:ext cx="2635105" cy="43688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9525">
            <a:solidFill>
              <a:srgbClr val="009CDE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84269C49-81A2-8EC0-61F3-02B112ED9192}"/>
              </a:ext>
            </a:extLst>
          </p:cNvPr>
          <p:cNvSpPr/>
          <p:nvPr/>
        </p:nvSpPr>
        <p:spPr>
          <a:xfrm>
            <a:off x="3191728" y="1156324"/>
            <a:ext cx="2132838" cy="262915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algn="ctr" defTabSz="685800"/>
            <a:r>
              <a:rPr lang="en-US" b="1">
                <a:solidFill>
                  <a:srgbClr val="000000"/>
                </a:solidFill>
                <a:latin typeface="Georgia"/>
                <a:ea typeface="Calibri" pitchFamily="34" charset="-122"/>
                <a:cs typeface="Calibri" pitchFamily="34" charset="-120"/>
              </a:rPr>
              <a:t>¥</a:t>
            </a:r>
            <a:r>
              <a:rPr lang="en-US" altLang="zh-CN" b="1">
                <a:solidFill>
                  <a:srgbClr val="000000"/>
                </a:solidFill>
                <a:latin typeface="Georgia"/>
                <a:ea typeface="Calibri" pitchFamily="34" charset="-122"/>
                <a:cs typeface="Calibri" pitchFamily="34" charset="-120"/>
              </a:rPr>
              <a:t>7.8K</a:t>
            </a:r>
            <a:r>
              <a:rPr lang="en-US" b="1">
                <a:solidFill>
                  <a:srgbClr val="000000"/>
                </a:solidFill>
                <a:latin typeface="Georgia"/>
                <a:ea typeface="Calibri" pitchFamily="34" charset="-122"/>
                <a:cs typeface="Calibri" pitchFamily="34" charset="-120"/>
              </a:rPr>
              <a:t>/</a:t>
            </a:r>
            <a:r>
              <a:rPr lang="en-US" altLang="zh-CN" b="1">
                <a:solidFill>
                  <a:srgbClr val="000000"/>
                </a:solidFill>
                <a:latin typeface="Georgia"/>
                <a:ea typeface="Calibri" pitchFamily="34" charset="-122"/>
                <a:cs typeface="Calibri" pitchFamily="34" charset="-120"/>
              </a:rPr>
              <a:t>M+</a:t>
            </a:r>
            <a:r>
              <a:rPr lang="zh-CN" altLang="en-US" b="1">
                <a:solidFill>
                  <a:srgbClr val="FF0000"/>
                </a:solidFill>
                <a:latin typeface="Georgia"/>
                <a:ea typeface="Calibri" pitchFamily="34" charset="-122"/>
                <a:cs typeface="Calibri" pitchFamily="34" charset="-120"/>
              </a:rPr>
              <a:t>按量付费</a:t>
            </a:r>
            <a:endParaRPr lang="en-US">
              <a:solidFill>
                <a:srgbClr val="FF0000"/>
              </a:solidFill>
              <a:latin typeface="Georgia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CD96AAA-14B7-1281-63F1-2C25B0A5D27B}"/>
              </a:ext>
            </a:extLst>
          </p:cNvPr>
          <p:cNvSpPr/>
          <p:nvPr/>
        </p:nvSpPr>
        <p:spPr>
          <a:xfrm>
            <a:off x="8115300" y="0"/>
            <a:ext cx="1028700" cy="21972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latin typeface="+mj-lt"/>
                <a:ea typeface="+mj-ea"/>
              </a:rPr>
              <a:t>Appendix</a:t>
            </a:r>
            <a:endParaRPr lang="zh-CN" altLang="en-US" sz="1100">
              <a:latin typeface="+mj-lt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4462562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398061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095795D-9A99-C117-B94F-75C0D1864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>
            <a:extLst>
              <a:ext uri="{FF2B5EF4-FFF2-40B4-BE49-F238E27FC236}">
                <a16:creationId xmlns:a16="http://schemas.microsoft.com/office/drawing/2014/main" id="{28C25200-3C60-0FBD-E3B3-A544AC7E4250}"/>
              </a:ext>
            </a:extLst>
          </p:cNvPr>
          <p:cNvSpPr/>
          <p:nvPr/>
        </p:nvSpPr>
        <p:spPr>
          <a:xfrm>
            <a:off x="205730" y="54995"/>
            <a:ext cx="8731837" cy="3154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685800"/>
            <a:r>
              <a:rPr lang="en-US" sz="1875" b="1" kern="0" spc="38">
                <a:solidFill>
                  <a:srgbClr val="009CDE"/>
                </a:solidFill>
                <a:latin typeface="Georgia"/>
                <a:ea typeface="Cambria" pitchFamily="34" charset="-122"/>
                <a:cs typeface="Cambria" pitchFamily="34" charset="-120"/>
              </a:rPr>
              <a:t>SDD 规范驱动开发架构图</a:t>
            </a:r>
            <a:endParaRPr lang="en-US" sz="1875">
              <a:solidFill>
                <a:srgbClr val="009CDE"/>
              </a:solidFill>
              <a:latin typeface="Georgia"/>
            </a:endParaRPr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5DFF6155-5AD9-A8A4-59D5-67E47DAA9D85}"/>
              </a:ext>
            </a:extLst>
          </p:cNvPr>
          <p:cNvSpPr/>
          <p:nvPr/>
        </p:nvSpPr>
        <p:spPr>
          <a:xfrm>
            <a:off x="205730" y="363589"/>
            <a:ext cx="8731837" cy="1645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863" i="1">
                <a:solidFill>
                  <a:srgbClr val="667085"/>
                </a:solidFill>
                <a:latin typeface="Georgia"/>
                <a:ea typeface="Calibri" pitchFamily="34" charset="-122"/>
                <a:cs typeface="Calibri" pitchFamily="34" charset="-120"/>
              </a:rPr>
              <a:t>规范驱动，AI 执行，人负责定义规则与结果判断</a:t>
            </a:r>
            <a:endParaRPr lang="en-US" sz="863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C71BCDE7-362F-5D9B-A9CB-E6CA4CDB4DB4}"/>
              </a:ext>
            </a:extLst>
          </p:cNvPr>
          <p:cNvSpPr/>
          <p:nvPr/>
        </p:nvSpPr>
        <p:spPr>
          <a:xfrm>
            <a:off x="171441" y="603607"/>
            <a:ext cx="1062935" cy="3805992"/>
          </a:xfrm>
          <a:prstGeom prst="roundRect">
            <a:avLst>
              <a:gd name="adj" fmla="val 5161"/>
            </a:avLst>
          </a:prstGeom>
          <a:solidFill>
            <a:srgbClr val="FCFCFD"/>
          </a:solidFill>
          <a:ln w="12700">
            <a:solidFill>
              <a:srgbClr val="D8DCE3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CD5FE756-5FAB-9086-7261-080138541801}"/>
              </a:ext>
            </a:extLst>
          </p:cNvPr>
          <p:cNvSpPr/>
          <p:nvPr/>
        </p:nvSpPr>
        <p:spPr>
          <a:xfrm>
            <a:off x="171441" y="672183"/>
            <a:ext cx="1062935" cy="15086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 defTabSz="685800"/>
            <a:r>
              <a:rPr lang="en-US" sz="788" b="1">
                <a:solidFill>
                  <a:srgbClr val="10233B"/>
                </a:solidFill>
                <a:latin typeface="Georgia"/>
                <a:ea typeface="Cambria" pitchFamily="34" charset="-122"/>
                <a:cs typeface="Cambria" pitchFamily="34" charset="-120"/>
              </a:rPr>
              <a:t>输入与数据源</a:t>
            </a:r>
            <a:endParaRPr lang="en-US" sz="788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19F9F23B-3B84-878A-5ED9-3094827FFCB4}"/>
              </a:ext>
            </a:extLst>
          </p:cNvPr>
          <p:cNvSpPr/>
          <p:nvPr/>
        </p:nvSpPr>
        <p:spPr>
          <a:xfrm>
            <a:off x="260591" y="891628"/>
            <a:ext cx="884636" cy="582900"/>
          </a:xfrm>
          <a:prstGeom prst="roundRect">
            <a:avLst>
              <a:gd name="adj" fmla="val 8235"/>
            </a:avLst>
          </a:prstGeom>
          <a:solidFill>
            <a:srgbClr val="EAF1FB"/>
          </a:solidFill>
          <a:ln w="12700">
            <a:solidFill>
              <a:srgbClr val="AECBEB"/>
            </a:solidFill>
            <a:prstDash val="solid"/>
          </a:ln>
          <a:effectLst>
            <a:outerShdw blurRad="31750" dist="15240" dir="5400000" algn="bl" rotWithShape="0">
              <a:srgbClr val="1B2A41">
                <a:alpha val="14000"/>
              </a:srgbClr>
            </a:outerShdw>
          </a:effectLst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6FEEE23E-090F-AC44-0C0F-F911B68CB6DF}"/>
              </a:ext>
            </a:extLst>
          </p:cNvPr>
          <p:cNvSpPr/>
          <p:nvPr/>
        </p:nvSpPr>
        <p:spPr>
          <a:xfrm>
            <a:off x="260591" y="980776"/>
            <a:ext cx="884636" cy="15086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 defTabSz="685800"/>
            <a:r>
              <a:rPr lang="en-US" sz="675" b="1">
                <a:solidFill>
                  <a:srgbClr val="1E3A5F"/>
                </a:solidFill>
                <a:latin typeface="Georgia"/>
                <a:ea typeface="Calibri" pitchFamily="34" charset="-122"/>
                <a:cs typeface="Calibri" pitchFamily="34" charset="-120"/>
              </a:rPr>
              <a:t>产品文档</a:t>
            </a:r>
            <a:endParaRPr lang="en-US" sz="675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E092BA5B-B328-295F-41BB-46ABF04C3094}"/>
              </a:ext>
            </a:extLst>
          </p:cNvPr>
          <p:cNvSpPr/>
          <p:nvPr/>
        </p:nvSpPr>
        <p:spPr>
          <a:xfrm>
            <a:off x="260591" y="1152219"/>
            <a:ext cx="884636" cy="2743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 defTabSz="685800"/>
            <a:r>
              <a:rPr lang="en-US" sz="563">
                <a:solidFill>
                  <a:srgbClr val="667085"/>
                </a:solidFill>
                <a:latin typeface="Georgia"/>
                <a:ea typeface="Calibri" pitchFamily="34" charset="-122"/>
                <a:cs typeface="Calibri" pitchFamily="34" charset="-120"/>
              </a:rPr>
              <a:t>(语雀 / Confluence)</a:t>
            </a:r>
            <a:endParaRPr lang="en-US" sz="563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5E13F3DE-5FE5-278F-DDA0-00C13F064CC1}"/>
              </a:ext>
            </a:extLst>
          </p:cNvPr>
          <p:cNvSpPr/>
          <p:nvPr/>
        </p:nvSpPr>
        <p:spPr>
          <a:xfrm>
            <a:off x="260591" y="1522531"/>
            <a:ext cx="884636" cy="582900"/>
          </a:xfrm>
          <a:prstGeom prst="roundRect">
            <a:avLst>
              <a:gd name="adj" fmla="val 8235"/>
            </a:avLst>
          </a:prstGeom>
          <a:solidFill>
            <a:srgbClr val="EAF1FB"/>
          </a:solidFill>
          <a:ln w="12700">
            <a:solidFill>
              <a:srgbClr val="AECBEB"/>
            </a:solidFill>
            <a:prstDash val="solid"/>
          </a:ln>
          <a:effectLst>
            <a:outerShdw blurRad="31750" dist="15240" dir="5400000" algn="bl" rotWithShape="0">
              <a:srgbClr val="1B2A41">
                <a:alpha val="14000"/>
              </a:srgbClr>
            </a:outerShdw>
          </a:effectLst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1EBBE55B-1471-F083-BBA8-DA1523B972AA}"/>
              </a:ext>
            </a:extLst>
          </p:cNvPr>
          <p:cNvSpPr/>
          <p:nvPr/>
        </p:nvSpPr>
        <p:spPr>
          <a:xfrm>
            <a:off x="260591" y="1611680"/>
            <a:ext cx="884636" cy="15086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 defTabSz="685800"/>
            <a:r>
              <a:rPr lang="en-US" sz="675" b="1">
                <a:solidFill>
                  <a:srgbClr val="1E3A5F"/>
                </a:solidFill>
                <a:latin typeface="Georgia"/>
                <a:ea typeface="Calibri" pitchFamily="34" charset="-122"/>
                <a:cs typeface="Calibri" pitchFamily="34" charset="-120"/>
              </a:rPr>
              <a:t>设计稿</a:t>
            </a:r>
            <a:endParaRPr lang="en-US" sz="675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8345BB0A-98B7-75FE-D391-4F022DE49C43}"/>
              </a:ext>
            </a:extLst>
          </p:cNvPr>
          <p:cNvSpPr/>
          <p:nvPr/>
        </p:nvSpPr>
        <p:spPr>
          <a:xfrm>
            <a:off x="260591" y="1783122"/>
            <a:ext cx="884636" cy="2743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 defTabSz="685800"/>
            <a:r>
              <a:rPr lang="en-US" sz="563">
                <a:solidFill>
                  <a:srgbClr val="667085"/>
                </a:solidFill>
                <a:latin typeface="Georgia"/>
                <a:ea typeface="Calibri" pitchFamily="34" charset="-122"/>
                <a:cs typeface="Calibri" pitchFamily="34" charset="-120"/>
              </a:rPr>
              <a:t>(Figma)</a:t>
            </a:r>
            <a:endParaRPr lang="en-US" sz="563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30" name="Shape 10">
            <a:extLst>
              <a:ext uri="{FF2B5EF4-FFF2-40B4-BE49-F238E27FC236}">
                <a16:creationId xmlns:a16="http://schemas.microsoft.com/office/drawing/2014/main" id="{BC2D5564-FC92-8F25-EA8A-C78EF89B38FE}"/>
              </a:ext>
            </a:extLst>
          </p:cNvPr>
          <p:cNvSpPr/>
          <p:nvPr/>
        </p:nvSpPr>
        <p:spPr>
          <a:xfrm>
            <a:off x="260591" y="2153434"/>
            <a:ext cx="884636" cy="582900"/>
          </a:xfrm>
          <a:prstGeom prst="roundRect">
            <a:avLst>
              <a:gd name="adj" fmla="val 8235"/>
            </a:avLst>
          </a:prstGeom>
          <a:solidFill>
            <a:srgbClr val="EAF1FB"/>
          </a:solidFill>
          <a:ln w="12700">
            <a:solidFill>
              <a:srgbClr val="AECBEB"/>
            </a:solidFill>
            <a:prstDash val="solid"/>
          </a:ln>
          <a:effectLst>
            <a:outerShdw blurRad="31750" dist="15240" dir="5400000" algn="bl" rotWithShape="0">
              <a:srgbClr val="1B2A41">
                <a:alpha val="14000"/>
              </a:srgbClr>
            </a:outerShdw>
          </a:effectLst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32" name="Text 11">
            <a:extLst>
              <a:ext uri="{FF2B5EF4-FFF2-40B4-BE49-F238E27FC236}">
                <a16:creationId xmlns:a16="http://schemas.microsoft.com/office/drawing/2014/main" id="{A5F67F9B-7A2C-8B2A-6E24-7D977DE074B2}"/>
              </a:ext>
            </a:extLst>
          </p:cNvPr>
          <p:cNvSpPr/>
          <p:nvPr/>
        </p:nvSpPr>
        <p:spPr>
          <a:xfrm>
            <a:off x="260591" y="2242583"/>
            <a:ext cx="884636" cy="15086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 defTabSz="685800"/>
            <a:r>
              <a:rPr lang="en-US" sz="675" b="1">
                <a:solidFill>
                  <a:srgbClr val="1E3A5F"/>
                </a:solidFill>
                <a:latin typeface="Georgia"/>
                <a:ea typeface="Calibri" pitchFamily="34" charset="-122"/>
                <a:cs typeface="Calibri" pitchFamily="34" charset="-120"/>
              </a:rPr>
              <a:t>接口文档</a:t>
            </a:r>
            <a:endParaRPr lang="en-US" sz="675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336154F6-370B-6189-D6D3-447BDC0B2DA3}"/>
              </a:ext>
            </a:extLst>
          </p:cNvPr>
          <p:cNvSpPr/>
          <p:nvPr/>
        </p:nvSpPr>
        <p:spPr>
          <a:xfrm>
            <a:off x="260591" y="2414025"/>
            <a:ext cx="884636" cy="2743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 defTabSz="685800"/>
            <a:r>
              <a:rPr lang="en-US" sz="563">
                <a:solidFill>
                  <a:srgbClr val="667085"/>
                </a:solidFill>
                <a:latin typeface="Georgia"/>
                <a:ea typeface="Calibri" pitchFamily="34" charset="-122"/>
                <a:cs typeface="Calibri" pitchFamily="34" charset="-120"/>
              </a:rPr>
              <a:t>(YAPI / Swagger)</a:t>
            </a:r>
            <a:endParaRPr lang="en-US" sz="563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36" name="Shape 13">
            <a:extLst>
              <a:ext uri="{FF2B5EF4-FFF2-40B4-BE49-F238E27FC236}">
                <a16:creationId xmlns:a16="http://schemas.microsoft.com/office/drawing/2014/main" id="{52D0358F-3403-AAA9-22A8-AFD31D59FEA6}"/>
              </a:ext>
            </a:extLst>
          </p:cNvPr>
          <p:cNvSpPr/>
          <p:nvPr/>
        </p:nvSpPr>
        <p:spPr>
          <a:xfrm>
            <a:off x="260591" y="2784337"/>
            <a:ext cx="884636" cy="582900"/>
          </a:xfrm>
          <a:prstGeom prst="roundRect">
            <a:avLst>
              <a:gd name="adj" fmla="val 8235"/>
            </a:avLst>
          </a:prstGeom>
          <a:solidFill>
            <a:srgbClr val="EAF1FB"/>
          </a:solidFill>
          <a:ln w="12700">
            <a:solidFill>
              <a:srgbClr val="AECBEB"/>
            </a:solidFill>
            <a:prstDash val="solid"/>
          </a:ln>
          <a:effectLst>
            <a:outerShdw blurRad="31750" dist="15240" dir="5400000" algn="bl" rotWithShape="0">
              <a:srgbClr val="1B2A41">
                <a:alpha val="14000"/>
              </a:srgbClr>
            </a:outerShdw>
          </a:effectLst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38" name="Text 14">
            <a:extLst>
              <a:ext uri="{FF2B5EF4-FFF2-40B4-BE49-F238E27FC236}">
                <a16:creationId xmlns:a16="http://schemas.microsoft.com/office/drawing/2014/main" id="{91585502-9F79-2C7D-121B-6C523735E009}"/>
              </a:ext>
            </a:extLst>
          </p:cNvPr>
          <p:cNvSpPr/>
          <p:nvPr/>
        </p:nvSpPr>
        <p:spPr>
          <a:xfrm>
            <a:off x="260591" y="2873486"/>
            <a:ext cx="884636" cy="15086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 defTabSz="685800"/>
            <a:r>
              <a:rPr lang="en-US" sz="675" b="1">
                <a:solidFill>
                  <a:srgbClr val="1E3A5F"/>
                </a:solidFill>
                <a:latin typeface="Georgia"/>
                <a:ea typeface="Calibri" pitchFamily="34" charset="-122"/>
                <a:cs typeface="Calibri" pitchFamily="34" charset="-120"/>
              </a:rPr>
              <a:t>技术方案</a:t>
            </a:r>
            <a:endParaRPr lang="en-US" sz="675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40" name="Text 15">
            <a:extLst>
              <a:ext uri="{FF2B5EF4-FFF2-40B4-BE49-F238E27FC236}">
                <a16:creationId xmlns:a16="http://schemas.microsoft.com/office/drawing/2014/main" id="{1A75E16F-0903-A5A0-8DD7-08147C7B16DB}"/>
              </a:ext>
            </a:extLst>
          </p:cNvPr>
          <p:cNvSpPr/>
          <p:nvPr/>
        </p:nvSpPr>
        <p:spPr>
          <a:xfrm>
            <a:off x="260591" y="3044928"/>
            <a:ext cx="884636" cy="2743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 defTabSz="685800"/>
            <a:r>
              <a:rPr lang="en-US" sz="563">
                <a:solidFill>
                  <a:srgbClr val="667085"/>
                </a:solidFill>
                <a:latin typeface="Georgia"/>
                <a:ea typeface="Calibri" pitchFamily="34" charset="-122"/>
                <a:cs typeface="Calibri" pitchFamily="34" charset="-120"/>
              </a:rPr>
              <a:t>(文档 / 方案库)</a:t>
            </a:r>
            <a:endParaRPr lang="en-US" sz="563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42" name="Shape 16">
            <a:extLst>
              <a:ext uri="{FF2B5EF4-FFF2-40B4-BE49-F238E27FC236}">
                <a16:creationId xmlns:a16="http://schemas.microsoft.com/office/drawing/2014/main" id="{2A569AD1-FB8A-744E-39EA-B13A7BE5AEF7}"/>
              </a:ext>
            </a:extLst>
          </p:cNvPr>
          <p:cNvSpPr/>
          <p:nvPr/>
        </p:nvSpPr>
        <p:spPr>
          <a:xfrm>
            <a:off x="260591" y="3415240"/>
            <a:ext cx="884636" cy="582900"/>
          </a:xfrm>
          <a:prstGeom prst="roundRect">
            <a:avLst>
              <a:gd name="adj" fmla="val 8235"/>
            </a:avLst>
          </a:prstGeom>
          <a:solidFill>
            <a:srgbClr val="EAF1FB"/>
          </a:solidFill>
          <a:ln w="12700">
            <a:solidFill>
              <a:srgbClr val="AECBEB"/>
            </a:solidFill>
            <a:prstDash val="solid"/>
          </a:ln>
          <a:effectLst>
            <a:outerShdw blurRad="31750" dist="15240" dir="5400000" algn="bl" rotWithShape="0">
              <a:srgbClr val="1B2A41">
                <a:alpha val="14000"/>
              </a:srgbClr>
            </a:outerShdw>
          </a:effectLst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44" name="Text 17">
            <a:extLst>
              <a:ext uri="{FF2B5EF4-FFF2-40B4-BE49-F238E27FC236}">
                <a16:creationId xmlns:a16="http://schemas.microsoft.com/office/drawing/2014/main" id="{9D4189A9-4DA1-2B5F-374A-4B4FE74C950F}"/>
              </a:ext>
            </a:extLst>
          </p:cNvPr>
          <p:cNvSpPr/>
          <p:nvPr/>
        </p:nvSpPr>
        <p:spPr>
          <a:xfrm>
            <a:off x="260591" y="3504389"/>
            <a:ext cx="884636" cy="15086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 defTabSz="685800"/>
            <a:r>
              <a:rPr lang="en-US" sz="675" b="1">
                <a:solidFill>
                  <a:srgbClr val="1E3A5F"/>
                </a:solidFill>
                <a:latin typeface="Georgia"/>
                <a:ea typeface="Calibri" pitchFamily="34" charset="-122"/>
                <a:cs typeface="Calibri" pitchFamily="34" charset="-120"/>
              </a:rPr>
              <a:t>历史 Spec</a:t>
            </a:r>
            <a:endParaRPr lang="en-US" sz="675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46" name="Text 18">
            <a:extLst>
              <a:ext uri="{FF2B5EF4-FFF2-40B4-BE49-F238E27FC236}">
                <a16:creationId xmlns:a16="http://schemas.microsoft.com/office/drawing/2014/main" id="{1C8D5339-37F1-5DE6-F2B3-46DD1F112EF4}"/>
              </a:ext>
            </a:extLst>
          </p:cNvPr>
          <p:cNvSpPr/>
          <p:nvPr/>
        </p:nvSpPr>
        <p:spPr>
          <a:xfrm>
            <a:off x="260591" y="3675831"/>
            <a:ext cx="884636" cy="2743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 defTabSz="685800"/>
            <a:r>
              <a:rPr lang="en-US" sz="563">
                <a:solidFill>
                  <a:srgbClr val="667085"/>
                </a:solidFill>
                <a:latin typeface="Georgia"/>
                <a:ea typeface="Calibri" pitchFamily="34" charset="-122"/>
                <a:cs typeface="Calibri" pitchFamily="34" charset="-120"/>
              </a:rPr>
              <a:t>(项目知识库)</a:t>
            </a:r>
            <a:endParaRPr lang="en-US" sz="563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48" name="Text 19">
            <a:extLst>
              <a:ext uri="{FF2B5EF4-FFF2-40B4-BE49-F238E27FC236}">
                <a16:creationId xmlns:a16="http://schemas.microsoft.com/office/drawing/2014/main" id="{7D1465B6-6423-A2F5-C9D1-23A1EFCBE99F}"/>
              </a:ext>
            </a:extLst>
          </p:cNvPr>
          <p:cNvSpPr/>
          <p:nvPr/>
        </p:nvSpPr>
        <p:spPr>
          <a:xfrm>
            <a:off x="260591" y="4025570"/>
            <a:ext cx="884636" cy="13715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 defTabSz="685800"/>
            <a:r>
              <a:rPr lang="en-US" sz="750" b="1">
                <a:solidFill>
                  <a:srgbClr val="667085"/>
                </a:solidFill>
                <a:latin typeface="Georgia"/>
                <a:ea typeface="Calibri" pitchFamily="34" charset="-122"/>
                <a:cs typeface="Calibri" pitchFamily="34" charset="-120"/>
              </a:rPr>
              <a:t>· · ·</a:t>
            </a:r>
            <a:endParaRPr lang="en-US" sz="7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50" name="Shape 20">
            <a:extLst>
              <a:ext uri="{FF2B5EF4-FFF2-40B4-BE49-F238E27FC236}">
                <a16:creationId xmlns:a16="http://schemas.microsoft.com/office/drawing/2014/main" id="{35E911E2-6E87-0796-FDCA-30319DA981A8}"/>
              </a:ext>
            </a:extLst>
          </p:cNvPr>
          <p:cNvSpPr/>
          <p:nvPr/>
        </p:nvSpPr>
        <p:spPr>
          <a:xfrm>
            <a:off x="7906862" y="603607"/>
            <a:ext cx="1062935" cy="3805992"/>
          </a:xfrm>
          <a:prstGeom prst="roundRect">
            <a:avLst>
              <a:gd name="adj" fmla="val 5161"/>
            </a:avLst>
          </a:prstGeom>
          <a:solidFill>
            <a:srgbClr val="FCFCFD"/>
          </a:solidFill>
          <a:ln w="12700">
            <a:solidFill>
              <a:srgbClr val="D8DCE3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52" name="Text 21">
            <a:extLst>
              <a:ext uri="{FF2B5EF4-FFF2-40B4-BE49-F238E27FC236}">
                <a16:creationId xmlns:a16="http://schemas.microsoft.com/office/drawing/2014/main" id="{52456384-14CE-991D-964F-5F5412DD68F0}"/>
              </a:ext>
            </a:extLst>
          </p:cNvPr>
          <p:cNvSpPr/>
          <p:nvPr/>
        </p:nvSpPr>
        <p:spPr>
          <a:xfrm>
            <a:off x="7906862" y="672183"/>
            <a:ext cx="1062935" cy="15086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 defTabSz="685800"/>
            <a:r>
              <a:rPr lang="en-US" sz="788" b="1">
                <a:solidFill>
                  <a:srgbClr val="10233B"/>
                </a:solidFill>
                <a:latin typeface="Georgia"/>
                <a:ea typeface="Cambria" pitchFamily="34" charset="-122"/>
                <a:cs typeface="Cambria" pitchFamily="34" charset="-120"/>
              </a:rPr>
              <a:t>输出与沉淀</a:t>
            </a:r>
            <a:endParaRPr lang="en-US" sz="788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54" name="Shape 22">
            <a:extLst>
              <a:ext uri="{FF2B5EF4-FFF2-40B4-BE49-F238E27FC236}">
                <a16:creationId xmlns:a16="http://schemas.microsoft.com/office/drawing/2014/main" id="{2E313AC7-A1CF-C83D-79A3-A9DFC51EBE9C}"/>
              </a:ext>
            </a:extLst>
          </p:cNvPr>
          <p:cNvSpPr/>
          <p:nvPr/>
        </p:nvSpPr>
        <p:spPr>
          <a:xfrm>
            <a:off x="7996012" y="891628"/>
            <a:ext cx="884636" cy="582900"/>
          </a:xfrm>
          <a:prstGeom prst="roundRect">
            <a:avLst>
              <a:gd name="adj" fmla="val 8235"/>
            </a:avLst>
          </a:prstGeom>
          <a:solidFill>
            <a:srgbClr val="EAF1FB"/>
          </a:solidFill>
          <a:ln w="12700">
            <a:solidFill>
              <a:srgbClr val="AECBEB"/>
            </a:solidFill>
            <a:prstDash val="solid"/>
          </a:ln>
          <a:effectLst>
            <a:outerShdw blurRad="31750" dist="15240" dir="5400000" algn="bl" rotWithShape="0">
              <a:srgbClr val="1B2A41">
                <a:alpha val="14000"/>
              </a:srgbClr>
            </a:outerShdw>
          </a:effectLst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56" name="Text 23">
            <a:extLst>
              <a:ext uri="{FF2B5EF4-FFF2-40B4-BE49-F238E27FC236}">
                <a16:creationId xmlns:a16="http://schemas.microsoft.com/office/drawing/2014/main" id="{013B5C87-B19B-2136-AA58-81BE46C69B93}"/>
              </a:ext>
            </a:extLst>
          </p:cNvPr>
          <p:cNvSpPr/>
          <p:nvPr/>
        </p:nvSpPr>
        <p:spPr>
          <a:xfrm>
            <a:off x="7996012" y="980776"/>
            <a:ext cx="884636" cy="15086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 defTabSz="685800"/>
            <a:r>
              <a:rPr lang="en-US" sz="675" b="1">
                <a:solidFill>
                  <a:srgbClr val="1E3A5F"/>
                </a:solidFill>
                <a:latin typeface="Georgia"/>
                <a:ea typeface="Calibri" pitchFamily="34" charset="-122"/>
                <a:cs typeface="Calibri" pitchFamily="34" charset="-120"/>
              </a:rPr>
              <a:t>可运行代码</a:t>
            </a:r>
            <a:endParaRPr lang="en-US" sz="675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58" name="Text 24">
            <a:extLst>
              <a:ext uri="{FF2B5EF4-FFF2-40B4-BE49-F238E27FC236}">
                <a16:creationId xmlns:a16="http://schemas.microsoft.com/office/drawing/2014/main" id="{D4A51F3A-F357-F328-5EBF-425014368FF1}"/>
              </a:ext>
            </a:extLst>
          </p:cNvPr>
          <p:cNvSpPr/>
          <p:nvPr/>
        </p:nvSpPr>
        <p:spPr>
          <a:xfrm>
            <a:off x="7996012" y="1152219"/>
            <a:ext cx="884636" cy="2743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 defTabSz="685800"/>
            <a:r>
              <a:rPr lang="en-US" sz="563">
                <a:solidFill>
                  <a:srgbClr val="667085"/>
                </a:solidFill>
                <a:latin typeface="Georgia"/>
                <a:ea typeface="Calibri" pitchFamily="34" charset="-122"/>
                <a:cs typeface="Calibri" pitchFamily="34" charset="-120"/>
              </a:rPr>
              <a:t>(功能实现)</a:t>
            </a:r>
            <a:endParaRPr lang="en-US" sz="563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60" name="Shape 25">
            <a:extLst>
              <a:ext uri="{FF2B5EF4-FFF2-40B4-BE49-F238E27FC236}">
                <a16:creationId xmlns:a16="http://schemas.microsoft.com/office/drawing/2014/main" id="{CDA79B4D-1DFC-D909-EF4F-0F955AADFCFE}"/>
              </a:ext>
            </a:extLst>
          </p:cNvPr>
          <p:cNvSpPr/>
          <p:nvPr/>
        </p:nvSpPr>
        <p:spPr>
          <a:xfrm>
            <a:off x="7996012" y="1522531"/>
            <a:ext cx="884636" cy="582900"/>
          </a:xfrm>
          <a:prstGeom prst="roundRect">
            <a:avLst>
              <a:gd name="adj" fmla="val 8235"/>
            </a:avLst>
          </a:prstGeom>
          <a:solidFill>
            <a:srgbClr val="EAF1FB"/>
          </a:solidFill>
          <a:ln w="12700">
            <a:solidFill>
              <a:srgbClr val="AECBEB"/>
            </a:solidFill>
            <a:prstDash val="solid"/>
          </a:ln>
          <a:effectLst>
            <a:outerShdw blurRad="31750" dist="15240" dir="5400000" algn="bl" rotWithShape="0">
              <a:srgbClr val="1B2A41">
                <a:alpha val="14000"/>
              </a:srgbClr>
            </a:outerShdw>
          </a:effectLst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62" name="Text 26">
            <a:extLst>
              <a:ext uri="{FF2B5EF4-FFF2-40B4-BE49-F238E27FC236}">
                <a16:creationId xmlns:a16="http://schemas.microsoft.com/office/drawing/2014/main" id="{07D2B7AA-DDDD-FD64-9F61-A8CFB67CC6BD}"/>
              </a:ext>
            </a:extLst>
          </p:cNvPr>
          <p:cNvSpPr/>
          <p:nvPr/>
        </p:nvSpPr>
        <p:spPr>
          <a:xfrm>
            <a:off x="7996012" y="1611680"/>
            <a:ext cx="884636" cy="15086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 defTabSz="685800"/>
            <a:r>
              <a:rPr lang="en-US" sz="675" b="1">
                <a:solidFill>
                  <a:srgbClr val="1E3A5F"/>
                </a:solidFill>
                <a:latin typeface="Georgia"/>
                <a:ea typeface="Calibri" pitchFamily="34" charset="-122"/>
                <a:cs typeface="Calibri" pitchFamily="34" charset="-120"/>
              </a:rPr>
              <a:t>变更说明</a:t>
            </a:r>
            <a:endParaRPr lang="en-US" sz="675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64" name="Text 27">
            <a:extLst>
              <a:ext uri="{FF2B5EF4-FFF2-40B4-BE49-F238E27FC236}">
                <a16:creationId xmlns:a16="http://schemas.microsoft.com/office/drawing/2014/main" id="{6A1FC8FC-60CF-0495-AF7A-1AB773DE32E8}"/>
              </a:ext>
            </a:extLst>
          </p:cNvPr>
          <p:cNvSpPr/>
          <p:nvPr/>
        </p:nvSpPr>
        <p:spPr>
          <a:xfrm>
            <a:off x="7996012" y="1783122"/>
            <a:ext cx="884636" cy="2743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 defTabSz="685800"/>
            <a:r>
              <a:rPr lang="en-US" sz="563">
                <a:solidFill>
                  <a:srgbClr val="667085"/>
                </a:solidFill>
                <a:latin typeface="Georgia"/>
                <a:ea typeface="Calibri" pitchFamily="34" charset="-122"/>
                <a:cs typeface="Calibri" pitchFamily="34" charset="-120"/>
              </a:rPr>
              <a:t>(影响面 / 自查)</a:t>
            </a:r>
            <a:endParaRPr lang="en-US" sz="563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66" name="Shape 28">
            <a:extLst>
              <a:ext uri="{FF2B5EF4-FFF2-40B4-BE49-F238E27FC236}">
                <a16:creationId xmlns:a16="http://schemas.microsoft.com/office/drawing/2014/main" id="{445953F4-395D-2710-C8C0-CCEA59379390}"/>
              </a:ext>
            </a:extLst>
          </p:cNvPr>
          <p:cNvSpPr/>
          <p:nvPr/>
        </p:nvSpPr>
        <p:spPr>
          <a:xfrm>
            <a:off x="7996012" y="2153434"/>
            <a:ext cx="884636" cy="582900"/>
          </a:xfrm>
          <a:prstGeom prst="roundRect">
            <a:avLst>
              <a:gd name="adj" fmla="val 8235"/>
            </a:avLst>
          </a:prstGeom>
          <a:solidFill>
            <a:srgbClr val="EAF1FB"/>
          </a:solidFill>
          <a:ln w="12700">
            <a:solidFill>
              <a:srgbClr val="AECBEB"/>
            </a:solidFill>
            <a:prstDash val="solid"/>
          </a:ln>
          <a:effectLst>
            <a:outerShdw blurRad="31750" dist="15240" dir="5400000" algn="bl" rotWithShape="0">
              <a:srgbClr val="1B2A41">
                <a:alpha val="14000"/>
              </a:srgbClr>
            </a:outerShdw>
          </a:effectLst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68" name="Text 29">
            <a:extLst>
              <a:ext uri="{FF2B5EF4-FFF2-40B4-BE49-F238E27FC236}">
                <a16:creationId xmlns:a16="http://schemas.microsoft.com/office/drawing/2014/main" id="{FE2C2A94-073B-1E39-9584-87B2BE1163FF}"/>
              </a:ext>
            </a:extLst>
          </p:cNvPr>
          <p:cNvSpPr/>
          <p:nvPr/>
        </p:nvSpPr>
        <p:spPr>
          <a:xfrm>
            <a:off x="7996012" y="2242583"/>
            <a:ext cx="884636" cy="15086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 defTabSz="685800"/>
            <a:r>
              <a:rPr lang="en-US" sz="675" b="1">
                <a:solidFill>
                  <a:srgbClr val="1E3A5F"/>
                </a:solidFill>
                <a:latin typeface="Georgia"/>
                <a:ea typeface="Calibri" pitchFamily="34" charset="-122"/>
                <a:cs typeface="Calibri" pitchFamily="34" charset="-120"/>
              </a:rPr>
              <a:t>测试结果</a:t>
            </a:r>
            <a:endParaRPr lang="en-US" sz="675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70" name="Text 30">
            <a:extLst>
              <a:ext uri="{FF2B5EF4-FFF2-40B4-BE49-F238E27FC236}">
                <a16:creationId xmlns:a16="http://schemas.microsoft.com/office/drawing/2014/main" id="{26413983-F4AF-704D-F30E-C0DBC3B07F46}"/>
              </a:ext>
            </a:extLst>
          </p:cNvPr>
          <p:cNvSpPr/>
          <p:nvPr/>
        </p:nvSpPr>
        <p:spPr>
          <a:xfrm>
            <a:off x="7996012" y="2414025"/>
            <a:ext cx="884636" cy="2743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 defTabSz="685800"/>
            <a:r>
              <a:rPr lang="en-US" sz="563">
                <a:solidFill>
                  <a:srgbClr val="667085"/>
                </a:solidFill>
                <a:latin typeface="Georgia"/>
                <a:ea typeface="Calibri" pitchFamily="34" charset="-122"/>
                <a:cs typeface="Calibri" pitchFamily="34" charset="-120"/>
              </a:rPr>
              <a:t>(自动化报告)</a:t>
            </a:r>
            <a:endParaRPr lang="en-US" sz="563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72" name="Shape 31">
            <a:extLst>
              <a:ext uri="{FF2B5EF4-FFF2-40B4-BE49-F238E27FC236}">
                <a16:creationId xmlns:a16="http://schemas.microsoft.com/office/drawing/2014/main" id="{EAE2A642-BEC8-81D9-A662-5590523EA9DC}"/>
              </a:ext>
            </a:extLst>
          </p:cNvPr>
          <p:cNvSpPr/>
          <p:nvPr/>
        </p:nvSpPr>
        <p:spPr>
          <a:xfrm>
            <a:off x="7996012" y="2784337"/>
            <a:ext cx="884636" cy="582900"/>
          </a:xfrm>
          <a:prstGeom prst="roundRect">
            <a:avLst>
              <a:gd name="adj" fmla="val 8235"/>
            </a:avLst>
          </a:prstGeom>
          <a:solidFill>
            <a:srgbClr val="EAF1FB"/>
          </a:solidFill>
          <a:ln w="12700">
            <a:solidFill>
              <a:srgbClr val="AECBEB"/>
            </a:solidFill>
            <a:prstDash val="solid"/>
          </a:ln>
          <a:effectLst>
            <a:outerShdw blurRad="31750" dist="15240" dir="5400000" algn="bl" rotWithShape="0">
              <a:srgbClr val="1B2A41">
                <a:alpha val="14000"/>
              </a:srgbClr>
            </a:outerShdw>
          </a:effectLst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74" name="Text 32">
            <a:extLst>
              <a:ext uri="{FF2B5EF4-FFF2-40B4-BE49-F238E27FC236}">
                <a16:creationId xmlns:a16="http://schemas.microsoft.com/office/drawing/2014/main" id="{6134D56C-E1A9-B8F8-1ED4-F15DFA48A465}"/>
              </a:ext>
            </a:extLst>
          </p:cNvPr>
          <p:cNvSpPr/>
          <p:nvPr/>
        </p:nvSpPr>
        <p:spPr>
          <a:xfrm>
            <a:off x="7996012" y="2873486"/>
            <a:ext cx="884636" cy="15086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 defTabSz="685800"/>
            <a:r>
              <a:rPr lang="en-US" sz="675" b="1">
                <a:solidFill>
                  <a:srgbClr val="1E3A5F"/>
                </a:solidFill>
                <a:latin typeface="Georgia"/>
                <a:ea typeface="Calibri" pitchFamily="34" charset="-122"/>
                <a:cs typeface="Calibri" pitchFamily="34" charset="-120"/>
              </a:rPr>
              <a:t>更新后的 Spec</a:t>
            </a:r>
            <a:endParaRPr lang="en-US" sz="675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76" name="Text 33">
            <a:extLst>
              <a:ext uri="{FF2B5EF4-FFF2-40B4-BE49-F238E27FC236}">
                <a16:creationId xmlns:a16="http://schemas.microsoft.com/office/drawing/2014/main" id="{8A476152-BA28-7C4A-BFE0-AF3FB4F2256D}"/>
              </a:ext>
            </a:extLst>
          </p:cNvPr>
          <p:cNvSpPr/>
          <p:nvPr/>
        </p:nvSpPr>
        <p:spPr>
          <a:xfrm>
            <a:off x="7996012" y="3044928"/>
            <a:ext cx="884636" cy="2743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 defTabSz="685800"/>
            <a:r>
              <a:rPr lang="en-US" sz="563">
                <a:solidFill>
                  <a:srgbClr val="667085"/>
                </a:solidFill>
                <a:latin typeface="Georgia"/>
                <a:ea typeface="Calibri" pitchFamily="34" charset="-122"/>
                <a:cs typeface="Calibri" pitchFamily="34" charset="-120"/>
              </a:rPr>
              <a:t>(主知识库)</a:t>
            </a:r>
            <a:endParaRPr lang="en-US" sz="563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78" name="Shape 34">
            <a:extLst>
              <a:ext uri="{FF2B5EF4-FFF2-40B4-BE49-F238E27FC236}">
                <a16:creationId xmlns:a16="http://schemas.microsoft.com/office/drawing/2014/main" id="{A6699FE4-D21B-3B08-8C3F-386BB5691E4D}"/>
              </a:ext>
            </a:extLst>
          </p:cNvPr>
          <p:cNvSpPr/>
          <p:nvPr/>
        </p:nvSpPr>
        <p:spPr>
          <a:xfrm>
            <a:off x="7996012" y="3415240"/>
            <a:ext cx="884636" cy="582900"/>
          </a:xfrm>
          <a:prstGeom prst="roundRect">
            <a:avLst>
              <a:gd name="adj" fmla="val 8235"/>
            </a:avLst>
          </a:prstGeom>
          <a:solidFill>
            <a:srgbClr val="EAF1FB"/>
          </a:solidFill>
          <a:ln w="12700">
            <a:solidFill>
              <a:srgbClr val="AECBEB"/>
            </a:solidFill>
            <a:prstDash val="solid"/>
          </a:ln>
          <a:effectLst>
            <a:outerShdw blurRad="31750" dist="15240" dir="5400000" algn="bl" rotWithShape="0">
              <a:srgbClr val="1B2A41">
                <a:alpha val="14000"/>
              </a:srgbClr>
            </a:outerShdw>
          </a:effectLst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80" name="Text 35">
            <a:extLst>
              <a:ext uri="{FF2B5EF4-FFF2-40B4-BE49-F238E27FC236}">
                <a16:creationId xmlns:a16="http://schemas.microsoft.com/office/drawing/2014/main" id="{764EF525-F9AD-F576-C93C-1B663DF89961}"/>
              </a:ext>
            </a:extLst>
          </p:cNvPr>
          <p:cNvSpPr/>
          <p:nvPr/>
        </p:nvSpPr>
        <p:spPr>
          <a:xfrm>
            <a:off x="7996012" y="3504389"/>
            <a:ext cx="884636" cy="15086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 defTabSz="685800"/>
            <a:r>
              <a:rPr lang="en-US" sz="675" b="1">
                <a:solidFill>
                  <a:srgbClr val="1E3A5F"/>
                </a:solidFill>
                <a:latin typeface="Georgia"/>
                <a:ea typeface="Calibri" pitchFamily="34" charset="-122"/>
                <a:cs typeface="Calibri" pitchFamily="34" charset="-120"/>
              </a:rPr>
              <a:t>团队规范沉淀</a:t>
            </a:r>
            <a:endParaRPr lang="en-US" sz="675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82" name="Text 36">
            <a:extLst>
              <a:ext uri="{FF2B5EF4-FFF2-40B4-BE49-F238E27FC236}">
                <a16:creationId xmlns:a16="http://schemas.microsoft.com/office/drawing/2014/main" id="{398BF3AA-18C2-B43E-3857-6B7F7A3B2960}"/>
              </a:ext>
            </a:extLst>
          </p:cNvPr>
          <p:cNvSpPr/>
          <p:nvPr/>
        </p:nvSpPr>
        <p:spPr>
          <a:xfrm>
            <a:off x="7996012" y="3675831"/>
            <a:ext cx="884636" cy="2743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 defTabSz="685800"/>
            <a:r>
              <a:rPr lang="en-US" sz="563">
                <a:solidFill>
                  <a:srgbClr val="667085"/>
                </a:solidFill>
                <a:latin typeface="Georgia"/>
                <a:ea typeface="Calibri" pitchFamily="34" charset="-122"/>
                <a:cs typeface="Calibri" pitchFamily="34" charset="-120"/>
              </a:rPr>
              <a:t>(Skills / Hooks / 文档)</a:t>
            </a:r>
            <a:endParaRPr lang="en-US" sz="563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84" name="Shape 37">
            <a:extLst>
              <a:ext uri="{FF2B5EF4-FFF2-40B4-BE49-F238E27FC236}">
                <a16:creationId xmlns:a16="http://schemas.microsoft.com/office/drawing/2014/main" id="{7305D0C5-7F86-F628-182B-28812059960D}"/>
              </a:ext>
            </a:extLst>
          </p:cNvPr>
          <p:cNvSpPr/>
          <p:nvPr/>
        </p:nvSpPr>
        <p:spPr>
          <a:xfrm>
            <a:off x="1254948" y="2081429"/>
            <a:ext cx="219445" cy="240017"/>
          </a:xfrm>
          <a:prstGeom prst="rightArrow">
            <a:avLst/>
          </a:prstGeom>
          <a:solidFill>
            <a:srgbClr val="1E3A5F"/>
          </a:solidFill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86" name="Shape 38">
            <a:extLst>
              <a:ext uri="{FF2B5EF4-FFF2-40B4-BE49-F238E27FC236}">
                <a16:creationId xmlns:a16="http://schemas.microsoft.com/office/drawing/2014/main" id="{8897F22E-6DCA-F5FE-1C05-3BADDB386F73}"/>
              </a:ext>
            </a:extLst>
          </p:cNvPr>
          <p:cNvSpPr/>
          <p:nvPr/>
        </p:nvSpPr>
        <p:spPr>
          <a:xfrm>
            <a:off x="7735421" y="2081429"/>
            <a:ext cx="219445" cy="240017"/>
          </a:xfrm>
          <a:prstGeom prst="rightArrow">
            <a:avLst/>
          </a:prstGeom>
          <a:solidFill>
            <a:srgbClr val="1E3A5F"/>
          </a:solidFill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88" name="Shape 39">
            <a:extLst>
              <a:ext uri="{FF2B5EF4-FFF2-40B4-BE49-F238E27FC236}">
                <a16:creationId xmlns:a16="http://schemas.microsoft.com/office/drawing/2014/main" id="{DB13B1F9-1454-4BBF-C86C-4CD7256B397D}"/>
              </a:ext>
            </a:extLst>
          </p:cNvPr>
          <p:cNvSpPr/>
          <p:nvPr/>
        </p:nvSpPr>
        <p:spPr>
          <a:xfrm>
            <a:off x="1474394" y="603607"/>
            <a:ext cx="6295316" cy="1220660"/>
          </a:xfrm>
          <a:prstGeom prst="roundRect">
            <a:avLst>
              <a:gd name="adj" fmla="val 4494"/>
            </a:avLst>
          </a:prstGeom>
          <a:solidFill>
            <a:srgbClr val="FBFCFE"/>
          </a:solidFill>
          <a:ln w="19050">
            <a:solidFill>
              <a:srgbClr val="1E3A5F"/>
            </a:solidFill>
            <a:prstDash val="dash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90" name="Text 40">
            <a:extLst>
              <a:ext uri="{FF2B5EF4-FFF2-40B4-BE49-F238E27FC236}">
                <a16:creationId xmlns:a16="http://schemas.microsoft.com/office/drawing/2014/main" id="{760B7DE6-4D06-66AB-0569-DCD9790808A5}"/>
              </a:ext>
            </a:extLst>
          </p:cNvPr>
          <p:cNvSpPr/>
          <p:nvPr/>
        </p:nvSpPr>
        <p:spPr>
          <a:xfrm>
            <a:off x="6363893" y="665325"/>
            <a:ext cx="1337240" cy="13715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r" defTabSz="685800"/>
            <a:r>
              <a:rPr lang="en-US" sz="788" b="1">
                <a:solidFill>
                  <a:srgbClr val="10233B"/>
                </a:solidFill>
                <a:latin typeface="Georgia"/>
                <a:ea typeface="Cambria" pitchFamily="34" charset="-122"/>
                <a:cs typeface="Cambria" pitchFamily="34" charset="-120"/>
              </a:rPr>
              <a:t>SDD 生命周期 · Spec Kit</a:t>
            </a:r>
            <a:endParaRPr lang="en-US" sz="788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92" name="Shape 41">
            <a:extLst>
              <a:ext uri="{FF2B5EF4-FFF2-40B4-BE49-F238E27FC236}">
                <a16:creationId xmlns:a16="http://schemas.microsoft.com/office/drawing/2014/main" id="{0326CD92-4DAA-007C-AA27-0977A2A9F8D6}"/>
              </a:ext>
            </a:extLst>
          </p:cNvPr>
          <p:cNvSpPr/>
          <p:nvPr/>
        </p:nvSpPr>
        <p:spPr>
          <a:xfrm>
            <a:off x="1563543" y="829909"/>
            <a:ext cx="706337" cy="912067"/>
          </a:xfrm>
          <a:prstGeom prst="roundRect">
            <a:avLst>
              <a:gd name="adj" fmla="val 5825"/>
            </a:avLst>
          </a:prstGeom>
          <a:solidFill>
            <a:srgbClr val="EAF1FB"/>
          </a:solidFill>
          <a:ln w="16510">
            <a:solidFill>
              <a:srgbClr val="AECBEB"/>
            </a:solidFill>
            <a:prstDash val="solid"/>
          </a:ln>
          <a:effectLst>
            <a:outerShdw blurRad="31750" dist="16510" dir="5400000" algn="bl" rotWithShape="0">
              <a:srgbClr val="1B2A41">
                <a:alpha val="14000"/>
              </a:srgbClr>
            </a:outerShdw>
          </a:effectLst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94" name="Text 42">
            <a:extLst>
              <a:ext uri="{FF2B5EF4-FFF2-40B4-BE49-F238E27FC236}">
                <a16:creationId xmlns:a16="http://schemas.microsoft.com/office/drawing/2014/main" id="{75C2DF07-A677-BE95-1B89-E3E05493FA8A}"/>
              </a:ext>
            </a:extLst>
          </p:cNvPr>
          <p:cNvSpPr/>
          <p:nvPr/>
        </p:nvSpPr>
        <p:spPr>
          <a:xfrm>
            <a:off x="1597831" y="864197"/>
            <a:ext cx="637761" cy="233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685800">
              <a:lnSpc>
                <a:spcPct val="102000"/>
              </a:lnSpc>
            </a:pPr>
            <a:r>
              <a:rPr lang="en-US" sz="503" b="1">
                <a:solidFill>
                  <a:srgbClr val="10233B"/>
                </a:solidFill>
                <a:latin typeface="Georgia"/>
                <a:ea typeface="Cambria" pitchFamily="34" charset="-122"/>
                <a:cs typeface="Cambria" pitchFamily="34" charset="-120"/>
              </a:rPr>
              <a:t>/speckit.constitution</a:t>
            </a:r>
            <a:endParaRPr lang="en-US" sz="503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96" name="Text 43">
            <a:extLst>
              <a:ext uri="{FF2B5EF4-FFF2-40B4-BE49-F238E27FC236}">
                <a16:creationId xmlns:a16="http://schemas.microsoft.com/office/drawing/2014/main" id="{49818EC0-FD4F-F992-0A16-2DEB5E301EAB}"/>
              </a:ext>
            </a:extLst>
          </p:cNvPr>
          <p:cNvSpPr/>
          <p:nvPr/>
        </p:nvSpPr>
        <p:spPr>
          <a:xfrm>
            <a:off x="1597831" y="1055143"/>
            <a:ext cx="637761" cy="10972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685800"/>
            <a:r>
              <a:rPr lang="en-US" sz="600" b="1">
                <a:solidFill>
                  <a:srgbClr val="1E3A5F"/>
                </a:solidFill>
                <a:latin typeface="Georgia"/>
                <a:ea typeface="Calibri" pitchFamily="34" charset="-122"/>
                <a:cs typeface="Calibri" pitchFamily="34" charset="-120"/>
              </a:rPr>
              <a:t>STEP  · 治理</a:t>
            </a:r>
            <a:endParaRPr lang="en-US" sz="600" b="1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98" name="Text 44">
            <a:extLst>
              <a:ext uri="{FF2B5EF4-FFF2-40B4-BE49-F238E27FC236}">
                <a16:creationId xmlns:a16="http://schemas.microsoft.com/office/drawing/2014/main" id="{2D19271A-377D-4921-CF3E-D4F80320EEC0}"/>
              </a:ext>
            </a:extLst>
          </p:cNvPr>
          <p:cNvSpPr/>
          <p:nvPr/>
        </p:nvSpPr>
        <p:spPr>
          <a:xfrm>
            <a:off x="1597831" y="1285943"/>
            <a:ext cx="637761" cy="3257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685800">
              <a:lnSpc>
                <a:spcPct val="115000"/>
              </a:lnSpc>
            </a:pPr>
            <a:r>
              <a:rPr lang="en-US" sz="600">
                <a:solidFill>
                  <a:srgbClr val="1F2937"/>
                </a:solidFill>
                <a:latin typeface="Georgia"/>
                <a:ea typeface="Calibri" pitchFamily="34" charset="-122"/>
                <a:cs typeface="Calibri" pitchFamily="34" charset="-120"/>
              </a:rPr>
              <a:t>建立治理原则</a:t>
            </a:r>
            <a:endParaRPr lang="en-US" sz="600">
              <a:solidFill>
                <a:srgbClr val="000000"/>
              </a:solidFill>
              <a:latin typeface="Georgia"/>
            </a:endParaRPr>
          </a:p>
          <a:p>
            <a:pPr defTabSz="685800">
              <a:lnSpc>
                <a:spcPct val="115000"/>
              </a:lnSpc>
            </a:pPr>
            <a:r>
              <a:rPr lang="en-US" sz="600">
                <a:solidFill>
                  <a:srgbClr val="1F2937"/>
                </a:solidFill>
                <a:latin typeface="Georgia"/>
                <a:ea typeface="Calibri" pitchFamily="34" charset="-122"/>
                <a:cs typeface="Calibri" pitchFamily="34" charset="-120"/>
              </a:rPr>
              <a:t>写入 constitution.md</a:t>
            </a:r>
            <a:endParaRPr lang="en-US" sz="60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00" name="Shape 45">
            <a:extLst>
              <a:ext uri="{FF2B5EF4-FFF2-40B4-BE49-F238E27FC236}">
                <a16:creationId xmlns:a16="http://schemas.microsoft.com/office/drawing/2014/main" id="{CF6F1E0C-B51D-34B5-56D0-F8AFBE0752AE}"/>
              </a:ext>
            </a:extLst>
          </p:cNvPr>
          <p:cNvSpPr/>
          <p:nvPr/>
        </p:nvSpPr>
        <p:spPr>
          <a:xfrm>
            <a:off x="2331599" y="829909"/>
            <a:ext cx="706337" cy="912067"/>
          </a:xfrm>
          <a:prstGeom prst="roundRect">
            <a:avLst>
              <a:gd name="adj" fmla="val 5825"/>
            </a:avLst>
          </a:prstGeom>
          <a:solidFill>
            <a:srgbClr val="EAF1FB"/>
          </a:solidFill>
          <a:ln w="16510">
            <a:solidFill>
              <a:srgbClr val="AECBEB"/>
            </a:solidFill>
            <a:prstDash val="solid"/>
          </a:ln>
          <a:effectLst>
            <a:outerShdw blurRad="31750" dist="16510" dir="5400000" algn="bl" rotWithShape="0">
              <a:srgbClr val="1B2A41">
                <a:alpha val="14000"/>
              </a:srgbClr>
            </a:outerShdw>
          </a:effectLst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02" name="Text 46">
            <a:extLst>
              <a:ext uri="{FF2B5EF4-FFF2-40B4-BE49-F238E27FC236}">
                <a16:creationId xmlns:a16="http://schemas.microsoft.com/office/drawing/2014/main" id="{AB92FB1B-321D-27A4-0E43-4F4C2130C24B}"/>
              </a:ext>
            </a:extLst>
          </p:cNvPr>
          <p:cNvSpPr/>
          <p:nvPr/>
        </p:nvSpPr>
        <p:spPr>
          <a:xfrm>
            <a:off x="2365887" y="864197"/>
            <a:ext cx="637761" cy="233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685800">
              <a:lnSpc>
                <a:spcPct val="102000"/>
              </a:lnSpc>
            </a:pPr>
            <a:r>
              <a:rPr lang="en-US" sz="503" b="1">
                <a:solidFill>
                  <a:srgbClr val="10233B"/>
                </a:solidFill>
                <a:latin typeface="Georgia"/>
                <a:ea typeface="Cambria" pitchFamily="34" charset="-122"/>
                <a:cs typeface="Cambria" pitchFamily="34" charset="-120"/>
              </a:rPr>
              <a:t>/speckit.specify</a:t>
            </a:r>
            <a:endParaRPr lang="en-US" sz="503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04" name="Text 47">
            <a:extLst>
              <a:ext uri="{FF2B5EF4-FFF2-40B4-BE49-F238E27FC236}">
                <a16:creationId xmlns:a16="http://schemas.microsoft.com/office/drawing/2014/main" id="{3FCDF2FF-4C50-DD4E-CCA1-CFCC2B991A38}"/>
              </a:ext>
            </a:extLst>
          </p:cNvPr>
          <p:cNvSpPr/>
          <p:nvPr/>
        </p:nvSpPr>
        <p:spPr>
          <a:xfrm>
            <a:off x="2365887" y="1055143"/>
            <a:ext cx="637761" cy="10972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685800"/>
            <a:r>
              <a:rPr lang="en-US" sz="600" b="1">
                <a:solidFill>
                  <a:srgbClr val="1E3A5F"/>
                </a:solidFill>
                <a:latin typeface="Georgia"/>
                <a:ea typeface="Calibri" pitchFamily="34" charset="-122"/>
                <a:cs typeface="Calibri" pitchFamily="34" charset="-120"/>
              </a:rPr>
              <a:t>STEP  · 需求</a:t>
            </a:r>
            <a:endParaRPr lang="en-US" sz="60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06" name="Text 48">
            <a:extLst>
              <a:ext uri="{FF2B5EF4-FFF2-40B4-BE49-F238E27FC236}">
                <a16:creationId xmlns:a16="http://schemas.microsoft.com/office/drawing/2014/main" id="{610B5FDF-A82A-C58C-96D6-D9F7EC98FD55}"/>
              </a:ext>
            </a:extLst>
          </p:cNvPr>
          <p:cNvSpPr/>
          <p:nvPr/>
        </p:nvSpPr>
        <p:spPr>
          <a:xfrm>
            <a:off x="2371416" y="1299918"/>
            <a:ext cx="637761" cy="34028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685800">
              <a:lnSpc>
                <a:spcPct val="115000"/>
              </a:lnSpc>
            </a:pPr>
            <a:r>
              <a:rPr lang="en-US" sz="600">
                <a:solidFill>
                  <a:srgbClr val="1F2937"/>
                </a:solidFill>
                <a:latin typeface="Georgia"/>
                <a:ea typeface="Calibri" pitchFamily="34" charset="-122"/>
                <a:cs typeface="Calibri" pitchFamily="34" charset="-120"/>
              </a:rPr>
              <a:t>只写 what/why</a:t>
            </a:r>
            <a:endParaRPr lang="en-US" sz="600">
              <a:solidFill>
                <a:srgbClr val="000000"/>
              </a:solidFill>
              <a:latin typeface="Georgia"/>
            </a:endParaRPr>
          </a:p>
          <a:p>
            <a:pPr defTabSz="685800">
              <a:lnSpc>
                <a:spcPct val="115000"/>
              </a:lnSpc>
            </a:pPr>
            <a:r>
              <a:rPr lang="en-US" sz="600">
                <a:solidFill>
                  <a:srgbClr val="1F2937"/>
                </a:solidFill>
                <a:latin typeface="Georgia"/>
                <a:ea typeface="Calibri" pitchFamily="34" charset="-122"/>
                <a:cs typeface="Calibri" pitchFamily="34" charset="-120"/>
              </a:rPr>
              <a:t>4 条 Epic → spec.md</a:t>
            </a:r>
            <a:endParaRPr lang="en-US" sz="60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08" name="Shape 49">
            <a:extLst>
              <a:ext uri="{FF2B5EF4-FFF2-40B4-BE49-F238E27FC236}">
                <a16:creationId xmlns:a16="http://schemas.microsoft.com/office/drawing/2014/main" id="{7A20DEAD-D509-146A-4E2B-5BCF5985FFBF}"/>
              </a:ext>
            </a:extLst>
          </p:cNvPr>
          <p:cNvSpPr/>
          <p:nvPr/>
        </p:nvSpPr>
        <p:spPr>
          <a:xfrm>
            <a:off x="3099655" y="829909"/>
            <a:ext cx="706337" cy="912067"/>
          </a:xfrm>
          <a:prstGeom prst="roundRect">
            <a:avLst>
              <a:gd name="adj" fmla="val 5825"/>
            </a:avLst>
          </a:prstGeom>
          <a:solidFill>
            <a:srgbClr val="EAF1FB"/>
          </a:solidFill>
          <a:ln w="16510">
            <a:solidFill>
              <a:srgbClr val="5B4B9A"/>
            </a:solidFill>
            <a:prstDash val="dash"/>
          </a:ln>
          <a:effectLst>
            <a:outerShdw blurRad="31750" dist="16510" dir="5400000" algn="bl" rotWithShape="0">
              <a:srgbClr val="1B2A41">
                <a:alpha val="14000"/>
              </a:srgbClr>
            </a:outerShdw>
          </a:effectLst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10" name="Text 50">
            <a:extLst>
              <a:ext uri="{FF2B5EF4-FFF2-40B4-BE49-F238E27FC236}">
                <a16:creationId xmlns:a16="http://schemas.microsoft.com/office/drawing/2014/main" id="{23EA7F09-2443-5FA9-88AB-DFE8CFF527F6}"/>
              </a:ext>
            </a:extLst>
          </p:cNvPr>
          <p:cNvSpPr/>
          <p:nvPr/>
        </p:nvSpPr>
        <p:spPr>
          <a:xfrm>
            <a:off x="3133943" y="864197"/>
            <a:ext cx="637761" cy="233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685800">
              <a:lnSpc>
                <a:spcPct val="102000"/>
              </a:lnSpc>
            </a:pPr>
            <a:r>
              <a:rPr lang="en-US" sz="503" b="1">
                <a:solidFill>
                  <a:srgbClr val="10233B"/>
                </a:solidFill>
                <a:latin typeface="Georgia"/>
                <a:ea typeface="Cambria" pitchFamily="34" charset="-122"/>
                <a:cs typeface="Cambria" pitchFamily="34" charset="-120"/>
              </a:rPr>
              <a:t>/speckit.clarify</a:t>
            </a:r>
            <a:endParaRPr lang="en-US" sz="503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12" name="Text 51">
            <a:extLst>
              <a:ext uri="{FF2B5EF4-FFF2-40B4-BE49-F238E27FC236}">
                <a16:creationId xmlns:a16="http://schemas.microsoft.com/office/drawing/2014/main" id="{3568C177-7DB4-5337-AE6F-323104CA122D}"/>
              </a:ext>
            </a:extLst>
          </p:cNvPr>
          <p:cNvSpPr/>
          <p:nvPr/>
        </p:nvSpPr>
        <p:spPr>
          <a:xfrm>
            <a:off x="3133943" y="1055143"/>
            <a:ext cx="637761" cy="10972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685800"/>
            <a:r>
              <a:rPr lang="en-US" sz="600" b="1">
                <a:solidFill>
                  <a:srgbClr val="5B4B9A"/>
                </a:solidFill>
                <a:latin typeface="Georgia"/>
                <a:ea typeface="Calibri" pitchFamily="34" charset="-122"/>
                <a:cs typeface="Calibri" pitchFamily="34" charset="-120"/>
              </a:rPr>
              <a:t>可选 · plan 前</a:t>
            </a:r>
            <a:r>
              <a:rPr lang="zh-CN" altLang="en-US" sz="600" b="1">
                <a:solidFill>
                  <a:srgbClr val="5B4B9A"/>
                </a:solidFill>
                <a:latin typeface="Georgia"/>
                <a:ea typeface="Calibri" pitchFamily="34" charset="-122"/>
                <a:cs typeface="Calibri" pitchFamily="34" charset="-120"/>
              </a:rPr>
              <a:t>，澄清歧义</a:t>
            </a:r>
            <a:endParaRPr lang="en-US" sz="60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14" name="Text 52">
            <a:extLst>
              <a:ext uri="{FF2B5EF4-FFF2-40B4-BE49-F238E27FC236}">
                <a16:creationId xmlns:a16="http://schemas.microsoft.com/office/drawing/2014/main" id="{EC1C38BD-EE0F-6952-CCA0-B4C4826AD19F}"/>
              </a:ext>
            </a:extLst>
          </p:cNvPr>
          <p:cNvSpPr/>
          <p:nvPr/>
        </p:nvSpPr>
        <p:spPr>
          <a:xfrm>
            <a:off x="3129186" y="1296229"/>
            <a:ext cx="637761" cy="31545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685800">
              <a:lnSpc>
                <a:spcPct val="115000"/>
              </a:lnSpc>
            </a:pPr>
            <a:r>
              <a:rPr lang="en-US" sz="600" err="1">
                <a:solidFill>
                  <a:srgbClr val="1F2937"/>
                </a:solidFill>
                <a:latin typeface="Georgia"/>
                <a:ea typeface="Calibri" pitchFamily="34" charset="-122"/>
                <a:cs typeface="Calibri" pitchFamily="34" charset="-120"/>
              </a:rPr>
              <a:t>反向提问追问歧义</a:t>
            </a:r>
            <a:endParaRPr lang="en-US" sz="60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16" name="Shape 53">
            <a:extLst>
              <a:ext uri="{FF2B5EF4-FFF2-40B4-BE49-F238E27FC236}">
                <a16:creationId xmlns:a16="http://schemas.microsoft.com/office/drawing/2014/main" id="{F4E686DD-F04C-93D9-C87D-2E18F9185DB9}"/>
              </a:ext>
            </a:extLst>
          </p:cNvPr>
          <p:cNvSpPr/>
          <p:nvPr/>
        </p:nvSpPr>
        <p:spPr>
          <a:xfrm>
            <a:off x="3867711" y="829909"/>
            <a:ext cx="706337" cy="912067"/>
          </a:xfrm>
          <a:prstGeom prst="roundRect">
            <a:avLst>
              <a:gd name="adj" fmla="val 5825"/>
            </a:avLst>
          </a:prstGeom>
          <a:solidFill>
            <a:srgbClr val="EAF1FB"/>
          </a:solidFill>
          <a:ln w="16510">
            <a:solidFill>
              <a:srgbClr val="AECBEB"/>
            </a:solidFill>
            <a:prstDash val="solid"/>
          </a:ln>
          <a:effectLst>
            <a:outerShdw blurRad="31750" dist="16510" dir="5400000" algn="bl" rotWithShape="0">
              <a:srgbClr val="1B2A41">
                <a:alpha val="14000"/>
              </a:srgbClr>
            </a:outerShdw>
          </a:effectLst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18" name="Text 54">
            <a:extLst>
              <a:ext uri="{FF2B5EF4-FFF2-40B4-BE49-F238E27FC236}">
                <a16:creationId xmlns:a16="http://schemas.microsoft.com/office/drawing/2014/main" id="{FA057B64-E8FF-BC2C-C70D-7F51A75BDB0D}"/>
              </a:ext>
            </a:extLst>
          </p:cNvPr>
          <p:cNvSpPr/>
          <p:nvPr/>
        </p:nvSpPr>
        <p:spPr>
          <a:xfrm>
            <a:off x="3901999" y="864197"/>
            <a:ext cx="637761" cy="233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685800">
              <a:lnSpc>
                <a:spcPct val="102000"/>
              </a:lnSpc>
            </a:pPr>
            <a:r>
              <a:rPr lang="en-US" sz="503" b="1">
                <a:solidFill>
                  <a:srgbClr val="10233B"/>
                </a:solidFill>
                <a:latin typeface="Georgia"/>
                <a:ea typeface="Cambria" pitchFamily="34" charset="-122"/>
                <a:cs typeface="Cambria" pitchFamily="34" charset="-120"/>
              </a:rPr>
              <a:t>/speckit.plan</a:t>
            </a:r>
            <a:endParaRPr lang="en-US" sz="503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20" name="Text 55">
            <a:extLst>
              <a:ext uri="{FF2B5EF4-FFF2-40B4-BE49-F238E27FC236}">
                <a16:creationId xmlns:a16="http://schemas.microsoft.com/office/drawing/2014/main" id="{C50044E1-8E27-2AA3-0F65-99FACB40CC65}"/>
              </a:ext>
            </a:extLst>
          </p:cNvPr>
          <p:cNvSpPr/>
          <p:nvPr/>
        </p:nvSpPr>
        <p:spPr>
          <a:xfrm>
            <a:off x="3901999" y="1055143"/>
            <a:ext cx="637761" cy="10972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685800"/>
            <a:r>
              <a:rPr lang="en-US" sz="600" b="1">
                <a:solidFill>
                  <a:srgbClr val="1E3A5F"/>
                </a:solidFill>
                <a:latin typeface="Georgia"/>
                <a:ea typeface="Calibri" pitchFamily="34" charset="-122"/>
                <a:cs typeface="Calibri" pitchFamily="34" charset="-120"/>
              </a:rPr>
              <a:t>STEP  · </a:t>
            </a:r>
            <a:r>
              <a:rPr lang="en-US" sz="600" b="1" err="1">
                <a:solidFill>
                  <a:srgbClr val="1E3A5F"/>
                </a:solidFill>
                <a:latin typeface="Georgia"/>
                <a:ea typeface="Calibri" pitchFamily="34" charset="-122"/>
                <a:cs typeface="Calibri" pitchFamily="34" charset="-120"/>
              </a:rPr>
              <a:t>技术</a:t>
            </a:r>
            <a:r>
              <a:rPr lang="zh-CN" altLang="en-US" sz="600" b="1">
                <a:solidFill>
                  <a:srgbClr val="1E3A5F"/>
                </a:solidFill>
                <a:latin typeface="Georgia"/>
                <a:ea typeface="Calibri" pitchFamily="34" charset="-122"/>
                <a:cs typeface="Calibri" pitchFamily="34" charset="-120"/>
              </a:rPr>
              <a:t>，执行计划</a:t>
            </a:r>
            <a:endParaRPr lang="en-US" sz="60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22" name="Text 56">
            <a:extLst>
              <a:ext uri="{FF2B5EF4-FFF2-40B4-BE49-F238E27FC236}">
                <a16:creationId xmlns:a16="http://schemas.microsoft.com/office/drawing/2014/main" id="{CA600DFD-82E1-E46F-F58D-4C361DF6128A}"/>
              </a:ext>
            </a:extLst>
          </p:cNvPr>
          <p:cNvSpPr/>
          <p:nvPr/>
        </p:nvSpPr>
        <p:spPr>
          <a:xfrm>
            <a:off x="3908856" y="1285631"/>
            <a:ext cx="637761" cy="3260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685800">
              <a:lnSpc>
                <a:spcPct val="115000"/>
              </a:lnSpc>
            </a:pPr>
            <a:r>
              <a:rPr lang="en-US" sz="600" err="1">
                <a:solidFill>
                  <a:srgbClr val="1F2937"/>
                </a:solidFill>
                <a:latin typeface="Georgia"/>
                <a:ea typeface="Calibri" pitchFamily="34" charset="-122"/>
                <a:cs typeface="Calibri" pitchFamily="34" charset="-120"/>
              </a:rPr>
              <a:t>这一步才引入技术栈引擎抽象</a:t>
            </a:r>
            <a:r>
              <a:rPr lang="en-US" sz="600">
                <a:solidFill>
                  <a:srgbClr val="1F2937"/>
                </a:solidFill>
                <a:latin typeface="Georgia"/>
                <a:ea typeface="Calibri" pitchFamily="34" charset="-122"/>
                <a:cs typeface="Calibri" pitchFamily="34" charset="-120"/>
              </a:rPr>
              <a:t> / UC 治理</a:t>
            </a:r>
            <a:endParaRPr lang="en-US" sz="60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24" name="Shape 57">
            <a:extLst>
              <a:ext uri="{FF2B5EF4-FFF2-40B4-BE49-F238E27FC236}">
                <a16:creationId xmlns:a16="http://schemas.microsoft.com/office/drawing/2014/main" id="{6A44B2B6-A594-B463-A1C2-FE5E93399322}"/>
              </a:ext>
            </a:extLst>
          </p:cNvPr>
          <p:cNvSpPr/>
          <p:nvPr/>
        </p:nvSpPr>
        <p:spPr>
          <a:xfrm>
            <a:off x="4635767" y="829909"/>
            <a:ext cx="706337" cy="912067"/>
          </a:xfrm>
          <a:prstGeom prst="roundRect">
            <a:avLst>
              <a:gd name="adj" fmla="val 5825"/>
            </a:avLst>
          </a:prstGeom>
          <a:solidFill>
            <a:srgbClr val="EAF1FB"/>
          </a:solidFill>
          <a:ln w="16510">
            <a:solidFill>
              <a:srgbClr val="AECBEB"/>
            </a:solidFill>
            <a:prstDash val="solid"/>
          </a:ln>
          <a:effectLst>
            <a:outerShdw blurRad="31750" dist="16510" dir="5400000" algn="bl" rotWithShape="0">
              <a:srgbClr val="1B2A41">
                <a:alpha val="14000"/>
              </a:srgbClr>
            </a:outerShdw>
          </a:effectLst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26" name="Text 58">
            <a:extLst>
              <a:ext uri="{FF2B5EF4-FFF2-40B4-BE49-F238E27FC236}">
                <a16:creationId xmlns:a16="http://schemas.microsoft.com/office/drawing/2014/main" id="{77F66E20-10C4-8EE1-8F91-F1EAA66AB811}"/>
              </a:ext>
            </a:extLst>
          </p:cNvPr>
          <p:cNvSpPr/>
          <p:nvPr/>
        </p:nvSpPr>
        <p:spPr>
          <a:xfrm>
            <a:off x="4670055" y="864197"/>
            <a:ext cx="637761" cy="233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685800">
              <a:lnSpc>
                <a:spcPct val="102000"/>
              </a:lnSpc>
            </a:pPr>
            <a:r>
              <a:rPr lang="en-US" sz="503" b="1">
                <a:solidFill>
                  <a:srgbClr val="10233B"/>
                </a:solidFill>
                <a:latin typeface="Georgia"/>
                <a:ea typeface="Cambria" pitchFamily="34" charset="-122"/>
                <a:cs typeface="Cambria" pitchFamily="34" charset="-120"/>
              </a:rPr>
              <a:t>/speckit.tasks</a:t>
            </a:r>
            <a:endParaRPr lang="en-US" sz="503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28" name="Text 59">
            <a:extLst>
              <a:ext uri="{FF2B5EF4-FFF2-40B4-BE49-F238E27FC236}">
                <a16:creationId xmlns:a16="http://schemas.microsoft.com/office/drawing/2014/main" id="{696525B9-2432-28D4-E06C-B612334C1D90}"/>
              </a:ext>
            </a:extLst>
          </p:cNvPr>
          <p:cNvSpPr/>
          <p:nvPr/>
        </p:nvSpPr>
        <p:spPr>
          <a:xfrm>
            <a:off x="4670055" y="1055143"/>
            <a:ext cx="637761" cy="10972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685800"/>
            <a:r>
              <a:rPr lang="en-US" sz="600" b="1">
                <a:solidFill>
                  <a:srgbClr val="1E3A5F"/>
                </a:solidFill>
                <a:latin typeface="Georgia"/>
                <a:ea typeface="Calibri" pitchFamily="34" charset="-122"/>
                <a:cs typeface="Calibri" pitchFamily="34" charset="-120"/>
              </a:rPr>
              <a:t>STEP · 拆解</a:t>
            </a:r>
            <a:endParaRPr lang="en-US" sz="60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30" name="Text 60">
            <a:extLst>
              <a:ext uri="{FF2B5EF4-FFF2-40B4-BE49-F238E27FC236}">
                <a16:creationId xmlns:a16="http://schemas.microsoft.com/office/drawing/2014/main" id="{82E41E6B-59AD-B2B6-4C1C-01A7586A57F4}"/>
              </a:ext>
            </a:extLst>
          </p:cNvPr>
          <p:cNvSpPr/>
          <p:nvPr/>
        </p:nvSpPr>
        <p:spPr>
          <a:xfrm>
            <a:off x="4670055" y="1227653"/>
            <a:ext cx="637761" cy="3840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685800">
              <a:lnSpc>
                <a:spcPct val="115000"/>
              </a:lnSpc>
            </a:pPr>
            <a:r>
              <a:rPr lang="en-US" sz="525" err="1">
                <a:solidFill>
                  <a:srgbClr val="1F2937"/>
                </a:solidFill>
                <a:latin typeface="Georgia"/>
                <a:ea typeface="Calibri" pitchFamily="34" charset="-122"/>
                <a:cs typeface="Calibri" pitchFamily="34" charset="-120"/>
              </a:rPr>
              <a:t>任务</a:t>
            </a:r>
            <a:r>
              <a:rPr lang="zh-CN" altLang="en-US" sz="525">
                <a:solidFill>
                  <a:srgbClr val="1F2937"/>
                </a:solidFill>
                <a:latin typeface="Georgia"/>
                <a:ea typeface="Calibri" pitchFamily="34" charset="-122"/>
                <a:cs typeface="Calibri" pitchFamily="34" charset="-120"/>
              </a:rPr>
              <a:t>清单</a:t>
            </a:r>
            <a:endParaRPr lang="en-US" sz="525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32" name="Shape 61">
            <a:extLst>
              <a:ext uri="{FF2B5EF4-FFF2-40B4-BE49-F238E27FC236}">
                <a16:creationId xmlns:a16="http://schemas.microsoft.com/office/drawing/2014/main" id="{5804AF14-2E7F-C5EF-E05D-C97B2B64C53E}"/>
              </a:ext>
            </a:extLst>
          </p:cNvPr>
          <p:cNvSpPr/>
          <p:nvPr/>
        </p:nvSpPr>
        <p:spPr>
          <a:xfrm>
            <a:off x="5403823" y="829909"/>
            <a:ext cx="706337" cy="912067"/>
          </a:xfrm>
          <a:prstGeom prst="roundRect">
            <a:avLst>
              <a:gd name="adj" fmla="val 5825"/>
            </a:avLst>
          </a:prstGeom>
          <a:solidFill>
            <a:srgbClr val="EAF1FB"/>
          </a:solidFill>
          <a:ln w="16510">
            <a:solidFill>
              <a:srgbClr val="5B4B9A"/>
            </a:solidFill>
            <a:prstDash val="dash"/>
          </a:ln>
          <a:effectLst>
            <a:outerShdw blurRad="31750" dist="16510" dir="5400000" algn="bl" rotWithShape="0">
              <a:srgbClr val="1B2A41">
                <a:alpha val="14000"/>
              </a:srgbClr>
            </a:outerShdw>
          </a:effectLst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34" name="Text 62">
            <a:extLst>
              <a:ext uri="{FF2B5EF4-FFF2-40B4-BE49-F238E27FC236}">
                <a16:creationId xmlns:a16="http://schemas.microsoft.com/office/drawing/2014/main" id="{9551E7FB-2519-BD80-ACD1-D031A4485822}"/>
              </a:ext>
            </a:extLst>
          </p:cNvPr>
          <p:cNvSpPr/>
          <p:nvPr/>
        </p:nvSpPr>
        <p:spPr>
          <a:xfrm>
            <a:off x="5438111" y="864197"/>
            <a:ext cx="637761" cy="233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685800">
              <a:lnSpc>
                <a:spcPct val="102000"/>
              </a:lnSpc>
            </a:pPr>
            <a:r>
              <a:rPr lang="en-US" sz="503" b="1">
                <a:solidFill>
                  <a:srgbClr val="10233B"/>
                </a:solidFill>
                <a:latin typeface="Georgia"/>
                <a:ea typeface="Cambria" pitchFamily="34" charset="-122"/>
                <a:cs typeface="Cambria" pitchFamily="34" charset="-120"/>
              </a:rPr>
              <a:t>/speckit.analyze</a:t>
            </a:r>
            <a:endParaRPr lang="en-US" sz="503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36" name="Text 63">
            <a:extLst>
              <a:ext uri="{FF2B5EF4-FFF2-40B4-BE49-F238E27FC236}">
                <a16:creationId xmlns:a16="http://schemas.microsoft.com/office/drawing/2014/main" id="{D1C12C26-F983-7F99-2392-53BC541FE98D}"/>
              </a:ext>
            </a:extLst>
          </p:cNvPr>
          <p:cNvSpPr/>
          <p:nvPr/>
        </p:nvSpPr>
        <p:spPr>
          <a:xfrm>
            <a:off x="5438111" y="1055143"/>
            <a:ext cx="637761" cy="10972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685800"/>
            <a:r>
              <a:rPr lang="en-US" sz="600" b="1">
                <a:solidFill>
                  <a:srgbClr val="5B4B9A"/>
                </a:solidFill>
                <a:latin typeface="Georgia"/>
                <a:ea typeface="Calibri" pitchFamily="34" charset="-122"/>
                <a:cs typeface="Calibri" pitchFamily="34" charset="-120"/>
              </a:rPr>
              <a:t>护栏 L4 · implement 前</a:t>
            </a:r>
            <a:endParaRPr lang="en-US" sz="60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38" name="Text 64">
            <a:extLst>
              <a:ext uri="{FF2B5EF4-FFF2-40B4-BE49-F238E27FC236}">
                <a16:creationId xmlns:a16="http://schemas.microsoft.com/office/drawing/2014/main" id="{06AD103C-FEB7-B2C0-8D16-F6608674A299}"/>
              </a:ext>
            </a:extLst>
          </p:cNvPr>
          <p:cNvSpPr/>
          <p:nvPr/>
        </p:nvSpPr>
        <p:spPr>
          <a:xfrm>
            <a:off x="5420966" y="1299918"/>
            <a:ext cx="672049" cy="34028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685800">
              <a:lnSpc>
                <a:spcPct val="115000"/>
              </a:lnSpc>
            </a:pPr>
            <a:r>
              <a:rPr lang="en-US" sz="600" err="1">
                <a:solidFill>
                  <a:srgbClr val="1F2937"/>
                </a:solidFill>
                <a:latin typeface="Georgia"/>
                <a:ea typeface="Calibri" pitchFamily="34" charset="-122"/>
                <a:cs typeface="Calibri" pitchFamily="34" charset="-120"/>
              </a:rPr>
              <a:t>spec↔plan↔tasks一致性</a:t>
            </a:r>
            <a:r>
              <a:rPr lang="en-US" sz="600">
                <a:solidFill>
                  <a:srgbClr val="1F2937"/>
                </a:solidFill>
                <a:latin typeface="Georgia"/>
                <a:ea typeface="Calibri" pitchFamily="34" charset="-122"/>
                <a:cs typeface="Calibri" pitchFamily="34" charset="-120"/>
              </a:rPr>
              <a:t> / 覆盖率核查</a:t>
            </a:r>
            <a:endParaRPr lang="en-US" sz="60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40" name="Shape 65">
            <a:extLst>
              <a:ext uri="{FF2B5EF4-FFF2-40B4-BE49-F238E27FC236}">
                <a16:creationId xmlns:a16="http://schemas.microsoft.com/office/drawing/2014/main" id="{9D2F6D0E-10AF-E22D-44C9-7055C88B0EDB}"/>
              </a:ext>
            </a:extLst>
          </p:cNvPr>
          <p:cNvSpPr/>
          <p:nvPr/>
        </p:nvSpPr>
        <p:spPr>
          <a:xfrm>
            <a:off x="6171879" y="829909"/>
            <a:ext cx="706337" cy="912067"/>
          </a:xfrm>
          <a:prstGeom prst="roundRect">
            <a:avLst>
              <a:gd name="adj" fmla="val 5825"/>
            </a:avLst>
          </a:prstGeom>
          <a:solidFill>
            <a:srgbClr val="EAF1FB"/>
          </a:solidFill>
          <a:ln w="16510">
            <a:solidFill>
              <a:srgbClr val="AECBEB"/>
            </a:solidFill>
            <a:prstDash val="solid"/>
          </a:ln>
          <a:effectLst>
            <a:outerShdw blurRad="31750" dist="16510" dir="5400000" algn="bl" rotWithShape="0">
              <a:srgbClr val="1B2A41">
                <a:alpha val="14000"/>
              </a:srgbClr>
            </a:outerShdw>
          </a:effectLst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42" name="Text 66">
            <a:extLst>
              <a:ext uri="{FF2B5EF4-FFF2-40B4-BE49-F238E27FC236}">
                <a16:creationId xmlns:a16="http://schemas.microsoft.com/office/drawing/2014/main" id="{EA26BCAD-4250-820C-D7B5-A1B99367399D}"/>
              </a:ext>
            </a:extLst>
          </p:cNvPr>
          <p:cNvSpPr/>
          <p:nvPr/>
        </p:nvSpPr>
        <p:spPr>
          <a:xfrm>
            <a:off x="6206167" y="864197"/>
            <a:ext cx="637761" cy="233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685800">
              <a:lnSpc>
                <a:spcPct val="102000"/>
              </a:lnSpc>
            </a:pPr>
            <a:r>
              <a:rPr lang="en-US" sz="503" b="1">
                <a:solidFill>
                  <a:srgbClr val="10233B"/>
                </a:solidFill>
                <a:latin typeface="Georgia"/>
                <a:ea typeface="Cambria" pitchFamily="34" charset="-122"/>
                <a:cs typeface="Cambria" pitchFamily="34" charset="-120"/>
              </a:rPr>
              <a:t>/speckit.implement</a:t>
            </a:r>
            <a:endParaRPr lang="en-US" sz="503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44" name="Text 67">
            <a:extLst>
              <a:ext uri="{FF2B5EF4-FFF2-40B4-BE49-F238E27FC236}">
                <a16:creationId xmlns:a16="http://schemas.microsoft.com/office/drawing/2014/main" id="{17CED7F4-AD9D-27AA-AB61-1DA981854C7A}"/>
              </a:ext>
            </a:extLst>
          </p:cNvPr>
          <p:cNvSpPr/>
          <p:nvPr/>
        </p:nvSpPr>
        <p:spPr>
          <a:xfrm>
            <a:off x="6206167" y="1055143"/>
            <a:ext cx="637761" cy="10972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685800"/>
            <a:r>
              <a:rPr lang="en-US" sz="600" b="1">
                <a:solidFill>
                  <a:srgbClr val="1E3A5F"/>
                </a:solidFill>
                <a:latin typeface="Georgia"/>
                <a:ea typeface="Calibri" pitchFamily="34" charset="-122"/>
                <a:cs typeface="Calibri" pitchFamily="34" charset="-120"/>
              </a:rPr>
              <a:t>STEP · 执行</a:t>
            </a:r>
            <a:endParaRPr lang="en-US" sz="60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46" name="Text 68">
            <a:extLst>
              <a:ext uri="{FF2B5EF4-FFF2-40B4-BE49-F238E27FC236}">
                <a16:creationId xmlns:a16="http://schemas.microsoft.com/office/drawing/2014/main" id="{E086BDE4-4703-1F94-7B22-C9F947C631EE}"/>
              </a:ext>
            </a:extLst>
          </p:cNvPr>
          <p:cNvSpPr/>
          <p:nvPr/>
        </p:nvSpPr>
        <p:spPr>
          <a:xfrm>
            <a:off x="6206167" y="1227653"/>
            <a:ext cx="637761" cy="2772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685800">
              <a:lnSpc>
                <a:spcPct val="115000"/>
              </a:lnSpc>
            </a:pPr>
            <a:r>
              <a:rPr lang="en-US" sz="600">
                <a:solidFill>
                  <a:srgbClr val="1F2937"/>
                </a:solidFill>
                <a:latin typeface="Georgia"/>
                <a:ea typeface="Calibri" pitchFamily="34" charset="-122"/>
                <a:cs typeface="Calibri" pitchFamily="34" charset="-120"/>
              </a:rPr>
              <a:t>逐项实现任务</a:t>
            </a:r>
            <a:endParaRPr lang="en-US" sz="600">
              <a:solidFill>
                <a:srgbClr val="000000"/>
              </a:solidFill>
              <a:latin typeface="Georgia"/>
            </a:endParaRPr>
          </a:p>
          <a:p>
            <a:pPr defTabSz="685800">
              <a:lnSpc>
                <a:spcPct val="115000"/>
              </a:lnSpc>
            </a:pPr>
            <a:r>
              <a:rPr lang="en-US" sz="600">
                <a:solidFill>
                  <a:srgbClr val="1F2937"/>
                </a:solidFill>
                <a:latin typeface="Georgia"/>
                <a:ea typeface="Calibri" pitchFamily="34" charset="-122"/>
                <a:cs typeface="Calibri" pitchFamily="34" charset="-120"/>
              </a:rPr>
              <a:t>验证循环跑至全绿</a:t>
            </a:r>
            <a:endParaRPr lang="en-US" sz="60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48" name="Shape 69">
            <a:extLst>
              <a:ext uri="{FF2B5EF4-FFF2-40B4-BE49-F238E27FC236}">
                <a16:creationId xmlns:a16="http://schemas.microsoft.com/office/drawing/2014/main" id="{4D125BF9-BED3-58D3-3C24-D9C5D566DDE1}"/>
              </a:ext>
            </a:extLst>
          </p:cNvPr>
          <p:cNvSpPr/>
          <p:nvPr/>
        </p:nvSpPr>
        <p:spPr>
          <a:xfrm>
            <a:off x="6939935" y="829909"/>
            <a:ext cx="706337" cy="912067"/>
          </a:xfrm>
          <a:prstGeom prst="roundRect">
            <a:avLst>
              <a:gd name="adj" fmla="val 5825"/>
            </a:avLst>
          </a:prstGeom>
          <a:solidFill>
            <a:srgbClr val="EAF1FB"/>
          </a:solidFill>
          <a:ln w="16510">
            <a:solidFill>
              <a:srgbClr val="C9971C"/>
            </a:solidFill>
            <a:prstDash val="dash"/>
          </a:ln>
          <a:effectLst>
            <a:outerShdw blurRad="31750" dist="16510" dir="5400000" algn="bl" rotWithShape="0">
              <a:srgbClr val="1B2A41">
                <a:alpha val="14000"/>
              </a:srgbClr>
            </a:outerShdw>
          </a:effectLst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50" name="Text 70">
            <a:extLst>
              <a:ext uri="{FF2B5EF4-FFF2-40B4-BE49-F238E27FC236}">
                <a16:creationId xmlns:a16="http://schemas.microsoft.com/office/drawing/2014/main" id="{5AC654D2-8831-06ED-4B34-865B01D38B98}"/>
              </a:ext>
            </a:extLst>
          </p:cNvPr>
          <p:cNvSpPr/>
          <p:nvPr/>
        </p:nvSpPr>
        <p:spPr>
          <a:xfrm>
            <a:off x="6974223" y="864197"/>
            <a:ext cx="637761" cy="233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685800">
              <a:lnSpc>
                <a:spcPct val="102000"/>
              </a:lnSpc>
            </a:pPr>
            <a:r>
              <a:rPr lang="en-US" sz="503" b="1">
                <a:solidFill>
                  <a:srgbClr val="10233B"/>
                </a:solidFill>
                <a:latin typeface="Georgia"/>
                <a:ea typeface="Cambria" pitchFamily="34" charset="-122"/>
                <a:cs typeface="Cambria" pitchFamily="34" charset="-120"/>
              </a:rPr>
              <a:t>/speckit.converge</a:t>
            </a:r>
            <a:endParaRPr lang="en-US" sz="503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52" name="Text 71">
            <a:extLst>
              <a:ext uri="{FF2B5EF4-FFF2-40B4-BE49-F238E27FC236}">
                <a16:creationId xmlns:a16="http://schemas.microsoft.com/office/drawing/2014/main" id="{AB15ACDF-E6D2-A534-02CA-2D973428C0ED}"/>
              </a:ext>
            </a:extLst>
          </p:cNvPr>
          <p:cNvSpPr/>
          <p:nvPr/>
        </p:nvSpPr>
        <p:spPr>
          <a:xfrm>
            <a:off x="6974223" y="1055143"/>
            <a:ext cx="637761" cy="10972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685800"/>
            <a:r>
              <a:rPr lang="en-US" sz="600" b="1">
                <a:solidFill>
                  <a:srgbClr val="8A6A0B"/>
                </a:solidFill>
                <a:latin typeface="Georgia"/>
                <a:ea typeface="Calibri" pitchFamily="34" charset="-122"/>
                <a:cs typeface="Calibri" pitchFamily="34" charset="-120"/>
              </a:rPr>
              <a:t>★ POC → 生产</a:t>
            </a:r>
            <a:endParaRPr lang="en-US" sz="60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54" name="Text 72">
            <a:extLst>
              <a:ext uri="{FF2B5EF4-FFF2-40B4-BE49-F238E27FC236}">
                <a16:creationId xmlns:a16="http://schemas.microsoft.com/office/drawing/2014/main" id="{65423DFF-2245-48B2-F8E0-10E077977BE8}"/>
              </a:ext>
            </a:extLst>
          </p:cNvPr>
          <p:cNvSpPr/>
          <p:nvPr/>
        </p:nvSpPr>
        <p:spPr>
          <a:xfrm>
            <a:off x="6974223" y="1227653"/>
            <a:ext cx="637761" cy="3840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685800">
              <a:lnSpc>
                <a:spcPct val="115000"/>
              </a:lnSpc>
            </a:pPr>
            <a:r>
              <a:rPr lang="en-US" sz="600">
                <a:solidFill>
                  <a:srgbClr val="1F2937"/>
                </a:solidFill>
                <a:latin typeface="Georgia"/>
                <a:ea typeface="Calibri" pitchFamily="34" charset="-122"/>
                <a:cs typeface="Calibri" pitchFamily="34" charset="-120"/>
              </a:rPr>
              <a:t>评估现有代码差距</a:t>
            </a:r>
            <a:endParaRPr lang="en-US" sz="600">
              <a:solidFill>
                <a:srgbClr val="000000"/>
              </a:solidFill>
              <a:latin typeface="Georgia"/>
            </a:endParaRPr>
          </a:p>
          <a:p>
            <a:pPr defTabSz="685800">
              <a:lnSpc>
                <a:spcPct val="115000"/>
              </a:lnSpc>
            </a:pPr>
            <a:r>
              <a:rPr lang="en-US" sz="600">
                <a:solidFill>
                  <a:srgbClr val="1F2937"/>
                </a:solidFill>
                <a:latin typeface="Georgia"/>
                <a:ea typeface="Calibri" pitchFamily="34" charset="-122"/>
                <a:cs typeface="Calibri" pitchFamily="34" charset="-120"/>
              </a:rPr>
              <a:t>自动生成重建任务清单</a:t>
            </a:r>
            <a:endParaRPr lang="en-US" sz="60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56" name="Shape 73">
            <a:extLst>
              <a:ext uri="{FF2B5EF4-FFF2-40B4-BE49-F238E27FC236}">
                <a16:creationId xmlns:a16="http://schemas.microsoft.com/office/drawing/2014/main" id="{5C26A567-38E3-1C6E-6AA5-3134EAB480C5}"/>
              </a:ext>
            </a:extLst>
          </p:cNvPr>
          <p:cNvSpPr/>
          <p:nvPr/>
        </p:nvSpPr>
        <p:spPr>
          <a:xfrm>
            <a:off x="2280167" y="1285942"/>
            <a:ext cx="41146" cy="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  <a:tailEnd type="triangle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58" name="Shape 74">
            <a:extLst>
              <a:ext uri="{FF2B5EF4-FFF2-40B4-BE49-F238E27FC236}">
                <a16:creationId xmlns:a16="http://schemas.microsoft.com/office/drawing/2014/main" id="{35D9E9A9-6F4F-FBC5-E0C8-BA20C2BC9211}"/>
              </a:ext>
            </a:extLst>
          </p:cNvPr>
          <p:cNvSpPr/>
          <p:nvPr/>
        </p:nvSpPr>
        <p:spPr>
          <a:xfrm>
            <a:off x="3048222" y="1285942"/>
            <a:ext cx="41146" cy="0"/>
          </a:xfrm>
          <a:prstGeom prst="line">
            <a:avLst/>
          </a:prstGeom>
          <a:noFill/>
          <a:ln w="13970">
            <a:solidFill>
              <a:srgbClr val="5B4B9A"/>
            </a:solidFill>
            <a:prstDash val="dash"/>
            <a:tailEnd type="triangle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60" name="Shape 75">
            <a:extLst>
              <a:ext uri="{FF2B5EF4-FFF2-40B4-BE49-F238E27FC236}">
                <a16:creationId xmlns:a16="http://schemas.microsoft.com/office/drawing/2014/main" id="{A7BC618F-4B73-D411-E32E-66EA3A0DB924}"/>
              </a:ext>
            </a:extLst>
          </p:cNvPr>
          <p:cNvSpPr/>
          <p:nvPr/>
        </p:nvSpPr>
        <p:spPr>
          <a:xfrm>
            <a:off x="3816279" y="1285942"/>
            <a:ext cx="41146" cy="0"/>
          </a:xfrm>
          <a:prstGeom prst="line">
            <a:avLst/>
          </a:prstGeom>
          <a:noFill/>
          <a:ln w="13970">
            <a:solidFill>
              <a:srgbClr val="5B4B9A"/>
            </a:solidFill>
            <a:prstDash val="dash"/>
            <a:tailEnd type="triangle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62" name="Shape 76">
            <a:extLst>
              <a:ext uri="{FF2B5EF4-FFF2-40B4-BE49-F238E27FC236}">
                <a16:creationId xmlns:a16="http://schemas.microsoft.com/office/drawing/2014/main" id="{B1A0D6E6-066D-43BD-5443-D4D38FD5052E}"/>
              </a:ext>
            </a:extLst>
          </p:cNvPr>
          <p:cNvSpPr/>
          <p:nvPr/>
        </p:nvSpPr>
        <p:spPr>
          <a:xfrm>
            <a:off x="4584335" y="1285942"/>
            <a:ext cx="41146" cy="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  <a:tailEnd type="triangle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64" name="Shape 77">
            <a:extLst>
              <a:ext uri="{FF2B5EF4-FFF2-40B4-BE49-F238E27FC236}">
                <a16:creationId xmlns:a16="http://schemas.microsoft.com/office/drawing/2014/main" id="{089D7803-4A1E-5010-4341-7F4646CD6CBE}"/>
              </a:ext>
            </a:extLst>
          </p:cNvPr>
          <p:cNvSpPr/>
          <p:nvPr/>
        </p:nvSpPr>
        <p:spPr>
          <a:xfrm>
            <a:off x="5352390" y="1285942"/>
            <a:ext cx="41146" cy="0"/>
          </a:xfrm>
          <a:prstGeom prst="line">
            <a:avLst/>
          </a:prstGeom>
          <a:noFill/>
          <a:ln w="13970">
            <a:solidFill>
              <a:srgbClr val="5B4B9A"/>
            </a:solidFill>
            <a:prstDash val="dash"/>
            <a:tailEnd type="triangle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66" name="Shape 78">
            <a:extLst>
              <a:ext uri="{FF2B5EF4-FFF2-40B4-BE49-F238E27FC236}">
                <a16:creationId xmlns:a16="http://schemas.microsoft.com/office/drawing/2014/main" id="{D448D36F-48B9-269B-55CC-079D58AD546F}"/>
              </a:ext>
            </a:extLst>
          </p:cNvPr>
          <p:cNvSpPr/>
          <p:nvPr/>
        </p:nvSpPr>
        <p:spPr>
          <a:xfrm>
            <a:off x="6120447" y="1285942"/>
            <a:ext cx="41146" cy="0"/>
          </a:xfrm>
          <a:prstGeom prst="line">
            <a:avLst/>
          </a:prstGeom>
          <a:noFill/>
          <a:ln w="13970">
            <a:solidFill>
              <a:srgbClr val="5B4B9A"/>
            </a:solidFill>
            <a:prstDash val="dash"/>
            <a:tailEnd type="triangle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68" name="Shape 79">
            <a:extLst>
              <a:ext uri="{FF2B5EF4-FFF2-40B4-BE49-F238E27FC236}">
                <a16:creationId xmlns:a16="http://schemas.microsoft.com/office/drawing/2014/main" id="{DBCFEE0B-C9B9-3F9A-A8AE-D91570D07FFF}"/>
              </a:ext>
            </a:extLst>
          </p:cNvPr>
          <p:cNvSpPr/>
          <p:nvPr/>
        </p:nvSpPr>
        <p:spPr>
          <a:xfrm>
            <a:off x="6888503" y="1285942"/>
            <a:ext cx="41146" cy="0"/>
          </a:xfrm>
          <a:prstGeom prst="line">
            <a:avLst/>
          </a:prstGeom>
          <a:noFill/>
          <a:ln w="13970">
            <a:solidFill>
              <a:srgbClr val="5B4B9A"/>
            </a:solidFill>
            <a:prstDash val="dash"/>
            <a:tailEnd type="triangle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70" name="Shape 80">
            <a:extLst>
              <a:ext uri="{FF2B5EF4-FFF2-40B4-BE49-F238E27FC236}">
                <a16:creationId xmlns:a16="http://schemas.microsoft.com/office/drawing/2014/main" id="{D0F7C56A-FD4D-9DD9-9339-692D0A475514}"/>
              </a:ext>
            </a:extLst>
          </p:cNvPr>
          <p:cNvSpPr/>
          <p:nvPr/>
        </p:nvSpPr>
        <p:spPr>
          <a:xfrm>
            <a:off x="1474394" y="1920274"/>
            <a:ext cx="6295316" cy="720053"/>
          </a:xfrm>
          <a:prstGeom prst="roundRect">
            <a:avLst>
              <a:gd name="adj" fmla="val 7619"/>
            </a:avLst>
          </a:prstGeom>
          <a:solidFill>
            <a:srgbClr val="F5F6F8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72" name="Shape 81">
            <a:extLst>
              <a:ext uri="{FF2B5EF4-FFF2-40B4-BE49-F238E27FC236}">
                <a16:creationId xmlns:a16="http://schemas.microsoft.com/office/drawing/2014/main" id="{0E272DDA-D122-46B0-7045-F1F8A3880952}"/>
              </a:ext>
            </a:extLst>
          </p:cNvPr>
          <p:cNvSpPr/>
          <p:nvPr/>
        </p:nvSpPr>
        <p:spPr>
          <a:xfrm>
            <a:off x="1570401" y="2009424"/>
            <a:ext cx="75434" cy="75434"/>
          </a:xfrm>
          <a:prstGeom prst="ellipse">
            <a:avLst/>
          </a:prstGeom>
          <a:solidFill>
            <a:srgbClr val="1E3A5F"/>
          </a:solidFill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74" name="Text 82">
            <a:extLst>
              <a:ext uri="{FF2B5EF4-FFF2-40B4-BE49-F238E27FC236}">
                <a16:creationId xmlns:a16="http://schemas.microsoft.com/office/drawing/2014/main" id="{8EBA0DA2-C2B8-8C13-DD7F-5C948D59D2AA}"/>
              </a:ext>
            </a:extLst>
          </p:cNvPr>
          <p:cNvSpPr/>
          <p:nvPr/>
        </p:nvSpPr>
        <p:spPr>
          <a:xfrm>
            <a:off x="1700695" y="1968278"/>
            <a:ext cx="3085940" cy="1645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685800"/>
            <a:r>
              <a:rPr lang="en-US" sz="788" b="1">
                <a:solidFill>
                  <a:srgbClr val="10233B"/>
                </a:solidFill>
                <a:latin typeface="Georgia"/>
                <a:ea typeface="Cambria" pitchFamily="34" charset="-122"/>
                <a:cs typeface="Cambria" pitchFamily="34" charset="-120"/>
              </a:rPr>
              <a:t>核心产出（Spec 文档体系）</a:t>
            </a:r>
            <a:endParaRPr lang="en-US" sz="788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76" name="Shape 83">
            <a:extLst>
              <a:ext uri="{FF2B5EF4-FFF2-40B4-BE49-F238E27FC236}">
                <a16:creationId xmlns:a16="http://schemas.microsoft.com/office/drawing/2014/main" id="{D33066CE-EE26-0CF3-300C-C647161B6EB0}"/>
              </a:ext>
            </a:extLst>
          </p:cNvPr>
          <p:cNvSpPr/>
          <p:nvPr/>
        </p:nvSpPr>
        <p:spPr>
          <a:xfrm>
            <a:off x="1570400" y="2139718"/>
            <a:ext cx="1152084" cy="432032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3970">
            <a:solidFill>
              <a:srgbClr val="AECBEB"/>
            </a:solidFill>
            <a:prstDash val="solid"/>
          </a:ln>
          <a:effectLst>
            <a:outerShdw blurRad="31750" dist="15240" dir="5400000" algn="bl" rotWithShape="0">
              <a:srgbClr val="1B2A41">
                <a:alpha val="13000"/>
              </a:srgbClr>
            </a:outerShdw>
          </a:effectLst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78" name="Text 84">
            <a:extLst>
              <a:ext uri="{FF2B5EF4-FFF2-40B4-BE49-F238E27FC236}">
                <a16:creationId xmlns:a16="http://schemas.microsoft.com/office/drawing/2014/main" id="{0B71ADFF-B78B-7249-D65B-A6E618A725B2}"/>
              </a:ext>
            </a:extLst>
          </p:cNvPr>
          <p:cNvSpPr/>
          <p:nvPr/>
        </p:nvSpPr>
        <p:spPr>
          <a:xfrm>
            <a:off x="1632120" y="2187722"/>
            <a:ext cx="1028647" cy="13715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685800"/>
            <a:r>
              <a:rPr lang="en-US" sz="750" b="1">
                <a:solidFill>
                  <a:srgbClr val="1E3A5F"/>
                </a:solidFill>
                <a:latin typeface="Georgia"/>
                <a:ea typeface="Cambria" pitchFamily="34" charset="-122"/>
                <a:cs typeface="Cambria" pitchFamily="34" charset="-120"/>
              </a:rPr>
              <a:t>proposal.md</a:t>
            </a:r>
            <a:endParaRPr lang="en-US" sz="7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80" name="Text 85">
            <a:extLst>
              <a:ext uri="{FF2B5EF4-FFF2-40B4-BE49-F238E27FC236}">
                <a16:creationId xmlns:a16="http://schemas.microsoft.com/office/drawing/2014/main" id="{B7747132-95CF-8145-A1F7-363576ABEA3D}"/>
              </a:ext>
            </a:extLst>
          </p:cNvPr>
          <p:cNvSpPr/>
          <p:nvPr/>
        </p:nvSpPr>
        <p:spPr>
          <a:xfrm>
            <a:off x="1632120" y="2345448"/>
            <a:ext cx="1028647" cy="1988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685800">
              <a:lnSpc>
                <a:spcPct val="115000"/>
              </a:lnSpc>
            </a:pPr>
            <a:r>
              <a:rPr lang="en-US" sz="503">
                <a:solidFill>
                  <a:srgbClr val="667085"/>
                </a:solidFill>
                <a:latin typeface="Georgia"/>
                <a:ea typeface="Calibri" pitchFamily="34" charset="-122"/>
                <a:cs typeface="Calibri" pitchFamily="34" charset="-120"/>
              </a:rPr>
              <a:t>背景、目标、影响面</a:t>
            </a:r>
            <a:endParaRPr lang="en-US" sz="503">
              <a:solidFill>
                <a:srgbClr val="000000"/>
              </a:solidFill>
              <a:latin typeface="Georgia"/>
            </a:endParaRPr>
          </a:p>
          <a:p>
            <a:pPr defTabSz="685800">
              <a:lnSpc>
                <a:spcPct val="115000"/>
              </a:lnSpc>
            </a:pPr>
            <a:r>
              <a:rPr lang="en-US" sz="503">
                <a:solidFill>
                  <a:srgbClr val="667085"/>
                </a:solidFill>
                <a:latin typeface="Georgia"/>
                <a:ea typeface="Calibri" pitchFamily="34" charset="-122"/>
                <a:cs typeface="Calibri" pitchFamily="34" charset="-120"/>
              </a:rPr>
              <a:t>推进理由</a:t>
            </a:r>
            <a:endParaRPr lang="en-US" sz="503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82" name="Shape 86">
            <a:extLst>
              <a:ext uri="{FF2B5EF4-FFF2-40B4-BE49-F238E27FC236}">
                <a16:creationId xmlns:a16="http://schemas.microsoft.com/office/drawing/2014/main" id="{5C131578-682B-7710-C9FB-7E6BDC0E2CBB}"/>
              </a:ext>
            </a:extLst>
          </p:cNvPr>
          <p:cNvSpPr/>
          <p:nvPr/>
        </p:nvSpPr>
        <p:spPr>
          <a:xfrm>
            <a:off x="2825349" y="2139718"/>
            <a:ext cx="1152084" cy="432032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3970">
            <a:solidFill>
              <a:srgbClr val="AECBEB"/>
            </a:solidFill>
            <a:prstDash val="solid"/>
          </a:ln>
          <a:effectLst>
            <a:outerShdw blurRad="31750" dist="15240" dir="5400000" algn="bl" rotWithShape="0">
              <a:srgbClr val="1B2A41">
                <a:alpha val="13000"/>
              </a:srgbClr>
            </a:outerShdw>
          </a:effectLst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84" name="Text 87">
            <a:extLst>
              <a:ext uri="{FF2B5EF4-FFF2-40B4-BE49-F238E27FC236}">
                <a16:creationId xmlns:a16="http://schemas.microsoft.com/office/drawing/2014/main" id="{F849A7E8-22F8-4CEC-057A-7C4406446BB9}"/>
              </a:ext>
            </a:extLst>
          </p:cNvPr>
          <p:cNvSpPr/>
          <p:nvPr/>
        </p:nvSpPr>
        <p:spPr>
          <a:xfrm>
            <a:off x="2887068" y="2187722"/>
            <a:ext cx="1028647" cy="13715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685800"/>
            <a:r>
              <a:rPr lang="en-US" sz="750" b="1">
                <a:solidFill>
                  <a:srgbClr val="1E3A5F"/>
                </a:solidFill>
                <a:latin typeface="Georgia"/>
                <a:ea typeface="Cambria" pitchFamily="34" charset="-122"/>
                <a:cs typeface="Cambria" pitchFamily="34" charset="-120"/>
              </a:rPr>
              <a:t>spec.md</a:t>
            </a:r>
            <a:endParaRPr lang="en-US" sz="7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86" name="Text 88">
            <a:extLst>
              <a:ext uri="{FF2B5EF4-FFF2-40B4-BE49-F238E27FC236}">
                <a16:creationId xmlns:a16="http://schemas.microsoft.com/office/drawing/2014/main" id="{50B3F629-4836-3F0B-2BD0-443ECE59568C}"/>
              </a:ext>
            </a:extLst>
          </p:cNvPr>
          <p:cNvSpPr/>
          <p:nvPr/>
        </p:nvSpPr>
        <p:spPr>
          <a:xfrm>
            <a:off x="2887068" y="2345448"/>
            <a:ext cx="1028647" cy="1988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685800">
              <a:lnSpc>
                <a:spcPct val="115000"/>
              </a:lnSpc>
            </a:pPr>
            <a:r>
              <a:rPr lang="en-US" sz="503">
                <a:solidFill>
                  <a:srgbClr val="667085"/>
                </a:solidFill>
                <a:latin typeface="Georgia"/>
                <a:ea typeface="Calibri" pitchFamily="34" charset="-122"/>
                <a:cs typeface="Calibri" pitchFamily="34" charset="-120"/>
              </a:rPr>
              <a:t>需求、边界、行为</a:t>
            </a:r>
            <a:endParaRPr lang="en-US" sz="503">
              <a:solidFill>
                <a:srgbClr val="000000"/>
              </a:solidFill>
              <a:latin typeface="Georgia"/>
            </a:endParaRPr>
          </a:p>
          <a:p>
            <a:pPr defTabSz="685800">
              <a:lnSpc>
                <a:spcPct val="115000"/>
              </a:lnSpc>
            </a:pPr>
            <a:r>
              <a:rPr lang="en-US" sz="503">
                <a:solidFill>
                  <a:srgbClr val="667085"/>
                </a:solidFill>
                <a:latin typeface="Georgia"/>
                <a:ea typeface="Calibri" pitchFamily="34" charset="-122"/>
                <a:cs typeface="Calibri" pitchFamily="34" charset="-120"/>
              </a:rPr>
              <a:t>约束、验收标准</a:t>
            </a:r>
            <a:endParaRPr lang="en-US" sz="503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88" name="Shape 89">
            <a:extLst>
              <a:ext uri="{FF2B5EF4-FFF2-40B4-BE49-F238E27FC236}">
                <a16:creationId xmlns:a16="http://schemas.microsoft.com/office/drawing/2014/main" id="{5FC6E426-DCB5-9B34-F479-0BA4AACF3E66}"/>
              </a:ext>
            </a:extLst>
          </p:cNvPr>
          <p:cNvSpPr/>
          <p:nvPr/>
        </p:nvSpPr>
        <p:spPr>
          <a:xfrm>
            <a:off x="4080298" y="2139718"/>
            <a:ext cx="1152084" cy="432032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3970">
            <a:solidFill>
              <a:srgbClr val="AECBEB"/>
            </a:solidFill>
            <a:prstDash val="solid"/>
          </a:ln>
          <a:effectLst>
            <a:outerShdw blurRad="31750" dist="15240" dir="5400000" algn="bl" rotWithShape="0">
              <a:srgbClr val="1B2A41">
                <a:alpha val="13000"/>
              </a:srgbClr>
            </a:outerShdw>
          </a:effectLst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90" name="Text 90">
            <a:extLst>
              <a:ext uri="{FF2B5EF4-FFF2-40B4-BE49-F238E27FC236}">
                <a16:creationId xmlns:a16="http://schemas.microsoft.com/office/drawing/2014/main" id="{C3038880-417E-6893-4B3C-3AA192CD2669}"/>
              </a:ext>
            </a:extLst>
          </p:cNvPr>
          <p:cNvSpPr/>
          <p:nvPr/>
        </p:nvSpPr>
        <p:spPr>
          <a:xfrm>
            <a:off x="4142016" y="2187722"/>
            <a:ext cx="1028647" cy="13715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685800"/>
            <a:r>
              <a:rPr lang="en-US" sz="750" b="1">
                <a:solidFill>
                  <a:srgbClr val="1E3A5F"/>
                </a:solidFill>
                <a:latin typeface="Georgia"/>
                <a:ea typeface="Cambria" pitchFamily="34" charset="-122"/>
                <a:cs typeface="Cambria" pitchFamily="34" charset="-120"/>
              </a:rPr>
              <a:t>design.md</a:t>
            </a:r>
            <a:endParaRPr lang="en-US" sz="7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92" name="Text 91">
            <a:extLst>
              <a:ext uri="{FF2B5EF4-FFF2-40B4-BE49-F238E27FC236}">
                <a16:creationId xmlns:a16="http://schemas.microsoft.com/office/drawing/2014/main" id="{C98C8FDD-6B30-DB71-C673-7FEE15A2CBE0}"/>
              </a:ext>
            </a:extLst>
          </p:cNvPr>
          <p:cNvSpPr/>
          <p:nvPr/>
        </p:nvSpPr>
        <p:spPr>
          <a:xfrm>
            <a:off x="4142016" y="2345448"/>
            <a:ext cx="1028647" cy="1988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685800">
              <a:lnSpc>
                <a:spcPct val="115000"/>
              </a:lnSpc>
            </a:pPr>
            <a:r>
              <a:rPr lang="en-US" sz="503">
                <a:solidFill>
                  <a:srgbClr val="667085"/>
                </a:solidFill>
                <a:latin typeface="Georgia"/>
                <a:ea typeface="Calibri" pitchFamily="34" charset="-122"/>
                <a:cs typeface="Calibri" pitchFamily="34" charset="-120"/>
              </a:rPr>
              <a:t>架构设计、技术方案</a:t>
            </a:r>
            <a:endParaRPr lang="en-US" sz="503">
              <a:solidFill>
                <a:srgbClr val="000000"/>
              </a:solidFill>
              <a:latin typeface="Georgia"/>
            </a:endParaRPr>
          </a:p>
          <a:p>
            <a:pPr defTabSz="685800">
              <a:lnSpc>
                <a:spcPct val="115000"/>
              </a:lnSpc>
            </a:pPr>
            <a:r>
              <a:rPr lang="en-US" sz="503">
                <a:solidFill>
                  <a:srgbClr val="667085"/>
                </a:solidFill>
                <a:latin typeface="Georgia"/>
                <a:ea typeface="Calibri" pitchFamily="34" charset="-122"/>
                <a:cs typeface="Calibri" pitchFamily="34" charset="-120"/>
              </a:rPr>
              <a:t>模块关系、数据流</a:t>
            </a:r>
            <a:endParaRPr lang="en-US" sz="503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94" name="Shape 92">
            <a:extLst>
              <a:ext uri="{FF2B5EF4-FFF2-40B4-BE49-F238E27FC236}">
                <a16:creationId xmlns:a16="http://schemas.microsoft.com/office/drawing/2014/main" id="{D79B8065-E9D9-34E1-AE63-0BD1E205CC95}"/>
              </a:ext>
            </a:extLst>
          </p:cNvPr>
          <p:cNvSpPr/>
          <p:nvPr/>
        </p:nvSpPr>
        <p:spPr>
          <a:xfrm>
            <a:off x="5335246" y="2139718"/>
            <a:ext cx="1152084" cy="432032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3970">
            <a:solidFill>
              <a:srgbClr val="AECBEB"/>
            </a:solidFill>
            <a:prstDash val="solid"/>
          </a:ln>
          <a:effectLst>
            <a:outerShdw blurRad="31750" dist="15240" dir="5400000" algn="bl" rotWithShape="0">
              <a:srgbClr val="1B2A41">
                <a:alpha val="13000"/>
              </a:srgbClr>
            </a:outerShdw>
          </a:effectLst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96" name="Text 93">
            <a:extLst>
              <a:ext uri="{FF2B5EF4-FFF2-40B4-BE49-F238E27FC236}">
                <a16:creationId xmlns:a16="http://schemas.microsoft.com/office/drawing/2014/main" id="{B98A0AFE-DF26-3761-FC0D-3AAEE164C528}"/>
              </a:ext>
            </a:extLst>
          </p:cNvPr>
          <p:cNvSpPr/>
          <p:nvPr/>
        </p:nvSpPr>
        <p:spPr>
          <a:xfrm>
            <a:off x="5396965" y="2187722"/>
            <a:ext cx="1028647" cy="13715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685800"/>
            <a:r>
              <a:rPr lang="en-US" sz="750" b="1">
                <a:solidFill>
                  <a:srgbClr val="1E3A5F"/>
                </a:solidFill>
                <a:latin typeface="Georgia"/>
                <a:ea typeface="Cambria" pitchFamily="34" charset="-122"/>
                <a:cs typeface="Cambria" pitchFamily="34" charset="-120"/>
              </a:rPr>
              <a:t>tasks.md</a:t>
            </a:r>
            <a:endParaRPr lang="en-US" sz="7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98" name="Text 94">
            <a:extLst>
              <a:ext uri="{FF2B5EF4-FFF2-40B4-BE49-F238E27FC236}">
                <a16:creationId xmlns:a16="http://schemas.microsoft.com/office/drawing/2014/main" id="{954762A5-19F0-8125-E6C2-AF7D15222F19}"/>
              </a:ext>
            </a:extLst>
          </p:cNvPr>
          <p:cNvSpPr/>
          <p:nvPr/>
        </p:nvSpPr>
        <p:spPr>
          <a:xfrm>
            <a:off x="5396965" y="2345448"/>
            <a:ext cx="1028647" cy="1988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685800">
              <a:lnSpc>
                <a:spcPct val="115000"/>
              </a:lnSpc>
            </a:pPr>
            <a:r>
              <a:rPr lang="en-US" sz="503">
                <a:solidFill>
                  <a:srgbClr val="667085"/>
                </a:solidFill>
                <a:latin typeface="Georgia"/>
                <a:ea typeface="Calibri" pitchFamily="34" charset="-122"/>
                <a:cs typeface="Calibri" pitchFamily="34" charset="-120"/>
              </a:rPr>
              <a:t>任务拆解、执行顺序</a:t>
            </a:r>
            <a:endParaRPr lang="en-US" sz="503">
              <a:solidFill>
                <a:srgbClr val="000000"/>
              </a:solidFill>
              <a:latin typeface="Georgia"/>
            </a:endParaRPr>
          </a:p>
          <a:p>
            <a:pPr defTabSz="685800">
              <a:lnSpc>
                <a:spcPct val="115000"/>
              </a:lnSpc>
            </a:pPr>
            <a:r>
              <a:rPr lang="en-US" sz="503">
                <a:solidFill>
                  <a:srgbClr val="667085"/>
                </a:solidFill>
                <a:latin typeface="Georgia"/>
                <a:ea typeface="Calibri" pitchFamily="34" charset="-122"/>
                <a:cs typeface="Calibri" pitchFamily="34" charset="-120"/>
              </a:rPr>
              <a:t>进度与状态</a:t>
            </a:r>
            <a:endParaRPr lang="en-US" sz="503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00" name="Shape 95">
            <a:extLst>
              <a:ext uri="{FF2B5EF4-FFF2-40B4-BE49-F238E27FC236}">
                <a16:creationId xmlns:a16="http://schemas.microsoft.com/office/drawing/2014/main" id="{1FAC90F4-957C-A3D6-7491-6296E6CD75DF}"/>
              </a:ext>
            </a:extLst>
          </p:cNvPr>
          <p:cNvSpPr/>
          <p:nvPr/>
        </p:nvSpPr>
        <p:spPr>
          <a:xfrm>
            <a:off x="6590195" y="2139718"/>
            <a:ext cx="1152084" cy="432032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3970">
            <a:solidFill>
              <a:srgbClr val="AECBEB"/>
            </a:solidFill>
            <a:prstDash val="solid"/>
          </a:ln>
          <a:effectLst>
            <a:outerShdw blurRad="31750" dist="15240" dir="5400000" algn="bl" rotWithShape="0">
              <a:srgbClr val="1B2A41">
                <a:alpha val="13000"/>
              </a:srgbClr>
            </a:outerShdw>
          </a:effectLst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02" name="Text 96">
            <a:extLst>
              <a:ext uri="{FF2B5EF4-FFF2-40B4-BE49-F238E27FC236}">
                <a16:creationId xmlns:a16="http://schemas.microsoft.com/office/drawing/2014/main" id="{23A75191-9136-A0E8-B55A-D9F9CA394705}"/>
              </a:ext>
            </a:extLst>
          </p:cNvPr>
          <p:cNvSpPr/>
          <p:nvPr/>
        </p:nvSpPr>
        <p:spPr>
          <a:xfrm>
            <a:off x="6651914" y="2187722"/>
            <a:ext cx="1028647" cy="13715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685800"/>
            <a:r>
              <a:rPr lang="en-US" sz="750" b="1">
                <a:solidFill>
                  <a:srgbClr val="1E3A5F"/>
                </a:solidFill>
                <a:latin typeface="Georgia"/>
                <a:ea typeface="Cambria" pitchFamily="34" charset="-122"/>
                <a:cs typeface="Cambria" pitchFamily="34" charset="-120"/>
              </a:rPr>
              <a:t>主 Spec 知识库</a:t>
            </a:r>
            <a:endParaRPr lang="en-US" sz="7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04" name="Text 97">
            <a:extLst>
              <a:ext uri="{FF2B5EF4-FFF2-40B4-BE49-F238E27FC236}">
                <a16:creationId xmlns:a16="http://schemas.microsoft.com/office/drawing/2014/main" id="{FA37279E-1577-2BFB-6BC3-92E0874D5CFB}"/>
              </a:ext>
            </a:extLst>
          </p:cNvPr>
          <p:cNvSpPr/>
          <p:nvPr/>
        </p:nvSpPr>
        <p:spPr>
          <a:xfrm>
            <a:off x="6651914" y="2345448"/>
            <a:ext cx="1028647" cy="1988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685800">
              <a:lnSpc>
                <a:spcPct val="115000"/>
              </a:lnSpc>
            </a:pPr>
            <a:r>
              <a:rPr lang="en-US" sz="503">
                <a:solidFill>
                  <a:srgbClr val="667085"/>
                </a:solidFill>
                <a:latin typeface="Georgia"/>
                <a:ea typeface="Calibri" pitchFamily="34" charset="-122"/>
                <a:cs typeface="Calibri" pitchFamily="34" charset="-120"/>
              </a:rPr>
              <a:t>沉淀经验、复用规范</a:t>
            </a:r>
            <a:endParaRPr lang="en-US" sz="503">
              <a:solidFill>
                <a:srgbClr val="000000"/>
              </a:solidFill>
              <a:latin typeface="Georgia"/>
            </a:endParaRPr>
          </a:p>
          <a:p>
            <a:pPr defTabSz="685800">
              <a:lnSpc>
                <a:spcPct val="115000"/>
              </a:lnSpc>
            </a:pPr>
            <a:r>
              <a:rPr lang="en-US" sz="503">
                <a:solidFill>
                  <a:srgbClr val="667085"/>
                </a:solidFill>
                <a:latin typeface="Georgia"/>
                <a:ea typeface="Calibri" pitchFamily="34" charset="-122"/>
                <a:cs typeface="Calibri" pitchFamily="34" charset="-120"/>
              </a:rPr>
              <a:t>持续进化</a:t>
            </a:r>
            <a:endParaRPr lang="en-US" sz="503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06" name="Shape 98">
            <a:extLst>
              <a:ext uri="{FF2B5EF4-FFF2-40B4-BE49-F238E27FC236}">
                <a16:creationId xmlns:a16="http://schemas.microsoft.com/office/drawing/2014/main" id="{1E5E9300-A6B2-3467-F8D2-1A11E421DD31}"/>
              </a:ext>
            </a:extLst>
          </p:cNvPr>
          <p:cNvSpPr/>
          <p:nvPr/>
        </p:nvSpPr>
        <p:spPr>
          <a:xfrm>
            <a:off x="2684768" y="1824267"/>
            <a:ext cx="0" cy="96007"/>
          </a:xfrm>
          <a:prstGeom prst="line">
            <a:avLst/>
          </a:prstGeom>
          <a:noFill/>
          <a:ln w="17780">
            <a:solidFill>
              <a:srgbClr val="1E3A5F"/>
            </a:solidFill>
            <a:prstDash val="solid"/>
            <a:tailEnd type="triangle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08" name="Shape 99">
            <a:extLst>
              <a:ext uri="{FF2B5EF4-FFF2-40B4-BE49-F238E27FC236}">
                <a16:creationId xmlns:a16="http://schemas.microsoft.com/office/drawing/2014/main" id="{4E75DAF2-C15D-6B7E-B1EF-FDA714C27E9E}"/>
              </a:ext>
            </a:extLst>
          </p:cNvPr>
          <p:cNvSpPr/>
          <p:nvPr/>
        </p:nvSpPr>
        <p:spPr>
          <a:xfrm>
            <a:off x="4220879" y="1824267"/>
            <a:ext cx="0" cy="96007"/>
          </a:xfrm>
          <a:prstGeom prst="line">
            <a:avLst/>
          </a:prstGeom>
          <a:noFill/>
          <a:ln w="17780">
            <a:solidFill>
              <a:srgbClr val="1E3A5F"/>
            </a:solidFill>
            <a:prstDash val="solid"/>
            <a:tailEnd type="triangle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10" name="Shape 100">
            <a:extLst>
              <a:ext uri="{FF2B5EF4-FFF2-40B4-BE49-F238E27FC236}">
                <a16:creationId xmlns:a16="http://schemas.microsoft.com/office/drawing/2014/main" id="{7B95FFB6-D24E-EDD5-9BFA-6515F84A9054}"/>
              </a:ext>
            </a:extLst>
          </p:cNvPr>
          <p:cNvSpPr/>
          <p:nvPr/>
        </p:nvSpPr>
        <p:spPr>
          <a:xfrm>
            <a:off x="4988936" y="1824267"/>
            <a:ext cx="0" cy="96007"/>
          </a:xfrm>
          <a:prstGeom prst="line">
            <a:avLst/>
          </a:prstGeom>
          <a:noFill/>
          <a:ln w="17780">
            <a:solidFill>
              <a:srgbClr val="1E3A5F"/>
            </a:solidFill>
            <a:prstDash val="solid"/>
            <a:tailEnd type="triangle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12" name="Shape 101">
            <a:extLst>
              <a:ext uri="{FF2B5EF4-FFF2-40B4-BE49-F238E27FC236}">
                <a16:creationId xmlns:a16="http://schemas.microsoft.com/office/drawing/2014/main" id="{693D2718-A879-2803-DE36-813A180DFDE7}"/>
              </a:ext>
            </a:extLst>
          </p:cNvPr>
          <p:cNvSpPr/>
          <p:nvPr/>
        </p:nvSpPr>
        <p:spPr>
          <a:xfrm>
            <a:off x="6525047" y="1824267"/>
            <a:ext cx="0" cy="96007"/>
          </a:xfrm>
          <a:prstGeom prst="line">
            <a:avLst/>
          </a:prstGeom>
          <a:noFill/>
          <a:ln w="17780">
            <a:solidFill>
              <a:srgbClr val="1E3A5F"/>
            </a:solidFill>
            <a:prstDash val="solid"/>
            <a:tailEnd type="triangle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14" name="Shape 102">
            <a:extLst>
              <a:ext uri="{FF2B5EF4-FFF2-40B4-BE49-F238E27FC236}">
                <a16:creationId xmlns:a16="http://schemas.microsoft.com/office/drawing/2014/main" id="{CB29E1A4-4BAA-2EB5-9B5A-AFBDAEAD0396}"/>
              </a:ext>
            </a:extLst>
          </p:cNvPr>
          <p:cNvSpPr/>
          <p:nvPr/>
        </p:nvSpPr>
        <p:spPr>
          <a:xfrm>
            <a:off x="1474394" y="2722619"/>
            <a:ext cx="6295316" cy="1268664"/>
          </a:xfrm>
          <a:prstGeom prst="roundRect">
            <a:avLst>
              <a:gd name="adj" fmla="val 4324"/>
            </a:avLst>
          </a:prstGeom>
          <a:solidFill>
            <a:srgbClr val="E9F6EF"/>
          </a:solidFill>
          <a:ln w="12700">
            <a:solidFill>
              <a:srgbClr val="B7DEC4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16" name="Shape 103">
            <a:extLst>
              <a:ext uri="{FF2B5EF4-FFF2-40B4-BE49-F238E27FC236}">
                <a16:creationId xmlns:a16="http://schemas.microsoft.com/office/drawing/2014/main" id="{0A9E9B52-563B-EB06-FF0D-E52CAE11D023}"/>
              </a:ext>
            </a:extLst>
          </p:cNvPr>
          <p:cNvSpPr/>
          <p:nvPr/>
        </p:nvSpPr>
        <p:spPr>
          <a:xfrm>
            <a:off x="1570401" y="2811768"/>
            <a:ext cx="75434" cy="75434"/>
          </a:xfrm>
          <a:prstGeom prst="ellipse">
            <a:avLst/>
          </a:prstGeom>
          <a:solidFill>
            <a:srgbClr val="1F5C3A"/>
          </a:solidFill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18" name="Text 104">
            <a:extLst>
              <a:ext uri="{FF2B5EF4-FFF2-40B4-BE49-F238E27FC236}">
                <a16:creationId xmlns:a16="http://schemas.microsoft.com/office/drawing/2014/main" id="{985826EA-C3D1-CDD8-425C-F1BEDEDF4BCE}"/>
              </a:ext>
            </a:extLst>
          </p:cNvPr>
          <p:cNvSpPr/>
          <p:nvPr/>
        </p:nvSpPr>
        <p:spPr>
          <a:xfrm>
            <a:off x="1700695" y="2770622"/>
            <a:ext cx="3085940" cy="1645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685800"/>
            <a:r>
              <a:rPr lang="en-US" sz="788" b="1">
                <a:solidFill>
                  <a:srgbClr val="10233B"/>
                </a:solidFill>
                <a:latin typeface="Georgia"/>
                <a:ea typeface="Cambria" pitchFamily="34" charset="-122"/>
                <a:cs typeface="Cambria" pitchFamily="34" charset="-120"/>
              </a:rPr>
              <a:t>AI 执行环境与约束层</a:t>
            </a:r>
            <a:endParaRPr lang="en-US" sz="788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20" name="Shape 105">
            <a:extLst>
              <a:ext uri="{FF2B5EF4-FFF2-40B4-BE49-F238E27FC236}">
                <a16:creationId xmlns:a16="http://schemas.microsoft.com/office/drawing/2014/main" id="{0DC43AF4-E5A3-DA12-E152-0F765544D23A}"/>
              </a:ext>
            </a:extLst>
          </p:cNvPr>
          <p:cNvSpPr/>
          <p:nvPr/>
        </p:nvSpPr>
        <p:spPr>
          <a:xfrm>
            <a:off x="1570401" y="2942063"/>
            <a:ext cx="2057293" cy="980643"/>
          </a:xfrm>
          <a:prstGeom prst="roundRect">
            <a:avLst>
              <a:gd name="adj" fmla="val 4196"/>
            </a:avLst>
          </a:prstGeom>
          <a:solidFill>
            <a:srgbClr val="FFFFFF"/>
          </a:solidFill>
          <a:ln w="13970">
            <a:solidFill>
              <a:srgbClr val="E07B14"/>
            </a:solidFill>
            <a:prstDash val="solid"/>
          </a:ln>
          <a:effectLst>
            <a:outerShdw blurRad="31750" dist="15240" dir="5400000" algn="bl" rotWithShape="0">
              <a:srgbClr val="1B2A41">
                <a:alpha val="12000"/>
              </a:srgbClr>
            </a:outerShdw>
          </a:effectLst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22" name="Text 106">
            <a:extLst>
              <a:ext uri="{FF2B5EF4-FFF2-40B4-BE49-F238E27FC236}">
                <a16:creationId xmlns:a16="http://schemas.microsoft.com/office/drawing/2014/main" id="{2FF2970F-7A15-1739-BE02-79568A2A2C14}"/>
              </a:ext>
            </a:extLst>
          </p:cNvPr>
          <p:cNvSpPr/>
          <p:nvPr/>
        </p:nvSpPr>
        <p:spPr>
          <a:xfrm>
            <a:off x="1625262" y="2990066"/>
            <a:ext cx="1947571" cy="12343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 defTabSz="685800"/>
            <a:r>
              <a:rPr lang="en-US" sz="800" b="1">
                <a:solidFill>
                  <a:srgbClr val="E07B14"/>
                </a:solidFill>
                <a:latin typeface="Georgia"/>
                <a:ea typeface="Cambria" pitchFamily="34" charset="-122"/>
                <a:cs typeface="Cambria" pitchFamily="34" charset="-120"/>
              </a:rPr>
              <a:t>Skills 分层约束</a:t>
            </a:r>
            <a:endParaRPr lang="en-US" sz="80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24" name="Shape 107">
            <a:extLst>
              <a:ext uri="{FF2B5EF4-FFF2-40B4-BE49-F238E27FC236}">
                <a16:creationId xmlns:a16="http://schemas.microsoft.com/office/drawing/2014/main" id="{C458FE67-D7D4-F0F4-F058-3AACC5490B2A}"/>
              </a:ext>
            </a:extLst>
          </p:cNvPr>
          <p:cNvSpPr/>
          <p:nvPr/>
        </p:nvSpPr>
        <p:spPr>
          <a:xfrm>
            <a:off x="1625261" y="3147792"/>
            <a:ext cx="946355" cy="720053"/>
          </a:xfrm>
          <a:prstGeom prst="roundRect">
            <a:avLst>
              <a:gd name="adj" fmla="val 4762"/>
            </a:avLst>
          </a:prstGeom>
          <a:solidFill>
            <a:srgbClr val="FFF3E0"/>
          </a:solidFill>
          <a:ln w="9525">
            <a:solidFill>
              <a:srgbClr val="E07B14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26" name="Text 108">
            <a:extLst>
              <a:ext uri="{FF2B5EF4-FFF2-40B4-BE49-F238E27FC236}">
                <a16:creationId xmlns:a16="http://schemas.microsoft.com/office/drawing/2014/main" id="{700C7AE7-7079-3820-D652-D02FA7A9491A}"/>
              </a:ext>
            </a:extLst>
          </p:cNvPr>
          <p:cNvSpPr/>
          <p:nvPr/>
        </p:nvSpPr>
        <p:spPr>
          <a:xfrm>
            <a:off x="1666407" y="3182081"/>
            <a:ext cx="864063" cy="2194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685800"/>
            <a:r>
              <a:rPr lang="en-US" sz="600" b="1">
                <a:solidFill>
                  <a:srgbClr val="8A4B0B"/>
                </a:solidFill>
                <a:latin typeface="Georgia"/>
                <a:ea typeface="Calibri" pitchFamily="34" charset="-122"/>
                <a:cs typeface="Calibri" pitchFamily="34" charset="-120"/>
              </a:rPr>
              <a:t>底层 Skills（通用约束）</a:t>
            </a:r>
            <a:endParaRPr lang="en-US" sz="60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28" name="Text 109">
            <a:extLst>
              <a:ext uri="{FF2B5EF4-FFF2-40B4-BE49-F238E27FC236}">
                <a16:creationId xmlns:a16="http://schemas.microsoft.com/office/drawing/2014/main" id="{365AF5EE-7593-DDFB-6E8F-9FF3D4AC677C}"/>
              </a:ext>
            </a:extLst>
          </p:cNvPr>
          <p:cNvSpPr/>
          <p:nvPr/>
        </p:nvSpPr>
        <p:spPr>
          <a:xfrm>
            <a:off x="1666407" y="3319234"/>
            <a:ext cx="864063" cy="4388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685800">
              <a:lnSpc>
                <a:spcPct val="118000"/>
              </a:lnSpc>
            </a:pPr>
            <a:r>
              <a:rPr lang="en-US" sz="600">
                <a:solidFill>
                  <a:srgbClr val="1F2937"/>
                </a:solidFill>
                <a:latin typeface="Georgia"/>
                <a:ea typeface="Calibri" pitchFamily="34" charset="-122"/>
                <a:cs typeface="Calibri" pitchFamily="34" charset="-120"/>
              </a:rPr>
              <a:t>• 编码前先思考</a:t>
            </a:r>
            <a:endParaRPr lang="en-US" sz="600">
              <a:solidFill>
                <a:srgbClr val="000000"/>
              </a:solidFill>
              <a:latin typeface="Georgia"/>
            </a:endParaRPr>
          </a:p>
          <a:p>
            <a:pPr defTabSz="685800">
              <a:lnSpc>
                <a:spcPct val="118000"/>
              </a:lnSpc>
            </a:pPr>
            <a:r>
              <a:rPr lang="en-US" sz="600">
                <a:solidFill>
                  <a:srgbClr val="1F2937"/>
                </a:solidFill>
                <a:latin typeface="Georgia"/>
                <a:ea typeface="Calibri" pitchFamily="34" charset="-122"/>
                <a:cs typeface="Calibri" pitchFamily="34" charset="-120"/>
              </a:rPr>
              <a:t>• 小改动，避免扩大范围</a:t>
            </a:r>
            <a:endParaRPr lang="en-US" sz="600">
              <a:solidFill>
                <a:srgbClr val="000000"/>
              </a:solidFill>
              <a:latin typeface="Georgia"/>
            </a:endParaRPr>
          </a:p>
          <a:p>
            <a:pPr defTabSz="685800">
              <a:lnSpc>
                <a:spcPct val="118000"/>
              </a:lnSpc>
            </a:pPr>
            <a:r>
              <a:rPr lang="en-US" sz="600">
                <a:solidFill>
                  <a:srgbClr val="1F2937"/>
                </a:solidFill>
                <a:latin typeface="Georgia"/>
                <a:ea typeface="Calibri" pitchFamily="34" charset="-122"/>
                <a:cs typeface="Calibri" pitchFamily="34" charset="-120"/>
              </a:rPr>
              <a:t>• 自查与说明影响面</a:t>
            </a:r>
            <a:endParaRPr lang="en-US" sz="600">
              <a:solidFill>
                <a:srgbClr val="000000"/>
              </a:solidFill>
              <a:latin typeface="Georgia"/>
            </a:endParaRPr>
          </a:p>
          <a:p>
            <a:pPr defTabSz="685800">
              <a:lnSpc>
                <a:spcPct val="118000"/>
              </a:lnSpc>
            </a:pPr>
            <a:r>
              <a:rPr lang="en-US" sz="600">
                <a:solidFill>
                  <a:srgbClr val="1F2937"/>
                </a:solidFill>
                <a:latin typeface="Georgia"/>
                <a:ea typeface="Calibri" pitchFamily="34" charset="-122"/>
                <a:cs typeface="Calibri" pitchFamily="34" charset="-120"/>
              </a:rPr>
              <a:t>• 不确定先确认，不硬猜</a:t>
            </a:r>
            <a:endParaRPr lang="en-US" sz="600">
              <a:solidFill>
                <a:srgbClr val="000000"/>
              </a:solidFill>
              <a:latin typeface="Georgia"/>
            </a:endParaRPr>
          </a:p>
          <a:p>
            <a:pPr defTabSz="685800">
              <a:lnSpc>
                <a:spcPct val="118000"/>
              </a:lnSpc>
            </a:pPr>
            <a:r>
              <a:rPr lang="en-US" sz="600">
                <a:solidFill>
                  <a:srgbClr val="1F2937"/>
                </a:solidFill>
                <a:latin typeface="Georgia"/>
                <a:ea typeface="Calibri" pitchFamily="34" charset="-122"/>
                <a:cs typeface="Calibri" pitchFamily="34" charset="-120"/>
              </a:rPr>
              <a:t>• ……</a:t>
            </a:r>
            <a:endParaRPr lang="en-US" sz="60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30" name="Shape 110">
            <a:extLst>
              <a:ext uri="{FF2B5EF4-FFF2-40B4-BE49-F238E27FC236}">
                <a16:creationId xmlns:a16="http://schemas.microsoft.com/office/drawing/2014/main" id="{BB8E544F-AC8A-8665-7999-92E8BB69F8B5}"/>
              </a:ext>
            </a:extLst>
          </p:cNvPr>
          <p:cNvSpPr/>
          <p:nvPr/>
        </p:nvSpPr>
        <p:spPr>
          <a:xfrm>
            <a:off x="2626477" y="3147792"/>
            <a:ext cx="946355" cy="720053"/>
          </a:xfrm>
          <a:prstGeom prst="roundRect">
            <a:avLst>
              <a:gd name="adj" fmla="val 4762"/>
            </a:avLst>
          </a:prstGeom>
          <a:solidFill>
            <a:srgbClr val="FFF3E0"/>
          </a:solidFill>
          <a:ln w="9525">
            <a:solidFill>
              <a:srgbClr val="E07B14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32" name="Text 111">
            <a:extLst>
              <a:ext uri="{FF2B5EF4-FFF2-40B4-BE49-F238E27FC236}">
                <a16:creationId xmlns:a16="http://schemas.microsoft.com/office/drawing/2014/main" id="{6F41AA50-1C00-78E0-4003-AE6ACB5E81C9}"/>
              </a:ext>
            </a:extLst>
          </p:cNvPr>
          <p:cNvSpPr/>
          <p:nvPr/>
        </p:nvSpPr>
        <p:spPr>
          <a:xfrm>
            <a:off x="2667623" y="3182081"/>
            <a:ext cx="864063" cy="2194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685800"/>
            <a:r>
              <a:rPr lang="en-US" sz="600" b="1">
                <a:solidFill>
                  <a:srgbClr val="8A4B0B"/>
                </a:solidFill>
                <a:latin typeface="Georgia"/>
                <a:ea typeface="Calibri" pitchFamily="34" charset="-122"/>
                <a:cs typeface="Calibri" pitchFamily="34" charset="-120"/>
              </a:rPr>
              <a:t>上层 Skills（业务约束）</a:t>
            </a:r>
            <a:endParaRPr lang="en-US" sz="60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34" name="Text 112">
            <a:extLst>
              <a:ext uri="{FF2B5EF4-FFF2-40B4-BE49-F238E27FC236}">
                <a16:creationId xmlns:a16="http://schemas.microsoft.com/office/drawing/2014/main" id="{E8CAAE38-4D49-7A39-E274-BD035542CEE5}"/>
              </a:ext>
            </a:extLst>
          </p:cNvPr>
          <p:cNvSpPr/>
          <p:nvPr/>
        </p:nvSpPr>
        <p:spPr>
          <a:xfrm>
            <a:off x="2667623" y="3319234"/>
            <a:ext cx="864063" cy="4388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685800">
              <a:lnSpc>
                <a:spcPct val="118000"/>
              </a:lnSpc>
            </a:pPr>
            <a:r>
              <a:rPr lang="en-US" sz="600">
                <a:solidFill>
                  <a:srgbClr val="1F2937"/>
                </a:solidFill>
                <a:latin typeface="Georgia"/>
                <a:ea typeface="Calibri" pitchFamily="34" charset="-122"/>
                <a:cs typeface="Calibri" pitchFamily="34" charset="-120"/>
              </a:rPr>
              <a:t>• 项目架构与分层规则</a:t>
            </a:r>
            <a:endParaRPr lang="en-US" sz="600">
              <a:solidFill>
                <a:srgbClr val="000000"/>
              </a:solidFill>
              <a:latin typeface="Georgia"/>
            </a:endParaRPr>
          </a:p>
          <a:p>
            <a:pPr defTabSz="685800">
              <a:lnSpc>
                <a:spcPct val="118000"/>
              </a:lnSpc>
            </a:pPr>
            <a:r>
              <a:rPr lang="en-US" sz="600">
                <a:solidFill>
                  <a:srgbClr val="1F2937"/>
                </a:solidFill>
                <a:latin typeface="Georgia"/>
                <a:ea typeface="Calibri" pitchFamily="34" charset="-122"/>
                <a:cs typeface="Calibri" pitchFamily="34" charset="-120"/>
              </a:rPr>
              <a:t>• 命名与代码规范</a:t>
            </a:r>
            <a:endParaRPr lang="en-US" sz="600">
              <a:solidFill>
                <a:srgbClr val="000000"/>
              </a:solidFill>
              <a:latin typeface="Georgia"/>
            </a:endParaRPr>
          </a:p>
          <a:p>
            <a:pPr defTabSz="685800">
              <a:lnSpc>
                <a:spcPct val="118000"/>
              </a:lnSpc>
            </a:pPr>
            <a:r>
              <a:rPr lang="en-US" sz="600">
                <a:solidFill>
                  <a:srgbClr val="1F2937"/>
                </a:solidFill>
                <a:latin typeface="Georgia"/>
                <a:ea typeface="Calibri" pitchFamily="34" charset="-122"/>
                <a:cs typeface="Calibri" pitchFamily="34" charset="-120"/>
              </a:rPr>
              <a:t>• 业务术语与领域知识</a:t>
            </a:r>
            <a:endParaRPr lang="en-US" sz="600">
              <a:solidFill>
                <a:srgbClr val="000000"/>
              </a:solidFill>
              <a:latin typeface="Georgia"/>
            </a:endParaRPr>
          </a:p>
          <a:p>
            <a:pPr defTabSz="685800">
              <a:lnSpc>
                <a:spcPct val="118000"/>
              </a:lnSpc>
            </a:pPr>
            <a:r>
              <a:rPr lang="en-US" sz="600">
                <a:solidFill>
                  <a:srgbClr val="1F2937"/>
                </a:solidFill>
                <a:latin typeface="Georgia"/>
                <a:ea typeface="Calibri" pitchFamily="34" charset="-122"/>
                <a:cs typeface="Calibri" pitchFamily="34" charset="-120"/>
              </a:rPr>
              <a:t>• 历史坑与注意事项</a:t>
            </a:r>
            <a:endParaRPr lang="en-US" sz="600">
              <a:solidFill>
                <a:srgbClr val="000000"/>
              </a:solidFill>
              <a:latin typeface="Georgia"/>
            </a:endParaRPr>
          </a:p>
          <a:p>
            <a:pPr defTabSz="685800">
              <a:lnSpc>
                <a:spcPct val="118000"/>
              </a:lnSpc>
            </a:pPr>
            <a:r>
              <a:rPr lang="en-US" sz="600">
                <a:solidFill>
                  <a:srgbClr val="1F2937"/>
                </a:solidFill>
                <a:latin typeface="Georgia"/>
                <a:ea typeface="Calibri" pitchFamily="34" charset="-122"/>
                <a:cs typeface="Calibri" pitchFamily="34" charset="-120"/>
              </a:rPr>
              <a:t>• ……</a:t>
            </a:r>
            <a:endParaRPr lang="en-US" sz="60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36" name="Shape 113">
            <a:extLst>
              <a:ext uri="{FF2B5EF4-FFF2-40B4-BE49-F238E27FC236}">
                <a16:creationId xmlns:a16="http://schemas.microsoft.com/office/drawing/2014/main" id="{E83E904F-5BFB-2B8F-232B-9DD0E64C7D31}"/>
              </a:ext>
            </a:extLst>
          </p:cNvPr>
          <p:cNvSpPr/>
          <p:nvPr/>
        </p:nvSpPr>
        <p:spPr>
          <a:xfrm>
            <a:off x="3730558" y="2942063"/>
            <a:ext cx="1748699" cy="980643"/>
          </a:xfrm>
          <a:prstGeom prst="roundRect">
            <a:avLst>
              <a:gd name="adj" fmla="val 4196"/>
            </a:avLst>
          </a:prstGeom>
          <a:solidFill>
            <a:srgbClr val="FFFFFF"/>
          </a:solidFill>
          <a:ln w="13970">
            <a:solidFill>
              <a:srgbClr val="2E8B57"/>
            </a:solidFill>
            <a:prstDash val="solid"/>
          </a:ln>
          <a:effectLst>
            <a:outerShdw blurRad="31750" dist="15240" dir="5400000" algn="bl" rotWithShape="0">
              <a:srgbClr val="1B2A41">
                <a:alpha val="12000"/>
              </a:srgbClr>
            </a:outerShdw>
          </a:effectLst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38" name="Text 114">
            <a:extLst>
              <a:ext uri="{FF2B5EF4-FFF2-40B4-BE49-F238E27FC236}">
                <a16:creationId xmlns:a16="http://schemas.microsoft.com/office/drawing/2014/main" id="{ACA99772-FB43-40F2-E878-933BD968E7D7}"/>
              </a:ext>
            </a:extLst>
          </p:cNvPr>
          <p:cNvSpPr/>
          <p:nvPr/>
        </p:nvSpPr>
        <p:spPr>
          <a:xfrm>
            <a:off x="3785419" y="2990066"/>
            <a:ext cx="1638977" cy="2057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685800"/>
            <a:r>
              <a:rPr lang="en-US" sz="800" b="1">
                <a:solidFill>
                  <a:srgbClr val="1F5C3A"/>
                </a:solidFill>
                <a:latin typeface="Georgia"/>
                <a:ea typeface="Cambria" pitchFamily="34" charset="-122"/>
                <a:cs typeface="Cambria" pitchFamily="34" charset="-120"/>
              </a:rPr>
              <a:t>AGENTS.md（项目入场说明书）</a:t>
            </a:r>
            <a:endParaRPr lang="en-US" sz="80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40" name="Text 115">
            <a:extLst>
              <a:ext uri="{FF2B5EF4-FFF2-40B4-BE49-F238E27FC236}">
                <a16:creationId xmlns:a16="http://schemas.microsoft.com/office/drawing/2014/main" id="{B61A83D8-6E98-E86D-B30F-636BED87D7F3}"/>
              </a:ext>
            </a:extLst>
          </p:cNvPr>
          <p:cNvSpPr/>
          <p:nvPr/>
        </p:nvSpPr>
        <p:spPr>
          <a:xfrm>
            <a:off x="3799134" y="3230084"/>
            <a:ext cx="1611546" cy="6514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685800">
              <a:lnSpc>
                <a:spcPct val="125000"/>
              </a:lnSpc>
            </a:pPr>
            <a:r>
              <a:rPr lang="en-US" sz="600">
                <a:solidFill>
                  <a:srgbClr val="1F2937"/>
                </a:solidFill>
                <a:latin typeface="Georgia"/>
                <a:ea typeface="Calibri" pitchFamily="34" charset="-122"/>
                <a:cs typeface="Calibri" pitchFamily="34" charset="-120"/>
              </a:rPr>
              <a:t>• 项目结构与语言说明</a:t>
            </a:r>
            <a:endParaRPr lang="en-US" sz="600">
              <a:solidFill>
                <a:srgbClr val="000000"/>
              </a:solidFill>
              <a:latin typeface="Georgia"/>
            </a:endParaRPr>
          </a:p>
          <a:p>
            <a:pPr defTabSz="685800">
              <a:lnSpc>
                <a:spcPct val="125000"/>
              </a:lnSpc>
            </a:pPr>
            <a:r>
              <a:rPr lang="en-US" sz="600">
                <a:solidFill>
                  <a:srgbClr val="1F2937"/>
                </a:solidFill>
                <a:latin typeface="Georgia"/>
                <a:ea typeface="Calibri" pitchFamily="34" charset="-122"/>
                <a:cs typeface="Calibri" pitchFamily="34" charset="-120"/>
              </a:rPr>
              <a:t>• 开发/构建/运行命令</a:t>
            </a:r>
            <a:endParaRPr lang="en-US" sz="600">
              <a:solidFill>
                <a:srgbClr val="000000"/>
              </a:solidFill>
              <a:latin typeface="Georgia"/>
            </a:endParaRPr>
          </a:p>
          <a:p>
            <a:pPr defTabSz="685800">
              <a:lnSpc>
                <a:spcPct val="125000"/>
              </a:lnSpc>
            </a:pPr>
            <a:r>
              <a:rPr lang="en-US" sz="600">
                <a:solidFill>
                  <a:srgbClr val="1F2937"/>
                </a:solidFill>
                <a:latin typeface="Georgia"/>
                <a:ea typeface="Calibri" pitchFamily="34" charset="-122"/>
                <a:cs typeface="Calibri" pitchFamily="34" charset="-120"/>
              </a:rPr>
              <a:t>• 代码规范与优先级规则</a:t>
            </a:r>
            <a:endParaRPr lang="en-US" sz="600">
              <a:solidFill>
                <a:srgbClr val="000000"/>
              </a:solidFill>
              <a:latin typeface="Georgia"/>
            </a:endParaRPr>
          </a:p>
          <a:p>
            <a:pPr defTabSz="685800">
              <a:lnSpc>
                <a:spcPct val="125000"/>
              </a:lnSpc>
            </a:pPr>
            <a:r>
              <a:rPr lang="en-US" sz="600">
                <a:solidFill>
                  <a:srgbClr val="1F2937"/>
                </a:solidFill>
                <a:latin typeface="Georgia"/>
                <a:ea typeface="Calibri" pitchFamily="34" charset="-122"/>
                <a:cs typeface="Calibri" pitchFamily="34" charset="-120"/>
              </a:rPr>
              <a:t>• 可修改 / 不可修改范围</a:t>
            </a:r>
            <a:endParaRPr lang="en-US" sz="600">
              <a:solidFill>
                <a:srgbClr val="000000"/>
              </a:solidFill>
              <a:latin typeface="Georgia"/>
            </a:endParaRPr>
          </a:p>
          <a:p>
            <a:pPr defTabSz="685800">
              <a:lnSpc>
                <a:spcPct val="125000"/>
              </a:lnSpc>
            </a:pPr>
            <a:r>
              <a:rPr lang="en-US" sz="600">
                <a:solidFill>
                  <a:srgbClr val="1F2937"/>
                </a:solidFill>
                <a:latin typeface="Georgia"/>
                <a:ea typeface="Calibri" pitchFamily="34" charset="-122"/>
                <a:cs typeface="Calibri" pitchFamily="34" charset="-120"/>
              </a:rPr>
              <a:t>• 输出要求与检查清单</a:t>
            </a:r>
            <a:endParaRPr lang="en-US" sz="600">
              <a:solidFill>
                <a:srgbClr val="000000"/>
              </a:solidFill>
              <a:latin typeface="Georgia"/>
            </a:endParaRPr>
          </a:p>
          <a:p>
            <a:pPr defTabSz="685800">
              <a:lnSpc>
                <a:spcPct val="125000"/>
              </a:lnSpc>
            </a:pPr>
            <a:r>
              <a:rPr lang="en-US" sz="600">
                <a:solidFill>
                  <a:srgbClr val="1F2937"/>
                </a:solidFill>
                <a:latin typeface="Georgia"/>
                <a:ea typeface="Calibri" pitchFamily="34" charset="-122"/>
                <a:cs typeface="Calibri" pitchFamily="34" charset="-120"/>
              </a:rPr>
              <a:t>• ……</a:t>
            </a:r>
            <a:endParaRPr lang="en-US" sz="60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42" name="Shape 116">
            <a:extLst>
              <a:ext uri="{FF2B5EF4-FFF2-40B4-BE49-F238E27FC236}">
                <a16:creationId xmlns:a16="http://schemas.microsoft.com/office/drawing/2014/main" id="{6C13DFCD-5FAA-BBF0-60CA-ECF47EB45285}"/>
              </a:ext>
            </a:extLst>
          </p:cNvPr>
          <p:cNvSpPr/>
          <p:nvPr/>
        </p:nvSpPr>
        <p:spPr>
          <a:xfrm>
            <a:off x="5582122" y="2942063"/>
            <a:ext cx="2091581" cy="980643"/>
          </a:xfrm>
          <a:prstGeom prst="roundRect">
            <a:avLst>
              <a:gd name="adj" fmla="val 4196"/>
            </a:avLst>
          </a:prstGeom>
          <a:solidFill>
            <a:srgbClr val="FFFFFF"/>
          </a:solidFill>
          <a:ln w="13970">
            <a:solidFill>
              <a:srgbClr val="2E8B57"/>
            </a:solidFill>
            <a:prstDash val="solid"/>
          </a:ln>
          <a:effectLst>
            <a:outerShdw blurRad="31750" dist="15240" dir="5400000" algn="bl" rotWithShape="0">
              <a:srgbClr val="1B2A41">
                <a:alpha val="12000"/>
              </a:srgbClr>
            </a:outerShdw>
          </a:effectLst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44" name="Text 117">
            <a:extLst>
              <a:ext uri="{FF2B5EF4-FFF2-40B4-BE49-F238E27FC236}">
                <a16:creationId xmlns:a16="http://schemas.microsoft.com/office/drawing/2014/main" id="{CBB481DE-553A-6E44-FB14-00209D7817DE}"/>
              </a:ext>
            </a:extLst>
          </p:cNvPr>
          <p:cNvSpPr/>
          <p:nvPr/>
        </p:nvSpPr>
        <p:spPr>
          <a:xfrm>
            <a:off x="5636983" y="2990066"/>
            <a:ext cx="1981859" cy="2057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685800"/>
            <a:r>
              <a:rPr lang="en-US" sz="800" b="1">
                <a:solidFill>
                  <a:srgbClr val="1F5C3A"/>
                </a:solidFill>
                <a:latin typeface="Georgia"/>
                <a:ea typeface="Cambria" pitchFamily="34" charset="-122"/>
                <a:cs typeface="Cambria" pitchFamily="34" charset="-120"/>
              </a:rPr>
              <a:t>Hooks（强制校验与自动化守护）</a:t>
            </a:r>
            <a:endParaRPr lang="en-US" sz="80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46" name="Text 118">
            <a:extLst>
              <a:ext uri="{FF2B5EF4-FFF2-40B4-BE49-F238E27FC236}">
                <a16:creationId xmlns:a16="http://schemas.microsoft.com/office/drawing/2014/main" id="{1273FD5F-FC46-11DD-801E-AD5718783115}"/>
              </a:ext>
            </a:extLst>
          </p:cNvPr>
          <p:cNvSpPr/>
          <p:nvPr/>
        </p:nvSpPr>
        <p:spPr>
          <a:xfrm>
            <a:off x="5650698" y="3230084"/>
            <a:ext cx="1954428" cy="6514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685800">
              <a:lnSpc>
                <a:spcPct val="125000"/>
              </a:lnSpc>
            </a:pPr>
            <a:r>
              <a:rPr lang="en-US" sz="600">
                <a:solidFill>
                  <a:srgbClr val="1F2937"/>
                </a:solidFill>
                <a:latin typeface="Georgia"/>
                <a:ea typeface="Calibri" pitchFamily="34" charset="-122"/>
                <a:cs typeface="Calibri" pitchFamily="34" charset="-120"/>
              </a:rPr>
              <a:t>• UserPromptSubmit：输入校验</a:t>
            </a:r>
            <a:endParaRPr lang="en-US" sz="600">
              <a:solidFill>
                <a:srgbClr val="000000"/>
              </a:solidFill>
              <a:latin typeface="Georgia"/>
            </a:endParaRPr>
          </a:p>
          <a:p>
            <a:pPr defTabSz="685800">
              <a:lnSpc>
                <a:spcPct val="125000"/>
              </a:lnSpc>
            </a:pPr>
            <a:r>
              <a:rPr lang="en-US" sz="600">
                <a:solidFill>
                  <a:srgbClr val="1F2937"/>
                </a:solidFill>
                <a:latin typeface="Georgia"/>
                <a:ea typeface="Calibri" pitchFamily="34" charset="-122"/>
                <a:cs typeface="Calibri" pitchFamily="34" charset="-120"/>
              </a:rPr>
              <a:t>• PreToolUse：高风险操作拦截</a:t>
            </a:r>
            <a:endParaRPr lang="en-US" sz="600">
              <a:solidFill>
                <a:srgbClr val="000000"/>
              </a:solidFill>
              <a:latin typeface="Georgia"/>
            </a:endParaRPr>
          </a:p>
          <a:p>
            <a:pPr defTabSz="685800">
              <a:lnSpc>
                <a:spcPct val="125000"/>
              </a:lnSpc>
            </a:pPr>
            <a:r>
              <a:rPr lang="en-US" sz="600">
                <a:solidFill>
                  <a:srgbClr val="1F2937"/>
                </a:solidFill>
                <a:latin typeface="Georgia"/>
                <a:ea typeface="Calibri" pitchFamily="34" charset="-122"/>
                <a:cs typeface="Calibri" pitchFamily="34" charset="-120"/>
              </a:rPr>
              <a:t>• PostToolUse：代码质量校验 / i18n 检测 / ESLint</a:t>
            </a:r>
            <a:endParaRPr lang="en-US" sz="600">
              <a:solidFill>
                <a:srgbClr val="000000"/>
              </a:solidFill>
              <a:latin typeface="Georgia"/>
            </a:endParaRPr>
          </a:p>
          <a:p>
            <a:pPr defTabSz="685800">
              <a:lnSpc>
                <a:spcPct val="125000"/>
              </a:lnSpc>
            </a:pPr>
            <a:r>
              <a:rPr lang="en-US" sz="600">
                <a:solidFill>
                  <a:srgbClr val="1F2937"/>
                </a:solidFill>
                <a:latin typeface="Georgia"/>
                <a:ea typeface="Calibri" pitchFamily="34" charset="-122"/>
                <a:cs typeface="Calibri" pitchFamily="34" charset="-120"/>
              </a:rPr>
              <a:t>• Stop：测试、类型检查、CR 提醒</a:t>
            </a:r>
            <a:endParaRPr lang="en-US" sz="600">
              <a:solidFill>
                <a:srgbClr val="000000"/>
              </a:solidFill>
              <a:latin typeface="Georgia"/>
            </a:endParaRPr>
          </a:p>
          <a:p>
            <a:pPr defTabSz="685800">
              <a:lnSpc>
                <a:spcPct val="125000"/>
              </a:lnSpc>
            </a:pPr>
            <a:r>
              <a:rPr lang="en-US" sz="600">
                <a:solidFill>
                  <a:srgbClr val="1F2937"/>
                </a:solidFill>
                <a:latin typeface="Georgia"/>
                <a:ea typeface="Calibri" pitchFamily="34" charset="-122"/>
                <a:cs typeface="Calibri" pitchFamily="34" charset="-120"/>
              </a:rPr>
              <a:t>• ……</a:t>
            </a:r>
            <a:endParaRPr lang="en-US" sz="60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48" name="Shape 119">
            <a:extLst>
              <a:ext uri="{FF2B5EF4-FFF2-40B4-BE49-F238E27FC236}">
                <a16:creationId xmlns:a16="http://schemas.microsoft.com/office/drawing/2014/main" id="{D9E1BE7E-C030-DFB9-E1AC-42D88E8F33BD}"/>
              </a:ext>
            </a:extLst>
          </p:cNvPr>
          <p:cNvSpPr/>
          <p:nvPr/>
        </p:nvSpPr>
        <p:spPr>
          <a:xfrm>
            <a:off x="4622051" y="2640326"/>
            <a:ext cx="0" cy="82292"/>
          </a:xfrm>
          <a:prstGeom prst="line">
            <a:avLst/>
          </a:prstGeom>
          <a:noFill/>
          <a:ln w="17780">
            <a:solidFill>
              <a:srgbClr val="1E3A5F"/>
            </a:solidFill>
            <a:prstDash val="solid"/>
            <a:tailEnd type="triangle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50" name="Shape 120">
            <a:extLst>
              <a:ext uri="{FF2B5EF4-FFF2-40B4-BE49-F238E27FC236}">
                <a16:creationId xmlns:a16="http://schemas.microsoft.com/office/drawing/2014/main" id="{55A40CE5-F407-42E6-8E4D-0D072900250C}"/>
              </a:ext>
            </a:extLst>
          </p:cNvPr>
          <p:cNvSpPr/>
          <p:nvPr/>
        </p:nvSpPr>
        <p:spPr>
          <a:xfrm>
            <a:off x="1474394" y="4059859"/>
            <a:ext cx="6295316" cy="342882"/>
          </a:xfrm>
          <a:prstGeom prst="roundRect">
            <a:avLst>
              <a:gd name="adj" fmla="val 16000"/>
            </a:avLst>
          </a:prstGeom>
          <a:solidFill>
            <a:srgbClr val="FCFCFD"/>
          </a:solidFill>
          <a:ln w="12700">
            <a:solidFill>
              <a:srgbClr val="DDE1E7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52" name="Text 121">
            <a:extLst>
              <a:ext uri="{FF2B5EF4-FFF2-40B4-BE49-F238E27FC236}">
                <a16:creationId xmlns:a16="http://schemas.microsoft.com/office/drawing/2014/main" id="{389AEBBB-18D7-0AE7-ADD9-A01900DB9A27}"/>
              </a:ext>
            </a:extLst>
          </p:cNvPr>
          <p:cNvSpPr/>
          <p:nvPr/>
        </p:nvSpPr>
        <p:spPr>
          <a:xfrm>
            <a:off x="1570400" y="4094146"/>
            <a:ext cx="1097223" cy="13715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685800"/>
            <a:r>
              <a:rPr lang="en-US" sz="653" b="1">
                <a:solidFill>
                  <a:srgbClr val="10233B"/>
                </a:solidFill>
                <a:latin typeface="Georgia"/>
                <a:ea typeface="Cambria" pitchFamily="34" charset="-122"/>
                <a:cs typeface="Cambria" pitchFamily="34" charset="-120"/>
              </a:rPr>
              <a:t>AI Coding 工具层</a:t>
            </a:r>
            <a:endParaRPr lang="en-US" sz="653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54" name="Shape 122">
            <a:extLst>
              <a:ext uri="{FF2B5EF4-FFF2-40B4-BE49-F238E27FC236}">
                <a16:creationId xmlns:a16="http://schemas.microsoft.com/office/drawing/2014/main" id="{92686178-2DF0-8BA8-851E-05086BA52F19}"/>
              </a:ext>
            </a:extLst>
          </p:cNvPr>
          <p:cNvSpPr/>
          <p:nvPr/>
        </p:nvSpPr>
        <p:spPr>
          <a:xfrm>
            <a:off x="2983075" y="4155865"/>
            <a:ext cx="150869" cy="150869"/>
          </a:xfrm>
          <a:prstGeom prst="ellipse">
            <a:avLst/>
          </a:prstGeom>
          <a:solidFill>
            <a:srgbClr val="10A37F"/>
          </a:solidFill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56" name="Text 123">
            <a:extLst>
              <a:ext uri="{FF2B5EF4-FFF2-40B4-BE49-F238E27FC236}">
                <a16:creationId xmlns:a16="http://schemas.microsoft.com/office/drawing/2014/main" id="{D9021307-7ECF-3C4F-8C2E-87366EDD4A96}"/>
              </a:ext>
            </a:extLst>
          </p:cNvPr>
          <p:cNvSpPr/>
          <p:nvPr/>
        </p:nvSpPr>
        <p:spPr>
          <a:xfrm>
            <a:off x="3188805" y="4135293"/>
            <a:ext cx="822917" cy="1920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685800"/>
            <a:r>
              <a:rPr lang="en-US" sz="690" b="1">
                <a:solidFill>
                  <a:srgbClr val="1F2937"/>
                </a:solidFill>
                <a:latin typeface="Georgia"/>
                <a:ea typeface="Calibri" pitchFamily="34" charset="-122"/>
                <a:cs typeface="Calibri" pitchFamily="34" charset="-120"/>
              </a:rPr>
              <a:t>Codex</a:t>
            </a:r>
            <a:endParaRPr lang="en-US" sz="69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58" name="Shape 124">
            <a:extLst>
              <a:ext uri="{FF2B5EF4-FFF2-40B4-BE49-F238E27FC236}">
                <a16:creationId xmlns:a16="http://schemas.microsoft.com/office/drawing/2014/main" id="{314407A7-B6A7-726A-1E38-0265EBAAFA72}"/>
              </a:ext>
            </a:extLst>
          </p:cNvPr>
          <p:cNvSpPr/>
          <p:nvPr/>
        </p:nvSpPr>
        <p:spPr>
          <a:xfrm>
            <a:off x="4114585" y="4155865"/>
            <a:ext cx="150869" cy="150869"/>
          </a:xfrm>
          <a:prstGeom prst="ellipse">
            <a:avLst/>
          </a:prstGeom>
          <a:solidFill>
            <a:srgbClr val="5B4B9A"/>
          </a:solidFill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60" name="Text 125">
            <a:extLst>
              <a:ext uri="{FF2B5EF4-FFF2-40B4-BE49-F238E27FC236}">
                <a16:creationId xmlns:a16="http://schemas.microsoft.com/office/drawing/2014/main" id="{53952460-EC88-EF46-4F9A-A26C121AE4A8}"/>
              </a:ext>
            </a:extLst>
          </p:cNvPr>
          <p:cNvSpPr/>
          <p:nvPr/>
        </p:nvSpPr>
        <p:spPr>
          <a:xfrm>
            <a:off x="4320316" y="4135293"/>
            <a:ext cx="822917" cy="1920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685800"/>
            <a:r>
              <a:rPr lang="en-US" sz="690" b="1">
                <a:solidFill>
                  <a:srgbClr val="1F2937"/>
                </a:solidFill>
                <a:latin typeface="Georgia"/>
                <a:ea typeface="Calibri" pitchFamily="34" charset="-122"/>
                <a:cs typeface="Calibri" pitchFamily="34" charset="-120"/>
              </a:rPr>
              <a:t>Cursor</a:t>
            </a:r>
            <a:endParaRPr lang="en-US" sz="69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62" name="Shape 126">
            <a:extLst>
              <a:ext uri="{FF2B5EF4-FFF2-40B4-BE49-F238E27FC236}">
                <a16:creationId xmlns:a16="http://schemas.microsoft.com/office/drawing/2014/main" id="{8396A48B-8B7C-1CB4-F35D-F94D2EA2ED5C}"/>
              </a:ext>
            </a:extLst>
          </p:cNvPr>
          <p:cNvSpPr/>
          <p:nvPr/>
        </p:nvSpPr>
        <p:spPr>
          <a:xfrm>
            <a:off x="5246097" y="4155865"/>
            <a:ext cx="150869" cy="150869"/>
          </a:xfrm>
          <a:prstGeom prst="ellipse">
            <a:avLst/>
          </a:prstGeom>
          <a:solidFill>
            <a:srgbClr val="D97757"/>
          </a:solidFill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64" name="Text 127">
            <a:extLst>
              <a:ext uri="{FF2B5EF4-FFF2-40B4-BE49-F238E27FC236}">
                <a16:creationId xmlns:a16="http://schemas.microsoft.com/office/drawing/2014/main" id="{FD5123C6-D157-E4C4-80D6-6EC572A9172C}"/>
              </a:ext>
            </a:extLst>
          </p:cNvPr>
          <p:cNvSpPr/>
          <p:nvPr/>
        </p:nvSpPr>
        <p:spPr>
          <a:xfrm>
            <a:off x="5451826" y="4135293"/>
            <a:ext cx="822917" cy="1920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685800"/>
            <a:r>
              <a:rPr lang="en-US" sz="690" b="1">
                <a:solidFill>
                  <a:srgbClr val="1F2937"/>
                </a:solidFill>
                <a:latin typeface="Georgia"/>
                <a:ea typeface="Calibri" pitchFamily="34" charset="-122"/>
                <a:cs typeface="Calibri" pitchFamily="34" charset="-120"/>
              </a:rPr>
              <a:t>Claude Code</a:t>
            </a:r>
            <a:endParaRPr lang="en-US" sz="69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66" name="Shape 128">
            <a:extLst>
              <a:ext uri="{FF2B5EF4-FFF2-40B4-BE49-F238E27FC236}">
                <a16:creationId xmlns:a16="http://schemas.microsoft.com/office/drawing/2014/main" id="{61F38704-8EA5-38E9-751A-1D9559EBD979}"/>
              </a:ext>
            </a:extLst>
          </p:cNvPr>
          <p:cNvSpPr/>
          <p:nvPr/>
        </p:nvSpPr>
        <p:spPr>
          <a:xfrm>
            <a:off x="6377608" y="4155865"/>
            <a:ext cx="150869" cy="150869"/>
          </a:xfrm>
          <a:prstGeom prst="ellipse">
            <a:avLst/>
          </a:prstGeom>
          <a:solidFill>
            <a:srgbClr val="1E88C7"/>
          </a:solidFill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68" name="Text 129">
            <a:extLst>
              <a:ext uri="{FF2B5EF4-FFF2-40B4-BE49-F238E27FC236}">
                <a16:creationId xmlns:a16="http://schemas.microsoft.com/office/drawing/2014/main" id="{74F9CB93-4118-8221-D0DF-0209CC041F71}"/>
              </a:ext>
            </a:extLst>
          </p:cNvPr>
          <p:cNvSpPr/>
          <p:nvPr/>
        </p:nvSpPr>
        <p:spPr>
          <a:xfrm>
            <a:off x="6583338" y="4135293"/>
            <a:ext cx="822917" cy="1920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685800"/>
            <a:r>
              <a:rPr lang="en-US" sz="690" b="1">
                <a:solidFill>
                  <a:srgbClr val="1F2937"/>
                </a:solidFill>
                <a:latin typeface="Georgia"/>
                <a:ea typeface="Calibri" pitchFamily="34" charset="-122"/>
                <a:cs typeface="Calibri" pitchFamily="34" charset="-120"/>
              </a:rPr>
              <a:t>Windsurf</a:t>
            </a:r>
            <a:endParaRPr lang="en-US" sz="69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70" name="Shape 132">
            <a:extLst>
              <a:ext uri="{FF2B5EF4-FFF2-40B4-BE49-F238E27FC236}">
                <a16:creationId xmlns:a16="http://schemas.microsoft.com/office/drawing/2014/main" id="{628EBAE6-E593-3E49-2AF2-5FDBF0810D87}"/>
              </a:ext>
            </a:extLst>
          </p:cNvPr>
          <p:cNvSpPr/>
          <p:nvPr/>
        </p:nvSpPr>
        <p:spPr>
          <a:xfrm>
            <a:off x="171441" y="4498747"/>
            <a:ext cx="8800413" cy="548612"/>
          </a:xfrm>
          <a:prstGeom prst="roundRect">
            <a:avLst>
              <a:gd name="adj" fmla="val 10000"/>
            </a:avLst>
          </a:prstGeom>
          <a:solidFill>
            <a:srgbClr val="FFF8EC"/>
          </a:solidFill>
          <a:ln w="12700">
            <a:solidFill>
              <a:srgbClr val="F0D9A8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72" name="Shape 133">
            <a:extLst>
              <a:ext uri="{FF2B5EF4-FFF2-40B4-BE49-F238E27FC236}">
                <a16:creationId xmlns:a16="http://schemas.microsoft.com/office/drawing/2014/main" id="{D5726DEB-4DDC-8198-D0DC-40B3AFC9F60C}"/>
              </a:ext>
            </a:extLst>
          </p:cNvPr>
          <p:cNvSpPr/>
          <p:nvPr/>
        </p:nvSpPr>
        <p:spPr>
          <a:xfrm>
            <a:off x="274306" y="4581040"/>
            <a:ext cx="75434" cy="75434"/>
          </a:xfrm>
          <a:prstGeom prst="ellipse">
            <a:avLst/>
          </a:prstGeom>
          <a:solidFill>
            <a:srgbClr val="E07B14"/>
          </a:solidFill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74" name="Text 134">
            <a:extLst>
              <a:ext uri="{FF2B5EF4-FFF2-40B4-BE49-F238E27FC236}">
                <a16:creationId xmlns:a16="http://schemas.microsoft.com/office/drawing/2014/main" id="{E0EDD515-0915-631A-5CD5-DFA8202D0251}"/>
              </a:ext>
            </a:extLst>
          </p:cNvPr>
          <p:cNvSpPr/>
          <p:nvPr/>
        </p:nvSpPr>
        <p:spPr>
          <a:xfrm>
            <a:off x="404601" y="4539894"/>
            <a:ext cx="3085940" cy="1645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685800"/>
            <a:r>
              <a:rPr lang="en-US" sz="713" b="1">
                <a:solidFill>
                  <a:srgbClr val="10233B"/>
                </a:solidFill>
                <a:latin typeface="Georgia"/>
                <a:ea typeface="Cambria" pitchFamily="34" charset="-122"/>
                <a:cs typeface="Cambria" pitchFamily="34" charset="-120"/>
              </a:rPr>
              <a:t>价值与收益</a:t>
            </a:r>
            <a:endParaRPr lang="en-US" sz="713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76" name="Shape 135">
            <a:extLst>
              <a:ext uri="{FF2B5EF4-FFF2-40B4-BE49-F238E27FC236}">
                <a16:creationId xmlns:a16="http://schemas.microsoft.com/office/drawing/2014/main" id="{6DDFEDA9-EA7B-9D1F-AD59-A4EB99D0AA1E}"/>
              </a:ext>
            </a:extLst>
          </p:cNvPr>
          <p:cNvSpPr/>
          <p:nvPr/>
        </p:nvSpPr>
        <p:spPr>
          <a:xfrm>
            <a:off x="286688" y="4681523"/>
            <a:ext cx="109722" cy="109722"/>
          </a:xfrm>
          <a:prstGeom prst="ellipse">
            <a:avLst/>
          </a:prstGeom>
          <a:solidFill>
            <a:srgbClr val="E07B14"/>
          </a:solidFill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78" name="Text 136">
            <a:extLst>
              <a:ext uri="{FF2B5EF4-FFF2-40B4-BE49-F238E27FC236}">
                <a16:creationId xmlns:a16="http://schemas.microsoft.com/office/drawing/2014/main" id="{44009824-5854-3333-FC9C-76F409924EC7}"/>
              </a:ext>
            </a:extLst>
          </p:cNvPr>
          <p:cNvSpPr/>
          <p:nvPr/>
        </p:nvSpPr>
        <p:spPr>
          <a:xfrm>
            <a:off x="432032" y="4685047"/>
            <a:ext cx="1355482" cy="13715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685800"/>
            <a:r>
              <a:rPr lang="en-US" sz="615" b="1">
                <a:solidFill>
                  <a:srgbClr val="8A4B0B"/>
                </a:solidFill>
                <a:latin typeface="Georgia"/>
                <a:ea typeface="Cambria" pitchFamily="34" charset="-122"/>
                <a:cs typeface="Cambria" pitchFamily="34" charset="-120"/>
              </a:rPr>
              <a:t>需求清晰可控</a:t>
            </a:r>
            <a:endParaRPr lang="en-US" sz="615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80" name="Text 137">
            <a:extLst>
              <a:ext uri="{FF2B5EF4-FFF2-40B4-BE49-F238E27FC236}">
                <a16:creationId xmlns:a16="http://schemas.microsoft.com/office/drawing/2014/main" id="{7586C957-4BFA-1DFF-416A-FA60DFD5D616}"/>
              </a:ext>
            </a:extLst>
          </p:cNvPr>
          <p:cNvSpPr/>
          <p:nvPr/>
        </p:nvSpPr>
        <p:spPr>
          <a:xfrm>
            <a:off x="422888" y="4843439"/>
            <a:ext cx="1513208" cy="233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685800">
              <a:lnSpc>
                <a:spcPct val="108000"/>
              </a:lnSpc>
            </a:pPr>
            <a:r>
              <a:rPr lang="en-US" sz="458">
                <a:solidFill>
                  <a:srgbClr val="667085"/>
                </a:solidFill>
                <a:latin typeface="Georgia"/>
                <a:ea typeface="Calibri" pitchFamily="34" charset="-122"/>
                <a:cs typeface="Calibri" pitchFamily="34" charset="-120"/>
              </a:rPr>
              <a:t>明确边界与验收标准，减少反复沟通与返工</a:t>
            </a:r>
            <a:endParaRPr lang="en-US" sz="458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82" name="Shape 138">
            <a:extLst>
              <a:ext uri="{FF2B5EF4-FFF2-40B4-BE49-F238E27FC236}">
                <a16:creationId xmlns:a16="http://schemas.microsoft.com/office/drawing/2014/main" id="{174235DE-F8F1-FD84-32A6-B65CAEC31AC8}"/>
              </a:ext>
            </a:extLst>
          </p:cNvPr>
          <p:cNvSpPr/>
          <p:nvPr/>
        </p:nvSpPr>
        <p:spPr>
          <a:xfrm>
            <a:off x="2005625" y="4681523"/>
            <a:ext cx="109722" cy="109722"/>
          </a:xfrm>
          <a:prstGeom prst="ellipse">
            <a:avLst/>
          </a:prstGeom>
          <a:solidFill>
            <a:srgbClr val="E07B14"/>
          </a:solidFill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84" name="Text 139">
            <a:extLst>
              <a:ext uri="{FF2B5EF4-FFF2-40B4-BE49-F238E27FC236}">
                <a16:creationId xmlns:a16="http://schemas.microsoft.com/office/drawing/2014/main" id="{AD1A4C13-AC7F-9AA2-6A16-469700CF49F9}"/>
              </a:ext>
            </a:extLst>
          </p:cNvPr>
          <p:cNvSpPr/>
          <p:nvPr/>
        </p:nvSpPr>
        <p:spPr>
          <a:xfrm>
            <a:off x="2150969" y="4685047"/>
            <a:ext cx="1355482" cy="13715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685800"/>
            <a:r>
              <a:rPr lang="en-US" sz="615" b="1">
                <a:solidFill>
                  <a:srgbClr val="8A4B0B"/>
                </a:solidFill>
                <a:latin typeface="Georgia"/>
                <a:ea typeface="Cambria" pitchFamily="34" charset="-122"/>
                <a:cs typeface="Cambria" pitchFamily="34" charset="-120"/>
              </a:rPr>
              <a:t>实现稳定可控</a:t>
            </a:r>
            <a:endParaRPr lang="en-US" sz="615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86" name="Text 140">
            <a:extLst>
              <a:ext uri="{FF2B5EF4-FFF2-40B4-BE49-F238E27FC236}">
                <a16:creationId xmlns:a16="http://schemas.microsoft.com/office/drawing/2014/main" id="{486AC31F-F465-EB94-3D7B-83AA8AD8F178}"/>
              </a:ext>
            </a:extLst>
          </p:cNvPr>
          <p:cNvSpPr/>
          <p:nvPr/>
        </p:nvSpPr>
        <p:spPr>
          <a:xfrm>
            <a:off x="2141824" y="4843439"/>
            <a:ext cx="1513208" cy="233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685800">
              <a:lnSpc>
                <a:spcPct val="108000"/>
              </a:lnSpc>
            </a:pPr>
            <a:r>
              <a:rPr lang="en-US" sz="458">
                <a:solidFill>
                  <a:srgbClr val="667085"/>
                </a:solidFill>
                <a:latin typeface="Georgia"/>
                <a:ea typeface="Calibri" pitchFamily="34" charset="-122"/>
                <a:cs typeface="Calibri" pitchFamily="34" charset="-120"/>
              </a:rPr>
              <a:t>多层约束 + 强制校验，降低 AI 乱改风险</a:t>
            </a:r>
            <a:endParaRPr lang="en-US" sz="458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88" name="Shape 141">
            <a:extLst>
              <a:ext uri="{FF2B5EF4-FFF2-40B4-BE49-F238E27FC236}">
                <a16:creationId xmlns:a16="http://schemas.microsoft.com/office/drawing/2014/main" id="{02EEB075-D75C-A097-33CB-29C89D6B5B5B}"/>
              </a:ext>
            </a:extLst>
          </p:cNvPr>
          <p:cNvSpPr/>
          <p:nvPr/>
        </p:nvSpPr>
        <p:spPr>
          <a:xfrm>
            <a:off x="1890378" y="4601613"/>
            <a:ext cx="0" cy="363455"/>
          </a:xfrm>
          <a:prstGeom prst="line">
            <a:avLst/>
          </a:prstGeom>
          <a:noFill/>
          <a:ln w="12700">
            <a:solidFill>
              <a:srgbClr val="E3C48F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90" name="Shape 142">
            <a:extLst>
              <a:ext uri="{FF2B5EF4-FFF2-40B4-BE49-F238E27FC236}">
                <a16:creationId xmlns:a16="http://schemas.microsoft.com/office/drawing/2014/main" id="{272C96E2-A827-4071-D08B-2361779F98D4}"/>
              </a:ext>
            </a:extLst>
          </p:cNvPr>
          <p:cNvSpPr/>
          <p:nvPr/>
        </p:nvSpPr>
        <p:spPr>
          <a:xfrm>
            <a:off x="3724561" y="4681523"/>
            <a:ext cx="109722" cy="109722"/>
          </a:xfrm>
          <a:prstGeom prst="ellipse">
            <a:avLst/>
          </a:prstGeom>
          <a:solidFill>
            <a:srgbClr val="E07B14"/>
          </a:solidFill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92" name="Text 143">
            <a:extLst>
              <a:ext uri="{FF2B5EF4-FFF2-40B4-BE49-F238E27FC236}">
                <a16:creationId xmlns:a16="http://schemas.microsoft.com/office/drawing/2014/main" id="{CA5040F5-2570-2F30-4609-D84A2C2CE8E5}"/>
              </a:ext>
            </a:extLst>
          </p:cNvPr>
          <p:cNvSpPr/>
          <p:nvPr/>
        </p:nvSpPr>
        <p:spPr>
          <a:xfrm>
            <a:off x="3869905" y="4685047"/>
            <a:ext cx="1355482" cy="13715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685800"/>
            <a:r>
              <a:rPr lang="en-US" sz="615" b="1">
                <a:solidFill>
                  <a:srgbClr val="8A4B0B"/>
                </a:solidFill>
                <a:latin typeface="Georgia"/>
                <a:ea typeface="Cambria" pitchFamily="34" charset="-122"/>
                <a:cs typeface="Cambria" pitchFamily="34" charset="-120"/>
              </a:rPr>
              <a:t>协作高效可持续</a:t>
            </a:r>
            <a:endParaRPr lang="en-US" sz="615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94" name="Text 144">
            <a:extLst>
              <a:ext uri="{FF2B5EF4-FFF2-40B4-BE49-F238E27FC236}">
                <a16:creationId xmlns:a16="http://schemas.microsoft.com/office/drawing/2014/main" id="{8B414FCF-5628-21D5-4F4A-92CC959192B6}"/>
              </a:ext>
            </a:extLst>
          </p:cNvPr>
          <p:cNvSpPr/>
          <p:nvPr/>
        </p:nvSpPr>
        <p:spPr>
          <a:xfrm>
            <a:off x="3860761" y="4843439"/>
            <a:ext cx="1513208" cy="233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685800">
              <a:lnSpc>
                <a:spcPct val="108000"/>
              </a:lnSpc>
            </a:pPr>
            <a:r>
              <a:rPr lang="en-US" sz="458">
                <a:solidFill>
                  <a:srgbClr val="667085"/>
                </a:solidFill>
                <a:latin typeface="Georgia"/>
                <a:ea typeface="Calibri" pitchFamily="34" charset="-122"/>
                <a:cs typeface="Calibri" pitchFamily="34" charset="-120"/>
              </a:rPr>
              <a:t>上下文沉淀，新会话快速上手，团队知识持续积累</a:t>
            </a:r>
            <a:endParaRPr lang="en-US" sz="458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96" name="Shape 145">
            <a:extLst>
              <a:ext uri="{FF2B5EF4-FFF2-40B4-BE49-F238E27FC236}">
                <a16:creationId xmlns:a16="http://schemas.microsoft.com/office/drawing/2014/main" id="{DCF67825-9E4F-046F-DDAB-93518C35C75E}"/>
              </a:ext>
            </a:extLst>
          </p:cNvPr>
          <p:cNvSpPr/>
          <p:nvPr/>
        </p:nvSpPr>
        <p:spPr>
          <a:xfrm>
            <a:off x="3609314" y="4601613"/>
            <a:ext cx="0" cy="363455"/>
          </a:xfrm>
          <a:prstGeom prst="line">
            <a:avLst/>
          </a:prstGeom>
          <a:noFill/>
          <a:ln w="12700">
            <a:solidFill>
              <a:srgbClr val="E3C48F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98" name="Shape 146">
            <a:extLst>
              <a:ext uri="{FF2B5EF4-FFF2-40B4-BE49-F238E27FC236}">
                <a16:creationId xmlns:a16="http://schemas.microsoft.com/office/drawing/2014/main" id="{853D928E-0782-EDF6-B9F4-E3F48E7B5060}"/>
              </a:ext>
            </a:extLst>
          </p:cNvPr>
          <p:cNvSpPr/>
          <p:nvPr/>
        </p:nvSpPr>
        <p:spPr>
          <a:xfrm>
            <a:off x="5443498" y="4681523"/>
            <a:ext cx="109722" cy="109722"/>
          </a:xfrm>
          <a:prstGeom prst="ellipse">
            <a:avLst/>
          </a:prstGeom>
          <a:solidFill>
            <a:srgbClr val="E07B14"/>
          </a:solidFill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300" name="Text 147">
            <a:extLst>
              <a:ext uri="{FF2B5EF4-FFF2-40B4-BE49-F238E27FC236}">
                <a16:creationId xmlns:a16="http://schemas.microsoft.com/office/drawing/2014/main" id="{F41063EC-BCDB-520A-36A2-2291CF0D8509}"/>
              </a:ext>
            </a:extLst>
          </p:cNvPr>
          <p:cNvSpPr/>
          <p:nvPr/>
        </p:nvSpPr>
        <p:spPr>
          <a:xfrm>
            <a:off x="5588842" y="4685047"/>
            <a:ext cx="1355482" cy="13715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685800"/>
            <a:r>
              <a:rPr lang="en-US" sz="615" b="1">
                <a:solidFill>
                  <a:srgbClr val="8A4B0B"/>
                </a:solidFill>
                <a:latin typeface="Georgia"/>
                <a:ea typeface="Cambria" pitchFamily="34" charset="-122"/>
                <a:cs typeface="Cambria" pitchFamily="34" charset="-120"/>
              </a:rPr>
              <a:t>质量可验证</a:t>
            </a:r>
            <a:endParaRPr lang="en-US" sz="615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302" name="Text 148">
            <a:extLst>
              <a:ext uri="{FF2B5EF4-FFF2-40B4-BE49-F238E27FC236}">
                <a16:creationId xmlns:a16="http://schemas.microsoft.com/office/drawing/2014/main" id="{C5120324-C10B-6AFC-2C82-290EF5B0F064}"/>
              </a:ext>
            </a:extLst>
          </p:cNvPr>
          <p:cNvSpPr/>
          <p:nvPr/>
        </p:nvSpPr>
        <p:spPr>
          <a:xfrm>
            <a:off x="5579698" y="4843439"/>
            <a:ext cx="1513208" cy="233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685800">
              <a:lnSpc>
                <a:spcPct val="108000"/>
              </a:lnSpc>
            </a:pPr>
            <a:r>
              <a:rPr lang="en-US" sz="458">
                <a:solidFill>
                  <a:srgbClr val="667085"/>
                </a:solidFill>
                <a:latin typeface="Georgia"/>
                <a:ea typeface="Calibri" pitchFamily="34" charset="-122"/>
                <a:cs typeface="Calibri" pitchFamily="34" charset="-120"/>
              </a:rPr>
              <a:t>自动化检查 + 人工验证，保证交付质量</a:t>
            </a:r>
            <a:endParaRPr lang="en-US" sz="458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304" name="Shape 149">
            <a:extLst>
              <a:ext uri="{FF2B5EF4-FFF2-40B4-BE49-F238E27FC236}">
                <a16:creationId xmlns:a16="http://schemas.microsoft.com/office/drawing/2014/main" id="{CBE648B4-6BF4-F152-F1F1-27441F437454}"/>
              </a:ext>
            </a:extLst>
          </p:cNvPr>
          <p:cNvSpPr/>
          <p:nvPr/>
        </p:nvSpPr>
        <p:spPr>
          <a:xfrm>
            <a:off x="5328251" y="4601613"/>
            <a:ext cx="0" cy="363455"/>
          </a:xfrm>
          <a:prstGeom prst="line">
            <a:avLst/>
          </a:prstGeom>
          <a:noFill/>
          <a:ln w="12700">
            <a:solidFill>
              <a:srgbClr val="E3C48F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306" name="Shape 150">
            <a:extLst>
              <a:ext uri="{FF2B5EF4-FFF2-40B4-BE49-F238E27FC236}">
                <a16:creationId xmlns:a16="http://schemas.microsoft.com/office/drawing/2014/main" id="{0F629B96-A462-E499-7FD8-91B4AC213E7F}"/>
              </a:ext>
            </a:extLst>
          </p:cNvPr>
          <p:cNvSpPr/>
          <p:nvPr/>
        </p:nvSpPr>
        <p:spPr>
          <a:xfrm>
            <a:off x="7162435" y="4681523"/>
            <a:ext cx="109722" cy="109722"/>
          </a:xfrm>
          <a:prstGeom prst="ellipse">
            <a:avLst/>
          </a:prstGeom>
          <a:solidFill>
            <a:srgbClr val="E07B14"/>
          </a:solidFill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308" name="Text 151">
            <a:extLst>
              <a:ext uri="{FF2B5EF4-FFF2-40B4-BE49-F238E27FC236}">
                <a16:creationId xmlns:a16="http://schemas.microsoft.com/office/drawing/2014/main" id="{9B915CE6-E417-C394-C9C4-6756BFB89E17}"/>
              </a:ext>
            </a:extLst>
          </p:cNvPr>
          <p:cNvSpPr/>
          <p:nvPr/>
        </p:nvSpPr>
        <p:spPr>
          <a:xfrm>
            <a:off x="7307778" y="4685047"/>
            <a:ext cx="1355482" cy="13715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685800"/>
            <a:r>
              <a:rPr lang="en-US" sz="615" b="1">
                <a:solidFill>
                  <a:srgbClr val="8A4B0B"/>
                </a:solidFill>
                <a:latin typeface="Georgia"/>
                <a:ea typeface="Cambria" pitchFamily="34" charset="-122"/>
                <a:cs typeface="Cambria" pitchFamily="34" charset="-120"/>
              </a:rPr>
              <a:t>资产可复用</a:t>
            </a:r>
            <a:endParaRPr lang="en-US" sz="615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310" name="Text 152">
            <a:extLst>
              <a:ext uri="{FF2B5EF4-FFF2-40B4-BE49-F238E27FC236}">
                <a16:creationId xmlns:a16="http://schemas.microsoft.com/office/drawing/2014/main" id="{6B917DE9-B487-AD10-5D98-2707A97EF932}"/>
              </a:ext>
            </a:extLst>
          </p:cNvPr>
          <p:cNvSpPr/>
          <p:nvPr/>
        </p:nvSpPr>
        <p:spPr>
          <a:xfrm>
            <a:off x="7298635" y="4843439"/>
            <a:ext cx="1513208" cy="233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685800">
              <a:lnSpc>
                <a:spcPct val="108000"/>
              </a:lnSpc>
            </a:pPr>
            <a:r>
              <a:rPr lang="en-US" sz="458">
                <a:solidFill>
                  <a:srgbClr val="667085"/>
                </a:solidFill>
                <a:latin typeface="Georgia"/>
                <a:ea typeface="Calibri" pitchFamily="34" charset="-122"/>
                <a:cs typeface="Calibri" pitchFamily="34" charset="-120"/>
              </a:rPr>
              <a:t>Spec 知识库复用，复用设计与经验</a:t>
            </a:r>
            <a:endParaRPr lang="en-US" sz="458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312" name="Shape 153">
            <a:extLst>
              <a:ext uri="{FF2B5EF4-FFF2-40B4-BE49-F238E27FC236}">
                <a16:creationId xmlns:a16="http://schemas.microsoft.com/office/drawing/2014/main" id="{84A6FE2C-85A1-8B22-DAB3-F375AE3A1768}"/>
              </a:ext>
            </a:extLst>
          </p:cNvPr>
          <p:cNvSpPr/>
          <p:nvPr/>
        </p:nvSpPr>
        <p:spPr>
          <a:xfrm>
            <a:off x="7047188" y="4601613"/>
            <a:ext cx="0" cy="363455"/>
          </a:xfrm>
          <a:prstGeom prst="line">
            <a:avLst/>
          </a:prstGeom>
          <a:noFill/>
          <a:ln w="12700">
            <a:solidFill>
              <a:srgbClr val="E3C48F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394831359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E512A36-929E-E420-2D91-63C31FE48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58D86F01-92F6-EFD3-FC8A-2C1E035A18CC}"/>
              </a:ext>
            </a:extLst>
          </p:cNvPr>
          <p:cNvSpPr/>
          <p:nvPr/>
        </p:nvSpPr>
        <p:spPr>
          <a:xfrm>
            <a:off x="877825" y="246888"/>
            <a:ext cx="7923047" cy="377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685800"/>
            <a:endParaRPr lang="en-US" sz="1875">
              <a:solidFill>
                <a:srgbClr val="009CDE"/>
              </a:solidFill>
              <a:latin typeface="Georgia"/>
            </a:endParaRPr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B905B361-F96C-F9FA-AECA-1484024CD1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9137652"/>
              </p:ext>
            </p:extLst>
          </p:nvPr>
        </p:nvGraphicFramePr>
        <p:xfrm>
          <a:off x="343014" y="1176189"/>
          <a:ext cx="8526778" cy="3344699"/>
        </p:xfrm>
        <a:graphic>
          <a:graphicData uri="http://schemas.openxmlformats.org/drawingml/2006/table">
            <a:tbl>
              <a:tblPr/>
              <a:tblGrid>
                <a:gridCol w="15238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1142406068"/>
                    </a:ext>
                  </a:extLst>
                </a:gridCol>
                <a:gridCol w="480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339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64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主要</a:t>
                      </a:r>
                      <a:r>
                        <a:rPr lang="en-US" sz="1000" b="1" err="1">
                          <a:solidFill>
                            <a:srgbClr val="FFFFFF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工作项</a:t>
                      </a:r>
                      <a:endParaRPr lang="en-US" sz="100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C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000" b="1">
                          <a:solidFill>
                            <a:schemeClr val="bg1"/>
                          </a:solidFill>
                          <a:latin typeface="+mn-lt"/>
                          <a:ea typeface="微软雅黑" pitchFamily="34" charset="0"/>
                          <a:cs typeface="微软雅黑" pitchFamily="34" charset="0"/>
                        </a:rPr>
                        <a:t>对应</a:t>
                      </a:r>
                      <a:r>
                        <a:rPr lang="en-US" altLang="zh-CN" sz="1000" b="1">
                          <a:solidFill>
                            <a:schemeClr val="bg1"/>
                          </a:solidFill>
                          <a:latin typeface="+mn-lt"/>
                          <a:ea typeface="微软雅黑" pitchFamily="34" charset="0"/>
                          <a:cs typeface="微软雅黑" pitchFamily="34" charset="0"/>
                        </a:rPr>
                        <a:t>SDD</a:t>
                      </a:r>
                      <a:r>
                        <a:rPr lang="zh-CN" altLang="en-US" sz="1000" b="1">
                          <a:solidFill>
                            <a:schemeClr val="bg1"/>
                          </a:solidFill>
                          <a:latin typeface="+mn-lt"/>
                          <a:ea typeface="微软雅黑" pitchFamily="34" charset="0"/>
                          <a:cs typeface="微软雅黑" pitchFamily="34" charset="0"/>
                        </a:rPr>
                        <a:t>六步工作法</a:t>
                      </a:r>
                      <a:endParaRPr lang="en-US" sz="1000" b="1">
                        <a:solidFill>
                          <a:schemeClr val="bg1"/>
                        </a:solidFill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C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传统</a:t>
                      </a:r>
                      <a:endParaRPr lang="en-US" sz="100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C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+mn-lt"/>
                          <a:ea typeface="微软雅黑" pitchFamily="34" charset="-122"/>
                          <a:cs typeface="微软雅黑" pitchFamily="34" charset="0"/>
                        </a:rPr>
                        <a:t>SLC + AI</a:t>
                      </a:r>
                      <a:endParaRPr lang="en-US" sz="100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C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Δ</a:t>
                      </a:r>
                      <a:endParaRPr lang="en-US" sz="100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C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归因</a:t>
                      </a:r>
                      <a:endParaRPr lang="en-US" sz="100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C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8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err="1">
                          <a:solidFill>
                            <a:srgbClr val="10233B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需求</a:t>
                      </a:r>
                      <a:r>
                        <a:rPr lang="en-US" sz="800" b="1">
                          <a:solidFill>
                            <a:srgbClr val="10233B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 + 验收语句</a:t>
                      </a:r>
                      <a:endParaRPr lang="en-US" sz="80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0" indent="0" algn="ctr">
                        <a:spcBef>
                          <a:spcPts val="200"/>
                        </a:spcBef>
                        <a:buNone/>
                      </a:pPr>
                      <a:r>
                        <a:rPr lang="en-US" sz="700" b="0">
                          <a:latin typeface="+mn-lt"/>
                          <a:ea typeface="微软雅黑" pitchFamily="34" charset="0"/>
                          <a:cs typeface="微软雅黑" pitchFamily="34" charset="0"/>
                        </a:rPr>
                        <a:t>S</a:t>
                      </a:r>
                      <a:r>
                        <a:rPr lang="en-US" altLang="zh-CN" sz="700" b="0">
                          <a:latin typeface="+mn-lt"/>
                          <a:ea typeface="微软雅黑" pitchFamily="34" charset="0"/>
                          <a:cs typeface="微软雅黑" pitchFamily="34" charset="0"/>
                        </a:rPr>
                        <a:t>tep 01: </a:t>
                      </a:r>
                    </a:p>
                    <a:p>
                      <a:pPr marL="0" indent="0" algn="ctr">
                        <a:spcBef>
                          <a:spcPts val="200"/>
                        </a:spcBef>
                        <a:buNone/>
                      </a:pPr>
                      <a:r>
                        <a:rPr lang="zh-CN" altLang="en-US" sz="700" b="0">
                          <a:latin typeface="+mn-lt"/>
                          <a:ea typeface="微软雅黑" pitchFamily="34" charset="0"/>
                          <a:cs typeface="微软雅黑" pitchFamily="34" charset="0"/>
                        </a:rPr>
                        <a:t>需要结构化</a:t>
                      </a:r>
                      <a:endParaRPr lang="en-US" sz="700" b="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667085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20</a:t>
                      </a:r>
                      <a:endParaRPr lang="en-US" sz="100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0233B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28</a:t>
                      </a:r>
                      <a:endParaRPr lang="en-US" sz="100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0000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+8</a:t>
                      </a:r>
                      <a:endParaRPr lang="en-US" sz="1000">
                        <a:solidFill>
                          <a:srgbClr val="FF0000"/>
                        </a:solidFill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>
                          <a:solidFill>
                            <a:srgbClr val="667085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撰写人天不增加（8=8，只拆成正常/异常/边界三行）；增量=NFR量化(+4新增)+AI澄清(+4新增)</a:t>
                      </a:r>
                      <a:endParaRPr lang="en-US" sz="70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936">
                <a:tc>
                  <a:txBody>
                    <a:bodyPr/>
                    <a:lstStyle/>
                    <a:p>
                      <a:pPr marL="257168" lvl="2" indent="0">
                        <a:buNone/>
                      </a:pPr>
                      <a:r>
                        <a:rPr lang="en-US" sz="700">
                          <a:solidFill>
                            <a:srgbClr val="10233B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业务访谈与调研</a:t>
                      </a:r>
                      <a:endParaRPr lang="en-US" sz="70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667085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6</a:t>
                      </a:r>
                      <a:endParaRPr lang="en-US" sz="100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0233B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6</a:t>
                      </a:r>
                      <a:endParaRPr lang="en-US" sz="100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667085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00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>
                          <a:solidFill>
                            <a:srgbClr val="667085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不变——业务侧工作量与实施方式无关</a:t>
                      </a:r>
                      <a:endParaRPr lang="en-US" sz="70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936">
                <a:tc>
                  <a:txBody>
                    <a:bodyPr/>
                    <a:lstStyle/>
                    <a:p>
                      <a:pPr marL="257168" lvl="2" indent="0">
                        <a:buNone/>
                      </a:pPr>
                      <a:r>
                        <a:rPr lang="en-US" sz="700">
                          <a:solidFill>
                            <a:srgbClr val="10233B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正常路径验收语句</a:t>
                      </a:r>
                      <a:endParaRPr lang="en-US" sz="70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667085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00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0233B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00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667085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00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>
                          <a:solidFill>
                            <a:srgbClr val="667085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人天不增加——同一批主流程，只是拆成可执行的 GWT</a:t>
                      </a:r>
                      <a:endParaRPr lang="en-US" sz="70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936">
                <a:tc>
                  <a:txBody>
                    <a:bodyPr/>
                    <a:lstStyle/>
                    <a:p>
                      <a:pPr marL="257168" lvl="2" indent="0">
                        <a:buNone/>
                      </a:pPr>
                      <a:r>
                        <a:rPr lang="en-US" sz="700">
                          <a:solidFill>
                            <a:srgbClr val="10233B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异常路径验收语句</a:t>
                      </a:r>
                      <a:endParaRPr lang="en-US" sz="70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667085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00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0233B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00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667085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00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>
                          <a:solidFill>
                            <a:srgbClr val="667085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人天不增加——失败/拒绝/超时单独成行，便于生成与回放</a:t>
                      </a:r>
                      <a:endParaRPr lang="en-US" sz="70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936">
                <a:tc>
                  <a:txBody>
                    <a:bodyPr/>
                    <a:lstStyle/>
                    <a:p>
                      <a:pPr marL="257168" lvl="2" indent="0">
                        <a:buNone/>
                      </a:pPr>
                      <a:r>
                        <a:rPr lang="en-US" sz="700">
                          <a:solidFill>
                            <a:srgbClr val="10233B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边界路径验收语句</a:t>
                      </a:r>
                      <a:endParaRPr lang="en-US" sz="70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667085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00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0233B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00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667085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00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>
                          <a:solidFill>
                            <a:srgbClr val="667085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人天不增加——空值/上限/并发等边界拆开写</a:t>
                      </a:r>
                      <a:endParaRPr lang="en-US" sz="70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936">
                <a:tc>
                  <a:txBody>
                    <a:bodyPr/>
                    <a:lstStyle/>
                    <a:p>
                      <a:pPr marL="257168" lvl="2" indent="0">
                        <a:buNone/>
                      </a:pPr>
                      <a:r>
                        <a:rPr lang="en-US" sz="700">
                          <a:solidFill>
                            <a:srgbClr val="10233B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NFR 非功能需求量化</a:t>
                      </a:r>
                      <a:endParaRPr lang="en-US" sz="70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667085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00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0233B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00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0000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+4</a:t>
                      </a:r>
                      <a:endParaRPr lang="en-US" sz="1000">
                        <a:solidFill>
                          <a:srgbClr val="FF0000"/>
                        </a:solidFill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>
                          <a:solidFill>
                            <a:srgbClr val="667085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传统含糊写正文；AI模式必须变成SAS15分钟、LIMIT≤10000这类具体数字</a:t>
                      </a:r>
                      <a:endParaRPr lang="en-US" sz="70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936">
                <a:tc>
                  <a:txBody>
                    <a:bodyPr/>
                    <a:lstStyle/>
                    <a:p>
                      <a:pPr marL="257168" lvl="2" indent="0">
                        <a:buNone/>
                      </a:pPr>
                      <a:r>
                        <a:rPr lang="en-US" sz="700">
                          <a:solidFill>
                            <a:srgbClr val="10233B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AI 澄清问答（clarify）</a:t>
                      </a:r>
                      <a:endParaRPr lang="en-US" sz="70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667085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00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0233B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00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0000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+4</a:t>
                      </a:r>
                      <a:endParaRPr lang="en-US" sz="1000">
                        <a:solidFill>
                          <a:srgbClr val="FF0000"/>
                        </a:solidFill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>
                          <a:solidFill>
                            <a:srgbClr val="667085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与AI多轮交互，把隐含假设显式化，防止生成阶段歧义返工</a:t>
                      </a:r>
                      <a:endParaRPr lang="en-US" sz="70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936">
                <a:tc>
                  <a:txBody>
                    <a:bodyPr/>
                    <a:lstStyle/>
                    <a:p>
                      <a:pPr marL="257168" lvl="2" indent="0">
                        <a:buNone/>
                      </a:pPr>
                      <a:r>
                        <a:rPr lang="en-US" sz="700">
                          <a:solidFill>
                            <a:srgbClr val="10233B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需求评审 / Spec 冻结签字</a:t>
                      </a:r>
                      <a:endParaRPr lang="en-US" sz="70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667085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6</a:t>
                      </a:r>
                      <a:endParaRPr lang="en-US" sz="100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0233B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6</a:t>
                      </a:r>
                      <a:endParaRPr lang="en-US" sz="100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667085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00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>
                          <a:solidFill>
                            <a:srgbClr val="667085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持平，但审核更严格——冻结后不可随意修改，一次性会审到位</a:t>
                      </a:r>
                      <a:endParaRPr lang="en-US" sz="70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65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err="1">
                          <a:solidFill>
                            <a:srgbClr val="10233B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架构</a:t>
                      </a:r>
                      <a:r>
                        <a:rPr lang="en-US" sz="800" b="1">
                          <a:solidFill>
                            <a:srgbClr val="10233B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 + 宪法 + ADR</a:t>
                      </a:r>
                      <a:endParaRPr lang="en-US" sz="800" b="1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0">
                          <a:latin typeface="+mn-lt"/>
                          <a:ea typeface="微软雅黑" pitchFamily="34" charset="0"/>
                          <a:cs typeface="微软雅黑" pitchFamily="34" charset="0"/>
                        </a:rPr>
                        <a:t>S</a:t>
                      </a:r>
                      <a:r>
                        <a:rPr lang="en-US" altLang="zh-CN" sz="700" b="0">
                          <a:latin typeface="+mn-lt"/>
                          <a:ea typeface="微软雅黑" pitchFamily="34" charset="0"/>
                          <a:cs typeface="微软雅黑" pitchFamily="34" charset="0"/>
                        </a:rPr>
                        <a:t>tep 02</a:t>
                      </a:r>
                      <a:r>
                        <a:rPr lang="zh-CN" altLang="en-US" sz="700" b="0">
                          <a:latin typeface="+mn-lt"/>
                          <a:ea typeface="微软雅黑" pitchFamily="34" charset="0"/>
                          <a:cs typeface="微软雅黑" pitchFamily="34" charset="0"/>
                        </a:rPr>
                        <a:t>：</a:t>
                      </a:r>
                      <a:r>
                        <a:rPr lang="en-US" sz="700" b="0">
                          <a:latin typeface="+mn-lt"/>
                          <a:ea typeface="微软雅黑" pitchFamily="34" charset="0"/>
                          <a:cs typeface="微软雅黑" pitchFamily="34" charset="0"/>
                        </a:rPr>
                        <a:t>Spec </a:t>
                      </a:r>
                      <a:r>
                        <a:rPr lang="zh-CN" altLang="en-US" sz="700" b="0">
                          <a:latin typeface="+mn-lt"/>
                          <a:ea typeface="微软雅黑" pitchFamily="34" charset="0"/>
                          <a:cs typeface="微软雅黑" pitchFamily="34" charset="0"/>
                        </a:rPr>
                        <a:t>冻结</a:t>
                      </a:r>
                      <a:endParaRPr lang="en-US" sz="700" b="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667085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25</a:t>
                      </a:r>
                      <a:endParaRPr lang="en-US" sz="100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0233B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12</a:t>
                      </a:r>
                      <a:endParaRPr lang="en-US" sz="100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chemeClr val="accent6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-13</a:t>
                      </a:r>
                      <a:endParaRPr lang="en-US" sz="1000">
                        <a:solidFill>
                          <a:schemeClr val="accent6"/>
                        </a:solidFill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>
                          <a:solidFill>
                            <a:srgbClr val="667085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POC 已验证选型（</a:t>
                      </a:r>
                      <a:r>
                        <a:rPr lang="en-US" altLang="zh-CN" sz="700">
                          <a:solidFill>
                            <a:srgbClr val="667085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8</a:t>
                      </a:r>
                      <a:r>
                        <a:rPr lang="en-US" sz="700">
                          <a:solidFill>
                            <a:srgbClr val="667085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天实证），仅补宪法固化与ADR</a:t>
                      </a:r>
                      <a:endParaRPr lang="en-US" sz="70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18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err="1">
                          <a:solidFill>
                            <a:srgbClr val="10233B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任务拆解</a:t>
                      </a:r>
                      <a:r>
                        <a:rPr lang="en-US" sz="800" b="1">
                          <a:solidFill>
                            <a:srgbClr val="10233B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 + </a:t>
                      </a:r>
                      <a:r>
                        <a:rPr lang="en-US" sz="800" b="1" err="1">
                          <a:solidFill>
                            <a:srgbClr val="10233B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编码</a:t>
                      </a:r>
                      <a:endParaRPr lang="en-US" sz="800" b="1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0">
                          <a:latin typeface="+mn-lt"/>
                          <a:ea typeface="微软雅黑" pitchFamily="34" charset="0"/>
                          <a:cs typeface="微软雅黑" pitchFamily="34" charset="0"/>
                        </a:rPr>
                        <a:t>S</a:t>
                      </a:r>
                      <a:r>
                        <a:rPr lang="en-US" altLang="zh-CN" sz="700" b="0">
                          <a:latin typeface="+mn-lt"/>
                          <a:ea typeface="微软雅黑" pitchFamily="34" charset="0"/>
                          <a:cs typeface="微软雅黑" pitchFamily="34" charset="0"/>
                        </a:rPr>
                        <a:t>tep 03</a:t>
                      </a:r>
                      <a:r>
                        <a:rPr lang="zh-CN" altLang="en-US" sz="700" b="0">
                          <a:latin typeface="+mn-lt"/>
                          <a:ea typeface="微软雅黑" pitchFamily="34" charset="0"/>
                          <a:cs typeface="微软雅黑" pitchFamily="34" charset="0"/>
                        </a:rPr>
                        <a:t>：任务拆解</a:t>
                      </a:r>
                      <a:endParaRPr lang="en-US" altLang="zh-CN" sz="700" b="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700" b="0">
                          <a:latin typeface="+mn-lt"/>
                          <a:ea typeface="微软雅黑" pitchFamily="34" charset="0"/>
                          <a:cs typeface="微软雅黑" pitchFamily="34" charset="0"/>
                        </a:rPr>
                        <a:t>S</a:t>
                      </a:r>
                      <a:r>
                        <a:rPr lang="en-US" altLang="zh-CN" sz="700" b="0">
                          <a:latin typeface="+mn-lt"/>
                          <a:ea typeface="微软雅黑" pitchFamily="34" charset="0"/>
                          <a:cs typeface="微软雅黑" pitchFamily="34" charset="0"/>
                        </a:rPr>
                        <a:t>tep 04</a:t>
                      </a:r>
                      <a:r>
                        <a:rPr lang="zh-CN" altLang="en-US" sz="700" b="0">
                          <a:latin typeface="+mn-lt"/>
                          <a:ea typeface="微软雅黑" pitchFamily="34" charset="0"/>
                          <a:cs typeface="微软雅黑" pitchFamily="34" charset="0"/>
                        </a:rPr>
                        <a:t>：</a:t>
                      </a:r>
                      <a:r>
                        <a:rPr lang="en-US" altLang="zh-CN" sz="700" b="0">
                          <a:latin typeface="+mn-lt"/>
                          <a:ea typeface="微软雅黑" pitchFamily="34" charset="0"/>
                          <a:cs typeface="微软雅黑" pitchFamily="34" charset="0"/>
                        </a:rPr>
                        <a:t>AI</a:t>
                      </a:r>
                      <a:r>
                        <a:rPr lang="zh-CN" altLang="en-US" sz="700" b="0">
                          <a:latin typeface="+mn-lt"/>
                          <a:ea typeface="微软雅黑" pitchFamily="34" charset="0"/>
                          <a:cs typeface="微软雅黑" pitchFamily="34" charset="0"/>
                        </a:rPr>
                        <a:t>生成与验证</a:t>
                      </a:r>
                      <a:endParaRPr lang="en-US" sz="700" b="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667085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150</a:t>
                      </a:r>
                      <a:endParaRPr lang="en-US" sz="100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000" b="1">
                          <a:latin typeface="+mn-lt"/>
                          <a:ea typeface="微软雅黑" pitchFamily="34" charset="0"/>
                          <a:cs typeface="微软雅黑" pitchFamily="34" charset="0"/>
                        </a:rPr>
                        <a:t>90</a:t>
                      </a:r>
                      <a:endParaRPr lang="en-US" sz="1000" b="1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chemeClr val="accent6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-</a:t>
                      </a:r>
                      <a:r>
                        <a:rPr lang="en-US" altLang="zh-CN" sz="1000" b="1">
                          <a:solidFill>
                            <a:schemeClr val="accent6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6</a:t>
                      </a:r>
                      <a:r>
                        <a:rPr lang="en-US" sz="1000" b="1">
                          <a:solidFill>
                            <a:schemeClr val="accent6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000">
                        <a:solidFill>
                          <a:schemeClr val="accent6"/>
                        </a:solidFill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>
                          <a:solidFill>
                            <a:srgbClr val="667085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会话生成循环+人审合并；数据模型V1–V18与动态查询内核直接平移</a:t>
                      </a:r>
                      <a:endParaRPr lang="en-US" sz="70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80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zh-CN" sz="800" b="1" err="1">
                          <a:solidFill>
                            <a:srgbClr val="10233B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内嵌</a:t>
                      </a:r>
                      <a:r>
                        <a:rPr lang="en-US" sz="800" b="1" err="1">
                          <a:solidFill>
                            <a:srgbClr val="10233B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测试（嵌进循环</a:t>
                      </a:r>
                      <a:r>
                        <a:rPr lang="en-US" sz="800" b="1">
                          <a:solidFill>
                            <a:srgbClr val="10233B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）</a:t>
                      </a:r>
                      <a:endParaRPr lang="en-US" sz="800" b="1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0">
                          <a:latin typeface="+mn-lt"/>
                          <a:ea typeface="微软雅黑" pitchFamily="34" charset="0"/>
                          <a:cs typeface="微软雅黑" pitchFamily="34" charset="0"/>
                        </a:rPr>
                        <a:t>S</a:t>
                      </a:r>
                      <a:r>
                        <a:rPr lang="en-US" altLang="zh-CN" sz="700" b="0">
                          <a:latin typeface="+mn-lt"/>
                          <a:ea typeface="微软雅黑" pitchFamily="34" charset="0"/>
                          <a:cs typeface="微软雅黑" pitchFamily="34" charset="0"/>
                        </a:rPr>
                        <a:t>tep 04</a:t>
                      </a:r>
                      <a:r>
                        <a:rPr lang="zh-CN" altLang="en-US" sz="700" b="0">
                          <a:latin typeface="+mn-lt"/>
                          <a:ea typeface="微软雅黑" pitchFamily="34" charset="0"/>
                          <a:cs typeface="微软雅黑" pitchFamily="34" charset="0"/>
                        </a:rPr>
                        <a:t>：</a:t>
                      </a:r>
                      <a:r>
                        <a:rPr lang="en-US" altLang="zh-CN" sz="700" b="0">
                          <a:latin typeface="+mn-lt"/>
                          <a:ea typeface="微软雅黑" pitchFamily="34" charset="0"/>
                          <a:cs typeface="微软雅黑" pitchFamily="34" charset="0"/>
                        </a:rPr>
                        <a:t>AI</a:t>
                      </a:r>
                      <a:r>
                        <a:rPr lang="zh-CN" altLang="en-US" sz="700" b="0">
                          <a:latin typeface="+mn-lt"/>
                          <a:ea typeface="微软雅黑" pitchFamily="34" charset="0"/>
                          <a:cs typeface="微软雅黑" pitchFamily="34" charset="0"/>
                        </a:rPr>
                        <a:t>生成与验证</a:t>
                      </a:r>
                      <a:endParaRPr lang="en-US" altLang="zh-CN" sz="700" b="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zh-CN" altLang="en-US" sz="700" b="0">
                          <a:latin typeface="+mn-lt"/>
                          <a:ea typeface="微软雅黑" pitchFamily="34" charset="0"/>
                          <a:cs typeface="微软雅黑" pitchFamily="34" charset="0"/>
                        </a:rPr>
                        <a:t>（开发过程中持续进行）</a:t>
                      </a:r>
                      <a:endParaRPr lang="en-US" sz="700" b="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667085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50</a:t>
                      </a:r>
                      <a:endParaRPr lang="en-US" sz="100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000" b="1">
                          <a:solidFill>
                            <a:srgbClr val="10233B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r>
                        <a:rPr lang="en-US" sz="1000" b="1">
                          <a:solidFill>
                            <a:srgbClr val="10233B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00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chemeClr val="accent6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-</a:t>
                      </a:r>
                      <a:r>
                        <a:rPr lang="en-US" altLang="zh-CN" sz="1000" b="1">
                          <a:solidFill>
                            <a:schemeClr val="accent6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r>
                        <a:rPr lang="en-US" sz="1000" b="1">
                          <a:solidFill>
                            <a:schemeClr val="accent6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000">
                        <a:solidFill>
                          <a:schemeClr val="accent6"/>
                        </a:solidFill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>
                          <a:solidFill>
                            <a:srgbClr val="667085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验收语句靶子先行，AI生成常规用例；人聚焦安全/不可逆用例</a:t>
                      </a:r>
                      <a:endParaRPr lang="en-US" sz="70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80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err="1">
                          <a:solidFill>
                            <a:srgbClr val="10233B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审查</a:t>
                      </a:r>
                      <a:r>
                        <a:rPr lang="en-US" sz="800" b="1">
                          <a:solidFill>
                            <a:srgbClr val="10233B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 + </a:t>
                      </a:r>
                      <a:r>
                        <a:rPr lang="en-US" sz="800" b="1" err="1">
                          <a:solidFill>
                            <a:srgbClr val="10233B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验收回放</a:t>
                      </a:r>
                      <a:endParaRPr lang="en-US" sz="800" b="1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>
                          <a:latin typeface="+mn-lt"/>
                          <a:ea typeface="微软雅黑" pitchFamily="34" charset="0"/>
                          <a:cs typeface="微软雅黑" pitchFamily="34" charset="0"/>
                        </a:rPr>
                        <a:t>Step 05</a:t>
                      </a:r>
                      <a:r>
                        <a:rPr lang="zh-CN" altLang="en-US" sz="700" b="0">
                          <a:latin typeface="+mn-lt"/>
                          <a:ea typeface="微软雅黑" pitchFamily="34" charset="0"/>
                          <a:cs typeface="微软雅黑" pitchFamily="34" charset="0"/>
                        </a:rPr>
                        <a:t>：人工审查与合并</a:t>
                      </a:r>
                      <a:endParaRPr lang="en-US" altLang="zh-CN" sz="700" b="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>
                          <a:latin typeface="+mn-lt"/>
                          <a:ea typeface="微软雅黑" pitchFamily="34" charset="0"/>
                          <a:cs typeface="微软雅黑" pitchFamily="34" charset="0"/>
                        </a:rPr>
                        <a:t>Step 06: </a:t>
                      </a:r>
                      <a:r>
                        <a:rPr lang="zh-CN" altLang="en-US" sz="700" b="0">
                          <a:latin typeface="+mn-lt"/>
                          <a:ea typeface="微软雅黑" pitchFamily="34" charset="0"/>
                          <a:cs typeface="微软雅黑" pitchFamily="34" charset="0"/>
                        </a:rPr>
                        <a:t>验收回放</a:t>
                      </a:r>
                      <a:endParaRPr lang="en-US" altLang="zh-CN" sz="700" b="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667085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20</a:t>
                      </a:r>
                      <a:endParaRPr lang="en-US" sz="100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0233B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12</a:t>
                      </a:r>
                      <a:endParaRPr lang="en-US" sz="100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chemeClr val="accent6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-8</a:t>
                      </a:r>
                      <a:endParaRPr lang="en-US" sz="1000">
                        <a:solidFill>
                          <a:schemeClr val="accent6"/>
                        </a:solidFill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>
                          <a:solidFill>
                            <a:srgbClr val="667085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验收用例机械回放替代人工UAT；审计演练脚本化</a:t>
                      </a:r>
                      <a:endParaRPr lang="en-US" sz="70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7936">
                <a:tc>
                  <a:txBody>
                    <a:bodyPr/>
                    <a:lstStyle/>
                    <a:p>
                      <a:pPr marL="0" lvl="0" indent="-200031">
                        <a:buNone/>
                      </a:pPr>
                      <a:r>
                        <a:rPr lang="en-US" sz="800" b="1">
                          <a:solidFill>
                            <a:srgbClr val="10233B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PM 与协调</a:t>
                      </a:r>
                      <a:endParaRPr lang="en-US" sz="800" b="1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700" b="0">
                          <a:latin typeface="+mn-lt"/>
                          <a:ea typeface="微软雅黑" pitchFamily="34" charset="0"/>
                          <a:cs typeface="微软雅黑" pitchFamily="34" charset="0"/>
                        </a:rPr>
                        <a:t>贯穿全流程</a:t>
                      </a:r>
                      <a:endParaRPr lang="en-US" sz="700" b="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667085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25</a:t>
                      </a:r>
                      <a:endParaRPr lang="en-US" sz="100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0233B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15</a:t>
                      </a:r>
                      <a:endParaRPr lang="en-US" sz="100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chemeClr val="accent6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-10</a:t>
                      </a:r>
                      <a:endParaRPr lang="en-US" sz="1000">
                        <a:solidFill>
                          <a:schemeClr val="accent6"/>
                        </a:solidFill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>
                          <a:solidFill>
                            <a:srgbClr val="667085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评审异步化（diff审查替代会议）；会话档案自动留痕</a:t>
                      </a:r>
                      <a:endParaRPr lang="en-US" sz="70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7936">
                <a:tc>
                  <a:txBody>
                    <a:bodyPr/>
                    <a:lstStyle/>
                    <a:p>
                      <a:pPr marL="0" lvl="0" indent="-200031">
                        <a:buNone/>
                      </a:pPr>
                      <a:r>
                        <a:rPr lang="en-US" sz="800" b="1">
                          <a:solidFill>
                            <a:srgbClr val="10233B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文档工作（SLC 各阶段）</a:t>
                      </a:r>
                      <a:endParaRPr lang="en-US" sz="800" b="1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>
                          <a:latin typeface="+mn-lt"/>
                          <a:ea typeface="微软雅黑" pitchFamily="34" charset="0"/>
                          <a:cs typeface="微软雅黑" pitchFamily="34" charset="0"/>
                        </a:rPr>
                        <a:t>贯穿全流程</a:t>
                      </a:r>
                      <a:endParaRPr lang="en-US" altLang="zh-CN" sz="700" b="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667085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30</a:t>
                      </a:r>
                      <a:endParaRPr lang="en-US" sz="100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0233B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30</a:t>
                      </a:r>
                      <a:endParaRPr lang="en-US" sz="100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667085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00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>
                          <a:solidFill>
                            <a:srgbClr val="667085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覆盖RS/ADD/SDD/IQ/OQ等；无论哪种方式都要做，不因AI减少</a:t>
                      </a:r>
                      <a:endParaRPr lang="en-US" sz="70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79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>
                          <a:solidFill>
                            <a:srgbClr val="10233B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合计</a:t>
                      </a:r>
                      <a:endParaRPr lang="en-US" sz="700" b="1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00" b="1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667085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320</a:t>
                      </a:r>
                      <a:endParaRPr lang="en-US" sz="1000" b="1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000" b="1">
                          <a:solidFill>
                            <a:srgbClr val="10233B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22</a:t>
                      </a:r>
                      <a:r>
                        <a:rPr lang="en-US" sz="1000" b="1">
                          <a:solidFill>
                            <a:srgbClr val="10233B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7</a:t>
                      </a:r>
                      <a:endParaRPr lang="en-US" sz="1000" b="1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chemeClr val="accent6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-</a:t>
                      </a:r>
                      <a:r>
                        <a:rPr lang="en-US" altLang="zh-CN" sz="1000" b="1">
                          <a:solidFill>
                            <a:schemeClr val="accent6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30</a:t>
                      </a:r>
                      <a:r>
                        <a:rPr lang="en-US" sz="1000" b="1">
                          <a:solidFill>
                            <a:schemeClr val="accent6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%</a:t>
                      </a:r>
                      <a:endParaRPr lang="en-US" sz="1000" b="1">
                        <a:solidFill>
                          <a:schemeClr val="accent6"/>
                        </a:solidFill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0" err="1">
                          <a:solidFill>
                            <a:srgbClr val="667085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净省</a:t>
                      </a:r>
                      <a:r>
                        <a:rPr lang="en-US" sz="700" b="0">
                          <a:solidFill>
                            <a:srgbClr val="667085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 </a:t>
                      </a:r>
                      <a:r>
                        <a:rPr lang="en-US" altLang="zh-CN" sz="700" b="0">
                          <a:solidFill>
                            <a:srgbClr val="667085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9</a:t>
                      </a:r>
                      <a:r>
                        <a:rPr lang="en-US" sz="700" b="0">
                          <a:solidFill>
                            <a:srgbClr val="667085"/>
                          </a:solidFill>
                          <a:latin typeface="+mn-lt"/>
                          <a:ea typeface="微软雅黑" pitchFamily="34" charset="-122"/>
                          <a:cs typeface="微软雅黑" pitchFamily="34" charset="-120"/>
                        </a:rPr>
                        <a:t>3 人天</a:t>
                      </a:r>
                      <a:endParaRPr lang="en-US" sz="700" b="0">
                        <a:latin typeface="+mn-lt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47625" marR="47625" marT="19050" marB="19050" anchor="ctr">
                    <a:lnL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C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7" name="Shape 4">
            <a:extLst>
              <a:ext uri="{FF2B5EF4-FFF2-40B4-BE49-F238E27FC236}">
                <a16:creationId xmlns:a16="http://schemas.microsoft.com/office/drawing/2014/main" id="{12C45E19-F4E3-0745-93AD-AF5A7BB67052}"/>
              </a:ext>
            </a:extLst>
          </p:cNvPr>
          <p:cNvSpPr/>
          <p:nvPr/>
        </p:nvSpPr>
        <p:spPr>
          <a:xfrm>
            <a:off x="343014" y="4584249"/>
            <a:ext cx="8526779" cy="241555"/>
          </a:xfrm>
          <a:prstGeom prst="roundRect">
            <a:avLst>
              <a:gd name="adj" fmla="val 10909"/>
            </a:avLst>
          </a:prstGeom>
          <a:solidFill>
            <a:srgbClr val="009CDE"/>
          </a:solidFill>
          <a:ln w="9525">
            <a:solidFill>
              <a:srgbClr val="F3D6AE"/>
            </a:solidFill>
            <a:prstDash val="solid"/>
          </a:ln>
        </p:spPr>
        <p:txBody>
          <a:bodyPr anchor="ctr"/>
          <a:lstStyle/>
          <a:p>
            <a:pPr defTabSz="685800">
              <a:lnSpc>
                <a:spcPct val="110000"/>
              </a:lnSpc>
            </a:pPr>
            <a:r>
              <a:rPr lang="zh-CN" altLang="en-US" sz="900" b="1">
                <a:solidFill>
                  <a:prstClr val="whit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</a:t>
            </a:r>
            <a:r>
              <a:rPr lang="en-US" altLang="zh-CN" sz="900" b="1">
                <a:solidFill>
                  <a:prstClr val="whit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  </a:t>
            </a:r>
            <a:r>
              <a:rPr lang="en-US" altLang="zh-CN" sz="900" err="1">
                <a:solidFill>
                  <a:prstClr val="whit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需求阶段</a:t>
            </a:r>
            <a:r>
              <a:rPr lang="en-US" altLang="zh-CN" sz="900">
                <a:solidFill>
                  <a:prstClr val="whit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+8 </a:t>
            </a:r>
            <a:r>
              <a:rPr lang="en-US" altLang="zh-CN" sz="900" err="1">
                <a:solidFill>
                  <a:prstClr val="whit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人天不是撰写变慢，而是把「隐藏在后期返工里的成本」提前挪到前面</a:t>
            </a:r>
            <a:r>
              <a:rPr lang="en-US" altLang="zh-CN" sz="900">
                <a:solidFill>
                  <a:prstClr val="whit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——</a:t>
            </a:r>
            <a:r>
              <a:rPr lang="en-US" altLang="zh-CN" sz="900" err="1">
                <a:solidFill>
                  <a:prstClr val="whit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NFR量化+AI澄清传统模式里根本没做</a:t>
            </a:r>
            <a:r>
              <a:rPr lang="en-US" altLang="zh-CN" sz="900">
                <a:solidFill>
                  <a:prstClr val="whit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；</a:t>
            </a:r>
            <a:endParaRPr lang="en-US" altLang="zh-CN" sz="900">
              <a:solidFill>
                <a:prstClr val="white"/>
              </a:solidFill>
              <a:latin typeface="Georgia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A67C5C2-33E3-6798-1CB0-27753B3607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China RIMS Solution Proposal</a:t>
            </a:r>
          </a:p>
          <a:p>
            <a:endParaRPr lang="zh-CN" alt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1F1945F5-F3D5-AD76-6B2E-AF91DF269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成本测算与人天对比 </a:t>
            </a:r>
            <a:r>
              <a:rPr lang="en-US" altLang="zh-CN"/>
              <a:t>Zoom-in</a:t>
            </a:r>
            <a:endParaRPr lang="zh-CN" altLang="en-US"/>
          </a:p>
        </p:txBody>
      </p:sp>
      <p:sp>
        <p:nvSpPr>
          <p:cNvPr id="3" name="collect-note">
            <a:extLst>
              <a:ext uri="{FF2B5EF4-FFF2-40B4-BE49-F238E27FC236}">
                <a16:creationId xmlns:a16="http://schemas.microsoft.com/office/drawing/2014/main" id="{3FEF3741-AECE-620C-9850-D4A6D77AF1A6}"/>
              </a:ext>
            </a:extLst>
          </p:cNvPr>
          <p:cNvSpPr>
            <a:spLocks noGrp="1"/>
          </p:cNvSpPr>
          <p:nvPr/>
        </p:nvSpPr>
        <p:spPr>
          <a:xfrm>
            <a:off x="1585524" y="928766"/>
            <a:ext cx="5459978" cy="2221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50" b="0">
                <a:solidFill>
                  <a:srgbClr val="607384"/>
                </a:solidFill>
              </a:defRPr>
            </a:pPr>
            <a:r>
              <a:rPr lang="zh-CN" altLang="en-US" sz="1000" b="1">
                <a:latin typeface="+mn-ea"/>
              </a:rPr>
              <a:t>以同等交付范围为基准，</a:t>
            </a:r>
            <a:r>
              <a:rPr lang="en-US" altLang="zh-CN" sz="1000" b="1">
                <a:latin typeface="+mn-ea"/>
              </a:rPr>
              <a:t>SLA + AI</a:t>
            </a:r>
            <a:r>
              <a:rPr lang="zh-CN" altLang="en-US" sz="1000" b="1">
                <a:latin typeface="+mn-ea"/>
              </a:rPr>
              <a:t>交付方案将总人天从</a:t>
            </a:r>
            <a:r>
              <a:rPr lang="en-US" altLang="zh-CN" sz="1000" b="1">
                <a:latin typeface="+mn-ea"/>
              </a:rPr>
              <a:t>320</a:t>
            </a:r>
            <a:r>
              <a:rPr lang="zh-CN" altLang="en-US" sz="1000" b="1">
                <a:latin typeface="+mn-ea"/>
              </a:rPr>
              <a:t>降至</a:t>
            </a:r>
            <a:r>
              <a:rPr lang="en-US" altLang="zh-CN" sz="1000" b="1">
                <a:latin typeface="+mn-ea"/>
              </a:rPr>
              <a:t>227</a:t>
            </a:r>
            <a:r>
              <a:rPr lang="zh-CN" altLang="en-US" sz="1000" b="1">
                <a:latin typeface="+mn-ea"/>
              </a:rPr>
              <a:t>天，净省</a:t>
            </a:r>
            <a:r>
              <a:rPr lang="en-US" altLang="zh-CN" sz="1000" b="1">
                <a:latin typeface="+mn-ea"/>
              </a:rPr>
              <a:t>93</a:t>
            </a:r>
            <a:r>
              <a:rPr lang="zh-CN" altLang="en-US" sz="1000" b="1">
                <a:latin typeface="+mn-ea"/>
              </a:rPr>
              <a:t>人天 （</a:t>
            </a:r>
            <a:r>
              <a:rPr lang="en-US" altLang="zh-CN" sz="1000" b="1">
                <a:latin typeface="+mn-ea"/>
              </a:rPr>
              <a:t>-30%</a:t>
            </a:r>
            <a:r>
              <a:rPr lang="zh-CN" altLang="en-US" sz="1000" b="1">
                <a:latin typeface="+mn-ea"/>
              </a:rPr>
              <a:t>）</a:t>
            </a:r>
            <a:endParaRPr sz="1000" b="1">
              <a:latin typeface="+mn-ea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2B011B-DE3F-2AD8-3CB2-1DBF9CA99AFC}"/>
              </a:ext>
            </a:extLst>
          </p:cNvPr>
          <p:cNvSpPr/>
          <p:nvPr/>
        </p:nvSpPr>
        <p:spPr>
          <a:xfrm>
            <a:off x="8115300" y="0"/>
            <a:ext cx="1028700" cy="21972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latin typeface="+mj-lt"/>
                <a:ea typeface="+mj-ea"/>
              </a:rPr>
              <a:t>Appendix</a:t>
            </a:r>
            <a:endParaRPr lang="zh-CN" altLang="en-US" sz="1100">
              <a:latin typeface="+mj-lt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10199902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YtNxPiNhs4V1tGDkUGUGw"/>
</p:tagLst>
</file>

<file path=ppt/theme/theme1.xml><?xml version="1.0" encoding="utf-8"?>
<a:theme xmlns:a="http://schemas.openxmlformats.org/drawingml/2006/main" name="PPT Basic White_Dec 2020">
  <a:themeElements>
    <a:clrScheme name="Abbott Brand Colors">
      <a:dk1>
        <a:srgbClr val="000000"/>
      </a:dk1>
      <a:lt1>
        <a:sysClr val="window" lastClr="FFFFFF"/>
      </a:lt1>
      <a:dk2>
        <a:srgbClr val="E4002B"/>
      </a:dk2>
      <a:lt2>
        <a:srgbClr val="D9D9D6"/>
      </a:lt2>
      <a:accent1>
        <a:srgbClr val="004F71"/>
      </a:accent1>
      <a:accent2>
        <a:srgbClr val="64CCC9"/>
      </a:accent2>
      <a:accent3>
        <a:srgbClr val="009CDE"/>
      </a:accent3>
      <a:accent4>
        <a:srgbClr val="FFD100"/>
      </a:accent4>
      <a:accent5>
        <a:srgbClr val="470A68"/>
      </a:accent5>
      <a:accent6>
        <a:srgbClr val="00B140"/>
      </a:accent6>
      <a:hlink>
        <a:srgbClr val="009CDE"/>
      </a:hlink>
      <a:folHlink>
        <a:srgbClr val="63666A"/>
      </a:folHlink>
    </a:clrScheme>
    <a:fontScheme name="Abbott">
      <a:majorFont>
        <a:latin typeface="Georgi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smtClean="0"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bbott Powerpoint Template Special_Use_Cases_Timeline" id="{971ED209-3D88-E245-9DAE-01C1D335A400}" vid="{B264D33E-0B5B-6C4F-813F-95609595198C}"/>
    </a:ext>
  </a:extLst>
</a:theme>
</file>

<file path=ppt/theme/theme2.xml><?xml version="1.0" encoding="utf-8"?>
<a:theme xmlns:a="http://schemas.openxmlformats.org/drawingml/2006/main" name="PPT Blue_Gradient_Dec 2020">
  <a:themeElements>
    <a:clrScheme name="Abbott brand colors - blue 1">
      <a:dk1>
        <a:srgbClr val="FFFFFF"/>
      </a:dk1>
      <a:lt1>
        <a:srgbClr val="FFFFFF"/>
      </a:lt1>
      <a:dk2>
        <a:srgbClr val="004F71"/>
      </a:dk2>
      <a:lt2>
        <a:srgbClr val="D9D9D6"/>
      </a:lt2>
      <a:accent1>
        <a:srgbClr val="64CCC9"/>
      </a:accent1>
      <a:accent2>
        <a:srgbClr val="FFD100"/>
      </a:accent2>
      <a:accent3>
        <a:srgbClr val="009CDE"/>
      </a:accent3>
      <a:accent4>
        <a:srgbClr val="00B140"/>
      </a:accent4>
      <a:accent5>
        <a:srgbClr val="AA0061"/>
      </a:accent5>
      <a:accent6>
        <a:srgbClr val="470A68"/>
      </a:accent6>
      <a:hlink>
        <a:srgbClr val="009CDE"/>
      </a:hlink>
      <a:folHlink>
        <a:srgbClr val="63666A"/>
      </a:folHlink>
    </a:clrScheme>
    <a:fontScheme name="Abbott">
      <a:majorFont>
        <a:latin typeface="Georgi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bbott Powerpoint Template Special_Use_Cases_Timeline" id="{971ED209-3D88-E245-9DAE-01C1D335A400}" vid="{66928C02-BEC6-5440-A395-8A9CBDB6978E}"/>
    </a:ext>
  </a:extLst>
</a:theme>
</file>

<file path=ppt/theme/theme3.xml><?xml version="1.0" encoding="utf-8"?>
<a:theme xmlns:a="http://schemas.openxmlformats.org/drawingml/2006/main" name="2_PPT Basic_White_v5_prophet_edit">
  <a:themeElements>
    <a:clrScheme name="Abbott Brand 2016">
      <a:dk1>
        <a:srgbClr val="000000"/>
      </a:dk1>
      <a:lt1>
        <a:sysClr val="window" lastClr="FFFFFF"/>
      </a:lt1>
      <a:dk2>
        <a:srgbClr val="004F71"/>
      </a:dk2>
      <a:lt2>
        <a:srgbClr val="D9D9D6"/>
      </a:lt2>
      <a:accent1>
        <a:srgbClr val="E4002B"/>
      </a:accent1>
      <a:accent2>
        <a:srgbClr val="470A68"/>
      </a:accent2>
      <a:accent3>
        <a:srgbClr val="64CCC9"/>
      </a:accent3>
      <a:accent4>
        <a:srgbClr val="FFD100"/>
      </a:accent4>
      <a:accent5>
        <a:srgbClr val="009CDE"/>
      </a:accent5>
      <a:accent6>
        <a:srgbClr val="00B140"/>
      </a:accent6>
      <a:hlink>
        <a:srgbClr val="009CDE"/>
      </a:hlink>
      <a:folHlink>
        <a:srgbClr val="63666A"/>
      </a:folHlink>
    </a:clrScheme>
    <a:fontScheme name="Custom 1">
      <a:majorFont>
        <a:latin typeface="Georgia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9525"/>
      </a:spPr>
      <a:bodyPr rtlCol="0" anchor="ctr"/>
      <a:lstStyle>
        <a:defPPr algn="ctr">
          <a:lnSpc>
            <a:spcPct val="150000"/>
          </a:lnSpc>
          <a:defRPr sz="1100" dirty="0">
            <a:solidFill>
              <a:schemeClr val="tx1"/>
            </a:solidFill>
          </a:defRPr>
        </a:defPPr>
      </a:lstStyle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lnDef>
      <a:spPr>
        <a:ln>
          <a:tailEnd type="triangle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dirty="0" err="1" smtClean="0">
            <a:latin typeface="Georgia" panose="02040502050405020303" pitchFamily="18" charset="0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1_PPT Basic White_Dec 2020">
  <a:themeElements>
    <a:clrScheme name="Abbott Brand Colors">
      <a:dk1>
        <a:srgbClr val="000000"/>
      </a:dk1>
      <a:lt1>
        <a:sysClr val="window" lastClr="FFFFFF"/>
      </a:lt1>
      <a:dk2>
        <a:srgbClr val="E4002B"/>
      </a:dk2>
      <a:lt2>
        <a:srgbClr val="D9D9D6"/>
      </a:lt2>
      <a:accent1>
        <a:srgbClr val="004F71"/>
      </a:accent1>
      <a:accent2>
        <a:srgbClr val="64CCC9"/>
      </a:accent2>
      <a:accent3>
        <a:srgbClr val="009CDE"/>
      </a:accent3>
      <a:accent4>
        <a:srgbClr val="FFD100"/>
      </a:accent4>
      <a:accent5>
        <a:srgbClr val="470A68"/>
      </a:accent5>
      <a:accent6>
        <a:srgbClr val="00B140"/>
      </a:accent6>
      <a:hlink>
        <a:srgbClr val="009CDE"/>
      </a:hlink>
      <a:folHlink>
        <a:srgbClr val="63666A"/>
      </a:folHlink>
    </a:clrScheme>
    <a:fontScheme name="Abbott">
      <a:majorFont>
        <a:latin typeface="Georgi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smtClean="0"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bbott Powerpoint Template Special_Use_Cases_Flowchart" id="{DFC27964-99BA-A54F-9D30-E4B66D1811E3}" vid="{2BF922D8-B8E2-3641-B8B4-1789F8DD757A}"/>
    </a:ext>
  </a:extLst>
</a:theme>
</file>

<file path=ppt/theme/theme5.xml><?xml version="1.0" encoding="utf-8"?>
<a:theme xmlns:a="http://schemas.openxmlformats.org/drawingml/2006/main" name="PPT_16x9_2020_ABT_Alt_Gradient_Blue-Green">
  <a:themeElements>
    <a:clrScheme name="Custom 3">
      <a:dk1>
        <a:sysClr val="windowText" lastClr="000000"/>
      </a:dk1>
      <a:lt1>
        <a:sysClr val="window" lastClr="FFFFFF"/>
      </a:lt1>
      <a:dk2>
        <a:srgbClr val="004F71"/>
      </a:dk2>
      <a:lt2>
        <a:srgbClr val="009CDE"/>
      </a:lt2>
      <a:accent1>
        <a:srgbClr val="004F71"/>
      </a:accent1>
      <a:accent2>
        <a:srgbClr val="009CDE"/>
      </a:accent2>
      <a:accent3>
        <a:srgbClr val="CBDEF3"/>
      </a:accent3>
      <a:accent4>
        <a:srgbClr val="E7EFF9"/>
      </a:accent4>
      <a:accent5>
        <a:srgbClr val="64CCC9"/>
      </a:accent5>
      <a:accent6>
        <a:srgbClr val="FFD100"/>
      </a:accent6>
      <a:hlink>
        <a:srgbClr val="0563C1"/>
      </a:hlink>
      <a:folHlink>
        <a:srgbClr val="954F72"/>
      </a:folHlink>
    </a:clrScheme>
    <a:fontScheme name="Custom 3">
      <a:majorFont>
        <a:latin typeface="Georgia"/>
        <a:ea typeface="微软雅黑"/>
        <a:cs typeface=""/>
      </a:majorFont>
      <a:minorFont>
        <a:latin typeface="Georgia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dirty="0" err="1" smtClean="0">
            <a:latin typeface="Georgia" panose="02040502050405020303" pitchFamily="18" charset="0"/>
          </a:defRPr>
        </a:defPPr>
      </a:lstStyle>
    </a:txDef>
  </a:objectDefaults>
  <a:extraClrSchemeLst/>
</a:theme>
</file>

<file path=ppt/theme/theme6.xml><?xml version="1.0" encoding="utf-8"?>
<a:theme xmlns:a="http://schemas.openxmlformats.org/drawingml/2006/main" name="2_PPT_16x9_2020_ABT_Alt_Gradient_Blue-Green">
  <a:themeElements>
    <a:clrScheme name="Abbott Theme">
      <a:dk1>
        <a:srgbClr val="000000"/>
      </a:dk1>
      <a:lt1>
        <a:sysClr val="window" lastClr="FFFFFF"/>
      </a:lt1>
      <a:dk2>
        <a:srgbClr val="004F71"/>
      </a:dk2>
      <a:lt2>
        <a:srgbClr val="D9D9D6"/>
      </a:lt2>
      <a:accent1>
        <a:srgbClr val="000000"/>
      </a:accent1>
      <a:accent2>
        <a:srgbClr val="002A3A"/>
      </a:accent2>
      <a:accent3>
        <a:srgbClr val="004F71"/>
      </a:accent3>
      <a:accent4>
        <a:srgbClr val="64CCC9"/>
      </a:accent4>
      <a:accent5>
        <a:srgbClr val="009CDE"/>
      </a:accent5>
      <a:accent6>
        <a:srgbClr val="00B140"/>
      </a:accent6>
      <a:hlink>
        <a:srgbClr val="009CDE"/>
      </a:hlink>
      <a:folHlink>
        <a:srgbClr val="63666A"/>
      </a:folHlink>
    </a:clrScheme>
    <a:fontScheme name="Custom 1">
      <a:majorFont>
        <a:latin typeface="Georgia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dirty="0" err="1" smtClean="0">
            <a:latin typeface="Georgia" panose="02040502050405020303" pitchFamily="18" charset="0"/>
          </a:defRPr>
        </a:defPPr>
      </a:lstStyle>
    </a:txDef>
  </a:objectDefaults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25b5763-e4cc-48b7-92fc-f8f032f7cd92">
      <Terms xmlns="http://schemas.microsoft.com/office/infopath/2007/PartnerControls"/>
    </lcf76f155ced4ddcb4097134ff3c332f>
    <TaxCatchAll xmlns="645ff85c-7fda-4edc-b3e2-efa35c21d8cf" xsi:nil="true"/>
  </documentManagement>
</p:properties>
</file>

<file path=customXml/item2.xml><?xml version="1.0" encoding="utf-8"?>
<?mso-contentType ?>
<FormTemplates xmlns="http://schemas.microsoft.com/sharepoint/v3/contenttype/forms"/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7539C69D98EF345A1E7C317D7631BC4" ma:contentTypeVersion="19" ma:contentTypeDescription="Create a new document." ma:contentTypeScope="" ma:versionID="826331eaf50f3c0ae85d2a77083faf2b">
  <xsd:schema xmlns:xsd="http://www.w3.org/2001/XMLSchema" xmlns:xs="http://www.w3.org/2001/XMLSchema" xmlns:p="http://schemas.microsoft.com/office/2006/metadata/properties" xmlns:ns2="645ff85c-7fda-4edc-b3e2-efa35c21d8cf" xmlns:ns3="f25b5763-e4cc-48b7-92fc-f8f032f7cd92" targetNamespace="http://schemas.microsoft.com/office/2006/metadata/properties" ma:root="true" ma:fieldsID="acd97445841e3e7d8ef72c473d126d90" ns2:_="" ns3:_="">
    <xsd:import namespace="645ff85c-7fda-4edc-b3e2-efa35c21d8cf"/>
    <xsd:import namespace="f25b5763-e4cc-48b7-92fc-f8f032f7cd9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DateTaken" minOccurs="0"/>
                <xsd:element ref="ns3:MediaServiceSearchProperties" minOccurs="0"/>
                <xsd:element ref="ns3:MediaServiceLocation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5ff85c-7fda-4edc-b3e2-efa35c21d8c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57d85759-5724-4597-b448-428e9cdcdca2}" ma:internalName="TaxCatchAll" ma:showField="CatchAllData" ma:web="645ff85c-7fda-4edc-b3e2-efa35c21d8c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5b5763-e4cc-48b7-92fc-f8f032f7cd9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1940c914-643f-4df2-b20a-c5bc47cd009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20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A65651B-8F08-4FC2-92A6-0D5A93160D51}">
  <ds:schemaRefs>
    <ds:schemaRef ds:uri="645ff85c-7fda-4edc-b3e2-efa35c21d8cf"/>
    <ds:schemaRef ds:uri="f25b5763-e4cc-48b7-92fc-f8f032f7cd9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5E0C6DE-5649-4379-B710-8B0C53EE5BE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2A15531-7C44-4BD3-9AF7-AA0471735C71}">
  <ds:schemaRefs>
    <ds:schemaRef ds:uri="645ff85c-7fda-4edc-b3e2-efa35c21d8cf"/>
    <ds:schemaRef ds:uri="f25b5763-e4cc-48b7-92fc-f8f032f7cd9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5b268d57-2a6f-4e04-b0de-6938583d5ebc}" enabled="0" method="" siteId="{5b268d57-2a6f-4e04-b0de-6938583d5eb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Abbott Powerpoint Template Special_Use_Cases_Timeline</Template>
  <Application>Microsoft Office PowerPoint</Application>
  <PresentationFormat>On-screen Show (16:9)</PresentationFormat>
  <Slides>48</Slides>
  <Notes>37</Notes>
  <HiddenSlides>11</HiddenSlide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48</vt:i4>
      </vt:variant>
    </vt:vector>
  </HeadingPairs>
  <TitlesOfParts>
    <vt:vector size="54" baseType="lpstr">
      <vt:lpstr>PPT Basic White_Dec 2020</vt:lpstr>
      <vt:lpstr>PPT Blue_Gradient_Dec 2020</vt:lpstr>
      <vt:lpstr>2_PPT Basic_White_v5_prophet_edit</vt:lpstr>
      <vt:lpstr>1_PPT Basic White_Dec 2020</vt:lpstr>
      <vt:lpstr>PPT_16x9_2020_ABT_Alt_Gradient_Blue-Green</vt:lpstr>
      <vt:lpstr>2_PPT_16x9_2020_ABT_Alt_Gradient_Blue-Green</vt:lpstr>
      <vt:lpstr>China RIMS Solution Proposal</vt:lpstr>
      <vt:lpstr>1. Project Background </vt:lpstr>
      <vt:lpstr>项目背景&amp;项目目标</vt:lpstr>
      <vt:lpstr>整体规划概览</vt:lpstr>
      <vt:lpstr>2. AS-IS Assessment</vt:lpstr>
      <vt:lpstr>现状分析：多类退役系统形成复杂的历史数据资产 </vt:lpstr>
      <vt:lpstr>现状分析：数据结构与迁移步骤 </vt:lpstr>
      <vt:lpstr>现状分析：各系统成本分析 </vt:lpstr>
      <vt:lpstr>现状分析：China RIMS对现存系统的资源释放潜力 </vt:lpstr>
      <vt:lpstr>现状分析：成本对比分析 </vt:lpstr>
      <vt:lpstr>3. Market Solution Analysis</vt:lpstr>
      <vt:lpstr>国际成熟框架 × 中国本地适配 </vt:lpstr>
      <vt:lpstr>OpenText InfoArchive 的核心能力</vt:lpstr>
      <vt:lpstr>InfoArchive 的数据结构</vt:lpstr>
      <vt:lpstr>鸿翼现有产品能力覆盖</vt:lpstr>
      <vt:lpstr>鸿翼能力基本覆盖 China RIMS 核心场景</vt:lpstr>
      <vt:lpstr>4. China RIMS Capability Blueprint &amp; Roadmap</vt:lpstr>
      <vt:lpstr>平台功能全景图与分阶段上线计划 </vt:lpstr>
      <vt:lpstr>三阶段演进，构建面向未来的智能化归档平台 </vt:lpstr>
      <vt:lpstr>阶段一：基础归档与查询</vt:lpstr>
      <vt:lpstr>阶段二：能力优化与业务协同 </vt:lpstr>
      <vt:lpstr>阶段三：AI赋能与智能升级 </vt:lpstr>
      <vt:lpstr>5. Technology Solution &amp; Architecture Recommendation</vt:lpstr>
      <vt:lpstr>China RIMS 技术架构方案概览</vt:lpstr>
      <vt:lpstr>China RIMS 技术架构评估框架</vt:lpstr>
      <vt:lpstr>China RIMS 技术架构评估与推荐 </vt:lpstr>
      <vt:lpstr>推荐架构：方案B2四层架构视图</vt:lpstr>
      <vt:lpstr>推荐架构：方案B2端到端应用视角</vt:lpstr>
      <vt:lpstr>AI 时代 · 前端框架选型（React vs Vue）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6. Delivery Approach, Timeline &amp; Cost Estimation</vt:lpstr>
      <vt:lpstr>SLC + AI 交付方法</vt:lpstr>
      <vt:lpstr>SDD 规范驱动开发（AI 赋能方法） </vt:lpstr>
      <vt:lpstr>角色分工：传统 VS AI赋能的SLC</vt:lpstr>
      <vt:lpstr>AI 的代价与七层护栏</vt:lpstr>
      <vt:lpstr>实施路线图与交付效率</vt:lpstr>
      <vt:lpstr>China RIMS 成本概览</vt:lpstr>
      <vt:lpstr>云资源成本Break-down Zoom-in </vt:lpstr>
      <vt:lpstr>PowerPoint Presentation</vt:lpstr>
      <vt:lpstr>PowerPoint Presentation</vt:lpstr>
      <vt:lpstr>成本测算与人天对比 Zoom-in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Wang, Vincent</dc:creator>
  <cp:revision>1</cp:revision>
  <cp:lastPrinted>2015-05-11T20:24:53Z</cp:lastPrinted>
  <dcterms:created xsi:type="dcterms:W3CDTF">2025-12-23T11:18:06Z</dcterms:created>
  <dcterms:modified xsi:type="dcterms:W3CDTF">2026-09-09T10:06:30Z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0x01010037539C69D98EF345A1E7C317D7631BC4</vt:lpwstr>
  </property>
</Properties>
</file>